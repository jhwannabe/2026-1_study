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0" y="15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22283" y="1379483"/>
            <a:ext cx="10360152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355E"/>
                </a:solidFill>
              </a:rPr>
              <a:t>AEC 곡선 기반 TAMA 예측
회귀분석 연구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66"/>
                </a:solidFill>
              </a:rPr>
              <a:t>CT 자동 노출 제어(AEC) 특징과 환자 인구통계학적 변수를 활용한
복부 근육량 지표(TAMA) 예측 모델 개발 및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데이터셋: 강남 CT  |  N=1,673명  |  Python (statsmodels · scikit-learn)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연구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연구 목적 · 설계 · Feature Set (3 Case)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데이터 기술 통계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데이터셋 · 성별 TAMA 분포 · 이진화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분석 방법론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전처리 · 모델 · 교차검증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선형 회귀 (Part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· 다변량 성능 · 잔차 진단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로지스틱 회귀 (Part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OR · 다변량 AUC · 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Case 1–3 비교 (Part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AEC 추가 효과 · CT 모델명 효과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14999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8064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78815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결론 및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30935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주요 발견 · 제한점 · 향후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Research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연구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CT 자동 노출 제어(AEC) 곡선과 환자 인구통계(성별·나이)가 복부 근육량 지표 TAMA(Total Abdominal Muscle Area) 예측에 기여하는 정도를 정량화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선형 회귀
(Linear Regression)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TAMA (연속형) 값 예측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회귀
(Logistic Regression)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Low TAMA / Sarcopenia 위험 분류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Multivariable Analysis
(Case 1–3 비교)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AEC·CT 모델 추가 효과 정량화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Feature Set (3 Case)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0040" y="475488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예측 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성별 (Sex) + 나이 (Age)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1 + AEC 특징 (p25, CV, skewness, slope_abs_mean, 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2 + CT 모델명 (ManufacturerModelName — 30개 dummy) + KVP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데이터 기술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환자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1,673명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7024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남성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665명 (39.7%)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7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1,008명 (60.3%)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CT 스캐너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31종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024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14 ~ 299 cm²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0727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평균 (SD)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122.51 (±30.49) cm²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성별 TAMA 분포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584448"/>
          <a:ext cx="685799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성별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평균 (cm²)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중앙값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P75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남성 (M)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149.52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27.46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150.00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132.00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166.00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여성 (F)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104.69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406640" y="3246120"/>
            <a:ext cx="4480560" cy="157276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43800" y="3291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Logistic Regression 이진화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85032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남성: TAMA &lt; 132 cm²  →  Low Muscle (1)
• 여성: TAMA &lt; 95 cm²  →  Low Muscle (1)
• 양성 비율: 400 / 1,673 = 23.9 %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TAMA 분포 시각화</a:t>
            </a:r>
          </a:p>
        </p:txBody>
      </p:sp>
      <p:pic>
        <p:nvPicPr>
          <p:cNvPr id="30" name="Picture 29" descr="03_tam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230368"/>
            <a:ext cx="5486400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8076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AEC Feature 상관계수</a:t>
            </a:r>
          </a:p>
        </p:txBody>
      </p:sp>
      <p:pic>
        <p:nvPicPr>
          <p:cNvPr id="32" name="Picture 31" descr="01_fe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230368"/>
            <a:ext cx="578815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AEC Feature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Pearson/Spearman 상관계수 + VIF 검사를 통해 다중공선성이 없는 4개 핵심 Feature 선택 (mean 포함 사용)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+0.365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하위 25% 값 → 저선량 구간 tube current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변동계수(std/mean) → 체형 불균일성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곡선 비대칭성 → 체형 분포 특성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~+0.09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평균 절대 기울기 → 곡선 동역학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+0.297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평균값 → 체격 전반 반영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확인됨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 (포함)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mean과 심각한 공선성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39319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7F27"/>
                </a:solidFill>
              </a:rPr>
              <a:t>⚠  AUC_normalized는 VIF &gt; 50,000으로 다중공선성 심각 → 제외 / mean은 모델에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Feature 상관계수 Top20</a:t>
            </a:r>
          </a:p>
        </p:txBody>
      </p:sp>
      <p:pic>
        <p:nvPicPr>
          <p:cNvPr id="10" name="Picture 9" descr="01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73168"/>
            <a:ext cx="54864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VIF 비교</a:t>
            </a:r>
          </a:p>
        </p:txBody>
      </p:sp>
      <p:pic>
        <p:nvPicPr>
          <p:cNvPr id="12" name="Picture 11" descr="02_vif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773168"/>
            <a:ext cx="5788152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분석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Statistical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전처리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처리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이진 인코딩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 (StandardScaler)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features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One-hot encoding (drop_first=True) → 30개 더미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076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50876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476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OLS
(Ordinary Least Squares)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51460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로지스틱 회귀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535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Logit
(BFGS, maxiter=1,000)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5661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 검증 전략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393192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검증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상세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5-Fold Cross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각 Fold에서 scaler 재적합 (Data Leakage 방지)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Bootstrap AUC 95%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n=1,000 resampling — 비모수 신뢰구간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검정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로지스틱 보정도(Calibration) 검증 — p&gt;0.05 양호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잔차 진단 3종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 · Breusch-Pagan · Durbin-Watson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5B6"/>
                </a:solidFill>
              </a:rPr>
              <a:t>※ 선형·로지스틱 회귀 모두 Case 1(Sex+Age) → Case 2(+AEC) → Case 3(+CT Model) 순으로 점진 투입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단변량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44.84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[42.76, 46.91]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-2.99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[-4.45, -1.54]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p25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11.17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[9.81, 12.53]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-10.64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[-12.01, -9.27]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-10.47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[-11.84, -9.09]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[-0.19, 2.74]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9.05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[7.65, 10.45]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 (범주형)*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6.0e-06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단변량 R² 비교</a:t>
            </a:r>
          </a:p>
        </p:txBody>
      </p:sp>
      <p:pic>
        <p:nvPicPr>
          <p:cNvPr id="9" name="Picture 8" descr="07_linear_univariat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956048"/>
            <a:ext cx="548640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유의 계수 Forest Plot</a:t>
            </a:r>
          </a:p>
        </p:txBody>
      </p:sp>
      <p:pic>
        <p:nvPicPr>
          <p:cNvPr id="11" name="Picture 10" descr="06_linea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956048"/>
            <a:ext cx="5788152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Linear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0.6579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Adj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0.6502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17.83 cm²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13.20 cm²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F-statistic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85.00
(p &lt; 0.001)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AIC / BIC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14,463
/ 14,669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잔차 진단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858768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검정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통계량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비정규 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123.41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이분산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1.9456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정상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Condition 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164.57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주의(κ&lt;1,000)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20040" y="5760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⚠  비정규·이분산 → 계수 추정 BLUE이나 p-value 해석 주의
   Robust Standard Errors 사용 권고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실제 vs 예측</a:t>
            </a:r>
          </a:p>
        </p:txBody>
      </p:sp>
      <p:pic>
        <p:nvPicPr>
          <p:cNvPr id="28" name="Picture 27" descr="04_linear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858768"/>
            <a:ext cx="5394960" cy="1828800"/>
          </a:xfrm>
          <a:prstGeom prst="rect">
            <a:avLst/>
          </a:prstGeom>
        </p:spPr>
      </p:pic>
      <p:pic>
        <p:nvPicPr>
          <p:cNvPr id="29" name="Picture 28" descr="05_linear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715000"/>
            <a:ext cx="53949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단변량 분석 (Crude 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Crude OR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[0.840, 1.328]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1.585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[1.402, 1.792]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p25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0.588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[0.519, 0.666]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1.118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[1.000, 1.249]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1.173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[1.044, 1.319]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[0.920, 1.150]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0.586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[0.520, 0.662]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LR χ²=50.59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  |  p25·mean: OR &lt; 1 → 해당 변수↑ 시 Low TAMA 위험 감소  |  Sex: 이진화 후 단변량 비유의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Crude OR Forest Plot</a:t>
            </a:r>
          </a:p>
        </p:txBody>
      </p:sp>
      <p:pic>
        <p:nvPicPr>
          <p:cNvPr id="9" name="Picture 8" descr="11_logistic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0"/>
            <a:ext cx="5486400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ROC Curve (단변량)</a:t>
            </a:r>
          </a:p>
        </p:txBody>
      </p:sp>
      <p:pic>
        <p:nvPicPr>
          <p:cNvPr id="11" name="Picture 10" descr="08_logistic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029200"/>
            <a:ext cx="5788152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0.7522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Bootstrap 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[0.726 – 0.777]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0.708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0.680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PPV / NPV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0.410 / 0.881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Nagelkerke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0.2145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401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보정도 및 적합도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749039"/>
          <a:ext cx="6400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χ²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4.346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p=0.825 → 보정도 양호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낮을수록 우수 (0=완벽, 0.25=무작위)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1,658.03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비교 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Calibration Plot</a:t>
            </a:r>
          </a:p>
        </p:txBody>
      </p:sp>
      <p:pic>
        <p:nvPicPr>
          <p:cNvPr id="27" name="Picture 26" descr="09_logisti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749039"/>
            <a:ext cx="5010912" cy="2011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Confusion Matrix</a:t>
            </a:r>
          </a:p>
        </p:txBody>
      </p:sp>
      <p:pic>
        <p:nvPicPr>
          <p:cNvPr id="29" name="Picture 28" descr="10_logistic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687568"/>
            <a:ext cx="320040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선형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 Model)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0.5507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0.6358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+0.0851 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+0.0221 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Adj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+0.0841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+0.0159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20.43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18.40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17.83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-2.04 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-0.57 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14,849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14,508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14,463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-341 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-45 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특징 추가(Case1→2)로 R² +8.5%p 향상  |  CT 모델명 추가(Case2→3)로 추가 +2.2%p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R² / RMSE 비교</a:t>
            </a:r>
          </a:p>
        </p:txBody>
      </p:sp>
      <p:pic>
        <p:nvPicPr>
          <p:cNvPr id="9" name="Picture 8" descr="12_case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AIC / BIC 비교</a:t>
            </a:r>
          </a:p>
        </p:txBody>
      </p:sp>
      <p:pic>
        <p:nvPicPr>
          <p:cNvPr id="11" name="Picture 10" descr="14_case_aic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로지스틱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 Model)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Case2→3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0.720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0.7522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+0.096 ▲▲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+0.032 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0.0516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0.1596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0.2145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+0.108 ▲▲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+0.055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1,788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1,668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1,658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-120 ▼▼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-10 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1.26e-03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보정도 개선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보정도 양호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추가(Case1→2)로 AUC +9.6%p 대폭 향상  |  CT 모델명 추가(Case2→3)로 +3.2%p 추가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AUC / Nagelkerke R² 비교</a:t>
            </a:r>
          </a:p>
        </p:txBody>
      </p:sp>
      <p:pic>
        <p:nvPicPr>
          <p:cNvPr id="9" name="Picture 8" descr="13_case_au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다중 지표 추이</a:t>
            </a:r>
          </a:p>
        </p:txBody>
      </p:sp>
      <p:pic>
        <p:nvPicPr>
          <p:cNvPr id="11" name="Picture 10" descr="15_case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59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1. 성별의 압도적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6916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선형 단변량: Sex 단독 R²=0.518  |  남성 TAMA가 여성 대비 평균 +44.8 cm²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2. AEC 특징의 독립적 기여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Case1→2  선형 R²  +0.085 (0.551→0.636)
Case1→2  로지스틱 AUC  +0.096 (0.624→0.720)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59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3. CT 모델명의 추가 기여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3840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Case2→3  선형 R²  +0.022  |  로지스틱 AUC  +0.032
AIC 추가 감소 → 모델 적합도 개선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4. 최종 모델 (Case 3)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선형: R²=0.6579, RMSE=17.83 cm²
로지스틱: AUC=0.7522 [0.726–0.777]  |  HL p=0.825 (보정도 양호)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55E"/>
                </a:solidFill>
              </a:rPr>
              <a:t>AEC 특징은 성별·나이 외에 TAMA 예측에 독립적이고 유의미한 기여를 함 — CT 촬영 시 수집되는 AEC 데이터의 임상적 활용 가능성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한계 및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⚠  한계점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잔차 정규성·등분산성 가정 위반 → Robust Standard Errors 또는 비모수 검정 검토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Logistic 이진화 임계값 (M&lt;132, F&lt;95 cm²) — 문헌 기반, 기관별 참조값 확인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기관(강남) 데이터 → 외부 검증(신촌 데이터)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AEC Feature 선택은 통계적 상관분석 기반 — 임상적 의미 추가 검토 권장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742432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1170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45"/>
                </a:solidFill>
              </a:rPr>
              <a:t>→  향후 연구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5727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신촌 데이터를 이용한 외부 검증 (External Validation)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09397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Robust Regression / Weighted Least Squares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6151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머신러닝 기반 앙상블 모델 비교 (Random Forest, XGBoost)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136391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다기관 데이터 수집을 통한 모델 일반화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6576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AEC Feature의 임상적 의미 방사선사·임상의 검토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11521440" cy="16916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핵심 메시지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8172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CT 스캐너의 AEC 곡선에서 추출한 통계 특징(p25, CV, skewness, mean)은 인구통계학적 변수와 독립적으로
TAMA 예측에 유의미하게 기여한다. 향후 외부 검증 및 다기관 연구를 통해 임상 적용 가능성을 확인해야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1778</Words>
  <Application>Microsoft Office PowerPoint</Application>
  <PresentationFormat>사용자 지정</PresentationFormat>
  <Paragraphs>428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전장훈</cp:lastModifiedBy>
  <cp:revision>1</cp:revision>
  <dcterms:created xsi:type="dcterms:W3CDTF">2013-01-27T09:14:16Z</dcterms:created>
  <dcterms:modified xsi:type="dcterms:W3CDTF">2026-04-22T04:42:41Z</dcterms:modified>
  <cp:category/>
</cp:coreProperties>
</file>