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0152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784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355E"/>
                </a:solidFill>
              </a:rPr>
              <a:t>AEC 곡선 기반 TAMA 예측
회귀분석 연구 보고서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9184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44466"/>
                </a:solidFill>
              </a:rPr>
              <a:t>CT 자동 노출 제어(AEC) 특징과 환자 인구통계학적 변수를 활용한
복부 근육량 지표(TAMA) 예측 모델 개발 및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29768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</a:rPr>
              <a:t>데이터셋: 강남 CT  |  N=1,673명  |  Python (statsmodels · scikit-learn)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목  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26187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연구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830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연구 목적 · 설계 · Feature Set (3 Case)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80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26187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데이터 기술 통계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7830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데이터셋 · 성별 TAMA 분포 · 이진화 기준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88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7706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분석 방법론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918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전처리 · 모델 · 교차검증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69748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788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7706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결과 — 선형 회귀 (Part 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2918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단변량 · 다변량 성능 · 잔차 진단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2976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7939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결과 — 로지스틱 회귀 (Part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8006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단변량 OR · 다변량 AUC · Calibration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20624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2976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27939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결과 — Case 1–3 비교 (Part 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8006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AEC 추가 효과 · CT 모델명 효과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14999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0643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788151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결론 및 한계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6309359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주요 발견 · 제한점 · 향후 방향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 연구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Research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연구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CT 자동 노출 제어(AEC) 곡선과 환자 인구통계(성별·나이)가 복부 근육량 지표 TAMA(Total Abdominal Muscle Area) 예측에 기여하는 정도를 정량화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7744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505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Part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선형 회귀
(Linear Regression)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TAMA (연속형) 값 예측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237744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4505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Part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7889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로지스틱 회귀
(Logistic Regression)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474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Low TAMA / Sarcopenia 위험 분류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237744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4505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Part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7889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Multivariable Analysis
(Case 1–3 비교)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474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AEC·CT 모델 추가 효과 정량화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434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Feature Set (3 Case)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20040" y="4754880"/>
          <a:ext cx="11521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5760720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예측 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Case 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성별 (Sex) + 나이 (Age)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Case 1 + AEC 특징 (p25, CV, skewness, slope_abs_mean, mean)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Case 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Case 2 + CT 모델명 (ManufacturerModelName — 30개 dummy) + KVP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데이터 기술 통계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Descriptive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총 환자 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1,673명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4300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남성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665명 (39.7%)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14300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7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7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1,008명 (60.3%)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488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CT 스캐너 모델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2532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31종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1488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TAMA 범위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2532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14 ~ 299 cm²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1488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7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TAMA 평균 (SD)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7" y="2532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122.51 (±30.49) cm²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246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성별 TAMA 분포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0040" y="3584448"/>
          <a:ext cx="6857998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714"/>
                <a:gridCol w="979714"/>
                <a:gridCol w="979714"/>
                <a:gridCol w="979714"/>
                <a:gridCol w="979714"/>
                <a:gridCol w="979714"/>
                <a:gridCol w="979714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성별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평균 (cm²)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SD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중앙값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P25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P75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남성 (M)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665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149.52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27.46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150.00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132.00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166.00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여성 (F)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1,008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104.69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15.71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7406640" y="3246120"/>
            <a:ext cx="4480560" cy="1572768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32918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Logistic Regression 이진화 기준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685032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남성: TAMA &lt; 132 cm²  →  Low Muscle (1)
• 여성: TAMA &lt; 95 cm²  →  Low Muscle (1)
• 양성 비율: 400 / 1,673 = 23.9 %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TAMA 분포 시각화</a:t>
            </a:r>
          </a:p>
        </p:txBody>
      </p:sp>
      <p:pic>
        <p:nvPicPr>
          <p:cNvPr id="30" name="Picture 29" descr="03_tam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230368"/>
            <a:ext cx="5486400" cy="1417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8076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AEC Feature 상관계수</a:t>
            </a:r>
          </a:p>
        </p:txBody>
      </p:sp>
      <p:pic>
        <p:nvPicPr>
          <p:cNvPr id="32" name="Picture 31" descr="01_feature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5230368"/>
            <a:ext cx="5788152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AEC Feature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Feature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Pearson/Spearman 상관계수 + VIF 검사를 통해 다중공선성이 없는 4개 핵심 Feature 선택 (mean 포함 사용)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508760"/>
          <a:ext cx="11521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Pearson 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VIF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선택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+0.365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 하위 25% 값 → 저선량 구간 tube current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~1.9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-0.349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변동계수(std/mean) → 체형 불균일성 반영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~1.8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skewness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-0.344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 곡선 비대칭성 → 체형 분포 특성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~1.6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slope_abs_mean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~+0.09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평균 절대 기울기 → 곡선 동역학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~1.4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mean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+0.297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 평균값 → 체격 전반 반영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확인됨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 (포함)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AUC_normalized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높음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mean과 심각한 공선성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&gt;50,000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✗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393192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7F27"/>
                </a:solidFill>
              </a:rPr>
              <a:t>⚠  AUC_normalized는 VIF &gt; 50,000으로 다중공선성 심각 → 제외 / mean은 모델에 포함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434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Feature 상관계수 Top20</a:t>
            </a:r>
          </a:p>
        </p:txBody>
      </p:sp>
      <p:pic>
        <p:nvPicPr>
          <p:cNvPr id="10" name="Picture 9" descr="01_feature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73168"/>
            <a:ext cx="548640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80760" y="4434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VIF 비교</a:t>
            </a:r>
          </a:p>
        </p:txBody>
      </p:sp>
      <p:pic>
        <p:nvPicPr>
          <p:cNvPr id="12" name="Picture 11" descr="02_vif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773168"/>
            <a:ext cx="5788152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 분석 방법론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Statistical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</a:rPr>
              <a:t>전처리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50876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처리 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PatientSex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이진 인코딩 (M=1, F=0)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PatientAge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Z-score 표준화 (StandardScaler)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 features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Z-score 표준화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One-hot encoding (drop_first=True) → 30개 더미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8076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</a:rPr>
              <a:t>모델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508760"/>
            <a:ext cx="578815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선형 회귀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476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statsmodels OLS
(Ordinary Least Squares)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2514600"/>
            <a:ext cx="578815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560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로지스틱 회귀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95351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statsmodels Logit
(BFGS, maxiter=1,000)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5661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</a:rPr>
              <a:t>모델 검증 전략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20040" y="3931920"/>
          <a:ext cx="11521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57607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검증 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상세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5-Fold Cross Validation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각 Fold에서 scaler 재적합 (Data Leakage 방지)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Bootstrap AUC 95% 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n=1,000 resampling — 비모수 신뢰구간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Hosmer-Lemeshow 검정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로지스틱 보정도(Calibration) 검증 — p&gt;0.05 양호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잔차 진단 3종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Shapiro-Wilk · Breusch-Pagan · Durbin-Watson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20040" y="59436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E75B6"/>
                </a:solidFill>
              </a:rPr>
              <a:t>※ 선형·로지스틱 회귀 모두 Case 1(Sex+Age) → Case 2(+AEC) → Case 3(+CT Model) 순으로 점진 투입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선형 회귀 — 단변량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Univariate Linear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β 계수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Sex (M=1, F=0)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44.84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[42.76, 46.91]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-2.99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[-4.45, -1.54]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p25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11.17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[9.81, 12.53]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CV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-10.64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[-12.01, -9.27]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skewness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-10.47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[-11.84, -9.09]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slope_abs_mean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[-0.19, 2.74]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mean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9.05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[7.65, 10.45]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 (범주형)*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6.0e-06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7F27"/>
                </a:solidFill>
              </a:rPr>
              <a:t>* p &lt; 0.05 유의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단변량 R² 비교</a:t>
            </a:r>
          </a:p>
        </p:txBody>
      </p:sp>
      <p:pic>
        <p:nvPicPr>
          <p:cNvPr id="9" name="Picture 8" descr="07_linear_univariate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956048"/>
            <a:ext cx="5486400" cy="1691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유의 계수 Forest Plot</a:t>
            </a:r>
          </a:p>
        </p:txBody>
      </p:sp>
      <p:pic>
        <p:nvPicPr>
          <p:cNvPr id="11" name="Picture 10" descr="06_linear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956048"/>
            <a:ext cx="5788152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선형 회귀 — 다변량 모델 성능 (Case 3 Full)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Multivariate Linear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18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0.6579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43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216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Adj 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18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0.6502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143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216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618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17.83 cm²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86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59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MAE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61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13.20 cm²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286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359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F-statistic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761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85.00
(p &lt; 0.001)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286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359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AIC / BIC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761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14,463
/ 14,669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520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잔차 진단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0040" y="3858768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검정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통계량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Shapiro-Wilk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0.936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비정규 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Breusch-Pagan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123.41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이분산 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Durbin-Watson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1.9456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정상 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Condition 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164.57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주의(κ&lt;1,000)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320040" y="576072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7F27"/>
                </a:solidFill>
              </a:rPr>
              <a:t>⚠  비정규·이분산 → 계수 추정 BLUE이나 p-value 해석 주의
   Robust Standard Errors 사용 권고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실제 vs 예측</a:t>
            </a:r>
          </a:p>
        </p:txBody>
      </p:sp>
      <p:pic>
        <p:nvPicPr>
          <p:cNvPr id="28" name="Picture 27" descr="04_linear_actual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858768"/>
            <a:ext cx="5394960" cy="1828800"/>
          </a:xfrm>
          <a:prstGeom prst="rect">
            <a:avLst/>
          </a:prstGeom>
        </p:spPr>
      </p:pic>
      <p:pic>
        <p:nvPicPr>
          <p:cNvPr id="29" name="Picture 28" descr="05_linear_residu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5715000"/>
            <a:ext cx="539496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로지스틱 회귀 — 단변량 분석 (Crude 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Univariate Logistic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Crude OR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Sex (M=1, F=0)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1.056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[0.840, 1.328]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1.585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[1.402, 1.792]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p25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0.588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[0.519, 0.666]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CV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1.118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[1.000, 1.249]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skewness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1.173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[1.044, 1.319]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slope_abs_mean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[0.920, 1.150]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mean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0.586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[0.520, 0.662]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LR χ²=50.59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7F27"/>
                </a:solidFill>
              </a:rPr>
              <a:t>* p &lt; 0.05 유의  |  p25·mean: OR &lt; 1 → 해당 변수↑ 시 Low TAMA 위험 감소  |  Sex: 이진화 후 단변량 비유의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81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Crude OR Forest Plot</a:t>
            </a:r>
          </a:p>
        </p:txBody>
      </p:sp>
      <p:pic>
        <p:nvPicPr>
          <p:cNvPr id="9" name="Picture 8" descr="11_logistic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0"/>
            <a:ext cx="5486400" cy="1618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4681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ROC Curve (단변량)</a:t>
            </a:r>
          </a:p>
        </p:txBody>
      </p:sp>
      <p:pic>
        <p:nvPicPr>
          <p:cNvPr id="11" name="Picture 10" descr="08_logistic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5029200"/>
            <a:ext cx="5788152" cy="16184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로지스틱 회귀 — 다변량 모델 성능 (Case 3 Full)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Multivariate Logistic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978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AUC-ROC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0.7522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4300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1978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Bootstrap 95% 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[0.726 – 0.777]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14300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1978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Sensitivity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6002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0.708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4028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951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Specificity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9748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0.680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24028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2951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PPV / NPV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69748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0.410 / 0.881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24028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2951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Nagelkerke R²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69748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0.2145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401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보정도 및 적합도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0040" y="3749039"/>
          <a:ext cx="64008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Hosmer-Lemeshow χ²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4.346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p=0.825 → 보정도 양호 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Brier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낮을수록 우수 (0=완벽, 0.25=무작위)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1,658.03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Case 비교 기준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4015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Calibration Plot</a:t>
            </a:r>
          </a:p>
        </p:txBody>
      </p:sp>
      <p:pic>
        <p:nvPicPr>
          <p:cNvPr id="27" name="Picture 26" descr="09_logistic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749039"/>
            <a:ext cx="5010912" cy="20116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0040" y="5349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Confusion Matrix</a:t>
            </a:r>
          </a:p>
        </p:txBody>
      </p:sp>
      <p:pic>
        <p:nvPicPr>
          <p:cNvPr id="29" name="Picture 28" descr="10_logistic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5687568"/>
            <a:ext cx="320040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Case 비교 — 선형 회귀 성능 향상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Multivariable Analysis: Linear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  <a:gridCol w="192024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Case 1</a:t>
                      </a:r>
                    </a:p>
                    <a:p>
                      <a:r>
                        <a:t>(Sex+Age)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Case 2</a:t>
                      </a:r>
                    </a:p>
                    <a:p>
                      <a:r>
                        <a:t>(+AEC)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Case 3</a:t>
                      </a:r>
                    </a:p>
                    <a:p>
                      <a:r>
                        <a:t>(+CT Model)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Case1→2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Case2→3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0.5507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0.6358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0.6579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+0.0851 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+0.0221 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Adj 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0.5502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0.6343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0.6502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+0.0841 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+0.0159 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RMSE (cm²)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20.43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18.40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17.83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-2.04 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-0.57 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14,849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14,508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14,463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-341 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-45 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3337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AEC 특징 추가(Case1→2)로 R² +8.5%p 향상  |  CT 모델명 추가(Case2→3)로 추가 +2.2%p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R² / RMSE 비교</a:t>
            </a:r>
          </a:p>
        </p:txBody>
      </p:sp>
      <p:pic>
        <p:nvPicPr>
          <p:cNvPr id="9" name="Picture 8" descr="12_case_metric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87952"/>
            <a:ext cx="5486400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AIC / BIC 비교</a:t>
            </a:r>
          </a:p>
        </p:txBody>
      </p:sp>
      <p:pic>
        <p:nvPicPr>
          <p:cNvPr id="11" name="Picture 10" descr="14_case_aic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187952"/>
            <a:ext cx="5788152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Case 비교 — 로지스틱 회귀 성능 향상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Multivariable Analysis: Logistic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  <a:gridCol w="192024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Case 1</a:t>
                      </a:r>
                    </a:p>
                    <a:p>
                      <a:r>
                        <a:t>(Sex+Age)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Case 2</a:t>
                      </a:r>
                    </a:p>
                    <a:p>
                      <a:r>
                        <a:t>(+AEC)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Case 3</a:t>
                      </a:r>
                    </a:p>
                    <a:p>
                      <a:r>
                        <a:t>(+CT Model)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Case1→2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Case2→3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AUC-ROC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0.624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0.720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0.7522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+0.096 ▲▲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+0.032 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Nagelkerke 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0.0516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0.1596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0.2145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+0.108 ▲▲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+0.055 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1,788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1,668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1,658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-120 ▼▼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-10 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HL p-value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1.26e-03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보정도 개선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보정도 양호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3337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AEC 추가(Case1→2)로 AUC +9.6%p 대폭 향상  |  CT 모델명 추가(Case2→3)로 +3.2%p 추가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AUC / Nagelkerke R² 비교</a:t>
            </a:r>
          </a:p>
        </p:txBody>
      </p:sp>
      <p:pic>
        <p:nvPicPr>
          <p:cNvPr id="9" name="Picture 8" descr="13_case_auc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87952"/>
            <a:ext cx="5486400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다중 지표 추이</a:t>
            </a:r>
          </a:p>
        </p:txBody>
      </p:sp>
      <p:pic>
        <p:nvPicPr>
          <p:cNvPr id="11" name="Picture 10" descr="15_case_pro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187952"/>
            <a:ext cx="5788152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 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59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1. 성별의 압도적 기여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" y="16916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선형 단변량: Sex 단독 R²=0.518  |  남성 TAMA가 여성 대비 평균 +44.8 cm²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2. AEC 특징의 독립적 기여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916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Case1→2  선형 R²  +0.085 (0.551→0.636)
Case1→2  로지스틱 AUC  +0.096 (0.624→0.720)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9184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29184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59" y="3383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3. CT 모델명의 추가 기여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59" y="38404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Case2→3  선형 R²  +0.022  |  로지스틱 AUC  +0.032
AIC 추가 감소 → 모델 적합도 개선 확인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29184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29184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383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4. 최종 모델 (Case 3) 요약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8404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선형: R²=0.6579, RMSE=17.83 cm²
로지스틱: AUC=0.7522 [0.726–0.777]  |  HL p=0.825 (보정도 양호)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21792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55E"/>
                </a:solidFill>
              </a:rPr>
              <a:t>AEC 특징은 성별·나이 외에 TAMA 예측에 독립적이고 유의미한 기여를 함 — CT 촬영 시 수집되는 AEC 데이터의 임상적 활용 가능성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 한계 및 향후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Limitations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4864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⚠  한계점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잔차 정규성·등분산성 가정 위반 → Robust Standard Errors 또는 비모수 검정 검토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3113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Logistic 이진화 임계값 (M&lt;132, F&lt;95 cm²) — 문헌 기반, 기관별 참조값 확인 필요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89504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단일 기관(강남) 데이터 → 외부 검증(신촌 데이터)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4787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AEC Feature 선택은 통계적 상관분석 기반 — 임상적 의미 추가 검토 권장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5742432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1704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45"/>
                </a:solidFill>
              </a:rPr>
              <a:t>→  향후 연구 방향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157276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신촌 데이터를 이용한 외부 검증 (External Validation)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093976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Robust Regression / Weighted Least Squares 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61518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머신러닝 기반 앙상블 모델 비교 (Random Forest, XGBoost)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3136391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다기관 데이터 수집을 통한 모델 일반화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365760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AEC Feature의 임상적 의미 방사선사·임상의 검토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251960"/>
            <a:ext cx="11521440" cy="16916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3159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핵심 메시지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81728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CT 스캐너의 AEC 곡선에서 추출한 통계 특징(p25, CV, skewness, mean)은 인구통계학적 변수와 독립적으로
TAMA 예측에 유의미하게 기여한다. 향후 외부 검증 및 다기관 연구를 통해 임상 적용 가능성을 확인해야 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