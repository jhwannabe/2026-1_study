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94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 useTimings="0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76831" autoAdjust="0"/>
  </p:normalViewPr>
  <p:slideViewPr>
    <p:cSldViewPr>
      <p:cViewPr varScale="1">
        <p:scale>
          <a:sx n="100" d="100"/>
          <a:sy n="100" d="100"/>
        </p:scale>
        <p:origin x="630" y="11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 idx="0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 idx="0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Blank" type="obj" preserve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2025-10-10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Relationship Id="rId7" Type="http://schemas.openxmlformats.org/officeDocument/2006/relationships/image" Target="../media/image1.png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 idx="0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 xmlns:mc="http://schemas.openxmlformats.org/markup-compatibility/2006" xmlns:hp="http://schemas.haansoft.com/office/presentation/8.0" mc:Ignorable="hp" hp:hslDur="500"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jpeg"  /><Relationship Id="rId3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www.kaggle.com/datasets/iammustafatz/diabetes-prediction-dataset" TargetMode="External"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www.kaggle.com/datasets/samikshadalvi/pcos-diagnosis-dataset" TargetMode="External"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6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499363" y="2062806"/>
            <a:ext cx="11387837" cy="385119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Tabular Data Analysis</a:t>
            </a:r>
            <a:endParaRPr lang="en-US" altLang="ko-KR" sz="2500">
              <a:solidFill>
                <a:schemeClr val="lt1"/>
              </a:solidFill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2025. 12. 03.</a:t>
            </a:r>
            <a:endParaRPr lang="en-US" altLang="ko-KR" sz="1600">
              <a:solidFill>
                <a:schemeClr val="bg1">
                  <a:lumMod val="75000"/>
                </a:scheme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  <a:endParaRPr lang="en-US" altLang="ko-KR" sz="1800" b="1">
              <a:solidFill>
                <a:srgbClr val="fffff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37274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What’s discussed in the last meetings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28575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300"/>
              <a:t>인체 임상 변수</a:t>
            </a:r>
            <a:endParaRPr lang="ko-KR" altLang="en-US" sz="1300"/>
          </a:p>
        </p:txBody>
      </p:sp>
      <p:graphicFrame>
        <p:nvGraphicFramePr>
          <p:cNvPr id="14" name=""/>
          <p:cNvGraphicFramePr/>
          <p:nvPr/>
        </p:nvGraphicFramePr>
        <p:xfrm>
          <a:off x="685800" y="1356360"/>
          <a:ext cx="5016425" cy="4693920"/>
        </p:xfrm>
        <a:graphic>
          <a:graphicData uri="http://schemas.openxmlformats.org/drawingml/2006/table">
            <a:tbl>
              <a:tblPr firstRow="1" bandRow="1">
                <a:tableStyleId>{729D6073-5DEC-478E-BFBB-120F47F47B7E}</a:tableStyleId>
              </a:tblPr>
              <a:tblGrid>
                <a:gridCol w="1602105"/>
                <a:gridCol w="2202740"/>
                <a:gridCol w="1211580"/>
              </a:tblGrid>
              <a:tr h="31647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Description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Units / Classification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6477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 여부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(0=정상, 1=골다공증)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근육량SoftLeanMass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체지방율BodyFat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체지방량FatMassKg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복부지방율WHRatio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복부지방률 (WH Ratio)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초경연령ALL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 여부 (1=예, 0=아니오)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출산횟수ALL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 횟수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" name="텍스트 개체 틀 7"/>
          <p:cNvSpPr>
            <a:spLocks noGrp="1"/>
          </p:cNvSpPr>
          <p:nvPr/>
        </p:nvSpPr>
        <p:spPr>
          <a:xfrm>
            <a:off x="6096000" y="1009645"/>
            <a:ext cx="5486400" cy="28575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 파생 변수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7" name=""/>
          <p:cNvGraphicFramePr/>
          <p:nvPr/>
        </p:nvGraphicFramePr>
        <p:xfrm>
          <a:off x="6248399" y="1356360"/>
          <a:ext cx="5339713" cy="16154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16429"/>
                <a:gridCol w="2125980"/>
                <a:gridCol w="1297304"/>
              </a:tblGrid>
              <a:tr h="26101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Description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Units / Classification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Breast_Density_Grading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(1~4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단계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Categorical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BIRADS_Category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="6248400" y="3276600"/>
          <a:ext cx="2133599" cy="97536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066800"/>
                <a:gridCol w="1066799"/>
              </a:tblGrid>
              <a:tr h="116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Group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Samples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3,961(100)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(87.7)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(12.3)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37274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What’s discussed in the last meetings</a:t>
            </a:r>
            <a:endParaRPr lang="en-US"/>
          </a:p>
        </p:txBody>
      </p:sp>
      <p:graphicFrame>
        <p:nvGraphicFramePr>
          <p:cNvPr id="20" name=""/>
          <p:cNvGraphicFramePr/>
          <p:nvPr/>
        </p:nvGraphicFramePr>
        <p:xfrm>
          <a:off x="695326" y="1143000"/>
          <a:ext cx="10810875" cy="43586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34577"/>
                <a:gridCol w="1101630"/>
                <a:gridCol w="1101630"/>
                <a:gridCol w="951923"/>
                <a:gridCol w="951924"/>
                <a:gridCol w="951924"/>
                <a:gridCol w="951924"/>
                <a:gridCol w="961491"/>
                <a:gridCol w="951923"/>
                <a:gridCol w="951923"/>
              </a:tblGrid>
              <a:tr h="27241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Classification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N_Sample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mean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std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min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25%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50%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75%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max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 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20.9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42.2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42.2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14.3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20.1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19.26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32.28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89.30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19.18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32.15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89.30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5.12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24.96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33.53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84.95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122.54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27.45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95.33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117.25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144.23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377.72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123.57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38.38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27.45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96.75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118.56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145.10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377.72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115.22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35.22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31.55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88.61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110.13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137.10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241.37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29.73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9.35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22.49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34.68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97.78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29.87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10.71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9.35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22.56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27.90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34.80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97.78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28.68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9.58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10.04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21.72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27.01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33.87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66.51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>
            <a:graphicFrameLocks noGrp="1"/>
          </p:cNvGraphicFramePr>
          <p:nvPr/>
        </p:nvGraphicFramePr>
        <p:xfrm>
          <a:off x="685800" y="5638800"/>
          <a:ext cx="10812780" cy="83392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363980"/>
                <a:gridCol w="1583055"/>
                <a:gridCol w="1573530"/>
                <a:gridCol w="2097405"/>
                <a:gridCol w="2097405"/>
                <a:gridCol w="2097405"/>
              </a:tblGrid>
              <a:tr h="2890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Age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BMI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BreastDensity(%)AVG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BreastArea(sqcm)AVG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DenseArea(sqcm)AVG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t-stat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-10.18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7.86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-2.09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4.84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2.53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p-value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&lt;0.001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&lt;0.001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0.037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&lt;0.001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0.012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5257" y="1143000"/>
            <a:ext cx="11881485" cy="52793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37274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What’s discussed in the last meetings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pic>
        <p:nvPicPr>
          <p:cNvPr id="4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0" y="3867149"/>
            <a:ext cx="3497580" cy="2914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Research Summary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3"/>
            <a:ext cx="11125200" cy="2190756"/>
          </a:xfrm>
        </p:spPr>
        <p:txBody>
          <a:bodyPr/>
          <a:lstStyle/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External Dataset Validation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Conducted additional model validation using independent datasets (Diabetes, PCOS).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Diabetes classification achieved Accuracy 0.8814, Recall 0.8882, and AUC 0.9608.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PCOS classification achieved Accuracy 0.88, Recall 1.0, and AUC 0.9752</a:t>
            </a:r>
            <a:r>
              <a:rPr lang="en-US" altLang="ko-KR" sz="1800"/>
              <a:t>.</a:t>
            </a:r>
            <a:endParaRPr lang="en-US" altLang="ko-KR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1362076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Osteoporosis Diagnosis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Input: </a:t>
            </a:r>
            <a:r>
              <a:rPr lang="en-US" altLang="ko-KR" sz="2000"/>
              <a:t>Age, BMI, BreastDensity(sqcm)AVG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Output: </a:t>
            </a:r>
            <a:r>
              <a:rPr lang="en-US" altLang="ko-KR" sz="2000"/>
              <a:t>Osteoporosis</a:t>
            </a:r>
            <a:endParaRPr lang="en-US" altLang="ko-KR" sz="2000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2042159" y="3200400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/>
                <a:gridCol w="1268730"/>
                <a:gridCol w="1259205"/>
                <a:gridCol w="1259205"/>
                <a:gridCol w="1268730"/>
                <a:gridCol w="1278255"/>
              </a:tblGrid>
              <a:tr h="1842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.8789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.0103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.0204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.8777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7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1362076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>
                <a:hlinkClick r:id="rId2"/>
              </a:rPr>
              <a:t>Diabetes Diagnosis Dataset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Input: </a:t>
            </a:r>
            <a:r>
              <a:rPr lang="en-US" altLang="ko-KR" sz="2000"/>
              <a:t>gender, age, bmi, HbA1c_level, blood_glucose_level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Output: </a:t>
            </a:r>
            <a:r>
              <a:rPr lang="en-US" altLang="ko-KR" sz="2000"/>
              <a:t>Diabetes_Diagnosis</a:t>
            </a:r>
            <a:endParaRPr lang="en-US" altLang="ko-KR" sz="2000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2042159" y="3200400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/>
                <a:gridCol w="1268730"/>
                <a:gridCol w="1259205"/>
                <a:gridCol w="1259205"/>
                <a:gridCol w="1268730"/>
                <a:gridCol w="1278255"/>
              </a:tblGrid>
              <a:tr h="1842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.8814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.4090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.8882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.5601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.8814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.4090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.8882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.5601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.9149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.4998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.8335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.6249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.9149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.4998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.8335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.6249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1362076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>
                <a:hlinkClick r:id="rId2"/>
              </a:rPr>
              <a:t>PCOS Diagnosis Dataset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Input: </a:t>
            </a:r>
            <a:r>
              <a:rPr lang="en-US" altLang="ko-KR" sz="2000"/>
              <a:t>Age, BMI, Menstrual_Irregularity, Testosterone_Level(ng/dL), Antral_Follicle_Count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Output: </a:t>
            </a:r>
            <a:r>
              <a:rPr lang="en-US" altLang="ko-KR" sz="2000"/>
              <a:t>PCOS_Diagnosis</a:t>
            </a:r>
            <a:endParaRPr lang="en-US" altLang="ko-KR" sz="2000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2042159" y="3200400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/>
                <a:gridCol w="1268730"/>
                <a:gridCol w="1259205"/>
                <a:gridCol w="1259205"/>
                <a:gridCol w="1268730"/>
                <a:gridCol w="1278255"/>
              </a:tblGrid>
              <a:tr h="1842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.6250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.7692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.9752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.6250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.7692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.9752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.9150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.7170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.9500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.8172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.9777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.9150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.7170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.9500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.8172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.9777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512</ep:Words>
  <ep:PresentationFormat>와이드스크린</ep:PresentationFormat>
  <ep:Paragraphs>34</ep:Paragraphs>
  <ep:Slides>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Tabular Data Analysis</vt:lpstr>
      <vt:lpstr>What’s discussed in the last meetings</vt:lpstr>
      <vt:lpstr>What’s discussed in the last meetings</vt:lpstr>
      <vt:lpstr>What’s discussed in the last meetings</vt:lpstr>
      <vt:lpstr>Research Summary</vt:lpstr>
      <vt:lpstr>Detailed Progress</vt:lpstr>
      <vt:lpstr>Detailed Progress</vt:lpstr>
      <vt:lpstr>Detailed Progress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2023-07-18T06:54:54.000</dcterms:created>
  <dc:creator>이소영</dc:creator>
  <cp:lastModifiedBy>jhjun</cp:lastModifiedBy>
  <dcterms:modified xsi:type="dcterms:W3CDTF">2025-12-04T06:26:38.543</dcterms:modified>
  <cp:revision>533</cp:revision>
  <dc:title>PowerPoint 프레젠테이션</dc:title>
  <cp:version/>
</cp:coreProperties>
</file>