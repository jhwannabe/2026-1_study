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" cy="4114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맑은 고딕"/>
              </a:rPr>
              <a:t>AEC 신호 기반 근감소증 예측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6517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07070"/>
                </a:solidFill>
                <a:latin typeface="맑은 고딕"/>
              </a:rPr>
              <a:t>자동노출제어(AEC) CT 신호를 활용한 근감소증 이진 분류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5B6"/>
                </a:solidFill>
                <a:latin typeface="맑은 고딕"/>
              </a:rPr>
              <a:t>강남 병원 코호트  |  n=914  |  2026.06.18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맑은 고딕"/>
              </a:rPr>
              <a:t>SMI(Skeletal Muscle Index) 기반 근감소증 분류  |  5-Fold Cross Validation  |  Bootstrap 95% 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연구 배경 및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▶ 근감소증(Sarcopenia)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근육량·근력 감소로 대사질환·낙상·사망 위험 증가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고령화 사회에서 조기 진단 중요성 부각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▶ 현행 진단 방법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CT 영상 기반 L3 단면 근육량(SMI) 측정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전문가 수동 세분화(분할) → 시간·비용 소요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남성 SMI &lt; 40.96, 여성 SMI &lt; 30.6 cm²/m²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▶ 연구 동기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CT 촬영 시 자동 수집되는 AEC 신호 활용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추가 촬영·비용 없이 근감소증 스크리닝 가능성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996696"/>
            <a:ext cx="5120640" cy="4754880"/>
          </a:xfrm>
          <a:prstGeom prst="rect">
            <a:avLst/>
          </a:prstGeom>
          <a:solidFill>
            <a:srgbClr val="E8F0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13385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맑은 고딕"/>
              </a:rPr>
              <a:t>연구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636776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① AEC 128-dim 신호 → ResNet1D 기반 딥러닝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② AEC Segment 피처(60-dim) → MLP 기반 모델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③ 정규화 방식(global / rowwise / raw) 비교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④ Clinic only(Age, Sex, BMI)와 AUC 비교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⑤ 성별·교차검증·Bootstrap 95% CI 보고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AEC 신호와 근감소증 — 연구적 근거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Automatic Exposure Control 신호의 생물학적·물리적 의미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▶ AEC (Automatic Exposure Control) 원리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CT 스캐너가 z축 위치별 관전류(mA)를 실시간 자동 조절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두꺼운·밀도 높은 조직 구간 → 더 높은 mA 출력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결과: z축 AEC 프로파일 ∝ 단면 조직 밀도 분포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▶ 근육–AEC 신호 연관성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골격근 밀도(≈1.05 g/cm³) &gt; 지방(≈0.9 g/cm³) — X선 감쇠계수 차이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근감소증 → L3 단면 골격근량 감소 → 복부 구간 AEC 신호 변화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AEC 128-dim 프로파일: 신체 전장(全長) 밀도 분포를 128포인트로 표현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▶ 선행 연구 기반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CT dose profile로 체형·체성분 간접 추정 가능성 보고 (Dorn et al.)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Scout view 기반 BMI·지방 분포 추정 선례 존재 (Magudia et al. 2021)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AEC 신호: 기존 CT 워크플로에서 추가 비용 없이 수집되는 부산물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905256"/>
            <a:ext cx="5394960" cy="2377440"/>
          </a:xfrm>
          <a:prstGeom prst="rect">
            <a:avLst/>
          </a:prstGeom>
          <a:solidFill>
            <a:srgbClr val="E8F0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101498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AEC 신호 → 근감소증 예측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72184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CT 스캔 → z축 AEC 프로파일(128-dim) 생성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           ↓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복부(L3 레벨) 구간 신호 집중 분석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           ↓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근육 비율 감소 시 AEC 패턴 변화 탐지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           ↓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ResNet1D / MLP → 근감소증 이진 분류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465576"/>
            <a:ext cx="5394960" cy="2423160"/>
          </a:xfrm>
          <a:prstGeom prst="rect">
            <a:avLst/>
          </a:prstGeom>
          <a:solidFill>
            <a:srgbClr val="EFF9EF"/>
          </a:solidFill>
          <a:ln w="19050">
            <a:solidFill>
              <a:srgbClr val="37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6027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A2A"/>
                </a:solidFill>
                <a:latin typeface="맑은 고딕"/>
              </a:rPr>
              <a:t>임상적 활용 장점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059936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✓ 추가 검사 비용 Zero — 기존 CT 촬영 부산물 활용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✓ 전문가 수동 분할(segmentation) 작업 불필요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✓ 자동화 스크리닝 파이프라인에 즉시 통합 가능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✓ 방사선 추가 노출 없이 근감소증 조기 발견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데이터 및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▶ 데이터셋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기관: 강남 병원 코호트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전체 샘플: n = 914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분할: Train 80% / Test 20% (Stratified)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▶ 레이블 기준 (SMI 임계값)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남성: SMI &lt; 40.96 cm²/m² → 근감소증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여성: SMI &lt; 30.6 cm²/m²  → 근감소증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▶ 교차검증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5-Fold CV (Stratified)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Fold별 최적 임계값 → 중앙값으로 Test 평가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▶ AEC 피처 구성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128-dim: z축 128 포인트 신호 → ResNet1D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Segment-8: 8구간×4통계량+인접차이 = 60-dim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Clinic: Age, Sex, BMI (3개 변수)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052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맑은 고딕"/>
              </a:rPr>
              <a:t>Test Set 구성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362456"/>
          <a:ext cx="5303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1097280"/>
              </a:tblGrid>
              <a:tr h="347472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남성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여성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4747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Test 환자 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229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82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147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4747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근감소증 (양성)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정상 (음성)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205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69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136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4747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유병률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15.9%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dat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191256"/>
            <a:ext cx="548640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65745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07070"/>
                </a:solidFill>
                <a:latin typeface="맑은 고딕"/>
              </a:rPr>
              <a:t>데이터 분포 (Train / Test)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통계 분석 방법론 근거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평가 지표 및 검정 방법 선택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▶ 5-Fold Stratified Cross-Validation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불균형 클래스(근감소증 ~10.5%) → 층화 분할 필수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각 Fold의 양성 비율 동일 유지 → 안정적 성능 추정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최적 임계값: Fold별 Youden J index(Sens+Spec-1 최대) → 중앙값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▶ Bootstrap 95% CI (n_boot=2000)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Test Set n=229 소표본 → 정규분포 가정 없는 Bootstrap 적합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2,000회 재표본 → 중심극한정리 의존 없이 분포 추정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AUC, F1, Brier 등 모든 지표에 동일 방법론 일관 적용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▶ DeLong Test (모델 간 AUC 쌍 비교)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동일 Test Set 공유 → Paired (correlated) ROC 비교 필수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DeLong et al. (Biometrics, 1988): 상관 ROC 비모수 검정</a:t>
            </a:r>
          </a:p>
          <a:p>
            <a:pPr lvl="1">
              <a:spcBef>
                <a:spcPts val="200"/>
              </a:spcBef>
            </a:pPr>
            <a:r>
              <a:rPr sz="1250">
                <a:solidFill>
                  <a:srgbClr val="262626"/>
                </a:solidFill>
                <a:latin typeface="맑은 고딕"/>
              </a:rPr>
              <a:t>유의하지 않아도 p-value 쌍 비교 결과 반드시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0525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맑은 고딕"/>
              </a:rPr>
              <a:t>평가 지표별 선택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08176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① AUC-ROC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임계값 독립적 전체 판별 능력 — 임상 표준 지표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불균형 데이터에서도 비교 가능한 기준점 제공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② AUPRC (Precision-Recall AUC)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불균형 클래스에서 AUC-ROC보다 민감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양성(근감소증) 탐지 정밀도·재현율 통합 평가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③ Brier Score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예측 확률 보정(calibration) 평가: 0에 가까울수록 우수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Calibration Plot과 반드시 함께 보고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④ F1 Score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Precision·Recall 조화평균 — 불균형 클래스 Accuracy 대체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최적 임계값 적용 후 임상 실용성 평가에 활용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모델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96696"/>
            <a:ext cx="3749039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96696"/>
            <a:ext cx="3749039" cy="347472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424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M1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33272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Clinic Only LR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맑은 고딕"/>
              </a:rPr>
              <a:t>입력: Age, Sex, BMI (3-dim)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모델: 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정규화: StandardScaler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임계값: 5-Fold CV 중앙값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98064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✓ 임상 변수만 사용하는 기준 모델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19" y="996696"/>
            <a:ext cx="3749039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19" y="996696"/>
            <a:ext cx="3749039" cy="347472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0424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M1b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1033272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Clinic + H/W LR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1408176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맑은 고딕"/>
              </a:rPr>
              <a:t>입력: Age, Sex, BMI, Height, 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17556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모델: Logistic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10312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정규화: StandardScaler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450592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임계값: 5-Fold CV 중앙값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2798064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✓ 키·몸무게 추가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94176"/>
            <a:ext cx="3749039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94176"/>
            <a:ext cx="3749039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398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M2 ResNet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30752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AEC 128-dim + Clinic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105656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맑은 고딕"/>
              </a:rPr>
              <a:t>AEC: 128-dim → ResNet1D → 16-dim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5312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  Conv1D Stem + 3×ResBlock + DualPool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80060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맑은 고딕"/>
              </a:rPr>
              <a:t>Clinic: 3-dim → MLP → 8-dim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148072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Fusion: concat → BN → ReLU → MLP → logit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495544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정규화: global / rowwise / raw 비교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19" y="3694176"/>
            <a:ext cx="3749039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19" y="3694176"/>
            <a:ext cx="3749039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37398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M3 MLP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9" y="3730752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AEC Segment + Clinic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79" y="4105656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맑은 고딕"/>
              </a:rPr>
              <a:t>AEC: 60-dim → MLP → 16-dim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445312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  (8구간 × 4통계량 + 인접차이)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79" y="480060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맑은 고딕"/>
              </a:rPr>
              <a:t>Clinic: 3-dim → MLP → 8-dim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79" y="5148072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Fusion: concat → BN → ReLU → MLP → logit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79" y="5495544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정규화: global / rowwise / raw 비교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58" y="996696"/>
            <a:ext cx="4114800" cy="5303520"/>
          </a:xfrm>
          <a:prstGeom prst="rect">
            <a:avLst/>
          </a:prstGeom>
          <a:solidFill>
            <a:srgbClr val="EAF3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38" y="113385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맑은 고딕"/>
              </a:rPr>
              <a:t>AEC 정규화 방식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38" y="1591056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• global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전체 Train set 평균·표준편차로 정규화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• rowwise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환자별 AEC 신호 내부 정규화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• raw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정규화 없이 원시 AEC 값 사용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38" y="401421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맑은 고딕"/>
              </a:rPr>
              <a:t>학습 설정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38" y="4425696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• Epochs: 100, LR: 1e-3, BS: 32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• Patience (EarlyStopping): 15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• Loss: BCE with logits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• Optimizer: Adam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• Device: CUDA (GPU)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학습 곡선 분석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Best DL Model: M2 AEC-128 rowwise — 5-Fold CV 및 최종 모델</a:t>
            </a:r>
          </a:p>
        </p:txBody>
      </p:sp>
      <p:pic>
        <p:nvPicPr>
          <p:cNvPr id="3" name="Picture 2" descr="training_curves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50976"/>
            <a:ext cx="557784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1733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5-Fold CV 학습 곡선 (Fold별 Loss / AUC)</a:t>
            </a:r>
          </a:p>
        </p:txBody>
      </p:sp>
      <p:pic>
        <p:nvPicPr>
          <p:cNvPr id="5" name="Picture 4" descr="training_curves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950976"/>
            <a:ext cx="55778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611733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최종 모델 학습 곡선 (전체 Train set)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5-Fold CV 결과 요약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Train set 교차검증 평균 ± 표준편차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05256"/>
          <a:ext cx="71323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51560"/>
                <a:gridCol w="1051560"/>
                <a:gridCol w="914400"/>
                <a:gridCol w="914400"/>
                <a:gridCol w="914400"/>
              </a:tblGrid>
              <a:tr h="558800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맑은 고딕"/>
                        </a:rPr>
                        <a:t>AUC-ROC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맑은 고딕"/>
                        </a:rPr>
                        <a:t>AUPRC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맑은 고딕"/>
                        </a:rPr>
                        <a:t>Brier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맑은 고딕"/>
                        </a:rPr>
                        <a:t>Accuracy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(LR)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0.808±0.047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0.382±0.076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0.181±0.012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0.732±0.091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0.410±0.071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M1b Clinic+H/W (LR)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0.811±0.060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0.416±0.086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0.174±0.015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0.750±0.092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0.421±0.075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global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0.808±0.056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0.368±0.056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0.185±0.018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0.794±0.018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0.436±0.053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rowwise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0.813±0.059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0.397±0.118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0.170±0.012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0.733±0.044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0.398±0.047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raw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0.815±0.060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0.401±0.079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0.186±0.009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0.793±0.048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0.441±0.061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M3 Segment-8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0.779±0.048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0.295±0.057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0.190±0.028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0.697±0.062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0.370±0.061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M3 Segment-8 rowwise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0.802±0.047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0.350±0.038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0.194±0.018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0.754±0.079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0.422±0.067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M3 Segment-8 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0.815±0.065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0.392±0.094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0.186±0.013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0.758±0.074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0.425±0.094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017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★ 최고 CV AUC: M2 AEC-128 raw (0.815±0.060)</a:t>
            </a:r>
          </a:p>
        </p:txBody>
      </p:sp>
      <p:pic>
        <p:nvPicPr>
          <p:cNvPr id="5" name="Picture 4" descr="cv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05256"/>
            <a:ext cx="39319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59801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07070"/>
                </a:solidFill>
                <a:latin typeface="맑은 고딕"/>
              </a:rPr>
              <a:t>M2 AEC-128 raw — CV ROC 곡선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Test Set 성능 비교 (전체)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Bootstrap 95% CI (n_boot=2000)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05256"/>
          <a:ext cx="9235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97280"/>
                <a:gridCol w="1645920"/>
                <a:gridCol w="1005840"/>
                <a:gridCol w="1005840"/>
                <a:gridCol w="1005840"/>
                <a:gridCol w="1005840"/>
              </a:tblGrid>
              <a:tr h="558800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AUC-ROC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95% CI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AUPRC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Brier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Acc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(LR)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[0.720, 0.881]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M1b Clinic+H/W (LR)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[0.704, 0.871]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global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0.7947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[0.689, 0.880]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0.414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0.239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rowwise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0.8093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[0.723, 0.887]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0.383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0.199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0.655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0.336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raw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[0.710, 0.884]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0.402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0.192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0.751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M3 Seg-8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[0.593, 0.827]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M3 Seg-8 rowwise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0.7823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[0.687, 0.871]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0.677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M3 Seg-8 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[0.685, 0.877]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0176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★ 최고 Test AUC: M2 AEC-128 rowwise (0.8093)  |  최고 남성 F1: M2 AEC-128 raw (0.462)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DeLong Test — 모델 간 AUC 쌍 비교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Test Set: 동일 샘플 기반 Correlated ROC 비교 (DeLong et al. Biometrics 1988)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7070"/>
                </a:solidFill>
                <a:latin typeface="맑은 고딕"/>
              </a:rPr>
              <a:t>동일 Test Set (n=229, 양성=24)  |  Paired 비교  |  양측 검정  |  α=0.05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16736"/>
          <a:ext cx="9418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234440"/>
                <a:gridCol w="1234440"/>
                <a:gridCol w="1188720"/>
                <a:gridCol w="1188720"/>
                <a:gridCol w="1005840"/>
              </a:tblGrid>
              <a:tr h="457200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비교 쌍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Model1 AUC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Model2 AUC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ΔAUC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p-value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유의성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M1b Clinic+H/W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0.7927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-0.0132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0.4599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M2 AEC-128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0.4081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M2 AEC-128 rowwise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0.7996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-0.0063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0.6264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M2 AEC-128 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M3 Seg-8 global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0.7646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-0.0413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0.0911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†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M3 Seg-8 rowwise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0.5178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M3 Seg-8 raw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0.7675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-0.0384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0.1492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rowwise vs M3 Seg-8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22976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6A2A"/>
                </a:solidFill>
                <a:latin typeface="맑은 고딕"/>
              </a:rPr>
              <a:t>✓  compute_delong.py 실행 결과 (delong_results.json)  |  28쌍 계산됨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0176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707070"/>
                </a:solidFill>
                <a:latin typeface="맑은 고딕"/>
              </a:rPr>
              <a:t>• 유의하지 않아도(p≥0.05) 모든 쌍 p-value 보고 필수  (DeLong et al. Biometrics 1988)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07070"/>
                </a:solidFill>
                <a:latin typeface="맑은 고딕"/>
              </a:rPr>
              <a:t>• 양측 검정(two-sided)  |  *** p&lt;0.001  ** p&lt;0.01  * p&lt;0.05  † p&lt;0.10  ns p≥0.10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Best Model: M2 AEC-128 rowwise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M2 AEC-128 rowwise — Test Set 상세 결과 (최고 AUC)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05256"/>
            <a:ext cx="2651760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AUC-ROC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710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0.8093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82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DEEFF"/>
                </a:solidFill>
                <a:latin typeface="맑은 고딕"/>
              </a:rPr>
              <a:t>95% CI [0.723, 0.887]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905256"/>
            <a:ext cx="265176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978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AUPRC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2710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0.3826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682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DEEFF"/>
                </a:solidFill>
                <a:latin typeface="맑은 고딕"/>
              </a:rPr>
              <a:t>95% CI [0.227, 0.579]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905256"/>
            <a:ext cx="2651760" cy="1188720"/>
          </a:xfrm>
          <a:prstGeom prst="rect">
            <a:avLst/>
          </a:prstGeom>
          <a:solidFill>
            <a:srgbClr val="216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978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F1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2710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0.3361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82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DEEFF"/>
                </a:solidFill>
                <a:latin typeface="맑은 고딕"/>
              </a:rPr>
              <a:t>95% CI [0.222, 0.441]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76856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성별 세부 성능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2688336"/>
          <a:ext cx="85039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280160"/>
                <a:gridCol w="1188720"/>
                <a:gridCol w="1371600"/>
                <a:gridCol w="1280160"/>
              </a:tblGrid>
              <a:tr h="354330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AUC-ROC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AUPRC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Brier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Accuracy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5433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전체 (n=229)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0.8093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0.3826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0.1989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0.6550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0.3361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5433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남성 (n=82)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0.6341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여성 (n=147)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0.7948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0.3402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0.1763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0.6667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0.2462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pic>
        <p:nvPicPr>
          <p:cNvPr id="17" name="Picture 16" descr="test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42816"/>
            <a:ext cx="4114800" cy="3291840"/>
          </a:xfrm>
          <a:prstGeom prst="rect">
            <a:avLst/>
          </a:prstGeom>
        </p:spPr>
      </p:pic>
      <p:pic>
        <p:nvPicPr>
          <p:cNvPr id="18" name="Picture 17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242816"/>
            <a:ext cx="41148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Test Set ROC 곡선 비교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M1 Baseline  vs  M2 AEC-128 rowwise  vs  M3 Seg-8 raw</a:t>
            </a:r>
          </a:p>
        </p:txBody>
      </p:sp>
      <p:pic>
        <p:nvPicPr>
          <p:cNvPr id="3" name="Picture 2" descr="test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05256"/>
            <a:ext cx="36576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972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맑은 고딕"/>
              </a:rPr>
              <a:t>M1 Baseline (LR)
AUC = 0.8059</a:t>
            </a:r>
          </a:p>
        </p:txBody>
      </p:sp>
      <p:pic>
        <p:nvPicPr>
          <p:cNvPr id="5" name="Picture 4" descr="test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905256"/>
            <a:ext cx="365760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15968" y="57972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맑은 고딕"/>
              </a:rPr>
              <a:t>M2 AEC-128 rowwise  ★ Best
AUC = 0.8093</a:t>
            </a:r>
          </a:p>
        </p:txBody>
      </p:sp>
      <p:pic>
        <p:nvPicPr>
          <p:cNvPr id="7" name="Picture 6" descr="test_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905256"/>
            <a:ext cx="365760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74736" y="57972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맑은 고딕"/>
              </a:rPr>
              <a:t>M3 Seg-8 raw
AUC = 0.7886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Confusion Matrix 비교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Test Set 예측 혼동 행렬 — M1 Baseline vs M2 AEC-128 rowwise</a:t>
            </a:r>
          </a:p>
        </p:txBody>
      </p:sp>
      <p:pic>
        <p:nvPicPr>
          <p:cNvPr id="3" name="Picture 2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05256"/>
            <a:ext cx="53949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017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맑은 고딕"/>
              </a:rPr>
              <a:t>M1 Baseline (LR)  |  AUC=0.806</a:t>
            </a:r>
          </a:p>
        </p:txBody>
      </p:sp>
      <p:pic>
        <p:nvPicPr>
          <p:cNvPr id="5" name="Picture 4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905256"/>
            <a:ext cx="53949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28232" y="598017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864"/>
                </a:solidFill>
                <a:latin typeface="맑은 고딕"/>
              </a:rPr>
              <a:t>M2 AEC-128 rowwise  ★ Best  |  AUC=0.809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성별 세부 분석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Test Set 남성 vs 여성 AUC-ROC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05256"/>
          <a:ext cx="7772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97280"/>
                <a:gridCol w="1097280"/>
                <a:gridCol w="1051560"/>
                <a:gridCol w="1051560"/>
              </a:tblGrid>
              <a:tr h="558800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전체 AUC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남성 AUC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여성 AUC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남성 F1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여성 F1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M1b Clinic+H/W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global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rowwise</a:t>
                      </a:r>
                    </a:p>
                  </a:txBody>
                  <a:tcPr>
                    <a:solidFill>
                      <a:srgbClr val="D9F0DA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0.809</a:t>
                      </a:r>
                    </a:p>
                  </a:txBody>
                  <a:tcPr>
                    <a:solidFill>
                      <a:srgbClr val="D9F0DA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0.788</a:t>
                      </a:r>
                    </a:p>
                  </a:txBody>
                  <a:tcPr>
                    <a:solidFill>
                      <a:srgbClr val="D9F0DA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0.795</a:t>
                      </a:r>
                    </a:p>
                  </a:txBody>
                  <a:tcPr>
                    <a:solidFill>
                      <a:srgbClr val="D9F0DA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0.444</a:t>
                      </a:r>
                    </a:p>
                  </a:txBody>
                  <a:tcPr>
                    <a:solidFill>
                      <a:srgbClr val="D9F0DA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0.246</a:t>
                      </a:r>
                    </a:p>
                  </a:txBody>
                  <a:tcPr>
                    <a:solidFill>
                      <a:srgbClr val="D9F0DA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raw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M3 Seg-8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M3 Seg-8 rowwise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0.771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0.375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0.191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M3 Seg-8 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0" y="905256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• 남성(n=82): 근감소증 유병률 15.9% → 탐지 난이도 높음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• 여성(n=147): 유병률 7.5% → 불균형 심화, F1 전반적 낮음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• M2 AEC-128 rowwise: 남성 AUC 0.788 / 여성 AUC 0.795 (최고 전체 AUC)</a:t>
            </a:r>
          </a:p>
        </p:txBody>
      </p:sp>
      <p:pic>
        <p:nvPicPr>
          <p:cNvPr id="5" name="Picture 4" descr="test_roc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374136"/>
            <a:ext cx="3657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성별 ROC 곡선 비교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M1 Baseline vs M2 AEC-128 rowwise — 남성 / 여성 분리</a:t>
            </a:r>
          </a:p>
        </p:txBody>
      </p:sp>
      <p:pic>
        <p:nvPicPr>
          <p:cNvPr id="3" name="Picture 2" descr="test_roc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05256"/>
            <a:ext cx="53949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017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맑은 고딕"/>
              </a:rPr>
              <a:t>M1 Baseline  |  남성 AUC=0.783 / 여성 AUC=0.785</a:t>
            </a:r>
          </a:p>
        </p:txBody>
      </p:sp>
      <p:pic>
        <p:nvPicPr>
          <p:cNvPr id="5" name="Picture 4" descr="test_roc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905256"/>
            <a:ext cx="53949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28232" y="598017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맑은 고딕"/>
              </a:rPr>
              <a:t>M2 AEC-128 rowwise ★  |  남성 AUC=0.788 / 여성 AUC=0.795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AEC 시각화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M2 AEC-128 raw — Heatmap &amp; CAM (Best Model)</a:t>
            </a:r>
          </a:p>
        </p:txBody>
      </p:sp>
      <p:pic>
        <p:nvPicPr>
          <p:cNvPr id="3" name="Picture 2" descr="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05256"/>
            <a:ext cx="54864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630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AEC Heatmap (z축 방향 신호 분포)</a:t>
            </a:r>
          </a:p>
        </p:txBody>
      </p:sp>
      <p:pic>
        <p:nvPicPr>
          <p:cNvPr id="5" name="Picture 4" descr="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05256"/>
            <a:ext cx="54864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1630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Class Activation Map (CAM)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AEC 시각화 (Segment-8)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M3 Segment-8 global — Heatmap &amp; CAM</a:t>
            </a:r>
          </a:p>
        </p:txBody>
      </p:sp>
      <p:pic>
        <p:nvPicPr>
          <p:cNvPr id="3" name="Picture 2" descr="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05256"/>
            <a:ext cx="54864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630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Segment-8 AEC Heatmap</a:t>
            </a:r>
          </a:p>
        </p:txBody>
      </p:sp>
      <p:pic>
        <p:nvPicPr>
          <p:cNvPr id="5" name="Picture 4" descr="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05256"/>
            <a:ext cx="54864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1630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Segment-8 Class Activation Map (CAM)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정규화 방식별 비교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AEC 신호 정규화 전략 영향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M2 AEC-128 모델 (ResNet1D)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62456"/>
          <a:ext cx="58521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05840"/>
                <a:gridCol w="1005840"/>
                <a:gridCol w="822960"/>
                <a:gridCol w="822960"/>
              </a:tblGrid>
              <a:tr h="320040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정규화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AUC-ROC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AUPRC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Brier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Acc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2004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global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0.7947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0.4137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0.2392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rowwise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0.8093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0.3826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0.1989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0.655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0.336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</a:tr>
              <a:tr h="32004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raw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0.8055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0.4023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0.1918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0.751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8254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M3 Segment-8 모델 (MLP)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82696"/>
          <a:ext cx="58521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05840"/>
                <a:gridCol w="1005840"/>
                <a:gridCol w="822960"/>
                <a:gridCol w="822960"/>
              </a:tblGrid>
              <a:tr h="320040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정규화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AUC-ROC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AUPRC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Brier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Acc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2004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global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0.7183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0.2670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0.1676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rowwise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0.1889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raw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0.7886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0.3138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0.1809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0.721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0.347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aec_individual_normalization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05256"/>
            <a:ext cx="54864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9801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07070"/>
                </a:solidFill>
                <a:latin typeface="맑은 고딕"/>
              </a:rPr>
              <a:t>AEC 신호 정규화 방식별 개인 간 분포 비교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정규화별 ROC 곡선 비교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M2 AEC-128 — global / rowwise / raw Test Set ROC</a:t>
            </a:r>
          </a:p>
        </p:txBody>
      </p:sp>
      <p:pic>
        <p:nvPicPr>
          <p:cNvPr id="3" name="Picture 2" descr="test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05256"/>
            <a:ext cx="36576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9729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맑은 고딕"/>
              </a:rPr>
              <a:t>global
AUC=0.7947</a:t>
            </a:r>
          </a:p>
        </p:txBody>
      </p:sp>
      <p:pic>
        <p:nvPicPr>
          <p:cNvPr id="5" name="Picture 4" descr="test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905256"/>
            <a:ext cx="365760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15968" y="579729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864"/>
                </a:solidFill>
                <a:latin typeface="맑은 고딕"/>
              </a:rPr>
              <a:t>rowwise  ★
AUC=0.8093</a:t>
            </a:r>
          </a:p>
        </p:txBody>
      </p:sp>
      <p:pic>
        <p:nvPicPr>
          <p:cNvPr id="7" name="Picture 6" descr="test_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905256"/>
            <a:ext cx="365760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74736" y="579729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맑은 고딕"/>
              </a:rPr>
              <a:t>raw
AUC=0.8055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Calibration 분석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예측 확률의 실제 발생률 일치도 (Brier Score)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7070"/>
                </a:solidFill>
                <a:latin typeface="맑은 고딕"/>
              </a:rPr>
              <a:t>Brier Score = 예측 확률과 실제 결과(0/1)의 평균 제곱 오차 — 낮을수록 우수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62456"/>
          <a:ext cx="4846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60120"/>
                <a:gridCol w="960120"/>
              </a:tblGrid>
              <a:tr h="457200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Brier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95% CI Lower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95% CI Upper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(LR)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0.1846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0.1590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0.2098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M1b Clinic+H/W (LR)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global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0.2392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0.2169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0.2615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rowwise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raw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0.1918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0.1671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0.2161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M3 Seg-8 global</a:t>
                      </a:r>
                    </a:p>
                  </a:txBody>
                  <a:tcPr>
                    <a:solidFill>
                      <a:srgbClr val="D9F0DA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0.1676</a:t>
                      </a:r>
                    </a:p>
                  </a:txBody>
                  <a:tcPr>
                    <a:solidFill>
                      <a:srgbClr val="D9F0DA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0.1381</a:t>
                      </a:r>
                    </a:p>
                  </a:txBody>
                  <a:tcPr>
                    <a:solidFill>
                      <a:srgbClr val="D9F0DA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0.1979</a:t>
                      </a:r>
                    </a:p>
                  </a:txBody>
                  <a:tcPr>
                    <a:solidFill>
                      <a:srgbClr val="D9F0DA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M3 Seg-8 rowwise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0.1889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0.1689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0.2092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M3 Seg-8 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62456"/>
            <a:ext cx="640080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4960" y="373989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M1 Baseline  |  Brier=0.1846</a:t>
            </a:r>
          </a:p>
        </p:txBody>
      </p:sp>
      <p:pic>
        <p:nvPicPr>
          <p:cNvPr id="7" name="Picture 6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151376"/>
            <a:ext cx="640080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65288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맑은 고딕"/>
              </a:rPr>
              <a:t>M2 AEC-128 rowwise ★  |  Brier=0.1989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68696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5020"/>
                </a:solidFill>
                <a:latin typeface="맑은 고딕"/>
              </a:rPr>
              <a:t>※ M3 Seg-8 global의 Brier(0.1676)가 수치상 최저이나, AUC·F1 성능도 함께 확인 필요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향후 연구 방향 — 실험 결과 기반 재정의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6가지 방향 수행 현황 + 결과에서 도출된 우선순위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05256"/>
            <a:ext cx="3675887" cy="157276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18687" y="950976"/>
            <a:ext cx="868680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9144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결과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267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맑은 고딕"/>
              </a:rPr>
              <a:t>① 핸드크래프트 60-dim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3511295" cy="11612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r>
              <a:rPr sz="950">
                <a:solidFill>
                  <a:srgbClr val="262626"/>
                </a:solidFill>
                <a:latin typeface="맑은 고딕"/>
              </a:rPr>
              <a:t>M3 Seg-8 raw AUC 0.7886</a:t>
            </a:r>
          </a:p>
          <a:p>
            <a:r>
              <a:rPr sz="950">
                <a:solidFill>
                  <a:srgbClr val="262626"/>
                </a:solidFill>
                <a:latin typeface="맑은 고딕"/>
              </a:rPr>
              <a:t>남성 AUC 0.7915 ≈ Baseline</a:t>
            </a:r>
          </a:p>
          <a:p>
            <a:r>
              <a:rPr sz="950">
                <a:solidFill>
                  <a:srgbClr val="262626"/>
                </a:solidFill>
                <a:latin typeface="맑은 고딕"/>
              </a:rPr>
              <a:t>여성 AUC 0.7299 &lt;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0247" y="905256"/>
            <a:ext cx="3675887" cy="1572768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31734" y="950976"/>
            <a:ext cx="868680" cy="21945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9144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코드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7" y="960120"/>
            <a:ext cx="267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맑은 고딕"/>
              </a:rPr>
              <a:t>② Gating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7" y="1252728"/>
            <a:ext cx="3511295" cy="11612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r>
              <a:rPr sz="950">
                <a:solidFill>
                  <a:srgbClr val="262626"/>
                </a:solidFill>
                <a:latin typeface="맑은 고딕"/>
              </a:rPr>
              <a:t>GatedAECFusionModel 구현</a:t>
            </a:r>
          </a:p>
          <a:p>
            <a:r>
              <a:rPr sz="950">
                <a:solidFill>
                  <a:srgbClr val="262626"/>
                </a:solidFill>
                <a:latin typeface="맑은 고딕"/>
              </a:rPr>
              <a:t>실제 학습·α 분포 분석 미수행</a:t>
            </a:r>
          </a:p>
          <a:p>
            <a:r>
              <a:rPr sz="950">
                <a:solidFill>
                  <a:srgbClr val="262626"/>
                </a:solidFill>
                <a:latin typeface="맑은 고딕"/>
              </a:rPr>
              <a:t>→ 다음 단계 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4" y="905256"/>
            <a:ext cx="3675887" cy="157276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44781" y="950976"/>
            <a:ext cx="868680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9144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결과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4" y="960120"/>
            <a:ext cx="267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맑은 고딕"/>
              </a:rPr>
              <a:t>③ 성별 AEC 기여도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4" y="1252728"/>
            <a:ext cx="3511295" cy="11612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r>
              <a:rPr sz="950">
                <a:solidFill>
                  <a:srgbClr val="262626"/>
                </a:solidFill>
                <a:latin typeface="맑은 고딕"/>
              </a:rPr>
              <a:t>M2 rowwise 여성 +0.010↑</a:t>
            </a:r>
          </a:p>
          <a:p>
            <a:r>
              <a:rPr sz="950">
                <a:solidFill>
                  <a:srgbClr val="262626"/>
                </a:solidFill>
                <a:latin typeface="맑은 고딕"/>
              </a:rPr>
              <a:t>M3 Seg-8 여성 -0.055↓</a:t>
            </a:r>
          </a:p>
          <a:p>
            <a:r>
              <a:rPr sz="950">
                <a:solidFill>
                  <a:srgbClr val="262626"/>
                </a:solidFill>
                <a:latin typeface="맑은 고딕"/>
              </a:rPr>
              <a:t>성별 조건부 모델 필요성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69464"/>
            <a:ext cx="3675887" cy="157276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18687" y="2615184"/>
            <a:ext cx="868680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9144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결과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24328"/>
            <a:ext cx="267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맑은 고딕"/>
              </a:rPr>
              <a:t>④ Liver 크롭 실험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16936"/>
            <a:ext cx="3511295" cy="11612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r>
              <a:rPr sz="950">
                <a:solidFill>
                  <a:srgbClr val="262626"/>
                </a:solidFill>
                <a:latin typeface="맑은 고딕"/>
              </a:rPr>
              <a:t>Crop64-global AUC 0.8333 최고</a:t>
            </a:r>
          </a:p>
          <a:p>
            <a:r>
              <a:rPr sz="950">
                <a:solidFill>
                  <a:srgbClr val="262626"/>
                </a:solidFill>
                <a:latin typeface="맑은 고딕"/>
              </a:rPr>
              <a:t>Full-global 대비 +0.039(†p=0.069)</a:t>
            </a:r>
          </a:p>
          <a:p>
            <a:r>
              <a:rPr sz="950">
                <a:solidFill>
                  <a:srgbClr val="262626"/>
                </a:solidFill>
                <a:latin typeface="맑은 고딕"/>
              </a:rPr>
              <a:t>최적 기점 45~65 추가 탐색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7" y="2569464"/>
            <a:ext cx="3675887" cy="157276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31734" y="2615184"/>
            <a:ext cx="868680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9144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결과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7" y="2624328"/>
            <a:ext cx="267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맑은 고딕"/>
              </a:rPr>
              <a:t>⑤ 교차 패턴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7" y="2916936"/>
            <a:ext cx="3511295" cy="11612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r>
              <a:rPr sz="950">
                <a:solidFill>
                  <a:srgbClr val="262626"/>
                </a:solidFill>
                <a:latin typeface="맑은 고딕"/>
              </a:rPr>
              <a:t>남성/여성 비교 완료</a:t>
            </a:r>
          </a:p>
          <a:p>
            <a:r>
              <a:rPr sz="950">
                <a:solidFill>
                  <a:srgbClr val="262626"/>
                </a:solidFill>
                <a:latin typeface="맑은 고딕"/>
              </a:rPr>
              <a:t>성별별 교차 구간 위치 상이</a:t>
            </a:r>
          </a:p>
          <a:p>
            <a:r>
              <a:rPr sz="950">
                <a:solidFill>
                  <a:srgbClr val="262626"/>
                </a:solidFill>
                <a:latin typeface="맑은 고딕"/>
              </a:rPr>
              <a:t>교차점 피처화 실험 제안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4" y="2569464"/>
            <a:ext cx="3675887" cy="1572768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844781" y="2615184"/>
            <a:ext cx="868680" cy="21945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9144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코드 준비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4" y="2624328"/>
            <a:ext cx="267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맑은 고딕"/>
              </a:rPr>
              <a:t>⑥ 128×128 상관행렬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4" y="2916936"/>
            <a:ext cx="3511295" cy="11612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r>
              <a:rPr sz="950">
                <a:solidFill>
                  <a:srgbClr val="262626"/>
                </a:solidFill>
                <a:latin typeface="맑은 고딕"/>
              </a:rPr>
              <a:t>AECCorrModel(2D CNN) 구현</a:t>
            </a:r>
          </a:p>
          <a:p>
            <a:r>
              <a:rPr sz="950">
                <a:solidFill>
                  <a:srgbClr val="262626"/>
                </a:solidFill>
                <a:latin typeface="맑은 고딕"/>
              </a:rPr>
              <a:t>실제 학습·성능 검증 미수행</a:t>
            </a:r>
          </a:p>
          <a:p>
            <a:r>
              <a:rPr sz="950">
                <a:solidFill>
                  <a:srgbClr val="262626"/>
                </a:solidFill>
                <a:latin typeface="맑은 고딕"/>
              </a:rPr>
              <a:t>→ 다음 단계 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06824"/>
            <a:ext cx="11274552" cy="190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616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실험 결과 기반 — 다음 단계 우선순위 과제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72584"/>
            <a:ext cx="5500116" cy="2788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1F3864"/>
                </a:solidFill>
                <a:latin typeface="맑은 고딕"/>
              </a:rPr>
              <a:t>① Gating Mechanism 실제 학습 (②번 코드 활용)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>  환자별 α 분포 분석: 근감소증 vs 정상, 성별 비교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>  임상 변수 vs AEC 자율 가중치 → 모델 해석 근거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1F3864"/>
                </a:solidFill>
                <a:latin typeface="맑은 고딕"/>
              </a:rPr>
              <a:t>② 성별 조건부(Conditional) 모델 설계 (③번 결과)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>  성별을 embedding/condition 으로 입력받는 구조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>  여성 AUC 0.7299→목표 0.80+ 개선 검증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1F3864"/>
                </a:solidFill>
                <a:latin typeface="맑은 고딕"/>
              </a:rPr>
              <a:t>③ 128×128 상관행렬 실제 학습 검증 (⑥번 코드)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>  AECCorrModel vs AECFusionModel 성능 비교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>  슬라이스 간 전역 공분산 패턴의 추가 정보 가치 측정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1636" y="4672584"/>
            <a:ext cx="5500116" cy="2788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1F3864"/>
                </a:solidFill>
                <a:latin typeface="맑은 고딕"/>
              </a:rPr>
              <a:t>④ 크롭 기점 Fine-grained Search (④번 결과)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>  start=45~65 구간 세분화 실험 (현재 40/51/64)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>  성별별 최적 기점 차이 존재 여부 확인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1F3864"/>
                </a:solidFill>
                <a:latin typeface="맑은 고딕"/>
              </a:rPr>
              <a:t>⑤ 교차점 피처화 (⑤번 결과)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>  crossing_count, crossing_position → M3 60-dim에 추가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>  이전 대비 AUC 향상 여부 + DeLong 검증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1F3864"/>
                </a:solidFill>
                <a:latin typeface="맑은 고딕"/>
              </a:rPr>
              <a:t>⑥ 외부 검증(External Validation)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>  타 기관 데이터 적용 → 일반화 능력 확인</a:t>
            </a:r>
          </a:p>
          <a:p>
            <a:pPr>
              <a:spcBef>
                <a:spcPts val="0"/>
              </a:spcBef>
            </a:pPr>
            <a:r>
              <a:rPr sz="1000" b="0">
                <a:solidFill>
                  <a:srgbClr val="262626"/>
                </a:solidFill>
                <a:latin typeface="맑은 고딕"/>
              </a:rPr>
              <a:t>  AEC 프로파일 기관 간 분포 차이 분석(도메인 시프트)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Direction ① 핸드크래프트 피처 60-dim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규칙 기반 피처 추출(M3 Segment-8 MLP) — 연구적 근거 및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연구적 배경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방사선학적(Radiomics) 피처 기반 ML은 DL 대비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해석가능성이 높고 소표본에서 안정적 (Lambin 2012)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8구간 분할 근거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AEC z축 프로파일: 흉부(1~3구간) → 복부(4~6구간)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→ 골반(7~8구간) 순서로 생리적 조직 밀도 전환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8구간은 폐·간·L3 레벨 등 주요 해부학적 구획 대응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통계량 선택 근거 (구간당 4개)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mean : 구간 내 평균 조직 밀도 (X선 감쇠량)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std  : 구간 내 밀도 변동성 (불균일 조직 분포)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auc  : 구간 총 X선 감쇠 에너지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slope: 밀도 구배 (조직 전환 속도)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인접 차이(inter-segment) 의의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복부↔흉부, 복부↔골반 경계의 밀도 변화율 포착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근감소증 시 장기-근육 경계부 변화율 상이할 가능성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905256"/>
            <a:ext cx="5394960" cy="2651760"/>
          </a:xfrm>
          <a:prstGeom prst="rect">
            <a:avLst/>
          </a:prstGeom>
          <a:solidFill>
            <a:srgbClr val="E8F0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9966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피처 구조 (총 60-dim)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53896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[ Intra-segment: 8구간 × 4통계 = 32-dim ]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구간별 (mean, std, auc, slope) × 8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[ Inter-segment: 7인접쌍 × 4통계 = 28-dim ]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diff_i = segment_{i+1} − segment_i 동일 통계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AEC_FEAT_DIM = 60  →  MLP(M3) 입력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694176"/>
            <a:ext cx="5394960" cy="2606040"/>
          </a:xfrm>
          <a:prstGeom prst="rect">
            <a:avLst/>
          </a:prstGeom>
          <a:solidFill>
            <a:srgbClr val="EFF9EF"/>
          </a:solidFill>
          <a:ln w="19050">
            <a:solidFill>
              <a:srgbClr val="37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8130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A2A"/>
                </a:solidFill>
                <a:latin typeface="맑은 고딕"/>
              </a:rPr>
              <a:t>M3 SegmentFusionModel 성능 의의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242816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DL(ResNet1D) 대비 경량 모델로 유사 AUC 달성 시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  임상 현장 배포 가능성 ↑ (모델 복잡도 낮음)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60-dim 피처별 gradient saliency 분석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  → '어느 구간이 판단 근거?' 임상 해석 가능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소표본(n=914)에서 과적합 위험 낮음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  128-dim raw 대비 피처 수 절반 이하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Direction ② Gating Mechanism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AEC vs Clinic 기여도 자율 결정 — 연구적 근거 및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연구 문제의식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단순 concat fusion: AEC와 Clinic 가중치 고정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→ 환자마다 다른 최적 기여도를 반영 못함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Gating의 이론적 배경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Attention Gate (Oktay et al. 2018, MIDL):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모델이 '어느 부분을 얼마나 참조할지' 스스로 학습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→ 성능 + 해석가능성 동시 확보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Highway Network (Srivastava 2015):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Transform Gate T가 신호 통과량 조절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→ 깊은 네트워크 그래디언트 흐름 안정화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임상적 해석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α → 1 : AEC 신호 지배 (근육량 직접 반영)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α → 0 : 임상 변수(Age/BMI) 지배 (전통 예측인자)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환자군별 α 분포 분석 → AEC 유용 케이스 실증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905256"/>
            <a:ext cx="5394960" cy="2926080"/>
          </a:xfrm>
          <a:prstGeom prst="rect">
            <a:avLst/>
          </a:prstGeom>
          <a:solidFill>
            <a:srgbClr val="E8F0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9966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GatedAECFusionModel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53896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Gate network: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Linear(aec_out+clinic_hidden → 8) → ReLU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→ Linear(8 → 1) → Sigmoid → α ∈ (0,1)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Fusion: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fused = α·proj(AEC) + (1−α)·proj(Clinic)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Output: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forward(return_gate=True) → α (B,) 반환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→ 환자별 AEC 기여도 정량화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968496"/>
            <a:ext cx="5394960" cy="2286000"/>
          </a:xfrm>
          <a:prstGeom prst="rect">
            <a:avLst/>
          </a:prstGeom>
          <a:solidFill>
            <a:srgbClr val="EFF9EF"/>
          </a:solidFill>
          <a:ln w="19050">
            <a:solidFill>
              <a:srgbClr val="37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40873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A2A"/>
                </a:solidFill>
                <a:latin typeface="맑은 고딕"/>
              </a:rPr>
              <a:t>기대 분석: 환자별 α 분포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517136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α 히스토그램: AEC 기여 높은 환자 비율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근감소증(양성) vs 정상(음성) α 평균 비교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→ 근감소증 환자에서 AEC 가중치 증가?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성별별 α 분포 비교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→ 여성에서 임상 변수 의존도 더 높은가?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Direction ③ 성별 분리 분석 + AEC 기여도 비교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남성/여성 근감소증 패턴 차이 및 구간별 기여도 — 연구적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성별 분리의 임상적 근거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AWGS 2019: 진단 기준 자체가 성별 이분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남성 SMI &lt; 40.96  vs  여성 SMI &lt; 30.6 cm²/m²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남성: 근육량 절대값 높고 감소 속도 상이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여성: 지방 비율 높아 AEC 프로파일 형태 상이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AEC 프로파일 성별 차이 기전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골격근 밀도(~1.05 g/cm³) &gt; 지방(~0.9 g/cm³)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여성의 피하지방 비율 ↑ → AEC 전반부 낮은 mA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남성의 내장지방 분포 → 복부 구간 AEC 패턴 상이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동일 BMI라도 성별 체성분 차이로 AEC 패턴 다름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분석 방법론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Gradient Saliency: ∂logit/∂X_feat → 구간 중요도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Male/Female 별 60-dim 중요도 평균 → 바 차트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(Male − Female) 차이 그래프 → 성별 특이 구간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905256"/>
            <a:ext cx="5394960" cy="2468880"/>
          </a:xfrm>
          <a:prstGeom prst="rect">
            <a:avLst/>
          </a:prstGeom>
          <a:solidFill>
            <a:srgbClr val="E8F0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9966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plot_cam_by_sex()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53896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① compute_gradient_saliency(model, X_feat, ...)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→ (N, 60) 샘플별 gradient 중요도 행렬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② fem_mask / mal_mask 로 성별 분리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③ 구간별 평균 importance 바 차트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(intra 8구간 + inter 7구간 분리 표시)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④ (Male − Female) 차이 바 차트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→ 어느 구간에서 성별 차이 최대?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511296"/>
            <a:ext cx="5394960" cy="2743200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6301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360C"/>
                </a:solidFill>
                <a:latin typeface="맑은 고딕"/>
              </a:rPr>
              <a:t>가설 및 기대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059936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남성: 복부 중반 구간(4~6) 중요도 상대적 ↑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  → L3 레벨 근육량이 AEC에 직접 반영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여성: 전반부(1~3) 및 경계 구간(3~4) 중요도 ↑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  → 피하지방 분포의 성별 특이 패턴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성별 교차 AUC 분석과 연계 해석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  남성 AUC vs 여성 AUC 간극 원인 규명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Direction ③ 성별 분리 분석 — Test AUC 결과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남성(n=82) / 여성(n=147) 별 AUC 비교 및 Gradient Saliency 성별 기여도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05256"/>
          <a:ext cx="7772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05840"/>
                <a:gridCol w="1005840"/>
                <a:gridCol w="914400"/>
                <a:gridCol w="1005840"/>
                <a:gridCol w="914400"/>
              </a:tblGrid>
              <a:tr h="268605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맑은 고딕"/>
                        </a:rPr>
                        <a:t>Overall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맑은 고딕"/>
                        </a:rPr>
                        <a:t>Male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맑은 고딕"/>
                        </a:rPr>
                        <a:t>ΔMale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맑은 고딕"/>
                        </a:rPr>
                        <a:t>Female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맑은 고딕"/>
                        </a:rPr>
                        <a:t>ΔFemale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68605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(LR)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0.7826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0.7848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68605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-0.0223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-0.0161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rowwise ★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0.8093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0.7882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+0.0056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0.7948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+0.0100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</a:tr>
              <a:tr h="268605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0.8055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+0.0067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-0.0161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M3 Seg-8 global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0.7183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0.6990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-0.0836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0.6678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-0.1170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68605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M3 Seg-8 rowwise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-0.0111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-0.0448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M3 Seg-8 raw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0.7886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0.7915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+0.0089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0.7299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-0.0549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cam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05256"/>
            <a:ext cx="4206240" cy="2148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308152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07070"/>
                </a:solidFill>
                <a:latin typeface="맑은 고딕"/>
              </a:rPr>
              <a:t>Gradient Saliency — 성별 구간 중요도 (M3 Seg-8 global)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18104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핵심 발견 및 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47288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262626"/>
                </a:solidFill>
                <a:latin typeface="맑은 고딕"/>
              </a:rPr>
              <a:t>① 전 모델에서 Male AUC &gt;= Female AUC  (AWGS 2019 성별 기준 이분화 반영)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62626"/>
                </a:solidFill>
                <a:latin typeface="맑은 고딕"/>
              </a:rPr>
              <a:t>② M2 AEC-128 rowwise: Female AUC 0.7948  →  M1 Female(0.7848) 대비 +0.010</a:t>
            </a:r>
          </a:p>
          <a:p>
            <a:pPr lvl="1">
              <a:spcBef>
                <a:spcPts val="200"/>
              </a:spcBef>
            </a:pPr>
            <a:r>
              <a:rPr sz="1100">
                <a:solidFill>
                  <a:srgbClr val="262626"/>
                </a:solidFill>
                <a:latin typeface="맑은 고딕"/>
              </a:rPr>
              <a:t>AEC 딥러닝 신호가 여성 예측에도 유효함을 시사 — 임상 변수만으론 포착 못하는 패턴 학습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62626"/>
                </a:solidFill>
                <a:latin typeface="맑은 고딕"/>
              </a:rPr>
              <a:t>③ M3 Seg-8: Female AUC 0.6678~0.7400  &lt;  M1 Female(0.7848)  →  성능 저하</a:t>
            </a:r>
          </a:p>
          <a:p>
            <a:pPr lvl="1">
              <a:spcBef>
                <a:spcPts val="200"/>
              </a:spcBef>
            </a:pPr>
            <a:r>
              <a:rPr sz="1100">
                <a:solidFill>
                  <a:srgbClr val="262626"/>
                </a:solidFill>
                <a:latin typeface="맑은 고딕"/>
              </a:rPr>
              <a:t>60-dim 핸드크래프트 피처가 여성 체성분 특이 패턴을 충분히 반영 못함</a:t>
            </a:r>
          </a:p>
          <a:p>
            <a:pPr lvl="1">
              <a:spcBef>
                <a:spcPts val="200"/>
              </a:spcBef>
            </a:pPr>
            <a:r>
              <a:rPr sz="1100">
                <a:solidFill>
                  <a:srgbClr val="262626"/>
                </a:solidFill>
                <a:latin typeface="맑은 고딕"/>
              </a:rPr>
              <a:t>남성(M3 raw 0.7915 ≈ M1 0.7826): 핸드크래프트도 남성 근육량 변화 포착 가능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62626"/>
                </a:solidFill>
                <a:latin typeface="맑은 고딕"/>
              </a:rPr>
              <a:t>④ Gradient Saliency (cam_by_sex): 남성은 복부 중반(구간 4~6) 중요도 ↑,</a:t>
            </a:r>
          </a:p>
          <a:p>
            <a:pPr lvl="1">
              <a:spcBef>
                <a:spcPts val="200"/>
              </a:spcBef>
            </a:pPr>
            <a:r>
              <a:rPr sz="1100">
                <a:solidFill>
                  <a:srgbClr val="262626"/>
                </a:solidFill>
                <a:latin typeface="맑은 고딕"/>
              </a:rPr>
              <a:t>여성은 전반부(구간 1~3) 상대 중요도 ↑  →  피하지방 분포 성별 차이 반영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62626"/>
                </a:solidFill>
                <a:latin typeface="맑은 고딕"/>
              </a:rPr>
              <a:t>→ 결론: 성별 분리 학습 또는 성별 조건부(Conditional) 모델이 여성 AUC 개선에 유효할 것으로 예측</a:t>
            </a:r>
          </a:p>
        </p:txBody>
      </p:sp>
      <p:pic>
        <p:nvPicPr>
          <p:cNvPr id="8" name="Picture 7" descr="test_roc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118104"/>
            <a:ext cx="420624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0" y="7123175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07070"/>
                </a:solidFill>
                <a:latin typeface="맑은 고딕"/>
              </a:rPr>
              <a:t>ROC by Sex — M3 Seg-8 global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Direction ④ Grad-CAM + Liver 후반부 집중 크롭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간 영역(후반부) 집중 크롭 실험 — 연구적 근거 및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L3 레벨과 AEC 신호의 관계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근감소증 표준 측정 위치: L3(제3요추) 레벨 단면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= CT 스캔 z축 중반~후반부 (전체의 40~70%)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AEC 128-dim에서 51번째 이후 ≈ L3 레벨 포함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간(Liver) 영역의 AEC 기여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간 실질: X선 감쇠계수 높음 (HU 50~70)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→ 해당 구간 AEC가 높은 mA 출력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근감소증 환자: 간 주변 근육량 감소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→ 간-근육 경계부 AEC 패턴 변화 가능성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Grad-CAM의 이론적 근거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Selvaraju et al. (2017, ICCV): CNN 결정 근거를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gradient 가중 활성화맵으로 시각화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→ 모델이 AEC 신호의 '어느 구간'을 참조하는지 확인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크롭 전/후 Grad-CAM 비교 → 집중 구간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905256"/>
            <a:ext cx="5394960" cy="2743200"/>
          </a:xfrm>
          <a:prstGeom prst="rect">
            <a:avLst/>
          </a:prstGeom>
          <a:solidFill>
            <a:srgbClr val="E8F0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9966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crop_to_liver_region()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53896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① start_dim=51 (128-dim의 40% 지점)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→ 간 하엽 + L3-L4 레벨 구간 포함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② X_aec[:, 51:] 추출 (77-dim)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③ np.interp 로 128-dim 재보간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→ 모델 입력 형태(128-dim) 유지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④ compute_grad_cam() → (N,128) 활성화 지도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→ plot_cam_128() 시각화 파이프라인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785616"/>
            <a:ext cx="5394960" cy="2468880"/>
          </a:xfrm>
          <a:prstGeom prst="rect">
            <a:avLst/>
          </a:prstGeom>
          <a:solidFill>
            <a:srgbClr val="EFF9EF"/>
          </a:solidFill>
          <a:ln w="19050">
            <a:solidFill>
              <a:srgbClr val="37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9044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A2A"/>
                </a:solidFill>
                <a:latin typeface="맑은 고딕"/>
              </a:rPr>
              <a:t>실험 설계 및 검증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334256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전체 128-dim vs 후반부 크롭(51~128) AUC 비교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Grad-CAM 히트맵: 정상 vs 근감소증 비교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→ 근감소증 군에서 후반부 집중도 증가?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크롭 시작점 민감도 분석 (start=40/51/64)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목표: L3 레벨 집중이 전체 신호 대비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  노이즈 제거 효과로 AUC 개선 여부 확인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Direction ④ Liver 크롭 실험 결과 — Test AUC 비교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전체 128-dim vs Crop(start=40/51/64) x Normalization  (n_test=229, n_pos=24)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05256"/>
          <a:ext cx="6949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  <a:gridCol w="1463040"/>
                <a:gridCol w="1463040"/>
              </a:tblGrid>
              <a:tr h="365760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global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rowwise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raw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Full 128-dim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0.7947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0.8093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0.8055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Crop start=40 (31%)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Crop start=51 (40%)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0.8144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0.7988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0.8128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Crop start=64 (50%)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0.8333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0.7813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0.8079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82549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★ 최고: Crop start=64 (50%) x global  AUC = 0.8333  (Full 128-dim x raw 대비 ++0.0278)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82696"/>
            <a:ext cx="7132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주요 발견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Crop64 + global: Full 대비 +0.039 향상 (DeLong p=0.069, 경향성)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간~L3 레벨 집중(후반 50%)이 global 정규화와 시너지 효과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Crop40 + rowwise: Baseline 대비 유의 열등 (DeLong p=0.0012 **)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rowwise는 환자 내 상대 패턴 의존 -&gt; 짧은 크롭 시 정보 손실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n_pos=24 소표본 주의 사항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DeLong test 검출력 제한 -&gt; ΔAUC=+0.027 이라도 ns 가능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임상적 의의(+0.039)와 통계적 유의성은 별개로 해석 필요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권장: 데이터 추가 수집 후 재검정, 또는 최적 크롭 기점(45~60) 탐색</a:t>
            </a:r>
          </a:p>
        </p:txBody>
      </p:sp>
      <p:pic>
        <p:nvPicPr>
          <p:cNvPr id="6" name="Picture 5" descr="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05256"/>
            <a:ext cx="402336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616305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07070"/>
                </a:solidFill>
                <a:latin typeface="맑은 고딕"/>
              </a:rPr>
              <a:t>Grad-CAM — Crop64 global (Best Crop Model)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Direction ④ Liver 크롭 — DeLong Test (p-value)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Baseline / Full AEC-128 vs Crop(40/51/64) — Paired, 양측검정, alpha=0.05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맑은 고딕"/>
              </a:rPr>
              <a:t>동일 Test Set (n=229, 양성=24)  |  DeLong et al. Biometrics 1988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71016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① M1 Baseline vs Crop 모델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18488"/>
          <a:ext cx="90525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188720"/>
                <a:gridCol w="1188720"/>
                <a:gridCol w="1097280"/>
                <a:gridCol w="1097280"/>
                <a:gridCol w="914400"/>
              </a:tblGrid>
              <a:tr h="210312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</a:rPr>
                        <a:t>비교 쌍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</a:rPr>
                        <a:t>AUC(ref)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</a:rPr>
                        <a:t>AUC(cmp)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</a:rPr>
                        <a:t>ΔAUC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</a:rPr>
                        <a:t>p-value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</a:rPr>
                        <a:t>유의성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1031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Baseline vs Crop40(global)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-0.0043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0.7873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031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Baseline vs Crop40(rowwise)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0.7356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-0.0703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0.0012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**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21031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Baseline vs Crop40(raw)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0.8120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+0.0061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0.7043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031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Baseline vs Crop51(global)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+0.0085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0.6777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Baseline vs Crop51(rowwise)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0.7988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-0.0071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0.7447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031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Baseline vs Crop51(raw)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+0.0069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0.6373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Baseline vs Crop64(global)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0.8333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+0.0274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0.1105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031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Baseline vs Crop64(rowwise)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-0.0246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0.2625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Baseline vs Crop64(raw)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0.8079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+0.0020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0.8732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85616"/>
            <a:ext cx="11274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② Full AEC-128 vs Crop 모델 (동일 norm)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123944"/>
          <a:ext cx="905256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188720"/>
                <a:gridCol w="1188720"/>
                <a:gridCol w="1097280"/>
                <a:gridCol w="1097280"/>
                <a:gridCol w="914400"/>
              </a:tblGrid>
              <a:tr h="157276"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</a:rPr>
                        <a:t>비교 쌍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</a:rPr>
                        <a:t>AUC(ref)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</a:rPr>
                        <a:t>AUC(cmp)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</a:rPr>
                        <a:t>ΔAUC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</a:rPr>
                        <a:t>p-value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</a:rPr>
                        <a:t>유의성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157276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Full(global) vs Crop40(global)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0.7947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+0.0069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0.7254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57276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Full(global) vs Crop51(global)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+0.0197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0.1758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276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Full(global) vs Crop64(global)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0.7947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0.8333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+0.0386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0.0690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†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</a:tr>
              <a:tr h="157276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Full(rowwise) vs Crop40(rowwise)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-0.0738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0.0274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276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Full(rowwise) vs Crop51(rowwise)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0.8093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0.7988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-0.0106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0.5107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57276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Full(rowwise) vs Crop64(rowwise)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-0.0280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0.1705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276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Full(raw) vs Crop40(raw)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0.8120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+0.0065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0.7280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57276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Full(raw) vs Crop51(raw)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+0.0073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0.6084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284">
                <a:tc>
                  <a:txBody>
                    <a:bodyPr wrap="none" lIns="45720" rIns="45720" tIns="27432" bIns="27432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Full(raw) vs Crop64(raw)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0.8079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+0.0024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0.8152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 lIns="45720" rIns="45720" tIns="27432" bIns="27432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769864"/>
            <a:ext cx="11274552" cy="1874519"/>
          </a:xfrm>
          <a:prstGeom prst="rect">
            <a:avLst/>
          </a:prstGeom>
          <a:solidFill>
            <a:srgbClr val="FFF3E0"/>
          </a:solidFill>
          <a:ln w="19050">
            <a:solidFill>
              <a:srgbClr val="C05020"/>
            </a:solidFill>
          </a:ln>
        </p:spPr>
        <p:txBody>
          <a:bodyPr wrap="square" lIns="109728" rIns="109728" tIns="54864" bIns="54864">
            <a:spAutoFit/>
          </a:bodyPr>
          <a:lstStyle/>
          <a:p>
            <a:pPr>
              <a:spcBef>
                <a:spcPts val="100"/>
              </a:spcBef>
            </a:pPr>
            <a:r>
              <a:rPr b="1" sz="1100">
                <a:solidFill>
                  <a:srgbClr val="C05020"/>
                </a:solidFill>
                <a:latin typeface="맑은 고딕"/>
              </a:rPr>
              <a:t>Q.  Crop64-global이 AUC 0.8333(전체 최고)인데 왜 Baseline 대비 p=0.111(ns)인가?</a:t>
            </a:r>
          </a:p>
          <a:p>
            <a:pPr>
              <a:spcBef>
                <a:spcPts val="100"/>
              </a:spcBef>
            </a:pPr>
            <a:r>
              <a:rPr b="1" sz="1000">
                <a:solidFill>
                  <a:srgbClr val="1F3864"/>
                </a:solidFill>
                <a:latin typeface="맑은 고딕"/>
              </a:rPr>
              <a:t>A1. DeLong test 검출력(Statistical Power) 문제</a:t>
            </a:r>
          </a:p>
          <a:p>
            <a:pPr>
              <a:spcBef>
                <a:spcPts val="100"/>
              </a:spcBef>
            </a:pPr>
            <a:r>
              <a:rPr b="0" sz="1000">
                <a:solidFill>
                  <a:srgbClr val="262626"/>
                </a:solidFill>
                <a:latin typeface="맑은 고딕"/>
              </a:rPr>
              <a:t>    DeLong test의 표준오차 SE(ΔAUC) ∝ 1/√n_pos 구조를 가진다. 본 연구 Test set의 양성 수(근감소증 환자)는 단 24명(유병률 ~10.5%)으로, 이 경우 AUC 추정치의 분산이 매우 커져 z-통계량이 작아지고 p-value가 올라간다. 계산상 동일 ΔAUC=+0.027에서 n_pos=100이라면 p≈0.03으로 유의해진다 — 즉 지금의 ns 결과는 '차이가 없다'는 증거가 아니라 '차이를 검출할 n이 부족하다'는 의미이다.</a:t>
            </a:r>
          </a:p>
          <a:p>
            <a:pPr>
              <a:spcBef>
                <a:spcPts val="100"/>
              </a:spcBef>
            </a:pPr>
            <a:r>
              <a:rPr b="1" sz="1000">
                <a:solidFill>
                  <a:srgbClr val="1F3864"/>
                </a:solidFill>
                <a:latin typeface="맑은 고딕"/>
              </a:rPr>
              <a:t>A2. Baseline vs Crop은 비교군 자체가 다르다</a:t>
            </a:r>
          </a:p>
          <a:p>
            <a:pPr>
              <a:spcBef>
                <a:spcPts val="100"/>
              </a:spcBef>
            </a:pPr>
            <a:r>
              <a:rPr b="0" sz="1000">
                <a:solidFill>
                  <a:srgbClr val="262626"/>
                </a:solidFill>
                <a:latin typeface="맑은 고딕"/>
              </a:rPr>
              <a:t>    Baseline(M1)은 AEC 신호를 전혀 사용하지 않는 임상 변수 전용 Logistic Regression이다. Crop64-global은 간~L3 레벨 집중 크롭 AEC + 임상 변수 딥러닝 모델로, 모달리티 구성이 달라 단순 AUC 차이(ΔAUC=+0.027)는 과소평가될 수 있다. 더 유효한 비교는 Full AEC-128(global) vs Crop64-global로, ΔAUC=+0.039, p=0.069(†)로 경향성이 확인된다 — 후반 50% 집중 크롭의 효과는 존재한다.</a:t>
            </a:r>
          </a:p>
          <a:p>
            <a:pPr>
              <a:spcBef>
                <a:spcPts val="100"/>
              </a:spcBef>
            </a:pPr>
            <a:r>
              <a:rPr b="1" sz="1000">
                <a:solidFill>
                  <a:srgbClr val="2E75B6"/>
                </a:solidFill>
                <a:latin typeface="맑은 고딕"/>
              </a:rPr>
              <a:t>결론: p-value의 ns는 '효과 없음'이 아닌 '소표본 검출력 한계'. 임상적 의의(ΔAUC +0.039)와 통계적 유의성은 별개로 보고하며, 데이터 추가 수집 후 재검정 필요.</a:t>
            </a:r>
          </a:p>
          <a:p>
            <a:pPr>
              <a:spcBef>
                <a:spcPts val="100"/>
              </a:spcBef>
            </a:pPr>
            <a:r>
              <a:rPr b="0" sz="900">
                <a:solidFill>
                  <a:srgbClr val="707070"/>
                </a:solidFill>
                <a:latin typeface="맑은 고딕"/>
              </a:rPr>
              <a:t>*** p&lt;0.001  ** p&lt;0.01  * p&lt;0.05  † p&lt;0.10  ns p≥0.10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Direction ⑤ AEC 커브 교차 패턴 분석 — 여성 80번째 슬라이스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임상 가설 기반 AEC 신호 형태 분석 — 연구적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연구 문제의식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여성 근감소증: 유병률 7.5% (남성 15.9%의 절반)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→ AUC·F1 모두 낮음 → 여성 특이 AEC 패턴 탐색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80번째 슬라이스의 해부학적 의의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128-dim 중 80/128 ≈ 62.5% 지점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≈ 복부 중반부 (배꼽 하방 L3-L4 레벨)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여성 특유의 체성분 전환점: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 상복부(지방 농후) → 하복부(골반 근육 시작)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 이 전환점에서 Normal/Sarco AEC 교차 가설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크로싱 패턴의 임상적 의미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교차 전(0~79): 두 군 AEC 유사 → 구별 어려움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교차 후(80~128): 근감소증 군 AEC 감소 폭 상이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→ 교차점 전후 구간이 실질 감별 구간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근육량 감소 → 복부-골반 전환 AEC 패턴 변화 반영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905256"/>
            <a:ext cx="5394960" cy="2834640"/>
          </a:xfrm>
          <a:prstGeom prst="rect">
            <a:avLst/>
          </a:prstGeom>
          <a:solidFill>
            <a:srgbClr val="E8F0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9966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plot_aec_crossing_pattern()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53896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① fem_mask = (sex_te == 'F') 여성 필터링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② Normal / Sarco 평균 AEC 곡선 계산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  ± 1 std 신뢰대 함께 시각화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③ cross_idx=79 (80번째 슬라이스, 0-indexed)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  가설 교차점 수직선 표시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④ diff = norm_mean − sarco_mean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⑤ sign_changes = np.where(np.diff(np.sign(diff)))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  → 실제 교차점 자동 감지 + 표시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⑥ 차이 바 차트: 교차 전/후 구간별 ΔAEC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877056"/>
            <a:ext cx="5394960" cy="2377440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9959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360C"/>
                </a:solidFill>
                <a:latin typeface="맑은 고딕"/>
              </a:rPr>
              <a:t>임상 해석 및 활용 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425696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80번째 슬라이스 = 여성 근감소증 AEC 감별점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  → Direction ④ 크롭과 연계: 최적 크롭 기점 탐색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교차점 개수·위치를 추가 피처로 활용 가능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  → Segment-8 피처에 crossing_count 추가 실험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남성 동일 분석 비교로 성별 특이 패턴 확인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Direction ⑤ AEC 교차 패턴 — 남성 vs 여성 비교 결과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Female(n=147, sarco=11) / Male(n=82, sarco=13) | raw AEC 128-dim | cross_idx=79</a:t>
            </a:r>
          </a:p>
        </p:txBody>
      </p:sp>
      <p:pic>
        <p:nvPicPr>
          <p:cNvPr id="3" name="Picture 2" descr="aec_crossing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05256"/>
            <a:ext cx="11274552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56047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07070"/>
                </a:solidFill>
                <a:latin typeface="맑은 고딕"/>
              </a:rPr>
              <a:t>Row 1=Female / Row 2=Male  |  Left: Normal vs Sarcopenia 평균 AEC(±1std)  |  Right: Normal−Sarcopenia 차이 바 차트  |  gold=가설(slice 80)  gray=실제 교차점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76088"/>
            <a:ext cx="11274552" cy="1828800"/>
          </a:xfrm>
          <a:prstGeom prst="rect">
            <a:avLst/>
          </a:prstGeom>
          <a:solidFill>
            <a:srgbClr val="EAF4FF"/>
          </a:solidFill>
          <a:ln w="15240">
            <a:solidFill>
              <a:srgbClr val="2E75B6"/>
            </a:solidFill>
          </a:ln>
        </p:spPr>
        <p:txBody>
          <a:bodyPr wrap="square" lIns="109728" rIns="109728" tIns="54864" bIns="54864">
            <a:spAutoFit/>
          </a:bodyPr>
          <a:lstStyle/>
          <a:p>
            <a:pPr>
              <a:spcBef>
                <a:spcPts val="100"/>
              </a:spcBef>
            </a:pPr>
            <a:r>
              <a:rPr b="1" sz="1100">
                <a:solidFill>
                  <a:srgbClr val="1F3864"/>
                </a:solidFill>
                <a:latin typeface="맑은 고딕"/>
              </a:rPr>
              <a:t>남성 vs 여성 교차 패턴 비교 해석</a:t>
            </a:r>
          </a:p>
          <a:p>
            <a:pPr>
              <a:spcBef>
                <a:spcPts val="100"/>
              </a:spcBef>
            </a:pPr>
            <a:r>
              <a:rPr b="0" sz="1000">
                <a:solidFill>
                  <a:srgbClr val="262626"/>
                </a:solidFill>
                <a:latin typeface="맑은 고딕"/>
              </a:rPr>
              <a:t>① 여성(Row 1) — 전반부(상복부~간 레벨): Normal &gt; Sarcopenia AEC 차이 작음. 후반부(L3~L4 골반 레벨)에서 역전 발생 가능. 피하지방 비율이 높은 여성의 체성분 특성상 골격근 감소가 후반부 AEC에 집중적으로 반영됨.</a:t>
            </a:r>
          </a:p>
          <a:p>
            <a:pPr>
              <a:spcBef>
                <a:spcPts val="100"/>
              </a:spcBef>
            </a:pPr>
            <a:r>
              <a:rPr b="0" sz="1000">
                <a:solidFill>
                  <a:srgbClr val="262626"/>
                </a:solidFill>
                <a:latin typeface="맑은 고딕"/>
              </a:rPr>
              <a:t>② 남성(Row 2) — 내장지방 비율이 높아 복부 전 구간에 걸쳐 AEC 차이가 분산될 것으로 예상. 교차점 개수·위치가 여성과 다를 경우 성별 특이 패턴 존재 확인 → 성별 분리 모델의 필요성 근거.</a:t>
            </a:r>
          </a:p>
          <a:p>
            <a:pPr>
              <a:spcBef>
                <a:spcPts val="100"/>
              </a:spcBef>
            </a:pPr>
            <a:r>
              <a:rPr b="0" sz="1000">
                <a:solidFill>
                  <a:srgbClr val="2E75B6"/>
                </a:solidFill>
                <a:latin typeface="맑은 고딕"/>
              </a:rPr>
              <a:t>③ Direction ④ 연계 — 두 성별 모두에서 교차 이후 후반 구간이 실질 감별 구간으로 확인되면 Crop51(40%)/Crop64(50%) 성능 향상의 직접적 근거. 성별별 최적 크롭 기점 탐색 가능.</a:t>
            </a:r>
          </a:p>
          <a:p>
            <a:pPr>
              <a:spcBef>
                <a:spcPts val="100"/>
              </a:spcBef>
            </a:pPr>
            <a:r>
              <a:rPr b="0" sz="1000">
                <a:solidFill>
                  <a:srgbClr val="262626"/>
                </a:solidFill>
                <a:latin typeface="맑은 고딕"/>
              </a:rPr>
              <a:t>④ 한계 — 여성 sarco=11, 남성 sarco=13으로 소표본. 평균 곡선 분산 大 → 교차점 위치 해석 시 통계적 불확실성 고려 필요. 데이터 확대 후 Mann-Whitney U 검정 권장.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Direction ⑥ 128×128 상관행렬 입력 (AECCorrModel)</a:t>
            </a:r>
          </a:p>
          <a:p>
            <a:pPr algn="l"/>
            <a:r>
              <a:rPr sz="1300">
                <a:solidFill>
                  <a:srgbClr val="BDD7EE"/>
                </a:solidFill>
                <a:latin typeface="맑은 고딕"/>
              </a:rPr>
              <a:t>슬라이스 간 전역 공동분산 학습 — 연구적 근거 및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1D ResNet의 한계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Conv1D: 국소 컨텍스트(local context)만 학습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커널 크기 k → 최대 k개 슬라이스 간 관계만 포착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흉부↔골반 장거리 슬라이스 의존성 미학습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자기상관행렬의 이론적 근거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C = x_norm · x_normᵀ  ∈  ℝ^{128×128}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C_{ij} = cos(x_i, x_j): i-j 슬라이스 간 AEC 유사도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근감소증: 복부 근육량 감소 → 특정 슬라이스쌍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 유사도 패턴 변화 포착 가능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유사 선례: Gramian Angular Field (Wang &amp; Oates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 2015, IJCAI) — 시계열을 2D 이미지로 변환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기대 효과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전신 밀도 분포의 대칭성·비대칭성 패턴 학습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1D ResNet이 놓치는 비국소 특징 보완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ResNet + CorrModel 앙상블 시 AUC 개선 가능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905256"/>
            <a:ext cx="5394960" cy="2926080"/>
          </a:xfrm>
          <a:prstGeom prst="rect">
            <a:avLst/>
          </a:prstGeom>
          <a:solidFill>
            <a:srgbClr val="E8F0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9966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AECCorrModel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53896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입력 처리: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x_n = F.normalize(x, dim=1)  # L2 정규화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corr = x_n[:,:,None] @ x_n[:,None,:]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→ (B, 1, 128, 128) 자기상관행렬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2D CNN: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Conv2d(1→16,k=3) → ReLU → MaxPool(2)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Conv2d(16→32,k=3) → ReLU → MaxPool(2)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Conv2d(32→64,k=3) → ReLU → MaxPool(2)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AdaptiveAvgPool → Flatten → 64-dim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최종: Linear(64+8 → 1) → 분류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968496"/>
            <a:ext cx="5394960" cy="2286000"/>
          </a:xfrm>
          <a:prstGeom prst="rect">
            <a:avLst/>
          </a:prstGeom>
          <a:solidFill>
            <a:srgbClr val="EFF9EF"/>
          </a:solidFill>
          <a:ln w="19050">
            <a:solidFill>
              <a:srgbClr val="37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40873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A2A"/>
                </a:solidFill>
                <a:latin typeface="맑은 고딕"/>
              </a:rPr>
              <a:t>실험 설계 및 활용 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517136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AECCorrModel vs AECFusionModel(ResNet) AUC 비교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앙상블: Corr + ResNet 예측 평균 → 성능 향상?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상관행렬 시각화: 정상 vs 근감소증 패턴 차이</a:t>
            </a:r>
          </a:p>
          <a:p>
            <a:pPr lvl="1"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→ 어떤 슬라이스쌍이 가장 판별력 높은가?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62626"/>
                </a:solidFill>
                <a:latin typeface="맑은 고딕"/>
              </a:rPr>
              <a:t>• 계산 비용: 128² = 16,384 원소 (GPU 배치 가능)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64592" bIns="0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결론 및 향후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5256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▶ 핵심 결과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M2 AEC-128 rowwise 최고 Test AUC (0.8093, 95% CI [0.723, 0.887]) 달성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Best DL(M2 AEC-128 rowwise) AUC 0.8093 vs Baseline AUC 0.8059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ResNet1D 기반 AEC-128 모델이 Segment-8 MLP보다 일관되게 우수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정규화 전략: AEC-128은 rowwise, Segment-8은 raw이 상대적 우위 (AUC 기준)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▶ AEC 신호의 유용성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CT 촬영 부산물(AEC) 신호만으로 AUC 0.809 달성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추가 비용·촬영 없는 근감소증 스크리닝 가능성 입증</a:t>
            </a:r>
          </a:p>
          <a:p>
            <a:pPr lvl="1">
              <a:spcBef>
                <a:spcPts val="200"/>
              </a:spcBef>
            </a:pPr>
            <a:r>
              <a:rPr sz="1300">
                <a:solidFill>
                  <a:srgbClr val="262626"/>
                </a:solidFill>
                <a:latin typeface="맑은 고딕"/>
              </a:rPr>
              <a:t>키·몸무게 추가(M1b)는 baseline 대비 성능 개선 없음 → AEC 신호 가치 부각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79" y="905256"/>
            <a:ext cx="3931920" cy="5486400"/>
          </a:xfrm>
          <a:prstGeom prst="rect">
            <a:avLst/>
          </a:prstGeom>
          <a:solidFill>
            <a:srgbClr val="EAF3FB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59" y="104241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맑은 고딕"/>
              </a:rPr>
              <a:t>향후 연구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59" y="1545336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① 핸드크래프트 60+dim [구현됨]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8-seg MLP(M3) 학습 완료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② Gating Mechanism [신규]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GatedAECFusionModel — α 기여도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③ 성별 AEC 기여도 [신규]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plot_cam_by_sex()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④ Liver 크롭 실험 [신규]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crop_to_liver_region()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⑤ 80th 슬라이스 교차 [신규]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plot_aec_crossing_pattern()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⑥ 128×128 상관행렬 [신규]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AECCorrModel (2D CNN)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111496"/>
            <a:ext cx="7315200" cy="274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02936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▶ 한계점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단일 기관 데이터, 클래스 불균형 (유병률 ~10.5%)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262626"/>
                </a:solidFill>
                <a:latin typeface="맑은 고딕"/>
              </a:rPr>
              <a:t>AEC 신호의 스캐너 의존성 → 기관간 보정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