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5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155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69FF03A-DF0C-4845-94BB-EF2385AD676B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accent1"/>
              </a:solidFill>
            </a:ln>
          </a:top>
          <a:bottom>
            <a:ln w="2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accent1"/>
              </a:solidFill>
            </a:ln>
          </a:top>
          <a:bottom>
            <a:ln w="10000" cmpd="sng">
              <a:solidFill>
                <a:schemeClr val="accent1"/>
              </a:solidFill>
            </a:ln>
          </a:bottom>
        </a:tcBdr>
        <a:fill>
          <a:solidFill>
            <a:schemeClr val="accent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19EC50-B813-4FCE-9F78-2F8D5DE6B856}" styleName="Normal Style 2 - Accent 1">
    <a:tblBg>
      <a:effectRef idx="1">
        <a:schemeClr val="dk1"/>
      </a:effectRef>
    </a:tblBg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10000"/>
              <a:satMod val="53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30000"/>
              <a:satMod val="33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20000"/>
              <a:satMod val="73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>
              <a:alpha val="50000"/>
              <a:satMod val="630000"/>
            </a:schemeClr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>
              <a:shade val="50000"/>
              <a:satMod val="230000"/>
            </a:schemeClr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9D6073-5DEC-478E-BFBB-120F47F47B7E}" styleName="Light Style 1 - Body/Background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dk1"/>
              </a:solidFill>
            </a:ln>
          </a:top>
          <a:bottom>
            <a:ln w="2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dk1"/>
              </a:solidFill>
            </a:ln>
          </a:top>
          <a:bottom>
            <a:ln w="10000" cmpd="sng">
              <a:solidFill>
                <a:schemeClr val="dk1"/>
              </a:solidFill>
            </a:ln>
          </a:bottom>
        </a:tcBdr>
        <a:fill>
          <a:solidFill>
            <a:schemeClr val="dk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dk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F0A0EA-C916-463C-A3AD-4CCFBD9124EA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accent1"/>
      </a:tcTxStyle>
      <a:tcStyle>
        <a:tcBdr>
          <a:top>
            <a:ln w="6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accent1">
          <a:shade val="40000"/>
        </a:schemeClr>
      </a:tcTxStyle>
      <a:tcStyle>
        <a:tcBdr/>
        <a:fill>
          <a:solidFill>
            <a:schemeClr val="accent1">
              <a:alpha val="4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6831" autoAdjust="0"/>
  </p:normalViewPr>
  <p:slideViewPr>
    <p:cSldViewPr>
      <p:cViewPr varScale="1">
        <p:scale>
          <a:sx n="110" d="100"/>
          <a:sy n="110" d="100"/>
        </p:scale>
        <p:origin x="630" y="114"/>
      </p:cViewPr>
      <p:guideLst>
        <p:guide orient="horz" pos="2155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6905978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2025-12-12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6905978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24F3D1CD-0EED-4DFA-AF12-8E73FDA834A4}" type="datetime1">
              <a:rPr lang="ko-KR" altLang="en-US"/>
              <a:pPr lvl="0">
                <a:defRPr/>
              </a:pPr>
              <a:t>2025-12-12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338DA34-01F3-43BF-904F-885132A129B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12/12/2025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7" name="직사각형 6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701" y="446405"/>
            <a:ext cx="11353699" cy="353695"/>
          </a:xfrm>
        </p:spPr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12/12/2025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800"/>
            <a:ext cx="11125200" cy="1466850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Arial"/>
              <a:buChar char="•"/>
              <a:defRPr sz="2400"/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2000"/>
            </a:lvl2pPr>
            <a:lvl3pPr marL="1200150" indent="-285750">
              <a:lnSpc>
                <a:spcPct val="100000"/>
              </a:lnSpc>
              <a:buFont typeface="Arial"/>
              <a:buChar char="•"/>
              <a:defRPr sz="1800"/>
            </a:lvl3pPr>
            <a:lvl4pPr marL="1657350" indent="-285750">
              <a:lnSpc>
                <a:spcPct val="100000"/>
              </a:lnSpc>
              <a:buFont typeface="Arial"/>
              <a:buChar char="•"/>
              <a:defRPr sz="1600"/>
            </a:lvl4pPr>
            <a:lvl5pPr marL="2114550" indent="-285750">
              <a:lnSpc>
                <a:spcPct val="100000"/>
              </a:lnSpc>
              <a:buFont typeface="Arial"/>
              <a:buChar char="•"/>
              <a:defRPr/>
            </a:lvl5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12/12/2025</a:t>
            </a:fld>
            <a:endParaRPr lang="ko-KR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8" name="직사각형 7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12/12/2025</a:t>
            </a:fld>
            <a:endParaRPr lang="ko-KR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6" name="직사각형 5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12/12/2025</a:t>
            </a:fld>
            <a:endParaRPr lang="ko-KR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403205" cy="353695"/>
          </a:xfrm>
          <a:custGeom>
            <a:avLst/>
            <a:gdLst/>
            <a:ahLst/>
            <a:cxnLst/>
            <a:rect l="l" t="t" r="r" b="b"/>
            <a:pathLst>
              <a:path w="10403205" h="353695">
                <a:moveTo>
                  <a:pt x="10402824" y="0"/>
                </a:moveTo>
                <a:lnTo>
                  <a:pt x="0" y="0"/>
                </a:lnTo>
                <a:lnTo>
                  <a:pt x="0" y="353568"/>
                </a:lnTo>
                <a:lnTo>
                  <a:pt x="10402824" y="353568"/>
                </a:lnTo>
                <a:lnTo>
                  <a:pt x="10402824" y="0"/>
                </a:lnTo>
                <a:close/>
              </a:path>
            </a:pathLst>
          </a:custGeom>
          <a:solidFill>
            <a:srgbClr val="1F346B"/>
          </a:solidFill>
        </p:spPr>
        <p:txBody>
          <a:bodyPr wrap="square" lIns="0" tIns="0" rIns="0" bIns="0"/>
          <a:lstStyle/>
          <a:p>
            <a:pPr lvl="0">
              <a:defRPr/>
            </a:pPr>
            <a:endParaRPr/>
          </a:p>
        </p:txBody>
      </p:sp>
      <p:pic>
        <p:nvPicPr>
          <p:cNvPr id="17" name="bg object 17"/>
          <p:cNvPicPr/>
          <p:nvPr/>
        </p:nvPicPr>
        <p:blipFill rotWithShape="1">
          <a:blip r:embed="rId7"/>
          <a:stretch>
            <a:fillRect/>
          </a:stretch>
        </p:blipFill>
        <p:spPr>
          <a:xfrm>
            <a:off x="105155" y="12745"/>
            <a:ext cx="1045403" cy="3240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701" y="379298"/>
            <a:ext cx="1831339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1008" y="1695830"/>
            <a:ext cx="9821545" cy="1677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0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12/12/2025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18" name="직사각형 17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</p:sldLayoutIdLst>
  <p:transition/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kaggle.com/datasets/iammustafatz/diabetes-prediction-dataset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iammustafatz/diabetes-prediction-datase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kaggle.com/datasets/samikshadalvi/pcos-diagnosis-dataset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amikshadalvi/pcos-diagnosis-datase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amikshadalvi/pcos-diagnosis-datase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342901"/>
            <a:ext cx="12192000" cy="6540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2062806"/>
            <a:ext cx="11387837" cy="385119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>
                <a:solidFill>
                  <a:schemeClr val="lt1"/>
                </a:solidFill>
              </a:rPr>
              <a:t>Tabular Data Analysis</a:t>
            </a:r>
          </a:p>
        </p:txBody>
      </p:sp>
      <p:pic>
        <p:nvPicPr>
          <p:cNvPr id="4" name="object 4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0" y="5446776"/>
            <a:ext cx="4561332" cy="10043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Arial"/>
                <a:ea typeface="+mj-ea"/>
                <a:cs typeface="Arial"/>
              </a:rPr>
              <a:t>2025. 12. </a:t>
            </a:r>
            <a:r>
              <a:rPr lang="en-US" altLang="ko-KR" sz="1600">
                <a:solidFill>
                  <a:schemeClr val="bg1">
                    <a:lumMod val="75000"/>
                  </a:schemeClr>
                </a:solidFill>
                <a:latin typeface="Arial"/>
                <a:ea typeface="+mj-ea"/>
                <a:cs typeface="Arial"/>
              </a:rPr>
              <a:t>12.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>
                <a:solidFill>
                  <a:srgbClr val="FFFFFF"/>
                </a:solidFill>
                <a:latin typeface="Arial"/>
                <a:ea typeface="+mj-ea"/>
                <a:cs typeface="Arial"/>
              </a:rPr>
              <a:t>JangHoon Chun</a:t>
            </a:r>
          </a:p>
        </p:txBody>
      </p:sp>
      <p:sp>
        <p:nvSpPr>
          <p:cNvPr id="7" name="object 5"/>
          <p:cNvSpPr txBox="1"/>
          <p:nvPr/>
        </p:nvSpPr>
        <p:spPr>
          <a:xfrm>
            <a:off x="417068" y="3978214"/>
            <a:ext cx="7139940" cy="1193861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Department of Medical Device Industry,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aseline="25000"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B356E-DD50-5E1F-E6B2-CC999F05F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52A2573-75DC-B8F2-9118-F6C3DCB198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1. What’s discussed in the last meetings</a:t>
            </a:r>
          </a:p>
        </p:txBody>
      </p:sp>
      <p:sp>
        <p:nvSpPr>
          <p:cNvPr id="12" name="Holder 6">
            <a:extLst>
              <a:ext uri="{FF2B5EF4-FFF2-40B4-BE49-F238E27FC236}">
                <a16:creationId xmlns:a16="http://schemas.microsoft.com/office/drawing/2014/main" id="{DE73955F-27DA-1743-8F94-0A9EB3DBA75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2</a:t>
            </a:fld>
            <a:endParaRPr lang="en-US" spc="-25"/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1A146775-DC89-06F9-DDC1-CA66D11111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11125200" cy="1751185"/>
          </a:xfrm>
        </p:spPr>
        <p:txBody>
          <a:bodyPr/>
          <a:lstStyle/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Reported results from multiple machine learning models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Needs to understand data characteristics and to explore details of machine learning models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Needs to run machine learning models in various ways: stratification, fine-tuning parameters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81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90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dirty="0"/>
              <a:t>2. Research Summary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3</a:t>
            </a:fld>
            <a:endParaRPr lang="en-US" spc="-25"/>
          </a:p>
        </p:txBody>
      </p:sp>
      <p:sp>
        <p:nvSpPr>
          <p:cNvPr id="5" name="텍스트 개체 틀 7">
            <a:extLst>
              <a:ext uri="{FF2B5EF4-FFF2-40B4-BE49-F238E27FC236}">
                <a16:creationId xmlns:a16="http://schemas.microsoft.com/office/drawing/2014/main" id="{544C8371-4E05-6E5F-6C45-369F344C06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11125200" cy="2366738"/>
          </a:xfrm>
        </p:spPr>
        <p:txBody>
          <a:bodyPr/>
          <a:lstStyle/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Postmenopausal</a:t>
            </a:r>
            <a:r>
              <a:rPr lang="ko-KR" altLang="en-US" sz="2000" dirty="0"/>
              <a:t> </a:t>
            </a:r>
            <a:r>
              <a:rPr lang="en-US" altLang="ko-KR" sz="2000" dirty="0"/>
              <a:t>cohort</a:t>
            </a:r>
            <a:r>
              <a:rPr lang="ko-KR" altLang="en-US" sz="2000" dirty="0"/>
              <a:t> </a:t>
            </a:r>
            <a:r>
              <a:rPr lang="en-US" altLang="ko-KR" sz="2000" dirty="0"/>
              <a:t>extracted. (clinical, medication, and mammography-derived features)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Logistic Regression baseline evaluated via hold-out and 5-fold CV.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Grid Search exposed Precision-Recall imbalance </a:t>
            </a:r>
            <a:r>
              <a:rPr lang="ko-KR" altLang="en-US" sz="2000" dirty="0"/>
              <a:t>→ </a:t>
            </a:r>
            <a:r>
              <a:rPr lang="en-US" altLang="ko-KR" sz="2000" dirty="0"/>
              <a:t>need for threshold and sampling refinement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External datasets (Diabetes, PCOS) achieved AUC 0.96-0.98 </a:t>
            </a:r>
            <a:r>
              <a:rPr lang="ko-KR" altLang="en-US" sz="2000" dirty="0"/>
              <a:t>→ </a:t>
            </a:r>
            <a:r>
              <a:rPr lang="en-US" altLang="ko-KR" sz="2000" dirty="0"/>
              <a:t>strong generalizability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7120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E5005-23A7-7AFB-BC2B-6E2832B0B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5AD6832-7334-44B4-725E-86C0EBDBE0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 progress</a:t>
            </a:r>
          </a:p>
        </p:txBody>
      </p:sp>
      <p:sp>
        <p:nvSpPr>
          <p:cNvPr id="12" name="Holder 6">
            <a:extLst>
              <a:ext uri="{FF2B5EF4-FFF2-40B4-BE49-F238E27FC236}">
                <a16:creationId xmlns:a16="http://schemas.microsoft.com/office/drawing/2014/main" id="{14875F32-8918-4B60-499C-4A83AF0936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4</a:t>
            </a:fld>
            <a:endParaRPr lang="en-US" spc="-25"/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523AEAB0-2284-3E91-EC4F-83CD26934C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007846"/>
            <a:ext cx="5486400" cy="363754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1800" dirty="0"/>
              <a:t>인체 임상 변수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DA0C6FA-5764-D095-FA59-83B19B75D2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7815846"/>
              </p:ext>
            </p:extLst>
          </p:nvPr>
        </p:nvGraphicFramePr>
        <p:xfrm>
          <a:off x="685800" y="1542803"/>
          <a:ext cx="5562600" cy="5162797"/>
        </p:xfrm>
        <a:graphic>
          <a:graphicData uri="http://schemas.openxmlformats.org/drawingml/2006/table">
            <a:tbl>
              <a:tblPr firstRow="1" bandRow="1">
                <a:tableStyleId>{729D6073-5DEC-478E-BFBB-120F47F47B7E}</a:tableStyleId>
              </a:tblPr>
              <a:tblGrid>
                <a:gridCol w="1602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47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Variable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Description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dirty="0">
                          <a:latin typeface="맑은 고딕"/>
                        </a:rPr>
                        <a:t>Units / Classification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File Analyzed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환자 / 케이스 식별자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ID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477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Osteoporosis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골다공증 여부</a:t>
                      </a:r>
                    </a:p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(0=정상, 1=골다공증)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Binary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Age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나이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세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진료년월일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검사 날짜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YYYY-MM-DD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키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키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cm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체중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몸무게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</a:t>
                      </a: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BMI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체질량지수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kg/m²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허리둘레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허리 둘레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cm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근육량SoftLeanMass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부위별 평균 근육량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체지방율BodyFat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 비율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%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체지방량FatMassKg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 총량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복부지방율WHRatio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복부지방률 (WH Ratio)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%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복부내장지방량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내장지방량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복부피하지방량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피하지방량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초경연령ALL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초경 시작 나이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세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폐경여부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폐경 여부 (1=예, 0=아니오)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Binary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출산횟수ALL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출산</a:t>
                      </a: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횟수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Count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텍스트 개체 틀 7"/>
          <p:cNvSpPr txBox="1">
            <a:spLocks/>
          </p:cNvSpPr>
          <p:nvPr/>
        </p:nvSpPr>
        <p:spPr>
          <a:xfrm>
            <a:off x="6858000" y="1013289"/>
            <a:ext cx="3352800" cy="363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85750" indent="-285750">
              <a:lnSpc>
                <a:spcPct val="100000"/>
              </a:lnSpc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2000">
                <a:latin typeface="+mn-lt"/>
                <a:ea typeface="+mn-ea"/>
                <a:cs typeface="+mn-cs"/>
              </a:defRPr>
            </a:lvl2pPr>
            <a:lvl3pPr marL="1200150" indent="-285750">
              <a:lnSpc>
                <a:spcPct val="100000"/>
              </a:lnSpc>
              <a:buFont typeface="Arial"/>
              <a:buChar char="•"/>
              <a:defRPr sz="1800">
                <a:latin typeface="+mn-lt"/>
                <a:ea typeface="+mn-ea"/>
                <a:cs typeface="+mn-cs"/>
              </a:defRPr>
            </a:lvl3pPr>
            <a:lvl4pPr marL="1657350" indent="-285750">
              <a:lnSpc>
                <a:spcPct val="100000"/>
              </a:lnSpc>
              <a:buFont typeface="Arial"/>
              <a:buChar char="•"/>
              <a:defRPr sz="1600">
                <a:latin typeface="+mn-lt"/>
                <a:ea typeface="+mn-ea"/>
                <a:cs typeface="+mn-cs"/>
              </a:defRPr>
            </a:lvl4pPr>
            <a:lvl5pPr marL="2114550" indent="-285750">
              <a:lnSpc>
                <a:spcPct val="100000"/>
              </a:lnSpc>
              <a:buFont typeface="Arial"/>
              <a:buChar char="•"/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800" dirty="0"/>
              <a:t>약물 복용 변수</a:t>
            </a:r>
            <a:endParaRPr lang="en-US" altLang="ko-KR" sz="1800" dirty="0"/>
          </a:p>
        </p:txBody>
      </p:sp>
      <p:graphicFrame>
        <p:nvGraphicFramePr>
          <p:cNvPr id="17" name="표 16"/>
          <p:cNvGraphicFramePr/>
          <p:nvPr>
            <p:extLst>
              <p:ext uri="{D42A27DB-BD31-4B8C-83A1-F6EECF244321}">
                <p14:modId xmlns:p14="http://schemas.microsoft.com/office/powerpoint/2010/main" val="2851986789"/>
              </p:ext>
            </p:extLst>
          </p:nvPr>
        </p:nvGraphicFramePr>
        <p:xfrm>
          <a:off x="6781800" y="1542803"/>
          <a:ext cx="4343400" cy="223704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852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1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dirty="0">
                          <a:latin typeface="맑은 고딕"/>
                        </a:rPr>
                        <a:t>Variable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dirty="0">
                          <a:latin typeface="맑은 고딕"/>
                        </a:rPr>
                        <a:t>Units / Classification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혈압약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당뇨약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고지혈증약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흡연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current: 1 / </a:t>
                      </a:r>
                      <a:r>
                        <a:rPr lang="en-US" altLang="ko-KR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exsmoke</a:t>
                      </a: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: 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운동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835299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음주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675657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유방암 가족력 이력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20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8C8E7-0D38-F605-B93F-61FB68F9C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DDDCC0C-3563-6390-F3F7-DE1A833BE5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 progress</a:t>
            </a:r>
          </a:p>
        </p:txBody>
      </p:sp>
      <p:sp>
        <p:nvSpPr>
          <p:cNvPr id="12" name="Holder 6">
            <a:extLst>
              <a:ext uri="{FF2B5EF4-FFF2-40B4-BE49-F238E27FC236}">
                <a16:creationId xmlns:a16="http://schemas.microsoft.com/office/drawing/2014/main" id="{4C0B9924-0EB6-5EFC-3979-E3B6DC48EB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5</a:t>
            </a:fld>
            <a:endParaRPr lang="en-US" spc="-25"/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94B9B55E-3E62-0184-8BC5-D195081D19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5486400" cy="78534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영상 파생 변수</a:t>
            </a:r>
            <a:endParaRPr lang="en-US" altLang="ko-KR" sz="200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Mammography</a:t>
            </a:r>
            <a:r>
              <a:rPr lang="ko-KR" altLang="en-US" sz="1600"/>
              <a:t>로부터 계산된 값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E15C4034-E621-D481-2DB0-4E32BBFCAC42}"/>
              </a:ext>
            </a:extLst>
          </p:cNvPr>
          <p:cNvGraphicFramePr/>
          <p:nvPr/>
        </p:nvGraphicFramePr>
        <p:xfrm>
          <a:off x="1219200" y="2133600"/>
          <a:ext cx="9601200" cy="2074571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3445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2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1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Variable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Description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Units / Classification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Average b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reast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a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전체 면적 평균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cm²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Average d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ense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a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치밀 조직 면적 평균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cm²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Average b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reast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d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ensity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내 치밀조직 비율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%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d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ensity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g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rading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밀도 등급</a:t>
                      </a:r>
                      <a:endParaRPr lang="en-US" altLang="ko-KR" sz="16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1~4 </a:t>
                      </a: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단계</a:t>
                      </a:r>
                      <a:endParaRPr sz="16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*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BIRADS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Category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BI-RADS </a:t>
                      </a: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평가 카테고리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1~5</a:t>
                      </a: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등급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28A69D6-23EE-E7E1-B22B-F4381EE45132}"/>
              </a:ext>
            </a:extLst>
          </p:cNvPr>
          <p:cNvSpPr txBox="1"/>
          <p:nvPr/>
        </p:nvSpPr>
        <p:spPr>
          <a:xfrm>
            <a:off x="1143000" y="454049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</a:rPr>
              <a:t>*BIRADS (Breast Imaging Reporting and Data System)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58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 dirty="0"/>
              <a:t>3. Detailed progress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6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5486400" cy="78534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환자 데이터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/>
              <a:t>전체 </a:t>
            </a:r>
            <a:r>
              <a:rPr lang="en-US" altLang="ko-KR" sz="1600"/>
              <a:t>8,768</a:t>
            </a:r>
            <a:r>
              <a:rPr lang="ko-KR" altLang="en-US" sz="1600"/>
              <a:t>명 중 폐경 환자군만 고려</a:t>
            </a:r>
          </a:p>
        </p:txBody>
      </p:sp>
      <p:graphicFrame>
        <p:nvGraphicFramePr>
          <p:cNvPr id="2" name="표 18"/>
          <p:cNvGraphicFramePr/>
          <p:nvPr/>
        </p:nvGraphicFramePr>
        <p:xfrm>
          <a:off x="1251408" y="2819401"/>
          <a:ext cx="3124200" cy="144780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5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Group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Samples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3,961(100)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(87.7)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(12.3)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9200" y="222146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>
                <a:latin typeface="맑은 고딕"/>
                <a:ea typeface="맑은 고딕"/>
              </a:rPr>
              <a:t>&lt;</a:t>
            </a:r>
            <a:r>
              <a:rPr lang="ko-KR" altLang="en-US" sz="1800">
                <a:latin typeface="맑은 고딕"/>
                <a:ea typeface="맑은 고딕"/>
              </a:rPr>
              <a:t>폐경 환자군 내 정상</a:t>
            </a:r>
            <a:r>
              <a:rPr lang="en-US" altLang="ko-KR" sz="1800">
                <a:latin typeface="맑은 고딕"/>
                <a:ea typeface="맑은 고딕"/>
              </a:rPr>
              <a:t>/</a:t>
            </a:r>
            <a:r>
              <a:rPr lang="ko-KR" altLang="en-US" sz="1800">
                <a:latin typeface="맑은 고딕"/>
                <a:ea typeface="맑은 고딕"/>
              </a:rPr>
              <a:t>골다공증 비율</a:t>
            </a:r>
            <a:r>
              <a:rPr lang="en-US" altLang="ko-KR" sz="1800">
                <a:latin typeface="맑은 고딕"/>
                <a:ea typeface="맑은 고딕"/>
              </a:rPr>
              <a:t>&gt;</a:t>
            </a:r>
            <a:endParaRPr lang="ko-KR" altLang="en-US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288256"/>
            <a:ext cx="12192000" cy="54173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 altLang="ko-KR" dirty="0"/>
              <a:t>3. Detailed progress</a:t>
            </a:r>
            <a:endParaRPr lang="en-US" dirty="0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171891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7</a:t>
            </a:fld>
            <a:endParaRPr lang="en-US" spc="-25"/>
          </a:p>
        </p:txBody>
      </p:sp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382000" y="3934119"/>
            <a:ext cx="3497580" cy="2914650"/>
          </a:xfrm>
          <a:prstGeom prst="rect">
            <a:avLst/>
          </a:prstGeom>
        </p:spPr>
      </p:pic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3840005C-6879-481F-ED4D-A14DA20BD5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5486400" cy="40421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주요 변수별 정상</a:t>
            </a:r>
            <a:r>
              <a:rPr lang="en-US" altLang="ko-KR" sz="2000"/>
              <a:t>/</a:t>
            </a:r>
            <a:r>
              <a:rPr lang="ko-KR" altLang="en-US" sz="2000"/>
              <a:t>골다공증 분포 비교</a:t>
            </a:r>
            <a:endParaRPr lang="ko-KR" altLang="en-US"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graphicFrame>
        <p:nvGraphicFramePr>
          <p:cNvPr id="20" name="표 19"/>
          <p:cNvGraphicFramePr/>
          <p:nvPr>
            <p:extLst>
              <p:ext uri="{D42A27DB-BD31-4B8C-83A1-F6EECF244321}">
                <p14:modId xmlns:p14="http://schemas.microsoft.com/office/powerpoint/2010/main" val="862446855"/>
              </p:ext>
            </p:extLst>
          </p:nvPr>
        </p:nvGraphicFramePr>
        <p:xfrm>
          <a:off x="1029991" y="2860362"/>
          <a:ext cx="6041684" cy="390144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93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1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195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Variable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Classification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N_Sample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mean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std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Age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 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60.3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7.34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59.81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7.07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63.78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8.18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BMI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23.07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23.21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2.99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BreastDensity(%)AVG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26.75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11.45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26.59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11.24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27.87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12.81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BreastArea(sqcm)AVG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122.54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38.10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123.57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38.38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115.22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35.22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DenseArea(sqcm)AVG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29.73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10.59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29.87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10.71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28.68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9.58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43397"/>
              </p:ext>
            </p:extLst>
          </p:nvPr>
        </p:nvGraphicFramePr>
        <p:xfrm>
          <a:off x="1029991" y="1855638"/>
          <a:ext cx="10650493" cy="83773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343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9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9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5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90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Age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BMI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BreastDensity(%)AVG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BreastArea(sqcm)AVG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DenseArea(sqcm)AVG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t-stat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-10.18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7.86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-2.09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4.84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2.53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p-value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&lt;0.001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&lt;0.001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0.037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&lt;0.001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0.012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AB9BFF4D-47DF-B8E5-82D8-8FA2E663DE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5486400" cy="825867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주요 변수별 정상</a:t>
            </a:r>
            <a:r>
              <a:rPr lang="en-US" altLang="ko-KR" sz="2000"/>
              <a:t>/</a:t>
            </a:r>
            <a:r>
              <a:rPr lang="ko-KR" altLang="en-US" sz="2000"/>
              <a:t>골다공증 분포 비교</a:t>
            </a:r>
            <a:endParaRPr lang="en-US" altLang="ko-KR" sz="2000"/>
          </a:p>
          <a:p>
            <a:pPr lvl="1">
              <a:lnSpc>
                <a:spcPct val="150000"/>
              </a:lnSpc>
              <a:defRPr/>
            </a:pPr>
            <a:r>
              <a:rPr lang="en-US" altLang="ko-KR" sz="1800"/>
              <a:t>Performed t-test</a:t>
            </a: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90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dirty="0"/>
              <a:t>3. Detailed progress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9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9"/>
            <a:ext cx="11125200" cy="2620654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b="1" dirty="0"/>
              <a:t>Osteoporosis Diagnosis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dirty="0"/>
              <a:t>Machine learning models were generated using logistic regression.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dirty="0"/>
              <a:t>Two validation approaches: hold-out (8:2), 5-fold cross validation (CV)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dirty="0"/>
              <a:t>Grid search was tested: </a:t>
            </a:r>
            <a:r>
              <a:rPr lang="en-US" altLang="ko-KR" dirty="0">
                <a:solidFill>
                  <a:srgbClr val="FF0000"/>
                </a:solidFill>
              </a:rPr>
              <a:t>C, penalty, solver, </a:t>
            </a:r>
            <a:r>
              <a:rPr lang="en-US" altLang="ko-KR" dirty="0" err="1">
                <a:solidFill>
                  <a:srgbClr val="FF0000"/>
                </a:solidFill>
              </a:rPr>
              <a:t>class_weight</a:t>
            </a:r>
            <a:endParaRPr lang="en-US" altLang="ko-KR" dirty="0">
              <a:solidFill>
                <a:srgbClr val="FF0000"/>
              </a:solidFill>
            </a:endParaRPr>
          </a:p>
          <a:p>
            <a:pPr lvl="2">
              <a:lnSpc>
                <a:spcPct val="150000"/>
              </a:lnSpc>
              <a:defRPr/>
            </a:pPr>
            <a:r>
              <a:rPr lang="en-US" altLang="ko-KR" dirty="0"/>
              <a:t>Input: Age, BMI, average breast density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dirty="0"/>
              <a:t>Output: Osteoporosis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1325879" y="4379656"/>
          <a:ext cx="9692641" cy="1563944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2129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3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35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49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63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426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Feature Set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Accuracy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Precision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Recall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F1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AUC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HoldOut (fixed params)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.6608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.2171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.6804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.3292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.7146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5-fold CV (fixed params)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.6608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.2171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.6804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.3292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.7146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HoldOut (GridSearch)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.8789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1.0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.0103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.0204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.7118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5-fold CV (GridSearch)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>
                          <a:latin typeface="맑은 고딕"/>
                        </a:rPr>
                        <a:t>.8777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400">
                        <a:latin typeface="맑은 고딕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400">
                        <a:latin typeface="맑은 고딕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400">
                        <a:latin typeface="맑은 고딕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400" dirty="0">
                          <a:latin typeface="맑은 고딕"/>
                        </a:rPr>
                        <a:t>.7148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90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dirty="0"/>
              <a:t>3. Detailed progress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288833"/>
            <a:ext cx="256540" cy="228600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10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9"/>
            <a:ext cx="11125200" cy="2949525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b="1" dirty="0"/>
              <a:t>Osteoporosis Diagnosis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dirty="0"/>
              <a:t>Machine learning models were generated using logistic regression.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dirty="0"/>
              <a:t>Two validation approaches: hold-out (8:2), 5-fold cross validation (CV)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dirty="0"/>
              <a:t>Grid search was tested: </a:t>
            </a:r>
            <a:r>
              <a:rPr lang="en-US" altLang="ko-KR" dirty="0">
                <a:solidFill>
                  <a:srgbClr val="FF0000"/>
                </a:solidFill>
              </a:rPr>
              <a:t>C, penalty, solver, </a:t>
            </a:r>
            <a:r>
              <a:rPr lang="en-US" altLang="ko-KR" dirty="0" err="1">
                <a:solidFill>
                  <a:srgbClr val="FF0000"/>
                </a:solidFill>
              </a:rPr>
              <a:t>class_weight</a:t>
            </a:r>
            <a:endParaRPr lang="en-US" altLang="ko-KR" dirty="0">
              <a:solidFill>
                <a:srgbClr val="FF0000"/>
              </a:solidFill>
            </a:endParaRPr>
          </a:p>
          <a:p>
            <a:pPr lvl="2">
              <a:lnSpc>
                <a:spcPct val="150000"/>
              </a:lnSpc>
              <a:defRPr/>
            </a:pPr>
            <a:r>
              <a:rPr lang="en-US" altLang="ko-KR" dirty="0"/>
              <a:t>Input: Age, BMI, average breast density, average</a:t>
            </a:r>
            <a:r>
              <a:rPr lang="ko-KR" altLang="en-US" dirty="0"/>
              <a:t> </a:t>
            </a:r>
            <a:r>
              <a:rPr lang="en-US" altLang="ko-KR" dirty="0"/>
              <a:t>breast</a:t>
            </a:r>
            <a:r>
              <a:rPr lang="ko-KR" altLang="en-US" dirty="0"/>
              <a:t> </a:t>
            </a:r>
            <a:r>
              <a:rPr lang="en-US" altLang="ko-KR" dirty="0"/>
              <a:t>area,</a:t>
            </a:r>
            <a:r>
              <a:rPr lang="ko-KR" altLang="en-US" dirty="0"/>
              <a:t> </a:t>
            </a:r>
            <a:r>
              <a:rPr lang="en-US" altLang="ko-KR" dirty="0"/>
              <a:t>average</a:t>
            </a:r>
            <a:r>
              <a:rPr lang="ko-KR" altLang="en-US" dirty="0"/>
              <a:t> </a:t>
            </a:r>
            <a:r>
              <a:rPr lang="en-US" altLang="ko-KR" dirty="0"/>
              <a:t>dense</a:t>
            </a:r>
            <a:r>
              <a:rPr lang="ko-KR" altLang="en-US" dirty="0"/>
              <a:t> </a:t>
            </a:r>
            <a:r>
              <a:rPr lang="en-US" altLang="ko-KR" dirty="0"/>
              <a:t>area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dirty="0"/>
              <a:t>Output: Osteoporosis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dirty="0"/>
              <a:t>In the case of binary classification, the recall of weighted avg is the same as accuracy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592677"/>
              </p:ext>
            </p:extLst>
          </p:nvPr>
        </p:nvGraphicFramePr>
        <p:xfrm>
          <a:off x="1009650" y="4466357"/>
          <a:ext cx="4933948" cy="844972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2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53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0377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Type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Accuracy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Precision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Recall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F1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40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macro avg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.878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.689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.504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.477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40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weighted avg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.878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.832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.878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.823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990600" y="4009156"/>
            <a:ext cx="4882377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맑은 고딕"/>
                <a:ea typeface="맑은 고딕"/>
              </a:rPr>
              <a:t>hold-out</a:t>
            </a:r>
          </a:p>
        </p:txBody>
      </p:sp>
      <p:graphicFrame>
        <p:nvGraphicFramePr>
          <p:cNvPr id="20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759138"/>
              </p:ext>
            </p:extLst>
          </p:nvPr>
        </p:nvGraphicFramePr>
        <p:xfrm>
          <a:off x="6572250" y="4466357"/>
          <a:ext cx="4933948" cy="844972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2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53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0377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Type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Accuracy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Precision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Recall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F1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40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macro avg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.877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.666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.505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.480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40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weighted avg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.877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.826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.877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.823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TextBox 18"/>
          <p:cNvSpPr txBox="1"/>
          <p:nvPr/>
        </p:nvSpPr>
        <p:spPr>
          <a:xfrm>
            <a:off x="6553200" y="4009156"/>
            <a:ext cx="4882377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ko-KR" sz="1600" b="1">
                <a:solidFill>
                  <a:srgbClr val="000000"/>
                </a:solidFill>
                <a:latin typeface="맑은 고딕"/>
                <a:ea typeface="맑은 고딕"/>
              </a:rPr>
              <a:t>5-fold cv</a:t>
            </a:r>
          </a:p>
        </p:txBody>
      </p:sp>
      <p:graphicFrame>
        <p:nvGraphicFramePr>
          <p:cNvPr id="22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775369"/>
              </p:ext>
            </p:extLst>
          </p:nvPr>
        </p:nvGraphicFramePr>
        <p:xfrm>
          <a:off x="1009650" y="5867401"/>
          <a:ext cx="4933948" cy="844972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2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53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0377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Type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Accuracy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Precision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Recall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F1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40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macro avg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.658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.576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.668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.549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40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weighted avg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.658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.848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.658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.717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TextBox 18"/>
          <p:cNvSpPr txBox="1"/>
          <p:nvPr/>
        </p:nvSpPr>
        <p:spPr>
          <a:xfrm>
            <a:off x="990600" y="5410200"/>
            <a:ext cx="4882377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ko-KR" sz="1600" b="1">
                <a:solidFill>
                  <a:srgbClr val="000000"/>
                </a:solidFill>
                <a:latin typeface="맑은 고딕"/>
                <a:ea typeface="맑은 고딕"/>
              </a:rPr>
              <a:t>hold-out (grid search)</a:t>
            </a:r>
          </a:p>
        </p:txBody>
      </p:sp>
      <p:graphicFrame>
        <p:nvGraphicFramePr>
          <p:cNvPr id="24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204412"/>
              </p:ext>
            </p:extLst>
          </p:nvPr>
        </p:nvGraphicFramePr>
        <p:xfrm>
          <a:off x="6572250" y="5867401"/>
          <a:ext cx="4933948" cy="844972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2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53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0377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Type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Accuracy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Precision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Recall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F1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40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macro avg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.658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.576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.668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.549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40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>
                          <a:latin typeface="맑은 고딕"/>
                        </a:rPr>
                        <a:t>weighted avg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.658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.848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.658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dirty="0">
                          <a:latin typeface="맑은 고딕"/>
                        </a:rPr>
                        <a:t>.717</a:t>
                      </a:r>
                    </a:p>
                  </a:txBody>
                  <a:tcPr marL="82519" marR="82519" marT="41260" marB="4126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Box 18"/>
          <p:cNvSpPr txBox="1"/>
          <p:nvPr/>
        </p:nvSpPr>
        <p:spPr>
          <a:xfrm>
            <a:off x="6553200" y="5410200"/>
            <a:ext cx="4882377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ko-KR" sz="1600" b="1">
                <a:solidFill>
                  <a:srgbClr val="000000"/>
                </a:solidFill>
                <a:latin typeface="맑은 고딕"/>
                <a:ea typeface="맑은 고딕"/>
              </a:rPr>
              <a:t>5-fold cv (grid search)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2B2A9-108C-A546-EB9E-76BD264A2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AA4D555-9F1E-2F4D-CB71-86A0527860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90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dirty="0"/>
              <a:t>3. Detailed progress</a:t>
            </a:r>
          </a:p>
        </p:txBody>
      </p:sp>
      <p:sp>
        <p:nvSpPr>
          <p:cNvPr id="12" name="Holder 6">
            <a:extLst>
              <a:ext uri="{FF2B5EF4-FFF2-40B4-BE49-F238E27FC236}">
                <a16:creationId xmlns:a16="http://schemas.microsoft.com/office/drawing/2014/main" id="{9EC00E44-8923-C2D8-A996-488DB12422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11</a:t>
            </a:fld>
            <a:endParaRPr lang="en-US" spc="-25"/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A71CD3E2-1A37-9351-077C-6E146DF705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9"/>
            <a:ext cx="11125200" cy="2552701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b="1"/>
              <a:t>Osteoporosis Diagnosis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/>
              <a:t>Machine learning models were generated using logistic regression.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/>
              <a:t>Two validation approaches: hold-out (8:2), 5-fold cross validation (CV)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/>
              <a:t>Grid search was tested: </a:t>
            </a:r>
            <a:r>
              <a:rPr lang="en-US" altLang="ko-KR">
                <a:solidFill>
                  <a:srgbClr val="FF0000"/>
                </a:solidFill>
              </a:rPr>
              <a:t>C, penalty, solver, class_weight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/>
              <a:t>Input: All of Features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/>
              <a:t>Output: Osteoporosis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2EE5584C-6AA0-90E1-9154-1A1DCBCEB90D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4114800"/>
          <a:ext cx="5467348" cy="914399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425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2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528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55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macro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.875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.649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.521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.512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55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weighted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.875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.825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.875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.830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4166F5B-BB57-C838-EFC3-C112C5C54B34}"/>
              </a:ext>
            </a:extLst>
          </p:cNvPr>
          <p:cNvSpPr txBox="1"/>
          <p:nvPr/>
        </p:nvSpPr>
        <p:spPr>
          <a:xfrm>
            <a:off x="609600" y="3657600"/>
            <a:ext cx="5410200" cy="449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ko-KR" sz="1600" b="1">
                <a:solidFill>
                  <a:srgbClr val="000000"/>
                </a:solidFill>
                <a:latin typeface="맑은 고딕"/>
                <a:ea typeface="맑은 고딕"/>
              </a:rPr>
              <a:t>hold-out</a:t>
            </a:r>
          </a:p>
        </p:txBody>
      </p:sp>
      <p:graphicFrame>
        <p:nvGraphicFramePr>
          <p:cNvPr id="20" name="표 17">
            <a:extLst>
              <a:ext uri="{FF2B5EF4-FFF2-40B4-BE49-F238E27FC236}">
                <a16:creationId xmlns:a16="http://schemas.microsoft.com/office/drawing/2014/main" id="{A9554FE9-2843-7B87-BCAF-D8DDC112D728}"/>
              </a:ext>
            </a:extLst>
          </p:cNvPr>
          <p:cNvGraphicFramePr>
            <a:graphicFrameLocks noGrp="1"/>
          </p:cNvGraphicFramePr>
          <p:nvPr/>
        </p:nvGraphicFramePr>
        <p:xfrm>
          <a:off x="6191250" y="4114800"/>
          <a:ext cx="5467348" cy="914399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425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2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528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55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macro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.876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.519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.509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55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weighted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.876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.830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.876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.829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TextBox 18">
            <a:extLst>
              <a:ext uri="{FF2B5EF4-FFF2-40B4-BE49-F238E27FC236}">
                <a16:creationId xmlns:a16="http://schemas.microsoft.com/office/drawing/2014/main" id="{25039B1A-589F-7EFD-341B-ABE33C036B3C}"/>
              </a:ext>
            </a:extLst>
          </p:cNvPr>
          <p:cNvSpPr txBox="1"/>
          <p:nvPr/>
        </p:nvSpPr>
        <p:spPr>
          <a:xfrm>
            <a:off x="6172200" y="3657600"/>
            <a:ext cx="5410200" cy="449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ko-KR" sz="1600" b="1">
                <a:solidFill>
                  <a:srgbClr val="000000"/>
                </a:solidFill>
                <a:latin typeface="맑은 고딕"/>
                <a:ea typeface="맑은 고딕"/>
              </a:rPr>
              <a:t>5-fold cv</a:t>
            </a:r>
          </a:p>
        </p:txBody>
      </p:sp>
      <p:graphicFrame>
        <p:nvGraphicFramePr>
          <p:cNvPr id="22" name="표 17">
            <a:extLst>
              <a:ext uri="{FF2B5EF4-FFF2-40B4-BE49-F238E27FC236}">
                <a16:creationId xmlns:a16="http://schemas.microsoft.com/office/drawing/2014/main" id="{A9B3BF58-C331-EF21-64CD-7BF2B1B97031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5646420"/>
          <a:ext cx="5467348" cy="914399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425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2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528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55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macro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.677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.586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.687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.566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55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weighted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.677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.855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.677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.732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TextBox 18">
            <a:extLst>
              <a:ext uri="{FF2B5EF4-FFF2-40B4-BE49-F238E27FC236}">
                <a16:creationId xmlns:a16="http://schemas.microsoft.com/office/drawing/2014/main" id="{F6E222EE-B371-C6A3-A02C-131238104CC3}"/>
              </a:ext>
            </a:extLst>
          </p:cNvPr>
          <p:cNvSpPr txBox="1"/>
          <p:nvPr/>
        </p:nvSpPr>
        <p:spPr>
          <a:xfrm>
            <a:off x="609600" y="5189220"/>
            <a:ext cx="5410200" cy="449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ko-KR" sz="1600" b="1">
                <a:solidFill>
                  <a:srgbClr val="000000"/>
                </a:solidFill>
                <a:latin typeface="맑은 고딕"/>
                <a:ea typeface="맑은 고딕"/>
              </a:rPr>
              <a:t>hold-out (grid search)</a:t>
            </a:r>
          </a:p>
        </p:txBody>
      </p:sp>
      <p:graphicFrame>
        <p:nvGraphicFramePr>
          <p:cNvPr id="24" name="표 17">
            <a:extLst>
              <a:ext uri="{FF2B5EF4-FFF2-40B4-BE49-F238E27FC236}">
                <a16:creationId xmlns:a16="http://schemas.microsoft.com/office/drawing/2014/main" id="{BC43BC8B-C780-D261-C408-707E362E82CC}"/>
              </a:ext>
            </a:extLst>
          </p:cNvPr>
          <p:cNvGraphicFramePr>
            <a:graphicFrameLocks noGrp="1"/>
          </p:cNvGraphicFramePr>
          <p:nvPr/>
        </p:nvGraphicFramePr>
        <p:xfrm>
          <a:off x="6191250" y="5646420"/>
          <a:ext cx="5467348" cy="914399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425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2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528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55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macro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.579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.558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55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weighted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.849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.728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Box 18">
            <a:extLst>
              <a:ext uri="{FF2B5EF4-FFF2-40B4-BE49-F238E27FC236}">
                <a16:creationId xmlns:a16="http://schemas.microsoft.com/office/drawing/2014/main" id="{AF3391ED-B486-0207-0E7D-4AD3CF38C57A}"/>
              </a:ext>
            </a:extLst>
          </p:cNvPr>
          <p:cNvSpPr txBox="1"/>
          <p:nvPr/>
        </p:nvSpPr>
        <p:spPr>
          <a:xfrm>
            <a:off x="6172200" y="5189220"/>
            <a:ext cx="5410200" cy="449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ko-KR" sz="1600" b="1">
                <a:solidFill>
                  <a:srgbClr val="000000"/>
                </a:solidFill>
                <a:latin typeface="맑은 고딕"/>
                <a:ea typeface="맑은 고딕"/>
              </a:rPr>
              <a:t>5-fold cv (grid search)</a:t>
            </a:r>
          </a:p>
        </p:txBody>
      </p:sp>
    </p:spTree>
    <p:extLst>
      <p:ext uri="{BB962C8B-B14F-4D97-AF65-F5344CB8AC3E}">
        <p14:creationId xmlns:p14="http://schemas.microsoft.com/office/powerpoint/2010/main" val="913825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90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dirty="0"/>
              <a:t>3. Detailed progress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12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9"/>
            <a:ext cx="11125200" cy="1362076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b="1">
                <a:hlinkClick r:id="rId2"/>
              </a:rPr>
              <a:t>Diabetes Diagnosis Dataset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Input: </a:t>
            </a:r>
            <a:r>
              <a:rPr lang="en-US" altLang="ko-KR" sz="2000"/>
              <a:t>gender, age, bmi, HbA1c_level, blood_glucose_level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Output: </a:t>
            </a:r>
            <a:r>
              <a:rPr lang="en-US" altLang="ko-KR" sz="2000"/>
              <a:t>Diabetes_Diagnosis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3"/>
          <a:srcRect t="33330" b="33340"/>
          <a:stretch>
            <a:fillRect/>
          </a:stretch>
        </p:blipFill>
        <p:spPr>
          <a:xfrm>
            <a:off x="2494922" y="4724400"/>
            <a:ext cx="7202155" cy="1600199"/>
          </a:xfrm>
          <a:prstGeom prst="rect">
            <a:avLst/>
          </a:prstGeom>
        </p:spPr>
      </p:pic>
      <p:grpSp>
        <p:nvGrpSpPr>
          <p:cNvPr id="21" name="그룹 20"/>
          <p:cNvGrpSpPr/>
          <p:nvPr/>
        </p:nvGrpSpPr>
        <p:grpSpPr>
          <a:xfrm>
            <a:off x="1237622" y="2743535"/>
            <a:ext cx="9716755" cy="1676064"/>
            <a:chOff x="951244" y="2895935"/>
            <a:chExt cx="9716755" cy="1676064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 rotWithShape="1">
            <a:blip r:embed="rId3"/>
            <a:srcRect b="66670"/>
            <a:stretch>
              <a:fillRect/>
            </a:stretch>
          </p:blipFill>
          <p:spPr>
            <a:xfrm>
              <a:off x="951244" y="2895935"/>
              <a:ext cx="7202155" cy="1599865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 rotWithShape="1">
            <a:blip r:embed="rId3"/>
            <a:srcRect t="66660" r="66140"/>
            <a:stretch>
              <a:fillRect/>
            </a:stretch>
          </p:blipFill>
          <p:spPr>
            <a:xfrm>
              <a:off x="8229600" y="2971800"/>
              <a:ext cx="2438399" cy="16002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90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dirty="0"/>
              <a:t>3. Detailed progress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13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9"/>
            <a:ext cx="11125200" cy="3800476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b="1">
                <a:hlinkClick r:id="rId2"/>
              </a:rPr>
              <a:t>Diabetes Diagnosis Dataset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Input: </a:t>
            </a:r>
            <a:r>
              <a:rPr lang="en-US" altLang="ko-KR" sz="2000"/>
              <a:t>gender, age, bmi, HbA1c_level, blood_glucose_level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Output: </a:t>
            </a:r>
            <a:r>
              <a:rPr lang="en-US" altLang="ko-KR" sz="2000"/>
              <a:t>Diabetes_Diagnosis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2000"/>
          </a:p>
          <a:p>
            <a:pPr lvl="1">
              <a:lnSpc>
                <a:spcPct val="150000"/>
              </a:lnSpc>
              <a:defRPr/>
            </a:pPr>
            <a:endParaRPr lang="en-US" altLang="ko-KR" sz="2000"/>
          </a:p>
          <a:p>
            <a:pPr lvl="1">
              <a:lnSpc>
                <a:spcPct val="150000"/>
              </a:lnSpc>
              <a:defRPr/>
            </a:pPr>
            <a:endParaRPr lang="en-US" altLang="ko-KR" sz="2000"/>
          </a:p>
          <a:p>
            <a:pPr lvl="1">
              <a:lnSpc>
                <a:spcPct val="200000"/>
              </a:lnSpc>
              <a:defRPr/>
            </a:pPr>
            <a:endParaRPr lang="en-US" altLang="ko-KR" sz="2000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Other People’s Result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2042159" y="2677508"/>
          <a:ext cx="8117205" cy="1502984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9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8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426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Feature Set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AUC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 (fixed params)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.8814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.4090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.8882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.5601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.9608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(fixed params)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.8814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.4090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.8882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.5601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.9608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 (GridSearch)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.9149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.4998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.8335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.6249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.9608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(GridSearch)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.9149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.4998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.8335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.6249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.9608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2676524" y="5050216"/>
          <a:ext cx="6838950" cy="873412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9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426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macro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.949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.83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.85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weighted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.949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.95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.95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.95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90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dirty="0"/>
              <a:t>3. Detailed progress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14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9"/>
            <a:ext cx="11125200" cy="1362076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b="1">
                <a:hlinkClick r:id="rId2"/>
              </a:rPr>
              <a:t>PCOS Diagnosis Dataset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Input: </a:t>
            </a:r>
            <a:r>
              <a:rPr lang="en-US" altLang="ko-KR" sz="2000"/>
              <a:t>Age, BMI, Menstrual_Irregularity, Testosterone_Level(ng/dL), Antral_Follicle_Count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Output: </a:t>
            </a:r>
            <a:r>
              <a:rPr lang="en-US" altLang="ko-KR" sz="2000"/>
              <a:t>PCOS_Diagnosis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685862" y="2590800"/>
            <a:ext cx="8820276" cy="39191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90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dirty="0"/>
              <a:t>3. Detailed progress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15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8"/>
            <a:ext cx="11125200" cy="1819277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b="1">
                <a:hlinkClick r:id="rId2"/>
              </a:rPr>
              <a:t>PCOS Diagnosis Dataset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Input: </a:t>
            </a:r>
            <a:r>
              <a:rPr lang="en-US" altLang="ko-KR" sz="2000"/>
              <a:t>Age, BMI, Menstrual_Irregularity, Testosterone_Level(ng/dL), Antral_Follicle_Count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Output: </a:t>
            </a:r>
            <a:r>
              <a:rPr lang="en-US" altLang="ko-KR" sz="2000"/>
              <a:t>PCOS_Diagnosis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2000"/>
          </a:p>
        </p:txBody>
      </p:sp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2042159" y="2677508"/>
          <a:ext cx="8117205" cy="1502984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9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8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426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Feature Set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AUC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 (fixed params)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.8800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.6250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1.0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.7692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.9752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(fixed params)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.8800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.6250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1.0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.7692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.9752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 (GridSearch)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.9150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.7170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.9500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.8172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.9777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(GridSearch)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.9150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.7170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.9500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.8172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.9777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90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dirty="0"/>
              <a:t>3. Detailed progress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16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8"/>
            <a:ext cx="11125200" cy="904877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b="1">
                <a:hlinkClick r:id="rId2"/>
              </a:rPr>
              <a:t>PCOS Diagnosis Dataset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Other People’s Result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704853" y="2631788"/>
          <a:ext cx="5391146" cy="873412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405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macro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weighted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85800" y="2120265"/>
            <a:ext cx="5410200" cy="449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ko-KR" sz="1600" b="1">
                <a:latin typeface="맑은 고딕"/>
                <a:ea typeface="맑은 고딕"/>
              </a:rPr>
              <a:t>Logistic Regression</a:t>
            </a:r>
          </a:p>
        </p:txBody>
      </p:sp>
      <p:graphicFrame>
        <p:nvGraphicFramePr>
          <p:cNvPr id="20" name="표 19"/>
          <p:cNvGraphicFramePr>
            <a:graphicFrameLocks noGrp="1"/>
          </p:cNvGraphicFramePr>
          <p:nvPr/>
        </p:nvGraphicFramePr>
        <p:xfrm>
          <a:off x="6248400" y="2631788"/>
          <a:ext cx="5391146" cy="873412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405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1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1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Accuracy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1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Precision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1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Recall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1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macro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.96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.95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.94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.94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weighted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.96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.96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.96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.96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229346" y="2120265"/>
            <a:ext cx="5410200" cy="449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ko-KR" sz="1600" b="1">
                <a:solidFill>
                  <a:srgbClr val="000000"/>
                </a:solidFill>
                <a:latin typeface="맑은 고딕"/>
                <a:ea typeface="맑은 고딕"/>
              </a:rPr>
              <a:t>KNN</a:t>
            </a:r>
          </a:p>
        </p:txBody>
      </p:sp>
      <p:graphicFrame>
        <p:nvGraphicFramePr>
          <p:cNvPr id="22" name="표 21"/>
          <p:cNvGraphicFramePr>
            <a:graphicFrameLocks noGrp="1"/>
          </p:cNvGraphicFramePr>
          <p:nvPr/>
        </p:nvGraphicFramePr>
        <p:xfrm>
          <a:off x="704853" y="4648200"/>
          <a:ext cx="5391146" cy="873412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405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macro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weighted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.73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85800" y="4136676"/>
            <a:ext cx="5410200" cy="4524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ko-KR" sz="1600" b="1">
                <a:latin typeface="맑은 고딕"/>
                <a:ea typeface="맑은 고딕"/>
              </a:rPr>
              <a:t>Naive Bayes</a:t>
            </a:r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6248400" y="4648200"/>
          <a:ext cx="5391146" cy="873412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405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1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1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Accuracy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1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Precision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1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Recall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1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macro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.99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.99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.99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786"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weighted 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.99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.99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  <a:defRPr/>
                      </a:pPr>
                      <a:r>
                        <a:rPr kumimoji="0" lang="en-US" altLang="ko-KR" sz="1000" b="0" i="0" u="none" strike="noStrike" kern="0" cap="none" normalizeH="0" baseline="0">
                          <a:solidFill>
                            <a:srgbClr val="000000"/>
                          </a:solidFill>
                          <a:latin typeface="맑은 고딕"/>
                        </a:rPr>
                        <a:t>.99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229346" y="4136676"/>
            <a:ext cx="5410200" cy="4524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altLang="ko-KR" sz="1600" b="1">
                <a:solidFill>
                  <a:srgbClr val="000000"/>
                </a:solidFill>
                <a:latin typeface="맑은 고딕"/>
                <a:ea typeface="맑은 고딕"/>
              </a:rPr>
              <a:t>Decision Tree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242A2-485B-2809-4F75-F855E5E2F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C36448C-FA96-7557-A708-9426B375D6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90107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 dirty="0"/>
              <a:t>4. Next Plans</a:t>
            </a:r>
          </a:p>
        </p:txBody>
      </p:sp>
      <p:sp>
        <p:nvSpPr>
          <p:cNvPr id="12" name="Holder 6">
            <a:extLst>
              <a:ext uri="{FF2B5EF4-FFF2-40B4-BE49-F238E27FC236}">
                <a16:creationId xmlns:a16="http://schemas.microsoft.com/office/drawing/2014/main" id="{9BDE77E9-C593-F715-8893-01DA7BA639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17</a:t>
            </a:fld>
            <a:endParaRPr lang="en-US" spc="-25"/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57A2F83E-4E5D-2553-FE82-F666100FD4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8"/>
            <a:ext cx="11125200" cy="519629"/>
          </a:xfrm>
        </p:spPr>
        <p:txBody>
          <a:bodyPr/>
          <a:lstStyle/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SMOTE </a:t>
            </a:r>
            <a:r>
              <a:rPr lang="ko-KR" altLang="en-US" sz="2000" dirty="0"/>
              <a:t>이외의 다른 </a:t>
            </a:r>
            <a:r>
              <a:rPr lang="en-US" altLang="ko-KR" sz="2000" dirty="0"/>
              <a:t>Augmentation </a:t>
            </a:r>
            <a:r>
              <a:rPr lang="ko-KR" altLang="en-US" sz="2000" dirty="0"/>
              <a:t>기법 적용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47456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1262062"/>
            <a:ext cx="12192000" cy="5595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1478</Words>
  <Application>Microsoft Office PowerPoint</Application>
  <PresentationFormat>와이드스크린</PresentationFormat>
  <Paragraphs>573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Malgun Gothic</vt:lpstr>
      <vt:lpstr>Malgun Gothic</vt:lpstr>
      <vt:lpstr>Arial</vt:lpstr>
      <vt:lpstr>Office Theme</vt:lpstr>
      <vt:lpstr>Tabular Data Analysis</vt:lpstr>
      <vt:lpstr>1. What’s discussed in the last meetings</vt:lpstr>
      <vt:lpstr>2. Research Summary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4. Next Plans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이소영</dc:creator>
  <cp:lastModifiedBy>전장훈</cp:lastModifiedBy>
  <cp:revision>589</cp:revision>
  <dcterms:created xsi:type="dcterms:W3CDTF">2023-07-18T06:54:54Z</dcterms:created>
  <dcterms:modified xsi:type="dcterms:W3CDTF">2025-12-12T02:27:55Z</dcterms:modified>
  <cp:version/>
</cp:coreProperties>
</file>