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346" r:id="rId5"/>
    <p:sldId id="350" r:id="rId6"/>
    <p:sldId id="351" r:id="rId7"/>
    <p:sldId id="352" r:id="rId8"/>
    <p:sldId id="354" r:id="rId9"/>
    <p:sldId id="383" r:id="rId10"/>
    <p:sldId id="369" r:id="rId11"/>
    <p:sldId id="355" r:id="rId12"/>
    <p:sldId id="402" r:id="rId13"/>
    <p:sldId id="397" r:id="rId14"/>
    <p:sldId id="398" r:id="rId15"/>
    <p:sldId id="356" r:id="rId16"/>
    <p:sldId id="357" r:id="rId17"/>
    <p:sldId id="392" r:id="rId18"/>
    <p:sldId id="393" r:id="rId19"/>
    <p:sldId id="394" r:id="rId20"/>
    <p:sldId id="395" r:id="rId21"/>
    <p:sldId id="400" r:id="rId22"/>
    <p:sldId id="401" r:id="rId23"/>
    <p:sldId id="390" r:id="rId24"/>
    <p:sldId id="391" r:id="rId25"/>
    <p:sldId id="384" r:id="rId26"/>
    <p:sldId id="389" r:id="rId27"/>
    <p:sldId id="399" r:id="rId28"/>
    <p:sldId id="345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A5AA"/>
    <a:srgbClr val="1F346B"/>
    <a:srgbClr val="0236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786" autoAdjust="0"/>
  </p:normalViewPr>
  <p:slideViewPr>
    <p:cSldViewPr snapToGrid="0">
      <p:cViewPr varScale="1">
        <p:scale>
          <a:sx n="101" d="100"/>
          <a:sy n="101" d="100"/>
        </p:scale>
        <p:origin x="9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hun Kim" userId="2469e03939fca47a" providerId="LiveId" clId="{0EC0481E-6524-4E60-9AD2-E07F55D3906F}"/>
    <pc:docChg chg="undo custSel modSld modMainMaster">
      <pc:chgData name="Jihun Kim" userId="2469e03939fca47a" providerId="LiveId" clId="{0EC0481E-6524-4E60-9AD2-E07F55D3906F}" dt="2026-04-09T12:43:38.717" v="9" actId="113"/>
      <pc:docMkLst>
        <pc:docMk/>
      </pc:docMkLst>
      <pc:sldChg chg="modSp mod">
        <pc:chgData name="Jihun Kim" userId="2469e03939fca47a" providerId="LiveId" clId="{0EC0481E-6524-4E60-9AD2-E07F55D3906F}" dt="2026-04-09T12:43:04.015" v="5" actId="2711"/>
        <pc:sldMkLst>
          <pc:docMk/>
          <pc:sldMk cId="1998851532" sldId="256"/>
        </pc:sldMkLst>
        <pc:spChg chg="mod">
          <ac:chgData name="Jihun Kim" userId="2469e03939fca47a" providerId="LiveId" clId="{0EC0481E-6524-4E60-9AD2-E07F55D3906F}" dt="2026-04-09T12:41:51.143" v="2" actId="207"/>
          <ac:spMkLst>
            <pc:docMk/>
            <pc:sldMk cId="1998851532" sldId="256"/>
            <ac:spMk id="4" creationId="{4C14D9A0-1BB9-428F-B273-3CE24758593B}"/>
          </ac:spMkLst>
        </pc:spChg>
        <pc:spChg chg="mod">
          <ac:chgData name="Jihun Kim" userId="2469e03939fca47a" providerId="LiveId" clId="{0EC0481E-6524-4E60-9AD2-E07F55D3906F}" dt="2026-04-09T12:42:23.172" v="3" actId="2711"/>
          <ac:spMkLst>
            <pc:docMk/>
            <pc:sldMk cId="1998851532" sldId="256"/>
            <ac:spMk id="5" creationId="{94B21C1C-F3A0-440B-961E-968F2C77FB2A}"/>
          </ac:spMkLst>
        </pc:spChg>
        <pc:spChg chg="mod">
          <ac:chgData name="Jihun Kim" userId="2469e03939fca47a" providerId="LiveId" clId="{0EC0481E-6524-4E60-9AD2-E07F55D3906F}" dt="2026-04-09T12:42:57.903" v="4" actId="2711"/>
          <ac:spMkLst>
            <pc:docMk/>
            <pc:sldMk cId="1998851532" sldId="256"/>
            <ac:spMk id="6" creationId="{63F70F93-076B-4BBC-B933-AC7768BB0AE5}"/>
          </ac:spMkLst>
        </pc:spChg>
        <pc:spChg chg="mod">
          <ac:chgData name="Jihun Kim" userId="2469e03939fca47a" providerId="LiveId" clId="{0EC0481E-6524-4E60-9AD2-E07F55D3906F}" dt="2026-04-09T12:43:04.015" v="5" actId="2711"/>
          <ac:spMkLst>
            <pc:docMk/>
            <pc:sldMk cId="1998851532" sldId="256"/>
            <ac:spMk id="7" creationId="{CEB5E8A0-083F-4B6E-AA66-93BFFD6A8E1A}"/>
          </ac:spMkLst>
        </pc:spChg>
      </pc:sldChg>
      <pc:sldMasterChg chg="modSldLayout">
        <pc:chgData name="Jihun Kim" userId="2469e03939fca47a" providerId="LiveId" clId="{0EC0481E-6524-4E60-9AD2-E07F55D3906F}" dt="2026-04-09T12:43:38.717" v="9" actId="113"/>
        <pc:sldMasterMkLst>
          <pc:docMk/>
          <pc:sldMasterMk cId="2755485914" sldId="2147483648"/>
        </pc:sldMasterMkLst>
        <pc:sldLayoutChg chg="modSp mod">
          <pc:chgData name="Jihun Kim" userId="2469e03939fca47a" providerId="LiveId" clId="{0EC0481E-6524-4E60-9AD2-E07F55D3906F}" dt="2026-04-09T12:43:38.717" v="9" actId="113"/>
          <pc:sldLayoutMkLst>
            <pc:docMk/>
            <pc:sldMasterMk cId="2755485914" sldId="2147483648"/>
            <pc:sldLayoutMk cId="3176484067" sldId="2147483650"/>
          </pc:sldLayoutMkLst>
          <pc:spChg chg="mod">
            <ac:chgData name="Jihun Kim" userId="2469e03939fca47a" providerId="LiveId" clId="{0EC0481E-6524-4E60-9AD2-E07F55D3906F}" dt="2026-04-09T12:43:24.420" v="6" actId="2711"/>
            <ac:spMkLst>
              <pc:docMk/>
              <pc:sldMasterMk cId="2755485914" sldId="2147483648"/>
              <pc:sldLayoutMk cId="3176484067" sldId="2147483650"/>
              <ac:spMk id="2" creationId="{FE4F955D-C3E9-4033-8442-9095377B0662}"/>
            </ac:spMkLst>
          </pc:spChg>
          <pc:spChg chg="mod">
            <ac:chgData name="Jihun Kim" userId="2469e03939fca47a" providerId="LiveId" clId="{0EC0481E-6524-4E60-9AD2-E07F55D3906F}" dt="2026-04-09T12:43:38.717" v="9" actId="113"/>
            <ac:spMkLst>
              <pc:docMk/>
              <pc:sldMasterMk cId="2755485914" sldId="2147483648"/>
              <pc:sldLayoutMk cId="3176484067" sldId="2147483650"/>
              <ac:spMk id="3" creationId="{9CA482F1-FC12-443E-892A-B48F9C50AA53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74436-1BEA-4F09-AD5C-9DF87C96BF5A}" type="datetimeFigureOut">
              <a:rPr lang="ko-KR" altLang="en-US" smtClean="0"/>
              <a:t>2026-04-17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3C9518-700F-4811-95BB-24DAF3FA92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, </a:t>
            </a:r>
            <a:r>
              <a:rPr lang="ko-KR" altLang="en-US" dirty="0"/>
              <a:t>교수님</a:t>
            </a:r>
            <a:r>
              <a:rPr lang="en-US" altLang="ko-KR" dirty="0"/>
              <a:t>. </a:t>
            </a:r>
            <a:r>
              <a:rPr lang="ko-KR" altLang="en-US" dirty="0"/>
              <a:t>오늘은 </a:t>
            </a:r>
            <a:r>
              <a:rPr lang="en-US" altLang="ko-KR" dirty="0"/>
              <a:t>CT </a:t>
            </a:r>
            <a:r>
              <a:rPr lang="ko-KR" altLang="en-US" dirty="0"/>
              <a:t>촬영 시 자동으로 수집되는 </a:t>
            </a:r>
            <a:r>
              <a:rPr lang="en-US" altLang="ko-KR" dirty="0"/>
              <a:t>AEC </a:t>
            </a:r>
            <a:r>
              <a:rPr lang="ko-KR" altLang="en-US" dirty="0"/>
              <a:t>곡선 데이터를 활용하여 복부 </a:t>
            </a:r>
            <a:r>
              <a:rPr lang="ko-KR" altLang="en-US" dirty="0" err="1"/>
              <a:t>근육량</a:t>
            </a:r>
            <a:r>
              <a:rPr lang="ko-KR" altLang="en-US" dirty="0"/>
              <a:t> 지표인 </a:t>
            </a:r>
            <a:r>
              <a:rPr lang="en-US" altLang="ko-KR" dirty="0"/>
              <a:t>TAMA</a:t>
            </a:r>
            <a:r>
              <a:rPr lang="ko-KR" altLang="en-US" dirty="0"/>
              <a:t>를 예측할 수 있는지 분석한 결과를 </a:t>
            </a:r>
            <a:r>
              <a:rPr lang="ko-KR" altLang="en-US" dirty="0" err="1"/>
              <a:t>보고드리겠습니다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이번 분석의 핵심 질문은 하나입니다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"CT </a:t>
            </a:r>
            <a:r>
              <a:rPr lang="ko-KR" altLang="en-US" b="1" dirty="0"/>
              <a:t>기사가 별도로 측정하지 않아도</a:t>
            </a:r>
            <a:r>
              <a:rPr lang="en-US" altLang="ko-KR" b="1" dirty="0"/>
              <a:t>, </a:t>
            </a:r>
            <a:r>
              <a:rPr lang="ko-KR" altLang="en-US" b="1" dirty="0"/>
              <a:t>기계가 자동 기록하는 </a:t>
            </a:r>
            <a:r>
              <a:rPr lang="en-US" altLang="ko-KR" b="1" dirty="0"/>
              <a:t>AEC </a:t>
            </a:r>
            <a:r>
              <a:rPr lang="ko-KR" altLang="en-US" b="1" dirty="0"/>
              <a:t>데이터만으로 근감소증 위험을 선별할 수 있는가</a:t>
            </a:r>
            <a:r>
              <a:rPr lang="en-US" altLang="ko-KR" b="1" dirty="0"/>
              <a:t>?"</a:t>
            </a:r>
            <a:endParaRPr lang="ko-KR" altLang="en-US" dirty="0"/>
          </a:p>
          <a:p>
            <a:r>
              <a:rPr lang="ko-KR" altLang="en-US" dirty="0"/>
              <a:t>데이터는 강남 단일기관 </a:t>
            </a:r>
            <a:r>
              <a:rPr lang="en-US" altLang="ko-KR" dirty="0"/>
              <a:t>CT </a:t>
            </a:r>
            <a:r>
              <a:rPr lang="ko-KR" altLang="en-US" dirty="0"/>
              <a:t>데이터이며</a:t>
            </a:r>
            <a:r>
              <a:rPr lang="en-US" altLang="ko-KR" dirty="0"/>
              <a:t>, </a:t>
            </a:r>
            <a:r>
              <a:rPr lang="ko-KR" altLang="en-US" dirty="0"/>
              <a:t>총 </a:t>
            </a:r>
            <a:r>
              <a:rPr lang="en-US" altLang="ko-KR" dirty="0"/>
              <a:t>1,672</a:t>
            </a:r>
            <a:r>
              <a:rPr lang="ko-KR" altLang="en-US" dirty="0"/>
              <a:t>명을 분석하였습니다</a:t>
            </a:r>
            <a:r>
              <a:rPr lang="en-US" altLang="ko-KR" dirty="0"/>
              <a:t>. </a:t>
            </a:r>
            <a:r>
              <a:rPr lang="ko-KR" altLang="en-US" dirty="0"/>
              <a:t>분석 도구는 </a:t>
            </a:r>
            <a:r>
              <a:rPr lang="en-US" altLang="ko-KR" dirty="0" err="1"/>
              <a:t>statsmodels</a:t>
            </a:r>
            <a:r>
              <a:rPr lang="ko-KR" altLang="en-US" dirty="0"/>
              <a:t>와 </a:t>
            </a:r>
            <a:r>
              <a:rPr lang="en-US" altLang="ko-KR" dirty="0"/>
              <a:t>scikit-learn</a:t>
            </a:r>
            <a:r>
              <a:rPr lang="ko-KR" altLang="en-US" dirty="0"/>
              <a:t>을 사용하였습니다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교수님</a:t>
            </a:r>
            <a:r>
              <a:rPr lang="en-US" altLang="ko-KR" dirty="0"/>
              <a:t>, </a:t>
            </a:r>
            <a:r>
              <a:rPr lang="ko-KR" altLang="en-US" dirty="0"/>
              <a:t>지난 미팅에서 </a:t>
            </a:r>
            <a:r>
              <a:rPr lang="ko-KR" altLang="en-US" dirty="0" err="1"/>
              <a:t>공유드린</a:t>
            </a:r>
            <a:r>
              <a:rPr lang="ko-KR" altLang="en-US" dirty="0"/>
              <a:t> 방향에 대한 진행 결과를 말씀드리겠습니다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크게 두 가지 축으로 분석을 진행했습니다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 번째는 </a:t>
            </a:r>
            <a:r>
              <a:rPr lang="en-US" altLang="ko-KR" b="1" dirty="0"/>
              <a:t>Feature Engineering</a:t>
            </a:r>
            <a:r>
              <a:rPr lang="ko-KR" altLang="en-US" b="1" dirty="0"/>
              <a:t>에 따른 성능 변화 비교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예측 변수를 단계적으로 추가하면서 성능이 어떻게 달라지는지 </a:t>
            </a:r>
            <a:r>
              <a:rPr lang="ko-KR" altLang="en-US" dirty="0" err="1"/>
              <a:t>정량화하였습니다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Feature Engineering</a:t>
            </a:r>
            <a:r>
              <a:rPr lang="ko-KR" altLang="en-US" b="1" dirty="0"/>
              <a:t>이란</a:t>
            </a:r>
            <a:r>
              <a:rPr lang="en-US" altLang="ko-KR" b="1" dirty="0"/>
              <a:t>?</a:t>
            </a:r>
            <a:r>
              <a:rPr lang="ko-KR" altLang="en-US" dirty="0"/>
              <a:t> 원본 데이터에서 모델에 유용한 입력 변수</a:t>
            </a:r>
            <a:r>
              <a:rPr lang="en-US" altLang="ko-KR" dirty="0"/>
              <a:t>(feature)</a:t>
            </a:r>
            <a:r>
              <a:rPr lang="ko-KR" altLang="en-US" dirty="0"/>
              <a:t>를 선택하거나 가공하는 과정입니다</a:t>
            </a:r>
            <a:r>
              <a:rPr lang="en-US" altLang="ko-KR" dirty="0"/>
              <a:t>. </a:t>
            </a:r>
            <a:r>
              <a:rPr lang="ko-KR" altLang="en-US" dirty="0"/>
              <a:t>어떤 변수를 </a:t>
            </a:r>
            <a:r>
              <a:rPr lang="ko-KR" altLang="en-US" dirty="0" err="1"/>
              <a:t>넣느냐에</a:t>
            </a:r>
            <a:r>
              <a:rPr lang="ko-KR" altLang="en-US" dirty="0"/>
              <a:t> 따라 모델 성능이 크게 달라지기 때문에 매우 중요한 단계입니다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예측 변수는 세 단계로 정의하였습니다</a:t>
            </a:r>
            <a:r>
              <a:rPr lang="en-US" altLang="ko-KR" dirty="0"/>
              <a:t>. Case 1</a:t>
            </a:r>
            <a:r>
              <a:rPr lang="ko-KR" altLang="en-US" dirty="0"/>
              <a:t>은 나이</a:t>
            </a:r>
            <a:r>
              <a:rPr lang="en-US" altLang="ko-KR" dirty="0"/>
              <a:t>·</a:t>
            </a:r>
            <a:r>
              <a:rPr lang="ko-KR" altLang="en-US" dirty="0"/>
              <a:t>성별만 사용하는 기저 모델</a:t>
            </a:r>
            <a:r>
              <a:rPr lang="en-US" altLang="ko-KR" dirty="0"/>
              <a:t>, Case 2</a:t>
            </a:r>
            <a:r>
              <a:rPr lang="ko-KR" altLang="en-US" dirty="0"/>
              <a:t>는 </a:t>
            </a:r>
            <a:r>
              <a:rPr lang="en-US" altLang="ko-KR" dirty="0"/>
              <a:t>AEC </a:t>
            </a:r>
            <a:r>
              <a:rPr lang="ko-KR" altLang="en-US" dirty="0"/>
              <a:t>특징 </a:t>
            </a:r>
            <a:r>
              <a:rPr lang="en-US" altLang="ko-KR" dirty="0"/>
              <a:t>4</a:t>
            </a:r>
            <a:r>
              <a:rPr lang="ko-KR" altLang="en-US" dirty="0"/>
              <a:t>개를 추가한 모델</a:t>
            </a:r>
            <a:r>
              <a:rPr lang="en-US" altLang="ko-KR" dirty="0"/>
              <a:t>, Case 3</a:t>
            </a:r>
            <a:r>
              <a:rPr lang="ko-KR" altLang="en-US" dirty="0"/>
              <a:t>는 </a:t>
            </a:r>
            <a:r>
              <a:rPr lang="en-US" altLang="ko-KR" dirty="0"/>
              <a:t>CT </a:t>
            </a:r>
            <a:r>
              <a:rPr lang="ko-KR" altLang="en-US" dirty="0"/>
              <a:t>스캐너 모델명까지 포함한 완전 모델입니다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 번째 축은 </a:t>
            </a:r>
            <a:r>
              <a:rPr lang="ko-KR" altLang="en-US" b="1" dirty="0"/>
              <a:t>회귀 분석</a:t>
            </a:r>
            <a:r>
              <a:rPr lang="ko-KR" altLang="en-US" dirty="0"/>
              <a:t>입니다</a:t>
            </a:r>
            <a:r>
              <a:rPr lang="en-US" altLang="ko-KR" dirty="0"/>
              <a:t>. AEC </a:t>
            </a:r>
            <a:r>
              <a:rPr lang="ko-KR" altLang="en-US" dirty="0"/>
              <a:t>데이터를 활용하여 두 종류의 모델을 구축하였습니다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Linear Regression(</a:t>
            </a:r>
            <a:r>
              <a:rPr lang="ko-KR" altLang="en-US" b="1" dirty="0"/>
              <a:t>선형 회귀</a:t>
            </a:r>
            <a:r>
              <a:rPr lang="en-US" altLang="ko-KR" b="1" dirty="0"/>
              <a:t>):</a:t>
            </a:r>
            <a:r>
              <a:rPr lang="ko-KR" altLang="en-US" dirty="0"/>
              <a:t> </a:t>
            </a:r>
            <a:r>
              <a:rPr lang="en-US" altLang="ko-KR" dirty="0"/>
              <a:t>TAMA </a:t>
            </a:r>
            <a:r>
              <a:rPr lang="ko-KR" altLang="en-US" dirty="0" err="1"/>
              <a:t>연속값을</a:t>
            </a:r>
            <a:r>
              <a:rPr lang="ko-KR" altLang="en-US" dirty="0"/>
              <a:t> 수치로 예측하고 변수 간 경향성을 파악합니다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Logistic Regression(</a:t>
            </a:r>
            <a:r>
              <a:rPr lang="ko-KR" altLang="en-US" b="1" dirty="0"/>
              <a:t>로지스틱 회귀</a:t>
            </a:r>
            <a:r>
              <a:rPr lang="en-US" altLang="ko-KR" b="1" dirty="0"/>
              <a:t>):</a:t>
            </a:r>
            <a:r>
              <a:rPr lang="ko-KR" altLang="en-US" dirty="0"/>
              <a:t> </a:t>
            </a:r>
            <a:r>
              <a:rPr lang="en-US" altLang="ko-KR" dirty="0"/>
              <a:t>TAMA</a:t>
            </a:r>
            <a:r>
              <a:rPr lang="ko-KR" altLang="en-US" dirty="0"/>
              <a:t>가 기준치 이하인 근감소증 위험군을 이진</a:t>
            </a:r>
            <a:r>
              <a:rPr lang="en-US" altLang="ko-KR" dirty="0"/>
              <a:t>(0/1)</a:t>
            </a:r>
            <a:r>
              <a:rPr lang="ko-KR" altLang="en-US" dirty="0"/>
              <a:t>으로 분류하고 확률을 추정합니다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ko-KR" altLang="en-US" b="1" dirty="0"/>
              <a:t>선형 회귀 </a:t>
            </a:r>
            <a:r>
              <a:rPr lang="en-US" altLang="ko-KR" b="1" dirty="0"/>
              <a:t>vs </a:t>
            </a:r>
            <a:r>
              <a:rPr lang="ko-KR" altLang="en-US" b="1" dirty="0"/>
              <a:t>로지스틱 회귀 차이</a:t>
            </a:r>
            <a:r>
              <a:rPr lang="en-US" altLang="ko-KR" b="1" dirty="0"/>
              <a:t>:</a:t>
            </a:r>
            <a:r>
              <a:rPr lang="ko-KR" altLang="en-US" dirty="0"/>
              <a:t> 선형 회귀는 </a:t>
            </a:r>
            <a:r>
              <a:rPr lang="en-US" altLang="ko-KR" dirty="0"/>
              <a:t>"TAMA</a:t>
            </a:r>
            <a:r>
              <a:rPr lang="ko-KR" altLang="en-US" dirty="0"/>
              <a:t>가 몇 </a:t>
            </a:r>
            <a:r>
              <a:rPr lang="en-US" altLang="ko-KR" dirty="0"/>
              <a:t>cm²</a:t>
            </a:r>
            <a:r>
              <a:rPr lang="ko-KR" altLang="en-US" dirty="0"/>
              <a:t>인가</a:t>
            </a:r>
            <a:r>
              <a:rPr lang="en-US" altLang="ko-KR" dirty="0"/>
              <a:t>"</a:t>
            </a:r>
            <a:r>
              <a:rPr lang="ko-KR" altLang="en-US" dirty="0"/>
              <a:t>처럼 숫자를 예측하고</a:t>
            </a:r>
            <a:r>
              <a:rPr lang="en-US" altLang="ko-KR" dirty="0"/>
              <a:t>, </a:t>
            </a:r>
            <a:r>
              <a:rPr lang="ko-KR" altLang="en-US" dirty="0"/>
              <a:t>로지스틱 회귀는 </a:t>
            </a:r>
            <a:r>
              <a:rPr lang="en-US" altLang="ko-KR" dirty="0"/>
              <a:t>"</a:t>
            </a:r>
            <a:r>
              <a:rPr lang="ko-KR" altLang="en-US" dirty="0" err="1"/>
              <a:t>근감소증일</a:t>
            </a:r>
            <a:r>
              <a:rPr lang="ko-KR" altLang="en-US" dirty="0"/>
              <a:t> 확률이 얼마인가</a:t>
            </a:r>
            <a:r>
              <a:rPr lang="en-US" altLang="ko-KR" dirty="0"/>
              <a:t>"</a:t>
            </a:r>
            <a:r>
              <a:rPr lang="ko-KR" altLang="en-US" dirty="0"/>
              <a:t>처럼 확률</a:t>
            </a:r>
            <a:r>
              <a:rPr lang="en-US" altLang="ko-KR" dirty="0"/>
              <a:t>(0~1)</a:t>
            </a:r>
            <a:r>
              <a:rPr lang="ko-KR" altLang="en-US" dirty="0"/>
              <a:t>을 예측합니다</a:t>
            </a:r>
            <a:r>
              <a:rPr lang="en-US" altLang="ko-KR" dirty="0"/>
              <a:t>. </a:t>
            </a:r>
            <a:r>
              <a:rPr lang="ko-KR" altLang="en-US" dirty="0"/>
              <a:t>종속변수가 </a:t>
            </a:r>
            <a:r>
              <a:rPr lang="ko-KR" altLang="en-US" dirty="0" err="1"/>
              <a:t>연속형이면</a:t>
            </a:r>
            <a:r>
              <a:rPr lang="ko-KR" altLang="en-US" dirty="0"/>
              <a:t> 선형</a:t>
            </a:r>
            <a:r>
              <a:rPr lang="en-US" altLang="ko-KR" dirty="0"/>
              <a:t>, </a:t>
            </a:r>
            <a:r>
              <a:rPr lang="ko-KR" altLang="en-US" dirty="0"/>
              <a:t>이진 분류이면 로지스틱을 사용합니다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435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연구 전체 흐름을 한 장으로 정리한 슬라이드입니다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이번 파일럿 분석은 세 단계로 구성됩니다</a:t>
            </a:r>
            <a:r>
              <a:rPr lang="en-US" altLang="ko-KR" dirty="0"/>
              <a:t>. </a:t>
            </a:r>
            <a:r>
              <a:rPr lang="ko-KR" altLang="en-US" dirty="0"/>
              <a:t>첫째</a:t>
            </a:r>
            <a:r>
              <a:rPr lang="en-US" altLang="ko-KR" dirty="0"/>
              <a:t>, AEC </a:t>
            </a:r>
            <a:r>
              <a:rPr lang="ko-KR" altLang="en-US" dirty="0"/>
              <a:t>곡선에서 약 </a:t>
            </a:r>
            <a:r>
              <a:rPr lang="en-US" altLang="ko-KR" dirty="0"/>
              <a:t>65</a:t>
            </a:r>
            <a:r>
              <a:rPr lang="ko-KR" altLang="en-US" dirty="0"/>
              <a:t>개의 통계 특징을 추출하고 상관분석</a:t>
            </a:r>
            <a:r>
              <a:rPr lang="en-US" altLang="ko-KR" dirty="0"/>
              <a:t>·VIF </a:t>
            </a:r>
            <a:r>
              <a:rPr lang="ko-KR" altLang="en-US" dirty="0"/>
              <a:t>검사를 통해 최적 </a:t>
            </a:r>
            <a:r>
              <a:rPr lang="en-US" altLang="ko-KR" dirty="0"/>
              <a:t>4</a:t>
            </a:r>
            <a:r>
              <a:rPr lang="ko-KR" altLang="en-US" dirty="0"/>
              <a:t>개 변수를 선택하였습니다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선형 및 로지스틱 회귀를 </a:t>
            </a:r>
            <a:r>
              <a:rPr lang="ko-KR" altLang="en-US" dirty="0" err="1"/>
              <a:t>단변량</a:t>
            </a:r>
            <a:r>
              <a:rPr lang="en-US" altLang="ko-KR" dirty="0"/>
              <a:t>·</a:t>
            </a:r>
            <a:r>
              <a:rPr lang="ko-KR" altLang="en-US" dirty="0" err="1"/>
              <a:t>다변량으로</a:t>
            </a:r>
            <a:r>
              <a:rPr lang="ko-KR" altLang="en-US" dirty="0"/>
              <a:t> 수행하였습니다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셋째</a:t>
            </a:r>
            <a:r>
              <a:rPr lang="en-US" altLang="ko-KR" dirty="0"/>
              <a:t>, Case 1·2·3 </a:t>
            </a:r>
            <a:r>
              <a:rPr lang="ko-KR" altLang="en-US" dirty="0"/>
              <a:t>비교를 통해 </a:t>
            </a:r>
            <a:r>
              <a:rPr lang="en-US" altLang="ko-KR" b="1" dirty="0"/>
              <a:t>AEC feature</a:t>
            </a:r>
            <a:r>
              <a:rPr lang="ko-KR" altLang="en-US" b="1" dirty="0"/>
              <a:t>가 성별</a:t>
            </a:r>
            <a:r>
              <a:rPr lang="en-US" altLang="ko-KR" b="1" dirty="0"/>
              <a:t>·</a:t>
            </a:r>
            <a:r>
              <a:rPr lang="ko-KR" altLang="en-US" b="1" dirty="0"/>
              <a:t>나이와 독립적으로 </a:t>
            </a:r>
            <a:r>
              <a:rPr lang="en-US" altLang="ko-KR" b="1" dirty="0"/>
              <a:t>TAMA </a:t>
            </a:r>
            <a:r>
              <a:rPr lang="ko-KR" altLang="en-US" b="1" dirty="0"/>
              <a:t>예측에 기여한다</a:t>
            </a:r>
            <a:r>
              <a:rPr lang="ko-KR" altLang="en-US" dirty="0"/>
              <a:t>는 결론을 도출하였습니다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 err="1"/>
              <a:t>단변량</a:t>
            </a:r>
            <a:r>
              <a:rPr lang="en-US" altLang="ko-KR" b="1" dirty="0"/>
              <a:t>(Univariate) vs </a:t>
            </a:r>
            <a:r>
              <a:rPr lang="ko-KR" altLang="en-US" b="1" dirty="0" err="1"/>
              <a:t>다변량</a:t>
            </a:r>
            <a:r>
              <a:rPr lang="en-US" altLang="ko-KR" b="1" dirty="0"/>
              <a:t>(Multivariate) </a:t>
            </a:r>
            <a:r>
              <a:rPr lang="ko-KR" altLang="en-US" b="1" dirty="0"/>
              <a:t>분석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단변량은</a:t>
            </a:r>
            <a:r>
              <a:rPr lang="ko-KR" altLang="en-US" dirty="0"/>
              <a:t> 변수 하나씩 단독으로 종속변수와의 관계를 보는 것이고</a:t>
            </a:r>
            <a:r>
              <a:rPr lang="en-US" altLang="ko-KR" dirty="0"/>
              <a:t>, </a:t>
            </a:r>
            <a:r>
              <a:rPr lang="ko-KR" altLang="en-US" dirty="0" err="1"/>
              <a:t>다변량은</a:t>
            </a:r>
            <a:r>
              <a:rPr lang="ko-KR" altLang="en-US" dirty="0"/>
              <a:t> 여러 변수를 동시에 모델에 투입하여 각 변수의 독립적 효과를 추정하는 것입니다</a:t>
            </a:r>
            <a:r>
              <a:rPr lang="en-US" altLang="ko-KR" dirty="0"/>
              <a:t>. </a:t>
            </a:r>
            <a:r>
              <a:rPr lang="ko-KR" altLang="en-US" dirty="0" err="1"/>
              <a:t>다변량</a:t>
            </a:r>
            <a:r>
              <a:rPr lang="ko-KR" altLang="en-US" dirty="0"/>
              <a:t> 분석에서 </a:t>
            </a:r>
            <a:r>
              <a:rPr lang="en-US" altLang="ko-KR" dirty="0"/>
              <a:t>"A </a:t>
            </a:r>
            <a:r>
              <a:rPr lang="ko-KR" altLang="en-US" dirty="0"/>
              <a:t>변수의 효과</a:t>
            </a:r>
            <a:r>
              <a:rPr lang="en-US" altLang="ko-KR" dirty="0"/>
              <a:t>"</a:t>
            </a:r>
            <a:r>
              <a:rPr lang="ko-KR" altLang="en-US" dirty="0"/>
              <a:t>는 다른 변수들을 일정하게 유지했을 때의 순수한 </a:t>
            </a:r>
            <a:r>
              <a:rPr lang="en-US" altLang="ko-KR" dirty="0"/>
              <a:t>A</a:t>
            </a:r>
            <a:r>
              <a:rPr lang="ko-KR" altLang="en-US" dirty="0"/>
              <a:t>의 기여를 의미합니다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7061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연구의 최종 목표를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장기적 목표는 </a:t>
            </a:r>
            <a:r>
              <a:rPr lang="en-US" altLang="ko-KR" b="1" dirty="0"/>
              <a:t>Opportunistic CT Biomarker </a:t>
            </a:r>
            <a:r>
              <a:rPr lang="ko-KR" altLang="en-US" b="1" dirty="0"/>
              <a:t>기반으로 </a:t>
            </a:r>
            <a:r>
              <a:rPr lang="en-US" altLang="ko-KR" b="1" dirty="0"/>
              <a:t>5</a:t>
            </a:r>
            <a:r>
              <a:rPr lang="ko-KR" altLang="en-US" b="1" dirty="0"/>
              <a:t>년 이내 척추 압박 골절 발생을 예측</a:t>
            </a:r>
            <a:r>
              <a:rPr lang="ko-KR" altLang="en-US" dirty="0"/>
              <a:t>하는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Opportunistic CT Biomarker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진단 목적으로 이미 촬영된 </a:t>
            </a:r>
            <a:r>
              <a:rPr lang="en-US" altLang="ko-KR" dirty="0"/>
              <a:t>CT </a:t>
            </a:r>
            <a:r>
              <a:rPr lang="ko-KR" altLang="en-US" dirty="0"/>
              <a:t>영상에서 추가 비용이나 추가 촬영 없이 추출할 수 있는 임상적 지표를 말합니다</a:t>
            </a:r>
            <a:r>
              <a:rPr lang="en-US" altLang="ko-KR" dirty="0"/>
              <a:t>. AEC </a:t>
            </a:r>
            <a:r>
              <a:rPr lang="ko-KR" altLang="en-US" dirty="0"/>
              <a:t>데이터가 바로 이런 </a:t>
            </a:r>
            <a:r>
              <a:rPr lang="ko-KR" altLang="en-US" dirty="0" err="1"/>
              <a:t>기회적</a:t>
            </a:r>
            <a:r>
              <a:rPr lang="ko-KR" altLang="en-US" dirty="0"/>
              <a:t> </a:t>
            </a:r>
            <a:r>
              <a:rPr lang="ko-KR" altLang="en-US" dirty="0" err="1"/>
              <a:t>바이오마커의</a:t>
            </a:r>
            <a:r>
              <a:rPr lang="ko-KR" altLang="en-US" dirty="0"/>
              <a:t> 대표 예시입니다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모델은 단계적으로 구성합니다</a:t>
            </a:r>
            <a:r>
              <a:rPr lang="en-US" altLang="ko-KR" dirty="0"/>
              <a:t>. Model A</a:t>
            </a:r>
            <a:r>
              <a:rPr lang="ko-KR" altLang="en-US" dirty="0"/>
              <a:t>는 나이</a:t>
            </a:r>
            <a:r>
              <a:rPr lang="en-US" altLang="ko-KR" dirty="0"/>
              <a:t>·</a:t>
            </a:r>
            <a:r>
              <a:rPr lang="ko-KR" altLang="en-US" dirty="0"/>
              <a:t>성별만</a:t>
            </a:r>
            <a:r>
              <a:rPr lang="en-US" altLang="ko-KR" dirty="0"/>
              <a:t>, Model B</a:t>
            </a:r>
            <a:r>
              <a:rPr lang="ko-KR" altLang="en-US" dirty="0"/>
              <a:t>는 </a:t>
            </a:r>
            <a:r>
              <a:rPr lang="ko-KR" altLang="en-US" dirty="0" err="1"/>
              <a:t>골밀도</a:t>
            </a:r>
            <a:r>
              <a:rPr lang="ko-KR" altLang="en-US" dirty="0"/>
              <a:t> 추가</a:t>
            </a:r>
            <a:r>
              <a:rPr lang="en-US" altLang="ko-KR" dirty="0"/>
              <a:t>, Model C</a:t>
            </a:r>
            <a:r>
              <a:rPr lang="ko-KR" altLang="en-US" dirty="0"/>
              <a:t>는 </a:t>
            </a:r>
            <a:r>
              <a:rPr lang="ko-KR" altLang="en-US" dirty="0" err="1"/>
              <a:t>근육량</a:t>
            </a:r>
            <a:r>
              <a:rPr lang="ko-KR" altLang="en-US" dirty="0"/>
              <a:t> 추가</a:t>
            </a:r>
            <a:r>
              <a:rPr lang="en-US" altLang="ko-KR" dirty="0"/>
              <a:t>, Model D</a:t>
            </a:r>
            <a:r>
              <a:rPr lang="ko-KR" altLang="en-US" dirty="0"/>
              <a:t>는 </a:t>
            </a:r>
            <a:r>
              <a:rPr lang="en-US" altLang="ko-KR" dirty="0"/>
              <a:t>AEC</a:t>
            </a:r>
            <a:r>
              <a:rPr lang="ko-KR" altLang="en-US" dirty="0"/>
              <a:t>를 최종 투입합니다</a:t>
            </a:r>
            <a:r>
              <a:rPr lang="en-US" altLang="ko-KR" dirty="0"/>
              <a:t>. </a:t>
            </a:r>
            <a:r>
              <a:rPr lang="ko-KR" altLang="en-US" dirty="0"/>
              <a:t>이 설계의 핵심은 각 단계에서 </a:t>
            </a:r>
            <a:r>
              <a:rPr lang="en-US" altLang="ko-KR" dirty="0"/>
              <a:t>AEC</a:t>
            </a:r>
            <a:r>
              <a:rPr lang="ko-KR" altLang="en-US" dirty="0"/>
              <a:t>가 </a:t>
            </a:r>
            <a:r>
              <a:rPr lang="ko-KR" altLang="en-US" b="1" dirty="0"/>
              <a:t>추가적인</a:t>
            </a:r>
            <a:r>
              <a:rPr lang="en-US" altLang="ko-KR" b="1" dirty="0"/>
              <a:t>(incremental) </a:t>
            </a:r>
            <a:r>
              <a:rPr lang="ko-KR" altLang="en-US" b="1" dirty="0"/>
              <a:t>예측 기여</a:t>
            </a:r>
            <a:r>
              <a:rPr lang="ko-KR" altLang="en-US" dirty="0"/>
              <a:t>를 하는지 검증하는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Incremental Value(</a:t>
            </a:r>
            <a:r>
              <a:rPr lang="ko-KR" altLang="en-US" b="1" dirty="0"/>
              <a:t>점진적 기여</a:t>
            </a:r>
            <a:r>
              <a:rPr lang="en-US" altLang="ko-KR" b="1" dirty="0"/>
              <a:t>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이미 알고 있는 정보</a:t>
            </a:r>
            <a:r>
              <a:rPr lang="en-US" altLang="ko-KR" dirty="0"/>
              <a:t>(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 err="1"/>
              <a:t>골밀도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가 있을 때</a:t>
            </a:r>
            <a:r>
              <a:rPr lang="en-US" altLang="ko-KR" dirty="0"/>
              <a:t>, </a:t>
            </a:r>
            <a:r>
              <a:rPr lang="ko-KR" altLang="en-US" dirty="0"/>
              <a:t>새로운 변수</a:t>
            </a:r>
            <a:r>
              <a:rPr lang="en-US" altLang="ko-KR" dirty="0"/>
              <a:t>(AEC)</a:t>
            </a:r>
            <a:r>
              <a:rPr lang="ko-KR" altLang="en-US" dirty="0"/>
              <a:t>를 추가함으로써 예측 성능이 얼마나 더 좋아지는지를 의미합니다</a:t>
            </a:r>
            <a:r>
              <a:rPr lang="en-US" altLang="ko-KR" dirty="0"/>
              <a:t>. </a:t>
            </a:r>
            <a:r>
              <a:rPr lang="ko-KR" altLang="en-US" dirty="0"/>
              <a:t>단순히 </a:t>
            </a:r>
            <a:r>
              <a:rPr lang="en-US" altLang="ko-KR" dirty="0"/>
              <a:t>"AEC</a:t>
            </a:r>
            <a:r>
              <a:rPr lang="ko-KR" altLang="en-US" dirty="0"/>
              <a:t>가 </a:t>
            </a:r>
            <a:r>
              <a:rPr lang="en-US" altLang="ko-KR" dirty="0"/>
              <a:t>TAMA</a:t>
            </a:r>
            <a:r>
              <a:rPr lang="ko-KR" altLang="en-US" dirty="0"/>
              <a:t>와 관련 있다</a:t>
            </a:r>
            <a:r>
              <a:rPr lang="en-US" altLang="ko-KR" dirty="0"/>
              <a:t>"</a:t>
            </a:r>
            <a:r>
              <a:rPr lang="ko-KR" altLang="en-US" dirty="0"/>
              <a:t>가 아니라 </a:t>
            </a:r>
            <a:r>
              <a:rPr lang="en-US" altLang="ko-KR" dirty="0"/>
              <a:t>"</a:t>
            </a:r>
            <a:r>
              <a:rPr lang="ko-KR" altLang="en-US" dirty="0"/>
              <a:t>기존 정보로도 알 수 없는 추가 정보를 </a:t>
            </a:r>
            <a:r>
              <a:rPr lang="en-US" altLang="ko-KR" dirty="0"/>
              <a:t>AEC</a:t>
            </a:r>
            <a:r>
              <a:rPr lang="ko-KR" altLang="en-US" dirty="0"/>
              <a:t>가 제공하는가</a:t>
            </a:r>
            <a:r>
              <a:rPr lang="en-US" altLang="ko-KR" dirty="0"/>
              <a:t>"</a:t>
            </a:r>
            <a:r>
              <a:rPr lang="ko-KR" altLang="en-US" dirty="0"/>
              <a:t>를 묻는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오늘 </a:t>
            </a:r>
            <a:r>
              <a:rPr lang="ko-KR" altLang="en-US" dirty="0" err="1"/>
              <a:t>발표드리는</a:t>
            </a:r>
            <a:r>
              <a:rPr lang="ko-KR" altLang="en-US" dirty="0"/>
              <a:t> 파일럿 분석이 바로 이 검증의 사전 근거가 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331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오늘 발표의 중심인 파일럿 연구 목적을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핵심 질문은 세 가지입니다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첫째</a:t>
            </a:r>
            <a:r>
              <a:rPr lang="en-US" altLang="ko-KR" b="1" dirty="0"/>
              <a:t>, AEC</a:t>
            </a:r>
            <a:r>
              <a:rPr lang="ko-KR" altLang="en-US" b="1" dirty="0"/>
              <a:t>는 나이</a:t>
            </a:r>
            <a:r>
              <a:rPr lang="en-US" altLang="ko-KR" b="1" dirty="0"/>
              <a:t>·</a:t>
            </a:r>
            <a:r>
              <a:rPr lang="ko-KR" altLang="en-US" b="1" dirty="0"/>
              <a:t>성별 이상의 정보를 담고 있는가</a:t>
            </a:r>
            <a:r>
              <a:rPr lang="en-US" altLang="ko-KR" b="1" dirty="0"/>
              <a:t>?</a:t>
            </a:r>
            <a:r>
              <a:rPr lang="ko-KR" altLang="en-US" dirty="0"/>
              <a:t> 나이와 성별을 통제한 상태에서도 </a:t>
            </a:r>
            <a:r>
              <a:rPr lang="en-US" altLang="ko-KR" dirty="0"/>
              <a:t>AEC</a:t>
            </a:r>
            <a:r>
              <a:rPr lang="ko-KR" altLang="en-US" dirty="0"/>
              <a:t>가 </a:t>
            </a:r>
            <a:r>
              <a:rPr lang="en-US" altLang="ko-KR" dirty="0"/>
              <a:t>TAMA</a:t>
            </a:r>
            <a:r>
              <a:rPr lang="ko-KR" altLang="en-US" dirty="0"/>
              <a:t>를 추가로 설명하는지 확인합니다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둘째</a:t>
            </a:r>
            <a:r>
              <a:rPr lang="en-US" altLang="ko-KR" b="1" dirty="0"/>
              <a:t>, AEC</a:t>
            </a:r>
            <a:r>
              <a:rPr lang="ko-KR" altLang="en-US" b="1" dirty="0"/>
              <a:t>는 </a:t>
            </a:r>
            <a:r>
              <a:rPr lang="ko-KR" altLang="en-US" b="1" dirty="0" err="1"/>
              <a:t>근육량</a:t>
            </a:r>
            <a:r>
              <a:rPr lang="en-US" altLang="ko-KR" b="1" dirty="0"/>
              <a:t>·</a:t>
            </a:r>
            <a:r>
              <a:rPr lang="ko-KR" altLang="en-US" b="1" dirty="0"/>
              <a:t>골밀도와 독립적인 연관성을 가지는가</a:t>
            </a:r>
            <a:r>
              <a:rPr lang="en-US" altLang="ko-KR" b="1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AEC</a:t>
            </a:r>
            <a:r>
              <a:rPr lang="ko-KR" altLang="en-US" dirty="0"/>
              <a:t>가 단순히 </a:t>
            </a:r>
            <a:r>
              <a:rPr lang="ko-KR" altLang="en-US" dirty="0" err="1"/>
              <a:t>근육량</a:t>
            </a:r>
            <a:r>
              <a:rPr lang="en-US" altLang="ko-KR" dirty="0"/>
              <a:t>·</a:t>
            </a:r>
            <a:r>
              <a:rPr lang="ko-KR" altLang="en-US" dirty="0"/>
              <a:t>골밀도의 대리변수가 아닌</a:t>
            </a:r>
            <a:r>
              <a:rPr lang="en-US" altLang="ko-KR" dirty="0"/>
              <a:t>, </a:t>
            </a:r>
            <a:r>
              <a:rPr lang="ko-KR" altLang="en-US" dirty="0"/>
              <a:t>독립적인 정보원인지를 검증합니다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셋째</a:t>
            </a:r>
            <a:r>
              <a:rPr lang="en-US" altLang="ko-KR" b="1" dirty="0"/>
              <a:t>, </a:t>
            </a:r>
            <a:r>
              <a:rPr lang="ko-KR" altLang="en-US" b="1" dirty="0"/>
              <a:t>스캐너 종류와 기관을 보정한 후에도 이 연관성이 유지되는가</a:t>
            </a:r>
            <a:r>
              <a:rPr lang="en-US" altLang="ko-KR" b="1" dirty="0"/>
              <a:t>?</a:t>
            </a:r>
            <a:r>
              <a:rPr lang="ko-KR" altLang="en-US" dirty="0"/>
              <a:t> 같은 환자라도 </a:t>
            </a:r>
            <a:r>
              <a:rPr lang="en-US" altLang="ko-KR" dirty="0"/>
              <a:t>CT </a:t>
            </a:r>
            <a:r>
              <a:rPr lang="ko-KR" altLang="en-US" dirty="0"/>
              <a:t>스캐너 제조사나 기관에 따라 </a:t>
            </a:r>
            <a:r>
              <a:rPr lang="en-US" altLang="ko-KR" dirty="0"/>
              <a:t>AEC </a:t>
            </a:r>
            <a:r>
              <a:rPr lang="ko-KR" altLang="en-US" dirty="0"/>
              <a:t>값의 절대 수준이 다를 수 있습니다</a:t>
            </a:r>
            <a:r>
              <a:rPr lang="en-US" altLang="ko-KR" dirty="0"/>
              <a:t>. </a:t>
            </a:r>
            <a:r>
              <a:rPr lang="ko-KR" altLang="en-US" dirty="0"/>
              <a:t>이 기기</a:t>
            </a:r>
            <a:r>
              <a:rPr lang="en-US" altLang="ko-KR" dirty="0"/>
              <a:t>·</a:t>
            </a:r>
            <a:r>
              <a:rPr lang="ko-KR" altLang="en-US" dirty="0"/>
              <a:t>기관 효과를 통제하고 나서도 </a:t>
            </a:r>
            <a:r>
              <a:rPr lang="en-US" altLang="ko-KR" dirty="0"/>
              <a:t>AEC-TAMA </a:t>
            </a:r>
            <a:r>
              <a:rPr lang="ko-KR" altLang="en-US" dirty="0"/>
              <a:t>관계가 유지되는지 확인합니다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세 질문에 모두 긍정적인 답이 나온다면</a:t>
            </a:r>
            <a:r>
              <a:rPr lang="en-US" altLang="ko-KR" dirty="0"/>
              <a:t>, AEC</a:t>
            </a:r>
            <a:r>
              <a:rPr lang="ko-KR" altLang="en-US" dirty="0"/>
              <a:t>를 본 연구에 핵심 예측 변수로 포함하는 것이 타당합니다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452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파일럿 연구의 분석 전략을 구체적으로 말씀드리겠습니다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1</a:t>
            </a:r>
            <a:r>
              <a:rPr lang="ko-KR" altLang="en-US" b="1" dirty="0"/>
              <a:t>단계 </a:t>
            </a:r>
            <a:r>
              <a:rPr lang="en-US" altLang="ko-KR" b="1" dirty="0"/>
              <a:t>— </a:t>
            </a:r>
            <a:r>
              <a:rPr lang="ko-KR" altLang="en-US" b="1" dirty="0"/>
              <a:t>분포 분석 </a:t>
            </a:r>
            <a:r>
              <a:rPr lang="en-US" altLang="ko-KR" b="1" dirty="0"/>
              <a:t>(</a:t>
            </a:r>
            <a:r>
              <a:rPr lang="ko-KR" altLang="en-US" b="1" dirty="0"/>
              <a:t>완료</a:t>
            </a:r>
            <a:r>
              <a:rPr lang="en-US" altLang="ko-KR" b="1" dirty="0"/>
              <a:t>)</a:t>
            </a:r>
            <a:r>
              <a:rPr lang="ko-KR" altLang="en-US" dirty="0"/>
              <a:t> 기관별</a:t>
            </a:r>
            <a:r>
              <a:rPr lang="en-US" altLang="ko-KR" dirty="0"/>
              <a:t>·</a:t>
            </a:r>
            <a:r>
              <a:rPr lang="ko-KR" altLang="en-US" dirty="0"/>
              <a:t>성별</a:t>
            </a:r>
            <a:r>
              <a:rPr lang="en-US" altLang="ko-KR" dirty="0"/>
              <a:t>·</a:t>
            </a:r>
            <a:r>
              <a:rPr lang="ko-KR" altLang="en-US" dirty="0"/>
              <a:t>연령대별로 </a:t>
            </a:r>
            <a:r>
              <a:rPr lang="en-US" altLang="ko-KR" dirty="0"/>
              <a:t>AEC </a:t>
            </a:r>
            <a:r>
              <a:rPr lang="ko-KR" altLang="en-US" dirty="0"/>
              <a:t>분포 특성을 파악하였습니다</a:t>
            </a:r>
            <a:r>
              <a:rPr lang="en-US" altLang="ko-KR" dirty="0"/>
              <a:t>. </a:t>
            </a:r>
            <a:r>
              <a:rPr lang="ko-KR" altLang="en-US" dirty="0"/>
              <a:t>이 단계는 이미 완료되었습니다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2</a:t>
            </a:r>
            <a:r>
              <a:rPr lang="ko-KR" altLang="en-US" b="1" dirty="0"/>
              <a:t>단계 </a:t>
            </a:r>
            <a:r>
              <a:rPr lang="en-US" altLang="ko-KR" b="1" dirty="0"/>
              <a:t>— </a:t>
            </a:r>
            <a:r>
              <a:rPr lang="ko-KR" altLang="en-US" b="1" dirty="0"/>
              <a:t>회귀 분석 </a:t>
            </a:r>
            <a:r>
              <a:rPr lang="en-US" altLang="ko-KR" b="1" dirty="0"/>
              <a:t>(</a:t>
            </a:r>
            <a:r>
              <a:rPr lang="ko-KR" altLang="en-US" b="1" dirty="0"/>
              <a:t>오늘 보고 내용</a:t>
            </a:r>
            <a:r>
              <a:rPr lang="en-US" altLang="ko-KR" b="1" dirty="0"/>
              <a:t>)</a:t>
            </a:r>
            <a:r>
              <a:rPr lang="ko-KR" altLang="en-US" dirty="0"/>
              <a:t> </a:t>
            </a:r>
            <a:r>
              <a:rPr lang="ko-KR" altLang="en-US" dirty="0" err="1"/>
              <a:t>근육량</a:t>
            </a:r>
            <a:r>
              <a:rPr lang="en-US" altLang="ko-KR" dirty="0"/>
              <a:t>(TAMA), </a:t>
            </a:r>
            <a:r>
              <a:rPr lang="ko-KR" altLang="en-US" dirty="0"/>
              <a:t>감쇠도</a:t>
            </a:r>
            <a:r>
              <a:rPr lang="en-US" altLang="ko-KR" dirty="0"/>
              <a:t>(attenuation), </a:t>
            </a:r>
            <a:r>
              <a:rPr lang="ko-KR" altLang="en-US" dirty="0"/>
              <a:t>골밀도를 각각 종속변수로 하여 </a:t>
            </a:r>
            <a:r>
              <a:rPr lang="en-US" altLang="ko-KR" dirty="0"/>
              <a:t>AEC + </a:t>
            </a:r>
            <a:r>
              <a:rPr lang="ko-KR" altLang="en-US" dirty="0"/>
              <a:t>나이 </a:t>
            </a:r>
            <a:r>
              <a:rPr lang="en-US" altLang="ko-KR" dirty="0"/>
              <a:t>+ </a:t>
            </a:r>
            <a:r>
              <a:rPr lang="ko-KR" altLang="en-US" dirty="0"/>
              <a:t>성별로 회귀 분석을 수행합니다</a:t>
            </a:r>
            <a:r>
              <a:rPr lang="en-US" altLang="ko-KR" dirty="0"/>
              <a:t>. </a:t>
            </a:r>
            <a:r>
              <a:rPr lang="ko-KR" altLang="en-US" dirty="0"/>
              <a:t>오늘 </a:t>
            </a:r>
            <a:r>
              <a:rPr lang="ko-KR" altLang="en-US" dirty="0" err="1"/>
              <a:t>보고드리는</a:t>
            </a:r>
            <a:r>
              <a:rPr lang="ko-KR" altLang="en-US" dirty="0"/>
              <a:t> 분석이 이 단계에 해당합니다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3</a:t>
            </a:r>
            <a:r>
              <a:rPr lang="ko-KR" altLang="en-US" b="1" dirty="0"/>
              <a:t>단계 </a:t>
            </a:r>
            <a:r>
              <a:rPr lang="en-US" altLang="ko-KR" b="1" dirty="0"/>
              <a:t>— </a:t>
            </a:r>
            <a:r>
              <a:rPr lang="ko-KR" altLang="en-US" b="1" dirty="0"/>
              <a:t>고급 분석 </a:t>
            </a:r>
            <a:r>
              <a:rPr lang="en-US" altLang="ko-KR" b="1" dirty="0"/>
              <a:t>(</a:t>
            </a:r>
            <a:r>
              <a:rPr lang="ko-KR" altLang="en-US" b="1" dirty="0"/>
              <a:t>예정</a:t>
            </a:r>
            <a:r>
              <a:rPr lang="en-US" altLang="ko-KR" b="1" dirty="0"/>
              <a:t>)</a:t>
            </a:r>
            <a:endParaRPr lang="ko-KR" altLang="en-US" dirty="0"/>
          </a:p>
          <a:p>
            <a:r>
              <a:rPr lang="en-US" altLang="ko-KR" b="1" dirty="0"/>
              <a:t>Spline </a:t>
            </a:r>
            <a:r>
              <a:rPr lang="ko-KR" altLang="en-US" b="1" dirty="0"/>
              <a:t>분석이란</a:t>
            </a:r>
            <a:r>
              <a:rPr lang="en-US" altLang="ko-KR" b="1" dirty="0"/>
              <a:t>?</a:t>
            </a:r>
            <a:r>
              <a:rPr lang="ko-KR" altLang="en-US" dirty="0"/>
              <a:t> 두 변수 간 관계가 직선이 아닌 곡선일 수 있습니다</a:t>
            </a:r>
            <a:r>
              <a:rPr lang="en-US" altLang="ko-KR" dirty="0"/>
              <a:t>. </a:t>
            </a:r>
            <a:r>
              <a:rPr lang="ko-KR" altLang="en-US" dirty="0"/>
              <a:t>예를 들어 나이와 </a:t>
            </a:r>
            <a:r>
              <a:rPr lang="en-US" altLang="ko-KR" dirty="0"/>
              <a:t>TAMA </a:t>
            </a:r>
            <a:r>
              <a:rPr lang="ko-KR" altLang="en-US" dirty="0"/>
              <a:t>관계가 젊을 때는 완만하다가 고령에서 급격히 감소하는 형태일 수 있습니다</a:t>
            </a:r>
            <a:r>
              <a:rPr lang="en-US" altLang="ko-KR" dirty="0"/>
              <a:t>. Spline </a:t>
            </a:r>
            <a:r>
              <a:rPr lang="ko-KR" altLang="en-US" dirty="0"/>
              <a:t>분석은 이런 비선형 관계를 구간별 함수로 유연하게 포착합니다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Center-stratified </a:t>
            </a:r>
            <a:r>
              <a:rPr lang="ko-KR" altLang="en-US" b="1" dirty="0"/>
              <a:t>분석이란</a:t>
            </a:r>
            <a:r>
              <a:rPr lang="en-US" altLang="ko-KR" b="1" dirty="0"/>
              <a:t>?</a:t>
            </a:r>
            <a:r>
              <a:rPr lang="ko-KR" altLang="en-US" dirty="0"/>
              <a:t> 기관</a:t>
            </a:r>
            <a:r>
              <a:rPr lang="en-US" altLang="ko-KR" dirty="0"/>
              <a:t>(</a:t>
            </a:r>
            <a:r>
              <a:rPr lang="ko-KR" altLang="en-US" dirty="0"/>
              <a:t>강남</a:t>
            </a:r>
            <a:r>
              <a:rPr lang="en-US" altLang="ko-KR" dirty="0"/>
              <a:t>/</a:t>
            </a:r>
            <a:r>
              <a:rPr lang="ko-KR" altLang="en-US" dirty="0"/>
              <a:t>신촌</a:t>
            </a:r>
            <a:r>
              <a:rPr lang="en-US" altLang="ko-KR" dirty="0"/>
              <a:t>)</a:t>
            </a:r>
            <a:r>
              <a:rPr lang="ko-KR" altLang="en-US" dirty="0"/>
              <a:t>별로 분리하여 분석한 뒤</a:t>
            </a:r>
            <a:r>
              <a:rPr lang="en-US" altLang="ko-KR" dirty="0"/>
              <a:t>, </a:t>
            </a:r>
            <a:r>
              <a:rPr lang="ko-KR" altLang="en-US" dirty="0"/>
              <a:t>결과가 기관에 관계없이 일관되게 나타나는지 확인하는 방법입니다</a:t>
            </a:r>
            <a:r>
              <a:rPr lang="en-US" altLang="ko-KR" dirty="0"/>
              <a:t>. </a:t>
            </a:r>
            <a:r>
              <a:rPr lang="ko-KR" altLang="en-US" dirty="0"/>
              <a:t>기관 효과가 결론을 왜곡하지 않음을 증명하는 중요한 검증 단계입니다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98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데이터를 </a:t>
            </a:r>
            <a:r>
              <a:rPr lang="ko-KR" altLang="en-US" dirty="0" err="1"/>
              <a:t>소개드리겠습니다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총 </a:t>
            </a:r>
            <a:r>
              <a:rPr lang="en-US" altLang="ko-KR" b="1" dirty="0"/>
              <a:t>1,672</a:t>
            </a:r>
            <a:r>
              <a:rPr lang="ko-KR" altLang="en-US" b="1" dirty="0"/>
              <a:t>명</a:t>
            </a:r>
            <a:r>
              <a:rPr lang="ko-KR" altLang="en-US" dirty="0"/>
              <a:t>이 분석에 포함되었으며</a:t>
            </a:r>
            <a:r>
              <a:rPr lang="en-US" altLang="ko-KR" dirty="0"/>
              <a:t>, </a:t>
            </a:r>
            <a:r>
              <a:rPr lang="ko-KR" altLang="en-US" dirty="0"/>
              <a:t>여성이 </a:t>
            </a:r>
            <a:r>
              <a:rPr lang="en-US" altLang="ko-KR" dirty="0"/>
              <a:t>1,007</a:t>
            </a:r>
            <a:r>
              <a:rPr lang="ko-KR" altLang="en-US" dirty="0"/>
              <a:t>명</a:t>
            </a:r>
            <a:r>
              <a:rPr lang="en-US" altLang="ko-KR" dirty="0"/>
              <a:t>(60.2%)</a:t>
            </a:r>
            <a:r>
              <a:rPr lang="ko-KR" altLang="en-US" dirty="0"/>
              <a:t>으로 과반을 차지합니다</a:t>
            </a:r>
            <a:r>
              <a:rPr lang="en-US" altLang="ko-KR" dirty="0"/>
              <a:t>. TAMA</a:t>
            </a:r>
            <a:r>
              <a:rPr lang="ko-KR" altLang="en-US" dirty="0"/>
              <a:t>는 </a:t>
            </a:r>
            <a:r>
              <a:rPr lang="en-US" altLang="ko-KR" dirty="0"/>
              <a:t>14</a:t>
            </a:r>
            <a:r>
              <a:rPr lang="ko-KR" altLang="en-US" dirty="0"/>
              <a:t>에서 </a:t>
            </a:r>
            <a:r>
              <a:rPr lang="en-US" altLang="ko-KR" dirty="0"/>
              <a:t>299 cm² </a:t>
            </a:r>
            <a:r>
              <a:rPr lang="ko-KR" altLang="en-US" dirty="0"/>
              <a:t>범위이며 평균 </a:t>
            </a:r>
            <a:r>
              <a:rPr lang="en-US" altLang="ko-KR" dirty="0"/>
              <a:t>122.5(±30.5) cm²</a:t>
            </a:r>
            <a:r>
              <a:rPr lang="ko-KR" altLang="en-US" dirty="0"/>
              <a:t>입니다</a:t>
            </a:r>
            <a:r>
              <a:rPr lang="en-US" altLang="ko-KR" dirty="0"/>
              <a:t>. CT </a:t>
            </a:r>
            <a:r>
              <a:rPr lang="ko-KR" altLang="en-US" dirty="0"/>
              <a:t>스캐너는 총 </a:t>
            </a:r>
            <a:r>
              <a:rPr lang="en-US" altLang="ko-KR" b="1" dirty="0"/>
              <a:t>31</a:t>
            </a:r>
            <a:r>
              <a:rPr lang="ko-KR" altLang="en-US" b="1" dirty="0"/>
              <a:t>종</a:t>
            </a:r>
            <a:r>
              <a:rPr lang="ko-KR" altLang="en-US" dirty="0"/>
              <a:t>으로 매우 다양합니다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TAMA(Total Abdominal Muscle Area)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CT </a:t>
            </a:r>
            <a:r>
              <a:rPr lang="ko-KR" altLang="en-US" dirty="0"/>
              <a:t>영상의 특정 단면</a:t>
            </a:r>
            <a:r>
              <a:rPr lang="en-US" altLang="ko-KR" dirty="0"/>
              <a:t>(</a:t>
            </a:r>
            <a:r>
              <a:rPr lang="ko-KR" altLang="en-US" dirty="0"/>
              <a:t>주로 </a:t>
            </a:r>
            <a:r>
              <a:rPr lang="en-US" altLang="ko-KR" dirty="0"/>
              <a:t>L3 </a:t>
            </a:r>
            <a:r>
              <a:rPr lang="ko-KR" altLang="en-US" dirty="0"/>
              <a:t>레벨</a:t>
            </a:r>
            <a:r>
              <a:rPr lang="en-US" altLang="ko-KR" dirty="0"/>
              <a:t>)</a:t>
            </a:r>
            <a:r>
              <a:rPr lang="ko-KR" altLang="en-US" dirty="0"/>
              <a:t>에서 복부 근육 전체의 단면적을 측정한 값</a:t>
            </a:r>
            <a:r>
              <a:rPr lang="en-US" altLang="ko-KR" dirty="0"/>
              <a:t>(cm²)</a:t>
            </a:r>
            <a:r>
              <a:rPr lang="ko-KR" altLang="en-US" dirty="0"/>
              <a:t>으로</a:t>
            </a:r>
            <a:r>
              <a:rPr lang="en-US" altLang="ko-KR" dirty="0"/>
              <a:t>, </a:t>
            </a:r>
            <a:r>
              <a:rPr lang="ko-KR" altLang="en-US" dirty="0"/>
              <a:t>근감소증을 평가하는 대표적인 영상 지표입니다</a:t>
            </a:r>
            <a:r>
              <a:rPr lang="en-US" altLang="ko-KR" dirty="0"/>
              <a:t>. </a:t>
            </a:r>
            <a:r>
              <a:rPr lang="ko-KR" altLang="en-US" dirty="0"/>
              <a:t>수동으로 측정해야 하기 때문에 시간과 노력이 많이 필요합니다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AEC(Automatic Exposure Control)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CT </a:t>
            </a:r>
            <a:r>
              <a:rPr lang="ko-KR" altLang="en-US" dirty="0"/>
              <a:t>촬영 시 스캐너가 환자의 체형</a:t>
            </a:r>
            <a:r>
              <a:rPr lang="en-US" altLang="ko-KR" dirty="0"/>
              <a:t>(</a:t>
            </a:r>
            <a:r>
              <a:rPr lang="ko-KR" altLang="en-US" dirty="0"/>
              <a:t>두께</a:t>
            </a:r>
            <a:r>
              <a:rPr lang="en-US" altLang="ko-KR" dirty="0"/>
              <a:t>, </a:t>
            </a:r>
            <a:r>
              <a:rPr lang="ko-KR" altLang="en-US" dirty="0"/>
              <a:t>밀도</a:t>
            </a:r>
            <a:r>
              <a:rPr lang="en-US" altLang="ko-KR" dirty="0"/>
              <a:t>)</a:t>
            </a:r>
            <a:r>
              <a:rPr lang="ko-KR" altLang="en-US" dirty="0"/>
              <a:t>에 따라 방사선량을 자동으로 조절하는 시스템입니다</a:t>
            </a:r>
            <a:r>
              <a:rPr lang="en-US" altLang="ko-KR" dirty="0"/>
              <a:t>. </a:t>
            </a:r>
            <a:r>
              <a:rPr lang="ko-KR" altLang="en-US" dirty="0"/>
              <a:t>촬영이 끝나면 슬라이스마다 실제로 사용된 방사선량</a:t>
            </a:r>
            <a:r>
              <a:rPr lang="en-US" altLang="ko-KR" dirty="0"/>
              <a:t>(tube current, mA)</a:t>
            </a:r>
            <a:r>
              <a:rPr lang="ko-KR" altLang="en-US" dirty="0"/>
              <a:t>이 자동으로 기록됩니다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별도의 측정 없이 이미 존재하는 데이터입니다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성별 </a:t>
            </a:r>
            <a:r>
              <a:rPr lang="en-US" altLang="ko-KR" dirty="0"/>
              <a:t>TAMA </a:t>
            </a:r>
            <a:r>
              <a:rPr lang="ko-KR" altLang="en-US" dirty="0"/>
              <a:t>분포를 보시면</a:t>
            </a:r>
            <a:r>
              <a:rPr lang="en-US" altLang="ko-KR" dirty="0"/>
              <a:t>, </a:t>
            </a:r>
            <a:r>
              <a:rPr lang="ko-KR" altLang="en-US" dirty="0"/>
              <a:t>남성 평균 </a:t>
            </a:r>
            <a:r>
              <a:rPr lang="en-US" altLang="ko-KR" dirty="0"/>
              <a:t>149.5 cm², </a:t>
            </a:r>
            <a:r>
              <a:rPr lang="ko-KR" altLang="en-US" dirty="0"/>
              <a:t>여성 </a:t>
            </a:r>
            <a:r>
              <a:rPr lang="en-US" altLang="ko-KR" dirty="0"/>
              <a:t>104.7 cm²</a:t>
            </a:r>
            <a:r>
              <a:rPr lang="ko-KR" altLang="en-US" dirty="0"/>
              <a:t>로 약 </a:t>
            </a:r>
            <a:r>
              <a:rPr lang="en-US" altLang="ko-KR" b="1" dirty="0"/>
              <a:t>45 cm² </a:t>
            </a:r>
            <a:r>
              <a:rPr lang="ko-KR" altLang="en-US" b="1" dirty="0"/>
              <a:t>차이</a:t>
            </a:r>
            <a:r>
              <a:rPr lang="ko-KR" altLang="en-US" dirty="0"/>
              <a:t>가 납니다</a:t>
            </a:r>
            <a:r>
              <a:rPr lang="en-US" altLang="ko-KR" dirty="0"/>
              <a:t>. </a:t>
            </a:r>
            <a:r>
              <a:rPr lang="ko-KR" altLang="en-US" dirty="0"/>
              <a:t>이 차이가 이후 모델에서 성별 변수가 압도적으로 강한 예측력을 보이는 생물학적 근거가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로지스틱 회귀를 위한 이진화 기준은 </a:t>
            </a:r>
            <a:r>
              <a:rPr lang="ko-KR" altLang="en-US" b="1" dirty="0"/>
              <a:t>남성 </a:t>
            </a:r>
            <a:r>
              <a:rPr lang="en-US" altLang="ko-KR" b="1" dirty="0"/>
              <a:t>170 cm² </a:t>
            </a:r>
            <a:r>
              <a:rPr lang="ko-KR" altLang="en-US" b="1" dirty="0"/>
              <a:t>미만</a:t>
            </a:r>
            <a:r>
              <a:rPr lang="en-US" altLang="ko-KR" b="1" dirty="0"/>
              <a:t>, </a:t>
            </a:r>
            <a:r>
              <a:rPr lang="ko-KR" altLang="en-US" b="1" dirty="0"/>
              <a:t>여성 </a:t>
            </a:r>
            <a:r>
              <a:rPr lang="en-US" altLang="ko-KR" b="1" dirty="0"/>
              <a:t>110 cm² </a:t>
            </a:r>
            <a:r>
              <a:rPr lang="ko-KR" altLang="en-US" b="1" dirty="0"/>
              <a:t>미만</a:t>
            </a:r>
            <a:r>
              <a:rPr lang="ko-KR" altLang="en-US" dirty="0"/>
              <a:t>을 </a:t>
            </a:r>
            <a:r>
              <a:rPr lang="en-US" altLang="ko-KR" dirty="0"/>
              <a:t>Low Muscle</a:t>
            </a:r>
            <a:r>
              <a:rPr lang="ko-KR" altLang="en-US" dirty="0"/>
              <a:t>로 정의하였습니다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왜 성별마다 </a:t>
            </a:r>
            <a:r>
              <a:rPr lang="ko-KR" altLang="en-US" b="1" dirty="0" err="1"/>
              <a:t>임계값이</a:t>
            </a:r>
            <a:r>
              <a:rPr lang="ko-KR" altLang="en-US" b="1" dirty="0"/>
              <a:t> </a:t>
            </a:r>
            <a:r>
              <a:rPr lang="ko-KR" altLang="en-US" b="1" dirty="0" err="1"/>
              <a:t>다른가</a:t>
            </a:r>
            <a:r>
              <a:rPr lang="en-US" altLang="ko-KR" b="1" dirty="0"/>
              <a:t>?</a:t>
            </a:r>
            <a:r>
              <a:rPr lang="ko-KR" altLang="en-US" dirty="0"/>
              <a:t> 남성과 여성은 </a:t>
            </a:r>
            <a:r>
              <a:rPr lang="ko-KR" altLang="en-US" dirty="0" err="1"/>
              <a:t>근육량의</a:t>
            </a:r>
            <a:r>
              <a:rPr lang="ko-KR" altLang="en-US" dirty="0"/>
              <a:t> 절대 수준이 생물학적으로 다르기 때문에</a:t>
            </a:r>
            <a:r>
              <a:rPr lang="en-US" altLang="ko-KR" dirty="0"/>
              <a:t>, </a:t>
            </a:r>
            <a:r>
              <a:rPr lang="ko-KR" altLang="en-US" dirty="0"/>
              <a:t>동일한 수치 기준을 적용하면 성별 효과를 통제할 수 없습니다</a:t>
            </a:r>
            <a:r>
              <a:rPr lang="en-US" altLang="ko-KR" dirty="0"/>
              <a:t>. </a:t>
            </a:r>
            <a:r>
              <a:rPr lang="ko-KR" altLang="en-US" dirty="0"/>
              <a:t>이 </a:t>
            </a:r>
            <a:r>
              <a:rPr lang="ko-KR" altLang="en-US" dirty="0" err="1"/>
              <a:t>임계값은</a:t>
            </a:r>
            <a:r>
              <a:rPr lang="ko-KR" altLang="en-US" dirty="0"/>
              <a:t> </a:t>
            </a:r>
            <a:r>
              <a:rPr lang="en-US" altLang="ko-KR" dirty="0" err="1"/>
              <a:t>Mitsiopoulos</a:t>
            </a:r>
            <a:r>
              <a:rPr lang="en-US" altLang="ko-KR" dirty="0"/>
              <a:t> </a:t>
            </a:r>
            <a:r>
              <a:rPr lang="ko-KR" altLang="en-US" dirty="0"/>
              <a:t>등 선행 연구와 국내 근감소증 </a:t>
            </a:r>
            <a:r>
              <a:rPr lang="ko-KR" altLang="en-US" dirty="0" err="1"/>
              <a:t>연구들에서</a:t>
            </a:r>
            <a:r>
              <a:rPr lang="ko-KR" altLang="en-US" dirty="0"/>
              <a:t> 사용된 문헌 기반 기준입니다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기준을 적용하면 </a:t>
            </a:r>
            <a:r>
              <a:rPr lang="en-US" altLang="ko-KR" dirty="0"/>
              <a:t>1,185</a:t>
            </a:r>
            <a:r>
              <a:rPr lang="ko-KR" altLang="en-US" dirty="0"/>
              <a:t>명</a:t>
            </a:r>
            <a:r>
              <a:rPr lang="en-US" altLang="ko-KR" dirty="0"/>
              <a:t>, </a:t>
            </a:r>
            <a:r>
              <a:rPr lang="ko-KR" altLang="en-US" dirty="0"/>
              <a:t>전체의 **</a:t>
            </a:r>
            <a:r>
              <a:rPr lang="en-US" altLang="ko-KR" dirty="0"/>
              <a:t>70.9%**</a:t>
            </a:r>
            <a:r>
              <a:rPr lang="ko-KR" altLang="en-US" dirty="0"/>
              <a:t>가 </a:t>
            </a:r>
            <a:r>
              <a:rPr lang="en-US" altLang="ko-KR" dirty="0"/>
              <a:t>Low Muscle</a:t>
            </a:r>
            <a:r>
              <a:rPr lang="ko-KR" altLang="en-US" dirty="0"/>
              <a:t>에 해당합니다</a:t>
            </a:r>
            <a:r>
              <a:rPr lang="en-US" altLang="ko-KR" dirty="0"/>
              <a:t>. </a:t>
            </a:r>
            <a:r>
              <a:rPr lang="ko-KR" altLang="en-US" dirty="0"/>
              <a:t>이 높은 양성 비율은 </a:t>
            </a:r>
            <a:r>
              <a:rPr lang="ko-KR" altLang="en-US" dirty="0" err="1"/>
              <a:t>임계값이</a:t>
            </a:r>
            <a:r>
              <a:rPr lang="ko-KR" altLang="en-US" dirty="0"/>
              <a:t> 엄격하거나</a:t>
            </a:r>
            <a:r>
              <a:rPr lang="en-US" altLang="ko-KR" dirty="0"/>
              <a:t>, </a:t>
            </a:r>
            <a:r>
              <a:rPr lang="ko-KR" altLang="en-US" dirty="0"/>
              <a:t>해당 병원 환자군이 상대적으로 고령 집단일 가능성을 시사합니다</a:t>
            </a:r>
            <a:r>
              <a:rPr lang="en-US" altLang="ko-KR" dirty="0"/>
              <a:t>. </a:t>
            </a:r>
            <a:r>
              <a:rPr lang="ko-KR" altLang="en-US" dirty="0"/>
              <a:t>이 불균형이 로지스틱 결과 해석에 미치는 영향은 뒤에서 다시 말씀드리겠습니다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847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AEC </a:t>
            </a:r>
            <a:r>
              <a:rPr lang="ko-KR" altLang="en-US" dirty="0"/>
              <a:t>곡선에서 어떤 특징들을 추출했는지 전체 구조를 먼저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AEC </a:t>
            </a:r>
            <a:r>
              <a:rPr lang="ko-KR" altLang="en-US" b="1" dirty="0"/>
              <a:t>곡선이란 무엇인가</a:t>
            </a:r>
            <a:r>
              <a:rPr lang="en-US" altLang="ko-KR" b="1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CT </a:t>
            </a:r>
            <a:r>
              <a:rPr lang="ko-KR" altLang="en-US" dirty="0"/>
              <a:t>촬영 시 슬라이스마다 기록된 </a:t>
            </a:r>
            <a:r>
              <a:rPr lang="en-US" altLang="ko-KR" dirty="0"/>
              <a:t>tube current(mA)</a:t>
            </a:r>
            <a:r>
              <a:rPr lang="ko-KR" altLang="en-US" dirty="0"/>
              <a:t>의 시계열 데이터입니다</a:t>
            </a:r>
            <a:r>
              <a:rPr lang="en-US" altLang="ko-KR" dirty="0"/>
              <a:t>. </a:t>
            </a:r>
            <a:r>
              <a:rPr lang="ko-KR" altLang="en-US" dirty="0"/>
              <a:t>환자의 흉부를 촬영할 때는 폐처럼 비어 있는 구조가 많아 선량이 낮고</a:t>
            </a:r>
            <a:r>
              <a:rPr lang="en-US" altLang="ko-KR" dirty="0"/>
              <a:t>, </a:t>
            </a:r>
            <a:r>
              <a:rPr lang="ko-KR" altLang="en-US" dirty="0"/>
              <a:t>복부를 촬영할 때는 장기가 밀집해 있어 선량이 높아집니다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이 곡선의 형태 자체가 환자의 체형 정보를 간접적으로 담고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곡선에서 크게 다섯 범주의 통계 특징 약 </a:t>
            </a:r>
            <a:r>
              <a:rPr lang="en-US" altLang="ko-KR" b="1" dirty="0"/>
              <a:t>65</a:t>
            </a:r>
            <a:r>
              <a:rPr lang="ko-KR" altLang="en-US" b="1" dirty="0"/>
              <a:t>개</a:t>
            </a:r>
            <a:r>
              <a:rPr lang="ko-KR" altLang="en-US" dirty="0"/>
              <a:t>를 계산하였습니다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기본 통계</a:t>
            </a:r>
            <a:r>
              <a:rPr lang="en-US" altLang="ko-KR" b="1" dirty="0"/>
              <a:t>:</a:t>
            </a:r>
            <a:r>
              <a:rPr lang="ko-KR" altLang="en-US" dirty="0"/>
              <a:t> 평균</a:t>
            </a:r>
            <a:r>
              <a:rPr lang="en-US" altLang="ko-KR" dirty="0"/>
              <a:t>(mean), </a:t>
            </a:r>
            <a:r>
              <a:rPr lang="ko-KR" altLang="en-US" dirty="0"/>
              <a:t>표준편차</a:t>
            </a:r>
            <a:r>
              <a:rPr lang="en-US" altLang="ko-KR" dirty="0"/>
              <a:t>(std), </a:t>
            </a:r>
            <a:r>
              <a:rPr lang="ko-KR" altLang="en-US" dirty="0"/>
              <a:t>최솟값</a:t>
            </a:r>
            <a:r>
              <a:rPr lang="en-US" altLang="ko-KR" dirty="0"/>
              <a:t>/</a:t>
            </a:r>
            <a:r>
              <a:rPr lang="ko-KR" altLang="en-US" dirty="0"/>
              <a:t>최댓값</a:t>
            </a:r>
            <a:r>
              <a:rPr lang="en-US" altLang="ko-KR" dirty="0"/>
              <a:t>, </a:t>
            </a:r>
            <a:r>
              <a:rPr lang="ko-KR" altLang="en-US" dirty="0"/>
              <a:t>중앙값</a:t>
            </a:r>
            <a:r>
              <a:rPr lang="en-US" altLang="ko-KR" dirty="0"/>
              <a:t>(median), </a:t>
            </a:r>
            <a:r>
              <a:rPr lang="ko-KR" altLang="en-US" dirty="0"/>
              <a:t>사분위수</a:t>
            </a:r>
            <a:r>
              <a:rPr lang="en-US" altLang="ko-KR" dirty="0"/>
              <a:t>(IQR), </a:t>
            </a:r>
            <a:r>
              <a:rPr lang="ko-KR" altLang="en-US" dirty="0" err="1"/>
              <a:t>왜도</a:t>
            </a:r>
            <a:r>
              <a:rPr lang="en-US" altLang="ko-KR" dirty="0"/>
              <a:t>(skewness), </a:t>
            </a:r>
            <a:r>
              <a:rPr lang="ko-KR" altLang="en-US" dirty="0"/>
              <a:t>첨도</a:t>
            </a:r>
            <a:r>
              <a:rPr lang="en-US" altLang="ko-KR" dirty="0"/>
              <a:t>(kurtosis), </a:t>
            </a:r>
            <a:r>
              <a:rPr lang="ko-KR" altLang="en-US" dirty="0"/>
              <a:t>백분위수</a:t>
            </a:r>
            <a:r>
              <a:rPr lang="en-US" altLang="ko-KR" dirty="0"/>
              <a:t>(p5~p95), </a:t>
            </a:r>
            <a:r>
              <a:rPr lang="ko-KR" altLang="en-US" dirty="0"/>
              <a:t>변동계수</a:t>
            </a:r>
            <a:r>
              <a:rPr lang="en-US" altLang="ko-KR" dirty="0"/>
              <a:t>(CV), </a:t>
            </a:r>
            <a:r>
              <a:rPr lang="ko-KR" altLang="en-US" dirty="0"/>
              <a:t>신호 에너지 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형태 특징</a:t>
            </a:r>
            <a:r>
              <a:rPr lang="en-US" altLang="ko-KR" b="1" dirty="0"/>
              <a:t>:</a:t>
            </a:r>
            <a:r>
              <a:rPr lang="ko-KR" altLang="en-US" dirty="0"/>
              <a:t> 피크</a:t>
            </a:r>
            <a:r>
              <a:rPr lang="en-US" altLang="ko-KR" dirty="0"/>
              <a:t>(peak) </a:t>
            </a:r>
            <a:r>
              <a:rPr lang="ko-KR" altLang="en-US" dirty="0"/>
              <a:t>개수</a:t>
            </a:r>
            <a:r>
              <a:rPr lang="en-US" altLang="ko-KR" dirty="0"/>
              <a:t>·</a:t>
            </a:r>
            <a:r>
              <a:rPr lang="ko-KR" altLang="en-US" dirty="0"/>
              <a:t>높이</a:t>
            </a:r>
            <a:r>
              <a:rPr lang="en-US" altLang="ko-KR" dirty="0"/>
              <a:t>·</a:t>
            </a:r>
            <a:r>
              <a:rPr lang="ko-KR" altLang="en-US" dirty="0"/>
              <a:t>위치</a:t>
            </a:r>
            <a:r>
              <a:rPr lang="en-US" altLang="ko-KR" dirty="0"/>
              <a:t>, </a:t>
            </a:r>
            <a:r>
              <a:rPr lang="ko-KR" altLang="en-US" dirty="0"/>
              <a:t>기울기</a:t>
            </a:r>
            <a:r>
              <a:rPr lang="en-US" altLang="ko-KR" dirty="0"/>
              <a:t>(slope) </a:t>
            </a:r>
            <a:r>
              <a:rPr lang="ko-KR" altLang="en-US" dirty="0"/>
              <a:t>통계</a:t>
            </a:r>
            <a:r>
              <a:rPr lang="en-US" altLang="ko-KR" dirty="0"/>
              <a:t>, </a:t>
            </a:r>
            <a:r>
              <a:rPr lang="ko-KR" altLang="en-US" dirty="0"/>
              <a:t>곡선 아래 면적</a:t>
            </a:r>
            <a:r>
              <a:rPr lang="en-US" altLang="ko-KR" dirty="0"/>
              <a:t>(AUC)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주파수</a:t>
            </a:r>
            <a:r>
              <a:rPr lang="en-US" altLang="ko-KR" b="1" dirty="0"/>
              <a:t>·</a:t>
            </a:r>
            <a:r>
              <a:rPr lang="ko-KR" altLang="en-US" b="1" dirty="0" err="1"/>
              <a:t>웨이블렛</a:t>
            </a:r>
            <a:r>
              <a:rPr lang="en-US" altLang="ko-KR" b="1" dirty="0"/>
              <a:t>:</a:t>
            </a:r>
            <a:r>
              <a:rPr lang="ko-KR" altLang="en-US" dirty="0"/>
              <a:t> 곡선의 주파수 성분 분해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endParaRPr lang="ko-KR" altLang="en-US" dirty="0"/>
          </a:p>
          <a:p>
            <a:r>
              <a:rPr lang="ko-KR" altLang="en-US" b="1" dirty="0"/>
              <a:t>왜 </a:t>
            </a:r>
            <a:r>
              <a:rPr lang="en-US" altLang="ko-KR" b="1" dirty="0"/>
              <a:t>65</a:t>
            </a:r>
            <a:r>
              <a:rPr lang="ko-KR" altLang="en-US" b="1" dirty="0"/>
              <a:t>개나 계산하는가</a:t>
            </a:r>
            <a:r>
              <a:rPr lang="en-US" altLang="ko-KR" b="1" dirty="0"/>
              <a:t>?</a:t>
            </a:r>
            <a:r>
              <a:rPr lang="ko-KR" altLang="en-US" dirty="0"/>
              <a:t> 어떤 특징이 </a:t>
            </a:r>
            <a:r>
              <a:rPr lang="en-US" altLang="ko-KR" dirty="0"/>
              <a:t>TAMA</a:t>
            </a:r>
            <a:r>
              <a:rPr lang="ko-KR" altLang="en-US" dirty="0"/>
              <a:t>와 관련이 있는지 사전에 알 수 없기 때문에</a:t>
            </a:r>
            <a:r>
              <a:rPr lang="en-US" altLang="ko-KR" dirty="0"/>
              <a:t>, </a:t>
            </a:r>
            <a:r>
              <a:rPr lang="ko-KR" altLang="en-US" dirty="0"/>
              <a:t>먼저 최대한 다양한 특징을 계산한 뒤 통계적 기준으로 걸러내는 방식을 취합니다</a:t>
            </a:r>
            <a:r>
              <a:rPr lang="en-US" altLang="ko-KR" dirty="0"/>
              <a:t>. </a:t>
            </a:r>
            <a:r>
              <a:rPr lang="ko-KR" altLang="en-US" dirty="0"/>
              <a:t>이것이 데이터 기반 </a:t>
            </a:r>
            <a:r>
              <a:rPr lang="en-US" altLang="ko-KR" dirty="0"/>
              <a:t>Feature Engineering</a:t>
            </a:r>
            <a:r>
              <a:rPr lang="ko-KR" altLang="en-US" dirty="0"/>
              <a:t>의 전형적인 절차입니다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83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65</a:t>
            </a:r>
            <a:r>
              <a:rPr lang="ko-KR" altLang="en-US" dirty="0"/>
              <a:t>개 특징 각각에 대해 </a:t>
            </a:r>
            <a:r>
              <a:rPr lang="en-US" altLang="ko-KR" dirty="0"/>
              <a:t>TAMA</a:t>
            </a:r>
            <a:r>
              <a:rPr lang="ko-KR" altLang="en-US" dirty="0"/>
              <a:t>와의 </a:t>
            </a:r>
            <a:r>
              <a:rPr lang="en-US" altLang="ko-KR" dirty="0"/>
              <a:t>Pearson </a:t>
            </a:r>
            <a:r>
              <a:rPr lang="ko-KR" altLang="en-US" dirty="0"/>
              <a:t>상관계수를 계산한 결과입니다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Pearson </a:t>
            </a:r>
            <a:r>
              <a:rPr lang="ko-KR" altLang="en-US" b="1" dirty="0"/>
              <a:t>상관계수</a:t>
            </a:r>
            <a:r>
              <a:rPr lang="en-US" altLang="ko-KR" b="1" dirty="0"/>
              <a:t>(r)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두 변수 간 선형 관계의 강도와 방향을 −</a:t>
            </a:r>
            <a:r>
              <a:rPr lang="en-US" altLang="ko-KR" dirty="0"/>
              <a:t>1~+1</a:t>
            </a:r>
            <a:r>
              <a:rPr lang="ko-KR" altLang="en-US" dirty="0"/>
              <a:t>로 표현합니다</a:t>
            </a:r>
            <a:r>
              <a:rPr lang="en-US" altLang="ko-KR" dirty="0"/>
              <a:t>. r=+1</a:t>
            </a:r>
            <a:r>
              <a:rPr lang="ko-KR" altLang="en-US" dirty="0"/>
              <a:t>은 완전한 양의 선형 관계</a:t>
            </a:r>
            <a:r>
              <a:rPr lang="en-US" altLang="ko-KR" dirty="0"/>
              <a:t>(</a:t>
            </a:r>
            <a:r>
              <a:rPr lang="ko-KR" altLang="en-US" dirty="0"/>
              <a:t>한쪽이 커지면 다른 쪽도 커짐</a:t>
            </a:r>
            <a:r>
              <a:rPr lang="en-US" altLang="ko-KR" dirty="0"/>
              <a:t>), r=0</a:t>
            </a:r>
            <a:r>
              <a:rPr lang="ko-KR" altLang="en-US" dirty="0"/>
              <a:t>은 선형 관계 없음</a:t>
            </a:r>
            <a:r>
              <a:rPr lang="en-US" altLang="ko-KR" dirty="0"/>
              <a:t>, r=−1</a:t>
            </a:r>
            <a:r>
              <a:rPr lang="ko-KR" altLang="en-US" dirty="0"/>
              <a:t>은 완전한 음의 선형 관계</a:t>
            </a:r>
            <a:r>
              <a:rPr lang="en-US" altLang="ko-KR" dirty="0"/>
              <a:t>(</a:t>
            </a:r>
            <a:r>
              <a:rPr lang="ko-KR" altLang="en-US" dirty="0"/>
              <a:t>한쪽이 커지면 다른 쪽은 </a:t>
            </a:r>
            <a:r>
              <a:rPr lang="ko-KR" altLang="en-US" dirty="0" err="1"/>
              <a:t>작아짐</a:t>
            </a:r>
            <a:r>
              <a:rPr lang="en-US" altLang="ko-KR" dirty="0"/>
              <a:t>)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일반적으로 </a:t>
            </a:r>
            <a:r>
              <a:rPr lang="en-US" altLang="ko-KR" dirty="0"/>
              <a:t>|r|≥0.3</a:t>
            </a:r>
            <a:r>
              <a:rPr lang="ko-KR" altLang="en-US" dirty="0"/>
              <a:t>이면 약한</a:t>
            </a:r>
            <a:r>
              <a:rPr lang="en-US" altLang="ko-KR" dirty="0"/>
              <a:t>~</a:t>
            </a:r>
            <a:r>
              <a:rPr lang="ko-KR" altLang="en-US" dirty="0"/>
              <a:t>중간 수준의 유의미한 상관으로 해석합니다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상관계수 기준 </a:t>
            </a:r>
            <a:r>
              <a:rPr lang="en-US" altLang="ko-KR" dirty="0"/>
              <a:t>1</a:t>
            </a:r>
            <a:r>
              <a:rPr lang="ko-KR" altLang="en-US" dirty="0"/>
              <a:t>위는 </a:t>
            </a:r>
            <a:r>
              <a:rPr lang="en-US" altLang="ko-KR" b="1" dirty="0"/>
              <a:t>p25(|r|=0.365)</a:t>
            </a:r>
            <a:r>
              <a:rPr lang="en-US" altLang="ko-KR" dirty="0"/>
              <a:t>, 2</a:t>
            </a:r>
            <a:r>
              <a:rPr lang="ko-KR" altLang="en-US" dirty="0"/>
              <a:t>위 </a:t>
            </a:r>
            <a:r>
              <a:rPr lang="en-US" altLang="ko-KR" dirty="0"/>
              <a:t>p10(0.357), 3</a:t>
            </a:r>
            <a:r>
              <a:rPr lang="ko-KR" altLang="en-US" dirty="0"/>
              <a:t>위 </a:t>
            </a:r>
            <a:r>
              <a:rPr lang="en-US" altLang="ko-KR" dirty="0"/>
              <a:t>CV(0.349), 4</a:t>
            </a:r>
            <a:r>
              <a:rPr lang="ko-KR" altLang="en-US" dirty="0"/>
              <a:t>위 </a:t>
            </a:r>
            <a:r>
              <a:rPr lang="en-US" altLang="ko-KR" dirty="0"/>
              <a:t>skewness(0.344)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상위 </a:t>
            </a:r>
            <a:r>
              <a:rPr lang="en-US" altLang="ko-KR" dirty="0"/>
              <a:t>4</a:t>
            </a:r>
            <a:r>
              <a:rPr lang="ko-KR" altLang="en-US" dirty="0"/>
              <a:t>개 변수가 </a:t>
            </a:r>
            <a:r>
              <a:rPr lang="en-US" altLang="ko-KR" dirty="0"/>
              <a:t>0.34~0.37</a:t>
            </a:r>
            <a:r>
              <a:rPr lang="ko-KR" altLang="en-US" dirty="0"/>
              <a:t>로 비슷한 수준의 상관을 보입니다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AUC(7</a:t>
            </a:r>
            <a:r>
              <a:rPr lang="ko-KR" altLang="en-US" dirty="0"/>
              <a:t>위</a:t>
            </a:r>
            <a:r>
              <a:rPr lang="en-US" altLang="ko-KR" dirty="0"/>
              <a:t>, 0.329)</a:t>
            </a:r>
            <a:r>
              <a:rPr lang="ko-KR" altLang="en-US" dirty="0"/>
              <a:t>와 </a:t>
            </a:r>
            <a:r>
              <a:rPr lang="en-US" altLang="ko-KR" dirty="0"/>
              <a:t>mean(14</a:t>
            </a:r>
            <a:r>
              <a:rPr lang="ko-KR" altLang="en-US" dirty="0"/>
              <a:t>위</a:t>
            </a:r>
            <a:r>
              <a:rPr lang="en-US" altLang="ko-KR" dirty="0"/>
              <a:t>, 0.296)</a:t>
            </a:r>
            <a:r>
              <a:rPr lang="ko-KR" altLang="en-US" dirty="0"/>
              <a:t>도 </a:t>
            </a:r>
            <a:r>
              <a:rPr lang="ko-KR" altLang="en-US" dirty="0" err="1"/>
              <a:t>순위권이지만</a:t>
            </a:r>
            <a:r>
              <a:rPr lang="en-US" altLang="ko-KR" dirty="0"/>
              <a:t>, </a:t>
            </a:r>
            <a:r>
              <a:rPr lang="ko-KR" altLang="en-US" dirty="0"/>
              <a:t>이 두 변수는 다음 슬라이드에서 말씀드릴 </a:t>
            </a:r>
            <a:r>
              <a:rPr lang="ko-KR" altLang="en-US" dirty="0" err="1"/>
              <a:t>다중공선성</a:t>
            </a:r>
            <a:r>
              <a:rPr lang="ko-KR" altLang="en-US" dirty="0"/>
              <a:t> 문제로 제외하게 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71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65</a:t>
            </a:r>
            <a:r>
              <a:rPr lang="ko-KR" altLang="en-US" dirty="0"/>
              <a:t>개 특징 각각에 대해 </a:t>
            </a:r>
            <a:r>
              <a:rPr lang="en-US" altLang="ko-KR" dirty="0"/>
              <a:t>TAMA</a:t>
            </a:r>
            <a:r>
              <a:rPr lang="ko-KR" altLang="en-US" dirty="0"/>
              <a:t>와의 </a:t>
            </a:r>
            <a:r>
              <a:rPr lang="en-US" altLang="ko-KR" dirty="0"/>
              <a:t>Pearson </a:t>
            </a:r>
            <a:r>
              <a:rPr lang="ko-KR" altLang="en-US" dirty="0"/>
              <a:t>상관계수를 계산한 결과입니다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Pearson </a:t>
            </a:r>
            <a:r>
              <a:rPr lang="ko-KR" altLang="en-US" b="1" dirty="0"/>
              <a:t>상관계수</a:t>
            </a:r>
            <a:r>
              <a:rPr lang="en-US" altLang="ko-KR" b="1" dirty="0"/>
              <a:t>(r)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두 변수 간 선형 관계의 강도와 방향을 −</a:t>
            </a:r>
            <a:r>
              <a:rPr lang="en-US" altLang="ko-KR" dirty="0"/>
              <a:t>1~+1</a:t>
            </a:r>
            <a:r>
              <a:rPr lang="ko-KR" altLang="en-US" dirty="0"/>
              <a:t>로 표현합니다</a:t>
            </a:r>
            <a:r>
              <a:rPr lang="en-US" altLang="ko-KR" dirty="0"/>
              <a:t>. r=+1</a:t>
            </a:r>
            <a:r>
              <a:rPr lang="ko-KR" altLang="en-US" dirty="0"/>
              <a:t>은 완전한 양의 선형 관계</a:t>
            </a:r>
            <a:r>
              <a:rPr lang="en-US" altLang="ko-KR" dirty="0"/>
              <a:t>(</a:t>
            </a:r>
            <a:r>
              <a:rPr lang="ko-KR" altLang="en-US" dirty="0"/>
              <a:t>한쪽이 커지면 다른 쪽도 커짐</a:t>
            </a:r>
            <a:r>
              <a:rPr lang="en-US" altLang="ko-KR" dirty="0"/>
              <a:t>), r=0</a:t>
            </a:r>
            <a:r>
              <a:rPr lang="ko-KR" altLang="en-US" dirty="0"/>
              <a:t>은 선형 관계 없음</a:t>
            </a:r>
            <a:r>
              <a:rPr lang="en-US" altLang="ko-KR" dirty="0"/>
              <a:t>, r=−1</a:t>
            </a:r>
            <a:r>
              <a:rPr lang="ko-KR" altLang="en-US" dirty="0"/>
              <a:t>은 완전한 음의 선형 관계</a:t>
            </a:r>
            <a:r>
              <a:rPr lang="en-US" altLang="ko-KR" dirty="0"/>
              <a:t>(</a:t>
            </a:r>
            <a:r>
              <a:rPr lang="ko-KR" altLang="en-US" dirty="0"/>
              <a:t>한쪽이 커지면 다른 쪽은 </a:t>
            </a:r>
            <a:r>
              <a:rPr lang="ko-KR" altLang="en-US" dirty="0" err="1"/>
              <a:t>작아짐</a:t>
            </a:r>
            <a:r>
              <a:rPr lang="en-US" altLang="ko-KR" dirty="0"/>
              <a:t>)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일반적으로 </a:t>
            </a:r>
            <a:r>
              <a:rPr lang="en-US" altLang="ko-KR" dirty="0"/>
              <a:t>|r|≥0.3</a:t>
            </a:r>
            <a:r>
              <a:rPr lang="ko-KR" altLang="en-US" dirty="0"/>
              <a:t>이면 약한</a:t>
            </a:r>
            <a:r>
              <a:rPr lang="en-US" altLang="ko-KR" dirty="0"/>
              <a:t>~</a:t>
            </a:r>
            <a:r>
              <a:rPr lang="ko-KR" altLang="en-US" dirty="0"/>
              <a:t>중간 수준의 유의미한 상관으로 해석합니다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상관계수 기준 </a:t>
            </a:r>
            <a:r>
              <a:rPr lang="en-US" altLang="ko-KR" dirty="0"/>
              <a:t>1</a:t>
            </a:r>
            <a:r>
              <a:rPr lang="ko-KR" altLang="en-US" dirty="0"/>
              <a:t>위는 </a:t>
            </a:r>
            <a:r>
              <a:rPr lang="en-US" altLang="ko-KR" b="1" dirty="0"/>
              <a:t>p25(|r|=0.365)</a:t>
            </a:r>
            <a:r>
              <a:rPr lang="en-US" altLang="ko-KR" dirty="0"/>
              <a:t>, 2</a:t>
            </a:r>
            <a:r>
              <a:rPr lang="ko-KR" altLang="en-US" dirty="0"/>
              <a:t>위 </a:t>
            </a:r>
            <a:r>
              <a:rPr lang="en-US" altLang="ko-KR" dirty="0"/>
              <a:t>p10(0.357), 3</a:t>
            </a:r>
            <a:r>
              <a:rPr lang="ko-KR" altLang="en-US" dirty="0"/>
              <a:t>위 </a:t>
            </a:r>
            <a:r>
              <a:rPr lang="en-US" altLang="ko-KR" dirty="0"/>
              <a:t>CV(0.349), 4</a:t>
            </a:r>
            <a:r>
              <a:rPr lang="ko-KR" altLang="en-US" dirty="0"/>
              <a:t>위 </a:t>
            </a:r>
            <a:r>
              <a:rPr lang="en-US" altLang="ko-KR" dirty="0"/>
              <a:t>skewness(0.344)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상위 </a:t>
            </a:r>
            <a:r>
              <a:rPr lang="en-US" altLang="ko-KR" dirty="0"/>
              <a:t>4</a:t>
            </a:r>
            <a:r>
              <a:rPr lang="ko-KR" altLang="en-US" dirty="0"/>
              <a:t>개 변수가 </a:t>
            </a:r>
            <a:r>
              <a:rPr lang="en-US" altLang="ko-KR" dirty="0"/>
              <a:t>0.34~0.37</a:t>
            </a:r>
            <a:r>
              <a:rPr lang="ko-KR" altLang="en-US" dirty="0"/>
              <a:t>로 비슷한 수준의 상관을 보입니다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AUC(7</a:t>
            </a:r>
            <a:r>
              <a:rPr lang="ko-KR" altLang="en-US" dirty="0"/>
              <a:t>위</a:t>
            </a:r>
            <a:r>
              <a:rPr lang="en-US" altLang="ko-KR" dirty="0"/>
              <a:t>, 0.329)</a:t>
            </a:r>
            <a:r>
              <a:rPr lang="ko-KR" altLang="en-US" dirty="0"/>
              <a:t>와 </a:t>
            </a:r>
            <a:r>
              <a:rPr lang="en-US" altLang="ko-KR" dirty="0"/>
              <a:t>mean(14</a:t>
            </a:r>
            <a:r>
              <a:rPr lang="ko-KR" altLang="en-US" dirty="0"/>
              <a:t>위</a:t>
            </a:r>
            <a:r>
              <a:rPr lang="en-US" altLang="ko-KR" dirty="0"/>
              <a:t>, 0.296)</a:t>
            </a:r>
            <a:r>
              <a:rPr lang="ko-KR" altLang="en-US" dirty="0"/>
              <a:t>도 </a:t>
            </a:r>
            <a:r>
              <a:rPr lang="ko-KR" altLang="en-US" dirty="0" err="1"/>
              <a:t>순위권이지만</a:t>
            </a:r>
            <a:r>
              <a:rPr lang="en-US" altLang="ko-KR" dirty="0"/>
              <a:t>, </a:t>
            </a:r>
            <a:r>
              <a:rPr lang="ko-KR" altLang="en-US" dirty="0"/>
              <a:t>이 두 변수는 다음 슬라이드에서 말씀드릴 </a:t>
            </a:r>
            <a:r>
              <a:rPr lang="ko-KR" altLang="en-US" dirty="0" err="1"/>
              <a:t>다중공선성</a:t>
            </a:r>
            <a:r>
              <a:rPr lang="ko-KR" altLang="en-US" dirty="0"/>
              <a:t> 문제로 제외하게 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729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상관계수만으로 변수를 선택하면 서로 비슷한 정보를 담은 변수가 중복으로 들어갈 수 있습니다</a:t>
            </a:r>
            <a:r>
              <a:rPr lang="en-US" altLang="ko-KR" dirty="0"/>
              <a:t>. </a:t>
            </a:r>
            <a:r>
              <a:rPr lang="ko-KR" altLang="en-US" dirty="0"/>
              <a:t>이를 방지하기 위해 </a:t>
            </a:r>
            <a:r>
              <a:rPr lang="en-US" altLang="ko-KR" b="1" dirty="0"/>
              <a:t>VIF </a:t>
            </a:r>
            <a:r>
              <a:rPr lang="ko-KR" altLang="en-US" b="1" dirty="0"/>
              <a:t>검사</a:t>
            </a:r>
            <a:r>
              <a:rPr lang="ko-KR" altLang="en-US" dirty="0"/>
              <a:t>를 추가로 수행하였습니다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최종 선택된 </a:t>
            </a:r>
            <a:r>
              <a:rPr lang="en-US" altLang="ko-KR" dirty="0"/>
              <a:t>4</a:t>
            </a:r>
            <a:r>
              <a:rPr lang="ko-KR" altLang="en-US" dirty="0"/>
              <a:t>개 변수와 제외된 변수를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선택 변수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p25</a:t>
            </a:r>
            <a:r>
              <a:rPr lang="ko-KR" altLang="en-US" dirty="0"/>
              <a:t> </a:t>
            </a:r>
            <a:r>
              <a:rPr lang="en-US" altLang="ko-KR" dirty="0"/>
              <a:t>(r=+0.365, VIF≈1.9): AEC </a:t>
            </a:r>
            <a:r>
              <a:rPr lang="ko-KR" altLang="en-US" dirty="0"/>
              <a:t>곡선의 하위 </a:t>
            </a:r>
            <a:r>
              <a:rPr lang="en-US" altLang="ko-KR" dirty="0"/>
              <a:t>25% </a:t>
            </a:r>
            <a:r>
              <a:rPr lang="ko-KR" altLang="en-US" dirty="0" err="1"/>
              <a:t>분위수</a:t>
            </a:r>
            <a:r>
              <a:rPr lang="en-US" altLang="ko-KR" dirty="0"/>
              <a:t>. </a:t>
            </a:r>
            <a:r>
              <a:rPr lang="ko-KR" altLang="en-US" dirty="0" err="1"/>
              <a:t>근육량이</a:t>
            </a:r>
            <a:r>
              <a:rPr lang="ko-KR" altLang="en-US" dirty="0"/>
              <a:t> 많은 환자는 체밀도가 높아 기기가 더 높은 선량을 사용하는 경향을 반영합니다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CV</a:t>
            </a:r>
            <a:r>
              <a:rPr lang="ko-KR" altLang="en-US" dirty="0"/>
              <a:t> </a:t>
            </a:r>
            <a:r>
              <a:rPr lang="en-US" altLang="ko-KR" dirty="0"/>
              <a:t>(r=−0.349, VIF≈1.8): </a:t>
            </a:r>
            <a:r>
              <a:rPr lang="ko-KR" altLang="en-US" dirty="0"/>
              <a:t>변동계수</a:t>
            </a:r>
            <a:r>
              <a:rPr lang="en-US" altLang="ko-KR" dirty="0"/>
              <a:t>(</a:t>
            </a:r>
            <a:r>
              <a:rPr lang="ko-KR" altLang="en-US" dirty="0"/>
              <a:t>표준편차</a:t>
            </a:r>
            <a:r>
              <a:rPr lang="en-US" altLang="ko-KR" dirty="0"/>
              <a:t>/</a:t>
            </a:r>
            <a:r>
              <a:rPr lang="ko-KR" altLang="en-US" dirty="0"/>
              <a:t>평균</a:t>
            </a:r>
            <a:r>
              <a:rPr lang="en-US" altLang="ko-KR" dirty="0"/>
              <a:t>). </a:t>
            </a:r>
            <a:r>
              <a:rPr lang="ko-KR" altLang="en-US" dirty="0"/>
              <a:t>균일한 체형일수록 슬라이스 간 선량 변화가 안정적이라는 해석과 부합합니다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skewness</a:t>
            </a:r>
            <a:r>
              <a:rPr lang="ko-KR" altLang="en-US" dirty="0"/>
              <a:t> </a:t>
            </a:r>
            <a:r>
              <a:rPr lang="en-US" altLang="ko-KR" dirty="0"/>
              <a:t>(r=−0.344, VIF≈1.6): AEC </a:t>
            </a:r>
            <a:r>
              <a:rPr lang="ko-KR" altLang="en-US" dirty="0"/>
              <a:t>곡선 분포의 비대칭성</a:t>
            </a:r>
            <a:r>
              <a:rPr lang="en-US" altLang="ko-KR" dirty="0"/>
              <a:t>. </a:t>
            </a:r>
            <a:r>
              <a:rPr lang="ko-KR" altLang="en-US" dirty="0"/>
              <a:t>곡선이 한쪽으로 치우칠수록 </a:t>
            </a:r>
            <a:r>
              <a:rPr lang="en-US" altLang="ko-KR" dirty="0"/>
              <a:t>TAMA</a:t>
            </a:r>
            <a:r>
              <a:rPr lang="ko-KR" altLang="en-US" dirty="0"/>
              <a:t>가 낮은 경향입니다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 err="1"/>
              <a:t>slope_abs_mean</a:t>
            </a:r>
            <a:r>
              <a:rPr lang="ko-KR" altLang="en-US" dirty="0"/>
              <a:t> </a:t>
            </a:r>
            <a:r>
              <a:rPr lang="en-US" altLang="ko-KR" dirty="0"/>
              <a:t>(r≈+0.09, VIF≈1.4): </a:t>
            </a:r>
            <a:r>
              <a:rPr lang="ko-KR" altLang="en-US" dirty="0"/>
              <a:t>평균 절대 기울기</a:t>
            </a:r>
            <a:r>
              <a:rPr lang="en-US" altLang="ko-KR" dirty="0"/>
              <a:t>. </a:t>
            </a:r>
            <a:r>
              <a:rPr lang="ko-KR" altLang="en-US" dirty="0"/>
              <a:t>단독 상관은 약하지만 다른 변수와 정보가 겹치지 않아 독립적 기여 가능성이 있습니다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제외 변수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mean, </a:t>
            </a:r>
            <a:r>
              <a:rPr lang="en-US" altLang="ko-KR" b="1" dirty="0" err="1"/>
              <a:t>AUC_normalized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VIF &gt; 50,000</a:t>
            </a:r>
            <a:r>
              <a:rPr lang="ko-KR" altLang="en-US" dirty="0"/>
              <a:t>으로 사실상 완벽한 공선성</a:t>
            </a:r>
            <a:r>
              <a:rPr lang="en-US" altLang="ko-KR" dirty="0"/>
              <a:t>. </a:t>
            </a:r>
            <a:r>
              <a:rPr lang="ko-KR" altLang="en-US" dirty="0"/>
              <a:t>이 두 변수를 함께 투입하면 계수 추정 자체가 수치적으로 불안정해져 명시적으로 제외하였습니다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선택된 </a:t>
            </a:r>
            <a:r>
              <a:rPr lang="en-US" altLang="ko-KR" dirty="0"/>
              <a:t>4</a:t>
            </a:r>
            <a:r>
              <a:rPr lang="ko-KR" altLang="en-US" dirty="0"/>
              <a:t>개 변수는 모두 </a:t>
            </a:r>
            <a:r>
              <a:rPr lang="en-US" altLang="ko-KR" dirty="0"/>
              <a:t>VIF 2.0 </a:t>
            </a:r>
            <a:r>
              <a:rPr lang="ko-KR" altLang="en-US" dirty="0"/>
              <a:t>미만으로 </a:t>
            </a:r>
            <a:r>
              <a:rPr lang="ko-KR" altLang="en-US" dirty="0" err="1"/>
              <a:t>다중공선성</a:t>
            </a:r>
            <a:r>
              <a:rPr lang="ko-KR" altLang="en-US" dirty="0"/>
              <a:t> 문제가 없습니다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/>
              <a:t>VIF(Variance Inflation Factor, </a:t>
            </a:r>
            <a:r>
              <a:rPr lang="ko-KR" altLang="en-US" b="1" dirty="0" err="1"/>
              <a:t>분산팽창인수</a:t>
            </a:r>
            <a:r>
              <a:rPr lang="en-US" altLang="ko-KR" b="1" dirty="0"/>
              <a:t>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</a:t>
            </a:r>
            <a:r>
              <a:rPr lang="ko-KR" altLang="en-US" dirty="0" err="1"/>
              <a:t>다중공선성</a:t>
            </a:r>
            <a:r>
              <a:rPr lang="en-US" altLang="ko-KR" dirty="0"/>
              <a:t>(multicollinearity)</a:t>
            </a:r>
            <a:r>
              <a:rPr lang="ko-KR" altLang="en-US" dirty="0"/>
              <a:t>의 정도를 수치화한 지표입니다</a:t>
            </a:r>
            <a:r>
              <a:rPr lang="en-US" altLang="ko-KR" dirty="0"/>
              <a:t>. </a:t>
            </a:r>
            <a:r>
              <a:rPr lang="ko-KR" altLang="en-US" dirty="0" err="1"/>
              <a:t>다중공선성이란</a:t>
            </a:r>
            <a:r>
              <a:rPr lang="ko-KR" altLang="en-US" dirty="0"/>
              <a:t> 예측 변수들끼리 서로 너무 강하게 연관되어 있는 상태를 말합니다</a:t>
            </a:r>
            <a:r>
              <a:rPr lang="en-US" altLang="ko-KR" dirty="0"/>
              <a:t>. </a:t>
            </a:r>
            <a:r>
              <a:rPr lang="ko-KR" altLang="en-US" dirty="0"/>
              <a:t>이 상태에서는 모델이 </a:t>
            </a:r>
            <a:r>
              <a:rPr lang="en-US" altLang="ko-KR" dirty="0"/>
              <a:t>"</a:t>
            </a:r>
            <a:r>
              <a:rPr lang="ko-KR" altLang="en-US" dirty="0"/>
              <a:t>각 변수의 효과를 </a:t>
            </a:r>
            <a:r>
              <a:rPr lang="ko-KR" altLang="en-US" dirty="0" err="1"/>
              <a:t>얼마씩</a:t>
            </a:r>
            <a:r>
              <a:rPr lang="ko-KR" altLang="en-US" dirty="0"/>
              <a:t> 나눠야 하는지</a:t>
            </a:r>
            <a:r>
              <a:rPr lang="en-US" altLang="ko-KR" dirty="0"/>
              <a:t>" </a:t>
            </a:r>
            <a:r>
              <a:rPr lang="ko-KR" altLang="en-US" dirty="0"/>
              <a:t>구별하지 못해 계수 추정이 불안정해지고 표준오차가 과도하게 커집니다</a:t>
            </a:r>
            <a:r>
              <a:rPr lang="en-US" altLang="ko-KR" dirty="0"/>
              <a:t>. VIF = 1/(1−R²)</a:t>
            </a:r>
            <a:r>
              <a:rPr lang="ko-KR" altLang="en-US" dirty="0"/>
              <a:t>로 계산하며</a:t>
            </a:r>
            <a:r>
              <a:rPr lang="en-US" altLang="ko-KR" dirty="0"/>
              <a:t>, VIF=1</a:t>
            </a:r>
            <a:r>
              <a:rPr lang="ko-KR" altLang="en-US" dirty="0"/>
              <a:t>이면 다른 변수와 전혀 무관</a:t>
            </a:r>
            <a:r>
              <a:rPr lang="en-US" altLang="ko-KR" dirty="0"/>
              <a:t>, VIF&gt;10</a:t>
            </a:r>
            <a:r>
              <a:rPr lang="ko-KR" altLang="en-US" dirty="0"/>
              <a:t>이면 </a:t>
            </a:r>
            <a:r>
              <a:rPr lang="ko-KR" altLang="en-US" dirty="0" err="1"/>
              <a:t>다중공선성이</a:t>
            </a:r>
            <a:r>
              <a:rPr lang="ko-KR" altLang="en-US" dirty="0"/>
              <a:t> 심각하다고 판단합니다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8552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분석 방법론 전체를 한 장에 정리하겠습니다</a:t>
            </a:r>
            <a:r>
              <a:rPr lang="en-US" altLang="ko-KR" dirty="0"/>
              <a:t>.</a:t>
            </a:r>
          </a:p>
          <a:p>
            <a:r>
              <a:rPr lang="ko-KR" altLang="en-US" b="1" dirty="0" err="1"/>
              <a:t>전처리</a:t>
            </a:r>
            <a:endParaRPr lang="ko-KR" altLang="en-US" b="1" dirty="0"/>
          </a:p>
          <a:p>
            <a:r>
              <a:rPr lang="ko-KR" altLang="en-US" b="1" dirty="0"/>
              <a:t>성별</a:t>
            </a:r>
            <a:r>
              <a:rPr lang="en-US" altLang="ko-KR" b="1" dirty="0"/>
              <a:t>(</a:t>
            </a:r>
            <a:r>
              <a:rPr lang="en-US" altLang="ko-KR" b="1" dirty="0" err="1"/>
              <a:t>PatientSex</a:t>
            </a:r>
            <a:r>
              <a:rPr lang="en-US" altLang="ko-KR" b="1" dirty="0"/>
              <a:t>):</a:t>
            </a:r>
            <a:r>
              <a:rPr lang="ko-KR" altLang="en-US" dirty="0"/>
              <a:t> 남성</a:t>
            </a:r>
            <a:r>
              <a:rPr lang="en-US" altLang="ko-KR" dirty="0"/>
              <a:t>=1, </a:t>
            </a:r>
            <a:r>
              <a:rPr lang="ko-KR" altLang="en-US" dirty="0"/>
              <a:t>여성</a:t>
            </a:r>
            <a:r>
              <a:rPr lang="en-US" altLang="ko-KR" dirty="0"/>
              <a:t>=0</a:t>
            </a:r>
            <a:r>
              <a:rPr lang="ko-KR" altLang="en-US" dirty="0"/>
              <a:t>으로 이진 인코딩하였습니다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나이</a:t>
            </a:r>
            <a:r>
              <a:rPr lang="en-US" altLang="ko-KR" b="1" dirty="0"/>
              <a:t>·AEC features: Z-score </a:t>
            </a:r>
            <a:r>
              <a:rPr lang="ko-KR" altLang="en-US" b="1" dirty="0"/>
              <a:t>표준화</a:t>
            </a:r>
            <a:r>
              <a:rPr lang="ko-KR" altLang="en-US" dirty="0"/>
              <a:t>를 적용하였습니다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Z-score </a:t>
            </a:r>
            <a:r>
              <a:rPr lang="ko-KR" altLang="en-US" b="1" dirty="0"/>
              <a:t>표준화란</a:t>
            </a:r>
            <a:r>
              <a:rPr lang="en-US" altLang="ko-KR" b="1" dirty="0"/>
              <a:t>?</a:t>
            </a:r>
            <a:r>
              <a:rPr lang="ko-KR" altLang="en-US" dirty="0"/>
              <a:t> 각 변수를 </a:t>
            </a:r>
            <a:r>
              <a:rPr lang="en-US" altLang="ko-KR" dirty="0"/>
              <a:t>(</a:t>
            </a:r>
            <a:r>
              <a:rPr lang="ko-KR" altLang="en-US" dirty="0"/>
              <a:t>값 − 평균</a:t>
            </a:r>
            <a:r>
              <a:rPr lang="en-US" altLang="ko-KR" dirty="0"/>
              <a:t>) / </a:t>
            </a:r>
            <a:r>
              <a:rPr lang="ko-KR" altLang="en-US" dirty="0"/>
              <a:t>표준편차 로 변환하여 평균</a:t>
            </a:r>
            <a:r>
              <a:rPr lang="en-US" altLang="ko-KR" dirty="0"/>
              <a:t>=0, </a:t>
            </a:r>
            <a:r>
              <a:rPr lang="ko-KR" altLang="en-US" dirty="0"/>
              <a:t>표준편차</a:t>
            </a:r>
            <a:r>
              <a:rPr lang="en-US" altLang="ko-KR" dirty="0"/>
              <a:t>=1</a:t>
            </a:r>
            <a:r>
              <a:rPr lang="ko-KR" altLang="en-US" dirty="0"/>
              <a:t>로 맞추는 것입니다</a:t>
            </a:r>
            <a:r>
              <a:rPr lang="en-US" altLang="ko-KR" dirty="0"/>
              <a:t>. </a:t>
            </a:r>
            <a:r>
              <a:rPr lang="ko-KR" altLang="en-US" dirty="0"/>
              <a:t>단위가 서로 다른 변수들</a:t>
            </a:r>
            <a:r>
              <a:rPr lang="en-US" altLang="ko-KR" dirty="0"/>
              <a:t>(</a:t>
            </a:r>
            <a:r>
              <a:rPr lang="ko-KR" altLang="en-US" dirty="0"/>
              <a:t>세</a:t>
            </a:r>
            <a:r>
              <a:rPr lang="en-US" altLang="ko-KR" dirty="0"/>
              <a:t>, mA, </a:t>
            </a:r>
            <a:r>
              <a:rPr lang="ko-KR" altLang="en-US" dirty="0" err="1"/>
              <a:t>무단위</a:t>
            </a:r>
            <a:r>
              <a:rPr lang="ko-KR" altLang="en-US" dirty="0"/>
              <a:t> 비율</a:t>
            </a:r>
            <a:r>
              <a:rPr lang="en-US" altLang="ko-KR" dirty="0"/>
              <a:t>)</a:t>
            </a:r>
            <a:r>
              <a:rPr lang="ko-KR" altLang="en-US" dirty="0"/>
              <a:t>을 같은 척도로 통일하면</a:t>
            </a:r>
            <a:r>
              <a:rPr lang="en-US" altLang="ko-KR" dirty="0"/>
              <a:t>, β </a:t>
            </a:r>
            <a:r>
              <a:rPr lang="ko-KR" altLang="en-US" dirty="0"/>
              <a:t>계수를 </a:t>
            </a:r>
            <a:r>
              <a:rPr lang="en-US" altLang="ko-KR" dirty="0"/>
              <a:t>"1 </a:t>
            </a:r>
            <a:r>
              <a:rPr lang="ko-KR" altLang="en-US" dirty="0"/>
              <a:t>표준편차 변화 시 </a:t>
            </a:r>
            <a:r>
              <a:rPr lang="en-US" altLang="ko-KR" dirty="0"/>
              <a:t>TAMA </a:t>
            </a:r>
            <a:r>
              <a:rPr lang="ko-KR" altLang="en-US" dirty="0"/>
              <a:t>변화량</a:t>
            </a:r>
            <a:r>
              <a:rPr lang="en-US" altLang="ko-KR" dirty="0"/>
              <a:t>"</a:t>
            </a:r>
            <a:r>
              <a:rPr lang="ko-KR" altLang="en-US" dirty="0"/>
              <a:t>으로 직접 비교할 수 있게 됩니다</a:t>
            </a:r>
            <a:r>
              <a:rPr lang="en-US" altLang="ko-KR" dirty="0"/>
              <a:t>. </a:t>
            </a:r>
            <a:r>
              <a:rPr lang="ko-KR" altLang="en-US" dirty="0"/>
              <a:t>예를 들어 나이의 </a:t>
            </a:r>
            <a:r>
              <a:rPr lang="en-US" altLang="ko-KR" dirty="0"/>
              <a:t>β=−3.0</a:t>
            </a:r>
            <a:r>
              <a:rPr lang="ko-KR" altLang="en-US" dirty="0"/>
              <a:t>이면 나이가 </a:t>
            </a:r>
            <a:r>
              <a:rPr lang="en-US" altLang="ko-KR" dirty="0"/>
              <a:t>1 </a:t>
            </a:r>
            <a:r>
              <a:rPr lang="ko-KR" altLang="en-US" dirty="0"/>
              <a:t>표준편차 많을수록 </a:t>
            </a:r>
            <a:r>
              <a:rPr lang="en-US" altLang="ko-KR" dirty="0"/>
              <a:t>TAMA</a:t>
            </a:r>
            <a:r>
              <a:rPr lang="ko-KR" altLang="en-US" dirty="0"/>
              <a:t>가 </a:t>
            </a:r>
            <a:r>
              <a:rPr lang="en-US" altLang="ko-KR" dirty="0"/>
              <a:t>3.0 cm² </a:t>
            </a:r>
            <a:r>
              <a:rPr lang="ko-KR" altLang="en-US" dirty="0"/>
              <a:t>낮다는 의미입니다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CT </a:t>
            </a:r>
            <a:r>
              <a:rPr lang="ko-KR" altLang="en-US" b="1" dirty="0"/>
              <a:t>모델명</a:t>
            </a:r>
            <a:r>
              <a:rPr lang="en-US" altLang="ko-KR" b="1" dirty="0"/>
              <a:t>(</a:t>
            </a:r>
            <a:r>
              <a:rPr lang="en-US" altLang="ko-KR" b="1" dirty="0" err="1"/>
              <a:t>ManufacturerModelName</a:t>
            </a:r>
            <a:r>
              <a:rPr lang="en-US" altLang="ko-KR" b="1" dirty="0"/>
              <a:t>): One-hot encoding</a:t>
            </a:r>
            <a:r>
              <a:rPr lang="ko-KR" altLang="en-US" dirty="0"/>
              <a:t> 처리하여 </a:t>
            </a:r>
            <a:r>
              <a:rPr lang="en-US" altLang="ko-KR" dirty="0"/>
              <a:t>30</a:t>
            </a:r>
            <a:r>
              <a:rPr lang="ko-KR" altLang="en-US" dirty="0"/>
              <a:t>개 더미 변수 생성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One-hot encoding</a:t>
            </a:r>
            <a:r>
              <a:rPr lang="ko-KR" altLang="en-US" b="1" dirty="0"/>
              <a:t>이란</a:t>
            </a:r>
            <a:r>
              <a:rPr lang="en-US" altLang="ko-KR" b="1" dirty="0"/>
              <a:t>?</a:t>
            </a:r>
            <a:r>
              <a:rPr lang="ko-KR" altLang="en-US" dirty="0"/>
              <a:t> 범주형 변수</a:t>
            </a:r>
            <a:r>
              <a:rPr lang="en-US" altLang="ko-KR" dirty="0"/>
              <a:t>(CT </a:t>
            </a:r>
            <a:r>
              <a:rPr lang="ko-KR" altLang="en-US" dirty="0"/>
              <a:t>모델 </a:t>
            </a:r>
            <a:r>
              <a:rPr lang="en-US" altLang="ko-KR" dirty="0"/>
              <a:t>31</a:t>
            </a:r>
            <a:r>
              <a:rPr lang="ko-KR" altLang="en-US" dirty="0"/>
              <a:t>종</a:t>
            </a:r>
            <a:r>
              <a:rPr lang="en-US" altLang="ko-KR" dirty="0"/>
              <a:t>)</a:t>
            </a:r>
            <a:r>
              <a:rPr lang="ko-KR" altLang="en-US" dirty="0"/>
              <a:t>를 숫자로 표현하는 방법입니다</a:t>
            </a:r>
            <a:r>
              <a:rPr lang="en-US" altLang="ko-KR" dirty="0"/>
              <a:t>. 31</a:t>
            </a:r>
            <a:r>
              <a:rPr lang="ko-KR" altLang="en-US" dirty="0"/>
              <a:t>종을 </a:t>
            </a:r>
            <a:r>
              <a:rPr lang="en-US" altLang="ko-KR" dirty="0"/>
              <a:t>0~30</a:t>
            </a:r>
            <a:r>
              <a:rPr lang="ko-KR" altLang="en-US" dirty="0"/>
              <a:t>으로 </a:t>
            </a:r>
            <a:r>
              <a:rPr lang="ko-KR" altLang="en-US" dirty="0" err="1"/>
              <a:t>숫자화하면</a:t>
            </a:r>
            <a:r>
              <a:rPr lang="ko-KR" altLang="en-US" dirty="0"/>
              <a:t> 모델이 </a:t>
            </a:r>
            <a:r>
              <a:rPr lang="en-US" altLang="ko-KR" dirty="0"/>
              <a:t>"</a:t>
            </a:r>
            <a:r>
              <a:rPr lang="ko-KR" altLang="en-US" dirty="0"/>
              <a:t>모델 </a:t>
            </a:r>
            <a:r>
              <a:rPr lang="en-US" altLang="ko-KR" dirty="0"/>
              <a:t>2</a:t>
            </a:r>
            <a:r>
              <a:rPr lang="ko-KR" altLang="en-US" dirty="0"/>
              <a:t>가 모델 </a:t>
            </a:r>
            <a:r>
              <a:rPr lang="en-US" altLang="ko-KR" dirty="0"/>
              <a:t>1</a:t>
            </a:r>
            <a:r>
              <a:rPr lang="ko-KR" altLang="en-US" dirty="0"/>
              <a:t>보다 크다</a:t>
            </a:r>
            <a:r>
              <a:rPr lang="en-US" altLang="ko-KR" dirty="0"/>
              <a:t>"</a:t>
            </a:r>
            <a:r>
              <a:rPr lang="ko-KR" altLang="en-US" dirty="0"/>
              <a:t>는 순서 관계를 잘못 학습할 수 있습니다</a:t>
            </a:r>
            <a:r>
              <a:rPr lang="en-US" altLang="ko-KR" dirty="0"/>
              <a:t>. One-hot encoding</a:t>
            </a:r>
            <a:r>
              <a:rPr lang="ko-KR" altLang="en-US" dirty="0"/>
              <a:t>은 각 범주를 독립적인 </a:t>
            </a:r>
            <a:r>
              <a:rPr lang="en-US" altLang="ko-KR" dirty="0"/>
              <a:t>0/1 </a:t>
            </a:r>
            <a:r>
              <a:rPr lang="ko-KR" altLang="en-US" dirty="0"/>
              <a:t>변수로 만들어 이 문제를 방지합니다</a:t>
            </a:r>
            <a:r>
              <a:rPr lang="en-US" altLang="ko-KR" dirty="0"/>
              <a:t>. </a:t>
            </a:r>
            <a:r>
              <a:rPr lang="ko-KR" altLang="en-US" dirty="0"/>
              <a:t>기준 범주 </a:t>
            </a:r>
            <a:r>
              <a:rPr lang="en-US" altLang="ko-KR" dirty="0"/>
              <a:t>1</a:t>
            </a:r>
            <a:r>
              <a:rPr lang="ko-KR" altLang="en-US" dirty="0"/>
              <a:t>개를 제외</a:t>
            </a:r>
            <a:r>
              <a:rPr lang="en-US" altLang="ko-KR" dirty="0"/>
              <a:t>(</a:t>
            </a:r>
            <a:r>
              <a:rPr lang="en-US" altLang="ko-KR" dirty="0" err="1"/>
              <a:t>drop_first</a:t>
            </a:r>
            <a:r>
              <a:rPr lang="en-US" altLang="ko-KR" dirty="0"/>
              <a:t>=True)</a:t>
            </a:r>
            <a:r>
              <a:rPr lang="ko-KR" altLang="en-US" dirty="0"/>
              <a:t>하여 </a:t>
            </a:r>
            <a:r>
              <a:rPr lang="en-US" altLang="ko-KR" dirty="0"/>
              <a:t>30</a:t>
            </a:r>
            <a:r>
              <a:rPr lang="ko-KR" altLang="en-US" dirty="0"/>
              <a:t>개 더미 변수가 생성됩니다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모델</a:t>
            </a:r>
          </a:p>
          <a:p>
            <a:r>
              <a:rPr lang="ko-KR" altLang="en-US" b="1" dirty="0"/>
              <a:t>선형 회귀</a:t>
            </a:r>
            <a:r>
              <a:rPr lang="en-US" altLang="ko-KR" b="1" dirty="0"/>
              <a:t>: </a:t>
            </a:r>
            <a:r>
              <a:rPr lang="en-US" altLang="ko-KR" b="1" dirty="0" err="1"/>
              <a:t>statsmodels</a:t>
            </a:r>
            <a:r>
              <a:rPr lang="en-US" altLang="ko-KR" b="1" dirty="0"/>
              <a:t> OLS(Ordinary Least Squares, </a:t>
            </a:r>
            <a:r>
              <a:rPr lang="ko-KR" altLang="en-US" b="1" dirty="0" err="1"/>
              <a:t>최소제곱법</a:t>
            </a:r>
            <a:r>
              <a:rPr lang="en-US" altLang="ko-KR" b="1" dirty="0"/>
              <a:t>)</a:t>
            </a:r>
            <a:endParaRPr lang="ko-KR" altLang="en-US" dirty="0"/>
          </a:p>
          <a:p>
            <a:r>
              <a:rPr lang="en-US" altLang="ko-KR" b="1" dirty="0"/>
              <a:t>OLS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</a:t>
            </a:r>
            <a:r>
              <a:rPr lang="ko-KR" altLang="en-US" dirty="0" err="1"/>
              <a:t>예측값과</a:t>
            </a:r>
            <a:r>
              <a:rPr lang="ko-KR" altLang="en-US" dirty="0"/>
              <a:t> </a:t>
            </a:r>
            <a:r>
              <a:rPr lang="ko-KR" altLang="en-US" dirty="0" err="1"/>
              <a:t>실제값</a:t>
            </a:r>
            <a:r>
              <a:rPr lang="ko-KR" altLang="en-US" dirty="0"/>
              <a:t> 차이</a:t>
            </a:r>
            <a:r>
              <a:rPr lang="en-US" altLang="ko-KR" dirty="0"/>
              <a:t>(</a:t>
            </a:r>
            <a:r>
              <a:rPr lang="ko-KR" altLang="en-US" dirty="0" err="1"/>
              <a:t>잔차</a:t>
            </a:r>
            <a:r>
              <a:rPr lang="en-US" altLang="ko-KR" dirty="0"/>
              <a:t>)</a:t>
            </a:r>
            <a:r>
              <a:rPr lang="ko-KR" altLang="en-US" dirty="0"/>
              <a:t>의 제곱합을 최소화하는 방향으로 회귀 계수를 추정하는 방법입니다</a:t>
            </a:r>
            <a:r>
              <a:rPr lang="en-US" altLang="ko-KR" dirty="0"/>
              <a:t>. β = (XᵀX)⁻¹Xᵀy </a:t>
            </a:r>
            <a:r>
              <a:rPr lang="ko-KR" altLang="en-US" dirty="0"/>
              <a:t>의 수식으로 계수를 직접 계산합니다</a:t>
            </a:r>
            <a:r>
              <a:rPr lang="en-US" altLang="ko-KR" dirty="0"/>
              <a:t>. scikit-learn</a:t>
            </a:r>
            <a:r>
              <a:rPr lang="ko-KR" altLang="en-US" dirty="0"/>
              <a:t>의 </a:t>
            </a:r>
            <a:r>
              <a:rPr lang="en-US" altLang="ko-KR" dirty="0" err="1"/>
              <a:t>LinearRegression</a:t>
            </a:r>
            <a:r>
              <a:rPr lang="ko-KR" altLang="en-US" dirty="0"/>
              <a:t>과 달리 </a:t>
            </a:r>
            <a:r>
              <a:rPr lang="en-US" altLang="ko-KR" dirty="0" err="1"/>
              <a:t>statsmodels</a:t>
            </a:r>
            <a:r>
              <a:rPr lang="en-US" altLang="ko-KR" dirty="0"/>
              <a:t> OLS</a:t>
            </a:r>
            <a:r>
              <a:rPr lang="ko-KR" altLang="en-US" dirty="0"/>
              <a:t>는 </a:t>
            </a:r>
            <a:r>
              <a:rPr lang="ko-KR" altLang="en-US" dirty="0" err="1"/>
              <a:t>계수별</a:t>
            </a:r>
            <a:r>
              <a:rPr lang="ko-KR" altLang="en-US" dirty="0"/>
              <a:t> 표준오차</a:t>
            </a:r>
            <a:r>
              <a:rPr lang="en-US" altLang="ko-KR" dirty="0"/>
              <a:t>·t</a:t>
            </a:r>
            <a:r>
              <a:rPr lang="ko-KR" altLang="en-US" dirty="0"/>
              <a:t>통계량</a:t>
            </a:r>
            <a:r>
              <a:rPr lang="en-US" altLang="ko-KR" dirty="0"/>
              <a:t>·p-value·</a:t>
            </a:r>
            <a:r>
              <a:rPr lang="ko-KR" altLang="en-US" dirty="0"/>
              <a:t>신뢰구간을 모두 출력하기 때문에 통계적 추론이 목적인 이번 연구에 적합합니다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로지스틱 회귀</a:t>
            </a:r>
            <a:r>
              <a:rPr lang="en-US" altLang="ko-KR" b="1" dirty="0"/>
              <a:t>: </a:t>
            </a:r>
            <a:r>
              <a:rPr lang="en-US" altLang="ko-KR" b="1" dirty="0" err="1"/>
              <a:t>statsmodels</a:t>
            </a:r>
            <a:r>
              <a:rPr lang="en-US" altLang="ko-KR" b="1" dirty="0"/>
              <a:t> Logit (BFGS, </a:t>
            </a:r>
            <a:r>
              <a:rPr lang="en-US" altLang="ko-KR" b="1" dirty="0" err="1"/>
              <a:t>maxiter</a:t>
            </a:r>
            <a:r>
              <a:rPr lang="en-US" altLang="ko-KR" b="1" dirty="0"/>
              <a:t>=1,000)</a:t>
            </a:r>
            <a:endParaRPr lang="ko-KR" altLang="en-US" dirty="0"/>
          </a:p>
          <a:p>
            <a:r>
              <a:rPr lang="ko-KR" altLang="en-US" b="1" dirty="0"/>
              <a:t>로지스틱 </a:t>
            </a:r>
            <a:r>
              <a:rPr lang="ko-KR" altLang="en-US" b="1" dirty="0" err="1"/>
              <a:t>회귀란</a:t>
            </a:r>
            <a:r>
              <a:rPr lang="en-US" altLang="ko-KR" b="1" dirty="0"/>
              <a:t>?</a:t>
            </a:r>
            <a:r>
              <a:rPr lang="ko-KR" altLang="en-US" dirty="0"/>
              <a:t> 종속변수가 </a:t>
            </a:r>
            <a:r>
              <a:rPr lang="en-US" altLang="ko-KR" dirty="0"/>
              <a:t>0/1</a:t>
            </a:r>
            <a:r>
              <a:rPr lang="ko-KR" altLang="en-US" dirty="0"/>
              <a:t>인 이진 분류 문제에서 사건 발생 확률 </a:t>
            </a:r>
            <a:r>
              <a:rPr lang="en-US" altLang="ko-KR" dirty="0"/>
              <a:t>P</a:t>
            </a:r>
            <a:r>
              <a:rPr lang="ko-KR" altLang="en-US" dirty="0"/>
              <a:t>를 예측하는 모델입니다</a:t>
            </a:r>
            <a:r>
              <a:rPr lang="en-US" altLang="ko-KR" dirty="0"/>
              <a:t>. log(P/(1−P)) = β₀ + β₁X₁ + ... </a:t>
            </a:r>
            <a:r>
              <a:rPr lang="ko-KR" altLang="en-US" dirty="0"/>
              <a:t>형태로</a:t>
            </a:r>
            <a:r>
              <a:rPr lang="en-US" altLang="ko-KR" dirty="0"/>
              <a:t>, </a:t>
            </a:r>
            <a:r>
              <a:rPr lang="ko-KR" altLang="en-US" dirty="0"/>
              <a:t>출력이 </a:t>
            </a:r>
            <a:r>
              <a:rPr lang="en-US" altLang="ko-KR" dirty="0"/>
              <a:t>0~1 </a:t>
            </a:r>
            <a:r>
              <a:rPr lang="ko-KR" altLang="en-US" dirty="0"/>
              <a:t>사이의 </a:t>
            </a:r>
            <a:r>
              <a:rPr lang="ko-KR" altLang="en-US" dirty="0" err="1"/>
              <a:t>확률값으로</a:t>
            </a:r>
            <a:r>
              <a:rPr lang="ko-KR" altLang="en-US" dirty="0"/>
              <a:t> 제한됩니다</a:t>
            </a:r>
            <a:r>
              <a:rPr lang="en-US" altLang="ko-KR" dirty="0"/>
              <a:t>. BFGS</a:t>
            </a:r>
            <a:r>
              <a:rPr lang="ko-KR" altLang="en-US" dirty="0"/>
              <a:t>는 수치 최적화 알고리즘으로 대규모 변수에서도 안정적으로 수렴합니다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Odds Ratio(OR)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로지스틱 회귀 계수 </a:t>
            </a:r>
            <a:r>
              <a:rPr lang="en-US" altLang="ko-KR" dirty="0"/>
              <a:t>β</a:t>
            </a:r>
            <a:r>
              <a:rPr lang="ko-KR" altLang="en-US" dirty="0"/>
              <a:t>를 </a:t>
            </a:r>
            <a:r>
              <a:rPr lang="en-US" altLang="ko-KR" dirty="0"/>
              <a:t>exp(β)</a:t>
            </a:r>
            <a:r>
              <a:rPr lang="ko-KR" altLang="en-US" dirty="0"/>
              <a:t>로 변환한 값입니다</a:t>
            </a:r>
            <a:r>
              <a:rPr lang="en-US" altLang="ko-KR" dirty="0"/>
              <a:t>. "</a:t>
            </a:r>
            <a:r>
              <a:rPr lang="ko-KR" altLang="en-US" dirty="0"/>
              <a:t>사건이 일어날 확률 </a:t>
            </a:r>
            <a:r>
              <a:rPr lang="en-US" altLang="ko-KR" dirty="0"/>
              <a:t>/ </a:t>
            </a:r>
            <a:r>
              <a:rPr lang="ko-KR" altLang="en-US" dirty="0"/>
              <a:t>일어나지 않을 확률</a:t>
            </a:r>
            <a:r>
              <a:rPr lang="en-US" altLang="ko-KR" dirty="0"/>
              <a:t>"</a:t>
            </a:r>
            <a:r>
              <a:rPr lang="ko-KR" altLang="en-US" dirty="0"/>
              <a:t>의 비율을 오즈</a:t>
            </a:r>
            <a:r>
              <a:rPr lang="en-US" altLang="ko-KR" dirty="0"/>
              <a:t>(Odds)</a:t>
            </a:r>
            <a:r>
              <a:rPr lang="ko-KR" altLang="en-US" dirty="0"/>
              <a:t>라 하고</a:t>
            </a:r>
            <a:r>
              <a:rPr lang="en-US" altLang="ko-KR" dirty="0"/>
              <a:t>, OR</a:t>
            </a:r>
            <a:r>
              <a:rPr lang="ko-KR" altLang="en-US" dirty="0"/>
              <a:t>은 예측 변수 </a:t>
            </a:r>
            <a:r>
              <a:rPr lang="en-US" altLang="ko-KR" dirty="0"/>
              <a:t>1</a:t>
            </a:r>
            <a:r>
              <a:rPr lang="ko-KR" altLang="en-US" dirty="0"/>
              <a:t>단위 증가 시 오즈가 몇 배가 되는지를 나타냅니다</a:t>
            </a:r>
            <a:r>
              <a:rPr lang="en-US" altLang="ko-KR" dirty="0"/>
              <a:t>. OR=1</a:t>
            </a:r>
            <a:r>
              <a:rPr lang="ko-KR" altLang="en-US" dirty="0"/>
              <a:t>이면 효과 없음</a:t>
            </a:r>
            <a:r>
              <a:rPr lang="en-US" altLang="ko-KR" dirty="0"/>
              <a:t>, OR=2</a:t>
            </a:r>
            <a:r>
              <a:rPr lang="ko-KR" altLang="en-US" dirty="0"/>
              <a:t>이면 오즈 </a:t>
            </a:r>
            <a:r>
              <a:rPr lang="en-US" altLang="ko-KR" dirty="0"/>
              <a:t>2</a:t>
            </a:r>
            <a:r>
              <a:rPr lang="ko-KR" altLang="en-US" dirty="0"/>
              <a:t>배</a:t>
            </a:r>
            <a:r>
              <a:rPr lang="en-US" altLang="ko-KR" dirty="0"/>
              <a:t>, OR=0.5</a:t>
            </a:r>
            <a:r>
              <a:rPr lang="ko-KR" altLang="en-US" dirty="0"/>
              <a:t>이면 오즈 절반</a:t>
            </a:r>
            <a:r>
              <a:rPr lang="en-US" altLang="ko-KR" dirty="0"/>
              <a:t>. 95% CI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을 포함하지 않으면 통계적으로 유의합니다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모델 검증 전략</a:t>
            </a:r>
          </a:p>
          <a:p>
            <a:r>
              <a:rPr lang="en-US" altLang="ko-KR" b="1" dirty="0"/>
              <a:t>5-Fold Cross Validation(</a:t>
            </a:r>
            <a:r>
              <a:rPr lang="ko-KR" altLang="en-US" b="1" dirty="0"/>
              <a:t>교차검증</a:t>
            </a:r>
            <a:r>
              <a:rPr lang="en-US" altLang="ko-KR" b="1" dirty="0"/>
              <a:t>):</a:t>
            </a:r>
            <a:r>
              <a:rPr lang="ko-KR" altLang="en-US" dirty="0"/>
              <a:t> 각 </a:t>
            </a:r>
            <a:r>
              <a:rPr lang="en-US" altLang="ko-KR" dirty="0"/>
              <a:t>Fold</a:t>
            </a:r>
            <a:r>
              <a:rPr lang="ko-KR" altLang="en-US" dirty="0"/>
              <a:t>에서 </a:t>
            </a:r>
            <a:r>
              <a:rPr lang="en-US" altLang="ko-KR" dirty="0"/>
              <a:t>scaler </a:t>
            </a:r>
            <a:r>
              <a:rPr lang="ko-KR" altLang="en-US" dirty="0"/>
              <a:t>재적합으로 </a:t>
            </a:r>
            <a:r>
              <a:rPr lang="en-US" altLang="ko-KR" dirty="0"/>
              <a:t>Data Leakage </a:t>
            </a:r>
            <a:r>
              <a:rPr lang="ko-KR" altLang="en-US" dirty="0"/>
              <a:t>방지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K-Fold </a:t>
            </a:r>
            <a:r>
              <a:rPr lang="ko-KR" altLang="en-US" b="1" dirty="0" err="1"/>
              <a:t>교차검증이란</a:t>
            </a:r>
            <a:r>
              <a:rPr lang="en-US" altLang="ko-KR" b="1" dirty="0"/>
              <a:t>?</a:t>
            </a:r>
            <a:r>
              <a:rPr lang="ko-KR" altLang="en-US" dirty="0"/>
              <a:t> 데이터를 </a:t>
            </a:r>
            <a:r>
              <a:rPr lang="en-US" altLang="ko-KR" dirty="0"/>
              <a:t>K</a:t>
            </a:r>
            <a:r>
              <a:rPr lang="ko-KR" altLang="en-US" dirty="0"/>
              <a:t>개 묶음</a:t>
            </a:r>
            <a:r>
              <a:rPr lang="en-US" altLang="ko-KR" dirty="0"/>
              <a:t>(Fold)</a:t>
            </a:r>
            <a:r>
              <a:rPr lang="ko-KR" altLang="en-US" dirty="0"/>
              <a:t>으로 나누고</a:t>
            </a:r>
            <a:r>
              <a:rPr lang="en-US" altLang="ko-KR" dirty="0"/>
              <a:t>, </a:t>
            </a:r>
            <a:r>
              <a:rPr lang="ko-KR" altLang="en-US" dirty="0"/>
              <a:t>매 반복마다 </a:t>
            </a:r>
            <a:r>
              <a:rPr lang="en-US" altLang="ko-KR" dirty="0"/>
              <a:t>1</a:t>
            </a:r>
            <a:r>
              <a:rPr lang="ko-KR" altLang="en-US" dirty="0"/>
              <a:t>개를 테스트 셋</a:t>
            </a:r>
            <a:r>
              <a:rPr lang="en-US" altLang="ko-KR" dirty="0"/>
              <a:t>, </a:t>
            </a:r>
            <a:r>
              <a:rPr lang="ko-KR" altLang="en-US" dirty="0"/>
              <a:t>나머지 </a:t>
            </a:r>
            <a:r>
              <a:rPr lang="en-US" altLang="ko-KR" dirty="0"/>
              <a:t>K−1</a:t>
            </a:r>
            <a:r>
              <a:rPr lang="ko-KR" altLang="en-US" dirty="0"/>
              <a:t>개를 학습 셋으로 사용합니다</a:t>
            </a:r>
            <a:r>
              <a:rPr lang="en-US" altLang="ko-KR" dirty="0"/>
              <a:t>. K</a:t>
            </a:r>
            <a:r>
              <a:rPr lang="ko-KR" altLang="en-US" dirty="0"/>
              <a:t>번 반복 후 성능을 평균하여 모델이 새로운 데이터에서도 얼마나 잘 작동하는지 추정합니다</a:t>
            </a:r>
            <a:r>
              <a:rPr lang="en-US" altLang="ko-KR" dirty="0"/>
              <a:t>. </a:t>
            </a:r>
            <a:r>
              <a:rPr lang="en-US" altLang="ko-KR" b="1" dirty="0"/>
              <a:t>Data Leakage</a:t>
            </a:r>
            <a:r>
              <a:rPr lang="ko-KR" altLang="en-US" dirty="0"/>
              <a:t>란 테스트 셋의 정보가 학습 과정에 유입되어 성능이 과대 추정되는 현상으로</a:t>
            </a:r>
            <a:r>
              <a:rPr lang="en-US" altLang="ko-KR" dirty="0"/>
              <a:t>, </a:t>
            </a:r>
            <a:r>
              <a:rPr lang="ko-KR" altLang="en-US" dirty="0"/>
              <a:t>표준화</a:t>
            </a:r>
            <a:r>
              <a:rPr lang="en-US" altLang="ko-KR" dirty="0"/>
              <a:t>(Z-score) </a:t>
            </a:r>
            <a:r>
              <a:rPr lang="ko-KR" altLang="en-US" dirty="0"/>
              <a:t>등의 전처리를 학습 데이터에서만 </a:t>
            </a:r>
            <a:r>
              <a:rPr lang="en-US" altLang="ko-KR" dirty="0"/>
              <a:t>fit</a:t>
            </a:r>
            <a:r>
              <a:rPr lang="ko-KR" altLang="en-US" dirty="0"/>
              <a:t>해야 방지됩니다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Bootstrap AUC 95% CI (n=1,000):</a:t>
            </a:r>
            <a:endParaRPr lang="ko-KR" altLang="en-US" dirty="0"/>
          </a:p>
          <a:p>
            <a:r>
              <a:rPr lang="en-US" altLang="ko-KR" b="1" dirty="0"/>
              <a:t>Bootstrap </a:t>
            </a:r>
            <a:r>
              <a:rPr lang="ko-KR" altLang="en-US" b="1" dirty="0" err="1"/>
              <a:t>신뢰구간이란</a:t>
            </a:r>
            <a:r>
              <a:rPr lang="en-US" altLang="ko-KR" b="1" dirty="0"/>
              <a:t>?</a:t>
            </a:r>
            <a:r>
              <a:rPr lang="ko-KR" altLang="en-US" dirty="0"/>
              <a:t> 원본 데이터에서 복원 추출</a:t>
            </a:r>
            <a:r>
              <a:rPr lang="en-US" altLang="ko-KR" dirty="0"/>
              <a:t>(</a:t>
            </a:r>
            <a:r>
              <a:rPr lang="ko-KR" altLang="en-US" dirty="0"/>
              <a:t>같은 샘플이 중복 선택될 수 있음</a:t>
            </a:r>
            <a:r>
              <a:rPr lang="en-US" altLang="ko-KR" dirty="0"/>
              <a:t>)</a:t>
            </a:r>
            <a:r>
              <a:rPr lang="ko-KR" altLang="en-US" dirty="0"/>
              <a:t>로 가상의 데이터셋을 </a:t>
            </a:r>
            <a:r>
              <a:rPr lang="en-US" altLang="ko-KR" dirty="0"/>
              <a:t>1,000</a:t>
            </a:r>
            <a:r>
              <a:rPr lang="ko-KR" altLang="en-US" dirty="0"/>
              <a:t>회 생성하고</a:t>
            </a:r>
            <a:r>
              <a:rPr lang="en-US" altLang="ko-KR" dirty="0"/>
              <a:t>, </a:t>
            </a:r>
            <a:r>
              <a:rPr lang="ko-KR" altLang="en-US" dirty="0"/>
              <a:t>매번 </a:t>
            </a:r>
            <a:r>
              <a:rPr lang="en-US" altLang="ko-KR" dirty="0"/>
              <a:t>AUC</a:t>
            </a:r>
            <a:r>
              <a:rPr lang="ko-KR" altLang="en-US" dirty="0"/>
              <a:t>를 계산합니다</a:t>
            </a:r>
            <a:r>
              <a:rPr lang="en-US" altLang="ko-KR" dirty="0"/>
              <a:t>. 1,000</a:t>
            </a:r>
            <a:r>
              <a:rPr lang="ko-KR" altLang="en-US" dirty="0"/>
              <a:t>개 </a:t>
            </a:r>
            <a:r>
              <a:rPr lang="en-US" altLang="ko-KR" dirty="0"/>
              <a:t>AUC </a:t>
            </a:r>
            <a:r>
              <a:rPr lang="ko-KR" altLang="en-US" dirty="0"/>
              <a:t>분포의 </a:t>
            </a:r>
            <a:r>
              <a:rPr lang="en-US" altLang="ko-KR" dirty="0"/>
              <a:t>2.5·97.5 </a:t>
            </a:r>
            <a:r>
              <a:rPr lang="ko-KR" altLang="en-US" dirty="0"/>
              <a:t>백분위수를 </a:t>
            </a:r>
            <a:r>
              <a:rPr lang="en-US" altLang="ko-KR" dirty="0"/>
              <a:t>95% </a:t>
            </a:r>
            <a:r>
              <a:rPr lang="ko-KR" altLang="en-US" dirty="0"/>
              <a:t>신뢰구간으로 사용합니다</a:t>
            </a:r>
            <a:r>
              <a:rPr lang="en-US" altLang="ko-KR" dirty="0"/>
              <a:t>. AUC </a:t>
            </a:r>
            <a:r>
              <a:rPr lang="ko-KR" altLang="en-US" dirty="0"/>
              <a:t>분포가 정규 분포를 따르지 않을 때 정규 근사 기반 </a:t>
            </a:r>
            <a:r>
              <a:rPr lang="en-US" altLang="ko-KR" dirty="0"/>
              <a:t>CI</a:t>
            </a:r>
            <a:r>
              <a:rPr lang="ko-KR" altLang="en-US" dirty="0"/>
              <a:t>보다 더 정확합니다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Hosmer-</a:t>
            </a:r>
            <a:r>
              <a:rPr lang="en-US" altLang="ko-KR" b="1" dirty="0" err="1"/>
              <a:t>Lemeshow</a:t>
            </a:r>
            <a:r>
              <a:rPr lang="en-US" altLang="ko-KR" b="1" dirty="0"/>
              <a:t> </a:t>
            </a:r>
            <a:r>
              <a:rPr lang="ko-KR" altLang="en-US" b="1" dirty="0"/>
              <a:t>검정</a:t>
            </a:r>
            <a:r>
              <a:rPr lang="en-US" altLang="ko-KR" b="1" dirty="0"/>
              <a:t>:</a:t>
            </a:r>
            <a:r>
              <a:rPr lang="ko-KR" altLang="en-US" dirty="0"/>
              <a:t> 로지스틱 보정도</a:t>
            </a:r>
            <a:r>
              <a:rPr lang="en-US" altLang="ko-KR" dirty="0"/>
              <a:t>(Calibration) </a:t>
            </a:r>
            <a:r>
              <a:rPr lang="ko-KR" altLang="en-US" dirty="0"/>
              <a:t>검증</a:t>
            </a:r>
            <a:r>
              <a:rPr lang="en-US" altLang="ko-KR" dirty="0"/>
              <a:t>. p&gt;0.05</a:t>
            </a:r>
            <a:r>
              <a:rPr lang="ko-KR" altLang="en-US" dirty="0"/>
              <a:t>이면 양호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Calibration(</a:t>
            </a:r>
            <a:r>
              <a:rPr lang="ko-KR" altLang="en-US" b="1" dirty="0"/>
              <a:t>보정도</a:t>
            </a:r>
            <a:r>
              <a:rPr lang="en-US" altLang="ko-KR" b="1" dirty="0"/>
              <a:t>)</a:t>
            </a:r>
            <a:r>
              <a:rPr lang="ko-KR" altLang="en-US" b="1" dirty="0"/>
              <a:t>이란</a:t>
            </a:r>
            <a:r>
              <a:rPr lang="en-US" altLang="ko-KR" b="1" dirty="0"/>
              <a:t>?</a:t>
            </a:r>
            <a:r>
              <a:rPr lang="ko-KR" altLang="en-US" dirty="0"/>
              <a:t> 모델이 </a:t>
            </a:r>
            <a:r>
              <a:rPr lang="en-US" altLang="ko-KR" dirty="0"/>
              <a:t>"70% </a:t>
            </a:r>
            <a:r>
              <a:rPr lang="ko-KR" altLang="en-US" dirty="0"/>
              <a:t>확률</a:t>
            </a:r>
            <a:r>
              <a:rPr lang="en-US" altLang="ko-KR" dirty="0"/>
              <a:t>"</a:t>
            </a:r>
            <a:r>
              <a:rPr lang="ko-KR" altLang="en-US" dirty="0"/>
              <a:t>이라고 예측했을 때 실제로 </a:t>
            </a:r>
            <a:r>
              <a:rPr lang="en-US" altLang="ko-KR" dirty="0"/>
              <a:t>70% </a:t>
            </a:r>
            <a:r>
              <a:rPr lang="ko-KR" altLang="en-US" dirty="0"/>
              <a:t>정도의 환자가 </a:t>
            </a:r>
            <a:r>
              <a:rPr lang="en-US" altLang="ko-KR" dirty="0"/>
              <a:t>Low TAMA</a:t>
            </a:r>
            <a:r>
              <a:rPr lang="ko-KR" altLang="en-US" dirty="0"/>
              <a:t>인지를 확인하는 것입니다</a:t>
            </a:r>
            <a:r>
              <a:rPr lang="en-US" altLang="ko-KR" dirty="0"/>
              <a:t>. AUC</a:t>
            </a:r>
            <a:r>
              <a:rPr lang="ko-KR" altLang="en-US" dirty="0"/>
              <a:t>가 높아도 </a:t>
            </a:r>
            <a:r>
              <a:rPr lang="en-US" altLang="ko-KR" dirty="0"/>
              <a:t>Calibration</a:t>
            </a:r>
            <a:r>
              <a:rPr lang="ko-KR" altLang="en-US" dirty="0"/>
              <a:t>이 나쁘면 확률 자체를 신뢰할 수 없습니다</a:t>
            </a:r>
            <a:r>
              <a:rPr lang="en-US" altLang="ko-KR" dirty="0"/>
              <a:t>. Hosmer-</a:t>
            </a:r>
            <a:r>
              <a:rPr lang="en-US" altLang="ko-KR" dirty="0" err="1"/>
              <a:t>Lemeshow</a:t>
            </a:r>
            <a:r>
              <a:rPr lang="en-US" altLang="ko-KR" dirty="0"/>
              <a:t> </a:t>
            </a:r>
            <a:r>
              <a:rPr lang="ko-KR" altLang="en-US" dirty="0"/>
              <a:t>검정은 예측 확률 구간별로 예측 빈도와 실제 빈도를 비교하며</a:t>
            </a:r>
            <a:r>
              <a:rPr lang="en-US" altLang="ko-KR" dirty="0"/>
              <a:t>, p&gt;0.05</a:t>
            </a:r>
            <a:r>
              <a:rPr lang="ko-KR" altLang="en-US" dirty="0"/>
              <a:t>이면 예측 확률이 현실과 잘 일치한다는 의미입니다</a:t>
            </a:r>
            <a:r>
              <a:rPr lang="en-US" altLang="ko-KR" dirty="0"/>
              <a:t>.</a:t>
            </a:r>
          </a:p>
          <a:p>
            <a:r>
              <a:rPr lang="ko-KR" altLang="en-US" b="1" dirty="0" err="1"/>
              <a:t>잔차</a:t>
            </a:r>
            <a:r>
              <a:rPr lang="ko-KR" altLang="en-US" b="1" dirty="0"/>
              <a:t> 진단 </a:t>
            </a:r>
            <a:r>
              <a:rPr lang="en-US" altLang="ko-KR" b="1" dirty="0"/>
              <a:t>3</a:t>
            </a:r>
            <a:r>
              <a:rPr lang="ko-KR" altLang="en-US" b="1" dirty="0"/>
              <a:t>종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Shapiro-Wilk(</a:t>
            </a:r>
            <a:r>
              <a:rPr lang="ko-KR" altLang="en-US" dirty="0"/>
              <a:t>정규성</a:t>
            </a:r>
            <a:r>
              <a:rPr lang="en-US" altLang="ko-KR" dirty="0"/>
              <a:t>) · Breusch-Pagan(</a:t>
            </a:r>
            <a:r>
              <a:rPr lang="ko-KR" altLang="en-US" dirty="0"/>
              <a:t>등분산성</a:t>
            </a:r>
            <a:r>
              <a:rPr lang="en-US" altLang="ko-KR" dirty="0"/>
              <a:t>) · Durbin-Watson(</a:t>
            </a:r>
            <a:r>
              <a:rPr lang="ko-KR" altLang="en-US" dirty="0"/>
              <a:t>자기상관</a:t>
            </a:r>
            <a:r>
              <a:rPr lang="en-US" altLang="ko-KR" dirty="0"/>
              <a:t>).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2192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Part 1, </a:t>
            </a:r>
            <a:r>
              <a:rPr lang="ko-KR" altLang="en-US" dirty="0"/>
              <a:t>선형 회귀의 </a:t>
            </a:r>
            <a:r>
              <a:rPr lang="ko-KR" altLang="en-US" dirty="0" err="1"/>
              <a:t>단변량</a:t>
            </a:r>
            <a:r>
              <a:rPr lang="ko-KR" altLang="en-US" dirty="0"/>
              <a:t> 분석 결과입니다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β </a:t>
            </a:r>
            <a:r>
              <a:rPr lang="ko-KR" altLang="en-US" b="1" dirty="0"/>
              <a:t>계수</a:t>
            </a:r>
            <a:r>
              <a:rPr lang="en-US" altLang="ko-KR" b="1" dirty="0"/>
              <a:t>(</a:t>
            </a:r>
            <a:r>
              <a:rPr lang="ko-KR" altLang="en-US" b="1" dirty="0"/>
              <a:t>회귀 계수</a:t>
            </a:r>
            <a:r>
              <a:rPr lang="en-US" altLang="ko-KR" b="1" dirty="0"/>
              <a:t>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다른 변수가 고정된 상태에서 해당 변수가 </a:t>
            </a:r>
            <a:r>
              <a:rPr lang="en-US" altLang="ko-KR" dirty="0"/>
              <a:t>1</a:t>
            </a:r>
            <a:r>
              <a:rPr lang="ko-KR" altLang="en-US" dirty="0"/>
              <a:t>단위</a:t>
            </a:r>
            <a:r>
              <a:rPr lang="en-US" altLang="ko-KR" dirty="0"/>
              <a:t>(</a:t>
            </a:r>
            <a:r>
              <a:rPr lang="ko-KR" altLang="en-US" dirty="0"/>
              <a:t>표준화된 경우 </a:t>
            </a:r>
            <a:r>
              <a:rPr lang="en-US" altLang="ko-KR" dirty="0"/>
              <a:t>1 SD) </a:t>
            </a:r>
            <a:r>
              <a:rPr lang="ko-KR" altLang="en-US" dirty="0"/>
              <a:t>증가할 때 종속변수</a:t>
            </a:r>
            <a:r>
              <a:rPr lang="en-US" altLang="ko-KR" dirty="0"/>
              <a:t>(TAMA)</a:t>
            </a:r>
            <a:r>
              <a:rPr lang="ko-KR" altLang="en-US" dirty="0"/>
              <a:t>가 평균적으로 얼마나 변하는지를 나타냅니다</a:t>
            </a:r>
            <a:r>
              <a:rPr lang="en-US" altLang="ko-KR" dirty="0"/>
              <a:t>. β=44.8</a:t>
            </a:r>
            <a:r>
              <a:rPr lang="ko-KR" altLang="en-US" dirty="0"/>
              <a:t>이면 해당 변수 </a:t>
            </a:r>
            <a:r>
              <a:rPr lang="en-US" altLang="ko-KR" dirty="0"/>
              <a:t>1</a:t>
            </a:r>
            <a:r>
              <a:rPr lang="ko-KR" altLang="en-US" dirty="0"/>
              <a:t>단위 증가 시 </a:t>
            </a:r>
            <a:r>
              <a:rPr lang="en-US" altLang="ko-KR" dirty="0"/>
              <a:t>TAMA</a:t>
            </a:r>
            <a:r>
              <a:rPr lang="ko-KR" altLang="en-US" dirty="0"/>
              <a:t>가 </a:t>
            </a:r>
            <a:r>
              <a:rPr lang="en-US" altLang="ko-KR" dirty="0"/>
              <a:t>44.8 cm² </a:t>
            </a:r>
            <a:r>
              <a:rPr lang="ko-KR" altLang="en-US" dirty="0"/>
              <a:t>증가함을 의미합니다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95% CI(</a:t>
            </a:r>
            <a:r>
              <a:rPr lang="ko-KR" altLang="en-US" b="1" dirty="0"/>
              <a:t>신뢰구간</a:t>
            </a:r>
            <a:r>
              <a:rPr lang="en-US" altLang="ko-KR" b="1" dirty="0"/>
              <a:t>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모집단에서 반복 표본 추출을 </a:t>
            </a:r>
            <a:r>
              <a:rPr lang="en-US" altLang="ko-KR" dirty="0"/>
              <a:t>100</a:t>
            </a:r>
            <a:r>
              <a:rPr lang="ko-KR" altLang="en-US" dirty="0"/>
              <a:t>번 한다면 그 중 약 </a:t>
            </a:r>
            <a:r>
              <a:rPr lang="en-US" altLang="ko-KR" dirty="0"/>
              <a:t>95</a:t>
            </a:r>
            <a:r>
              <a:rPr lang="ko-KR" altLang="en-US" dirty="0"/>
              <a:t>번에서 실제 </a:t>
            </a:r>
            <a:r>
              <a:rPr lang="ko-KR" altLang="en-US" dirty="0" err="1"/>
              <a:t>모수</a:t>
            </a:r>
            <a:r>
              <a:rPr lang="en-US" altLang="ko-KR" dirty="0"/>
              <a:t>(β)</a:t>
            </a:r>
            <a:r>
              <a:rPr lang="ko-KR" altLang="en-US" dirty="0"/>
              <a:t>가 이 구간 안에 포함될 것이라는 의미입니다</a:t>
            </a:r>
            <a:r>
              <a:rPr lang="en-US" altLang="ko-KR" dirty="0"/>
              <a:t>. CI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을 포함하지 않으면 해당 변수의 효과가 통계적으로 유의합니다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p-value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</a:t>
            </a:r>
            <a:r>
              <a:rPr lang="ko-KR" altLang="en-US" dirty="0" err="1"/>
              <a:t>귀무가설</a:t>
            </a:r>
            <a:r>
              <a:rPr lang="en-US" altLang="ko-KR" dirty="0"/>
              <a:t>(</a:t>
            </a:r>
            <a:r>
              <a:rPr lang="ko-KR" altLang="en-US" dirty="0"/>
              <a:t>해당 변수가 </a:t>
            </a:r>
            <a:r>
              <a:rPr lang="en-US" altLang="ko-KR" dirty="0"/>
              <a:t>TAMA</a:t>
            </a:r>
            <a:r>
              <a:rPr lang="ko-KR" altLang="en-US" dirty="0"/>
              <a:t>에 영향 없다</a:t>
            </a:r>
            <a:r>
              <a:rPr lang="en-US" altLang="ko-KR" dirty="0"/>
              <a:t>, β=0)</a:t>
            </a:r>
            <a:r>
              <a:rPr lang="ko-KR" altLang="en-US" dirty="0"/>
              <a:t>이 참일 때 현재 관측된 결과 이상으로 극단적인 결과가 나올 확률입니다</a:t>
            </a:r>
            <a:r>
              <a:rPr lang="en-US" altLang="ko-KR" dirty="0"/>
              <a:t>. p&lt;0.05</a:t>
            </a:r>
            <a:r>
              <a:rPr lang="ko-KR" altLang="en-US" dirty="0"/>
              <a:t>이면 통계적으로 유의하다고 판단합니다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R²(</a:t>
            </a:r>
            <a:r>
              <a:rPr lang="ko-KR" altLang="en-US" b="1" dirty="0"/>
              <a:t>결정계수</a:t>
            </a:r>
            <a:r>
              <a:rPr lang="en-US" altLang="ko-KR" b="1" dirty="0"/>
              <a:t>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모델이 종속변수</a:t>
            </a:r>
            <a:r>
              <a:rPr lang="en-US" altLang="ko-KR" dirty="0"/>
              <a:t>(TAMA) </a:t>
            </a:r>
            <a:r>
              <a:rPr lang="ko-KR" altLang="en-US" dirty="0"/>
              <a:t>분산의 몇 </a:t>
            </a:r>
            <a:r>
              <a:rPr lang="en-US" altLang="ko-KR" dirty="0"/>
              <a:t>%</a:t>
            </a:r>
            <a:r>
              <a:rPr lang="ko-KR" altLang="en-US" dirty="0"/>
              <a:t>를 설명하는지를 </a:t>
            </a:r>
            <a:r>
              <a:rPr lang="en-US" altLang="ko-KR" dirty="0"/>
              <a:t>0~1</a:t>
            </a:r>
            <a:r>
              <a:rPr lang="ko-KR" altLang="en-US" dirty="0"/>
              <a:t>로 나타냅니다</a:t>
            </a:r>
            <a:r>
              <a:rPr lang="en-US" altLang="ko-KR" dirty="0"/>
              <a:t>. R²=0.518</a:t>
            </a:r>
            <a:r>
              <a:rPr lang="ko-KR" altLang="en-US" dirty="0"/>
              <a:t>이면 이 변수 하나로 </a:t>
            </a:r>
            <a:r>
              <a:rPr lang="en-US" altLang="ko-KR" dirty="0"/>
              <a:t>TAMA </a:t>
            </a:r>
            <a:r>
              <a:rPr lang="ko-KR" altLang="en-US" dirty="0"/>
              <a:t>분산의 </a:t>
            </a:r>
            <a:r>
              <a:rPr lang="en-US" altLang="ko-KR" dirty="0"/>
              <a:t>51.8%</a:t>
            </a:r>
            <a:r>
              <a:rPr lang="ko-KR" altLang="en-US" dirty="0"/>
              <a:t>를 설명한다는 의미입니다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결과를 보시면</a:t>
            </a:r>
            <a:r>
              <a:rPr lang="en-US" altLang="ko-KR" dirty="0"/>
              <a:t>, </a:t>
            </a:r>
            <a:r>
              <a:rPr lang="ko-KR" altLang="en-US" b="1" dirty="0"/>
              <a:t>성별</a:t>
            </a:r>
            <a:r>
              <a:rPr lang="ko-KR" altLang="en-US" dirty="0"/>
              <a:t>이 </a:t>
            </a:r>
            <a:r>
              <a:rPr lang="en-US" altLang="ko-KR" dirty="0"/>
              <a:t>β=44.81, R²=0.518</a:t>
            </a:r>
            <a:r>
              <a:rPr lang="ko-KR" altLang="en-US" dirty="0"/>
              <a:t>로 압도적입니다</a:t>
            </a:r>
            <a:r>
              <a:rPr lang="en-US" altLang="ko-KR" dirty="0"/>
              <a:t>. </a:t>
            </a:r>
            <a:r>
              <a:rPr lang="ko-KR" altLang="en-US" dirty="0"/>
              <a:t>성별 하나만으로 </a:t>
            </a:r>
            <a:r>
              <a:rPr lang="en-US" altLang="ko-KR" dirty="0"/>
              <a:t>TAMA </a:t>
            </a:r>
            <a:r>
              <a:rPr lang="ko-KR" altLang="en-US" dirty="0"/>
              <a:t>분산의 절반 이상을 설명하며</a:t>
            </a:r>
            <a:r>
              <a:rPr lang="en-US" altLang="ko-KR" dirty="0"/>
              <a:t>, </a:t>
            </a:r>
            <a:r>
              <a:rPr lang="ko-KR" altLang="en-US" dirty="0"/>
              <a:t>이는 남성 호르몬과 근육 발달의 생물학적 관계와 일치합니다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AEC </a:t>
            </a:r>
            <a:r>
              <a:rPr lang="ko-KR" altLang="en-US" b="1" dirty="0"/>
              <a:t>특징들</a:t>
            </a:r>
            <a:r>
              <a:rPr lang="ko-KR" altLang="en-US" dirty="0"/>
              <a:t>은 </a:t>
            </a:r>
            <a:r>
              <a:rPr lang="en-US" altLang="ko-KR" dirty="0"/>
              <a:t>p25(R²=0.134), CV(R²=0.122), skewness(R²=0.118) </a:t>
            </a:r>
            <a:r>
              <a:rPr lang="ko-KR" altLang="en-US" dirty="0"/>
              <a:t>순으로 각각 단독으로 </a:t>
            </a:r>
            <a:r>
              <a:rPr lang="en-US" altLang="ko-KR" dirty="0"/>
              <a:t>12~13% </a:t>
            </a:r>
            <a:r>
              <a:rPr lang="ko-KR" altLang="en-US" dirty="0"/>
              <a:t>설명력을 가집니다</a:t>
            </a:r>
            <a:r>
              <a:rPr lang="en-US" altLang="ko-KR" dirty="0"/>
              <a:t>. </a:t>
            </a:r>
            <a:r>
              <a:rPr lang="ko-KR" altLang="en-US" dirty="0"/>
              <a:t>이는 </a:t>
            </a:r>
            <a:r>
              <a:rPr lang="en-US" altLang="ko-KR" dirty="0"/>
              <a:t>AEC </a:t>
            </a:r>
            <a:r>
              <a:rPr lang="ko-KR" altLang="en-US" dirty="0"/>
              <a:t>곡선이 </a:t>
            </a:r>
            <a:r>
              <a:rPr lang="en-US" altLang="ko-KR" dirty="0"/>
              <a:t>TAMA</a:t>
            </a:r>
            <a:r>
              <a:rPr lang="ko-KR" altLang="en-US" dirty="0"/>
              <a:t>와 통계적으로 의미 있는 </a:t>
            </a:r>
            <a:r>
              <a:rPr lang="ko-KR" altLang="en-US" dirty="0" err="1"/>
              <a:t>단변량</a:t>
            </a:r>
            <a:r>
              <a:rPr lang="ko-KR" altLang="en-US" dirty="0"/>
              <a:t> 관계를 가짐을 보여줍니다</a:t>
            </a:r>
            <a:r>
              <a:rPr lang="en-US" altLang="ko-KR" dirty="0"/>
              <a:t>.</a:t>
            </a:r>
          </a:p>
          <a:p>
            <a:r>
              <a:rPr lang="en-US" altLang="ko-KR" b="1" dirty="0" err="1"/>
              <a:t>slope_abs_mean</a:t>
            </a:r>
            <a:r>
              <a:rPr lang="ko-KR" altLang="en-US" dirty="0"/>
              <a:t>은 </a:t>
            </a:r>
            <a:r>
              <a:rPr lang="en-US" altLang="ko-KR" dirty="0"/>
              <a:t>p=0.095</a:t>
            </a:r>
            <a:r>
              <a:rPr lang="ko-KR" altLang="en-US" dirty="0"/>
              <a:t>로 </a:t>
            </a:r>
            <a:r>
              <a:rPr lang="ko-KR" altLang="en-US" dirty="0" err="1"/>
              <a:t>단변량에서</a:t>
            </a:r>
            <a:r>
              <a:rPr lang="ko-KR" altLang="en-US" dirty="0"/>
              <a:t> 유의하지 않았습니다</a:t>
            </a:r>
            <a:r>
              <a:rPr lang="en-US" altLang="ko-KR" dirty="0"/>
              <a:t>. </a:t>
            </a:r>
            <a:r>
              <a:rPr lang="ko-KR" altLang="en-US" dirty="0"/>
              <a:t>그럼에도 </a:t>
            </a:r>
            <a:r>
              <a:rPr lang="ko-KR" altLang="en-US" dirty="0" err="1"/>
              <a:t>다변량</a:t>
            </a:r>
            <a:r>
              <a:rPr lang="ko-KR" altLang="en-US" dirty="0"/>
              <a:t> 모델에 포함한 것은 </a:t>
            </a:r>
            <a:r>
              <a:rPr lang="en-US" altLang="ko-KR" dirty="0"/>
              <a:t>VIF</a:t>
            </a:r>
            <a:r>
              <a:rPr lang="ko-KR" altLang="en-US" dirty="0"/>
              <a:t>가 낮아 다른 변수와 겹치지 않는 독립적인 정보를 제공할 가능성이 있기 때문입니다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나이</a:t>
            </a:r>
            <a:r>
              <a:rPr lang="ko-KR" altLang="en-US" dirty="0"/>
              <a:t>는 </a:t>
            </a:r>
            <a:r>
              <a:rPr lang="en-US" altLang="ko-KR" dirty="0"/>
              <a:t>R²=0.010</a:t>
            </a:r>
            <a:r>
              <a:rPr lang="ko-KR" altLang="en-US" dirty="0"/>
              <a:t>으로 단독 설명력이 낮습니다</a:t>
            </a:r>
            <a:r>
              <a:rPr lang="en-US" altLang="ko-KR" dirty="0"/>
              <a:t>. </a:t>
            </a:r>
            <a:r>
              <a:rPr lang="ko-KR" altLang="en-US" dirty="0"/>
              <a:t>방향성</a:t>
            </a:r>
            <a:r>
              <a:rPr lang="en-US" altLang="ko-KR" dirty="0"/>
              <a:t>(β=−3.0, </a:t>
            </a:r>
            <a:r>
              <a:rPr lang="ko-KR" altLang="en-US" dirty="0"/>
              <a:t>나이 많을수록 </a:t>
            </a:r>
            <a:r>
              <a:rPr lang="en-US" altLang="ko-KR" dirty="0"/>
              <a:t>TAMA </a:t>
            </a:r>
            <a:r>
              <a:rPr lang="ko-KR" altLang="en-US" dirty="0"/>
              <a:t>낮음</a:t>
            </a:r>
            <a:r>
              <a:rPr lang="en-US" altLang="ko-KR" dirty="0"/>
              <a:t>)</a:t>
            </a:r>
            <a:r>
              <a:rPr lang="ko-KR" altLang="en-US" dirty="0"/>
              <a:t>은 예상과 일치하지만 단독 기여는 제한적입니다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0537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 슬라이드의 표를 시각화한 결과입니다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왼쪽 </a:t>
            </a:r>
            <a:r>
              <a:rPr lang="en-US" altLang="ko-KR" b="1" dirty="0"/>
              <a:t>Forest plot</a:t>
            </a:r>
            <a:r>
              <a:rPr lang="ko-KR" altLang="en-US" dirty="0"/>
              <a:t>에서 각 변수의 </a:t>
            </a:r>
            <a:r>
              <a:rPr lang="en-US" altLang="ko-KR" dirty="0"/>
              <a:t>β </a:t>
            </a:r>
            <a:r>
              <a:rPr lang="ko-KR" altLang="en-US" dirty="0"/>
              <a:t>계수와 </a:t>
            </a:r>
            <a:r>
              <a:rPr lang="en-US" altLang="ko-KR" dirty="0"/>
              <a:t>95% </a:t>
            </a:r>
            <a:r>
              <a:rPr lang="ko-KR" altLang="en-US" dirty="0"/>
              <a:t>신뢰구간을 확인할 수 있습니다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Forest plot(</a:t>
            </a:r>
            <a:r>
              <a:rPr lang="ko-KR" altLang="en-US" b="1" dirty="0"/>
              <a:t>포레스트 플롯</a:t>
            </a:r>
            <a:r>
              <a:rPr lang="en-US" altLang="ko-KR" b="1" dirty="0"/>
              <a:t>)</a:t>
            </a:r>
            <a:r>
              <a:rPr lang="ko-KR" altLang="en-US" b="1" dirty="0"/>
              <a:t>이란</a:t>
            </a:r>
            <a:r>
              <a:rPr lang="en-US" altLang="ko-KR" b="1" dirty="0"/>
              <a:t>?</a:t>
            </a:r>
            <a:r>
              <a:rPr lang="ko-KR" altLang="en-US" dirty="0"/>
              <a:t> 각 변수의 회귀 계수</a:t>
            </a:r>
            <a:r>
              <a:rPr lang="en-US" altLang="ko-KR" dirty="0"/>
              <a:t>(</a:t>
            </a:r>
            <a:r>
              <a:rPr lang="ko-KR" altLang="en-US" dirty="0"/>
              <a:t>또는 </a:t>
            </a:r>
            <a:r>
              <a:rPr lang="en-US" altLang="ko-KR" dirty="0"/>
              <a:t>OR)</a:t>
            </a:r>
            <a:r>
              <a:rPr lang="ko-KR" altLang="en-US" dirty="0"/>
              <a:t>와 신뢰구간을 가로 막대 형태로 나타낸 그래프입니다</a:t>
            </a:r>
            <a:r>
              <a:rPr lang="en-US" altLang="ko-KR" dirty="0"/>
              <a:t>. </a:t>
            </a:r>
            <a:r>
              <a:rPr lang="ko-KR" altLang="en-US" dirty="0"/>
              <a:t>중앙의 점이 계수 </a:t>
            </a:r>
            <a:r>
              <a:rPr lang="ko-KR" altLang="en-US" dirty="0" err="1"/>
              <a:t>추정값</a:t>
            </a:r>
            <a:r>
              <a:rPr lang="en-US" altLang="ko-KR" dirty="0"/>
              <a:t>, </a:t>
            </a:r>
            <a:r>
              <a:rPr lang="ko-KR" altLang="en-US" dirty="0"/>
              <a:t>양쪽으로 뻗은 선이 </a:t>
            </a:r>
            <a:r>
              <a:rPr lang="ko-KR" altLang="en-US" dirty="0" err="1"/>
              <a:t>신뢰구간입니다</a:t>
            </a:r>
            <a:r>
              <a:rPr lang="en-US" altLang="ko-KR" dirty="0"/>
              <a:t>. </a:t>
            </a:r>
            <a:r>
              <a:rPr lang="ko-KR" altLang="en-US" dirty="0"/>
              <a:t>이 선이 </a:t>
            </a:r>
            <a:r>
              <a:rPr lang="en-US" altLang="ko-KR" dirty="0"/>
              <a:t>x=0(</a:t>
            </a:r>
            <a:r>
              <a:rPr lang="ko-KR" altLang="en-US" dirty="0"/>
              <a:t>선형 회귀</a:t>
            </a:r>
            <a:r>
              <a:rPr lang="en-US" altLang="ko-KR" dirty="0"/>
              <a:t>) </a:t>
            </a:r>
            <a:r>
              <a:rPr lang="ko-KR" altLang="en-US" dirty="0"/>
              <a:t>또는 </a:t>
            </a:r>
            <a:r>
              <a:rPr lang="en-US" altLang="ko-KR" dirty="0"/>
              <a:t>x=1(</a:t>
            </a:r>
            <a:r>
              <a:rPr lang="ko-KR" altLang="en-US" dirty="0"/>
              <a:t>로지스틱 회귀</a:t>
            </a:r>
            <a:r>
              <a:rPr lang="en-US" altLang="ko-KR" dirty="0"/>
              <a:t>)</a:t>
            </a:r>
            <a:r>
              <a:rPr lang="ko-KR" altLang="en-US" dirty="0"/>
              <a:t>을 가로지르지 않으면 통계적으로 유의한 효과가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성별의 </a:t>
            </a:r>
            <a:r>
              <a:rPr lang="en-US" altLang="ko-KR" dirty="0"/>
              <a:t>CI [42.74, 46.89]</a:t>
            </a:r>
            <a:r>
              <a:rPr lang="ko-KR" altLang="en-US" dirty="0"/>
              <a:t>는 </a:t>
            </a:r>
            <a:r>
              <a:rPr lang="en-US" altLang="ko-KR" dirty="0"/>
              <a:t>0</a:t>
            </a:r>
            <a:r>
              <a:rPr lang="ko-KR" altLang="en-US" dirty="0"/>
              <a:t>에서 멀리 떨어져 있고</a:t>
            </a:r>
            <a:r>
              <a:rPr lang="en-US" altLang="ko-KR" dirty="0"/>
              <a:t>, AEC 3</a:t>
            </a:r>
            <a:r>
              <a:rPr lang="ko-KR" altLang="en-US" dirty="0"/>
              <a:t>개 변수도 모두 </a:t>
            </a:r>
            <a:r>
              <a:rPr lang="en-US" altLang="ko-KR" dirty="0"/>
              <a:t>0</a:t>
            </a:r>
            <a:r>
              <a:rPr lang="ko-KR" altLang="en-US" dirty="0"/>
              <a:t>을 포함하지 않아 통계적으로 유의합니다</a:t>
            </a:r>
            <a:r>
              <a:rPr lang="en-US" altLang="ko-KR" dirty="0"/>
              <a:t>. </a:t>
            </a:r>
            <a:r>
              <a:rPr lang="ko-KR" altLang="en-US" dirty="0"/>
              <a:t>반면 </a:t>
            </a:r>
            <a:r>
              <a:rPr lang="en-US" altLang="ko-KR" dirty="0" err="1"/>
              <a:t>slope_abs_mean</a:t>
            </a:r>
            <a:r>
              <a:rPr lang="ko-KR" altLang="en-US" dirty="0"/>
              <a:t>의 </a:t>
            </a:r>
            <a:r>
              <a:rPr lang="en-US" altLang="ko-KR" dirty="0"/>
              <a:t>CI</a:t>
            </a:r>
            <a:r>
              <a:rPr lang="ko-KR" altLang="en-US" dirty="0"/>
              <a:t>는 </a:t>
            </a:r>
            <a:r>
              <a:rPr lang="en-US" altLang="ko-KR" dirty="0"/>
              <a:t>0</a:t>
            </a:r>
            <a:r>
              <a:rPr lang="ko-KR" altLang="en-US" dirty="0"/>
              <a:t>을 포함하여 </a:t>
            </a:r>
            <a:r>
              <a:rPr lang="ko-KR" altLang="en-US" dirty="0" err="1"/>
              <a:t>단변량에서의</a:t>
            </a:r>
            <a:r>
              <a:rPr lang="ko-KR" altLang="en-US" dirty="0"/>
              <a:t> 불확실성을 시각적으로 확인할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 그래프는 </a:t>
            </a:r>
            <a:r>
              <a:rPr lang="ko-KR" altLang="en-US" dirty="0" err="1"/>
              <a:t>단변량</a:t>
            </a:r>
            <a:r>
              <a:rPr lang="ko-KR" altLang="en-US" dirty="0"/>
              <a:t> </a:t>
            </a:r>
            <a:r>
              <a:rPr lang="en-US" altLang="ko-KR" dirty="0"/>
              <a:t>R² </a:t>
            </a:r>
            <a:r>
              <a:rPr lang="ko-KR" altLang="en-US" dirty="0"/>
              <a:t>비교 막대 그래프로</a:t>
            </a:r>
            <a:r>
              <a:rPr lang="en-US" altLang="ko-KR" dirty="0"/>
              <a:t>, </a:t>
            </a:r>
            <a:r>
              <a:rPr lang="ko-KR" altLang="en-US" dirty="0"/>
              <a:t>성별이 압도적으로 높고 </a:t>
            </a:r>
            <a:r>
              <a:rPr lang="en-US" altLang="ko-KR" dirty="0"/>
              <a:t>AEC 3</a:t>
            </a:r>
            <a:r>
              <a:rPr lang="ko-KR" altLang="en-US" dirty="0"/>
              <a:t>개 변수가 </a:t>
            </a:r>
            <a:r>
              <a:rPr lang="ko-KR" altLang="en-US" dirty="0" err="1"/>
              <a:t>그다음임을</a:t>
            </a:r>
            <a:r>
              <a:rPr lang="ko-KR" altLang="en-US" dirty="0"/>
              <a:t> 직관적으로 보여줍니다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5829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슬라이드는 선형 회귀의 핵심 비교입니다</a:t>
            </a:r>
            <a:r>
              <a:rPr lang="en-US" altLang="ko-KR" dirty="0"/>
              <a:t>. </a:t>
            </a:r>
            <a:r>
              <a:rPr lang="en-US" altLang="ko-KR" b="1" dirty="0"/>
              <a:t>AEC </a:t>
            </a:r>
            <a:r>
              <a:rPr lang="ko-KR" altLang="en-US" b="1" dirty="0"/>
              <a:t>특징</a:t>
            </a:r>
            <a:r>
              <a:rPr lang="en-US" altLang="ko-KR" b="1" dirty="0"/>
              <a:t>+CT </a:t>
            </a:r>
            <a:r>
              <a:rPr lang="ko-KR" altLang="en-US" b="1" dirty="0"/>
              <a:t>모델명만 투입한 </a:t>
            </a:r>
            <a:r>
              <a:rPr lang="en-US" altLang="ko-KR" b="1" dirty="0"/>
              <a:t>Model A</a:t>
            </a:r>
            <a:r>
              <a:rPr lang="ko-KR" altLang="en-US" dirty="0"/>
              <a:t>와</a:t>
            </a:r>
            <a:r>
              <a:rPr lang="en-US" altLang="ko-KR" dirty="0"/>
              <a:t>, </a:t>
            </a:r>
            <a:r>
              <a:rPr lang="ko-KR" altLang="en-US" b="1" dirty="0"/>
              <a:t>여기에 성별</a:t>
            </a:r>
            <a:r>
              <a:rPr lang="en-US" altLang="ko-KR" b="1" dirty="0"/>
              <a:t>·</a:t>
            </a:r>
            <a:r>
              <a:rPr lang="ko-KR" altLang="en-US" b="1" dirty="0"/>
              <a:t>나이를 추가한 </a:t>
            </a:r>
            <a:r>
              <a:rPr lang="en-US" altLang="ko-KR" b="1" dirty="0"/>
              <a:t>Model B</a:t>
            </a:r>
            <a:r>
              <a:rPr lang="ko-KR" altLang="en-US" dirty="0"/>
              <a:t>를 나란히 비교합니다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Adjusted R²(</a:t>
            </a:r>
            <a:r>
              <a:rPr lang="ko-KR" altLang="en-US" b="1" dirty="0"/>
              <a:t>수정 결정계수</a:t>
            </a:r>
            <a:r>
              <a:rPr lang="en-US" altLang="ko-KR" b="1" dirty="0"/>
              <a:t>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R²</a:t>
            </a:r>
            <a:r>
              <a:rPr lang="ko-KR" altLang="en-US" dirty="0"/>
              <a:t>는 변수를 추가할수록 무조건 증가하는 성질이 있습니다</a:t>
            </a:r>
            <a:r>
              <a:rPr lang="en-US" altLang="ko-KR" dirty="0"/>
              <a:t>. </a:t>
            </a:r>
            <a:r>
              <a:rPr lang="ko-KR" altLang="en-US" dirty="0"/>
              <a:t>그래서 변수 수가 다른 모델 간 비교에는 적합하지 않습니다</a:t>
            </a:r>
            <a:r>
              <a:rPr lang="en-US" altLang="ko-KR" dirty="0"/>
              <a:t>. Adjusted R²</a:t>
            </a:r>
            <a:r>
              <a:rPr lang="ko-KR" altLang="en-US" dirty="0"/>
              <a:t>는 변수 수에 페널티를 부여하여 보정합니다</a:t>
            </a:r>
            <a:r>
              <a:rPr lang="en-US" altLang="ko-KR" dirty="0"/>
              <a:t>. </a:t>
            </a:r>
            <a:r>
              <a:rPr lang="ko-KR" altLang="en-US" dirty="0"/>
              <a:t>변수 추가 후 </a:t>
            </a:r>
            <a:r>
              <a:rPr lang="en-US" altLang="ko-KR" dirty="0"/>
              <a:t>Adjusted R²</a:t>
            </a:r>
            <a:r>
              <a:rPr lang="ko-KR" altLang="en-US" dirty="0"/>
              <a:t>도 함께 증가하면 실질적인 정보가 추가된 것이고</a:t>
            </a:r>
            <a:r>
              <a:rPr lang="en-US" altLang="ko-KR" dirty="0"/>
              <a:t>, R²</a:t>
            </a:r>
            <a:r>
              <a:rPr lang="ko-KR" altLang="en-US" dirty="0"/>
              <a:t>만 증가하고 </a:t>
            </a:r>
            <a:r>
              <a:rPr lang="en-US" altLang="ko-KR" dirty="0"/>
              <a:t>Adjusted R²</a:t>
            </a:r>
            <a:r>
              <a:rPr lang="ko-KR" altLang="en-US" dirty="0"/>
              <a:t>가 감소하면 노이즈 변수가 추가된 것입니다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RMSE(Root Mean Squared Error)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</a:t>
            </a:r>
            <a:r>
              <a:rPr lang="ko-KR" altLang="en-US" dirty="0" err="1"/>
              <a:t>예측값과</a:t>
            </a:r>
            <a:r>
              <a:rPr lang="ko-KR" altLang="en-US" dirty="0"/>
              <a:t> </a:t>
            </a:r>
            <a:r>
              <a:rPr lang="ko-KR" altLang="en-US" dirty="0" err="1"/>
              <a:t>실제값</a:t>
            </a:r>
            <a:r>
              <a:rPr lang="ko-KR" altLang="en-US" dirty="0"/>
              <a:t> 차이</a:t>
            </a:r>
            <a:r>
              <a:rPr lang="en-US" altLang="ko-KR" dirty="0"/>
              <a:t>(</a:t>
            </a:r>
            <a:r>
              <a:rPr lang="ko-KR" altLang="en-US" dirty="0" err="1"/>
              <a:t>잔차</a:t>
            </a:r>
            <a:r>
              <a:rPr lang="en-US" altLang="ko-KR" dirty="0"/>
              <a:t>)</a:t>
            </a:r>
            <a:r>
              <a:rPr lang="ko-KR" altLang="en-US" dirty="0"/>
              <a:t>의 제곱 평균에 루트를 취한 값으로</a:t>
            </a:r>
            <a:r>
              <a:rPr lang="en-US" altLang="ko-KR" dirty="0"/>
              <a:t>, </a:t>
            </a:r>
            <a:r>
              <a:rPr lang="ko-KR" altLang="en-US" dirty="0"/>
              <a:t>종속변수와 같은 단위</a:t>
            </a:r>
            <a:r>
              <a:rPr lang="en-US" altLang="ko-KR" dirty="0"/>
              <a:t>(cm²)</a:t>
            </a:r>
            <a:r>
              <a:rPr lang="ko-KR" altLang="en-US" dirty="0"/>
              <a:t>를 가집니다</a:t>
            </a:r>
            <a:r>
              <a:rPr lang="en-US" altLang="ko-KR" dirty="0"/>
              <a:t>. </a:t>
            </a:r>
            <a:r>
              <a:rPr lang="ko-KR" altLang="en-US" dirty="0"/>
              <a:t>예를 들어 </a:t>
            </a:r>
            <a:r>
              <a:rPr lang="en-US" altLang="ko-KR" dirty="0"/>
              <a:t>RMSE=17.84 cm²</a:t>
            </a:r>
            <a:r>
              <a:rPr lang="ko-KR" altLang="en-US" dirty="0"/>
              <a:t>이면 모델이 평균적으로 실제 </a:t>
            </a:r>
            <a:r>
              <a:rPr lang="en-US" altLang="ko-KR" dirty="0"/>
              <a:t>TAMA</a:t>
            </a:r>
            <a:r>
              <a:rPr lang="ko-KR" altLang="en-US" dirty="0"/>
              <a:t>에서 약 </a:t>
            </a:r>
            <a:r>
              <a:rPr lang="en-US" altLang="ko-KR" dirty="0"/>
              <a:t>±17.84 cm² </a:t>
            </a:r>
            <a:r>
              <a:rPr lang="ko-KR" altLang="en-US" dirty="0"/>
              <a:t>오차로 예측한다는 의미입니다</a:t>
            </a:r>
            <a:r>
              <a:rPr lang="en-US" altLang="ko-KR" dirty="0"/>
              <a:t>. </a:t>
            </a:r>
            <a:r>
              <a:rPr lang="ko-KR" altLang="en-US" dirty="0"/>
              <a:t>큰 오차에 더 민감한 지표입니다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MAE(Mean Absolute Error)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</a:t>
            </a:r>
            <a:r>
              <a:rPr lang="ko-KR" altLang="en-US" dirty="0" err="1"/>
              <a:t>잔차의</a:t>
            </a:r>
            <a:r>
              <a:rPr lang="ko-KR" altLang="en-US" dirty="0"/>
              <a:t> 절대값 평균입니다</a:t>
            </a:r>
            <a:r>
              <a:rPr lang="en-US" altLang="ko-KR" dirty="0"/>
              <a:t>. RMSE</a:t>
            </a:r>
            <a:r>
              <a:rPr lang="ko-KR" altLang="en-US" dirty="0"/>
              <a:t>보다 이상치</a:t>
            </a:r>
            <a:r>
              <a:rPr lang="en-US" altLang="ko-KR" dirty="0"/>
              <a:t>(outlier)</a:t>
            </a:r>
            <a:r>
              <a:rPr lang="ko-KR" altLang="en-US" dirty="0"/>
              <a:t>에 덜 민감하여 두 지표를 함께 보고합니다</a:t>
            </a:r>
            <a:r>
              <a:rPr lang="en-US" altLang="ko-KR" dirty="0"/>
              <a:t>. RMSE &gt; MAE</a:t>
            </a:r>
            <a:r>
              <a:rPr lang="ko-KR" altLang="en-US" dirty="0"/>
              <a:t>인 경우 일부 예측 오차가 크게 발생하고 있다는 신호입니다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AIC(Akaike Information Criterion, </a:t>
            </a:r>
            <a:r>
              <a:rPr lang="ko-KR" altLang="en-US" b="1" dirty="0" err="1"/>
              <a:t>아카이케</a:t>
            </a:r>
            <a:r>
              <a:rPr lang="ko-KR" altLang="en-US" b="1" dirty="0"/>
              <a:t> 정보 기준</a:t>
            </a:r>
            <a:r>
              <a:rPr lang="en-US" altLang="ko-KR" b="1" dirty="0"/>
              <a:t>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모델의 로그우도</a:t>
            </a:r>
            <a:r>
              <a:rPr lang="en-US" altLang="ko-KR" dirty="0"/>
              <a:t>(log-likelihood, </a:t>
            </a:r>
            <a:r>
              <a:rPr lang="ko-KR" altLang="en-US" dirty="0"/>
              <a:t>데이터를 얼마나 잘 설명하는가</a:t>
            </a:r>
            <a:r>
              <a:rPr lang="en-US" altLang="ko-KR" dirty="0"/>
              <a:t>)</a:t>
            </a:r>
            <a:r>
              <a:rPr lang="ko-KR" altLang="en-US" dirty="0"/>
              <a:t>에서 변수 수에 비례하는 페널티를 빼서 계산합니다</a:t>
            </a:r>
            <a:r>
              <a:rPr lang="en-US" altLang="ko-KR" dirty="0"/>
              <a:t>. </a:t>
            </a:r>
            <a:r>
              <a:rPr lang="ko-KR" altLang="en-US" dirty="0"/>
              <a:t>변수를 늘려도 설명력 향상이 충분하지 않으면 </a:t>
            </a:r>
            <a:r>
              <a:rPr lang="en-US" altLang="ko-KR" dirty="0"/>
              <a:t>AIC</a:t>
            </a:r>
            <a:r>
              <a:rPr lang="ko-KR" altLang="en-US" dirty="0"/>
              <a:t>가 오히려 증가합니다</a:t>
            </a:r>
            <a:r>
              <a:rPr lang="en-US" altLang="ko-KR" dirty="0"/>
              <a:t>. </a:t>
            </a:r>
            <a:r>
              <a:rPr lang="ko-KR" altLang="en-US" b="1" dirty="0"/>
              <a:t>낮을수록 좋은 모델</a:t>
            </a:r>
            <a:r>
              <a:rPr lang="ko-KR" altLang="en-US" dirty="0"/>
              <a:t>이며</a:t>
            </a:r>
            <a:r>
              <a:rPr lang="en-US" altLang="ko-KR" dirty="0"/>
              <a:t>, </a:t>
            </a:r>
            <a:r>
              <a:rPr lang="ko-KR" altLang="en-US" dirty="0"/>
              <a:t>서로 다른 변수 구성을 가진 모델 간 비교에 사용합니다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CV R²(</a:t>
            </a:r>
            <a:r>
              <a:rPr lang="ko-KR" altLang="en-US" b="1" dirty="0"/>
              <a:t>교차검증 </a:t>
            </a:r>
            <a:r>
              <a:rPr lang="en-US" altLang="ko-KR" b="1" dirty="0"/>
              <a:t>R²)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학습에 사용하지 않은 데이터에서 측정한 </a:t>
            </a:r>
            <a:r>
              <a:rPr lang="en-US" altLang="ko-KR" dirty="0"/>
              <a:t>R²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학습 데이터 </a:t>
            </a:r>
            <a:r>
              <a:rPr lang="en-US" altLang="ko-KR" dirty="0"/>
              <a:t>R²</a:t>
            </a:r>
            <a:r>
              <a:rPr lang="ko-KR" altLang="en-US" dirty="0"/>
              <a:t>와 </a:t>
            </a:r>
            <a:r>
              <a:rPr lang="en-US" altLang="ko-KR" dirty="0"/>
              <a:t>CV R²</a:t>
            </a:r>
            <a:r>
              <a:rPr lang="ko-KR" altLang="en-US" dirty="0"/>
              <a:t>의 차이가 클수록 </a:t>
            </a:r>
            <a:r>
              <a:rPr lang="ko-KR" altLang="en-US" dirty="0" err="1"/>
              <a:t>과적합</a:t>
            </a:r>
            <a:r>
              <a:rPr lang="en-US" altLang="ko-KR" dirty="0"/>
              <a:t>(overfitting) </a:t>
            </a:r>
            <a:r>
              <a:rPr lang="ko-KR" altLang="en-US" dirty="0"/>
              <a:t>위험이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결과를 보시면 </a:t>
            </a:r>
            <a:r>
              <a:rPr lang="en-US" altLang="ko-KR" b="1" dirty="0"/>
              <a:t>R²</a:t>
            </a:r>
            <a:r>
              <a:rPr lang="ko-KR" altLang="en-US" b="1" dirty="0"/>
              <a:t>가 </a:t>
            </a:r>
            <a:r>
              <a:rPr lang="en-US" altLang="ko-KR" b="1" dirty="0"/>
              <a:t>0.263</a:t>
            </a:r>
            <a:r>
              <a:rPr lang="ko-KR" altLang="en-US" b="1" dirty="0"/>
              <a:t>에서 </a:t>
            </a:r>
            <a:r>
              <a:rPr lang="en-US" altLang="ko-KR" b="1" dirty="0"/>
              <a:t>0.657</a:t>
            </a:r>
            <a:r>
              <a:rPr lang="ko-KR" altLang="en-US" b="1" dirty="0"/>
              <a:t>로 </a:t>
            </a:r>
            <a:r>
              <a:rPr lang="en-US" altLang="ko-KR" b="1" dirty="0"/>
              <a:t>+39.5%p </a:t>
            </a:r>
            <a:r>
              <a:rPr lang="ko-KR" altLang="en-US" b="1" dirty="0"/>
              <a:t>향상</a:t>
            </a:r>
            <a:r>
              <a:rPr lang="en-US" altLang="ko-KR" dirty="0"/>
              <a:t>, RMSE</a:t>
            </a:r>
            <a:r>
              <a:rPr lang="ko-KR" altLang="en-US" dirty="0"/>
              <a:t>는 </a:t>
            </a:r>
            <a:r>
              <a:rPr lang="en-US" altLang="ko-KR" dirty="0"/>
              <a:t>26.17</a:t>
            </a:r>
            <a:r>
              <a:rPr lang="ko-KR" altLang="en-US" dirty="0"/>
              <a:t>에서 </a:t>
            </a:r>
            <a:r>
              <a:rPr lang="en-US" altLang="ko-KR" dirty="0"/>
              <a:t>17.84 cm²</a:t>
            </a:r>
            <a:r>
              <a:rPr lang="ko-KR" altLang="en-US" dirty="0"/>
              <a:t>로 약 </a:t>
            </a:r>
            <a:r>
              <a:rPr lang="en-US" altLang="ko-KR" dirty="0"/>
              <a:t>8.3 cm² </a:t>
            </a:r>
            <a:r>
              <a:rPr lang="ko-KR" altLang="en-US" dirty="0"/>
              <a:t>감소</a:t>
            </a:r>
            <a:r>
              <a:rPr lang="en-US" altLang="ko-KR" dirty="0"/>
              <a:t>, CV R²</a:t>
            </a:r>
            <a:r>
              <a:rPr lang="ko-KR" altLang="en-US" dirty="0"/>
              <a:t>도 </a:t>
            </a:r>
            <a:r>
              <a:rPr lang="en-US" altLang="ko-KR" dirty="0"/>
              <a:t>0.221</a:t>
            </a:r>
            <a:r>
              <a:rPr lang="ko-KR" altLang="en-US" dirty="0"/>
              <a:t>에서 </a:t>
            </a:r>
            <a:r>
              <a:rPr lang="en-US" altLang="ko-KR" dirty="0"/>
              <a:t>0.634</a:t>
            </a:r>
            <a:r>
              <a:rPr lang="ko-KR" altLang="en-US" dirty="0"/>
              <a:t>로 크게 향상됩니다</a:t>
            </a:r>
            <a:r>
              <a:rPr lang="en-US" altLang="ko-KR" dirty="0"/>
              <a:t>. </a:t>
            </a:r>
            <a:r>
              <a:rPr lang="ko-KR" altLang="en-US" b="1" dirty="0"/>
              <a:t>성별</a:t>
            </a:r>
            <a:r>
              <a:rPr lang="en-US" altLang="ko-KR" b="1" dirty="0"/>
              <a:t>·</a:t>
            </a:r>
            <a:r>
              <a:rPr lang="ko-KR" altLang="en-US" b="1" dirty="0"/>
              <a:t>나이가 </a:t>
            </a:r>
            <a:r>
              <a:rPr lang="en-US" altLang="ko-KR" b="1" dirty="0"/>
              <a:t>TAMA </a:t>
            </a:r>
            <a:r>
              <a:rPr lang="ko-KR" altLang="en-US" b="1" dirty="0"/>
              <a:t>예측의 핵심 기여 변수</a:t>
            </a:r>
            <a:r>
              <a:rPr lang="ko-KR" altLang="en-US" dirty="0"/>
              <a:t>임을 수치로 확인합니다</a:t>
            </a:r>
            <a:r>
              <a:rPr lang="en-US" altLang="ko-KR" dirty="0"/>
              <a:t>. </a:t>
            </a:r>
            <a:r>
              <a:rPr lang="ko-KR" altLang="en-US" dirty="0"/>
              <a:t>동시에 성별</a:t>
            </a:r>
            <a:r>
              <a:rPr lang="en-US" altLang="ko-KR" dirty="0"/>
              <a:t>·</a:t>
            </a:r>
            <a:r>
              <a:rPr lang="ko-KR" altLang="en-US" dirty="0"/>
              <a:t>나이 없는 </a:t>
            </a:r>
            <a:r>
              <a:rPr lang="en-US" altLang="ko-KR" dirty="0"/>
              <a:t>Model A</a:t>
            </a:r>
            <a:r>
              <a:rPr lang="ko-KR" altLang="en-US" dirty="0"/>
              <a:t>에서도 </a:t>
            </a:r>
            <a:r>
              <a:rPr lang="en-US" altLang="ko-KR" dirty="0"/>
              <a:t>R²=0.263</a:t>
            </a:r>
            <a:r>
              <a:rPr lang="ko-KR" altLang="en-US" dirty="0"/>
              <a:t>을 달성한 것은 </a:t>
            </a:r>
            <a:r>
              <a:rPr lang="en-US" altLang="ko-KR" b="1" dirty="0"/>
              <a:t>AEC </a:t>
            </a:r>
            <a:r>
              <a:rPr lang="ko-KR" altLang="en-US" b="1" dirty="0"/>
              <a:t>곡선 자체가 체형 정보를 독립적으로 담고 있다</a:t>
            </a:r>
            <a:r>
              <a:rPr lang="ko-KR" altLang="en-US" dirty="0"/>
              <a:t>는 근거가 됩니다</a:t>
            </a:r>
            <a:r>
              <a:rPr lang="en-US" altLang="ko-KR" dirty="0"/>
              <a:t>.</a:t>
            </a:r>
          </a:p>
          <a:p>
            <a:r>
              <a:rPr lang="ko-KR" altLang="en-US" b="1" dirty="0" err="1"/>
              <a:t>잔차</a:t>
            </a:r>
            <a:r>
              <a:rPr lang="ko-KR" altLang="en-US" b="1" dirty="0"/>
              <a:t> 진단</a:t>
            </a:r>
            <a:r>
              <a:rPr lang="ko-KR" altLang="en-US" dirty="0"/>
              <a:t>을 보시면</a:t>
            </a:r>
            <a:r>
              <a:rPr lang="en-US" altLang="ko-KR" dirty="0"/>
              <a:t>, Shapiro-Wilk p&lt;0.001</a:t>
            </a:r>
            <a:r>
              <a:rPr lang="ko-KR" altLang="en-US" dirty="0"/>
              <a:t>로 </a:t>
            </a:r>
            <a:r>
              <a:rPr lang="ko-KR" altLang="en-US" dirty="0" err="1"/>
              <a:t>잔차</a:t>
            </a:r>
            <a:r>
              <a:rPr lang="ko-KR" altLang="en-US" dirty="0"/>
              <a:t> 정규성이 위반되었고</a:t>
            </a:r>
            <a:r>
              <a:rPr lang="en-US" altLang="ko-KR" dirty="0"/>
              <a:t>, Breusch-Pagan p&lt;0.001</a:t>
            </a:r>
            <a:r>
              <a:rPr lang="ko-KR" altLang="en-US" dirty="0"/>
              <a:t>로 이분산성이 확인되었습니다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Shapiro-Wilk </a:t>
            </a:r>
            <a:r>
              <a:rPr lang="ko-KR" altLang="en-US" b="1" dirty="0"/>
              <a:t>검정이란</a:t>
            </a:r>
            <a:r>
              <a:rPr lang="en-US" altLang="ko-KR" b="1" dirty="0"/>
              <a:t>?</a:t>
            </a:r>
            <a:r>
              <a:rPr lang="ko-KR" altLang="en-US" dirty="0"/>
              <a:t> </a:t>
            </a:r>
            <a:r>
              <a:rPr lang="ko-KR" altLang="en-US" dirty="0" err="1"/>
              <a:t>잔차</a:t>
            </a:r>
            <a:r>
              <a:rPr lang="en-US" altLang="ko-KR" dirty="0"/>
              <a:t>(</a:t>
            </a:r>
            <a:r>
              <a:rPr lang="ko-KR" altLang="en-US" dirty="0" err="1"/>
              <a:t>예측값과</a:t>
            </a:r>
            <a:r>
              <a:rPr lang="ko-KR" altLang="en-US" dirty="0"/>
              <a:t> </a:t>
            </a:r>
            <a:r>
              <a:rPr lang="ko-KR" altLang="en-US" dirty="0" err="1"/>
              <a:t>실제값의</a:t>
            </a:r>
            <a:r>
              <a:rPr lang="ko-KR" altLang="en-US" dirty="0"/>
              <a:t> 차이</a:t>
            </a:r>
            <a:r>
              <a:rPr lang="en-US" altLang="ko-KR" dirty="0"/>
              <a:t>)</a:t>
            </a:r>
            <a:r>
              <a:rPr lang="ko-KR" altLang="en-US" dirty="0"/>
              <a:t>가 정규분포를 </a:t>
            </a:r>
            <a:r>
              <a:rPr lang="ko-KR" altLang="en-US" dirty="0" err="1"/>
              <a:t>따르는지</a:t>
            </a:r>
            <a:r>
              <a:rPr lang="ko-KR" altLang="en-US" dirty="0"/>
              <a:t> 검정합니다</a:t>
            </a:r>
            <a:r>
              <a:rPr lang="en-US" altLang="ko-KR" dirty="0"/>
              <a:t>. OLS</a:t>
            </a:r>
            <a:r>
              <a:rPr lang="ko-KR" altLang="en-US" dirty="0"/>
              <a:t>는 </a:t>
            </a:r>
            <a:r>
              <a:rPr lang="ko-KR" altLang="en-US" dirty="0" err="1"/>
              <a:t>잔차</a:t>
            </a:r>
            <a:r>
              <a:rPr lang="ko-KR" altLang="en-US" dirty="0"/>
              <a:t> 정규성을 가정하며</a:t>
            </a:r>
            <a:r>
              <a:rPr lang="en-US" altLang="ko-KR" dirty="0"/>
              <a:t>, </a:t>
            </a:r>
            <a:r>
              <a:rPr lang="ko-KR" altLang="en-US" dirty="0"/>
              <a:t>이 가정이 위반되면 </a:t>
            </a:r>
            <a:r>
              <a:rPr lang="en-US" altLang="ko-KR" dirty="0"/>
              <a:t>t-</a:t>
            </a:r>
            <a:r>
              <a:rPr lang="ko-KR" altLang="en-US" dirty="0"/>
              <a:t>검정 </a:t>
            </a:r>
            <a:r>
              <a:rPr lang="en-US" altLang="ko-KR" dirty="0"/>
              <a:t>p-value </a:t>
            </a:r>
            <a:r>
              <a:rPr lang="ko-KR" altLang="en-US" dirty="0"/>
              <a:t>해석에 주의가 필요합니다</a:t>
            </a:r>
            <a:r>
              <a:rPr lang="en-US" altLang="ko-KR" dirty="0"/>
              <a:t>. </a:t>
            </a:r>
            <a:r>
              <a:rPr lang="ko-KR" altLang="en-US" dirty="0"/>
              <a:t>단</a:t>
            </a:r>
            <a:r>
              <a:rPr lang="en-US" altLang="ko-KR" dirty="0"/>
              <a:t>, n=1,672</a:t>
            </a:r>
            <a:r>
              <a:rPr lang="ko-KR" altLang="en-US" dirty="0"/>
              <a:t>의 대표본에서는 중심극한정리에 의해 어느 정도 완화됩니다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Breusch-Pagan </a:t>
            </a:r>
            <a:r>
              <a:rPr lang="ko-KR" altLang="en-US" b="1" dirty="0"/>
              <a:t>검정이란</a:t>
            </a:r>
            <a:r>
              <a:rPr lang="en-US" altLang="ko-KR" b="1" dirty="0"/>
              <a:t>?</a:t>
            </a:r>
            <a:r>
              <a:rPr lang="ko-KR" altLang="en-US" dirty="0"/>
              <a:t> </a:t>
            </a:r>
            <a:r>
              <a:rPr lang="ko-KR" altLang="en-US" dirty="0" err="1"/>
              <a:t>잔차의</a:t>
            </a:r>
            <a:r>
              <a:rPr lang="ko-KR" altLang="en-US" dirty="0"/>
              <a:t> 분산이 예측 변수 수준에 따라 달라지는지</a:t>
            </a:r>
            <a:r>
              <a:rPr lang="en-US" altLang="ko-KR" dirty="0"/>
              <a:t>(</a:t>
            </a:r>
            <a:r>
              <a:rPr lang="ko-KR" altLang="en-US" dirty="0"/>
              <a:t>이분산성</a:t>
            </a:r>
            <a:r>
              <a:rPr lang="en-US" altLang="ko-KR" dirty="0"/>
              <a:t>, heteroscedasticity)</a:t>
            </a:r>
            <a:r>
              <a:rPr lang="ko-KR" altLang="en-US" dirty="0"/>
              <a:t>를 검정합니다</a:t>
            </a:r>
            <a:r>
              <a:rPr lang="en-US" altLang="ko-KR" dirty="0"/>
              <a:t>. p&lt;0.05</a:t>
            </a:r>
            <a:r>
              <a:rPr lang="ko-KR" altLang="en-US" dirty="0"/>
              <a:t>이면 이분산성이 존재하여 표준 </a:t>
            </a:r>
            <a:r>
              <a:rPr lang="en-US" altLang="ko-KR" dirty="0"/>
              <a:t>OLS</a:t>
            </a:r>
            <a:r>
              <a:rPr lang="ko-KR" altLang="en-US" dirty="0"/>
              <a:t>의 표준오차 추정이 부정확해질 수 있습니다</a:t>
            </a:r>
            <a:r>
              <a:rPr lang="en-US" altLang="ko-KR" dirty="0"/>
              <a:t>. </a:t>
            </a:r>
            <a:r>
              <a:rPr lang="ko-KR" altLang="en-US" dirty="0"/>
              <a:t>이 경우 </a:t>
            </a:r>
            <a:r>
              <a:rPr lang="en-US" altLang="ko-KR" dirty="0"/>
              <a:t>HC3 Robust Standard Errors </a:t>
            </a:r>
            <a:r>
              <a:rPr lang="ko-KR" altLang="en-US" dirty="0"/>
              <a:t>적용을 검토할 수 있습니다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Durbin-Watson </a:t>
            </a:r>
            <a:r>
              <a:rPr lang="ko-KR" altLang="en-US" b="1" dirty="0"/>
              <a:t>통계량이란</a:t>
            </a:r>
            <a:r>
              <a:rPr lang="en-US" altLang="ko-KR" b="1" dirty="0"/>
              <a:t>?</a:t>
            </a:r>
            <a:r>
              <a:rPr lang="ko-KR" altLang="en-US" dirty="0"/>
              <a:t> </a:t>
            </a:r>
            <a:r>
              <a:rPr lang="ko-KR" altLang="en-US" dirty="0" err="1"/>
              <a:t>잔차의</a:t>
            </a:r>
            <a:r>
              <a:rPr lang="ko-KR" altLang="en-US" dirty="0"/>
              <a:t> 자기상관</a:t>
            </a:r>
            <a:r>
              <a:rPr lang="en-US" altLang="ko-KR" dirty="0"/>
              <a:t>(</a:t>
            </a:r>
            <a:r>
              <a:rPr lang="ko-KR" altLang="en-US" dirty="0"/>
              <a:t>인접 관측치끼리 </a:t>
            </a:r>
            <a:r>
              <a:rPr lang="ko-KR" altLang="en-US" dirty="0" err="1"/>
              <a:t>잔차가</a:t>
            </a:r>
            <a:r>
              <a:rPr lang="ko-KR" altLang="en-US" dirty="0"/>
              <a:t> 서로 영향을 주는지</a:t>
            </a:r>
            <a:r>
              <a:rPr lang="en-US" altLang="ko-KR" dirty="0"/>
              <a:t>)</a:t>
            </a:r>
            <a:r>
              <a:rPr lang="ko-KR" altLang="en-US" dirty="0"/>
              <a:t>을 검정합니다</a:t>
            </a:r>
            <a:r>
              <a:rPr lang="en-US" altLang="ko-KR" dirty="0"/>
              <a:t>. </a:t>
            </a:r>
            <a:r>
              <a:rPr lang="ko-KR" altLang="en-US" dirty="0"/>
              <a:t>값이 </a:t>
            </a:r>
            <a:r>
              <a:rPr lang="en-US" altLang="ko-KR" dirty="0"/>
              <a:t>2.0</a:t>
            </a:r>
            <a:r>
              <a:rPr lang="ko-KR" altLang="en-US" dirty="0"/>
              <a:t>에 가까울수록 자기상관이 없어 정상입니다</a:t>
            </a:r>
            <a:r>
              <a:rPr lang="en-US" altLang="ko-KR" dirty="0"/>
              <a:t>. </a:t>
            </a:r>
            <a:r>
              <a:rPr lang="ko-KR" altLang="en-US" dirty="0"/>
              <a:t>이번 결과 </a:t>
            </a:r>
            <a:r>
              <a:rPr lang="en-US" altLang="ko-KR" dirty="0"/>
              <a:t>1.97</a:t>
            </a:r>
            <a:r>
              <a:rPr lang="ko-KR" altLang="en-US" dirty="0"/>
              <a:t>은 자기상관 문제가 없음을 나타냅니다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Condition number(κ)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</a:t>
            </a:r>
            <a:r>
              <a:rPr lang="ko-KR" altLang="en-US" dirty="0" err="1"/>
              <a:t>다중공선성의</a:t>
            </a:r>
            <a:r>
              <a:rPr lang="ko-KR" altLang="en-US" dirty="0"/>
              <a:t> 전반적인 수준을 나타냅니다</a:t>
            </a:r>
            <a:r>
              <a:rPr lang="en-US" altLang="ko-KR" dirty="0"/>
              <a:t>. κ&lt;30</a:t>
            </a:r>
            <a:r>
              <a:rPr lang="ko-KR" altLang="en-US" dirty="0"/>
              <a:t>이면 양호</a:t>
            </a:r>
            <a:r>
              <a:rPr lang="en-US" altLang="ko-KR" dirty="0"/>
              <a:t>, κ&lt;1,000</a:t>
            </a:r>
            <a:r>
              <a:rPr lang="ko-KR" altLang="en-US" dirty="0"/>
              <a:t>이면 허용 가능 수준입니다</a:t>
            </a:r>
            <a:r>
              <a:rPr lang="en-US" altLang="ko-KR" dirty="0"/>
              <a:t>. </a:t>
            </a:r>
            <a:r>
              <a:rPr lang="ko-KR" altLang="en-US" dirty="0"/>
              <a:t>이번 </a:t>
            </a:r>
            <a:r>
              <a:rPr lang="en-US" altLang="ko-KR" dirty="0"/>
              <a:t>κ=145.81</a:t>
            </a:r>
            <a:r>
              <a:rPr lang="ko-KR" altLang="en-US" dirty="0"/>
              <a:t>은 허용 범위 내입니다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2950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왼쪽은 </a:t>
            </a:r>
            <a:r>
              <a:rPr lang="en-US" altLang="ko-KR" dirty="0"/>
              <a:t>Model B</a:t>
            </a:r>
            <a:r>
              <a:rPr lang="ko-KR" altLang="en-US" dirty="0"/>
              <a:t>의 </a:t>
            </a:r>
            <a:r>
              <a:rPr lang="ko-KR" altLang="en-US" b="1" dirty="0" err="1"/>
              <a:t>실제값</a:t>
            </a:r>
            <a:r>
              <a:rPr lang="ko-KR" altLang="en-US" b="1" dirty="0"/>
              <a:t> 대 </a:t>
            </a:r>
            <a:r>
              <a:rPr lang="ko-KR" altLang="en-US" b="1" dirty="0" err="1"/>
              <a:t>예측값</a:t>
            </a:r>
            <a:r>
              <a:rPr lang="en-US" altLang="ko-KR" b="1" dirty="0"/>
              <a:t>(Actual vs Predicted) </a:t>
            </a:r>
            <a:r>
              <a:rPr lang="ko-KR" altLang="en-US" b="1" dirty="0" err="1"/>
              <a:t>산점도</a:t>
            </a:r>
            <a:r>
              <a:rPr lang="ko-KR" altLang="en-US" dirty="0" err="1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점들이 </a:t>
            </a:r>
            <a:r>
              <a:rPr lang="en-US" altLang="ko-KR" dirty="0"/>
              <a:t>45</a:t>
            </a:r>
            <a:r>
              <a:rPr lang="ko-KR" altLang="en-US" dirty="0"/>
              <a:t>도 대각선을 따라 분포하며</a:t>
            </a:r>
            <a:r>
              <a:rPr lang="en-US" altLang="ko-KR" dirty="0"/>
              <a:t>, </a:t>
            </a:r>
            <a:r>
              <a:rPr lang="ko-KR" altLang="en-US" dirty="0"/>
              <a:t>특히 성별에 따라 두 군집이 뚜렷하게 나뉩니다</a:t>
            </a:r>
            <a:r>
              <a:rPr lang="en-US" altLang="ko-KR" dirty="0"/>
              <a:t>. </a:t>
            </a:r>
            <a:r>
              <a:rPr lang="ko-KR" altLang="en-US" dirty="0"/>
              <a:t>이는 성별이 </a:t>
            </a:r>
            <a:r>
              <a:rPr lang="en-US" altLang="ko-KR" dirty="0"/>
              <a:t>TAMA </a:t>
            </a:r>
            <a:r>
              <a:rPr lang="ko-KR" altLang="en-US" dirty="0"/>
              <a:t>예측에서 가장 강력한 분류 변수임을 시각적으로 확인해줍니다</a:t>
            </a:r>
            <a:r>
              <a:rPr lang="en-US" altLang="ko-KR" dirty="0"/>
              <a:t>. </a:t>
            </a:r>
            <a:r>
              <a:rPr lang="ko-KR" altLang="en-US" dirty="0"/>
              <a:t>대각선에서 크게 벗어난 점들은 예측 오차가 큰 환자들입니다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오른쪽은 </a:t>
            </a:r>
            <a:r>
              <a:rPr lang="ko-KR" altLang="en-US" b="1" dirty="0" err="1"/>
              <a:t>잔차</a:t>
            </a:r>
            <a:r>
              <a:rPr lang="ko-KR" altLang="en-US" b="1" dirty="0"/>
              <a:t> 진단 </a:t>
            </a:r>
            <a:r>
              <a:rPr lang="en-US" altLang="ko-KR" b="1" dirty="0"/>
              <a:t>4-panel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 err="1"/>
              <a:t>잔차</a:t>
            </a:r>
            <a:r>
              <a:rPr lang="ko-KR" altLang="en-US" b="1" dirty="0"/>
              <a:t> </a:t>
            </a:r>
            <a:r>
              <a:rPr lang="en-US" altLang="ko-KR" b="1" dirty="0"/>
              <a:t>vs </a:t>
            </a:r>
            <a:r>
              <a:rPr lang="ko-KR" altLang="en-US" b="1" dirty="0" err="1"/>
              <a:t>예측값</a:t>
            </a:r>
            <a:r>
              <a:rPr lang="en-US" altLang="ko-KR" b="1" dirty="0"/>
              <a:t>(Residuals vs Fitted):</a:t>
            </a:r>
            <a:r>
              <a:rPr lang="ko-KR" altLang="en-US" dirty="0"/>
              <a:t> </a:t>
            </a:r>
            <a:r>
              <a:rPr lang="ko-KR" altLang="en-US" dirty="0" err="1"/>
              <a:t>잔차에</a:t>
            </a:r>
            <a:r>
              <a:rPr lang="ko-KR" altLang="en-US" dirty="0"/>
              <a:t> 패턴이 없어야 정상인데</a:t>
            </a:r>
            <a:r>
              <a:rPr lang="en-US" altLang="ko-KR" dirty="0"/>
              <a:t>, </a:t>
            </a:r>
            <a:r>
              <a:rPr lang="ko-KR" altLang="en-US" dirty="0"/>
              <a:t>일부 패턴이 보이는 것은 이분산성 진단 결과와 일치합니다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Q-Q plot:</a:t>
            </a:r>
            <a:r>
              <a:rPr lang="ko-KR" altLang="en-US" dirty="0"/>
              <a:t> </a:t>
            </a:r>
            <a:r>
              <a:rPr lang="ko-KR" altLang="en-US" dirty="0" err="1"/>
              <a:t>잔차가</a:t>
            </a:r>
            <a:r>
              <a:rPr lang="ko-KR" altLang="en-US" dirty="0"/>
              <a:t> 정규분포를 따른다면 점들이 직선 위에 놓여야 합니다</a:t>
            </a:r>
            <a:r>
              <a:rPr lang="en-US" altLang="ko-KR" dirty="0"/>
              <a:t>. </a:t>
            </a:r>
            <a:r>
              <a:rPr lang="ko-KR" altLang="en-US" dirty="0"/>
              <a:t>양쪽 꼬리에서 이탈하는 것이 </a:t>
            </a:r>
            <a:r>
              <a:rPr lang="en-US" altLang="ko-KR" dirty="0"/>
              <a:t>Shapiro-Wilk </a:t>
            </a:r>
            <a:r>
              <a:rPr lang="ko-KR" altLang="en-US" dirty="0"/>
              <a:t>비정규 결과와 일치합니다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950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Part 2, </a:t>
            </a:r>
            <a:r>
              <a:rPr lang="ko-KR" altLang="en-US" dirty="0"/>
              <a:t>로지스틱 회귀의 </a:t>
            </a:r>
            <a:r>
              <a:rPr lang="ko-KR" altLang="en-US" dirty="0" err="1"/>
              <a:t>단변량</a:t>
            </a:r>
            <a:r>
              <a:rPr lang="ko-KR" altLang="en-US" dirty="0"/>
              <a:t> 분석 결과입니다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로지스틱 회귀에서는 </a:t>
            </a:r>
            <a:r>
              <a:rPr lang="en-US" altLang="ko-KR" dirty="0"/>
              <a:t>β </a:t>
            </a:r>
            <a:r>
              <a:rPr lang="ko-KR" altLang="en-US" dirty="0"/>
              <a:t>계수 대신 **</a:t>
            </a:r>
            <a:r>
              <a:rPr lang="en-US" altLang="ko-KR" dirty="0"/>
              <a:t>Crude OR(</a:t>
            </a:r>
            <a:r>
              <a:rPr lang="ko-KR" altLang="en-US" dirty="0" err="1"/>
              <a:t>비보정</a:t>
            </a:r>
            <a:r>
              <a:rPr lang="ko-KR" altLang="en-US" dirty="0"/>
              <a:t> </a:t>
            </a:r>
            <a:r>
              <a:rPr lang="ko-KR" altLang="en-US" dirty="0" err="1"/>
              <a:t>오즈비</a:t>
            </a:r>
            <a:r>
              <a:rPr lang="en-US" altLang="ko-KR" dirty="0"/>
              <a:t>)**</a:t>
            </a:r>
            <a:r>
              <a:rPr lang="ko-KR" altLang="en-US" dirty="0"/>
              <a:t>을 해석합니다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Crude OR(</a:t>
            </a:r>
            <a:r>
              <a:rPr lang="ko-KR" altLang="en-US" b="1" dirty="0" err="1"/>
              <a:t>비보정</a:t>
            </a:r>
            <a:r>
              <a:rPr lang="ko-KR" altLang="en-US" b="1" dirty="0"/>
              <a:t> </a:t>
            </a:r>
            <a:r>
              <a:rPr lang="ko-KR" altLang="en-US" b="1" dirty="0" err="1"/>
              <a:t>오즈비</a:t>
            </a:r>
            <a:r>
              <a:rPr lang="en-US" altLang="ko-KR" b="1" dirty="0"/>
              <a:t>)</a:t>
            </a:r>
            <a:r>
              <a:rPr lang="ko-KR" altLang="en-US" b="1" dirty="0"/>
              <a:t>이란</a:t>
            </a:r>
            <a:r>
              <a:rPr lang="en-US" altLang="ko-KR" b="1" dirty="0"/>
              <a:t>?</a:t>
            </a:r>
            <a:r>
              <a:rPr lang="ko-KR" altLang="en-US" dirty="0"/>
              <a:t> 다른 변수를 통제하지 않고 해당 변수 단독으로 계산한 </a:t>
            </a:r>
            <a:r>
              <a:rPr lang="en-US" altLang="ko-KR" dirty="0"/>
              <a:t>OR</a:t>
            </a:r>
            <a:r>
              <a:rPr lang="ko-KR" altLang="en-US" dirty="0"/>
              <a:t>입니다</a:t>
            </a:r>
            <a:r>
              <a:rPr lang="en-US" altLang="ko-KR" dirty="0"/>
              <a:t>. "</a:t>
            </a:r>
            <a:r>
              <a:rPr lang="ko-KR" altLang="en-US" dirty="0" err="1"/>
              <a:t>비보정</a:t>
            </a:r>
            <a:r>
              <a:rPr lang="en-US" altLang="ko-KR" dirty="0"/>
              <a:t>(crude)"</a:t>
            </a:r>
            <a:r>
              <a:rPr lang="ko-KR" altLang="en-US" dirty="0"/>
              <a:t>이라는 표현은 다른 혼란변수</a:t>
            </a:r>
            <a:r>
              <a:rPr lang="en-US" altLang="ko-KR" dirty="0"/>
              <a:t>(confounder)</a:t>
            </a:r>
            <a:r>
              <a:rPr lang="ko-KR" altLang="en-US" dirty="0"/>
              <a:t>의 영향이 포함되어 있음을 의미합니다</a:t>
            </a:r>
            <a:r>
              <a:rPr lang="en-US" altLang="ko-KR" dirty="0"/>
              <a:t>. </a:t>
            </a:r>
            <a:r>
              <a:rPr lang="ko-KR" altLang="en-US" dirty="0" err="1"/>
              <a:t>다변량</a:t>
            </a:r>
            <a:r>
              <a:rPr lang="ko-KR" altLang="en-US" dirty="0"/>
              <a:t> 분석의 </a:t>
            </a:r>
            <a:r>
              <a:rPr lang="en-US" altLang="ko-KR" dirty="0"/>
              <a:t>Adjusted OR</a:t>
            </a:r>
            <a:r>
              <a:rPr lang="ko-KR" altLang="en-US" dirty="0"/>
              <a:t>와 구분됩니다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결과를 보시면</a:t>
            </a:r>
            <a:r>
              <a:rPr lang="en-US" altLang="ko-KR" dirty="0"/>
              <a:t>, </a:t>
            </a:r>
            <a:r>
              <a:rPr lang="ko-KR" altLang="en-US" b="1" dirty="0"/>
              <a:t>성별</a:t>
            </a:r>
            <a:r>
              <a:rPr lang="ko-KR" altLang="en-US" dirty="0"/>
              <a:t>의 </a:t>
            </a:r>
            <a:r>
              <a:rPr lang="en-US" altLang="ko-KR" dirty="0"/>
              <a:t>OR=1.844</a:t>
            </a:r>
            <a:r>
              <a:rPr lang="ko-KR" altLang="en-US" dirty="0"/>
              <a:t>는 남성이 여성 대비 </a:t>
            </a:r>
            <a:r>
              <a:rPr lang="en-US" altLang="ko-KR" dirty="0"/>
              <a:t>Low TAMA </a:t>
            </a:r>
            <a:r>
              <a:rPr lang="ko-KR" altLang="en-US" dirty="0"/>
              <a:t>오즈가 약 </a:t>
            </a:r>
            <a:r>
              <a:rPr lang="en-US" altLang="ko-KR" dirty="0"/>
              <a:t>1.8</a:t>
            </a:r>
            <a:r>
              <a:rPr lang="ko-KR" altLang="en-US" dirty="0"/>
              <a:t>배라는 의미입니다</a:t>
            </a:r>
            <a:r>
              <a:rPr lang="en-US" altLang="ko-KR" dirty="0"/>
              <a:t>.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 err="1"/>
              <a:t>임계값이</a:t>
            </a:r>
            <a:r>
              <a:rPr lang="ko-KR" altLang="en-US" dirty="0"/>
              <a:t> 성별마다 다르게 설정되어 있어 이 </a:t>
            </a:r>
            <a:r>
              <a:rPr lang="en-US" altLang="ko-KR" dirty="0"/>
              <a:t>OR</a:t>
            </a:r>
            <a:r>
              <a:rPr lang="ko-KR" altLang="en-US" dirty="0"/>
              <a:t>의 임상적 해석에 주의가 필요합니다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나이</a:t>
            </a:r>
            <a:r>
              <a:rPr lang="ko-KR" altLang="en-US" dirty="0"/>
              <a:t>의 </a:t>
            </a:r>
            <a:r>
              <a:rPr lang="en-US" altLang="ko-KR" dirty="0"/>
              <a:t>OR=1.449</a:t>
            </a:r>
            <a:r>
              <a:rPr lang="ko-KR" altLang="en-US" dirty="0"/>
              <a:t>는 나이가 </a:t>
            </a:r>
            <a:r>
              <a:rPr lang="en-US" altLang="ko-KR" dirty="0"/>
              <a:t>1 </a:t>
            </a:r>
            <a:r>
              <a:rPr lang="ko-KR" altLang="en-US" dirty="0"/>
              <a:t>표준편차 증가할수록 </a:t>
            </a:r>
            <a:r>
              <a:rPr lang="en-US" altLang="ko-KR" dirty="0"/>
              <a:t>Low TAMA </a:t>
            </a:r>
            <a:r>
              <a:rPr lang="ko-KR" altLang="en-US" dirty="0"/>
              <a:t>위험 오즈가 </a:t>
            </a:r>
            <a:r>
              <a:rPr lang="en-US" altLang="ko-KR" dirty="0"/>
              <a:t>1.45</a:t>
            </a:r>
            <a:r>
              <a:rPr lang="ko-KR" altLang="en-US" dirty="0"/>
              <a:t>배 증가합니다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AEC p25</a:t>
            </a:r>
            <a:r>
              <a:rPr lang="ko-KR" altLang="en-US" dirty="0"/>
              <a:t>의 </a:t>
            </a:r>
            <a:r>
              <a:rPr lang="en-US" altLang="ko-KR" dirty="0"/>
              <a:t>OR=0.562</a:t>
            </a:r>
            <a:r>
              <a:rPr lang="ko-KR" altLang="en-US" dirty="0"/>
              <a:t>는 주목할 만합니다</a:t>
            </a:r>
            <a:r>
              <a:rPr lang="en-US" altLang="ko-KR" dirty="0"/>
              <a:t>. OR &lt; 1</a:t>
            </a:r>
            <a:r>
              <a:rPr lang="ko-KR" altLang="en-US" dirty="0"/>
              <a:t>이므로 </a:t>
            </a:r>
            <a:r>
              <a:rPr lang="en-US" altLang="ko-KR" dirty="0"/>
              <a:t>p25</a:t>
            </a:r>
            <a:r>
              <a:rPr lang="ko-KR" altLang="en-US" dirty="0"/>
              <a:t>가 높을수록</a:t>
            </a:r>
            <a:r>
              <a:rPr lang="en-US" altLang="ko-KR" dirty="0"/>
              <a:t>(</a:t>
            </a:r>
            <a:r>
              <a:rPr lang="ko-KR" altLang="en-US" dirty="0"/>
              <a:t>선량이 높을수록</a:t>
            </a:r>
            <a:r>
              <a:rPr lang="en-US" altLang="ko-KR" dirty="0"/>
              <a:t>) Low TAMA </a:t>
            </a:r>
            <a:r>
              <a:rPr lang="ko-KR" altLang="en-US" dirty="0"/>
              <a:t>위험이 </a:t>
            </a:r>
            <a:r>
              <a:rPr lang="ko-KR" altLang="en-US" b="1" dirty="0"/>
              <a:t>감소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dirty="0"/>
              <a:t>즉 </a:t>
            </a:r>
            <a:r>
              <a:rPr lang="ko-KR" altLang="en-US" dirty="0" err="1"/>
              <a:t>근육량이</a:t>
            </a:r>
            <a:r>
              <a:rPr lang="ko-KR" altLang="en-US" dirty="0"/>
              <a:t> 많아 선량이 높은 환자일수록 근감소증이 아닐 가능성이 높다는 생리적으로 합당한 방향성입니다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CV, skewness, </a:t>
            </a:r>
            <a:r>
              <a:rPr lang="en-US" altLang="ko-KR" b="1" dirty="0" err="1"/>
              <a:t>slope_abs_mean</a:t>
            </a:r>
            <a:r>
              <a:rPr lang="ko-KR" altLang="en-US" dirty="0"/>
              <a:t>은 </a:t>
            </a:r>
            <a:r>
              <a:rPr lang="en-US" altLang="ko-KR" dirty="0"/>
              <a:t>OR &gt; 1</a:t>
            </a:r>
            <a:r>
              <a:rPr lang="ko-KR" altLang="en-US" dirty="0"/>
              <a:t>로 값이 클수록 </a:t>
            </a:r>
            <a:r>
              <a:rPr lang="en-US" altLang="ko-KR" dirty="0"/>
              <a:t>Low TAMA </a:t>
            </a:r>
            <a:r>
              <a:rPr lang="ko-KR" altLang="en-US" dirty="0"/>
              <a:t>위험이 증가하는 방향입니다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AUC 0.653</a:t>
            </a:r>
            <a:r>
              <a:rPr lang="ko-KR" altLang="en-US" dirty="0"/>
              <a:t> </a:t>
            </a:r>
            <a:r>
              <a:rPr lang="en-US" altLang="ko-KR" dirty="0"/>
              <a:t>(p25 </a:t>
            </a:r>
            <a:r>
              <a:rPr lang="ko-KR" altLang="en-US" dirty="0"/>
              <a:t>단독</a:t>
            </a:r>
            <a:r>
              <a:rPr lang="en-US" altLang="ko-KR" dirty="0"/>
              <a:t>)</a:t>
            </a:r>
            <a:r>
              <a:rPr lang="ko-KR" altLang="en-US" dirty="0"/>
              <a:t>은 단일 </a:t>
            </a:r>
            <a:r>
              <a:rPr lang="en-US" altLang="ko-KR" dirty="0"/>
              <a:t>AEC </a:t>
            </a:r>
            <a:r>
              <a:rPr lang="ko-KR" altLang="en-US" dirty="0"/>
              <a:t>변수만으로도 의미 있는 </a:t>
            </a:r>
            <a:r>
              <a:rPr lang="ko-KR" altLang="en-US" dirty="0" err="1"/>
              <a:t>판별력이</a:t>
            </a:r>
            <a:r>
              <a:rPr lang="ko-KR" altLang="en-US" dirty="0"/>
              <a:t> 있음을 보여줍니다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모든 변수가 </a:t>
            </a:r>
            <a:r>
              <a:rPr lang="en-US" altLang="ko-KR" dirty="0"/>
              <a:t>p&lt;0.01</a:t>
            </a:r>
            <a:r>
              <a:rPr lang="ko-KR" altLang="en-US" dirty="0"/>
              <a:t>로 통계적으로 유의하며</a:t>
            </a:r>
            <a:r>
              <a:rPr lang="en-US" altLang="ko-KR" dirty="0"/>
              <a:t>, CT </a:t>
            </a:r>
            <a:r>
              <a:rPr lang="ko-KR" altLang="en-US" dirty="0"/>
              <a:t>모델명도 </a:t>
            </a:r>
            <a:r>
              <a:rPr lang="ko-KR" altLang="en-US" dirty="0" err="1"/>
              <a:t>카이제곱</a:t>
            </a:r>
            <a:r>
              <a:rPr lang="ko-KR" altLang="en-US" dirty="0"/>
              <a:t> 검정 </a:t>
            </a:r>
            <a:r>
              <a:rPr lang="en-US" altLang="ko-KR" dirty="0"/>
              <a:t>p=0.002</a:t>
            </a:r>
            <a:r>
              <a:rPr lang="ko-KR" altLang="en-US" dirty="0"/>
              <a:t>로 기기 종류가 </a:t>
            </a:r>
            <a:r>
              <a:rPr lang="en-US" altLang="ko-KR" dirty="0"/>
              <a:t>Low TAMA </a:t>
            </a:r>
            <a:r>
              <a:rPr lang="ko-KR" altLang="en-US" dirty="0"/>
              <a:t>예측과 연관이 있음을 확인하였습니다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0558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선형 회귀와 동일하게 </a:t>
            </a:r>
            <a:r>
              <a:rPr lang="en-US" altLang="ko-KR" b="1" dirty="0"/>
              <a:t>Model A(AEC+CT, </a:t>
            </a:r>
            <a:r>
              <a:rPr lang="ko-KR" altLang="en-US" b="1" dirty="0"/>
              <a:t>성별</a:t>
            </a:r>
            <a:r>
              <a:rPr lang="en-US" altLang="ko-KR" b="1" dirty="0"/>
              <a:t>·</a:t>
            </a:r>
            <a:r>
              <a:rPr lang="ko-KR" altLang="en-US" b="1" dirty="0"/>
              <a:t>나이 제외</a:t>
            </a:r>
            <a:r>
              <a:rPr lang="en-US" altLang="ko-KR" b="1" dirty="0"/>
              <a:t>) vs Model B(</a:t>
            </a:r>
            <a:r>
              <a:rPr lang="ko-KR" altLang="en-US" b="1" dirty="0"/>
              <a:t>전체 변수</a:t>
            </a:r>
            <a:r>
              <a:rPr lang="en-US" altLang="ko-KR" b="1" dirty="0"/>
              <a:t>)</a:t>
            </a:r>
            <a:r>
              <a:rPr lang="ko-KR" altLang="en-US" dirty="0"/>
              <a:t> 비교입니다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AUC-ROC(Area Under the ROC Curve)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ROC </a:t>
            </a:r>
            <a:r>
              <a:rPr lang="ko-KR" altLang="en-US" dirty="0"/>
              <a:t>곡선의 면적으로</a:t>
            </a:r>
            <a:r>
              <a:rPr lang="en-US" altLang="ko-KR" dirty="0"/>
              <a:t>, </a:t>
            </a:r>
            <a:r>
              <a:rPr lang="ko-KR" altLang="en-US" dirty="0"/>
              <a:t>모델의 판별 능력을 </a:t>
            </a:r>
            <a:r>
              <a:rPr lang="ko-KR" altLang="en-US" dirty="0" err="1"/>
              <a:t>임계값에</a:t>
            </a:r>
            <a:r>
              <a:rPr lang="ko-KR" altLang="en-US" dirty="0"/>
              <a:t> 독립적으로 평가하는 지표입니다</a:t>
            </a:r>
            <a:r>
              <a:rPr lang="en-US" altLang="ko-KR" dirty="0"/>
              <a:t>. </a:t>
            </a:r>
            <a:r>
              <a:rPr lang="ko-KR" altLang="en-US" dirty="0"/>
              <a:t>임의로 뽑은 양성</a:t>
            </a:r>
            <a:r>
              <a:rPr lang="en-US" altLang="ko-KR" dirty="0"/>
              <a:t>(Low TAMA) </a:t>
            </a:r>
            <a:r>
              <a:rPr lang="ko-KR" altLang="en-US" dirty="0"/>
              <a:t>환자와 음성</a:t>
            </a:r>
            <a:r>
              <a:rPr lang="en-US" altLang="ko-KR" dirty="0"/>
              <a:t>(</a:t>
            </a:r>
            <a:r>
              <a:rPr lang="ko-KR" altLang="en-US" dirty="0"/>
              <a:t>정상</a:t>
            </a:r>
            <a:r>
              <a:rPr lang="en-US" altLang="ko-KR" dirty="0"/>
              <a:t>) </a:t>
            </a:r>
            <a:r>
              <a:rPr lang="ko-KR" altLang="en-US" dirty="0"/>
              <a:t>환자를 보여줬을 때</a:t>
            </a:r>
            <a:r>
              <a:rPr lang="en-US" altLang="ko-KR" dirty="0"/>
              <a:t>, </a:t>
            </a:r>
            <a:r>
              <a:rPr lang="ko-KR" altLang="en-US" dirty="0"/>
              <a:t>양성 환자에게 더 높은 위험 확률을 부여할 확률입니다</a:t>
            </a:r>
            <a:r>
              <a:rPr lang="en-US" altLang="ko-KR" dirty="0"/>
              <a:t>. AUC=0.5</a:t>
            </a:r>
            <a:r>
              <a:rPr lang="ko-KR" altLang="en-US" dirty="0"/>
              <a:t>는 동전 던지기 수준</a:t>
            </a:r>
            <a:r>
              <a:rPr lang="en-US" altLang="ko-KR" dirty="0"/>
              <a:t>(</a:t>
            </a:r>
            <a:r>
              <a:rPr lang="ko-KR" altLang="en-US" dirty="0"/>
              <a:t>무작위</a:t>
            </a:r>
            <a:r>
              <a:rPr lang="en-US" altLang="ko-KR" dirty="0"/>
              <a:t>), AUC=1.0</a:t>
            </a:r>
            <a:r>
              <a:rPr lang="ko-KR" altLang="en-US" dirty="0"/>
              <a:t>은 완벽한 분류</a:t>
            </a:r>
            <a:r>
              <a:rPr lang="en-US" altLang="ko-KR" dirty="0"/>
              <a:t>, </a:t>
            </a:r>
            <a:r>
              <a:rPr lang="ko-KR" altLang="en-US" dirty="0"/>
              <a:t>일반적으로 </a:t>
            </a:r>
            <a:r>
              <a:rPr lang="en-US" altLang="ko-KR" dirty="0"/>
              <a:t>AUC&gt;0.7</a:t>
            </a:r>
            <a:r>
              <a:rPr lang="ko-KR" altLang="en-US" dirty="0"/>
              <a:t>이면 임상적으로 수용 가능한 수준으로 해석합니다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Sensitivity(</a:t>
            </a:r>
            <a:r>
              <a:rPr lang="ko-KR" altLang="en-US" b="1" dirty="0"/>
              <a:t>민감도</a:t>
            </a:r>
            <a:r>
              <a:rPr lang="en-US" altLang="ko-KR" b="1" dirty="0"/>
              <a:t>)</a:t>
            </a:r>
            <a:r>
              <a:rPr lang="ko-KR" altLang="en-US" b="1" dirty="0"/>
              <a:t>와 </a:t>
            </a:r>
            <a:r>
              <a:rPr lang="en-US" altLang="ko-KR" b="1" dirty="0"/>
              <a:t>Specificity(</a:t>
            </a:r>
            <a:r>
              <a:rPr lang="ko-KR" altLang="en-US" b="1" dirty="0"/>
              <a:t>특이도</a:t>
            </a:r>
            <a:r>
              <a:rPr lang="en-US" altLang="ko-KR" b="1" dirty="0"/>
              <a:t>)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민감도 </a:t>
            </a:r>
            <a:r>
              <a:rPr lang="en-US" altLang="ko-KR" dirty="0"/>
              <a:t>= </a:t>
            </a:r>
            <a:r>
              <a:rPr lang="ko-KR" altLang="en-US" dirty="0"/>
              <a:t>실제 </a:t>
            </a:r>
            <a:r>
              <a:rPr lang="en-US" altLang="ko-KR" dirty="0"/>
              <a:t>Low TAMA </a:t>
            </a:r>
            <a:r>
              <a:rPr lang="ko-KR" altLang="en-US" dirty="0"/>
              <a:t>환자 중 양성으로 올바르게 분류한 비율</a:t>
            </a:r>
            <a:r>
              <a:rPr lang="en-US" altLang="ko-KR" dirty="0"/>
              <a:t>(TP/(TP+FN)). </a:t>
            </a:r>
            <a:r>
              <a:rPr lang="ko-KR" altLang="en-US" dirty="0"/>
              <a:t>특이도 </a:t>
            </a:r>
            <a:r>
              <a:rPr lang="en-US" altLang="ko-KR" dirty="0"/>
              <a:t>= </a:t>
            </a:r>
            <a:r>
              <a:rPr lang="ko-KR" altLang="en-US" dirty="0"/>
              <a:t>실제 정상 환자 중 음성으로 올바르게 분류한 비율</a:t>
            </a:r>
            <a:r>
              <a:rPr lang="en-US" altLang="ko-KR" dirty="0"/>
              <a:t>(TN/(TN+FP)). </a:t>
            </a:r>
            <a:r>
              <a:rPr lang="ko-KR" altLang="en-US" dirty="0" err="1"/>
              <a:t>임계값을</a:t>
            </a:r>
            <a:r>
              <a:rPr lang="ko-KR" altLang="en-US" dirty="0"/>
              <a:t> 낮추면 민감도↑</a:t>
            </a:r>
            <a:r>
              <a:rPr lang="en-US" altLang="ko-KR" dirty="0"/>
              <a:t>·</a:t>
            </a:r>
            <a:r>
              <a:rPr lang="ko-KR" altLang="en-US" dirty="0"/>
              <a:t>특이도↓</a:t>
            </a:r>
            <a:r>
              <a:rPr lang="en-US" altLang="ko-KR" dirty="0"/>
              <a:t>, </a:t>
            </a:r>
            <a:r>
              <a:rPr lang="ko-KR" altLang="en-US" dirty="0"/>
              <a:t>높이면 민감도↓</a:t>
            </a:r>
            <a:r>
              <a:rPr lang="en-US" altLang="ko-KR" dirty="0"/>
              <a:t>·</a:t>
            </a:r>
            <a:r>
              <a:rPr lang="ko-KR" altLang="en-US" dirty="0"/>
              <a:t>특이도↑ 방향으로 트레이드오프가 발생합니다</a:t>
            </a:r>
            <a:r>
              <a:rPr lang="en-US" altLang="ko-KR" dirty="0"/>
              <a:t>.</a:t>
            </a:r>
          </a:p>
          <a:p>
            <a:r>
              <a:rPr lang="en-US" altLang="ko-KR" b="1" dirty="0" err="1"/>
              <a:t>Nagelkerke</a:t>
            </a:r>
            <a:r>
              <a:rPr lang="en-US" altLang="ko-KR" b="1" dirty="0"/>
              <a:t> R²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로지스틱 회귀에서 선형 회귀의 </a:t>
            </a:r>
            <a:r>
              <a:rPr lang="en-US" altLang="ko-KR" dirty="0"/>
              <a:t>R²</a:t>
            </a:r>
            <a:r>
              <a:rPr lang="ko-KR" altLang="en-US" dirty="0"/>
              <a:t>에 해당하는 </a:t>
            </a:r>
            <a:r>
              <a:rPr lang="en-US" altLang="ko-KR" dirty="0"/>
              <a:t>"</a:t>
            </a:r>
            <a:r>
              <a:rPr lang="ko-KR" altLang="en-US" dirty="0"/>
              <a:t>가짜 </a:t>
            </a:r>
            <a:r>
              <a:rPr lang="en-US" altLang="ko-KR" dirty="0"/>
              <a:t>R²(pseudo-R²)"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로그우도 기반으로 계산하며 </a:t>
            </a:r>
            <a:r>
              <a:rPr lang="en-US" altLang="ko-KR" dirty="0"/>
              <a:t>0~1 </a:t>
            </a:r>
            <a:r>
              <a:rPr lang="ko-KR" altLang="en-US" dirty="0"/>
              <a:t>사이 값을 가집니다</a:t>
            </a:r>
            <a:r>
              <a:rPr lang="en-US" altLang="ko-KR" dirty="0"/>
              <a:t>. </a:t>
            </a:r>
            <a:r>
              <a:rPr lang="ko-KR" altLang="en-US" dirty="0"/>
              <a:t>선형 </a:t>
            </a:r>
            <a:r>
              <a:rPr lang="en-US" altLang="ko-KR" dirty="0"/>
              <a:t>R²</a:t>
            </a:r>
            <a:r>
              <a:rPr lang="ko-KR" altLang="en-US" dirty="0"/>
              <a:t>와 직접 비교할 수는 없지만</a:t>
            </a:r>
            <a:r>
              <a:rPr lang="en-US" altLang="ko-KR" dirty="0"/>
              <a:t>, </a:t>
            </a:r>
            <a:r>
              <a:rPr lang="ko-KR" altLang="en-US" dirty="0"/>
              <a:t>같은 로지스틱 모델 간 설명력 비교에 유용합니다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Brier Score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확률 예측의 정확도를 평가하는 지표입니다</a:t>
            </a:r>
            <a:r>
              <a:rPr lang="en-US" altLang="ko-KR" dirty="0"/>
              <a:t>. Brier Score = </a:t>
            </a:r>
            <a:r>
              <a:rPr lang="ko-KR" altLang="en-US" dirty="0"/>
              <a:t>평균</a:t>
            </a:r>
            <a:r>
              <a:rPr lang="en-US" altLang="ko-KR" dirty="0"/>
              <a:t>(</a:t>
            </a:r>
            <a:r>
              <a:rPr lang="ko-KR" altLang="en-US" dirty="0"/>
              <a:t>예측 확률 − </a:t>
            </a:r>
            <a:r>
              <a:rPr lang="ko-KR" altLang="en-US" dirty="0" err="1"/>
              <a:t>실제값</a:t>
            </a:r>
            <a:r>
              <a:rPr lang="en-US" altLang="ko-KR" dirty="0"/>
              <a:t>)². 0</a:t>
            </a:r>
            <a:r>
              <a:rPr lang="ko-KR" altLang="en-US" dirty="0"/>
              <a:t>이면 완벽한 예측</a:t>
            </a:r>
            <a:r>
              <a:rPr lang="en-US" altLang="ko-KR" dirty="0"/>
              <a:t>, 0.25</a:t>
            </a:r>
            <a:r>
              <a:rPr lang="ko-KR" altLang="en-US" dirty="0"/>
              <a:t>는 무작위</a:t>
            </a:r>
            <a:r>
              <a:rPr lang="en-US" altLang="ko-KR" dirty="0"/>
              <a:t>(50:50 </a:t>
            </a:r>
            <a:r>
              <a:rPr lang="ko-KR" altLang="en-US" dirty="0"/>
              <a:t>클래스 기준</a:t>
            </a:r>
            <a:r>
              <a:rPr lang="en-US" altLang="ko-KR" dirty="0"/>
              <a:t>) </a:t>
            </a:r>
            <a:r>
              <a:rPr lang="ko-KR" altLang="en-US" dirty="0"/>
              <a:t>수준입니다</a:t>
            </a:r>
            <a:r>
              <a:rPr lang="en-US" altLang="ko-KR" dirty="0"/>
              <a:t>. AUC</a:t>
            </a:r>
            <a:r>
              <a:rPr lang="ko-KR" altLang="en-US" dirty="0"/>
              <a:t>가 </a:t>
            </a:r>
            <a:r>
              <a:rPr lang="ko-KR" altLang="en-US" dirty="0" err="1"/>
              <a:t>판별력을</a:t>
            </a:r>
            <a:r>
              <a:rPr lang="ko-KR" altLang="en-US" dirty="0"/>
              <a:t> 보는 반면</a:t>
            </a:r>
            <a:r>
              <a:rPr lang="en-US" altLang="ko-KR" dirty="0"/>
              <a:t>, Brier Score</a:t>
            </a:r>
            <a:r>
              <a:rPr lang="ko-KR" altLang="en-US" dirty="0"/>
              <a:t>는 확률 예측의 정밀도를 평가합니다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결과를 보시면</a:t>
            </a:r>
            <a:r>
              <a:rPr lang="en-US" altLang="ko-KR" dirty="0"/>
              <a:t>, </a:t>
            </a:r>
            <a:r>
              <a:rPr lang="en-US" altLang="ko-KR" b="1" dirty="0"/>
              <a:t>Model A</a:t>
            </a:r>
            <a:r>
              <a:rPr lang="ko-KR" altLang="en-US" b="1" dirty="0"/>
              <a:t>만으로도 </a:t>
            </a:r>
            <a:r>
              <a:rPr lang="en-US" altLang="ko-KR" b="1" dirty="0"/>
              <a:t>AUC=0.730</a:t>
            </a:r>
            <a:r>
              <a:rPr lang="ko-KR" altLang="en-US" dirty="0"/>
              <a:t>을 달성합니다</a:t>
            </a:r>
            <a:r>
              <a:rPr lang="en-US" altLang="ko-KR" dirty="0"/>
              <a:t>. </a:t>
            </a:r>
            <a:r>
              <a:rPr lang="ko-KR" altLang="en-US" dirty="0"/>
              <a:t>성별</a:t>
            </a:r>
            <a:r>
              <a:rPr lang="en-US" altLang="ko-KR" dirty="0"/>
              <a:t>·</a:t>
            </a:r>
            <a:r>
              <a:rPr lang="ko-KR" altLang="en-US" dirty="0"/>
              <a:t>나이 없이 </a:t>
            </a:r>
            <a:r>
              <a:rPr lang="en-US" altLang="ko-KR" dirty="0"/>
              <a:t>AEC </a:t>
            </a:r>
            <a:r>
              <a:rPr lang="ko-KR" altLang="en-US" dirty="0"/>
              <a:t>곡선과 </a:t>
            </a:r>
            <a:r>
              <a:rPr lang="en-US" altLang="ko-KR" dirty="0"/>
              <a:t>CT </a:t>
            </a:r>
            <a:r>
              <a:rPr lang="ko-KR" altLang="en-US" dirty="0"/>
              <a:t>모델명만으로도 의미 있는 판별 능력을 갖추고 있음을 보여줍니다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Model B</a:t>
            </a:r>
            <a:r>
              <a:rPr lang="ko-KR" altLang="en-US" b="1" dirty="0"/>
              <a:t>에서 </a:t>
            </a:r>
            <a:r>
              <a:rPr lang="en-US" altLang="ko-KR" b="1" dirty="0"/>
              <a:t>AUC=0.779</a:t>
            </a:r>
            <a:r>
              <a:rPr lang="ko-KR" altLang="en-US" b="1" dirty="0"/>
              <a:t>로 </a:t>
            </a:r>
            <a:r>
              <a:rPr lang="en-US" altLang="ko-KR" b="1" dirty="0"/>
              <a:t>+5.0%p </a:t>
            </a:r>
            <a:r>
              <a:rPr lang="ko-KR" altLang="en-US" b="1" dirty="0"/>
              <a:t>향상</a:t>
            </a:r>
            <a:r>
              <a:rPr lang="ko-KR" altLang="en-US" dirty="0"/>
              <a:t>됩니다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ko-KR" altLang="en-US" b="1" dirty="0"/>
              <a:t>민감도가 </a:t>
            </a:r>
            <a:r>
              <a:rPr lang="en-US" altLang="ko-KR" b="1" dirty="0"/>
              <a:t>0.602</a:t>
            </a:r>
            <a:r>
              <a:rPr lang="ko-KR" altLang="en-US" b="1" dirty="0"/>
              <a:t>에서 </a:t>
            </a:r>
            <a:r>
              <a:rPr lang="en-US" altLang="ko-KR" b="1" dirty="0"/>
              <a:t>0.767</a:t>
            </a:r>
            <a:r>
              <a:rPr lang="ko-KR" altLang="en-US" b="1" dirty="0"/>
              <a:t>로 </a:t>
            </a:r>
            <a:r>
              <a:rPr lang="en-US" altLang="ko-KR" b="1" dirty="0"/>
              <a:t>+16.5%p </a:t>
            </a:r>
            <a:r>
              <a:rPr lang="ko-KR" altLang="en-US" b="1" dirty="0"/>
              <a:t>크게 상승</a:t>
            </a:r>
            <a:r>
              <a:rPr lang="ko-KR" altLang="en-US" dirty="0"/>
              <a:t>하는 반면</a:t>
            </a:r>
            <a:r>
              <a:rPr lang="en-US" altLang="ko-KR" dirty="0"/>
              <a:t>, </a:t>
            </a:r>
            <a:r>
              <a:rPr lang="ko-KR" altLang="en-US" dirty="0"/>
              <a:t>특이도는 </a:t>
            </a:r>
            <a:r>
              <a:rPr lang="en-US" altLang="ko-KR" dirty="0"/>
              <a:t>0.733</a:t>
            </a:r>
            <a:r>
              <a:rPr lang="ko-KR" altLang="en-US" dirty="0"/>
              <a:t>에서 </a:t>
            </a:r>
            <a:r>
              <a:rPr lang="en-US" altLang="ko-KR" dirty="0"/>
              <a:t>0.667</a:t>
            </a:r>
            <a:r>
              <a:rPr lang="ko-KR" altLang="en-US" dirty="0"/>
              <a:t>로 소폭 감소합니다</a:t>
            </a:r>
            <a:r>
              <a:rPr lang="en-US" altLang="ko-KR" dirty="0"/>
              <a:t>. </a:t>
            </a:r>
            <a:r>
              <a:rPr lang="ko-KR" altLang="en-US" dirty="0"/>
              <a:t>성별</a:t>
            </a:r>
            <a:r>
              <a:rPr lang="en-US" altLang="ko-KR" dirty="0"/>
              <a:t>·</a:t>
            </a:r>
            <a:r>
              <a:rPr lang="ko-KR" altLang="en-US" dirty="0"/>
              <a:t>나이 추가로 모델이 </a:t>
            </a:r>
            <a:r>
              <a:rPr lang="ko-KR" altLang="en-US" dirty="0" err="1"/>
              <a:t>저근육량</a:t>
            </a:r>
            <a:r>
              <a:rPr lang="ko-KR" altLang="en-US" dirty="0"/>
              <a:t> 환자를 더 적극적으로 감지하되 정상 환자를 일부 더 양성으로 분류하게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임상적 관점에서 </a:t>
            </a:r>
            <a:r>
              <a:rPr lang="ko-KR" altLang="en-US" b="1" dirty="0"/>
              <a:t>선별 검사</a:t>
            </a:r>
            <a:r>
              <a:rPr lang="en-US" altLang="ko-KR" b="1" dirty="0"/>
              <a:t>(screening) </a:t>
            </a:r>
            <a:r>
              <a:rPr lang="ko-KR" altLang="en-US" b="1" dirty="0"/>
              <a:t>목적</a:t>
            </a:r>
            <a:r>
              <a:rPr lang="ko-KR" altLang="en-US" dirty="0"/>
              <a:t>이라면 민감도 향상이 특이도 소폭 감소보다 중요하므로 </a:t>
            </a:r>
            <a:r>
              <a:rPr lang="en-US" altLang="ko-KR" dirty="0"/>
              <a:t>Model B</a:t>
            </a:r>
            <a:r>
              <a:rPr lang="ko-KR" altLang="en-US" dirty="0"/>
              <a:t>가 실용적으로 유리합니다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Hosmer-</a:t>
            </a:r>
            <a:r>
              <a:rPr lang="en-US" altLang="ko-KR" dirty="0" err="1"/>
              <a:t>Lemeshow</a:t>
            </a:r>
            <a:r>
              <a:rPr lang="en-US" altLang="ko-KR" dirty="0"/>
              <a:t> p-value</a:t>
            </a:r>
            <a:r>
              <a:rPr lang="ko-KR" altLang="en-US" dirty="0"/>
              <a:t>는 두 모델 모두 </a:t>
            </a:r>
            <a:r>
              <a:rPr lang="en-US" altLang="ko-KR" dirty="0"/>
              <a:t>0.05 </a:t>
            </a:r>
            <a:r>
              <a:rPr lang="ko-KR" altLang="en-US" dirty="0"/>
              <a:t>이상</a:t>
            </a:r>
            <a:r>
              <a:rPr lang="en-US" altLang="ko-KR" dirty="0"/>
              <a:t>(Model A: 0.568, Model B: 0.333)</a:t>
            </a:r>
            <a:r>
              <a:rPr lang="ko-KR" altLang="en-US" dirty="0"/>
              <a:t>으로 </a:t>
            </a:r>
            <a:r>
              <a:rPr lang="en-US" altLang="ko-KR" dirty="0"/>
              <a:t>Calibration</a:t>
            </a:r>
            <a:r>
              <a:rPr lang="ko-KR" altLang="en-US" dirty="0"/>
              <a:t>이 양호합니다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755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슬라이드는 </a:t>
            </a:r>
            <a:r>
              <a:rPr lang="en-US" altLang="ko-KR" dirty="0"/>
              <a:t>Calibration plot </a:t>
            </a:r>
            <a:r>
              <a:rPr lang="ko-KR" altLang="en-US" dirty="0"/>
              <a:t>시각화와 </a:t>
            </a:r>
            <a:r>
              <a:rPr lang="en-US" altLang="ko-KR" dirty="0"/>
              <a:t>Confusion Matrix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Calibration plot</a:t>
            </a:r>
            <a:r>
              <a:rPr lang="ko-KR" altLang="en-US" dirty="0"/>
              <a:t>에서 점들이 </a:t>
            </a:r>
            <a:r>
              <a:rPr lang="en-US" altLang="ko-KR" dirty="0"/>
              <a:t>45</a:t>
            </a:r>
            <a:r>
              <a:rPr lang="ko-KR" altLang="en-US" dirty="0"/>
              <a:t>도 대각선에 가까울수록 모델이 예측 확률을 실제에 맞게 추정하고 있음을 나타냅니다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192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Case </a:t>
            </a:r>
            <a:r>
              <a:rPr lang="ko-KR" altLang="en-US" dirty="0"/>
              <a:t>비교 분석의 구조를 먼저 정리하겠습니다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Input:</a:t>
            </a:r>
            <a:r>
              <a:rPr lang="ko-KR" altLang="en-US" dirty="0"/>
              <a:t> </a:t>
            </a:r>
            <a:r>
              <a:rPr lang="en-US" altLang="ko-KR" dirty="0"/>
              <a:t>Case</a:t>
            </a:r>
            <a:r>
              <a:rPr lang="ko-KR" altLang="en-US" dirty="0"/>
              <a:t>별로 변수 집합이 다릅니다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Case 1: 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Case 2: 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 </a:t>
            </a:r>
            <a:r>
              <a:rPr lang="en-US" altLang="ko-KR" dirty="0"/>
              <a:t>+ AEC 4</a:t>
            </a:r>
            <a:r>
              <a:rPr lang="ko-KR" altLang="en-US" dirty="0"/>
              <a:t>개 특징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Case 3: 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AEC + CT </a:t>
            </a:r>
            <a:r>
              <a:rPr lang="ko-KR" altLang="en-US" dirty="0"/>
              <a:t>모델명</a:t>
            </a:r>
            <a:r>
              <a:rPr lang="en-US" altLang="ko-KR" dirty="0"/>
              <a:t>(30</a:t>
            </a:r>
            <a:r>
              <a:rPr lang="ko-KR" altLang="en-US" dirty="0"/>
              <a:t>개 더미</a:t>
            </a:r>
            <a:r>
              <a:rPr lang="en-US" altLang="ko-KR" dirty="0"/>
              <a:t>)</a:t>
            </a:r>
          </a:p>
          <a:p>
            <a:r>
              <a:rPr lang="en-US" altLang="ko-KR" b="1" dirty="0"/>
              <a:t>Output: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선형 회귀</a:t>
            </a:r>
            <a:r>
              <a:rPr lang="en-US" altLang="ko-KR" dirty="0"/>
              <a:t>: TAMA </a:t>
            </a:r>
            <a:r>
              <a:rPr lang="ko-KR" altLang="en-US" dirty="0" err="1"/>
              <a:t>연속값</a:t>
            </a:r>
            <a:r>
              <a:rPr lang="ko-KR" altLang="en-US" dirty="0"/>
              <a:t> </a:t>
            </a:r>
            <a:r>
              <a:rPr lang="en-US" altLang="ko-KR" dirty="0"/>
              <a:t>(cm²)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로지스틱 회귀</a:t>
            </a:r>
            <a:r>
              <a:rPr lang="en-US" altLang="ko-KR" dirty="0"/>
              <a:t>: Low TAMA / Normal </a:t>
            </a:r>
            <a:r>
              <a:rPr lang="ko-KR" altLang="en-US" dirty="0"/>
              <a:t>이진 분류 확률</a:t>
            </a:r>
          </a:p>
          <a:p>
            <a:r>
              <a:rPr lang="ko-KR" altLang="en-US" b="1" dirty="0"/>
              <a:t>평가 지표</a:t>
            </a:r>
            <a:r>
              <a:rPr lang="en-US" altLang="ko-KR" b="1" dirty="0"/>
              <a:t>: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선형 회귀</a:t>
            </a:r>
            <a:r>
              <a:rPr lang="en-US" altLang="ko-KR" dirty="0"/>
              <a:t>: R², Adjusted R², RMSE, AIC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로지스틱 회귀</a:t>
            </a:r>
            <a:r>
              <a:rPr lang="en-US" altLang="ko-KR" dirty="0"/>
              <a:t>: AUC-ROC, </a:t>
            </a:r>
            <a:r>
              <a:rPr lang="en-US" altLang="ko-KR" dirty="0" err="1"/>
              <a:t>Nagelkerke</a:t>
            </a:r>
            <a:r>
              <a:rPr lang="en-US" altLang="ko-KR" dirty="0"/>
              <a:t> R², AIC, Hosmer-</a:t>
            </a:r>
            <a:r>
              <a:rPr lang="en-US" altLang="ko-KR" dirty="0" err="1"/>
              <a:t>Lemeshow</a:t>
            </a:r>
            <a:r>
              <a:rPr lang="en-US" altLang="ko-KR" dirty="0"/>
              <a:t> p-value</a:t>
            </a:r>
          </a:p>
          <a:p>
            <a:r>
              <a:rPr lang="ko-KR" altLang="en-US" dirty="0"/>
              <a:t>이 구조는 임상 의사결정 순서를 모방한 것입니다</a:t>
            </a:r>
            <a:r>
              <a:rPr lang="en-US" altLang="ko-KR" dirty="0"/>
              <a:t>. </a:t>
            </a:r>
            <a:r>
              <a:rPr lang="ko-KR" altLang="en-US" dirty="0"/>
              <a:t>임상의가 기본적으로 아는 정보</a:t>
            </a:r>
            <a:r>
              <a:rPr lang="en-US" altLang="ko-KR" dirty="0"/>
              <a:t>(</a:t>
            </a:r>
            <a:r>
              <a:rPr lang="ko-KR" altLang="en-US" dirty="0"/>
              <a:t>성별</a:t>
            </a:r>
            <a:r>
              <a:rPr lang="en-US" altLang="ko-KR" dirty="0"/>
              <a:t>·</a:t>
            </a:r>
            <a:r>
              <a:rPr lang="ko-KR" altLang="en-US" dirty="0"/>
              <a:t>나이</a:t>
            </a:r>
            <a:r>
              <a:rPr lang="en-US" altLang="ko-KR" dirty="0"/>
              <a:t>)</a:t>
            </a:r>
            <a:r>
              <a:rPr lang="ko-KR" altLang="en-US" dirty="0"/>
              <a:t>부터 시작하여</a:t>
            </a:r>
            <a:r>
              <a:rPr lang="en-US" altLang="ko-KR" dirty="0"/>
              <a:t>, </a:t>
            </a:r>
            <a:r>
              <a:rPr lang="ko-KR" altLang="en-US" dirty="0"/>
              <a:t>기기 자동 기록 데이터</a:t>
            </a:r>
            <a:r>
              <a:rPr lang="en-US" altLang="ko-KR" dirty="0"/>
              <a:t>(AEC), </a:t>
            </a:r>
            <a:r>
              <a:rPr lang="ko-KR" altLang="en-US" dirty="0"/>
              <a:t>장비 정보</a:t>
            </a:r>
            <a:r>
              <a:rPr lang="en-US" altLang="ko-KR" dirty="0"/>
              <a:t>(CT </a:t>
            </a:r>
            <a:r>
              <a:rPr lang="ko-KR" altLang="en-US" dirty="0"/>
              <a:t>모델명</a:t>
            </a:r>
            <a:r>
              <a:rPr lang="en-US" altLang="ko-KR" dirty="0"/>
              <a:t>) </a:t>
            </a:r>
            <a:r>
              <a:rPr lang="ko-KR" altLang="en-US" dirty="0"/>
              <a:t>순으로 추가하면서 각 단계의 기여를 명확히 </a:t>
            </a:r>
            <a:r>
              <a:rPr lang="ko-KR" altLang="en-US" dirty="0" err="1"/>
              <a:t>정량화합니다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0672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선형 회귀 </a:t>
            </a:r>
            <a:r>
              <a:rPr lang="en-US" altLang="ko-KR" dirty="0"/>
              <a:t>Case </a:t>
            </a:r>
            <a:r>
              <a:rPr lang="ko-KR" altLang="en-US" dirty="0"/>
              <a:t>비교 결과입니다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Case 1(</a:t>
            </a:r>
            <a:r>
              <a:rPr lang="ko-KR" altLang="en-US" b="1" dirty="0"/>
              <a:t>성별</a:t>
            </a:r>
            <a:r>
              <a:rPr lang="en-US" altLang="ko-KR" b="1" dirty="0"/>
              <a:t>+</a:t>
            </a:r>
            <a:r>
              <a:rPr lang="ko-KR" altLang="en-US" b="1" dirty="0"/>
              <a:t>나이</a:t>
            </a:r>
            <a:r>
              <a:rPr lang="en-US" altLang="ko-KR" b="1" dirty="0"/>
              <a:t>):</a:t>
            </a:r>
            <a:r>
              <a:rPr lang="ko-KR" altLang="en-US" dirty="0"/>
              <a:t> </a:t>
            </a:r>
            <a:r>
              <a:rPr lang="en-US" altLang="ko-KR" dirty="0"/>
              <a:t>R²=0.551, RMSE=20.43 cm². </a:t>
            </a:r>
            <a:r>
              <a:rPr lang="ko-KR" altLang="en-US" dirty="0"/>
              <a:t>성별의 강력한 예측력 덕분에 기저 모델도 상당한 설명력을 보입니다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Case 2(+AEC features):</a:t>
            </a:r>
            <a:r>
              <a:rPr lang="ko-KR" altLang="en-US" dirty="0"/>
              <a:t> </a:t>
            </a:r>
            <a:r>
              <a:rPr lang="en-US" altLang="ko-KR" dirty="0"/>
              <a:t>R²=0.635</a:t>
            </a:r>
            <a:r>
              <a:rPr lang="ko-KR" altLang="en-US" dirty="0"/>
              <a:t>로 </a:t>
            </a:r>
            <a:r>
              <a:rPr lang="en-US" altLang="ko-KR" b="1" dirty="0"/>
              <a:t>+0.085 </a:t>
            </a:r>
            <a:r>
              <a:rPr lang="ko-KR" altLang="en-US" b="1" dirty="0"/>
              <a:t>향상</a:t>
            </a:r>
            <a:r>
              <a:rPr lang="en-US" altLang="ko-KR" dirty="0"/>
              <a:t>, RMSE=18.41 cm²</a:t>
            </a:r>
            <a:r>
              <a:rPr lang="ko-KR" altLang="en-US" dirty="0"/>
              <a:t>로 </a:t>
            </a:r>
            <a:r>
              <a:rPr lang="en-US" altLang="ko-KR" b="1" dirty="0"/>
              <a:t>-2.02 </a:t>
            </a:r>
            <a:r>
              <a:rPr lang="ko-KR" altLang="en-US" b="1" dirty="0"/>
              <a:t>감소</a:t>
            </a:r>
            <a:r>
              <a:rPr lang="en-US" altLang="ko-KR" dirty="0"/>
              <a:t>, AIC </a:t>
            </a:r>
            <a:r>
              <a:rPr lang="en-US" altLang="ko-KR" b="1" dirty="0"/>
              <a:t>-341 </a:t>
            </a:r>
            <a:r>
              <a:rPr lang="ko-KR" altLang="en-US" b="1" dirty="0"/>
              <a:t>감소</a:t>
            </a:r>
            <a:r>
              <a:rPr lang="en-US" altLang="ko-KR" dirty="0"/>
              <a:t>. Adjusted R²</a:t>
            </a:r>
            <a:r>
              <a:rPr lang="ko-KR" altLang="en-US" dirty="0"/>
              <a:t>도 동일하게 향상되어 변수 수 증가에 의한 편향이 아닌 실질적 정보 추가임을 확인합니다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Case 3(+CT </a:t>
            </a:r>
            <a:r>
              <a:rPr lang="ko-KR" altLang="en-US" b="1" dirty="0"/>
              <a:t>모델명</a:t>
            </a:r>
            <a:r>
              <a:rPr lang="en-US" altLang="ko-KR" b="1" dirty="0"/>
              <a:t>):</a:t>
            </a:r>
            <a:r>
              <a:rPr lang="ko-KR" altLang="en-US" dirty="0"/>
              <a:t> </a:t>
            </a:r>
            <a:r>
              <a:rPr lang="en-US" altLang="ko-KR" dirty="0"/>
              <a:t>R²=0.657</a:t>
            </a:r>
            <a:r>
              <a:rPr lang="ko-KR" altLang="en-US" dirty="0"/>
              <a:t>로 추가 </a:t>
            </a:r>
            <a:r>
              <a:rPr lang="en-US" altLang="ko-KR" b="1" dirty="0"/>
              <a:t>+0.022 </a:t>
            </a:r>
            <a:r>
              <a:rPr lang="ko-KR" altLang="en-US" b="1" dirty="0"/>
              <a:t>향상</a:t>
            </a:r>
            <a:r>
              <a:rPr lang="en-US" altLang="ko-KR" dirty="0"/>
              <a:t>, RMSE </a:t>
            </a:r>
            <a:r>
              <a:rPr lang="en-US" altLang="ko-KR" b="1" dirty="0"/>
              <a:t>-0.56 </a:t>
            </a:r>
            <a:r>
              <a:rPr lang="ko-KR" altLang="en-US" b="1" dirty="0"/>
              <a:t>추가 감소</a:t>
            </a:r>
            <a:r>
              <a:rPr lang="en-US" altLang="ko-KR" dirty="0"/>
              <a:t>, AIC </a:t>
            </a:r>
            <a:r>
              <a:rPr lang="en-US" altLang="ko-KR" b="1" dirty="0"/>
              <a:t>-44 </a:t>
            </a:r>
            <a:r>
              <a:rPr lang="ko-KR" altLang="en-US" b="1" dirty="0"/>
              <a:t>추가 감소</a:t>
            </a:r>
            <a:r>
              <a:rPr lang="en-US" altLang="ko-KR" dirty="0"/>
              <a:t>. 30</a:t>
            </a:r>
            <a:r>
              <a:rPr lang="ko-KR" altLang="en-US" dirty="0"/>
              <a:t>개 더미 변수를 추가했음에도 </a:t>
            </a:r>
            <a:r>
              <a:rPr lang="en-US" altLang="ko-KR" dirty="0"/>
              <a:t>AIC</a:t>
            </a:r>
            <a:r>
              <a:rPr lang="ko-KR" altLang="en-US" dirty="0"/>
              <a:t>가 감소했다는 것은 스캐너 효과가 실제 정보를 담고 있음을 의미합니다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종합하면</a:t>
            </a:r>
            <a:r>
              <a:rPr lang="en-US" altLang="ko-KR" dirty="0"/>
              <a:t>, </a:t>
            </a:r>
            <a:r>
              <a:rPr lang="en-US" altLang="ko-KR" b="1" dirty="0"/>
              <a:t>AEC </a:t>
            </a:r>
            <a:r>
              <a:rPr lang="ko-KR" altLang="en-US" b="1" dirty="0"/>
              <a:t>특징이 선형 예측에 가장 크게 기여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en-US" altLang="ko-KR" b="1" dirty="0"/>
              <a:t>CT </a:t>
            </a:r>
            <a:r>
              <a:rPr lang="ko-KR" altLang="en-US" b="1" dirty="0"/>
              <a:t>모델명은 기기 효과를 통제하는 추가 보정 역할</a:t>
            </a:r>
            <a:r>
              <a:rPr lang="ko-KR" altLang="en-US" dirty="0"/>
              <a:t>을 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6150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로지스틱 회귀 </a:t>
            </a:r>
            <a:r>
              <a:rPr lang="en-US" altLang="ko-KR" dirty="0"/>
              <a:t>Case </a:t>
            </a:r>
            <a:r>
              <a:rPr lang="ko-KR" altLang="en-US" dirty="0"/>
              <a:t>비교 결과입니다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Case 1(</a:t>
            </a:r>
            <a:r>
              <a:rPr lang="ko-KR" altLang="en-US" b="1" dirty="0"/>
              <a:t>성별</a:t>
            </a:r>
            <a:r>
              <a:rPr lang="en-US" altLang="ko-KR" b="1" dirty="0"/>
              <a:t>+</a:t>
            </a:r>
            <a:r>
              <a:rPr lang="ko-KR" altLang="en-US" b="1" dirty="0"/>
              <a:t>나이</a:t>
            </a:r>
            <a:r>
              <a:rPr lang="en-US" altLang="ko-KR" b="1" dirty="0"/>
              <a:t>):</a:t>
            </a:r>
            <a:r>
              <a:rPr lang="ko-KR" altLang="en-US" dirty="0"/>
              <a:t> </a:t>
            </a:r>
            <a:r>
              <a:rPr lang="en-US" altLang="ko-KR" dirty="0"/>
              <a:t>AUC=0.628, </a:t>
            </a:r>
            <a:r>
              <a:rPr lang="en-US" altLang="ko-KR" dirty="0" err="1"/>
              <a:t>Nagelkerke</a:t>
            </a:r>
            <a:r>
              <a:rPr lang="en-US" altLang="ko-KR" dirty="0"/>
              <a:t> R²=0.058. </a:t>
            </a:r>
            <a:r>
              <a:rPr lang="ko-KR" altLang="en-US" dirty="0"/>
              <a:t>성별과 나이만으로는 이진 분류 능력이 제한적이며</a:t>
            </a:r>
            <a:r>
              <a:rPr lang="en-US" altLang="ko-KR" dirty="0"/>
              <a:t>, Hosmer-</a:t>
            </a:r>
            <a:r>
              <a:rPr lang="en-US" altLang="ko-KR" dirty="0" err="1"/>
              <a:t>Lemeshow</a:t>
            </a:r>
            <a:r>
              <a:rPr lang="en-US" altLang="ko-KR" dirty="0"/>
              <a:t> p≈0.000</a:t>
            </a:r>
            <a:r>
              <a:rPr lang="ko-KR" altLang="en-US" dirty="0"/>
              <a:t>으로 </a:t>
            </a:r>
            <a:r>
              <a:rPr lang="en-US" altLang="ko-KR" dirty="0"/>
              <a:t>Calibration</a:t>
            </a:r>
            <a:r>
              <a:rPr lang="ko-KR" altLang="en-US" dirty="0"/>
              <a:t>도 불량합니다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Case 2(+AEC features):</a:t>
            </a:r>
            <a:r>
              <a:rPr lang="ko-KR" altLang="en-US" dirty="0"/>
              <a:t> </a:t>
            </a:r>
            <a:r>
              <a:rPr lang="en-US" altLang="ko-KR" dirty="0"/>
              <a:t>AUC=0.752</a:t>
            </a:r>
            <a:r>
              <a:rPr lang="ko-KR" altLang="en-US" dirty="0"/>
              <a:t>로 </a:t>
            </a:r>
            <a:r>
              <a:rPr lang="en-US" altLang="ko-KR" b="1" dirty="0"/>
              <a:t>+0.124 </a:t>
            </a:r>
            <a:r>
              <a:rPr lang="ko-KR" altLang="en-US" b="1" dirty="0"/>
              <a:t>대폭 향상</a:t>
            </a:r>
            <a:r>
              <a:rPr lang="en-US" altLang="ko-KR" dirty="0"/>
              <a:t>, </a:t>
            </a:r>
            <a:r>
              <a:rPr lang="en-US" altLang="ko-KR" dirty="0" err="1"/>
              <a:t>Nagelkerke</a:t>
            </a:r>
            <a:r>
              <a:rPr lang="en-US" altLang="ko-KR" dirty="0"/>
              <a:t> R²=0.231</a:t>
            </a:r>
            <a:r>
              <a:rPr lang="ko-KR" altLang="en-US" dirty="0"/>
              <a:t>로 약 </a:t>
            </a:r>
            <a:r>
              <a:rPr lang="en-US" altLang="ko-KR" dirty="0"/>
              <a:t>4</a:t>
            </a:r>
            <a:r>
              <a:rPr lang="ko-KR" altLang="en-US" dirty="0"/>
              <a:t>배 증가</a:t>
            </a:r>
            <a:r>
              <a:rPr lang="en-US" altLang="ko-KR" dirty="0"/>
              <a:t>, AIC </a:t>
            </a:r>
            <a:r>
              <a:rPr lang="en-US" altLang="ko-KR" b="1" dirty="0"/>
              <a:t>-218 </a:t>
            </a:r>
            <a:r>
              <a:rPr lang="ko-KR" altLang="en-US" b="1" dirty="0"/>
              <a:t>감소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en-US" altLang="ko-KR" dirty="0"/>
              <a:t>Hosmer-</a:t>
            </a:r>
            <a:r>
              <a:rPr lang="en-US" altLang="ko-KR" dirty="0" err="1"/>
              <a:t>Lemeshow</a:t>
            </a:r>
            <a:r>
              <a:rPr lang="ko-KR" altLang="en-US" dirty="0"/>
              <a:t>가 </a:t>
            </a:r>
            <a:r>
              <a:rPr lang="en-US" altLang="ko-KR" dirty="0"/>
              <a:t>p=0.089</a:t>
            </a:r>
            <a:r>
              <a:rPr lang="ko-KR" altLang="en-US" dirty="0"/>
              <a:t>로 개선되어 </a:t>
            </a:r>
            <a:r>
              <a:rPr lang="en-US" altLang="ko-KR" dirty="0"/>
              <a:t>Calibration</a:t>
            </a:r>
            <a:r>
              <a:rPr lang="ko-KR" altLang="en-US" dirty="0"/>
              <a:t>도 함께 향상됩니다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Case 3(+CT </a:t>
            </a:r>
            <a:r>
              <a:rPr lang="ko-KR" altLang="en-US" b="1" dirty="0"/>
              <a:t>모델명</a:t>
            </a:r>
            <a:r>
              <a:rPr lang="en-US" altLang="ko-KR" b="1" dirty="0"/>
              <a:t>):</a:t>
            </a:r>
            <a:r>
              <a:rPr lang="ko-KR" altLang="en-US" dirty="0"/>
              <a:t> </a:t>
            </a:r>
            <a:r>
              <a:rPr lang="en-US" altLang="ko-KR" dirty="0"/>
              <a:t>AUC=0.779</a:t>
            </a:r>
            <a:r>
              <a:rPr lang="ko-KR" altLang="en-US" dirty="0"/>
              <a:t>로 추가 </a:t>
            </a:r>
            <a:r>
              <a:rPr lang="en-US" altLang="ko-KR" b="1" dirty="0"/>
              <a:t>+0.028 </a:t>
            </a:r>
            <a:r>
              <a:rPr lang="ko-KR" altLang="en-US" b="1" dirty="0"/>
              <a:t>향상</a:t>
            </a:r>
            <a:r>
              <a:rPr lang="en-US" altLang="ko-KR" dirty="0"/>
              <a:t>, Hosmer-</a:t>
            </a:r>
            <a:r>
              <a:rPr lang="en-US" altLang="ko-KR" dirty="0" err="1"/>
              <a:t>Lemeshow</a:t>
            </a:r>
            <a:r>
              <a:rPr lang="en-US" altLang="ko-KR" dirty="0"/>
              <a:t> p=0.333</a:t>
            </a:r>
            <a:r>
              <a:rPr lang="ko-KR" altLang="en-US" dirty="0"/>
              <a:t>으로 최종 보정도 양호</a:t>
            </a:r>
            <a:r>
              <a:rPr lang="en-US" altLang="ko-KR" dirty="0"/>
              <a:t>. Bootstrap 95% CI [0.756, 0.802]</a:t>
            </a:r>
            <a:r>
              <a:rPr lang="ko-KR" altLang="en-US" dirty="0"/>
              <a:t>로 불확실성도 낮습니다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특히 주목할 점은 </a:t>
            </a:r>
            <a:r>
              <a:rPr lang="en-US" altLang="ko-KR" b="1" dirty="0"/>
              <a:t>Hosmer-</a:t>
            </a:r>
            <a:r>
              <a:rPr lang="en-US" altLang="ko-KR" b="1" dirty="0" err="1"/>
              <a:t>Lemeshow</a:t>
            </a:r>
            <a:r>
              <a:rPr lang="en-US" altLang="ko-KR" b="1" dirty="0"/>
              <a:t> p-value</a:t>
            </a:r>
            <a:r>
              <a:rPr lang="ko-KR" altLang="en-US" b="1" dirty="0"/>
              <a:t>의 단계적 개선</a:t>
            </a:r>
            <a:r>
              <a:rPr lang="ko-KR" altLang="en-US" dirty="0"/>
              <a:t>입니다</a:t>
            </a:r>
            <a:r>
              <a:rPr lang="en-US" altLang="ko-KR" dirty="0"/>
              <a:t>. AEC </a:t>
            </a:r>
            <a:r>
              <a:rPr lang="ko-KR" altLang="en-US" dirty="0"/>
              <a:t>정보 추가로 </a:t>
            </a:r>
            <a:r>
              <a:rPr lang="ko-KR" altLang="en-US" b="1" dirty="0" err="1"/>
              <a:t>판별력뿐</a:t>
            </a:r>
            <a:r>
              <a:rPr lang="ko-KR" altLang="en-US" b="1" dirty="0"/>
              <a:t> 아니라 확률 추정의 정확성까지 함께 향상</a:t>
            </a:r>
            <a:r>
              <a:rPr lang="ko-KR" altLang="en-US" dirty="0"/>
              <a:t>됩니다</a:t>
            </a:r>
            <a:r>
              <a:rPr lang="en-US" altLang="ko-KR" dirty="0"/>
              <a:t>. </a:t>
            </a:r>
            <a:r>
              <a:rPr lang="ko-KR" altLang="en-US" dirty="0"/>
              <a:t>이는 </a:t>
            </a:r>
            <a:r>
              <a:rPr lang="en-US" altLang="ko-KR" dirty="0"/>
              <a:t>AEC </a:t>
            </a:r>
            <a:r>
              <a:rPr lang="ko-KR" altLang="en-US" dirty="0"/>
              <a:t>정보가 단순한 순위 판별 이상으로</a:t>
            </a:r>
            <a:r>
              <a:rPr lang="en-US" altLang="ko-KR" dirty="0"/>
              <a:t>, </a:t>
            </a:r>
            <a:r>
              <a:rPr lang="ko-KR" altLang="en-US" dirty="0"/>
              <a:t>실제 위험 확률 추정에도 기여한다는 의미입니다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종합하면</a:t>
            </a:r>
            <a:r>
              <a:rPr lang="en-US" altLang="ko-KR" dirty="0"/>
              <a:t>, </a:t>
            </a:r>
            <a:r>
              <a:rPr lang="en-US" altLang="ko-KR" b="1" dirty="0"/>
              <a:t>AEC </a:t>
            </a:r>
            <a:r>
              <a:rPr lang="ko-KR" altLang="en-US" b="1" dirty="0"/>
              <a:t>추가</a:t>
            </a:r>
            <a:r>
              <a:rPr lang="en-US" altLang="ko-KR" b="1" dirty="0"/>
              <a:t>(Case 1→2)</a:t>
            </a:r>
            <a:r>
              <a:rPr lang="ko-KR" altLang="en-US" b="1" dirty="0"/>
              <a:t>의 </a:t>
            </a:r>
            <a:r>
              <a:rPr lang="en-US" altLang="ko-KR" b="1" dirty="0"/>
              <a:t>AUC +12.4%p </a:t>
            </a:r>
            <a:r>
              <a:rPr lang="ko-KR" altLang="en-US" b="1" dirty="0"/>
              <a:t>향상이 가장 큰 기여</a:t>
            </a:r>
            <a:r>
              <a:rPr lang="ko-KR" altLang="en-US" dirty="0"/>
              <a:t>이며</a:t>
            </a:r>
            <a:r>
              <a:rPr lang="en-US" altLang="ko-KR" dirty="0"/>
              <a:t>, CT </a:t>
            </a:r>
            <a:r>
              <a:rPr lang="ko-KR" altLang="en-US" dirty="0"/>
              <a:t>모델명 추가</a:t>
            </a:r>
            <a:r>
              <a:rPr lang="en-US" altLang="ko-KR" dirty="0"/>
              <a:t>(Case 2→3)</a:t>
            </a:r>
            <a:r>
              <a:rPr lang="ko-KR" altLang="en-US" dirty="0"/>
              <a:t>는 추가적인 </a:t>
            </a:r>
            <a:r>
              <a:rPr lang="en-US" altLang="ko-KR" dirty="0"/>
              <a:t>+2.8%p </a:t>
            </a:r>
            <a:r>
              <a:rPr lang="ko-KR" altLang="en-US" dirty="0"/>
              <a:t>개선과 </a:t>
            </a:r>
            <a:r>
              <a:rPr lang="en-US" altLang="ko-KR" dirty="0"/>
              <a:t>Calibration </a:t>
            </a:r>
            <a:r>
              <a:rPr lang="ko-KR" altLang="en-US" dirty="0"/>
              <a:t>향상을 가져옵니다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3381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향후 계획을 말씀드리겠습니다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첫 번째 </a:t>
            </a:r>
            <a:r>
              <a:rPr lang="en-US" altLang="ko-KR" b="1" dirty="0"/>
              <a:t>— </a:t>
            </a:r>
            <a:r>
              <a:rPr lang="ko-KR" altLang="en-US" b="1" dirty="0"/>
              <a:t>신촌 데이터를 이용한 외부 검증</a:t>
            </a:r>
            <a:r>
              <a:rPr lang="en-US" altLang="ko-KR" b="1" dirty="0"/>
              <a:t>(External Validation)</a:t>
            </a:r>
            <a:endParaRPr lang="ko-KR" altLang="en-US" dirty="0"/>
          </a:p>
          <a:p>
            <a:r>
              <a:rPr lang="ko-KR" altLang="en-US" dirty="0"/>
              <a:t>이번 분석은 강남 단일기관 데이터이므로</a:t>
            </a:r>
            <a:r>
              <a:rPr lang="en-US" altLang="ko-KR" dirty="0"/>
              <a:t>, </a:t>
            </a:r>
            <a:r>
              <a:rPr lang="ko-KR" altLang="en-US" dirty="0"/>
              <a:t>신촌 데이터에 동일한 모델을 적용하여 일반화 가능성을 확인하겠습니다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External Validation(</a:t>
            </a:r>
            <a:r>
              <a:rPr lang="ko-KR" altLang="en-US" b="1" dirty="0"/>
              <a:t>외부 검증</a:t>
            </a:r>
            <a:r>
              <a:rPr lang="en-US" altLang="ko-KR" b="1" dirty="0"/>
              <a:t>)</a:t>
            </a:r>
            <a:r>
              <a:rPr lang="ko-KR" altLang="en-US" b="1" dirty="0"/>
              <a:t>이 왜 필요한가</a:t>
            </a:r>
            <a:r>
              <a:rPr lang="en-US" altLang="ko-KR" b="1" dirty="0"/>
              <a:t>?</a:t>
            </a:r>
            <a:r>
              <a:rPr lang="ko-KR" altLang="en-US" dirty="0"/>
              <a:t> 모델을 학습시킨 데이터</a:t>
            </a:r>
            <a:r>
              <a:rPr lang="en-US" altLang="ko-KR" dirty="0"/>
              <a:t>(</a:t>
            </a:r>
            <a:r>
              <a:rPr lang="ko-KR" altLang="en-US" dirty="0"/>
              <a:t>강남</a:t>
            </a:r>
            <a:r>
              <a:rPr lang="en-US" altLang="ko-KR" dirty="0"/>
              <a:t>)</a:t>
            </a:r>
            <a:r>
              <a:rPr lang="ko-KR" altLang="en-US" dirty="0"/>
              <a:t>에서의 성능은 해당 기관</a:t>
            </a:r>
            <a:r>
              <a:rPr lang="en-US" altLang="ko-KR" dirty="0"/>
              <a:t>·</a:t>
            </a:r>
            <a:r>
              <a:rPr lang="ko-KR" altLang="en-US" dirty="0"/>
              <a:t>장비</a:t>
            </a:r>
            <a:r>
              <a:rPr lang="en-US" altLang="ko-KR" dirty="0"/>
              <a:t>·</a:t>
            </a:r>
            <a:r>
              <a:rPr lang="ko-KR" altLang="en-US" dirty="0"/>
              <a:t>환자군에 최적화되어 과대 추정될 수 있습니다</a:t>
            </a:r>
            <a:r>
              <a:rPr lang="en-US" altLang="ko-KR" dirty="0"/>
              <a:t>. </a:t>
            </a:r>
            <a:r>
              <a:rPr lang="ko-KR" altLang="en-US" dirty="0"/>
              <a:t>전혀 다른 기관</a:t>
            </a:r>
            <a:r>
              <a:rPr lang="en-US" altLang="ko-KR" dirty="0"/>
              <a:t>(</a:t>
            </a:r>
            <a:r>
              <a:rPr lang="ko-KR" altLang="en-US" dirty="0"/>
              <a:t>신촌</a:t>
            </a:r>
            <a:r>
              <a:rPr lang="en-US" altLang="ko-KR" dirty="0"/>
              <a:t>)</a:t>
            </a:r>
            <a:r>
              <a:rPr lang="ko-KR" altLang="en-US" dirty="0"/>
              <a:t>의 데이터에서도 비슷한 성능이 나온다면</a:t>
            </a:r>
            <a:r>
              <a:rPr lang="en-US" altLang="ko-KR" dirty="0"/>
              <a:t>, </a:t>
            </a:r>
            <a:r>
              <a:rPr lang="ko-KR" altLang="en-US" dirty="0"/>
              <a:t>그 모델은 범용적으로 사용 가능한 일반화된 모델임을 의미합니다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외부 검증에서 </a:t>
            </a:r>
            <a:r>
              <a:rPr lang="en-US" altLang="ko-KR" dirty="0"/>
              <a:t>AUC</a:t>
            </a:r>
            <a:r>
              <a:rPr lang="ko-KR" altLang="en-US" dirty="0"/>
              <a:t>가 크게 하락한다면 기관별 </a:t>
            </a:r>
            <a:r>
              <a:rPr lang="en-US" altLang="ko-KR" dirty="0"/>
              <a:t>AEC </a:t>
            </a:r>
            <a:r>
              <a:rPr lang="ko-KR" altLang="en-US" dirty="0"/>
              <a:t>알고리즘 차이를 추가 보정하는 </a:t>
            </a:r>
            <a:r>
              <a:rPr lang="en-US" altLang="ko-KR" dirty="0"/>
              <a:t>Feature Engineering</a:t>
            </a:r>
            <a:r>
              <a:rPr lang="ko-KR" altLang="en-US" dirty="0"/>
              <a:t>이나 </a:t>
            </a:r>
            <a:r>
              <a:rPr lang="en-US" altLang="ko-KR" dirty="0"/>
              <a:t>Domain Adaptation </a:t>
            </a:r>
            <a:r>
              <a:rPr lang="ko-KR" altLang="en-US" dirty="0"/>
              <a:t>전략을 검토하겠습니다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두 번째 </a:t>
            </a:r>
            <a:r>
              <a:rPr lang="en-US" altLang="ko-KR" b="1" dirty="0"/>
              <a:t>— ML </a:t>
            </a:r>
            <a:r>
              <a:rPr lang="ko-KR" altLang="en-US" b="1" dirty="0"/>
              <a:t>기반 앙상블 모델 비교</a:t>
            </a:r>
            <a:r>
              <a:rPr lang="en-US" altLang="ko-KR" b="1" dirty="0"/>
              <a:t>(Random Forest, </a:t>
            </a:r>
            <a:r>
              <a:rPr lang="en-US" altLang="ko-KR" b="1" dirty="0" err="1"/>
              <a:t>XGBoost</a:t>
            </a:r>
            <a:r>
              <a:rPr lang="en-US" altLang="ko-KR" b="1" dirty="0"/>
              <a:t> </a:t>
            </a:r>
            <a:r>
              <a:rPr lang="ko-KR" altLang="en-US" b="1" dirty="0"/>
              <a:t>등</a:t>
            </a:r>
            <a:r>
              <a:rPr lang="en-US" altLang="ko-KR" b="1" dirty="0"/>
              <a:t>)</a:t>
            </a:r>
            <a:endParaRPr lang="ko-KR" altLang="en-US" dirty="0"/>
          </a:p>
          <a:p>
            <a:r>
              <a:rPr lang="ko-KR" altLang="en-US" dirty="0"/>
              <a:t>비선형 모델과 이번 회귀 모델의 성능을 비교하여 어떤 방법론이 이 데이터에 더 적합한지 확인하겠습니다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Random Forest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dirty="0"/>
              <a:t> 여러 개의 의사결정나무</a:t>
            </a:r>
            <a:r>
              <a:rPr lang="en-US" altLang="ko-KR" dirty="0"/>
              <a:t>(Decision Tree)</a:t>
            </a:r>
            <a:r>
              <a:rPr lang="ko-KR" altLang="en-US" dirty="0"/>
              <a:t>를 독립적으로 학습시키고 결과를 다수결로 통합하는 앙상블 모델입니다</a:t>
            </a:r>
            <a:r>
              <a:rPr lang="en-US" altLang="ko-KR" dirty="0"/>
              <a:t>. </a:t>
            </a:r>
            <a:r>
              <a:rPr lang="ko-KR" altLang="en-US" dirty="0"/>
              <a:t>비선형 관계와 변수 간 상호작용을 자동으로 포착합니다</a:t>
            </a:r>
            <a:r>
              <a:rPr lang="en-US" altLang="ko-KR" dirty="0"/>
              <a:t>. </a:t>
            </a:r>
            <a:r>
              <a:rPr lang="en-US" altLang="ko-KR" b="1" dirty="0" err="1"/>
              <a:t>XGBoost</a:t>
            </a:r>
            <a:r>
              <a:rPr lang="ko-KR" altLang="en-US" dirty="0"/>
              <a:t>는 이전 나무가 틀린 부분에 집중해서 다음 나무를 학습시키는 </a:t>
            </a:r>
            <a:r>
              <a:rPr lang="en-US" altLang="ko-KR" dirty="0"/>
              <a:t>Gradient Boosting </a:t>
            </a:r>
            <a:r>
              <a:rPr lang="ko-KR" altLang="en-US" dirty="0"/>
              <a:t>방식으로 일반적으로 높은 예측 성능을 보입니다</a:t>
            </a:r>
            <a:r>
              <a:rPr lang="en-US" altLang="ko-KR" dirty="0"/>
              <a:t>. </a:t>
            </a:r>
            <a:r>
              <a:rPr lang="ko-KR" altLang="en-US" dirty="0"/>
              <a:t>두 모델 모두 변수 중요도</a:t>
            </a:r>
            <a:r>
              <a:rPr lang="en-US" altLang="ko-KR" dirty="0"/>
              <a:t>(Feature Importance)</a:t>
            </a:r>
            <a:r>
              <a:rPr lang="ko-KR" altLang="en-US" dirty="0"/>
              <a:t>를 제공하여 어떤 변수가 기여하는지 파악할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다만 회귀 모델은 </a:t>
            </a:r>
            <a:r>
              <a:rPr lang="ko-KR" altLang="en-US" dirty="0" err="1"/>
              <a:t>변수별</a:t>
            </a:r>
            <a:r>
              <a:rPr lang="ko-KR" altLang="en-US" dirty="0"/>
              <a:t> 기여도를 계수</a:t>
            </a:r>
            <a:r>
              <a:rPr lang="en-US" altLang="ko-KR" dirty="0"/>
              <a:t>·</a:t>
            </a:r>
            <a:r>
              <a:rPr lang="en-US" altLang="ko-KR" dirty="0" err="1"/>
              <a:t>p-value·OR</a:t>
            </a:r>
            <a:r>
              <a:rPr lang="ko-KR" altLang="en-US" dirty="0"/>
              <a:t>로 해석할 수 있다는 명확한 장점이 있어</a:t>
            </a:r>
            <a:r>
              <a:rPr lang="en-US" altLang="ko-KR" dirty="0"/>
              <a:t>, </a:t>
            </a:r>
            <a:r>
              <a:rPr lang="ko-KR" altLang="en-US" dirty="0"/>
              <a:t>성능이 비슷하다면 해석 가능성</a:t>
            </a:r>
            <a:r>
              <a:rPr lang="en-US" altLang="ko-KR" dirty="0"/>
              <a:t>(interpretability)</a:t>
            </a:r>
            <a:r>
              <a:rPr lang="ko-KR" altLang="en-US" dirty="0"/>
              <a:t>을 우선하는 것도 고려하겠습니다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교수님</a:t>
            </a:r>
            <a:r>
              <a:rPr lang="en-US" altLang="ko-KR" dirty="0"/>
              <a:t>, </a:t>
            </a:r>
            <a:r>
              <a:rPr lang="ko-KR" altLang="en-US" dirty="0"/>
              <a:t>이번 분석의 핵심 메시지를 한 문장으로 정리하면 이렇습니다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"CT </a:t>
            </a:r>
            <a:r>
              <a:rPr lang="ko-KR" altLang="en-US" b="1" dirty="0"/>
              <a:t>스캐너가 자동으로 기록하는 </a:t>
            </a:r>
            <a:r>
              <a:rPr lang="en-US" altLang="ko-KR" b="1" dirty="0"/>
              <a:t>AEC </a:t>
            </a:r>
            <a:r>
              <a:rPr lang="ko-KR" altLang="en-US" b="1" dirty="0"/>
              <a:t>곡선은 단순한 방사선 제어 로그가 아니라</a:t>
            </a:r>
            <a:r>
              <a:rPr lang="en-US" altLang="ko-KR" b="1" dirty="0"/>
              <a:t>, </a:t>
            </a:r>
            <a:r>
              <a:rPr lang="ko-KR" altLang="en-US" b="1" dirty="0"/>
              <a:t>환자의 </a:t>
            </a:r>
            <a:r>
              <a:rPr lang="ko-KR" altLang="en-US" b="1" dirty="0" err="1"/>
              <a:t>근육량</a:t>
            </a:r>
            <a:r>
              <a:rPr lang="ko-KR" altLang="en-US" b="1" dirty="0"/>
              <a:t> 정보를 간접적으로 담고 있는 임상 데이터원으로 활용 가능하다</a:t>
            </a:r>
            <a:r>
              <a:rPr lang="en-US" altLang="ko-KR" b="1" dirty="0"/>
              <a:t>."</a:t>
            </a:r>
            <a:endParaRPr lang="ko-KR" altLang="en-US" dirty="0"/>
          </a:p>
          <a:p>
            <a:r>
              <a:rPr lang="ko-KR" altLang="en-US" dirty="0"/>
              <a:t>이상으로 발표를 마치겠습니다</a:t>
            </a:r>
            <a:r>
              <a:rPr lang="en-US" altLang="ko-KR" dirty="0"/>
              <a:t>. </a:t>
            </a:r>
            <a:r>
              <a:rPr lang="ko-KR" altLang="en-US" dirty="0"/>
              <a:t>질문이 있으시면 말씀해 주십시오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332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6658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398186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 b="1" dirty="0">
                <a:solidFill>
                  <a:schemeClr val="lt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Arial" panose="020B0604020202020204" pitchFamily="34" charset="0"/>
              </a:rPr>
              <a:t>Linear &amp; Logistic Regression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2026. 04. 17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of, Medical Device Engineering &amp; Management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What’s discussed in the last meetings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ea typeface="KoPub돋움체 Bold" panose="02020603020101020101"/>
              </a:rPr>
              <a:t>Feature Engineering</a:t>
            </a:r>
            <a:r>
              <a:rPr lang="ko-KR" altLang="en-US" dirty="0">
                <a:ea typeface="KoPub돋움체 Bold" panose="02020603020101020101"/>
              </a:rPr>
              <a:t>에 따른 성능 변화</a:t>
            </a:r>
            <a:endParaRPr lang="en-US" altLang="ko-KR" dirty="0">
              <a:ea typeface="KoPub돋움체 Bold" panose="02020603020101020101"/>
            </a:endParaRPr>
          </a:p>
          <a:p>
            <a:pPr lvl="1"/>
            <a:r>
              <a:rPr lang="en-US" altLang="ko-KR" dirty="0"/>
              <a:t>Case 1. [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]</a:t>
            </a:r>
          </a:p>
          <a:p>
            <a:pPr lvl="1"/>
            <a:r>
              <a:rPr lang="en-US" altLang="ko-KR" dirty="0"/>
              <a:t>Case 2. [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AEC]</a:t>
            </a:r>
          </a:p>
          <a:p>
            <a:pPr lvl="1"/>
            <a:r>
              <a:rPr lang="en-US" altLang="ko-KR" dirty="0"/>
              <a:t>Case 3. [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AEC, </a:t>
            </a:r>
            <a:r>
              <a:rPr lang="ko-KR" altLang="en-US" dirty="0"/>
              <a:t>모델명</a:t>
            </a:r>
            <a:r>
              <a:rPr lang="en-US" altLang="ko-KR" dirty="0"/>
              <a:t>]</a:t>
            </a:r>
            <a:endParaRPr lang="ko-KR" altLang="en-US" dirty="0"/>
          </a:p>
          <a:p>
            <a:r>
              <a:rPr lang="en-US" altLang="ko-KR" dirty="0"/>
              <a:t>Regression</a:t>
            </a:r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 데이터를 활용한 </a:t>
            </a:r>
            <a:r>
              <a:rPr lang="en-US" altLang="ko-KR" dirty="0"/>
              <a:t>TAMA </a:t>
            </a:r>
            <a:r>
              <a:rPr lang="ko-KR" altLang="en-US" dirty="0"/>
              <a:t>분류 모델 구축</a:t>
            </a:r>
            <a:endParaRPr lang="en-US" altLang="ko-KR" dirty="0"/>
          </a:p>
          <a:p>
            <a:pPr lvl="1"/>
            <a:r>
              <a:rPr lang="en-US" altLang="ko-KR" dirty="0"/>
              <a:t>Linear Regression: </a:t>
            </a:r>
            <a:r>
              <a:rPr lang="ko-KR" altLang="en-US" dirty="0"/>
              <a:t>변수 간의 선형적 상관관계 및 연속적인 경향성 파악</a:t>
            </a:r>
            <a:endParaRPr lang="en-US" altLang="ko-KR" dirty="0"/>
          </a:p>
          <a:p>
            <a:pPr lvl="1"/>
            <a:r>
              <a:rPr lang="en-US" altLang="ko-KR" dirty="0"/>
              <a:t>Logistic Regression: TAMA </a:t>
            </a:r>
            <a:r>
              <a:rPr lang="ko-KR" altLang="en-US" dirty="0"/>
              <a:t>분류</a:t>
            </a:r>
            <a:r>
              <a:rPr lang="en-US" altLang="ko-KR" dirty="0"/>
              <a:t>(4 Class)</a:t>
            </a:r>
            <a:r>
              <a:rPr lang="ko-KR" altLang="en-US" dirty="0"/>
              <a:t>의 확률 추정 및 분류 성능 확보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9113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</a:t>
            </a:r>
            <a:r>
              <a:rPr lang="ko-KR" altLang="en-US" dirty="0"/>
              <a:t> </a:t>
            </a:r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AEC Features Extracting</a:t>
            </a:r>
          </a:p>
          <a:p>
            <a:r>
              <a:rPr lang="en-US" altLang="ko-KR" dirty="0"/>
              <a:t>Linear &amp; Logistic Regression (</a:t>
            </a:r>
            <a:r>
              <a:rPr lang="ko-KR" altLang="en-US" dirty="0" err="1"/>
              <a:t>단변량</a:t>
            </a:r>
            <a:r>
              <a:rPr lang="en-US" altLang="ko-KR" dirty="0"/>
              <a:t>, </a:t>
            </a:r>
            <a:r>
              <a:rPr lang="ko-KR" altLang="en-US" dirty="0" err="1"/>
              <a:t>다변량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Multivariable Analysis (</a:t>
            </a:r>
            <a:r>
              <a:rPr lang="ko-KR" altLang="en-US" dirty="0"/>
              <a:t>심화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Case1 [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나이</a:t>
            </a:r>
            <a:r>
              <a:rPr lang="en-US" altLang="ko-KR" dirty="0"/>
              <a:t>], Case2 [+AEC features], Case3 [+</a:t>
            </a:r>
            <a:r>
              <a:rPr lang="ko-KR" altLang="en-US" dirty="0"/>
              <a:t>모델명</a:t>
            </a:r>
            <a:r>
              <a:rPr lang="en-US" altLang="ko-KR" dirty="0"/>
              <a:t>]</a:t>
            </a:r>
          </a:p>
          <a:p>
            <a:pPr lvl="1"/>
            <a:r>
              <a:rPr lang="ko-KR" altLang="en-US" dirty="0"/>
              <a:t>비교분석결과 </a:t>
            </a:r>
            <a:r>
              <a:rPr lang="en-US" altLang="ko-KR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가 독립적으로 </a:t>
            </a:r>
            <a:r>
              <a:rPr lang="en-US" altLang="ko-KR" dirty="0"/>
              <a:t>TAMA </a:t>
            </a:r>
            <a:r>
              <a:rPr lang="ko-KR" altLang="en-US" dirty="0"/>
              <a:t>예측에 기여한다고 판단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8511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/>
              <a:t>연구 프로토타입 정의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1000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Main Study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연구 목적</a:t>
            </a:r>
            <a:endParaRPr lang="en-US" altLang="ko-KR" dirty="0"/>
          </a:p>
          <a:p>
            <a:pPr lvl="1"/>
            <a:r>
              <a:rPr lang="en-US" altLang="ko-KR" dirty="0"/>
              <a:t>Opportunistic CT Biomarker </a:t>
            </a:r>
            <a:r>
              <a:rPr lang="ko-KR" altLang="en-US" dirty="0"/>
              <a:t>기반 → </a:t>
            </a:r>
            <a:r>
              <a:rPr lang="en-US" altLang="ko-KR" dirty="0"/>
              <a:t>5</a:t>
            </a:r>
            <a:r>
              <a:rPr lang="ko-KR" altLang="en-US" dirty="0"/>
              <a:t>년 내 </a:t>
            </a:r>
            <a:r>
              <a:rPr lang="en-US" altLang="ko-KR" dirty="0"/>
              <a:t>vertebral compression fracture </a:t>
            </a:r>
            <a:r>
              <a:rPr lang="ko-KR" altLang="en-US" dirty="0"/>
              <a:t>예측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의 </a:t>
            </a:r>
            <a:r>
              <a:rPr lang="en-US" altLang="ko-KR" dirty="0"/>
              <a:t>incremental value </a:t>
            </a:r>
            <a:r>
              <a:rPr lang="ko-KR" altLang="en-US" dirty="0"/>
              <a:t>검증</a:t>
            </a:r>
            <a:endParaRPr lang="en-US" altLang="ko-KR" dirty="0"/>
          </a:p>
          <a:p>
            <a:r>
              <a:rPr lang="ko-KR" altLang="en-US" dirty="0"/>
              <a:t>데이터</a:t>
            </a:r>
            <a:endParaRPr lang="en-US" altLang="ko-KR" dirty="0"/>
          </a:p>
          <a:p>
            <a:pPr lvl="1"/>
            <a:r>
              <a:rPr lang="en-US" altLang="ko-KR" dirty="0"/>
              <a:t>Baseline APCT + follow-up imaging </a:t>
            </a:r>
            <a:r>
              <a:rPr lang="ko-KR" altLang="en-US" dirty="0"/>
              <a:t>보유 환자</a:t>
            </a:r>
            <a:endParaRPr lang="en-US" altLang="ko-KR" dirty="0"/>
          </a:p>
          <a:p>
            <a:pPr lvl="1"/>
            <a:r>
              <a:rPr lang="ko-KR" altLang="en-US" dirty="0"/>
              <a:t>주요 변수</a:t>
            </a:r>
            <a:r>
              <a:rPr lang="en-US" altLang="ko-KR" dirty="0"/>
              <a:t>: Age, Sex, AEC, Muscle, Bone Density </a:t>
            </a:r>
            <a:r>
              <a:rPr lang="ko-KR" altLang="en-US" dirty="0"/>
              <a:t>등</a:t>
            </a:r>
            <a:endParaRPr lang="en-US" altLang="ko-KR" dirty="0"/>
          </a:p>
          <a:p>
            <a:r>
              <a:rPr lang="ko-KR" altLang="en-US" dirty="0"/>
              <a:t>모델 구조</a:t>
            </a:r>
            <a:endParaRPr lang="en-US" altLang="ko-KR" dirty="0"/>
          </a:p>
          <a:p>
            <a:pPr lvl="1"/>
            <a:r>
              <a:rPr lang="en-US" altLang="ko-KR" dirty="0"/>
              <a:t>Model A: Age + Sex</a:t>
            </a:r>
          </a:p>
          <a:p>
            <a:pPr lvl="1"/>
            <a:r>
              <a:rPr lang="en-US" altLang="ko-KR" dirty="0"/>
              <a:t>Model B: + Bone</a:t>
            </a:r>
          </a:p>
          <a:p>
            <a:pPr lvl="1"/>
            <a:r>
              <a:rPr lang="en-US" altLang="ko-KR" dirty="0"/>
              <a:t>Model C: + Muscle</a:t>
            </a:r>
          </a:p>
          <a:p>
            <a:pPr lvl="1"/>
            <a:r>
              <a:rPr lang="en-US" altLang="ko-KR" dirty="0"/>
              <a:t>Model D: + AEC (</a:t>
            </a:r>
            <a:r>
              <a:rPr lang="ko-KR" altLang="en-US" dirty="0"/>
              <a:t>핵심 비교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5299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Pilot Feasibility Study (</a:t>
            </a:r>
            <a:r>
              <a:rPr lang="ko-KR" altLang="en-US" dirty="0"/>
              <a:t>현재 진행 연구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연구 목적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가 단순 보조 변수인지 </a:t>
            </a:r>
            <a:r>
              <a:rPr lang="en-US" altLang="ko-KR" dirty="0"/>
              <a:t>vs </a:t>
            </a:r>
            <a:r>
              <a:rPr lang="ko-KR" altLang="en-US" dirty="0"/>
              <a:t>독립적인 </a:t>
            </a:r>
            <a:r>
              <a:rPr lang="en-US" altLang="ko-KR" dirty="0"/>
              <a:t>biomarker</a:t>
            </a:r>
            <a:r>
              <a:rPr lang="ko-KR" altLang="en-US" dirty="0"/>
              <a:t>인지 검증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→ 본 연구 모델 포함 가능성 평가</a:t>
            </a:r>
            <a:endParaRPr lang="en-US" altLang="ko-KR" dirty="0"/>
          </a:p>
          <a:p>
            <a:r>
              <a:rPr lang="ko-KR" altLang="en-US" dirty="0"/>
              <a:t>핵심 질문</a:t>
            </a:r>
            <a:endParaRPr lang="en-US" altLang="ko-KR" dirty="0"/>
          </a:p>
          <a:p>
            <a:pPr lvl="1"/>
            <a:r>
              <a:rPr lang="en-US" altLang="ko-KR" dirty="0"/>
              <a:t>AEC</a:t>
            </a:r>
            <a:r>
              <a:rPr lang="ko-KR" altLang="en-US" dirty="0"/>
              <a:t>는 </a:t>
            </a:r>
            <a:r>
              <a:rPr lang="en-US" altLang="ko-KR" dirty="0"/>
              <a:t>age/sex </a:t>
            </a:r>
            <a:r>
              <a:rPr lang="ko-KR" altLang="en-US" dirty="0"/>
              <a:t>이상 정보를 가지는가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Muscle/Bone</a:t>
            </a:r>
            <a:r>
              <a:rPr lang="ko-KR" altLang="en-US" dirty="0"/>
              <a:t>과 독립적 연관성이 존재하는가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Scanner/Center </a:t>
            </a:r>
            <a:r>
              <a:rPr lang="ko-KR" altLang="en-US" dirty="0"/>
              <a:t>보정 후에도 유지되는가</a:t>
            </a:r>
            <a:r>
              <a:rPr lang="en-US" altLang="ko-KR" dirty="0"/>
              <a:t>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0437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Research Overview – Pilot Feasibility Study (</a:t>
            </a:r>
            <a:r>
              <a:rPr lang="ko-KR" altLang="en-US" dirty="0"/>
              <a:t>현재 진행 연구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분석 전략</a:t>
            </a:r>
            <a:endParaRPr lang="en-US" altLang="ko-KR" dirty="0"/>
          </a:p>
          <a:p>
            <a:pPr lvl="1"/>
            <a:r>
              <a:rPr lang="ko-KR" altLang="en-US" dirty="0"/>
              <a:t>분포 분석 </a:t>
            </a:r>
            <a:r>
              <a:rPr lang="en-US" altLang="ko-KR" dirty="0"/>
              <a:t>(AEC by </a:t>
            </a:r>
            <a:r>
              <a:rPr lang="ko-KR" altLang="en-US" dirty="0"/>
              <a:t>센터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연령</a:t>
            </a:r>
            <a:r>
              <a:rPr lang="en-US" altLang="ko-KR" dirty="0"/>
              <a:t>) – Complete</a:t>
            </a:r>
          </a:p>
          <a:p>
            <a:pPr lvl="1"/>
            <a:r>
              <a:rPr lang="ko-KR" altLang="en-US" b="1" dirty="0"/>
              <a:t>회귀 분석 </a:t>
            </a:r>
            <a:r>
              <a:rPr lang="en-US" altLang="ko-KR" b="1" dirty="0"/>
              <a:t>(muscle area </a:t>
            </a:r>
            <a:r>
              <a:rPr lang="en-US" altLang="ko-KR" dirty="0"/>
              <a:t>/ attenuation / bone density ~ AEC + age + sex)</a:t>
            </a:r>
          </a:p>
          <a:p>
            <a:pPr lvl="1"/>
            <a:r>
              <a:rPr lang="ko-KR" altLang="en-US" b="1" dirty="0"/>
              <a:t>고급 분석</a:t>
            </a:r>
            <a:endParaRPr lang="en-US" altLang="ko-KR" b="1" dirty="0"/>
          </a:p>
          <a:p>
            <a:pPr lvl="2"/>
            <a:r>
              <a:rPr lang="en-US" altLang="ko-KR" b="1" dirty="0"/>
              <a:t>Multivariable (center, scanner </a:t>
            </a:r>
            <a:r>
              <a:rPr lang="ko-KR" altLang="en-US" b="1" dirty="0"/>
              <a:t>보정</a:t>
            </a:r>
            <a:r>
              <a:rPr lang="en-US" altLang="ko-KR" b="1" dirty="0"/>
              <a:t>)</a:t>
            </a:r>
          </a:p>
          <a:p>
            <a:pPr lvl="2"/>
            <a:r>
              <a:rPr lang="en-US" altLang="ko-KR" dirty="0"/>
              <a:t>Spline </a:t>
            </a:r>
            <a:r>
              <a:rPr lang="ko-KR" altLang="en-US" dirty="0"/>
              <a:t>분석 →</a:t>
            </a:r>
            <a:r>
              <a:rPr lang="en-US" altLang="ko-KR" dirty="0"/>
              <a:t> </a:t>
            </a:r>
            <a:r>
              <a:rPr lang="ko-KR" altLang="en-US" dirty="0"/>
              <a:t>비선형 관계 확인</a:t>
            </a:r>
            <a:endParaRPr lang="en-US" altLang="ko-KR" dirty="0"/>
          </a:p>
          <a:p>
            <a:pPr lvl="2"/>
            <a:r>
              <a:rPr lang="en-US" altLang="ko-KR" dirty="0"/>
              <a:t>Center-stratified </a:t>
            </a:r>
            <a:r>
              <a:rPr lang="ko-KR" altLang="en-US" dirty="0"/>
              <a:t>분석</a:t>
            </a:r>
            <a:endParaRPr lang="en-US" altLang="ko-KR" dirty="0"/>
          </a:p>
          <a:p>
            <a:r>
              <a:rPr lang="ko-KR" altLang="en-US" dirty="0"/>
              <a:t>결과물</a:t>
            </a:r>
            <a:endParaRPr lang="en-US" altLang="ko-KR" dirty="0"/>
          </a:p>
          <a:p>
            <a:pPr lvl="1"/>
            <a:r>
              <a:rPr lang="en-US" altLang="ko-KR" dirty="0"/>
              <a:t>AEC distribution plot</a:t>
            </a:r>
          </a:p>
          <a:p>
            <a:pPr lvl="1"/>
            <a:r>
              <a:rPr lang="en-US" altLang="ko-KR" dirty="0"/>
              <a:t>AEC vs biomarker scatter</a:t>
            </a:r>
          </a:p>
          <a:p>
            <a:pPr lvl="1"/>
            <a:r>
              <a:rPr lang="en-US" altLang="ko-KR" dirty="0"/>
              <a:t>Regression Table</a:t>
            </a:r>
          </a:p>
          <a:p>
            <a:pPr lvl="1"/>
            <a:r>
              <a:rPr lang="en-US" altLang="ko-KR" dirty="0"/>
              <a:t>Stratified Result Figure </a:t>
            </a:r>
            <a:r>
              <a:rPr lang="ko-KR" altLang="en-US" dirty="0"/>
              <a:t>등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901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정리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5834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FB8A9B4-0370-4CA4-9AF7-A25EA9F5BC67}"/>
              </a:ext>
            </a:extLst>
          </p:cNvPr>
          <p:cNvGrpSpPr/>
          <p:nvPr/>
        </p:nvGrpSpPr>
        <p:grpSpPr>
          <a:xfrm>
            <a:off x="769620" y="1727033"/>
            <a:ext cx="10652760" cy="1874520"/>
            <a:chOff x="320040" y="1591057"/>
            <a:chExt cx="11247120" cy="187452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9" name="Rectangle 5">
              <a:extLst>
                <a:ext uri="{FF2B5EF4-FFF2-40B4-BE49-F238E27FC236}">
                  <a16:creationId xmlns:a16="http://schemas.microsoft.com/office/drawing/2014/main" id="{BE12C57E-DDA6-448D-86BC-F1DC21EC5D54}"/>
                </a:ext>
              </a:extLst>
            </p:cNvPr>
            <p:cNvSpPr/>
            <p:nvPr/>
          </p:nvSpPr>
          <p:spPr>
            <a:xfrm>
              <a:off x="320040" y="1591057"/>
              <a:ext cx="356616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41836B-E0D9-4AAE-A183-22EFDBEB5A9F}"/>
                </a:ext>
              </a:extLst>
            </p:cNvPr>
            <p:cNvSpPr txBox="1"/>
            <p:nvPr/>
          </p:nvSpPr>
          <p:spPr>
            <a:xfrm>
              <a:off x="429768" y="1636777"/>
              <a:ext cx="33832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총 </a:t>
              </a:r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환자</a:t>
              </a:r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 수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A0E5E16-BED6-4786-BA12-4B9DA00E5C69}"/>
                </a:ext>
              </a:extLst>
            </p:cNvPr>
            <p:cNvSpPr txBox="1"/>
            <p:nvPr/>
          </p:nvSpPr>
          <p:spPr>
            <a:xfrm>
              <a:off x="429768" y="1975105"/>
              <a:ext cx="33832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1,672명</a:t>
              </a:r>
            </a:p>
          </p:txBody>
        </p:sp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2BDD2FD2-D736-4432-A9D6-16A0A1C7E0A0}"/>
                </a:ext>
              </a:extLst>
            </p:cNvPr>
            <p:cNvSpPr/>
            <p:nvPr/>
          </p:nvSpPr>
          <p:spPr>
            <a:xfrm>
              <a:off x="4160520" y="1591057"/>
              <a:ext cx="356616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93F3D5B-8095-49E6-98D3-E24267C25BDA}"/>
                </a:ext>
              </a:extLst>
            </p:cNvPr>
            <p:cNvSpPr txBox="1"/>
            <p:nvPr/>
          </p:nvSpPr>
          <p:spPr>
            <a:xfrm>
              <a:off x="4270248" y="1636777"/>
              <a:ext cx="33832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남성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3CA52CD-5E1B-4300-A6A1-8E0FB8D87ABE}"/>
                </a:ext>
              </a:extLst>
            </p:cNvPr>
            <p:cNvSpPr txBox="1"/>
            <p:nvPr/>
          </p:nvSpPr>
          <p:spPr>
            <a:xfrm>
              <a:off x="4270248" y="1975105"/>
              <a:ext cx="33832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665명 (39.8%)</a:t>
              </a:r>
            </a:p>
          </p:txBody>
        </p:sp>
        <p:sp>
          <p:nvSpPr>
            <p:cNvPr id="45" name="Rectangle 11">
              <a:extLst>
                <a:ext uri="{FF2B5EF4-FFF2-40B4-BE49-F238E27FC236}">
                  <a16:creationId xmlns:a16="http://schemas.microsoft.com/office/drawing/2014/main" id="{20A8A9A3-5B0C-4B19-B70F-63963F3E6EDA}"/>
                </a:ext>
              </a:extLst>
            </p:cNvPr>
            <p:cNvSpPr/>
            <p:nvPr/>
          </p:nvSpPr>
          <p:spPr>
            <a:xfrm>
              <a:off x="8001000" y="1591057"/>
              <a:ext cx="356616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0535323-FE78-4A6C-BA8C-0B802F73AE17}"/>
                </a:ext>
              </a:extLst>
            </p:cNvPr>
            <p:cNvSpPr txBox="1"/>
            <p:nvPr/>
          </p:nvSpPr>
          <p:spPr>
            <a:xfrm>
              <a:off x="8110727" y="1636777"/>
              <a:ext cx="33832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여성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D5D9754-A87E-43AF-A4C5-5CF4B1571F89}"/>
                </a:ext>
              </a:extLst>
            </p:cNvPr>
            <p:cNvSpPr txBox="1"/>
            <p:nvPr/>
          </p:nvSpPr>
          <p:spPr>
            <a:xfrm>
              <a:off x="8110727" y="1975105"/>
              <a:ext cx="33832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1,007명 (60.2%)</a:t>
              </a:r>
            </a:p>
          </p:txBody>
        </p:sp>
        <p:sp>
          <p:nvSpPr>
            <p:cNvPr id="48" name="Rectangle 14">
              <a:extLst>
                <a:ext uri="{FF2B5EF4-FFF2-40B4-BE49-F238E27FC236}">
                  <a16:creationId xmlns:a16="http://schemas.microsoft.com/office/drawing/2014/main" id="{7A62C207-1358-4540-BAF7-886B262642A4}"/>
                </a:ext>
              </a:extLst>
            </p:cNvPr>
            <p:cNvSpPr/>
            <p:nvPr/>
          </p:nvSpPr>
          <p:spPr>
            <a:xfrm>
              <a:off x="320040" y="2596897"/>
              <a:ext cx="356616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247224A-B980-4279-B627-9DE525993057}"/>
                </a:ext>
              </a:extLst>
            </p:cNvPr>
            <p:cNvSpPr txBox="1"/>
            <p:nvPr/>
          </p:nvSpPr>
          <p:spPr>
            <a:xfrm>
              <a:off x="429768" y="2642617"/>
              <a:ext cx="33832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CT 스캐너 모델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DF80006-189B-46B5-B51D-3D8BBBB8A175}"/>
                </a:ext>
              </a:extLst>
            </p:cNvPr>
            <p:cNvSpPr txBox="1"/>
            <p:nvPr/>
          </p:nvSpPr>
          <p:spPr>
            <a:xfrm>
              <a:off x="429768" y="2980945"/>
              <a:ext cx="33832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 dirty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31종</a:t>
              </a:r>
            </a:p>
          </p:txBody>
        </p:sp>
        <p:sp>
          <p:nvSpPr>
            <p:cNvPr id="51" name="Rectangle 17">
              <a:extLst>
                <a:ext uri="{FF2B5EF4-FFF2-40B4-BE49-F238E27FC236}">
                  <a16:creationId xmlns:a16="http://schemas.microsoft.com/office/drawing/2014/main" id="{4B6BE63E-0123-4F18-8E59-967505038D69}"/>
                </a:ext>
              </a:extLst>
            </p:cNvPr>
            <p:cNvSpPr/>
            <p:nvPr/>
          </p:nvSpPr>
          <p:spPr>
            <a:xfrm>
              <a:off x="4160520" y="2596897"/>
              <a:ext cx="356616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BA79CE8-F960-47A9-AC4D-67BD17CA8306}"/>
                </a:ext>
              </a:extLst>
            </p:cNvPr>
            <p:cNvSpPr txBox="1"/>
            <p:nvPr/>
          </p:nvSpPr>
          <p:spPr>
            <a:xfrm>
              <a:off x="4270248" y="2642617"/>
              <a:ext cx="33832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TAMA 범위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24F43EC-9CF1-44BF-9E3E-4BF33DCA13C3}"/>
                </a:ext>
              </a:extLst>
            </p:cNvPr>
            <p:cNvSpPr txBox="1"/>
            <p:nvPr/>
          </p:nvSpPr>
          <p:spPr>
            <a:xfrm>
              <a:off x="4270248" y="2980945"/>
              <a:ext cx="33832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14 ~ 299 cm²</a:t>
              </a:r>
            </a:p>
          </p:txBody>
        </p:sp>
        <p:sp>
          <p:nvSpPr>
            <p:cNvPr id="54" name="Rectangle 20">
              <a:extLst>
                <a:ext uri="{FF2B5EF4-FFF2-40B4-BE49-F238E27FC236}">
                  <a16:creationId xmlns:a16="http://schemas.microsoft.com/office/drawing/2014/main" id="{1DC6C060-CEA6-4E72-A09E-83151C02FBFB}"/>
                </a:ext>
              </a:extLst>
            </p:cNvPr>
            <p:cNvSpPr/>
            <p:nvPr/>
          </p:nvSpPr>
          <p:spPr>
            <a:xfrm>
              <a:off x="8001000" y="2596897"/>
              <a:ext cx="3566160" cy="8686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75B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Medium" panose="00000600000000000000" pitchFamily="2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173FB4F-2768-4C0B-9D08-4D1348DEB512}"/>
                </a:ext>
              </a:extLst>
            </p:cNvPr>
            <p:cNvSpPr txBox="1"/>
            <p:nvPr/>
          </p:nvSpPr>
          <p:spPr>
            <a:xfrm>
              <a:off x="8110727" y="2642617"/>
              <a:ext cx="33832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TAMA </a:t>
              </a:r>
              <a:r>
                <a:rPr sz="1400" b="0" i="0" dirty="0" err="1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평균</a:t>
              </a:r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 (</a:t>
              </a:r>
              <a:r>
                <a:rPr lang="en-US" sz="140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std</a:t>
              </a:r>
              <a:r>
                <a:rPr sz="1400" b="0" i="0" dirty="0">
                  <a:solidFill>
                    <a:srgbClr val="2E75B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)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EBFA46C-0E8B-4078-B998-CFCF1C15E333}"/>
                </a:ext>
              </a:extLst>
            </p:cNvPr>
            <p:cNvSpPr txBox="1"/>
            <p:nvPr/>
          </p:nvSpPr>
          <p:spPr>
            <a:xfrm>
              <a:off x="8110727" y="2980945"/>
              <a:ext cx="33832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>
                  <a:solidFill>
                    <a:srgbClr val="1A355E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KoPubWorld돋움체 Medium" panose="00000600000000000000" pitchFamily="2" charset="-127"/>
                </a:rPr>
                <a:t>122.54 (±30.48) cm²</a:t>
              </a:r>
            </a:p>
          </p:txBody>
        </p:sp>
      </p:grpSp>
      <p:graphicFrame>
        <p:nvGraphicFramePr>
          <p:cNvPr id="58" name="Table 24">
            <a:extLst>
              <a:ext uri="{FF2B5EF4-FFF2-40B4-BE49-F238E27FC236}">
                <a16:creationId xmlns:a16="http://schemas.microsoft.com/office/drawing/2014/main" id="{482DE016-3F1C-4650-8969-98555872D4F0}"/>
              </a:ext>
            </a:extLst>
          </p:cNvPr>
          <p:cNvGraphicFramePr>
            <a:graphicFrameLocks noGrp="1"/>
          </p:cNvGraphicFramePr>
          <p:nvPr/>
        </p:nvGraphicFramePr>
        <p:xfrm>
          <a:off x="769620" y="4041312"/>
          <a:ext cx="6408416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54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성별</a:t>
                      </a:r>
                      <a:endParaRPr sz="1200" b="1" dirty="0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N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mean</a:t>
                      </a:r>
                      <a:endParaRPr sz="1200" b="1" dirty="0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std</a:t>
                      </a:r>
                      <a:endParaRPr sz="1200" b="1" dirty="0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median</a:t>
                      </a:r>
                      <a:endParaRPr sz="1200" b="1" dirty="0">
                        <a:solidFill>
                          <a:srgbClr val="FFFFFF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P25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P75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Male</a:t>
                      </a:r>
                      <a:endParaRPr sz="1200" dirty="0">
                        <a:solidFill>
                          <a:srgbClr val="1A1A2E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665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149.52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27.46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150.00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132.00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166.00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F</a:t>
                      </a:r>
                      <a:r>
                        <a:rPr lang="en-US" sz="1200" dirty="0">
                          <a:solidFill>
                            <a:srgbClr val="1A1A2E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emale</a:t>
                      </a:r>
                      <a:endParaRPr sz="1200" dirty="0">
                        <a:solidFill>
                          <a:srgbClr val="1A1A2E"/>
                        </a:solidFill>
                        <a:latin typeface="KoPubWorld돋움체 Medium" panose="00000600000000000000" pitchFamily="2" charset="-127"/>
                        <a:ea typeface="KoPubWorld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1,007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104.71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15.70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103.00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95.00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114.00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6EC54C22-54C7-4731-BDAE-0EFC4B4170E3}"/>
              </a:ext>
            </a:extLst>
          </p:cNvPr>
          <p:cNvGrpSpPr/>
          <p:nvPr/>
        </p:nvGrpSpPr>
        <p:grpSpPr>
          <a:xfrm>
            <a:off x="7406640" y="4041312"/>
            <a:ext cx="4015740" cy="1572768"/>
            <a:chOff x="7406640" y="3694177"/>
            <a:chExt cx="4480560" cy="15727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9" name="Rectangle 25">
              <a:extLst>
                <a:ext uri="{FF2B5EF4-FFF2-40B4-BE49-F238E27FC236}">
                  <a16:creationId xmlns:a16="http://schemas.microsoft.com/office/drawing/2014/main" id="{5A932513-CAD4-42B2-A511-65EE77DD71BF}"/>
                </a:ext>
              </a:extLst>
            </p:cNvPr>
            <p:cNvSpPr/>
            <p:nvPr/>
          </p:nvSpPr>
          <p:spPr>
            <a:xfrm>
              <a:off x="7406640" y="3694177"/>
              <a:ext cx="4480560" cy="1572768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50D8626-1C62-4DF4-92E7-901154E92F9F}"/>
                </a:ext>
              </a:extLst>
            </p:cNvPr>
            <p:cNvSpPr txBox="1"/>
            <p:nvPr/>
          </p:nvSpPr>
          <p:spPr>
            <a:xfrm>
              <a:off x="7543800" y="3739897"/>
              <a:ext cx="42062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 dirty="0">
                  <a:solidFill>
                    <a:srgbClr val="FF7F27"/>
                  </a:solidFill>
                </a:rPr>
                <a:t>Logistic Regression </a:t>
              </a:r>
              <a:r>
                <a:rPr lang="en-US" sz="1200" b="1" i="0" dirty="0">
                  <a:solidFill>
                    <a:srgbClr val="FF7F27"/>
                  </a:solidFill>
                </a:rPr>
                <a:t>binary cutoff</a:t>
              </a:r>
              <a:endParaRPr sz="1200" b="1" i="0" dirty="0">
                <a:solidFill>
                  <a:srgbClr val="FF7F27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8B5CF73-5AD1-47BB-9047-4C29B1832002}"/>
                </a:ext>
              </a:extLst>
            </p:cNvPr>
            <p:cNvSpPr txBox="1"/>
            <p:nvPr/>
          </p:nvSpPr>
          <p:spPr>
            <a:xfrm>
              <a:off x="7543800" y="4133089"/>
              <a:ext cx="4206240" cy="9002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200" b="0" i="0" dirty="0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• </a:t>
              </a:r>
              <a:r>
                <a:rPr lang="en-US" sz="1200" dirty="0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Male</a:t>
              </a:r>
              <a:r>
                <a:rPr sz="1200" b="0" i="0" dirty="0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: TAMA &lt; 170 cm²  →  Low Muscle (1)
•</a:t>
              </a:r>
              <a:r>
                <a:rPr lang="ko-KR" altLang="en-US" sz="1200" b="0" i="0" dirty="0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 </a:t>
              </a:r>
              <a:r>
                <a:rPr lang="en-US" altLang="ko-KR" sz="1200" b="0" i="0" dirty="0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Female</a:t>
              </a:r>
              <a:r>
                <a:rPr sz="1200" b="0" i="0" dirty="0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: TAMA &lt; 110 cm²  →  Low Muscle (1)
• </a:t>
              </a:r>
              <a:r>
                <a:rPr sz="1200" b="0" i="0" dirty="0" err="1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양성</a:t>
              </a:r>
              <a:r>
                <a:rPr sz="1200" b="0" i="0" dirty="0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 </a:t>
              </a:r>
              <a:r>
                <a:rPr sz="1200" b="0" i="0" dirty="0" err="1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비율</a:t>
              </a:r>
              <a:r>
                <a:rPr sz="1200" b="0" i="0" dirty="0">
                  <a:solidFill>
                    <a:srgbClr val="FFFFFF"/>
                  </a:solidFill>
                  <a:latin typeface="KoPubWorld돋움체 Bold" panose="00000800000000000000" pitchFamily="2" charset="-127"/>
                  <a:ea typeface="KoPubWorld돋움체 Bold" panose="00000800000000000000" pitchFamily="2" charset="-127"/>
                  <a:cs typeface="KoPubWorld돋움체 Bold" panose="00000800000000000000" pitchFamily="2" charset="-127"/>
                </a:rPr>
                <a:t>: 1,185 / 1,672 = 70.9 %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6521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612BE9E3-6536-4FF8-AC4E-29FBCA148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b="1" dirty="0"/>
              <a:t>AEC Feature Extracting ~</a:t>
            </a:r>
            <a:r>
              <a:rPr lang="ko-KR" altLang="en-US" b="1" dirty="0"/>
              <a:t> </a:t>
            </a:r>
            <a:r>
              <a:rPr lang="en-US" altLang="ko-KR" b="1" dirty="0"/>
              <a:t>65 features</a:t>
            </a:r>
            <a:endParaRPr lang="en-US" altLang="ko-KR" dirty="0"/>
          </a:p>
          <a:p>
            <a:pPr lvl="1"/>
            <a:r>
              <a:rPr lang="en-US" altLang="ko-KR" dirty="0"/>
              <a:t>Signal Info</a:t>
            </a:r>
          </a:p>
          <a:p>
            <a:pPr lvl="2"/>
            <a:r>
              <a:rPr lang="en-US" altLang="ko-KR" dirty="0"/>
              <a:t>Signal length</a:t>
            </a:r>
          </a:p>
          <a:p>
            <a:pPr lvl="1"/>
            <a:r>
              <a:rPr lang="en-US" altLang="ko-KR" dirty="0"/>
              <a:t>Basic Statistics</a:t>
            </a:r>
          </a:p>
          <a:p>
            <a:pPr lvl="2"/>
            <a:r>
              <a:rPr lang="en-US" altLang="ko-KR" dirty="0"/>
              <a:t>mean, std, min, max, range, median, IQR, skewness, kurtosis</a:t>
            </a:r>
          </a:p>
          <a:p>
            <a:pPr lvl="2"/>
            <a:r>
              <a:rPr lang="en-US" altLang="ko-KR" dirty="0"/>
              <a:t>percentile (p5, p10, p25, p75, p90, p95), p90_p10_ratio</a:t>
            </a:r>
          </a:p>
          <a:p>
            <a:pPr lvl="2"/>
            <a:r>
              <a:rPr lang="en-US" altLang="ko-KR" dirty="0"/>
              <a:t>CV (Coefficient of Variation), RMSE, </a:t>
            </a:r>
            <a:r>
              <a:rPr lang="en-US" altLang="ko-KR" dirty="0" err="1"/>
              <a:t>signal_energy</a:t>
            </a:r>
            <a:r>
              <a:rPr lang="en-US" altLang="ko-KR" dirty="0"/>
              <a:t> (Sum of squared values), </a:t>
            </a:r>
            <a:r>
              <a:rPr lang="en-US" altLang="ko-KR" dirty="0" err="1"/>
              <a:t>mean_abs_deviation</a:t>
            </a:r>
            <a:endParaRPr lang="en-US" altLang="ko-KR" dirty="0"/>
          </a:p>
          <a:p>
            <a:pPr lvl="1"/>
            <a:r>
              <a:rPr lang="en-US" altLang="ko-KR" dirty="0"/>
              <a:t>Shape</a:t>
            </a:r>
          </a:p>
          <a:p>
            <a:pPr lvl="2"/>
            <a:r>
              <a:rPr lang="en-US" altLang="ko-KR" dirty="0"/>
              <a:t>peak (count, max, mean, std, </a:t>
            </a:r>
            <a:r>
              <a:rPr lang="en-US" altLang="ko-KR" dirty="0" err="1"/>
              <a:t>first_position</a:t>
            </a:r>
            <a:r>
              <a:rPr lang="en-US" altLang="ko-KR" dirty="0"/>
              <a:t>, </a:t>
            </a:r>
            <a:r>
              <a:rPr lang="en-US" altLang="ko-KR" dirty="0" err="1"/>
              <a:t>last_position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Slope (count, max, min, mean, std, </a:t>
            </a:r>
            <a:r>
              <a:rPr lang="en-US" altLang="ko-KR" dirty="0" err="1"/>
              <a:t>abs_mean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Valley count, AUC</a:t>
            </a:r>
          </a:p>
          <a:p>
            <a:pPr lvl="1"/>
            <a:r>
              <a:rPr lang="en-US" altLang="ko-KR" dirty="0"/>
              <a:t>Frequency &amp; Wavelet</a:t>
            </a:r>
          </a:p>
        </p:txBody>
      </p:sp>
    </p:spTree>
    <p:extLst>
      <p:ext uri="{BB962C8B-B14F-4D97-AF65-F5344CB8AC3E}">
        <p14:creationId xmlns:p14="http://schemas.microsoft.com/office/powerpoint/2010/main" val="2793819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 </a:t>
            </a:r>
            <a:r>
              <a:rPr lang="en-US" altLang="ko-KR" dirty="0"/>
              <a:t>Extracting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6C5152E-8289-4C86-923B-4434A5BC1C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643" y="1454236"/>
            <a:ext cx="5303329" cy="4113110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649AB2B-068A-41A4-9569-D888FFBE3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641678"/>
              </p:ext>
            </p:extLst>
          </p:nvPr>
        </p:nvGraphicFramePr>
        <p:xfrm>
          <a:off x="508000" y="1920240"/>
          <a:ext cx="6043310" cy="310896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4071944343"/>
                    </a:ext>
                  </a:extLst>
                </a:gridCol>
                <a:gridCol w="1341667">
                  <a:extLst>
                    <a:ext uri="{9D8B030D-6E8A-4147-A177-3AD203B41FA5}">
                      <a16:colId xmlns:a16="http://schemas.microsoft.com/office/drawing/2014/main" val="1350440363"/>
                    </a:ext>
                  </a:extLst>
                </a:gridCol>
                <a:gridCol w="998333">
                  <a:extLst>
                    <a:ext uri="{9D8B030D-6E8A-4147-A177-3AD203B41FA5}">
                      <a16:colId xmlns:a16="http://schemas.microsoft.com/office/drawing/2014/main" val="84290491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69704887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3956378830"/>
                    </a:ext>
                  </a:extLst>
                </a:gridCol>
                <a:gridCol w="895310">
                  <a:extLst>
                    <a:ext uri="{9D8B030D-6E8A-4147-A177-3AD203B41FA5}">
                      <a16:colId xmlns:a16="http://schemas.microsoft.com/office/drawing/2014/main" val="100390581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Rank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Feature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|</a:t>
                      </a:r>
                      <a:r>
                        <a:rPr lang="en-US" sz="1200" b="1" u="none" strike="noStrike" dirty="0" err="1">
                          <a:effectLst/>
                        </a:rPr>
                        <a:t>Pearson_r</a:t>
                      </a:r>
                      <a:r>
                        <a:rPr lang="en-US" sz="1200" b="1" u="none" strike="noStrike" dirty="0">
                          <a:effectLst/>
                        </a:rPr>
                        <a:t>|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Rank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Feature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|</a:t>
                      </a:r>
                      <a:r>
                        <a:rPr lang="en-US" sz="1200" b="1" u="none" strike="noStrike" dirty="0" err="1">
                          <a:effectLst/>
                        </a:rPr>
                        <a:t>Pearson_r</a:t>
                      </a:r>
                      <a:r>
                        <a:rPr lang="en-US" sz="1200" b="1" u="none" strike="noStrike" dirty="0">
                          <a:effectLst/>
                        </a:rPr>
                        <a:t>|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016088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 dirty="0">
                          <a:effectLst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0.36537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peak_mean_height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0.29669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1263187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0.35654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0.29635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10019345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CV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0.34864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AUC_normalized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0.29613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80972123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skewness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0.34383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mean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0.29558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37660783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signal_energy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0.34219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IQR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0.26474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63248763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6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kurtosis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0.33124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peak_max_width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0.2578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51559684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AUC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0.32942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dominant_freq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0.24683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735963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median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0.3279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peak_max_height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0.24568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425964272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p90_p10_ratio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0.31783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peak_mean_width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0.23498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84062774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10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 dirty="0">
                          <a:effectLst/>
                        </a:rPr>
                        <a:t>0.30228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mean_abs_deviation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0.2162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04610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847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 </a:t>
            </a:r>
            <a:r>
              <a:rPr lang="en-US" altLang="ko-KR" dirty="0"/>
              <a:t>Extracting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649AB2B-068A-41A4-9569-D888FFBE35F3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1920240"/>
          <a:ext cx="6043310" cy="310896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4071944343"/>
                    </a:ext>
                  </a:extLst>
                </a:gridCol>
                <a:gridCol w="1341667">
                  <a:extLst>
                    <a:ext uri="{9D8B030D-6E8A-4147-A177-3AD203B41FA5}">
                      <a16:colId xmlns:a16="http://schemas.microsoft.com/office/drawing/2014/main" val="1350440363"/>
                    </a:ext>
                  </a:extLst>
                </a:gridCol>
                <a:gridCol w="998333">
                  <a:extLst>
                    <a:ext uri="{9D8B030D-6E8A-4147-A177-3AD203B41FA5}">
                      <a16:colId xmlns:a16="http://schemas.microsoft.com/office/drawing/2014/main" val="842904912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69704887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3956378830"/>
                    </a:ext>
                  </a:extLst>
                </a:gridCol>
                <a:gridCol w="895310">
                  <a:extLst>
                    <a:ext uri="{9D8B030D-6E8A-4147-A177-3AD203B41FA5}">
                      <a16:colId xmlns:a16="http://schemas.microsoft.com/office/drawing/2014/main" val="100390581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Rank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Feature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|</a:t>
                      </a:r>
                      <a:r>
                        <a:rPr lang="en-US" sz="1200" b="1" u="none" strike="noStrike" dirty="0" err="1">
                          <a:effectLst/>
                        </a:rPr>
                        <a:t>Pearson_r</a:t>
                      </a:r>
                      <a:r>
                        <a:rPr lang="en-US" sz="1200" b="1" u="none" strike="noStrike" dirty="0">
                          <a:effectLst/>
                        </a:rPr>
                        <a:t>|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Rank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Feature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</a:rPr>
                        <a:t>|</a:t>
                      </a:r>
                      <a:r>
                        <a:rPr lang="en-US" sz="1200" b="1" u="none" strike="noStrike" dirty="0" err="1">
                          <a:effectLst/>
                        </a:rPr>
                        <a:t>Pearson_r</a:t>
                      </a:r>
                      <a:r>
                        <a:rPr lang="en-US" sz="1200" b="1" u="none" strike="noStrike" dirty="0">
                          <a:effectLst/>
                        </a:rPr>
                        <a:t>|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016088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 dirty="0">
                          <a:effectLst/>
                        </a:rPr>
                        <a:t>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0.36537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peak_mean_height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0.29669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1263187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0.35654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min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0.29635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10019345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CV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0.34864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AUC_normalized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0.29613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80972123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skewness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0.34383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mean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0.29558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37660783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signal_energy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0.34219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IQR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0.26474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63248763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6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kurtosis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0.33124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peak_max_width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0.2578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51559684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AUC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0.32942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dominant_freq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0.24683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735963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median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0.3279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peak_max_height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0.24568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425964272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p90_p10_ratio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0.31783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peak_mean_width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0.23498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84062774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>
                          <a:effectLst/>
                        </a:rPr>
                        <a:t>10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u="none" strike="noStrike" dirty="0">
                          <a:effectLst/>
                        </a:rPr>
                        <a:t>0.30228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mean_abs_deviation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0.2162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04610224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2DEE5B97-469C-4A1A-9CDD-68619EB73B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51"/>
          <a:stretch/>
        </p:blipFill>
        <p:spPr>
          <a:xfrm>
            <a:off x="6742938" y="1215746"/>
            <a:ext cx="5220462" cy="442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688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2F49DB3D-7569-41CE-98E6-0D040C93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 </a:t>
            </a:r>
            <a:r>
              <a:rPr lang="en-US" altLang="ko-KR" dirty="0"/>
              <a:t>Extracting</a:t>
            </a:r>
            <a:endParaRPr lang="ko-KR" altLang="en-US" dirty="0"/>
          </a:p>
        </p:txBody>
      </p:sp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C580C458-2EE5-4689-8617-EE9C75945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663174"/>
              </p:ext>
            </p:extLst>
          </p:nvPr>
        </p:nvGraphicFramePr>
        <p:xfrm>
          <a:off x="989753" y="1618826"/>
          <a:ext cx="10212493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7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01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Pearson 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VIF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선택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p25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+0.365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AEC 하위 25% 값 → 저선량 구간 tube current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~1.9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-0.349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변동계수(std/mean) → 체형 불균일성 반영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~1.8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skewness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-0.344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AEC 곡선 비대칭성 → 체형 분포 특성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~1.6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slope_abs_mean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~+0.09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평균 절대 기울기 → 곡선 동역학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~1.4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mean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높음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AUC_normalized와 심각한 공선성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&gt;50,000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✗ 제외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6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AUC_normalized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mean과 심각한 공선성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&gt;50,000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✗ </a:t>
                      </a:r>
                      <a:r>
                        <a:rPr sz="1200" dirty="0" err="1">
                          <a:solidFill>
                            <a:srgbClr val="1A1A2E"/>
                          </a:solidFill>
                        </a:rPr>
                        <a:t>제외</a:t>
                      </a:r>
                      <a:endParaRPr sz="1200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588C9C7-B387-4087-9EAB-6D811EB80CBC}"/>
              </a:ext>
            </a:extLst>
          </p:cNvPr>
          <p:cNvSpPr txBox="1"/>
          <p:nvPr/>
        </p:nvSpPr>
        <p:spPr>
          <a:xfrm>
            <a:off x="989752" y="3974251"/>
            <a:ext cx="102124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7F27"/>
                </a:solidFill>
              </a:rPr>
              <a:t>⚠  mean · AUC_normalized는 VIF &gt; 50,000으로 다중공선성 심각 → 제외</a:t>
            </a:r>
          </a:p>
        </p:txBody>
      </p:sp>
      <p:pic>
        <p:nvPicPr>
          <p:cNvPr id="12" name="Picture 11" descr="02_vif_comparison.png">
            <a:extLst>
              <a:ext uri="{FF2B5EF4-FFF2-40B4-BE49-F238E27FC236}">
                <a16:creationId xmlns:a16="http://schemas.microsoft.com/office/drawing/2014/main" id="{EFA92021-C55B-4A39-BF9A-58B9C21E8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939" y="3974251"/>
            <a:ext cx="4570306" cy="238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290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FCCBB0-676E-4847-9AB2-B740348A580D}"/>
              </a:ext>
            </a:extLst>
          </p:cNvPr>
          <p:cNvSpPr txBox="1"/>
          <p:nvPr/>
        </p:nvSpPr>
        <p:spPr>
          <a:xfrm>
            <a:off x="508000" y="114300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전처리</a:t>
            </a:r>
          </a:p>
        </p:txBody>
      </p: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D580AC9F-0DD3-4342-AF67-67F082174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236562"/>
              </p:ext>
            </p:extLst>
          </p:nvPr>
        </p:nvGraphicFramePr>
        <p:xfrm>
          <a:off x="508000" y="15087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처리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방법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PatientSex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이진 인코딩 (M=1, F=0)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PatientAge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Z-score 표준화 (StandardScaler)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AEC features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Z-score 표준화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2E"/>
                          </a:solidFill>
                        </a:rPr>
                        <a:t>Model</a:t>
                      </a: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400" dirty="0">
                          <a:solidFill>
                            <a:srgbClr val="1A1A2E"/>
                          </a:solidFill>
                        </a:rPr>
                        <a:t>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2E"/>
                          </a:solidFill>
                        </a:rPr>
                        <a:t>One-hot encoding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C77E2BB-1799-4B59-B5B7-2C5CDD2840DA}"/>
              </a:ext>
            </a:extLst>
          </p:cNvPr>
          <p:cNvSpPr txBox="1"/>
          <p:nvPr/>
        </p:nvSpPr>
        <p:spPr>
          <a:xfrm>
            <a:off x="6608492" y="1143000"/>
            <a:ext cx="4773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모델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FABE816E-5173-468F-AECB-91929F28626A}"/>
              </a:ext>
            </a:extLst>
          </p:cNvPr>
          <p:cNvSpPr/>
          <p:nvPr/>
        </p:nvSpPr>
        <p:spPr>
          <a:xfrm>
            <a:off x="6647688" y="1508760"/>
            <a:ext cx="503631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1F8D97-BF6F-4D4B-8C3D-2EE29484D2BB}"/>
              </a:ext>
            </a:extLst>
          </p:cNvPr>
          <p:cNvSpPr txBox="1"/>
          <p:nvPr/>
        </p:nvSpPr>
        <p:spPr>
          <a:xfrm>
            <a:off x="6733774" y="1554480"/>
            <a:ext cx="278469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선형</a:t>
            </a:r>
            <a:r>
              <a:rPr sz="1300" b="1" i="0" dirty="0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sz="1300" b="1" i="0" dirty="0" err="1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회귀</a:t>
            </a:r>
            <a:endParaRPr sz="1300" b="1" i="0" dirty="0">
              <a:solidFill>
                <a:srgbClr val="1A355E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A6B442-8E7F-4C02-BA3A-AA8F6615BA9E}"/>
              </a:ext>
            </a:extLst>
          </p:cNvPr>
          <p:cNvSpPr txBox="1"/>
          <p:nvPr/>
        </p:nvSpPr>
        <p:spPr>
          <a:xfrm>
            <a:off x="6733774" y="1846068"/>
            <a:ext cx="46941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statsmodels OLS
(Ordinary Least Squares)</a:t>
            </a:r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CA15040D-26ED-427B-8A02-B600C767E3C5}"/>
              </a:ext>
            </a:extLst>
          </p:cNvPr>
          <p:cNvSpPr/>
          <p:nvPr/>
        </p:nvSpPr>
        <p:spPr>
          <a:xfrm>
            <a:off x="6647688" y="2514600"/>
            <a:ext cx="503631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2E6A60-AD0C-495A-B9BE-D7CCD291496A}"/>
              </a:ext>
            </a:extLst>
          </p:cNvPr>
          <p:cNvSpPr txBox="1"/>
          <p:nvPr/>
        </p:nvSpPr>
        <p:spPr>
          <a:xfrm>
            <a:off x="6733774" y="2560320"/>
            <a:ext cx="278469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로지스틱 회귀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5A3F8D-13A4-4355-B19C-9CE28B178117}"/>
              </a:ext>
            </a:extLst>
          </p:cNvPr>
          <p:cNvSpPr txBox="1"/>
          <p:nvPr/>
        </p:nvSpPr>
        <p:spPr>
          <a:xfrm>
            <a:off x="6733774" y="2851908"/>
            <a:ext cx="46941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1A1A2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statsmodels</a:t>
            </a:r>
            <a:r>
              <a:rPr sz="1200" b="0" i="0" dirty="0">
                <a:solidFill>
                  <a:srgbClr val="1A1A2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Logit
(BFGS, </a:t>
            </a:r>
            <a:r>
              <a:rPr sz="1200" b="0" i="0" dirty="0" err="1">
                <a:solidFill>
                  <a:srgbClr val="1A1A2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maxiter</a:t>
            </a:r>
            <a:r>
              <a:rPr sz="1200" b="0" i="0" dirty="0">
                <a:solidFill>
                  <a:srgbClr val="1A1A2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=1,000)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6A4BCF-6B4B-41DF-B085-EE80E6A29BBF}"/>
              </a:ext>
            </a:extLst>
          </p:cNvPr>
          <p:cNvSpPr txBox="1"/>
          <p:nvPr/>
        </p:nvSpPr>
        <p:spPr>
          <a:xfrm>
            <a:off x="508000" y="3566160"/>
            <a:ext cx="11521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모델</a:t>
            </a:r>
            <a:r>
              <a:rPr b="1" i="0" dirty="0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b="1" i="0" dirty="0" err="1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검증</a:t>
            </a:r>
            <a:r>
              <a:rPr b="1" i="0" dirty="0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b="1" i="0" dirty="0" err="1">
                <a:solidFill>
                  <a:srgbClr val="1A355E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전략</a:t>
            </a:r>
            <a:endParaRPr b="1" i="0" dirty="0">
              <a:solidFill>
                <a:srgbClr val="1A355E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23" name="Table 15">
            <a:extLst>
              <a:ext uri="{FF2B5EF4-FFF2-40B4-BE49-F238E27FC236}">
                <a16:creationId xmlns:a16="http://schemas.microsoft.com/office/drawing/2014/main" id="{784D0E6A-BB73-461D-A2D6-C8B46A2BD3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479115"/>
              </p:ext>
            </p:extLst>
          </p:nvPr>
        </p:nvGraphicFramePr>
        <p:xfrm>
          <a:off x="508000" y="3931920"/>
          <a:ext cx="11176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검증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방법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상세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5-Fold Cross Validation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각 Fold에서 scaler 재적합 (Data Leakage 방지)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Bootstrap AUC 95% 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n=1,000 resampling — 비모수 신뢰구간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Hosmer-Lemeshow 검정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로지스틱 보정도(Calibration) 검증 — p&gt;0.05 양호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2E"/>
                          </a:solidFill>
                        </a:rPr>
                        <a:t>잔차 진단 3종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>
                          <a:solidFill>
                            <a:srgbClr val="1A1A2E"/>
                          </a:solidFill>
                        </a:rPr>
                        <a:t>Shapiro-Wilk · Breusch-Pagan · Durbin-Watson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E8622571-6AAB-407B-9DAA-FC7685AA1F20}"/>
              </a:ext>
            </a:extLst>
          </p:cNvPr>
          <p:cNvSpPr txBox="1"/>
          <p:nvPr/>
        </p:nvSpPr>
        <p:spPr>
          <a:xfrm>
            <a:off x="320040" y="5943600"/>
            <a:ext cx="11521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E75B6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※ 선형·로지스틱 회귀 모두 Case 1(Sex+Age) → Case 2(+AEC) → Case 3(+CT Model) 순으로 점진 투입</a:t>
            </a:r>
          </a:p>
        </p:txBody>
      </p:sp>
    </p:spTree>
    <p:extLst>
      <p:ext uri="{BB962C8B-B14F-4D97-AF65-F5344CB8AC3E}">
        <p14:creationId xmlns:p14="http://schemas.microsoft.com/office/powerpoint/2010/main" val="2743604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en-US" altLang="ko-KR" sz="4000" dirty="0"/>
              <a:t>Linear &amp; Logistic Regression</a:t>
            </a:r>
            <a:endParaRPr lang="ko-KR" altLang="en-US" sz="4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2477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2ED8A11-2F74-4564-A326-EBEE4E5E8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Univariate Linear Regression</a:t>
            </a:r>
            <a:endParaRPr lang="ko-KR" altLang="en-US" dirty="0"/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8DA1C41B-B436-4338-AD84-D225BB91F4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378515"/>
              </p:ext>
            </p:extLst>
          </p:nvPr>
        </p:nvGraphicFramePr>
        <p:xfrm>
          <a:off x="508000" y="1740746"/>
          <a:ext cx="11176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 marL="45720" marR="4572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β 계수</a:t>
                      </a:r>
                    </a:p>
                  </a:txBody>
                  <a:tcPr marL="45720" marR="4572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 marL="45720" marR="4572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 marL="45720" marR="45720"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 marL="45720" marR="45720"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Sex (M=1, F=0)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44.81 *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[42.74, 46.89]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0.518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Age (</a:t>
                      </a:r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표준화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)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-3.00 *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[-4.46, -1.55]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0.010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1465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AEC: p25 (</a:t>
                      </a:r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표준화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)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11.13 *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[9.77, 12.50]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0.134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CV (표준화)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-10.62 *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[-12.00, -9.25]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0.122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AEC: skewness (</a:t>
                      </a:r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표준화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)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-10.48 *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[-11.85, -9.10]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0.118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AEC: </a:t>
                      </a:r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slope_abs_mean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 (</a:t>
                      </a:r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표준화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)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1.25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[-0.22, 2.71]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0.095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0.002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 (범주형)*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9.0e-06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0.045</a:t>
                      </a:r>
                    </a:p>
                  </a:txBody>
                  <a:tcPr marL="45720" marR="4572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C734E13-3DEE-48E2-BD81-5F9EA2066EC5}"/>
              </a:ext>
            </a:extLst>
          </p:cNvPr>
          <p:cNvSpPr txBox="1"/>
          <p:nvPr/>
        </p:nvSpPr>
        <p:spPr>
          <a:xfrm>
            <a:off x="508000" y="448394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FF7F27"/>
                </a:solidFill>
              </a:rPr>
              <a:t>* p &lt; 0.05 </a:t>
            </a:r>
            <a:r>
              <a:rPr sz="1100" b="0" i="1" dirty="0" err="1">
                <a:solidFill>
                  <a:srgbClr val="FF7F27"/>
                </a:solidFill>
              </a:rPr>
              <a:t>유의</a:t>
            </a:r>
            <a:endParaRPr sz="1100" b="0" i="1" dirty="0">
              <a:solidFill>
                <a:srgbClr val="FF7F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217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17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E47CAB7-A64D-46E5-B881-985F4B6A59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85906"/>
            <a:ext cx="5925566" cy="29227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7223EFF-0886-4D8F-B783-516C2734AD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49" y="1885906"/>
            <a:ext cx="5900251" cy="3642958"/>
          </a:xfrm>
          <a:prstGeom prst="rect">
            <a:avLst/>
          </a:prstGeom>
        </p:spPr>
      </p:pic>
      <p:sp>
        <p:nvSpPr>
          <p:cNvPr id="11" name="내용 개체 틀 5">
            <a:extLst>
              <a:ext uri="{FF2B5EF4-FFF2-40B4-BE49-F238E27FC236}">
                <a16:creationId xmlns:a16="http://schemas.microsoft.com/office/drawing/2014/main" id="{4FEDC4A5-0B5E-4630-BC7F-FFAC5B779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Univariate Linear Regression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6791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11" name="내용 개체 틀 5">
            <a:extLst>
              <a:ext uri="{FF2B5EF4-FFF2-40B4-BE49-F238E27FC236}">
                <a16:creationId xmlns:a16="http://schemas.microsoft.com/office/drawing/2014/main" id="{4FEDC4A5-0B5E-4630-BC7F-FFAC5B779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Multivariate Linear Regression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6EAB42-FD81-4862-8970-2544DC6AF182}"/>
              </a:ext>
            </a:extLst>
          </p:cNvPr>
          <p:cNvSpPr txBox="1"/>
          <p:nvPr/>
        </p:nvSpPr>
        <p:spPr>
          <a:xfrm>
            <a:off x="508000" y="4083450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1A355E"/>
                </a:solidFill>
              </a:rPr>
              <a:t>잔차</a:t>
            </a:r>
            <a:r>
              <a:rPr sz="1300" b="1" i="0" dirty="0">
                <a:solidFill>
                  <a:srgbClr val="1A355E"/>
                </a:solidFill>
              </a:rPr>
              <a:t> </a:t>
            </a:r>
            <a:r>
              <a:rPr sz="1300" b="1" i="0" dirty="0" err="1">
                <a:solidFill>
                  <a:srgbClr val="1A355E"/>
                </a:solidFill>
              </a:rPr>
              <a:t>진단</a:t>
            </a:r>
            <a:r>
              <a:rPr lang="en-US" sz="1300" b="1" i="0" dirty="0">
                <a:solidFill>
                  <a:srgbClr val="1A355E"/>
                </a:solidFill>
              </a:rPr>
              <a:t> (Model B </a:t>
            </a:r>
            <a:r>
              <a:rPr lang="ko-KR" altLang="en-US" sz="1300" b="1" i="0" dirty="0">
                <a:solidFill>
                  <a:srgbClr val="1A355E"/>
                </a:solidFill>
              </a:rPr>
              <a:t>기준</a:t>
            </a:r>
            <a:r>
              <a:rPr lang="en-US" altLang="ko-KR" sz="1300" b="1" i="0" dirty="0">
                <a:solidFill>
                  <a:srgbClr val="1A355E"/>
                </a:solidFill>
              </a:rPr>
              <a:t>)</a:t>
            </a:r>
            <a:endParaRPr sz="1300" b="1" i="0" dirty="0">
              <a:solidFill>
                <a:srgbClr val="1A355E"/>
              </a:solidFill>
            </a:endParaRPr>
          </a:p>
        </p:txBody>
      </p:sp>
      <p:graphicFrame>
        <p:nvGraphicFramePr>
          <p:cNvPr id="29" name="Table 24">
            <a:extLst>
              <a:ext uri="{FF2B5EF4-FFF2-40B4-BE49-F238E27FC236}">
                <a16:creationId xmlns:a16="http://schemas.microsoft.com/office/drawing/2014/main" id="{C1F8B7DC-B738-4A28-853E-FCB0CBD9FF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154652"/>
              </p:ext>
            </p:extLst>
          </p:nvPr>
        </p:nvGraphicFramePr>
        <p:xfrm>
          <a:off x="508000" y="4421778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검정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통계량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Shapiro-Wilk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0.9697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비정규 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Breusch-Pagan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120.47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이분산 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Durbin-Watson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1.9654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정상 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Condition 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145.81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err="1">
                          <a:solidFill>
                            <a:srgbClr val="1A1A2E"/>
                          </a:solidFill>
                        </a:rPr>
                        <a:t>주의</a:t>
                      </a:r>
                      <a:r>
                        <a:rPr sz="1100" dirty="0">
                          <a:solidFill>
                            <a:srgbClr val="1A1A2E"/>
                          </a:solidFill>
                        </a:rPr>
                        <a:t>(κ&lt;1,000)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D8C25E23-E348-4AD4-BC39-EECD65CDB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763122"/>
              </p:ext>
            </p:extLst>
          </p:nvPr>
        </p:nvGraphicFramePr>
        <p:xfrm>
          <a:off x="508000" y="1655172"/>
          <a:ext cx="11176000" cy="1789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</a:rPr>
                        <a:t>지표</a:t>
                      </a:r>
                      <a:endParaRPr sz="12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Model A</a:t>
                      </a:r>
                    </a:p>
                    <a:p>
                      <a:pPr algn="ctr"/>
                      <a:r>
                        <a:rPr sz="1200" dirty="0"/>
                        <a:t>(AEC+CT, </a:t>
                      </a:r>
                      <a:r>
                        <a:rPr sz="1200" dirty="0" err="1"/>
                        <a:t>성별·나이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제외</a:t>
                      </a:r>
                      <a:r>
                        <a:rPr sz="1200" dirty="0"/>
                        <a:t>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Model B</a:t>
                      </a:r>
                    </a:p>
                    <a:p>
                      <a:pPr algn="ctr"/>
                      <a:r>
                        <a:rPr sz="1200" dirty="0"/>
                        <a:t>(</a:t>
                      </a:r>
                      <a:r>
                        <a:rPr sz="1200" dirty="0" err="1"/>
                        <a:t>AEC+성별+나이+CT</a:t>
                      </a:r>
                      <a:r>
                        <a:rPr sz="1200" dirty="0"/>
                        <a:t>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Δ (B−A)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RMSE (cm²)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26.17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17.84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−8.33 ▼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MAE (cm²)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20.46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13.18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−7.28 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CV R²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0.221 ± 0.054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0.634 ± 0.025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+0.413 ▲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8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AIC</a:t>
                      </a: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 (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Akaike Information Criterion</a:t>
                      </a: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)</a:t>
                      </a:r>
                      <a:endParaRPr sz="1200" dirty="0">
                        <a:solidFill>
                          <a:srgbClr val="1A1A2E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15,732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14,455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−1,277 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CF49F068-9141-4E8B-AF59-DEFF013D8D43}"/>
              </a:ext>
            </a:extLst>
          </p:cNvPr>
          <p:cNvSpPr txBox="1"/>
          <p:nvPr/>
        </p:nvSpPr>
        <p:spPr>
          <a:xfrm>
            <a:off x="508000" y="3548347"/>
            <a:ext cx="1117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2E75B6"/>
                </a:solidFill>
              </a:rPr>
              <a:t>성별·나이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추가</a:t>
            </a:r>
            <a:r>
              <a:rPr sz="1300" b="1" i="0" dirty="0">
                <a:solidFill>
                  <a:srgbClr val="2E75B6"/>
                </a:solidFill>
              </a:rPr>
              <a:t>(Model B)</a:t>
            </a:r>
            <a:r>
              <a:rPr lang="ko-KR" altLang="en-US" sz="1300" b="1" dirty="0">
                <a:solidFill>
                  <a:srgbClr val="2E75B6"/>
                </a:solidFill>
              </a:rPr>
              <a:t>로</a:t>
            </a:r>
            <a:r>
              <a:rPr sz="1300" b="1" i="0" dirty="0">
                <a:solidFill>
                  <a:srgbClr val="2E75B6"/>
                </a:solidFill>
              </a:rPr>
              <a:t> RMSE −8.3 cm², CV R² +41.3%p — </a:t>
            </a:r>
            <a:r>
              <a:rPr lang="ko-KR" altLang="en-US" sz="1300" b="1" i="0" dirty="0">
                <a:solidFill>
                  <a:srgbClr val="2E75B6"/>
                </a:solidFill>
              </a:rPr>
              <a:t>인구통계가</a:t>
            </a:r>
            <a:r>
              <a:rPr sz="1300" b="1" i="0" dirty="0">
                <a:solidFill>
                  <a:srgbClr val="2E75B6"/>
                </a:solidFill>
              </a:rPr>
              <a:t> TAMA </a:t>
            </a:r>
            <a:r>
              <a:rPr sz="1300" b="1" i="0" dirty="0" err="1">
                <a:solidFill>
                  <a:srgbClr val="2E75B6"/>
                </a:solidFill>
              </a:rPr>
              <a:t>예측의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핵심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기여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변수</a:t>
            </a:r>
            <a:endParaRPr sz="1300" b="1" i="0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840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11" name="내용 개체 틀 5">
            <a:extLst>
              <a:ext uri="{FF2B5EF4-FFF2-40B4-BE49-F238E27FC236}">
                <a16:creationId xmlns:a16="http://schemas.microsoft.com/office/drawing/2014/main" id="{4FEDC4A5-0B5E-4630-BC7F-FFAC5B779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Multivariate Linear Regression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03A0F2-7C8C-49A9-96C2-F75E47802D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646201"/>
            <a:ext cx="5129790" cy="47281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A118AA2-3281-4C2D-93B7-369FEB1D2E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993" y="1003806"/>
            <a:ext cx="6150407" cy="516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418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11" name="내용 개체 틀 5">
            <a:extLst>
              <a:ext uri="{FF2B5EF4-FFF2-40B4-BE49-F238E27FC236}">
                <a16:creationId xmlns:a16="http://schemas.microsoft.com/office/drawing/2014/main" id="{4FEDC4A5-0B5E-4630-BC7F-FFAC5B779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Univariate Logistic Regression</a:t>
            </a:r>
            <a:endParaRPr lang="ko-KR" altLang="en-US" dirty="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DAF5C858-14BB-4A90-9907-07823C2AB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626567"/>
              </p:ext>
            </p:extLst>
          </p:nvPr>
        </p:nvGraphicFramePr>
        <p:xfrm>
          <a:off x="698500" y="3144286"/>
          <a:ext cx="10789920" cy="256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12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 marL="85634" marR="85634" marT="42817" marB="42817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Crude OR</a:t>
                      </a:r>
                    </a:p>
                  </a:txBody>
                  <a:tcPr marL="85634" marR="85634" marT="42817" marB="42817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 marL="85634" marR="85634" marT="42817" marB="42817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 marL="85634" marR="85634" marT="42817" marB="42817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 marL="85634" marR="85634" marT="42817" marB="42817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129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 (M=1, F=0)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1.844 *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[1.472, 2.311]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0.571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129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 marL="85634" marR="85634" marT="42817" marB="428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1.449 *</a:t>
                      </a:r>
                    </a:p>
                  </a:txBody>
                  <a:tcPr marL="85634" marR="85634" marT="42817" marB="428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[1.301, 1.615]</a:t>
                      </a:r>
                    </a:p>
                  </a:txBody>
                  <a:tcPr marL="85634" marR="85634" marT="42817" marB="428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 marL="85634" marR="85634" marT="42817" marB="428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0.612</a:t>
                      </a:r>
                    </a:p>
                  </a:txBody>
                  <a:tcPr marL="85634" marR="85634" marT="42817" marB="42817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129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p25 (표준화)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0.562 *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[0.502, 0.630]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0.653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129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CV (표준화)</a:t>
                      </a:r>
                    </a:p>
                  </a:txBody>
                  <a:tcPr marL="85634" marR="85634" marT="42817" marB="428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1.305 *</a:t>
                      </a:r>
                    </a:p>
                  </a:txBody>
                  <a:tcPr marL="85634" marR="85634" marT="42817" marB="428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[1.168, 1.459]</a:t>
                      </a:r>
                    </a:p>
                  </a:txBody>
                  <a:tcPr marL="85634" marR="85634" marT="42817" marB="428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 marL="85634" marR="85634" marT="42817" marB="428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0.568</a:t>
                      </a:r>
                    </a:p>
                  </a:txBody>
                  <a:tcPr marL="85634" marR="85634" marT="42817" marB="42817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129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skewness (표준화)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1.191 *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[1.074, 1.321]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9.7e-04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0.545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129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slope_abs_mean (표준화)</a:t>
                      </a:r>
                    </a:p>
                  </a:txBody>
                  <a:tcPr marL="85634" marR="85634" marT="42817" marB="428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1.172 *</a:t>
                      </a:r>
                    </a:p>
                  </a:txBody>
                  <a:tcPr marL="85634" marR="85634" marT="42817" marB="428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[1.050, 1.308]</a:t>
                      </a:r>
                    </a:p>
                  </a:txBody>
                  <a:tcPr marL="85634" marR="85634" marT="42817" marB="428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0.0047</a:t>
                      </a:r>
                    </a:p>
                  </a:txBody>
                  <a:tcPr marL="85634" marR="85634" marT="42817" marB="428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0.548</a:t>
                      </a:r>
                    </a:p>
                  </a:txBody>
                  <a:tcPr marL="85634" marR="85634" marT="42817" marB="42817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129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LR χ²=57.11 *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0.002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0.581</a:t>
                      </a:r>
                    </a:p>
                  </a:txBody>
                  <a:tcPr marL="85634" marR="85634" marT="42817" marB="42817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212094D-BA87-4E8B-869F-9E9B94265038}"/>
              </a:ext>
            </a:extLst>
          </p:cNvPr>
          <p:cNvSpPr txBox="1"/>
          <p:nvPr/>
        </p:nvSpPr>
        <p:spPr>
          <a:xfrm>
            <a:off x="698500" y="5698922"/>
            <a:ext cx="105943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27"/>
                </a:solidFill>
              </a:rPr>
              <a:t>* p &lt; 0.05 유의  |  AEC p25: OR &lt; 1 → p25↑ 시 Low TAMA 위험 감소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4D83BDB-387D-4589-9FDF-8254D4807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5375" y="340700"/>
            <a:ext cx="6023045" cy="276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054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11" name="내용 개체 틀 5">
            <a:extLst>
              <a:ext uri="{FF2B5EF4-FFF2-40B4-BE49-F238E27FC236}">
                <a16:creationId xmlns:a16="http://schemas.microsoft.com/office/drawing/2014/main" id="{4FEDC4A5-0B5E-4630-BC7F-FFAC5B779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Multivariate Logistic Regression</a:t>
            </a:r>
            <a:endParaRPr lang="ko-KR" altLang="en-US" dirty="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0B1B5598-174C-4404-BB2C-EC6B2AD91C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465832"/>
              </p:ext>
            </p:extLst>
          </p:nvPr>
        </p:nvGraphicFramePr>
        <p:xfrm>
          <a:off x="508000" y="1583267"/>
          <a:ext cx="11176000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880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지표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Model A</a:t>
                      </a:r>
                    </a:p>
                    <a:p>
                      <a:pPr algn="ctr"/>
                      <a:r>
                        <a:rPr sz="1200" dirty="0"/>
                        <a:t>(AEC+CT, </a:t>
                      </a:r>
                      <a:r>
                        <a:rPr sz="1200" dirty="0" err="1"/>
                        <a:t>성별·나이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제외</a:t>
                      </a:r>
                      <a:r>
                        <a:rPr sz="1200" dirty="0"/>
                        <a:t>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Model B</a:t>
                      </a:r>
                    </a:p>
                    <a:p>
                      <a:pPr algn="ctr"/>
                      <a:r>
                        <a:rPr sz="1200" dirty="0"/>
                        <a:t>(</a:t>
                      </a:r>
                      <a:r>
                        <a:rPr sz="1200" dirty="0" err="1"/>
                        <a:t>AEC+성별+나이+CT</a:t>
                      </a:r>
                      <a:r>
                        <a:rPr sz="1200" dirty="0"/>
                        <a:t>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 (B−A)</a:t>
                      </a:r>
                    </a:p>
                  </a:txBody>
                  <a:tcPr anchor="ctr"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AUC-ROC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0.7297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0.7794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+0.050 ▲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95% 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[0.703 – 0.756]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[0.756 – 0.802]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Sensitivity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0.6017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0.7671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+0.165 ▲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Specificity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0.7331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0.6674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−0.066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Nagelkerke R²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0.1925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0.2823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+0.090 ▲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Brier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0.1769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0.1629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−0.014 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HL p-value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0.568 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0.333 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보정도 양호 유지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1,845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1,723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2E"/>
                          </a:solidFill>
                        </a:rPr>
                        <a:t>−122 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88FB554-CE92-46AF-803C-1E0F38990EC4}"/>
              </a:ext>
            </a:extLst>
          </p:cNvPr>
          <p:cNvSpPr txBox="1"/>
          <p:nvPr/>
        </p:nvSpPr>
        <p:spPr>
          <a:xfrm>
            <a:off x="508000" y="4504267"/>
            <a:ext cx="1117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E75B6"/>
                </a:solidFill>
              </a:rPr>
              <a:t>AUC +5.0%p, </a:t>
            </a:r>
            <a:r>
              <a:rPr sz="1300" b="1" i="0" dirty="0" err="1">
                <a:solidFill>
                  <a:srgbClr val="2E75B6"/>
                </a:solidFill>
              </a:rPr>
              <a:t>민감도</a:t>
            </a:r>
            <a:r>
              <a:rPr sz="1300" b="1" i="0" dirty="0">
                <a:solidFill>
                  <a:srgbClr val="2E75B6"/>
                </a:solidFill>
              </a:rPr>
              <a:t> +16.5%p → </a:t>
            </a:r>
            <a:r>
              <a:rPr sz="1300" b="1" i="0" dirty="0" err="1">
                <a:solidFill>
                  <a:srgbClr val="2E75B6"/>
                </a:solidFill>
              </a:rPr>
              <a:t>성별·나이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추가로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저근육량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선별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능력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대폭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향상</a:t>
            </a:r>
            <a:r>
              <a:rPr sz="1300" b="1" i="0" dirty="0">
                <a:solidFill>
                  <a:srgbClr val="2E75B6"/>
                </a:solidFill>
              </a:rPr>
              <a:t>  |  </a:t>
            </a:r>
            <a:r>
              <a:rPr sz="1300" b="1" i="0" dirty="0" err="1">
                <a:solidFill>
                  <a:srgbClr val="2E75B6"/>
                </a:solidFill>
              </a:rPr>
              <a:t>보정도</a:t>
            </a:r>
            <a:r>
              <a:rPr sz="1300" b="1" i="0" dirty="0">
                <a:solidFill>
                  <a:srgbClr val="2E75B6"/>
                </a:solidFill>
              </a:rPr>
              <a:t>(HL) </a:t>
            </a:r>
            <a:r>
              <a:rPr sz="1300" b="1" i="0" dirty="0" err="1">
                <a:solidFill>
                  <a:srgbClr val="2E75B6"/>
                </a:solidFill>
              </a:rPr>
              <a:t>양호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유지</a:t>
            </a:r>
            <a:endParaRPr sz="1300" b="1" i="0" dirty="0">
              <a:solidFill>
                <a:srgbClr val="2E75B6"/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396A43C-4B88-429E-B474-2590233BE9D2}"/>
              </a:ext>
            </a:extLst>
          </p:cNvPr>
          <p:cNvGrpSpPr/>
          <p:nvPr/>
        </p:nvGrpSpPr>
        <p:grpSpPr>
          <a:xfrm>
            <a:off x="845820" y="5064204"/>
            <a:ext cx="10500360" cy="1042524"/>
            <a:chOff x="320040" y="4918008"/>
            <a:chExt cx="10500360" cy="1042524"/>
          </a:xfrm>
        </p:grpSpPr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FB9D42D9-CEED-4CEB-9A3E-B83FF0AC24BE}"/>
                </a:ext>
              </a:extLst>
            </p:cNvPr>
            <p:cNvSpPr/>
            <p:nvPr/>
          </p:nvSpPr>
          <p:spPr>
            <a:xfrm>
              <a:off x="320040" y="4918008"/>
              <a:ext cx="2819400" cy="1042524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C69F29-76C5-408F-BF2D-862B8366D009}"/>
                </a:ext>
              </a:extLst>
            </p:cNvPr>
            <p:cNvSpPr txBox="1"/>
            <p:nvPr/>
          </p:nvSpPr>
          <p:spPr>
            <a:xfrm>
              <a:off x="457200" y="4945440"/>
              <a:ext cx="260252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 dirty="0">
                  <a:solidFill>
                    <a:srgbClr val="FF7F27"/>
                  </a:solidFill>
                </a:rPr>
                <a:t>AUC
Model A → B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7F77C08-D7E5-449F-9FC4-78638064CD31}"/>
                </a:ext>
              </a:extLst>
            </p:cNvPr>
            <p:cNvSpPr txBox="1"/>
            <p:nvPr/>
          </p:nvSpPr>
          <p:spPr>
            <a:xfrm>
              <a:off x="457200" y="5420928"/>
              <a:ext cx="260252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>
                  <a:solidFill>
                    <a:srgbClr val="FFFFFF"/>
                  </a:solidFill>
                </a:rPr>
                <a:t>0.730 → 0.779</a:t>
              </a:r>
            </a:p>
          </p:txBody>
        </p:sp>
        <p:sp>
          <p:nvSpPr>
            <p:cNvPr id="14" name="Rectangle 10">
              <a:extLst>
                <a:ext uri="{FF2B5EF4-FFF2-40B4-BE49-F238E27FC236}">
                  <a16:creationId xmlns:a16="http://schemas.microsoft.com/office/drawing/2014/main" id="{48AB56D6-D820-43B0-9E08-06661A01F355}"/>
                </a:ext>
              </a:extLst>
            </p:cNvPr>
            <p:cNvSpPr/>
            <p:nvPr/>
          </p:nvSpPr>
          <p:spPr>
            <a:xfrm>
              <a:off x="4160520" y="4918008"/>
              <a:ext cx="2819400" cy="1042524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0048CF8-F7D8-45A2-B467-FC929A08B170}"/>
                </a:ext>
              </a:extLst>
            </p:cNvPr>
            <p:cNvSpPr txBox="1"/>
            <p:nvPr/>
          </p:nvSpPr>
          <p:spPr>
            <a:xfrm>
              <a:off x="4297680" y="4945440"/>
              <a:ext cx="260252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 dirty="0" err="1">
                  <a:solidFill>
                    <a:srgbClr val="FF7F27"/>
                  </a:solidFill>
                </a:rPr>
                <a:t>민감도</a:t>
              </a:r>
              <a:r>
                <a:rPr sz="1200" b="1" i="0" dirty="0">
                  <a:solidFill>
                    <a:srgbClr val="FF7F27"/>
                  </a:solidFill>
                </a:rPr>
                <a:t>
Model A → B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5408580-96C3-4891-9230-87B0839F90EE}"/>
                </a:ext>
              </a:extLst>
            </p:cNvPr>
            <p:cNvSpPr txBox="1"/>
            <p:nvPr/>
          </p:nvSpPr>
          <p:spPr>
            <a:xfrm>
              <a:off x="4297680" y="5420928"/>
              <a:ext cx="260252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>
                  <a:solidFill>
                    <a:srgbClr val="FFFFFF"/>
                  </a:solidFill>
                </a:rPr>
                <a:t>0.602 → 0.767</a:t>
              </a:r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877F7746-DD06-40E8-B159-E3B2A38EEFE7}"/>
                </a:ext>
              </a:extLst>
            </p:cNvPr>
            <p:cNvSpPr/>
            <p:nvPr/>
          </p:nvSpPr>
          <p:spPr>
            <a:xfrm>
              <a:off x="8001000" y="4918008"/>
              <a:ext cx="2819400" cy="1042524"/>
            </a:xfrm>
            <a:prstGeom prst="rect">
              <a:avLst/>
            </a:prstGeom>
            <a:solidFill>
              <a:srgbClr val="1A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E6D78F4-71F0-4578-976B-476D55B10357}"/>
                </a:ext>
              </a:extLst>
            </p:cNvPr>
            <p:cNvSpPr txBox="1"/>
            <p:nvPr/>
          </p:nvSpPr>
          <p:spPr>
            <a:xfrm>
              <a:off x="8138160" y="4945440"/>
              <a:ext cx="260252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>
                  <a:solidFill>
                    <a:srgbClr val="FF7F27"/>
                  </a:solidFill>
                </a:rPr>
                <a:t>Nagelkerke R²
Model A → B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69C5ED-72D1-445E-BA15-1877451FD5DF}"/>
                </a:ext>
              </a:extLst>
            </p:cNvPr>
            <p:cNvSpPr txBox="1"/>
            <p:nvPr/>
          </p:nvSpPr>
          <p:spPr>
            <a:xfrm>
              <a:off x="8138160" y="5420928"/>
              <a:ext cx="260252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1" i="0">
                  <a:solidFill>
                    <a:srgbClr val="FFFFFF"/>
                  </a:solidFill>
                </a:rPr>
                <a:t>0.193 → 0.282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8336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11" name="내용 개체 틀 5">
            <a:extLst>
              <a:ext uri="{FF2B5EF4-FFF2-40B4-BE49-F238E27FC236}">
                <a16:creationId xmlns:a16="http://schemas.microsoft.com/office/drawing/2014/main" id="{4FEDC4A5-0B5E-4630-BC7F-FFAC5B779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Multivariate Logistic Regression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03D92CA-BD19-4C4E-A57B-17BCA4746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70299"/>
            <a:ext cx="5028358" cy="461167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C753D0C-8A90-413C-B13B-24A04A58E8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25" y="1670299"/>
            <a:ext cx="4568619" cy="456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996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2896658"/>
            <a:ext cx="11176000" cy="532342"/>
          </a:xfrm>
        </p:spPr>
        <p:txBody>
          <a:bodyPr>
            <a:noAutofit/>
          </a:bodyPr>
          <a:lstStyle/>
          <a:p>
            <a:r>
              <a:rPr lang="en-US" altLang="ko-KR" sz="4000" dirty="0"/>
              <a:t>Multivariable Analysis</a:t>
            </a:r>
            <a:endParaRPr lang="ko-KR" altLang="en-US" sz="4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167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알고리즘 설명</a:t>
            </a:r>
            <a:endParaRPr lang="en-US" altLang="ko-KR" dirty="0"/>
          </a:p>
          <a:p>
            <a:pPr lvl="1"/>
            <a:r>
              <a:rPr lang="en-US" altLang="ko-KR" dirty="0"/>
              <a:t>Input : Case </a:t>
            </a:r>
            <a:r>
              <a:rPr lang="ko-KR" altLang="en-US" dirty="0"/>
              <a:t>변수 </a:t>
            </a:r>
            <a:r>
              <a:rPr lang="en-US" altLang="ko-KR" dirty="0"/>
              <a:t>[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성별</a:t>
            </a:r>
            <a:r>
              <a:rPr lang="en-US" altLang="ko-KR" dirty="0"/>
              <a:t>], [+</a:t>
            </a:r>
            <a:r>
              <a:rPr lang="ko-KR" altLang="en-US" dirty="0"/>
              <a:t> </a:t>
            </a:r>
            <a:r>
              <a:rPr lang="en-US" altLang="ko-KR" dirty="0"/>
              <a:t>AEC Feature], [+ </a:t>
            </a:r>
            <a:r>
              <a:rPr lang="ko-KR" altLang="en-US" dirty="0"/>
              <a:t>모델명</a:t>
            </a:r>
            <a:r>
              <a:rPr lang="en-US" altLang="ko-KR" dirty="0"/>
              <a:t>]</a:t>
            </a:r>
          </a:p>
          <a:p>
            <a:pPr lvl="1"/>
            <a:r>
              <a:rPr lang="en-US" altLang="ko-KR" dirty="0"/>
              <a:t>Output</a:t>
            </a:r>
          </a:p>
          <a:p>
            <a:pPr lvl="2"/>
            <a:r>
              <a:rPr lang="en-US" altLang="ko-KR" dirty="0"/>
              <a:t>Linear Reg: TAMA value</a:t>
            </a:r>
          </a:p>
          <a:p>
            <a:pPr lvl="2"/>
            <a:r>
              <a:rPr lang="en-US" altLang="ko-KR" dirty="0"/>
              <a:t>Logistic Reg: Binary Classification (threshold cutoff)</a:t>
            </a:r>
          </a:p>
          <a:p>
            <a:pPr lvl="1"/>
            <a:r>
              <a:rPr lang="en-US" altLang="ko-KR" dirty="0"/>
              <a:t>Evaluation Matrix</a:t>
            </a:r>
          </a:p>
          <a:p>
            <a:pPr lvl="2"/>
            <a:r>
              <a:rPr lang="en-US" altLang="ko-KR" dirty="0"/>
              <a:t>Linear Reg: R</a:t>
            </a:r>
            <a:r>
              <a:rPr lang="en-US" altLang="ko-KR" baseline="30000" dirty="0"/>
              <a:t>2</a:t>
            </a:r>
            <a:r>
              <a:rPr lang="en-US" altLang="ko-KR" dirty="0"/>
              <a:t>, Adjusted R</a:t>
            </a:r>
            <a:r>
              <a:rPr lang="en-US" altLang="ko-KR" baseline="30000" dirty="0"/>
              <a:t>2</a:t>
            </a:r>
            <a:r>
              <a:rPr lang="en-US" altLang="ko-KR" dirty="0"/>
              <a:t>, RMSE, AIC</a:t>
            </a:r>
          </a:p>
          <a:p>
            <a:pPr lvl="2"/>
            <a:r>
              <a:rPr lang="en-US" altLang="ko-KR" dirty="0"/>
              <a:t>Logistic Reg: AUC-ROC, </a:t>
            </a:r>
            <a:r>
              <a:rPr lang="en-US" altLang="ko-KR" dirty="0" err="1"/>
              <a:t>Nagelkerke</a:t>
            </a:r>
            <a:r>
              <a:rPr lang="en-US" altLang="ko-KR" dirty="0"/>
              <a:t> R</a:t>
            </a:r>
            <a:r>
              <a:rPr lang="en-US" altLang="ko-KR" baseline="30000" dirty="0"/>
              <a:t>2</a:t>
            </a:r>
            <a:r>
              <a:rPr lang="en-US" altLang="ko-KR" dirty="0"/>
              <a:t>, AIC, HL p-value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71680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Linear Regression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25</a:t>
            </a:fld>
            <a:endParaRPr lang="ko-KR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D5BDA3-1BA3-46AC-82B4-CE3A6B0692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056004"/>
              </p:ext>
            </p:extLst>
          </p:nvPr>
        </p:nvGraphicFramePr>
        <p:xfrm>
          <a:off x="1981202" y="1625599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</a:rPr>
                        <a:t>지표</a:t>
                      </a:r>
                      <a:endParaRPr sz="1100" b="1" dirty="0">
                        <a:solidFill>
                          <a:srgbClr val="FFFFFF"/>
                        </a:solidFill>
                      </a:endParaRP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Case 1 [Age,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Sex]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Case 2 [+AEC]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Case 3 [+Model]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 C1→C2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 C2→C3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</a:rPr>
                        <a:t>R²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0.5506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0.6353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0.6572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+0.085 ▲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+0.022 ▲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</a:rPr>
                        <a:t>Adj. R²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0.5501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0.6339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0.6497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+0.084 ▲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+0.016 ▲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</a:rPr>
                        <a:t>RMSE (cm²)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20.43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18.41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17.84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-2.02 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-0.56 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14839.7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14498.8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14454.9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-341 ▼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-44 ▼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BC47C13-6355-4919-A259-EEA7F5790E1C}"/>
              </a:ext>
            </a:extLst>
          </p:cNvPr>
          <p:cNvSpPr txBox="1"/>
          <p:nvPr/>
        </p:nvSpPr>
        <p:spPr>
          <a:xfrm>
            <a:off x="1981200" y="3136612"/>
            <a:ext cx="82296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E75B6"/>
                </a:solidFill>
              </a:rPr>
              <a:t>AEC </a:t>
            </a:r>
            <a:r>
              <a:rPr sz="1300" b="1" i="0" dirty="0" err="1">
                <a:solidFill>
                  <a:srgbClr val="2E75B6"/>
                </a:solidFill>
              </a:rPr>
              <a:t>특징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추가</a:t>
            </a:r>
            <a:r>
              <a:rPr sz="1300" b="1" i="0" dirty="0">
                <a:solidFill>
                  <a:srgbClr val="2E75B6"/>
                </a:solidFill>
              </a:rPr>
              <a:t>(Case1→2)로 R² +8.5%p </a:t>
            </a:r>
            <a:r>
              <a:rPr sz="1300" b="1" i="0" dirty="0" err="1">
                <a:solidFill>
                  <a:srgbClr val="2E75B6"/>
                </a:solidFill>
              </a:rPr>
              <a:t>향상</a:t>
            </a:r>
            <a:r>
              <a:rPr sz="1300" b="1" i="0" dirty="0">
                <a:solidFill>
                  <a:srgbClr val="2E75B6"/>
                </a:solidFill>
              </a:rPr>
              <a:t>  |  CT </a:t>
            </a:r>
            <a:r>
              <a:rPr sz="1300" b="1" i="0" dirty="0" err="1">
                <a:solidFill>
                  <a:srgbClr val="2E75B6"/>
                </a:solidFill>
              </a:rPr>
              <a:t>모델명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추가</a:t>
            </a:r>
            <a:r>
              <a:rPr sz="1300" b="1" i="0" dirty="0">
                <a:solidFill>
                  <a:srgbClr val="2E75B6"/>
                </a:solidFill>
              </a:rPr>
              <a:t>(Case2→3)로 </a:t>
            </a:r>
            <a:r>
              <a:rPr sz="1300" b="1" i="0" dirty="0" err="1">
                <a:solidFill>
                  <a:srgbClr val="2E75B6"/>
                </a:solidFill>
              </a:rPr>
              <a:t>추가</a:t>
            </a:r>
            <a:r>
              <a:rPr sz="1300" b="1" i="0" dirty="0">
                <a:solidFill>
                  <a:srgbClr val="2E75B6"/>
                </a:solidFill>
              </a:rPr>
              <a:t> +2.2%p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100CABA-2B9F-4ADD-92FC-47104A4E5951}"/>
              </a:ext>
            </a:extLst>
          </p:cNvPr>
          <p:cNvGrpSpPr/>
          <p:nvPr/>
        </p:nvGrpSpPr>
        <p:grpSpPr>
          <a:xfrm>
            <a:off x="321564" y="3645407"/>
            <a:ext cx="11548872" cy="2592835"/>
            <a:chOff x="320040" y="3569206"/>
            <a:chExt cx="11548872" cy="2592835"/>
          </a:xfrm>
        </p:grpSpPr>
        <p:pic>
          <p:nvPicPr>
            <p:cNvPr id="9" name="Picture 8" descr="12_case_metrics_bar.png">
              <a:extLst>
                <a:ext uri="{FF2B5EF4-FFF2-40B4-BE49-F238E27FC236}">
                  <a16:creationId xmlns:a16="http://schemas.microsoft.com/office/drawing/2014/main" id="{D2EBA2F8-3B91-4B5D-8194-0100B9D526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3569206"/>
              <a:ext cx="5486400" cy="2592835"/>
            </a:xfrm>
            <a:prstGeom prst="rect">
              <a:avLst/>
            </a:prstGeom>
          </p:spPr>
        </p:pic>
        <p:pic>
          <p:nvPicPr>
            <p:cNvPr id="10" name="Picture 10" descr="14_case_aic_bar.png">
              <a:extLst>
                <a:ext uri="{FF2B5EF4-FFF2-40B4-BE49-F238E27FC236}">
                  <a16:creationId xmlns:a16="http://schemas.microsoft.com/office/drawing/2014/main" id="{2214AC2A-F7E6-4F83-839D-FC77434DC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80760" y="3569206"/>
              <a:ext cx="5788152" cy="25928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53025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Logistic Regression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89FFC5E7-A326-4282-AC29-65CC3464A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308766"/>
              </p:ext>
            </p:extLst>
          </p:nvPr>
        </p:nvGraphicFramePr>
        <p:xfrm>
          <a:off x="1981200" y="1625599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Case 1 [Age,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Sex]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Case 2 [+AEC]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Case 3 [+Model]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 C1→C2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 C2→C3</a:t>
                      </a:r>
                    </a:p>
                  </a:txBody>
                  <a:tcPr marL="45720" marR="45720" anchor="ctr">
                    <a:solidFill>
                      <a:srgbClr val="1438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AUC-ROC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0.6283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0.7518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0.7794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+0.124 ▲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+0.028 ▲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dirty="0" err="1">
                          <a:solidFill>
                            <a:srgbClr val="1A1A2E"/>
                          </a:solidFill>
                        </a:rPr>
                        <a:t>Nagelkerke</a:t>
                      </a:r>
                      <a:r>
                        <a:rPr sz="1200" dirty="0">
                          <a:solidFill>
                            <a:srgbClr val="1A1A2E"/>
                          </a:solidFill>
                        </a:rPr>
                        <a:t> R²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0.0581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0.2312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0.2823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+0.173 ▲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+0.051 ▲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1953.8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1735.8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1722.8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-218 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-13 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HL p-value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A1A2E"/>
                          </a:solidFill>
                        </a:rPr>
                        <a:t>&lt;0.001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0.089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0.333</a:t>
                      </a:r>
                    </a:p>
                  </a:txBody>
                  <a:tcPr marL="45720" marR="45720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보정도 개선 ✔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 err="1">
                          <a:solidFill>
                            <a:srgbClr val="1A1A2E"/>
                          </a:solidFill>
                        </a:rPr>
                        <a:t>보정도</a:t>
                      </a:r>
                      <a:r>
                        <a:rPr sz="1200" dirty="0">
                          <a:solidFill>
                            <a:srgbClr val="1A1A2E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1A1A2E"/>
                          </a:solidFill>
                        </a:rPr>
                        <a:t>양호</a:t>
                      </a:r>
                      <a:r>
                        <a:rPr sz="1200" dirty="0">
                          <a:solidFill>
                            <a:srgbClr val="1A1A2E"/>
                          </a:solidFill>
                        </a:rPr>
                        <a:t> ✔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FE07F3-A366-41FB-B106-013A95001DF3}"/>
              </a:ext>
            </a:extLst>
          </p:cNvPr>
          <p:cNvSpPr txBox="1"/>
          <p:nvPr/>
        </p:nvSpPr>
        <p:spPr>
          <a:xfrm>
            <a:off x="1981200" y="3136612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E75B6"/>
                </a:solidFill>
              </a:rPr>
              <a:t>AEC </a:t>
            </a:r>
            <a:r>
              <a:rPr sz="1300" b="1" i="0" dirty="0" err="1">
                <a:solidFill>
                  <a:srgbClr val="2E75B6"/>
                </a:solidFill>
              </a:rPr>
              <a:t>추가</a:t>
            </a:r>
            <a:r>
              <a:rPr sz="1300" b="1" i="0" dirty="0">
                <a:solidFill>
                  <a:srgbClr val="2E75B6"/>
                </a:solidFill>
              </a:rPr>
              <a:t>(Case1→2)로 AUC +12.4%p </a:t>
            </a:r>
            <a:r>
              <a:rPr sz="1300" b="1" i="0" dirty="0" err="1">
                <a:solidFill>
                  <a:srgbClr val="2E75B6"/>
                </a:solidFill>
              </a:rPr>
              <a:t>향상</a:t>
            </a:r>
            <a:r>
              <a:rPr sz="1300" b="1" i="0" dirty="0">
                <a:solidFill>
                  <a:srgbClr val="2E75B6"/>
                </a:solidFill>
              </a:rPr>
              <a:t>  |  CT </a:t>
            </a:r>
            <a:r>
              <a:rPr sz="1300" b="1" i="0" dirty="0" err="1">
                <a:solidFill>
                  <a:srgbClr val="2E75B6"/>
                </a:solidFill>
              </a:rPr>
              <a:t>모델명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추가</a:t>
            </a:r>
            <a:r>
              <a:rPr sz="1300" b="1" i="0" dirty="0">
                <a:solidFill>
                  <a:srgbClr val="2E75B6"/>
                </a:solidFill>
              </a:rPr>
              <a:t>(Case2→3)로 +2.8%p </a:t>
            </a:r>
            <a:r>
              <a:rPr sz="1300" b="1" i="0" dirty="0" err="1">
                <a:solidFill>
                  <a:srgbClr val="2E75B6"/>
                </a:solidFill>
              </a:rPr>
              <a:t>추가</a:t>
            </a:r>
            <a:r>
              <a:rPr sz="1300" b="1" i="0" dirty="0">
                <a:solidFill>
                  <a:srgbClr val="2E75B6"/>
                </a:solidFill>
              </a:rPr>
              <a:t> </a:t>
            </a:r>
            <a:r>
              <a:rPr sz="1300" b="1" i="0" dirty="0" err="1">
                <a:solidFill>
                  <a:srgbClr val="2E75B6"/>
                </a:solidFill>
              </a:rPr>
              <a:t>개선</a:t>
            </a:r>
            <a:endParaRPr sz="1300" b="1" i="0" dirty="0">
              <a:solidFill>
                <a:srgbClr val="2E75B6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9C8CEDE-5D68-4020-93FB-FF32C421CB54}"/>
              </a:ext>
            </a:extLst>
          </p:cNvPr>
          <p:cNvGrpSpPr/>
          <p:nvPr/>
        </p:nvGrpSpPr>
        <p:grpSpPr>
          <a:xfrm>
            <a:off x="320040" y="3579818"/>
            <a:ext cx="11551920" cy="2793772"/>
            <a:chOff x="320040" y="3572933"/>
            <a:chExt cx="11551920" cy="2793772"/>
          </a:xfrm>
        </p:grpSpPr>
        <p:pic>
          <p:nvPicPr>
            <p:cNvPr id="10" name="Picture 8" descr="13_case_auc_bar.png">
              <a:extLst>
                <a:ext uri="{FF2B5EF4-FFF2-40B4-BE49-F238E27FC236}">
                  <a16:creationId xmlns:a16="http://schemas.microsoft.com/office/drawing/2014/main" id="{1331F3F9-DDF2-44EC-8F4A-E6655C3DD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" y="3572933"/>
              <a:ext cx="5486400" cy="2777067"/>
            </a:xfrm>
            <a:prstGeom prst="rect">
              <a:avLst/>
            </a:prstGeom>
          </p:spPr>
        </p:pic>
        <p:pic>
          <p:nvPicPr>
            <p:cNvPr id="11" name="Picture 10" descr="15_case_progression.png">
              <a:extLst>
                <a:ext uri="{FF2B5EF4-FFF2-40B4-BE49-F238E27FC236}">
                  <a16:creationId xmlns:a16="http://schemas.microsoft.com/office/drawing/2014/main" id="{FA5A363D-0146-48B8-AFD9-29C91F6FB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83808" y="3572933"/>
              <a:ext cx="5788152" cy="27937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03039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4C152F-6AC6-4EBB-8679-327588602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신촌 데이터를 이용한 외부 검증 </a:t>
            </a:r>
            <a:r>
              <a:rPr lang="en-US" altLang="ko-KR" dirty="0"/>
              <a:t>(External Validation)</a:t>
            </a:r>
          </a:p>
          <a:p>
            <a:r>
              <a:rPr lang="en-US" altLang="ko-KR" dirty="0"/>
              <a:t>ML </a:t>
            </a:r>
            <a:r>
              <a:rPr lang="ko-KR" altLang="en-US" dirty="0"/>
              <a:t>기반 앙상블 모델 비교 </a:t>
            </a:r>
            <a:r>
              <a:rPr lang="en-US" altLang="ko-KR" dirty="0"/>
              <a:t>(Random Forest, </a:t>
            </a:r>
            <a:r>
              <a:rPr lang="en-US" altLang="ko-KR" dirty="0" err="1"/>
              <a:t>XGBoost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Next Plan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6617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6960</Words>
  <Application>Microsoft Office PowerPoint</Application>
  <PresentationFormat>와이드스크린</PresentationFormat>
  <Paragraphs>819</Paragraphs>
  <Slides>28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6" baseType="lpstr">
      <vt:lpstr>KoPubWorld돋움체 Bold</vt:lpstr>
      <vt:lpstr>KoPubWorld돋움체 Medium</vt:lpstr>
      <vt:lpstr>KoPub돋움체 Bold</vt:lpstr>
      <vt:lpstr>KoPub돋움체 Medium</vt:lpstr>
      <vt:lpstr>맑은 고딕</vt:lpstr>
      <vt:lpstr>에스코어 드림 8 Heavy</vt:lpstr>
      <vt:lpstr>Arial</vt:lpstr>
      <vt:lpstr>Office 테마</vt:lpstr>
      <vt:lpstr>PowerPoint 프레젠테이션</vt:lpstr>
      <vt:lpstr>1. What’s discussed in the last meetings</vt:lpstr>
      <vt:lpstr>2. Research Summary</vt:lpstr>
      <vt:lpstr>연구 프로토타입 정의</vt:lpstr>
      <vt:lpstr>Research Overview – Main Study</vt:lpstr>
      <vt:lpstr>Research Overview – Pilot Feasibility Study (현재 진행 연구)</vt:lpstr>
      <vt:lpstr>Research Overview – Pilot Feasibility Study (현재 진행 연구)</vt:lpstr>
      <vt:lpstr>데이터 정리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Linear &amp; Logistic Regression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Multivariable Analysis</vt:lpstr>
      <vt:lpstr>3. Detailed progress</vt:lpstr>
      <vt:lpstr>3. Detailed progress</vt:lpstr>
      <vt:lpstr>3. Detailed progress</vt:lpstr>
      <vt:lpstr>4. Next Plan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43</cp:revision>
  <dcterms:created xsi:type="dcterms:W3CDTF">2026-04-09T07:05:16Z</dcterms:created>
  <dcterms:modified xsi:type="dcterms:W3CDTF">2026-04-17T01:48:29Z</dcterms:modified>
</cp:coreProperties>
</file>