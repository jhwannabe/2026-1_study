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99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 useTimings="0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69FF03A-DF0C-4845-94BB-EF2385AD676B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accent1"/>
              </a:solidFill>
            </a:ln>
          </a:top>
          <a:bottom>
            <a:ln w="2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accent1"/>
              </a:solidFill>
            </a:ln>
          </a:top>
          <a:bottom>
            <a:ln w="10000" cmpd="sng">
              <a:solidFill>
                <a:schemeClr val="accent1"/>
              </a:solidFill>
            </a:ln>
          </a:bottom>
        </a:tcBdr>
        <a:fill>
          <a:solidFill>
            <a:schemeClr val="accent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19EC50-B813-4FCE-9F78-2F8D5DE6B856}" styleName="Normal Style 2 - Accent 1">
    <a:tblBg>
      <a:effectRef idx="1">
        <a:schemeClr val="dk1"/>
      </a:effectRef>
    </a:tblBg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10000"/>
              <a:satMod val="53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30000"/>
              <a:satMod val="33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20000"/>
              <a:satMod val="73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>
              <a:alpha val="50000"/>
              <a:satMod val="630000"/>
            </a:schemeClr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>
              <a:shade val="50000"/>
              <a:satMod val="230000"/>
            </a:schemeClr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4995" autoAdjust="0"/>
    <p:restoredTop sz="76831" autoAdjust="0"/>
  </p:normalViewPr>
  <p:slideViewPr>
    <p:cSldViewPr>
      <p:cViewPr varScale="1">
        <p:scale>
          <a:sx n="100" d="100"/>
          <a:sy n="100" d="100"/>
        </p:scale>
        <p:origin x="630" y="114"/>
      </p:cViewPr>
      <p:guideLst>
        <p:guide orient="horz" pos="2152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presProps" Target="presProps.xml"  /><Relationship Id="rId16" Type="http://schemas.openxmlformats.org/officeDocument/2006/relationships/viewProps" Target="viewProps.xml"  /><Relationship Id="rId17" Type="http://schemas.openxmlformats.org/officeDocument/2006/relationships/theme" Target="theme/theme1.xml"  /><Relationship Id="rId18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handoutMaster" Target="handoutMasters/handoutMaster1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charts/_rels/chart1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1.xlsx"  /></Relationships>
</file>

<file path=ppt/charts/_rels/chart2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2.xlsx"  /></Relationships>
</file>

<file path=ppt/charts/chart1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resnet50</c:v>
                </c:pt>
              </c:strCache>
            </c:strRef>
          </c:tx>
          <c:spPr>
            <a:ln w="28575" cap="rnd" cmpd="sng" algn="ctr">
              <a:solidFill>
                <a:srgbClr val="ff0000"/>
              </a:solidFill>
              <a:prstDash val="solid"/>
              <a:round/>
              <a:headEnd w="med" len="med"/>
              <a:tailEnd w="med" len="med"/>
            </a:ln>
          </c:spPr>
          <c:marker>
            <c:symbol val="none"/>
            <c:size val="7"/>
          </c:marker>
          <c:val>
            <c:numRef>
              <c:f>Sheet1!$B$2:$B$51</c:f>
              <c:numCache>
                <c:formatCode>General</c:formatCode>
                <c:ptCount val="50"/>
                <c:pt idx="0">
                  <c:v>46.53</c:v>
                </c:pt>
                <c:pt idx="1">
                  <c:v>65.35</c:v>
                </c:pt>
                <c:pt idx="2">
                  <c:v>59.41</c:v>
                </c:pt>
                <c:pt idx="3">
                  <c:v>63.37</c:v>
                </c:pt>
                <c:pt idx="4">
                  <c:v>67.33</c:v>
                </c:pt>
                <c:pt idx="5">
                  <c:v>60.4</c:v>
                </c:pt>
                <c:pt idx="6">
                  <c:v>59.41</c:v>
                </c:pt>
                <c:pt idx="7">
                  <c:v>60.4</c:v>
                </c:pt>
                <c:pt idx="8">
                  <c:v>66.34</c:v>
                </c:pt>
                <c:pt idx="9">
                  <c:v>60.4</c:v>
                </c:pt>
                <c:pt idx="10">
                  <c:v>66.34</c:v>
                </c:pt>
                <c:pt idx="11">
                  <c:v>64.36</c:v>
                </c:pt>
                <c:pt idx="12">
                  <c:v>62.38</c:v>
                </c:pt>
                <c:pt idx="13">
                  <c:v>59.41</c:v>
                </c:pt>
                <c:pt idx="14">
                  <c:v>65.35</c:v>
                </c:pt>
                <c:pt idx="15">
                  <c:v>64.36</c:v>
                </c:pt>
                <c:pt idx="16">
                  <c:v>67.33</c:v>
                </c:pt>
                <c:pt idx="17">
                  <c:v>60.4</c:v>
                </c:pt>
                <c:pt idx="18">
                  <c:v>63.37</c:v>
                </c:pt>
                <c:pt idx="19">
                  <c:v>61.39</c:v>
                </c:pt>
                <c:pt idx="20">
                  <c:v>60.4</c:v>
                </c:pt>
                <c:pt idx="21">
                  <c:v>58.42</c:v>
                </c:pt>
                <c:pt idx="22">
                  <c:v>47.52</c:v>
                </c:pt>
                <c:pt idx="23">
                  <c:v>60.4</c:v>
                </c:pt>
                <c:pt idx="24">
                  <c:v>55.45</c:v>
                </c:pt>
                <c:pt idx="25">
                  <c:v>70.3</c:v>
                </c:pt>
                <c:pt idx="26">
                  <c:v>64.36</c:v>
                </c:pt>
                <c:pt idx="27">
                  <c:v>61.39</c:v>
                </c:pt>
                <c:pt idx="28">
                  <c:v>59.41</c:v>
                </c:pt>
                <c:pt idx="29">
                  <c:v>62.38</c:v>
                </c:pt>
                <c:pt idx="30">
                  <c:v>68.32</c:v>
                </c:pt>
                <c:pt idx="31">
                  <c:v>63.37</c:v>
                </c:pt>
                <c:pt idx="32">
                  <c:v>61.39</c:v>
                </c:pt>
                <c:pt idx="33">
                  <c:v>55.45</c:v>
                </c:pt>
                <c:pt idx="34">
                  <c:v>60.4</c:v>
                </c:pt>
                <c:pt idx="35">
                  <c:v>56.44</c:v>
                </c:pt>
                <c:pt idx="36">
                  <c:v>60.4</c:v>
                </c:pt>
                <c:pt idx="37">
                  <c:v>58.42</c:v>
                </c:pt>
                <c:pt idx="38">
                  <c:v>64.36</c:v>
                </c:pt>
                <c:pt idx="39">
                  <c:v>60.4</c:v>
                </c:pt>
                <c:pt idx="40">
                  <c:v>48.51</c:v>
                </c:pt>
                <c:pt idx="41">
                  <c:v>65.35</c:v>
                </c:pt>
                <c:pt idx="42">
                  <c:v>67.33</c:v>
                </c:pt>
                <c:pt idx="43">
                  <c:v>63.37</c:v>
                </c:pt>
                <c:pt idx="44">
                  <c:v>58.42</c:v>
                </c:pt>
                <c:pt idx="45">
                  <c:v>50.5</c:v>
                </c:pt>
                <c:pt idx="46">
                  <c:v>60.4</c:v>
                </c:pt>
                <c:pt idx="47">
                  <c:v>59.41</c:v>
                </c:pt>
                <c:pt idx="48">
                  <c:v>60.4</c:v>
                </c:pt>
                <c:pt idx="49">
                  <c:v>57.43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densenet121</c:v>
                </c:pt>
              </c:strCache>
            </c:strRef>
          </c:tx>
          <c:spPr>
            <a:ln w="28575" cap="rnd" cmpd="sng" algn="ctr">
              <a:solidFill>
                <a:srgbClr val="289b6e"/>
              </a:solidFill>
              <a:prstDash val="solid"/>
              <a:round/>
              <a:headEnd w="med" len="med"/>
              <a:tailEnd w="med" len="med"/>
            </a:ln>
          </c:spPr>
          <c:marker>
            <c:symbol val="none"/>
            <c:size val="7"/>
          </c:marker>
          <c:val>
            <c:numRef>
              <c:f>Sheet1!$C$2:$C$51</c:f>
              <c:numCache>
                <c:formatCode>General</c:formatCode>
                <c:ptCount val="50"/>
                <c:pt idx="0">
                  <c:v>62.38</c:v>
                </c:pt>
                <c:pt idx="1">
                  <c:v>52.48</c:v>
                </c:pt>
                <c:pt idx="2">
                  <c:v>64.36</c:v>
                </c:pt>
                <c:pt idx="3">
                  <c:v>69.31</c:v>
                </c:pt>
                <c:pt idx="4">
                  <c:v>70.3</c:v>
                </c:pt>
                <c:pt idx="5">
                  <c:v>69.3</c:v>
                </c:pt>
                <c:pt idx="6">
                  <c:v>70.3</c:v>
                </c:pt>
                <c:pt idx="7">
                  <c:v>61.39</c:v>
                </c:pt>
                <c:pt idx="8">
                  <c:v>70.3</c:v>
                </c:pt>
                <c:pt idx="9">
                  <c:v>65.35</c:v>
                </c:pt>
                <c:pt idx="10">
                  <c:v>70.3</c:v>
                </c:pt>
                <c:pt idx="11">
                  <c:v>63.37</c:v>
                </c:pt>
                <c:pt idx="12">
                  <c:v>65.35</c:v>
                </c:pt>
                <c:pt idx="13">
                  <c:v>56.44</c:v>
                </c:pt>
                <c:pt idx="14">
                  <c:v>64.36</c:v>
                </c:pt>
                <c:pt idx="15">
                  <c:v>63.37</c:v>
                </c:pt>
                <c:pt idx="16">
                  <c:v>64.36</c:v>
                </c:pt>
                <c:pt idx="17">
                  <c:v>66.34</c:v>
                </c:pt>
                <c:pt idx="18">
                  <c:v>55.45</c:v>
                </c:pt>
                <c:pt idx="19">
                  <c:v>65.35</c:v>
                </c:pt>
                <c:pt idx="20">
                  <c:v>71.29</c:v>
                </c:pt>
                <c:pt idx="21">
                  <c:v>52.48</c:v>
                </c:pt>
                <c:pt idx="22">
                  <c:v>71.29</c:v>
                </c:pt>
                <c:pt idx="23">
                  <c:v>67.33</c:v>
                </c:pt>
                <c:pt idx="24">
                  <c:v>68.32</c:v>
                </c:pt>
                <c:pt idx="25">
                  <c:v>63.37</c:v>
                </c:pt>
                <c:pt idx="26">
                  <c:v>70.3</c:v>
                </c:pt>
                <c:pt idx="27">
                  <c:v>67.33</c:v>
                </c:pt>
                <c:pt idx="28">
                  <c:v>71.29</c:v>
                </c:pt>
                <c:pt idx="29">
                  <c:v>68.32</c:v>
                </c:pt>
                <c:pt idx="30">
                  <c:v>65.35</c:v>
                </c:pt>
                <c:pt idx="31">
                  <c:v>66.34</c:v>
                </c:pt>
                <c:pt idx="32">
                  <c:v>64.36</c:v>
                </c:pt>
                <c:pt idx="33">
                  <c:v>69.31</c:v>
                </c:pt>
                <c:pt idx="34">
                  <c:v>70.3</c:v>
                </c:pt>
                <c:pt idx="35">
                  <c:v>75.25</c:v>
                </c:pt>
                <c:pt idx="36">
                  <c:v>66.34</c:v>
                </c:pt>
                <c:pt idx="37">
                  <c:v>69.31</c:v>
                </c:pt>
                <c:pt idx="38">
                  <c:v>69.31</c:v>
                </c:pt>
                <c:pt idx="39">
                  <c:v>68.32</c:v>
                </c:pt>
                <c:pt idx="40">
                  <c:v>68.32</c:v>
                </c:pt>
                <c:pt idx="41">
                  <c:v>68.32</c:v>
                </c:pt>
                <c:pt idx="42">
                  <c:v>71.29</c:v>
                </c:pt>
                <c:pt idx="43">
                  <c:v>67.33</c:v>
                </c:pt>
                <c:pt idx="44">
                  <c:v>71.29</c:v>
                </c:pt>
                <c:pt idx="45">
                  <c:v>67.33</c:v>
                </c:pt>
                <c:pt idx="46">
                  <c:v>62.38</c:v>
                </c:pt>
                <c:pt idx="47">
                  <c:v>68.32</c:v>
                </c:pt>
                <c:pt idx="48">
                  <c:v>73.27</c:v>
                </c:pt>
                <c:pt idx="49">
                  <c:v>74.26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efficient_b0</c:v>
                </c:pt>
              </c:strCache>
            </c:strRef>
          </c:tx>
          <c:spPr>
            <a:ln w="28575" cap="rnd" cmpd="sng" algn="ctr">
              <a:solidFill>
                <a:srgbClr val="3057b9"/>
              </a:solidFill>
              <a:prstDash val="solid"/>
              <a:round/>
              <a:headEnd w="med" len="med"/>
              <a:tailEnd w="med" len="med"/>
            </a:ln>
          </c:spPr>
          <c:marker>
            <c:symbol val="none"/>
            <c:size val="7"/>
          </c:marker>
          <c:val>
            <c:numRef>
              <c:f>Sheet1!$D$2:$D$51</c:f>
              <c:numCache>
                <c:formatCode>General</c:formatCode>
                <c:ptCount val="50"/>
                <c:pt idx="0">
                  <c:v>62.38</c:v>
                </c:pt>
                <c:pt idx="1">
                  <c:v>66.34</c:v>
                </c:pt>
                <c:pt idx="2">
                  <c:v>66.34</c:v>
                </c:pt>
                <c:pt idx="3">
                  <c:v>63.37</c:v>
                </c:pt>
                <c:pt idx="4">
                  <c:v>63.37</c:v>
                </c:pt>
                <c:pt idx="5">
                  <c:v>65.35</c:v>
                </c:pt>
                <c:pt idx="6">
                  <c:v>67.33</c:v>
                </c:pt>
                <c:pt idx="7">
                  <c:v>70.3</c:v>
                </c:pt>
                <c:pt idx="8">
                  <c:v>68.32</c:v>
                </c:pt>
                <c:pt idx="9">
                  <c:v>69.31</c:v>
                </c:pt>
                <c:pt idx="10">
                  <c:v>68.32</c:v>
                </c:pt>
                <c:pt idx="11">
                  <c:v>73.27</c:v>
                </c:pt>
                <c:pt idx="12">
                  <c:v>72.28</c:v>
                </c:pt>
                <c:pt idx="13">
                  <c:v>71.29</c:v>
                </c:pt>
                <c:pt idx="14">
                  <c:v>73.27</c:v>
                </c:pt>
                <c:pt idx="15">
                  <c:v>71.29</c:v>
                </c:pt>
                <c:pt idx="16">
                  <c:v>73.27</c:v>
                </c:pt>
                <c:pt idx="17">
                  <c:v>69.31</c:v>
                </c:pt>
                <c:pt idx="18">
                  <c:v>68.32</c:v>
                </c:pt>
                <c:pt idx="19">
                  <c:v>71.29</c:v>
                </c:pt>
                <c:pt idx="20">
                  <c:v>71.29</c:v>
                </c:pt>
                <c:pt idx="21">
                  <c:v>69.31</c:v>
                </c:pt>
                <c:pt idx="22">
                  <c:v>70.3</c:v>
                </c:pt>
                <c:pt idx="23">
                  <c:v>70.3</c:v>
                </c:pt>
                <c:pt idx="24">
                  <c:v>71.29</c:v>
                </c:pt>
                <c:pt idx="25">
                  <c:v>69.31</c:v>
                </c:pt>
                <c:pt idx="26">
                  <c:v>69.31</c:v>
                </c:pt>
                <c:pt idx="27">
                  <c:v>69.31</c:v>
                </c:pt>
                <c:pt idx="28">
                  <c:v>69.31</c:v>
                </c:pt>
                <c:pt idx="29">
                  <c:v>67.33</c:v>
                </c:pt>
                <c:pt idx="30">
                  <c:v>71.29</c:v>
                </c:pt>
                <c:pt idx="31">
                  <c:v>72.28</c:v>
                </c:pt>
                <c:pt idx="32">
                  <c:v>72.28</c:v>
                </c:pt>
                <c:pt idx="33">
                  <c:v>69.31</c:v>
                </c:pt>
                <c:pt idx="34">
                  <c:v>70.3</c:v>
                </c:pt>
                <c:pt idx="35">
                  <c:v>69.31</c:v>
                </c:pt>
                <c:pt idx="36">
                  <c:v>69.31</c:v>
                </c:pt>
                <c:pt idx="37">
                  <c:v>70.3</c:v>
                </c:pt>
                <c:pt idx="38">
                  <c:v>70.3</c:v>
                </c:pt>
                <c:pt idx="39">
                  <c:v>72.28</c:v>
                </c:pt>
                <c:pt idx="40">
                  <c:v>70.3</c:v>
                </c:pt>
                <c:pt idx="41">
                  <c:v>71.29</c:v>
                </c:pt>
                <c:pt idx="42">
                  <c:v>71.29</c:v>
                </c:pt>
                <c:pt idx="43">
                  <c:v>70.3</c:v>
                </c:pt>
                <c:pt idx="44">
                  <c:v>69.31</c:v>
                </c:pt>
                <c:pt idx="45">
                  <c:v>70.3</c:v>
                </c:pt>
                <c:pt idx="46">
                  <c:v>70.3</c:v>
                </c:pt>
                <c:pt idx="47">
                  <c:v>73.27</c:v>
                </c:pt>
                <c:pt idx="48">
                  <c:v>70.3</c:v>
                </c:pt>
                <c:pt idx="49">
                  <c:v>71.29</c:v>
                </c:pt>
              </c:numCache>
            </c:numRef>
          </c:val>
          <c:smooth val="0"/>
        </c:ser>
        <c:marker val="0"/>
        <c:smooth val="0"/>
        <c:axId val="27703791"/>
        <c:axId val="416035488"/>
      </c:lineChart>
      <c:catAx>
        <c:axId val="27703791"/>
        <c:scaling>
          <c:orientation val="minMax"/>
        </c:scaling>
        <c:axPos val="b"/>
        <c:crossAx val="416035488"/>
        <c:delete val="0"/>
        <c:majorTickMark val="out"/>
        <c:minorTickMark val="none"/>
        <c:tickLblPos val="nextTo"/>
        <c:crosses val="autoZero"/>
        <c:auto val="1"/>
        <c:lblAlgn val="ctr"/>
        <c:lblOffset val="100"/>
        <c:tickMarkSkip val="1"/>
        <c:noMultiLvlLbl val="0"/>
      </c:catAx>
      <c:valAx>
        <c:axId val="416035488"/>
        <c:scaling>
          <c:orientation val="minMax"/>
          <c:min val="40"/>
        </c:scaling>
        <c:axPos val="l"/>
        <c:crossAx val="27703791"/>
        <c:delete val="0"/>
        <c:majorGridlines/>
        <c:numFmt formatCode="General" sourceLinked="1"/>
        <c:majorTickMark val="out"/>
        <c:minorTickMark val="none"/>
        <c:tickLblPos val="nextTo"/>
        <c:crosses val="autoZero"/>
        <c:crossBetween val="between"/>
        <c:majorUnit val="5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legend>
      <c:legendPos val="r"/>
      <c:layout/>
      <c:overlay val="0"/>
      <c:txPr>
        <a:bodyPr rot="0" vert="horz" wrap="none" lIns="0" tIns="0" rIns="0" bIns="0" anchor="ctr" anchorCtr="1"/>
        <a:p>
          <a:pPr algn="l">
            <a:defRPr sz="1300" b="0" i="0" u="none">
              <a:solidFill>
                <a:srgbClr val="000000"/>
              </a:solidFill>
              <a:latin typeface="Calibri"/>
              <a:ea typeface="맑은 고딕"/>
              <a:cs typeface="맑은 고딕"/>
              <a:sym typeface="맑은 고딕"/>
            </a:defRPr>
          </a:pPr>
          <a:endParaRPr/>
        </a:p>
      </c:txPr>
    </c:legend>
    <c:plotVisOnly val="0"/>
    <c:dispBlanksAs val="gap"/>
  </c:chart>
  <c:txPr>
    <a:bodyPr rot="0" vert="horz" wrap="none" lIns="0" tIns="0" rIns="0" bIns="0" anchor="ctr" anchorCtr="1"/>
    <a:p>
      <a:pPr algn="l">
        <a:defRPr sz="1000" b="0" i="0" u="none">
          <a:latin typeface="Calibri"/>
          <a:ea typeface="맑은 고딕"/>
          <a:cs typeface="맑은 고딕"/>
          <a:sym typeface="맑은 고딕"/>
        </a:defRPr>
      </a:pPr>
      <a:endParaRPr/>
    </a:p>
  </c:txPr>
  <c:extLst>
    <c:ext uri="CC8EB2C9-7E31-499d-B8F2-F6CE61031016">
      <ho:hncChartStyle xmlns:ho="http://schemas.haansoft.com/office/8.0" layoutIndex="-1" colorIndex="0" styleIndex="0"/>
    </c:ext>
  </c:extLst>
  <c:externalData r:id="rId1">
    <c:autoUpdate val="0"/>
  </c:externalData>
</c:chartSpace>
</file>

<file path=ppt/charts/chart2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resnet50</c:v>
                </c:pt>
              </c:strCache>
            </c:strRef>
          </c:tx>
          <c:spPr>
            <a:ln w="28575" cap="rnd" cmpd="sng" algn="ctr">
              <a:solidFill>
                <a:srgbClr val="ff0000"/>
              </a:solidFill>
              <a:prstDash val="solid"/>
              <a:round/>
              <a:headEnd w="med" len="med"/>
              <a:tailEnd w="med" len="med"/>
            </a:ln>
          </c:spPr>
          <c:marker>
            <c:symbol val="none"/>
            <c:size val="7"/>
          </c:marker>
          <c:val>
            <c:numRef>
              <c:f>Sheet1!$B$2:$B$51</c:f>
              <c:numCache>
                <c:formatCode>General</c:formatCode>
                <c:ptCount val="50"/>
                <c:pt idx="0">
                  <c:v>0.6466</c:v>
                </c:pt>
                <c:pt idx="1">
                  <c:v>0.4968</c:v>
                </c:pt>
                <c:pt idx="2">
                  <c:v>0.435</c:v>
                </c:pt>
                <c:pt idx="3">
                  <c:v>0.3416</c:v>
                </c:pt>
                <c:pt idx="4">
                  <c:v>0.3344</c:v>
                </c:pt>
                <c:pt idx="5">
                  <c:v>0.2864</c:v>
                </c:pt>
                <c:pt idx="6">
                  <c:v>0.2528</c:v>
                </c:pt>
                <c:pt idx="7">
                  <c:v>0.1532</c:v>
                </c:pt>
                <c:pt idx="8">
                  <c:v>0.1519</c:v>
                </c:pt>
                <c:pt idx="9">
                  <c:v>0.0947</c:v>
                </c:pt>
                <c:pt idx="10">
                  <c:v>0.083</c:v>
                </c:pt>
                <c:pt idx="11">
                  <c:v>0.0355</c:v>
                </c:pt>
                <c:pt idx="12">
                  <c:v>0.0157</c:v>
                </c:pt>
                <c:pt idx="13">
                  <c:v>0.013</c:v>
                </c:pt>
                <c:pt idx="14">
                  <c:v>0.0093</c:v>
                </c:pt>
                <c:pt idx="15">
                  <c:v>0.0052</c:v>
                </c:pt>
                <c:pt idx="16">
                  <c:v>0.0057</c:v>
                </c:pt>
                <c:pt idx="17">
                  <c:v>0.0077</c:v>
                </c:pt>
                <c:pt idx="18">
                  <c:v>0.0113</c:v>
                </c:pt>
                <c:pt idx="19">
                  <c:v>0.0413</c:v>
                </c:pt>
                <c:pt idx="20">
                  <c:v>0.0439</c:v>
                </c:pt>
                <c:pt idx="21">
                  <c:v>0.0761</c:v>
                </c:pt>
                <c:pt idx="22">
                  <c:v>0.0818</c:v>
                </c:pt>
                <c:pt idx="23">
                  <c:v>0.1653</c:v>
                </c:pt>
                <c:pt idx="24">
                  <c:v>0.1746</c:v>
                </c:pt>
                <c:pt idx="25">
                  <c:v>0.1724</c:v>
                </c:pt>
                <c:pt idx="26">
                  <c:v>0.082</c:v>
                </c:pt>
                <c:pt idx="27">
                  <c:v>0.0585</c:v>
                </c:pt>
                <c:pt idx="28">
                  <c:v>0.0258</c:v>
                </c:pt>
                <c:pt idx="29">
                  <c:v>0.027</c:v>
                </c:pt>
                <c:pt idx="30">
                  <c:v>0.0246</c:v>
                </c:pt>
                <c:pt idx="31">
                  <c:v>0.0105</c:v>
                </c:pt>
                <c:pt idx="32">
                  <c:v>0.014</c:v>
                </c:pt>
                <c:pt idx="33">
                  <c:v>0.0071</c:v>
                </c:pt>
                <c:pt idx="34">
                  <c:v>0.0048</c:v>
                </c:pt>
                <c:pt idx="35">
                  <c:v>0.055</c:v>
                </c:pt>
                <c:pt idx="36">
                  <c:v>0.0878</c:v>
                </c:pt>
                <c:pt idx="37">
                  <c:v>0.055</c:v>
                </c:pt>
                <c:pt idx="38">
                  <c:v>0.0277</c:v>
                </c:pt>
                <c:pt idx="39">
                  <c:v>0.0107</c:v>
                </c:pt>
                <c:pt idx="40">
                  <c:v>0.0106</c:v>
                </c:pt>
                <c:pt idx="41">
                  <c:v>0.0114</c:v>
                </c:pt>
                <c:pt idx="42">
                  <c:v>0.0076</c:v>
                </c:pt>
                <c:pt idx="43">
                  <c:v>0.0104</c:v>
                </c:pt>
                <c:pt idx="44">
                  <c:v>0.0069</c:v>
                </c:pt>
                <c:pt idx="45">
                  <c:v>0.0037</c:v>
                </c:pt>
                <c:pt idx="46">
                  <c:v>0.0086</c:v>
                </c:pt>
                <c:pt idx="47">
                  <c:v>0.0135</c:v>
                </c:pt>
                <c:pt idx="48">
                  <c:v>0.0036</c:v>
                </c:pt>
                <c:pt idx="49">
                  <c:v>0.0079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densenet121</c:v>
                </c:pt>
              </c:strCache>
            </c:strRef>
          </c:tx>
          <c:spPr>
            <a:ln w="28575" cap="rnd" cmpd="sng" algn="ctr">
              <a:solidFill>
                <a:srgbClr val="289b6e"/>
              </a:solidFill>
              <a:prstDash val="solid"/>
              <a:round/>
              <a:headEnd w="med" len="med"/>
              <a:tailEnd w="med" len="med"/>
            </a:ln>
          </c:spPr>
          <c:marker>
            <c:symbol val="none"/>
            <c:size val="7"/>
          </c:marker>
          <c:val>
            <c:numRef>
              <c:f>Sheet1!$C$2:$C$51</c:f>
              <c:numCache>
                <c:formatCode>General</c:formatCode>
                <c:ptCount val="50"/>
                <c:pt idx="0">
                  <c:v>0.6297</c:v>
                </c:pt>
                <c:pt idx="1">
                  <c:v>0.4456</c:v>
                </c:pt>
                <c:pt idx="2">
                  <c:v>0.3111</c:v>
                </c:pt>
                <c:pt idx="3">
                  <c:v>0.2334</c:v>
                </c:pt>
                <c:pt idx="4">
                  <c:v>0.1991</c:v>
                </c:pt>
                <c:pt idx="5">
                  <c:v>0.1235</c:v>
                </c:pt>
                <c:pt idx="6">
                  <c:v>0.1084</c:v>
                </c:pt>
                <c:pt idx="7">
                  <c:v>0.1252</c:v>
                </c:pt>
                <c:pt idx="8">
                  <c:v>0.0958</c:v>
                </c:pt>
                <c:pt idx="9">
                  <c:v>0.1203</c:v>
                </c:pt>
                <c:pt idx="10">
                  <c:v>0.0813</c:v>
                </c:pt>
                <c:pt idx="11">
                  <c:v>0.0618</c:v>
                </c:pt>
                <c:pt idx="12">
                  <c:v>0.0712</c:v>
                </c:pt>
                <c:pt idx="13">
                  <c:v>0.0471</c:v>
                </c:pt>
                <c:pt idx="14">
                  <c:v>0.0529</c:v>
                </c:pt>
                <c:pt idx="15">
                  <c:v>0.0597</c:v>
                </c:pt>
                <c:pt idx="16">
                  <c:v>0.0665</c:v>
                </c:pt>
                <c:pt idx="17">
                  <c:v>0.0938</c:v>
                </c:pt>
                <c:pt idx="18">
                  <c:v>0.0804</c:v>
                </c:pt>
                <c:pt idx="19">
                  <c:v>0.0584</c:v>
                </c:pt>
                <c:pt idx="20">
                  <c:v>0.0514</c:v>
                </c:pt>
                <c:pt idx="21">
                  <c:v>0.0421</c:v>
                </c:pt>
                <c:pt idx="22">
                  <c:v>0.0182</c:v>
                </c:pt>
                <c:pt idx="23">
                  <c:v>0.0371</c:v>
                </c:pt>
                <c:pt idx="24">
                  <c:v>0.0406</c:v>
                </c:pt>
                <c:pt idx="25">
                  <c:v>0.0451</c:v>
                </c:pt>
                <c:pt idx="26">
                  <c:v>0.0383</c:v>
                </c:pt>
                <c:pt idx="27">
                  <c:v>0.0282</c:v>
                </c:pt>
                <c:pt idx="28">
                  <c:v>0.0187</c:v>
                </c:pt>
                <c:pt idx="29">
                  <c:v>0.0122</c:v>
                </c:pt>
                <c:pt idx="30">
                  <c:v>0.0202</c:v>
                </c:pt>
                <c:pt idx="31">
                  <c:v>0.0058</c:v>
                </c:pt>
                <c:pt idx="32">
                  <c:v>0.0189</c:v>
                </c:pt>
                <c:pt idx="33">
                  <c:v>0.009</c:v>
                </c:pt>
                <c:pt idx="34">
                  <c:v>0.0111</c:v>
                </c:pt>
                <c:pt idx="35">
                  <c:v>0.0121</c:v>
                </c:pt>
                <c:pt idx="36">
                  <c:v>0.0079</c:v>
                </c:pt>
                <c:pt idx="37">
                  <c:v>0.0203</c:v>
                </c:pt>
                <c:pt idx="38">
                  <c:v>0.0064</c:v>
                </c:pt>
                <c:pt idx="39">
                  <c:v>0.0066</c:v>
                </c:pt>
                <c:pt idx="40">
                  <c:v>0.0096</c:v>
                </c:pt>
                <c:pt idx="41">
                  <c:v>0.0181</c:v>
                </c:pt>
                <c:pt idx="42">
                  <c:v>0.0111</c:v>
                </c:pt>
                <c:pt idx="43">
                  <c:v>0.0026</c:v>
                </c:pt>
                <c:pt idx="44">
                  <c:v>0.0037</c:v>
                </c:pt>
                <c:pt idx="45">
                  <c:v>0.0111</c:v>
                </c:pt>
                <c:pt idx="46">
                  <c:v>0.0028</c:v>
                </c:pt>
                <c:pt idx="47">
                  <c:v>0.0077</c:v>
                </c:pt>
                <c:pt idx="48">
                  <c:v>0.0061</c:v>
                </c:pt>
                <c:pt idx="49">
                  <c:v>0.0168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efficient_b0</c:v>
                </c:pt>
              </c:strCache>
            </c:strRef>
          </c:tx>
          <c:spPr>
            <a:ln w="28575" cap="rnd" cmpd="sng" algn="ctr">
              <a:solidFill>
                <a:srgbClr val="3057b9"/>
              </a:solidFill>
              <a:prstDash val="solid"/>
              <a:round/>
              <a:headEnd w="med" len="med"/>
              <a:tailEnd w="med" len="med"/>
            </a:ln>
          </c:spPr>
          <c:marker>
            <c:symbol val="none"/>
            <c:size val="7"/>
          </c:marker>
          <c:val>
            <c:numRef>
              <c:f>Sheet1!$D$2:$D$51</c:f>
              <c:numCache>
                <c:formatCode>General</c:formatCode>
                <c:ptCount val="50"/>
                <c:pt idx="0">
                  <c:v>0.6481</c:v>
                </c:pt>
                <c:pt idx="1">
                  <c:v>0.5159</c:v>
                </c:pt>
                <c:pt idx="2">
                  <c:v>0.3858</c:v>
                </c:pt>
                <c:pt idx="3">
                  <c:v>0.2584</c:v>
                </c:pt>
                <c:pt idx="4">
                  <c:v>0.2143</c:v>
                </c:pt>
                <c:pt idx="5">
                  <c:v>0.1384</c:v>
                </c:pt>
                <c:pt idx="6">
                  <c:v>0.1084</c:v>
                </c:pt>
                <c:pt idx="7">
                  <c:v>0.1414</c:v>
                </c:pt>
                <c:pt idx="8">
                  <c:v>0.0834</c:v>
                </c:pt>
                <c:pt idx="9">
                  <c:v>0.0687</c:v>
                </c:pt>
                <c:pt idx="10">
                  <c:v>0.0714</c:v>
                </c:pt>
                <c:pt idx="11">
                  <c:v>0.0731</c:v>
                </c:pt>
                <c:pt idx="12">
                  <c:v>0.0532</c:v>
                </c:pt>
                <c:pt idx="13">
                  <c:v>0.0794</c:v>
                </c:pt>
                <c:pt idx="14">
                  <c:v>0.0555</c:v>
                </c:pt>
                <c:pt idx="15">
                  <c:v>0.045</c:v>
                </c:pt>
                <c:pt idx="16">
                  <c:v>0.0592</c:v>
                </c:pt>
                <c:pt idx="17">
                  <c:v>0.0539</c:v>
                </c:pt>
                <c:pt idx="18">
                  <c:v>0.049</c:v>
                </c:pt>
                <c:pt idx="19">
                  <c:v>0.0396</c:v>
                </c:pt>
                <c:pt idx="20">
                  <c:v>0.0319</c:v>
                </c:pt>
                <c:pt idx="21">
                  <c:v>0.0183</c:v>
                </c:pt>
                <c:pt idx="22">
                  <c:v>0.0134</c:v>
                </c:pt>
                <c:pt idx="23">
                  <c:v>0.0337</c:v>
                </c:pt>
                <c:pt idx="24">
                  <c:v>0.0149</c:v>
                </c:pt>
                <c:pt idx="25">
                  <c:v>0.0262</c:v>
                </c:pt>
                <c:pt idx="26">
                  <c:v>0.0351</c:v>
                </c:pt>
                <c:pt idx="27">
                  <c:v>0.0413</c:v>
                </c:pt>
                <c:pt idx="28">
                  <c:v>0.0178</c:v>
                </c:pt>
                <c:pt idx="29">
                  <c:v>0.0148</c:v>
                </c:pt>
                <c:pt idx="30">
                  <c:v>0.0102</c:v>
                </c:pt>
                <c:pt idx="31">
                  <c:v>0.0117</c:v>
                </c:pt>
                <c:pt idx="32">
                  <c:v>0.0084</c:v>
                </c:pt>
                <c:pt idx="33">
                  <c:v>0.0103</c:v>
                </c:pt>
                <c:pt idx="34">
                  <c:v>0.0026</c:v>
                </c:pt>
                <c:pt idx="35">
                  <c:v>0.0292</c:v>
                </c:pt>
                <c:pt idx="36">
                  <c:v>0.0149</c:v>
                </c:pt>
                <c:pt idx="37">
                  <c:v>0.0169</c:v>
                </c:pt>
                <c:pt idx="38">
                  <c:v>0.0127</c:v>
                </c:pt>
                <c:pt idx="39">
                  <c:v>0.016</c:v>
                </c:pt>
                <c:pt idx="40">
                  <c:v>0.018</c:v>
                </c:pt>
                <c:pt idx="41">
                  <c:v>0.0104</c:v>
                </c:pt>
                <c:pt idx="42">
                  <c:v>0.0103</c:v>
                </c:pt>
                <c:pt idx="43">
                  <c:v>0.0076</c:v>
                </c:pt>
                <c:pt idx="44">
                  <c:v>0.0127</c:v>
                </c:pt>
                <c:pt idx="45">
                  <c:v>0.0095</c:v>
                </c:pt>
                <c:pt idx="46">
                  <c:v>0.0139</c:v>
                </c:pt>
                <c:pt idx="47">
                  <c:v>0.0266</c:v>
                </c:pt>
                <c:pt idx="48">
                  <c:v>0.0131</c:v>
                </c:pt>
                <c:pt idx="49">
                  <c:v>0.0093</c:v>
                </c:pt>
              </c:numCache>
            </c:numRef>
          </c:val>
          <c:smooth val="0"/>
        </c:ser>
        <c:marker val="0"/>
        <c:smooth val="0"/>
        <c:axId val="81105134"/>
        <c:axId val="459500361"/>
      </c:lineChart>
      <c:catAx>
        <c:axId val="81105134"/>
        <c:scaling>
          <c:orientation val="minMax"/>
        </c:scaling>
        <c:axPos val="b"/>
        <c:crossAx val="459500361"/>
        <c:delete val="0"/>
        <c:majorTickMark val="out"/>
        <c:minorTickMark val="none"/>
        <c:tickLblPos val="nextTo"/>
        <c:crosses val="autoZero"/>
        <c:auto val="1"/>
        <c:lblAlgn val="ctr"/>
        <c:lblOffset val="100"/>
        <c:tickMarkSkip val="1"/>
        <c:noMultiLvlLbl val="0"/>
      </c:catAx>
      <c:valAx>
        <c:axId val="459500361"/>
        <c:scaling>
          <c:orientation val="minMax"/>
        </c:scaling>
        <c:axPos val="l"/>
        <c:crossAx val="81105134"/>
        <c:delete val="0"/>
        <c:majorGridlines/>
        <c:numFmt formatCode="General" sourceLinked="1"/>
        <c:majorTickMark val="out"/>
        <c:minorTickMark val="none"/>
        <c:tickLblPos val="nextTo"/>
        <c:crosses val="autoZero"/>
        <c:crossBetween val="between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legend>
      <c:legendPos val="r"/>
      <c:layout/>
      <c:overlay val="0"/>
      <c:txPr>
        <a:bodyPr rot="0" vert="horz" wrap="none" lIns="0" tIns="0" rIns="0" bIns="0" anchor="ctr" anchorCtr="1"/>
        <a:p>
          <a:pPr algn="l">
            <a:defRPr sz="1300" b="0" i="0" u="none"/>
          </a:pPr>
          <a:endParaRPr/>
        </a:p>
      </c:txPr>
    </c:legend>
    <c:plotVisOnly val="0"/>
    <c:dispBlanksAs val="gap"/>
  </c:chart>
  <c:txPr>
    <a:bodyPr rot="0" vert="horz" wrap="none" lIns="0" tIns="0" rIns="0" bIns="0" anchor="ctr" anchorCtr="1"/>
    <a:p>
      <a:pPr algn="l">
        <a:defRPr sz="1000" b="0" i="0" u="none">
          <a:latin typeface="Calibri"/>
          <a:ea typeface="맑은 고딕"/>
          <a:cs typeface="맑은 고딕"/>
          <a:sym typeface="맑은 고딕"/>
        </a:defRPr>
      </a:pPr>
      <a:endParaRPr/>
    </a:p>
  </c:txPr>
  <c:extLst>
    <c:ext uri="CC8EB2C9-7E31-499d-B8F2-F6CE61031016">
      <ho:hncChartStyle xmlns:ho="http://schemas.haansoft.com/office/8.0" layoutIndex="-1" colorIndex="0" styleIndex="0"/>
    </c:ext>
  </c:extLst>
  <c:externalData r:id="rId1">
    <c:autoUpdate val="0"/>
  </c:externalData>
</c:chartSpace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6905978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2025-10-23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6905978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24F3D1CD-0EED-4DFA-AF12-8E73FDA834A4}" type="datetime1">
              <a:rPr lang="ko-KR" altLang="en-US"/>
              <a:pPr lvl="0">
                <a:defRPr/>
              </a:pPr>
              <a:t>2025-10-23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338DA34-01F3-43BF-904F-885132A129B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Slide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 idx="0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2025-10-14</a:t>
            </a:fld>
            <a:endParaRPr lang="ko-KR"/>
          </a:p>
        </p:txBody>
      </p:sp>
      <p:sp>
        <p:nvSpPr>
          <p:cNvPr id="8" name="Holder 6"/>
          <p:cNvSpPr>
            <a:spLocks noGrp="1"/>
          </p:cNvSpPr>
          <p:nvPr userDrawn="1">
            <p:ph type="sldNum" sz="quarter" idx="10"/>
          </p:nvPr>
        </p:nvSpPr>
        <p:spPr>
          <a:xfrm>
            <a:off x="11277600" y="6419409"/>
            <a:ext cx="297181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8100" indent="0" eaLnBrk="1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  <a:defRPr/>
            </a:pPr>
            <a:fld id="{81D60167-4931-47E6-BA6A-407CBD079E47}" type="slidenum">
              <a:rPr xmlns:mc="http://schemas.openxmlformats.org/markup-compatibility/2006" xmlns:hp="http://schemas.haansoft.com/office/presentation/8.0" kumimoji="0" sz="1500" b="1" i="0" u="none" strike="noStrike" kern="0" cap="none" spc="-25" normalizeH="0" baseline="0" mc:Ignorable="hp" hp:hslEmbossed="0">
                <a:solidFill>
                  <a:srgbClr val="888888"/>
                </a:solidFill>
              </a:rPr>
              <a:pPr marL="38100" indent="0" eaLnBrk="1" latinLnBrk="0" hangingPunct="1">
                <a:lnSpc>
                  <a:spcPct val="100000"/>
                </a:lnSpc>
                <a:spcBef>
                  <a:spcPts val="204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xmlns:mc="http://schemas.openxmlformats.org/markup-compatibility/2006" xmlns:hp="http://schemas.haansoft.com/office/presentation/8.0" kumimoji="0" sz="1500" b="1" i="0" u="none" strike="noStrike" kern="0" cap="none" spc="-25" normalizeH="0" baseline="0" mc:Ignorable="hp" hp:hslEmbossed="0">
              <a:solidFill>
                <a:srgbClr val="888888"/>
              </a:solidFill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and Content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2025-10-14</a:t>
            </a:fld>
            <a:endParaRPr lang="ko-KR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21080"/>
            <a:ext cx="11125200" cy="1477328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Arial"/>
              <a:buChar char="•"/>
              <a:defRPr sz="2200"/>
            </a:lvl1pPr>
            <a:lvl2pPr marL="742950" indent="-285750">
              <a:lnSpc>
                <a:spcPct val="100000"/>
              </a:lnSpc>
              <a:buFont typeface="Arial"/>
              <a:buChar char="•"/>
              <a:defRPr sz="2000"/>
            </a:lvl2pPr>
            <a:lvl3pPr marL="1200150" indent="-285750">
              <a:lnSpc>
                <a:spcPct val="100000"/>
              </a:lnSpc>
              <a:buFont typeface="Arial"/>
              <a:buChar char="•"/>
              <a:defRPr sz="1800"/>
            </a:lvl3pPr>
            <a:lvl4pPr marL="1657350" indent="-285750">
              <a:lnSpc>
                <a:spcPct val="100000"/>
              </a:lnSpc>
              <a:buFont typeface="Arial"/>
              <a:buChar char="•"/>
              <a:defRPr sz="1600"/>
            </a:lvl4pPr>
            <a:lvl5pPr marL="2114550" indent="-285750">
              <a:lnSpc>
                <a:spcPct val="100000"/>
              </a:lnSpc>
              <a:buFont typeface="Arial"/>
              <a:buChar char="•"/>
              <a:defRPr sz="1400"/>
            </a:lvl5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10" name="Holder 2"/>
          <p:cNvSpPr>
            <a:spLocks noGrp="1"/>
          </p:cNvSpPr>
          <p:nvPr userDrawn="1">
            <p:ph type="title" idx="12"/>
          </p:nvPr>
        </p:nvSpPr>
        <p:spPr>
          <a:xfrm>
            <a:off x="609700" y="457200"/>
            <a:ext cx="10134500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0" indent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400" b="1" i="0" u="none" strike="noStrike" kern="0" cap="none" spc="0" normalizeH="0" baseline="0" mc:Ignorable="hp" hp:hslEmbossed="0">
                <a:solidFill>
                  <a:srgbClr val="1f346b"/>
                </a:solidFill>
              </a:rPr>
              <a:t/>
            </a:r>
            <a:endParaRPr xmlns:mc="http://schemas.openxmlformats.org/markup-compatibility/2006" xmlns:hp="http://schemas.haansoft.com/office/presentation/8.0" kumimoji="0" lang="ko-KR" altLang="en-US" sz="2400" b="1" i="0" u="none" strike="noStrike" kern="0" cap="none" spc="0" normalizeH="0" baseline="0" mc:Ignorable="hp" hp:hslEmbossed="0">
              <a:solidFill>
                <a:srgbClr val="1f346b"/>
              </a:solidFill>
            </a:endParaRPr>
          </a:p>
        </p:txBody>
      </p:sp>
      <p:sp>
        <p:nvSpPr>
          <p:cNvPr id="11" name="Holder 6"/>
          <p:cNvSpPr>
            <a:spLocks noGrp="1"/>
          </p:cNvSpPr>
          <p:nvPr userDrawn="1">
            <p:ph type="sldNum" sz="quarter" idx="13"/>
          </p:nvPr>
        </p:nvSpPr>
        <p:spPr>
          <a:xfrm>
            <a:off x="11277600" y="6419409"/>
            <a:ext cx="297181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8100" indent="0" eaLnBrk="1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  <a:defRPr/>
            </a:pPr>
            <a:fld id="{81D60167-4931-47E6-BA6A-407CBD079E47}" type="slidenum">
              <a:rPr xmlns:mc="http://schemas.openxmlformats.org/markup-compatibility/2006" xmlns:hp="http://schemas.haansoft.com/office/presentation/8.0" kumimoji="0" sz="1500" b="1" i="0" u="none" strike="noStrike" kern="0" cap="none" spc="-25" normalizeH="0" baseline="0" mc:Ignorable="hp" hp:hslEmbossed="0">
                <a:solidFill>
                  <a:srgbClr val="888888"/>
                </a:solidFill>
              </a:rPr>
              <a:pPr marL="38100" indent="0" eaLnBrk="1" latinLnBrk="0" hangingPunct="1">
                <a:lnSpc>
                  <a:spcPct val="100000"/>
                </a:lnSpc>
                <a:spcBef>
                  <a:spcPts val="204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xmlns:mc="http://schemas.openxmlformats.org/markup-compatibility/2006" xmlns:hp="http://schemas.haansoft.com/office/presentation/8.0" kumimoji="0" sz="1500" b="1" i="0" u="none" strike="noStrike" kern="0" cap="none" spc="-25" normalizeH="0" baseline="0" mc:Ignorable="hp" hp:hslEmbossed="0">
              <a:solidFill>
                <a:srgbClr val="888888"/>
              </a:solidFill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wo Content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2025-10-14</a:t>
            </a:fld>
            <a:endParaRPr lang="ko-KR"/>
          </a:p>
        </p:txBody>
      </p:sp>
      <p:sp>
        <p:nvSpPr>
          <p:cNvPr id="9" name="Holder 2"/>
          <p:cNvSpPr>
            <a:spLocks noGrp="1"/>
          </p:cNvSpPr>
          <p:nvPr userDrawn="1">
            <p:ph type="title" idx="11"/>
          </p:nvPr>
        </p:nvSpPr>
        <p:spPr>
          <a:xfrm>
            <a:off x="609700" y="457200"/>
            <a:ext cx="10134500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0" indent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400" b="1" i="0" u="none" strike="noStrike" kern="0" cap="none" spc="0" normalizeH="0" baseline="0" mc:Ignorable="hp" hp:hslEmbossed="0">
                <a:solidFill>
                  <a:srgbClr val="1f346b"/>
                </a:solidFill>
              </a:rPr>
              <a:t/>
            </a:r>
            <a:endParaRPr xmlns:mc="http://schemas.openxmlformats.org/markup-compatibility/2006" xmlns:hp="http://schemas.haansoft.com/office/presentation/8.0" kumimoji="0" lang="ko-KR" altLang="en-US" sz="2400" b="1" i="0" u="none" strike="noStrike" kern="0" cap="none" spc="0" normalizeH="0" baseline="0" mc:Ignorable="hp" hp:hslEmbossed="0">
              <a:solidFill>
                <a:srgbClr val="1f346b"/>
              </a:solidFill>
            </a:endParaRPr>
          </a:p>
        </p:txBody>
      </p:sp>
      <p:sp>
        <p:nvSpPr>
          <p:cNvPr id="10" name="Holder 6"/>
          <p:cNvSpPr>
            <a:spLocks noGrp="1"/>
          </p:cNvSpPr>
          <p:nvPr userDrawn="1"/>
        </p:nvSpPr>
        <p:spPr>
          <a:xfrm>
            <a:off x="11277600" y="6419409"/>
            <a:ext cx="297181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38100" indent="0" eaLnBrk="1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  <a:defRPr/>
            </a:pPr>
            <a:fld id="{81D60167-4931-47E6-BA6A-407CBD079E47}" type="slidenum">
              <a:rPr xmlns:mc="http://schemas.openxmlformats.org/markup-compatibility/2006" xmlns:hp="http://schemas.haansoft.com/office/presentation/8.0" kumimoji="0" sz="1500" b="1" i="0" u="none" strike="noStrike" kern="0" cap="none" spc="-25" normalizeH="0" baseline="0" mc:Ignorable="hp" hp:hslEmbossed="0">
                <a:solidFill>
                  <a:srgbClr val="888888"/>
                </a:solidFill>
              </a:rPr>
              <a:pPr marL="38100" indent="0" eaLnBrk="1" latinLnBrk="0" hangingPunct="1">
                <a:lnSpc>
                  <a:spcPct val="100000"/>
                </a:lnSpc>
                <a:spcBef>
                  <a:spcPts val="204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xmlns:mc="http://schemas.openxmlformats.org/markup-compatibility/2006" xmlns:hp="http://schemas.haansoft.com/office/presentation/8.0" kumimoji="0" sz="1500" b="1" i="0" u="none" strike="noStrike" kern="0" cap="none" spc="-25" normalizeH="0" baseline="0" mc:Ignorable="hp" hp:hslEmbossed="0">
              <a:solidFill>
                <a:srgbClr val="888888"/>
              </a:solidFill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2025-10-14</a:t>
            </a:fld>
            <a:endParaRPr lang="ko-KR"/>
          </a:p>
        </p:txBody>
      </p:sp>
      <p:sp>
        <p:nvSpPr>
          <p:cNvPr id="7" name="Holder 2"/>
          <p:cNvSpPr>
            <a:spLocks noGrp="1"/>
          </p:cNvSpPr>
          <p:nvPr userDrawn="1">
            <p:ph type="title" idx="11"/>
          </p:nvPr>
        </p:nvSpPr>
        <p:spPr>
          <a:xfrm>
            <a:off x="609700" y="457200"/>
            <a:ext cx="10134500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0" indent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400" b="1" i="0" u="none" strike="noStrike" kern="0" cap="none" spc="0" normalizeH="0" baseline="0" mc:Ignorable="hp" hp:hslEmbossed="0">
                <a:solidFill>
                  <a:srgbClr val="1f346b"/>
                </a:solidFill>
              </a:rPr>
              <a:t/>
            </a:r>
            <a:endParaRPr xmlns:mc="http://schemas.openxmlformats.org/markup-compatibility/2006" xmlns:hp="http://schemas.haansoft.com/office/presentation/8.0" kumimoji="0" lang="ko-KR" altLang="en-US" sz="2400" b="1" i="0" u="none" strike="noStrike" kern="0" cap="none" spc="0" normalizeH="0" baseline="0" mc:Ignorable="hp" hp:hslEmbossed="0">
              <a:solidFill>
                <a:srgbClr val="1f346b"/>
              </a:solidFill>
            </a:endParaRPr>
          </a:p>
        </p:txBody>
      </p:sp>
      <p:sp>
        <p:nvSpPr>
          <p:cNvPr id="8" name="Holder 6"/>
          <p:cNvSpPr>
            <a:spLocks noGrp="1"/>
          </p:cNvSpPr>
          <p:nvPr userDrawn="1">
            <p:ph type="sldNum" sz="quarter" idx="12"/>
          </p:nvPr>
        </p:nvSpPr>
        <p:spPr>
          <a:xfrm>
            <a:off x="11277600" y="6419409"/>
            <a:ext cx="297181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8100" indent="0" eaLnBrk="1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  <a:defRPr/>
            </a:pPr>
            <a:fld id="{81D60167-4931-47E6-BA6A-407CBD079E47}" type="slidenum">
              <a:rPr xmlns:mc="http://schemas.openxmlformats.org/markup-compatibility/2006" xmlns:hp="http://schemas.haansoft.com/office/presentation/8.0" kumimoji="0" sz="1500" b="1" i="0" u="none" strike="noStrike" kern="0" cap="none" spc="-25" normalizeH="0" baseline="0" mc:Ignorable="hp" hp:hslEmbossed="0">
                <a:solidFill>
                  <a:srgbClr val="888888"/>
                </a:solidFill>
              </a:rPr>
              <a:pPr marL="38100" indent="0" eaLnBrk="1" latinLnBrk="0" hangingPunct="1">
                <a:lnSpc>
                  <a:spcPct val="100000"/>
                </a:lnSpc>
                <a:spcBef>
                  <a:spcPts val="204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xmlns:mc="http://schemas.openxmlformats.org/markup-compatibility/2006" xmlns:hp="http://schemas.haansoft.com/office/presentation/8.0" kumimoji="0" sz="1500" b="1" i="0" u="none" strike="noStrike" kern="0" cap="none" spc="-25" normalizeH="0" baseline="0" mc:Ignorable="hp" hp:hslEmbossed="0">
              <a:solidFill>
                <a:srgbClr val="888888"/>
              </a:solidFill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Blank" type="obj" preserve="1">
  <p:cSld name="Blank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2025-10-14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 userDrawn="1">
            <p:ph type="sldNum" sz="quarter" idx="10"/>
          </p:nvPr>
        </p:nvSpPr>
        <p:spPr>
          <a:xfrm>
            <a:off x="11277600" y="6419409"/>
            <a:ext cx="297181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8100" indent="0" eaLnBrk="1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  <a:defRPr/>
            </a:pPr>
            <a:fld id="{81D60167-4931-47E6-BA6A-407CBD079E47}" type="slidenum">
              <a:rPr xmlns:mc="http://schemas.openxmlformats.org/markup-compatibility/2006" xmlns:hp="http://schemas.haansoft.com/office/presentation/8.0" kumimoji="0" sz="1500" b="1" i="0" u="none" strike="noStrike" kern="0" cap="none" spc="-25" normalizeH="0" baseline="0" mc:Ignorable="hp" hp:hslEmbossed="0">
                <a:solidFill>
                  <a:srgbClr val="888888"/>
                </a:solidFill>
              </a:rPr>
              <a:pPr marL="38100" indent="0" eaLnBrk="1" latinLnBrk="0" hangingPunct="1">
                <a:lnSpc>
                  <a:spcPct val="100000"/>
                </a:lnSpc>
                <a:spcBef>
                  <a:spcPts val="204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xmlns:mc="http://schemas.openxmlformats.org/markup-compatibility/2006" xmlns:hp="http://schemas.haansoft.com/office/presentation/8.0" kumimoji="0" sz="1500" b="1" i="0" u="none" strike="noStrike" kern="0" cap="none" spc="-25" normalizeH="0" baseline="0" mc:Ignorable="hp" hp:hslEmbossed="0">
              <a:solidFill>
                <a:srgbClr val="888888"/>
              </a:solidFill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theme" Target="../theme/theme1.xml"  /><Relationship Id="rId7" Type="http://schemas.openxmlformats.org/officeDocument/2006/relationships/image" Target="../media/image1.png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Office Them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403205" cy="353695"/>
          </a:xfrm>
          <a:custGeom>
            <a:avLst/>
            <a:gdLst/>
            <a:rect l="l" t="t" r="r" b="b"/>
            <a:pathLst>
              <a:path w="10403205" h="353695">
                <a:moveTo>
                  <a:pt x="10402824" y="0"/>
                </a:moveTo>
                <a:lnTo>
                  <a:pt x="0" y="0"/>
                </a:lnTo>
                <a:lnTo>
                  <a:pt x="0" y="353568"/>
                </a:lnTo>
                <a:lnTo>
                  <a:pt x="10402824" y="353568"/>
                </a:lnTo>
                <a:lnTo>
                  <a:pt x="10402824" y="0"/>
                </a:lnTo>
                <a:close/>
              </a:path>
            </a:pathLst>
          </a:custGeom>
          <a:solidFill>
            <a:srgbClr val="1f346b"/>
          </a:solidFill>
        </p:spPr>
        <p:txBody>
          <a:bodyPr wrap="square" lIns="0" tIns="0" rIns="0" bIns="0"/>
          <a:lstStyle/>
          <a:p>
            <a:pPr lvl="0">
              <a:defRPr/>
            </a:pPr>
            <a:endParaRPr/>
          </a:p>
        </p:txBody>
      </p:sp>
      <p:pic>
        <p:nvPicPr>
          <p:cNvPr id="17" name="bg object 17"/>
          <p:cNvPicPr/>
          <p:nvPr/>
        </p:nvPicPr>
        <p:blipFill rotWithShape="1">
          <a:blip r:embed="rId7"/>
          <a:stretch>
            <a:fillRect/>
          </a:stretch>
        </p:blipFill>
        <p:spPr>
          <a:xfrm>
            <a:off x="105155" y="12745"/>
            <a:ext cx="1045403" cy="3240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 idx="0"/>
          </p:nvPr>
        </p:nvSpPr>
        <p:spPr>
          <a:xfrm>
            <a:off x="609700" y="457200"/>
            <a:ext cx="10134500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800" y="1248155"/>
            <a:ext cx="9982200" cy="275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0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2025-10-14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77600" y="6419409"/>
            <a:ext cx="297181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888888"/>
                </a:solidFill>
                <a:latin typeface="맑은 고딕"/>
                <a:ea typeface="맑은 고딕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18" name=""/>
          <p:cNvSpPr/>
          <p:nvPr userDrawn="1"/>
        </p:nvSpPr>
        <p:spPr>
          <a:xfrm>
            <a:off x="5029200" y="0"/>
            <a:ext cx="7162800" cy="351043"/>
          </a:xfrm>
          <a:prstGeom prst="rect">
            <a:avLst/>
          </a:prstGeom>
          <a:solidFill>
            <a:srgbClr val="1f346b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</p:sldLayoutIdLst>
  <p:transition xmlns:mc="http://schemas.openxmlformats.org/markup-compatibility/2006" xmlns:hp="http://schemas.haansoft.com/office/presentation/8.0" mc:Ignorable="hp" hp:hslDur="500"/>
  <p:hf hdr="0" ftr="0" dt="0"/>
  <p:txStyles>
    <p:titleStyle>
      <a:lvl1pPr>
        <a:defRPr sz="2800"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jpeg"  /><Relationship Id="rId3" Type="http://schemas.openxmlformats.org/officeDocument/2006/relationships/image" Target="../media/image3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chart" Target="../charts/chart1.xml"  /><Relationship Id="rId3" Type="http://schemas.openxmlformats.org/officeDocument/2006/relationships/chart" Target="../charts/char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11.jpe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0" y="342901"/>
            <a:ext cx="12192000" cy="6540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499363" y="2286000"/>
            <a:ext cx="11387837" cy="390525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>
                <a:solidFill>
                  <a:schemeClr val="lt1"/>
                </a:solidFill>
              </a:rPr>
              <a:t>Osteoporosis Prediction by Mammography</a:t>
            </a:r>
            <a:endParaRPr lang="en-US" altLang="ko-KR" sz="2500">
              <a:solidFill>
                <a:schemeClr val="lt1"/>
              </a:solidFill>
            </a:endParaRPr>
          </a:p>
        </p:txBody>
      </p:sp>
      <p:pic>
        <p:nvPicPr>
          <p:cNvPr id="4" name="object 4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0" y="5446776"/>
            <a:ext cx="4561332" cy="10043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chemeClr val="bg1">
                    <a:lumMod val="75000"/>
                  </a:schemeClr>
                </a:solidFill>
                <a:latin typeface="Arial"/>
                <a:ea typeface="+mj-ea"/>
                <a:cs typeface="Arial"/>
              </a:rPr>
              <a:t>2025.10.23</a:t>
            </a:r>
            <a:endParaRPr lang="en-US" altLang="ko-KR" sz="1600">
              <a:solidFill>
                <a:schemeClr val="bg1">
                  <a:lumMod val="75000"/>
                </a:schemeClr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>
                <a:solidFill>
                  <a:srgbClr val="ffffff"/>
                </a:solidFill>
                <a:latin typeface="Arial"/>
                <a:ea typeface="+mj-ea"/>
                <a:cs typeface="Arial"/>
              </a:rPr>
              <a:t>JangHoon Chun</a:t>
            </a:r>
            <a:endParaRPr lang="en-US" altLang="ko-KR" sz="1800" b="1">
              <a:solidFill>
                <a:srgbClr val="ffffff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7" name="object 5"/>
          <p:cNvSpPr txBox="1"/>
          <p:nvPr/>
        </p:nvSpPr>
        <p:spPr>
          <a:xfrm>
            <a:off x="417068" y="3978214"/>
            <a:ext cx="7139940" cy="1193861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Department of Medical Device Industry,</a:t>
            </a: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Gangnam Severance Hospital,</a:t>
            </a: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Yonsei University College of Medicine</a:t>
            </a: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aseline="25000"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609701" y="456043"/>
            <a:ext cx="9753499" cy="820307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ko-KR" altLang="en-US" b="1">
                <a:latin typeface="Arial"/>
                <a:ea typeface="+mj-ea"/>
                <a:cs typeface="Arial"/>
              </a:rPr>
              <a:t>현재 파악된 데이터 현황</a:t>
            </a:r>
            <a:br>
              <a:rPr lang="ko-KR" altLang="en-US" b="1">
                <a:latin typeface="Arial"/>
                <a:ea typeface="+mj-ea"/>
                <a:cs typeface="Arial"/>
              </a:rPr>
            </a:br>
            <a:endParaRPr lang="ko-KR" altLang="en-US" b="1">
              <a:latin typeface="Arial"/>
              <a:ea typeface="+mj-ea"/>
              <a:cs typeface="Arial"/>
            </a:endParaRPr>
          </a:p>
        </p:txBody>
      </p:sp>
      <p:sp>
        <p:nvSpPr>
          <p:cNvPr id="9" name="텍스트 개체 틀 7"/>
          <p:cNvSpPr txBox="1"/>
          <p:nvPr/>
        </p:nvSpPr>
        <p:spPr>
          <a:xfrm>
            <a:off x="647700" y="1371600"/>
            <a:ext cx="10896600" cy="4876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85750" indent="-285750">
              <a:lnSpc>
                <a:spcPct val="100000"/>
              </a:lnSpc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>
              <a:lnSpc>
                <a:spcPct val="100000"/>
              </a:lnSpc>
              <a:buFont typeface="Arial"/>
              <a:buChar char="•"/>
              <a:defRPr sz="2000">
                <a:latin typeface="+mn-lt"/>
                <a:ea typeface="+mn-ea"/>
                <a:cs typeface="+mn-cs"/>
              </a:defRPr>
            </a:lvl2pPr>
            <a:lvl3pPr marL="1200150" indent="-285750">
              <a:lnSpc>
                <a:spcPct val="100000"/>
              </a:lnSpc>
              <a:buFont typeface="Arial"/>
              <a:buChar char="•"/>
              <a:defRPr sz="1800">
                <a:latin typeface="+mn-lt"/>
                <a:ea typeface="+mn-ea"/>
                <a:cs typeface="+mn-cs"/>
              </a:defRPr>
            </a:lvl3pPr>
            <a:lvl4pPr marL="1657350" indent="-285750">
              <a:lnSpc>
                <a:spcPct val="100000"/>
              </a:lnSpc>
              <a:buFont typeface="Arial"/>
              <a:buChar char="•"/>
              <a:defRPr sz="1600">
                <a:latin typeface="+mn-lt"/>
                <a:ea typeface="+mn-ea"/>
                <a:cs typeface="+mn-cs"/>
              </a:defRPr>
            </a:lvl4pPr>
            <a:lvl5pPr marL="2114550" indent="-285750">
              <a:lnSpc>
                <a:spcPct val="100000"/>
              </a:lnSpc>
              <a:buFont typeface="Arial"/>
              <a:buChar char="•"/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200"/>
              </a:lnSpc>
              <a:defRPr/>
            </a:pPr>
            <a:endParaRPr lang="ko-KR" altLang="en-US" b="1">
              <a:latin typeface="Arial"/>
              <a:ea typeface="+mj-ea"/>
              <a:cs typeface="Arial"/>
            </a:endParaRPr>
          </a:p>
          <a:p>
            <a:pPr lvl="1">
              <a:lnSpc>
                <a:spcPts val="3200"/>
              </a:lnSpc>
              <a:defRPr/>
            </a:pPr>
            <a:endParaRPr lang="en-US" altLang="ko-KR" b="1">
              <a:latin typeface="Arial"/>
              <a:ea typeface="+mj-ea"/>
              <a:cs typeface="Arial"/>
            </a:endParaRPr>
          </a:p>
          <a:p>
            <a:pPr lvl="1">
              <a:lnSpc>
                <a:spcPts val="3200"/>
              </a:lnSpc>
              <a:defRPr/>
            </a:pPr>
            <a:endParaRPr lang="en-US" altLang="ko-KR" b="1">
              <a:latin typeface="Arial"/>
              <a:ea typeface="+mj-ea"/>
              <a:cs typeface="Arial"/>
            </a:endParaRPr>
          </a:p>
          <a:p>
            <a:pPr marL="457200" lvl="1" indent="0">
              <a:lnSpc>
                <a:spcPts val="3200"/>
              </a:lnSpc>
              <a:buNone/>
              <a:defRPr/>
            </a:pPr>
            <a:endParaRPr lang="en-US" altLang="ko-KR" b="1">
              <a:latin typeface="Arial"/>
              <a:ea typeface="+mj-ea"/>
              <a:cs typeface="Arial"/>
            </a:endParaRPr>
          </a:p>
          <a:p>
            <a:pPr lvl="1">
              <a:lnSpc>
                <a:spcPts val="3200"/>
              </a:lnSpc>
              <a:defRPr/>
            </a:pPr>
            <a:r>
              <a:rPr lang="en-US" altLang="ko-KR">
                <a:latin typeface="Arial"/>
                <a:ea typeface="+mj-ea"/>
                <a:cs typeface="Arial"/>
              </a:rPr>
              <a:t>DICOM </a:t>
            </a:r>
            <a:r>
              <a:rPr lang="ko-KR" altLang="en-US">
                <a:latin typeface="Arial"/>
                <a:ea typeface="+mj-ea"/>
                <a:cs typeface="Arial"/>
              </a:rPr>
              <a:t>파일의 수 </a:t>
            </a:r>
            <a:r>
              <a:rPr lang="en-US" altLang="ko-KR">
                <a:latin typeface="Arial"/>
                <a:ea typeface="+mj-ea"/>
                <a:cs typeface="Arial"/>
              </a:rPr>
              <a:t>:</a:t>
            </a:r>
            <a:r>
              <a:rPr lang="ko-KR" altLang="en-US">
                <a:latin typeface="Arial"/>
                <a:ea typeface="+mj-ea"/>
                <a:cs typeface="Arial"/>
              </a:rPr>
              <a:t> </a:t>
            </a:r>
            <a:r>
              <a:rPr lang="en-US" altLang="en-US">
                <a:latin typeface="Arial"/>
                <a:ea typeface="+mj-ea"/>
                <a:cs typeface="Arial"/>
              </a:rPr>
              <a:t>216,075</a:t>
            </a:r>
            <a:r>
              <a:rPr lang="ko-KR" altLang="en-US">
                <a:latin typeface="Arial"/>
                <a:ea typeface="+mj-ea"/>
                <a:cs typeface="Arial"/>
              </a:rPr>
              <a:t> </a:t>
            </a:r>
            <a:r>
              <a:rPr lang="en-US" altLang="ko-KR">
                <a:latin typeface="Arial"/>
                <a:ea typeface="+mj-ea"/>
                <a:cs typeface="Arial"/>
              </a:rPr>
              <a:t>(Segmentation JPG </a:t>
            </a:r>
            <a:r>
              <a:rPr lang="ko-KR" altLang="en-US">
                <a:latin typeface="Arial"/>
                <a:ea typeface="+mj-ea"/>
                <a:cs typeface="Arial"/>
              </a:rPr>
              <a:t>파일 미포함 </a:t>
            </a:r>
            <a:r>
              <a:rPr lang="en-US" altLang="ko-KR">
                <a:latin typeface="Arial"/>
                <a:ea typeface="+mj-ea"/>
                <a:cs typeface="Arial"/>
              </a:rPr>
              <a:t>40,898)</a:t>
            </a:r>
            <a:endParaRPr lang="en-US" altLang="ko-KR">
              <a:latin typeface="Arial"/>
              <a:ea typeface="+mj-ea"/>
              <a:cs typeface="Arial"/>
            </a:endParaRPr>
          </a:p>
          <a:p>
            <a:pPr lvl="2">
              <a:lnSpc>
                <a:spcPts val="3200"/>
              </a:lnSpc>
              <a:defRPr/>
            </a:pPr>
            <a:r>
              <a:rPr lang="en-US" altLang="ko-KR">
                <a:latin typeface="Arial"/>
                <a:ea typeface="+mj-ea"/>
                <a:cs typeface="Arial"/>
              </a:rPr>
              <a:t>Segmentation JPG</a:t>
            </a:r>
            <a:r>
              <a:rPr lang="ko-KR" altLang="en-US">
                <a:latin typeface="Arial"/>
                <a:ea typeface="+mj-ea"/>
                <a:cs typeface="Arial"/>
              </a:rPr>
              <a:t> 파일 미포함 데이터엔 대다수가 </a:t>
            </a:r>
            <a:r>
              <a:rPr lang="en-US" altLang="ko-KR">
                <a:latin typeface="Arial"/>
                <a:ea typeface="+mj-ea"/>
                <a:cs typeface="Arial"/>
              </a:rPr>
              <a:t>4</a:t>
            </a:r>
            <a:r>
              <a:rPr lang="ko-KR" altLang="en-US">
                <a:latin typeface="Arial"/>
                <a:ea typeface="+mj-ea"/>
                <a:cs typeface="Arial"/>
              </a:rPr>
              <a:t>장의 </a:t>
            </a:r>
            <a:r>
              <a:rPr lang="en-US" altLang="ko-KR">
                <a:latin typeface="Arial"/>
                <a:ea typeface="+mj-ea"/>
                <a:cs typeface="Arial"/>
              </a:rPr>
              <a:t>Mammography</a:t>
            </a:r>
            <a:r>
              <a:rPr lang="ko-KR" altLang="en-US">
                <a:latin typeface="Arial"/>
                <a:ea typeface="+mj-ea"/>
                <a:cs typeface="Arial"/>
              </a:rPr>
              <a:t>의 합본이지만</a:t>
            </a:r>
            <a:r>
              <a:rPr lang="en-US" altLang="ko-KR">
                <a:latin typeface="Arial"/>
                <a:ea typeface="+mj-ea"/>
                <a:cs typeface="Arial"/>
              </a:rPr>
              <a:t>,</a:t>
            </a:r>
            <a:r>
              <a:rPr lang="ko-KR" altLang="en-US">
                <a:latin typeface="Arial"/>
                <a:ea typeface="+mj-ea"/>
                <a:cs typeface="Arial"/>
              </a:rPr>
              <a:t> 그렇지 않은 경우도 일부 존재</a:t>
            </a:r>
            <a:endParaRPr lang="ko-KR" altLang="en-US">
              <a:latin typeface="Arial"/>
              <a:ea typeface="+mj-ea"/>
              <a:cs typeface="Arial"/>
            </a:endParaRPr>
          </a:p>
          <a:p>
            <a:pPr lvl="1">
              <a:lnSpc>
                <a:spcPts val="3200"/>
              </a:lnSpc>
              <a:defRPr/>
            </a:pPr>
            <a:r>
              <a:rPr lang="en-US" altLang="ko-KR">
                <a:latin typeface="Arial"/>
                <a:ea typeface="+mj-ea"/>
                <a:cs typeface="Arial"/>
              </a:rPr>
              <a:t>Density.csv</a:t>
            </a:r>
            <a:r>
              <a:rPr lang="ko-KR" altLang="en-US">
                <a:latin typeface="Arial"/>
                <a:ea typeface="+mj-ea"/>
                <a:cs typeface="Arial"/>
              </a:rPr>
              <a:t>의 행의 수 </a:t>
            </a:r>
            <a:r>
              <a:rPr lang="en-US" altLang="ko-KR">
                <a:latin typeface="Arial"/>
                <a:ea typeface="+mj-ea"/>
                <a:cs typeface="Arial"/>
              </a:rPr>
              <a:t>:</a:t>
            </a:r>
            <a:r>
              <a:rPr lang="ko-KR" altLang="en-US">
                <a:latin typeface="Arial"/>
                <a:ea typeface="+mj-ea"/>
                <a:cs typeface="Arial"/>
              </a:rPr>
              <a:t> </a:t>
            </a:r>
            <a:r>
              <a:rPr lang="en-US" altLang="ko-KR">
                <a:latin typeface="Arial"/>
                <a:ea typeface="+mj-ea"/>
                <a:cs typeface="Arial"/>
              </a:rPr>
              <a:t>211,952 (File Analyzed 211,121 + File Skipped 831)</a:t>
            </a:r>
            <a:endParaRPr lang="en-US" altLang="ko-KR">
              <a:latin typeface="Arial"/>
              <a:ea typeface="+mj-ea"/>
              <a:cs typeface="Arial"/>
            </a:endParaRPr>
          </a:p>
          <a:p>
            <a:pPr lvl="1">
              <a:lnSpc>
                <a:spcPts val="3200"/>
              </a:lnSpc>
              <a:defRPr/>
            </a:pPr>
            <a:r>
              <a:rPr lang="en-US" altLang="ko-KR">
                <a:latin typeface="Arial"/>
                <a:ea typeface="+mj-ea"/>
                <a:cs typeface="Arial"/>
              </a:rPr>
              <a:t>Segmentation JPG</a:t>
            </a:r>
            <a:r>
              <a:rPr lang="ko-KR" altLang="en-US">
                <a:latin typeface="Arial"/>
                <a:ea typeface="+mj-ea"/>
                <a:cs typeface="Arial"/>
              </a:rPr>
              <a:t> 파일을 </a:t>
            </a:r>
            <a:r>
              <a:rPr lang="en-US" altLang="ko-KR">
                <a:latin typeface="Arial"/>
                <a:ea typeface="+mj-ea"/>
                <a:cs typeface="Arial"/>
              </a:rPr>
              <a:t>BMD</a:t>
            </a:r>
            <a:r>
              <a:rPr lang="ko-KR" altLang="en-US">
                <a:latin typeface="Arial"/>
                <a:ea typeface="+mj-ea"/>
                <a:cs typeface="Arial"/>
              </a:rPr>
              <a:t> </a:t>
            </a:r>
            <a:r>
              <a:rPr lang="en-US" altLang="ko-KR">
                <a:latin typeface="Arial"/>
                <a:ea typeface="+mj-ea"/>
                <a:cs typeface="Arial"/>
              </a:rPr>
              <a:t>[0/1]</a:t>
            </a:r>
            <a:r>
              <a:rPr lang="ko-KR" altLang="en-US">
                <a:latin typeface="Arial"/>
                <a:ea typeface="+mj-ea"/>
                <a:cs typeface="Arial"/>
              </a:rPr>
              <a:t> 기준으로 분류한 결과</a:t>
            </a:r>
            <a:endParaRPr lang="ko-KR" altLang="en-US" b="1">
              <a:latin typeface="Arial"/>
              <a:ea typeface="+mj-ea"/>
              <a:cs typeface="Arial"/>
            </a:endParaRPr>
          </a:p>
          <a:p>
            <a:pPr lvl="2">
              <a:lnSpc>
                <a:spcPts val="3200"/>
              </a:lnSpc>
              <a:defRPr/>
            </a:pPr>
            <a:r>
              <a:rPr lang="en-US" altLang="ko-KR" b="1">
                <a:latin typeface="Arial"/>
                <a:ea typeface="+mj-ea"/>
                <a:cs typeface="Arial"/>
              </a:rPr>
              <a:t>BMD 0</a:t>
            </a:r>
            <a:r>
              <a:rPr lang="ko-KR" altLang="en-US" b="1">
                <a:latin typeface="Arial"/>
                <a:ea typeface="+mj-ea"/>
                <a:cs typeface="Arial"/>
              </a:rPr>
              <a:t> 클래스 </a:t>
            </a:r>
            <a:r>
              <a:rPr lang="en-US" altLang="ko-KR" b="1">
                <a:latin typeface="Arial"/>
                <a:ea typeface="+mj-ea"/>
                <a:cs typeface="Arial"/>
              </a:rPr>
              <a:t>:</a:t>
            </a:r>
            <a:r>
              <a:rPr lang="ko-KR" altLang="en-US" b="1">
                <a:latin typeface="Arial"/>
                <a:ea typeface="+mj-ea"/>
                <a:cs typeface="Arial"/>
              </a:rPr>
              <a:t> 환자 </a:t>
            </a:r>
            <a:r>
              <a:rPr lang="en-US" altLang="ko-KR" b="1">
                <a:latin typeface="Arial"/>
                <a:ea typeface="+mj-ea"/>
                <a:cs typeface="Arial"/>
              </a:rPr>
              <a:t>17,426 |</a:t>
            </a:r>
            <a:r>
              <a:rPr lang="ko-KR" altLang="en-US" b="1">
                <a:latin typeface="Arial"/>
                <a:ea typeface="+mj-ea"/>
                <a:cs typeface="Arial"/>
              </a:rPr>
              <a:t> </a:t>
            </a:r>
            <a:r>
              <a:rPr lang="en-US" altLang="ko-KR" b="1">
                <a:latin typeface="Arial"/>
                <a:ea typeface="+mj-ea"/>
                <a:cs typeface="Arial"/>
              </a:rPr>
              <a:t>JPG 112,956</a:t>
            </a:r>
            <a:endParaRPr lang="en-US" altLang="ko-KR" b="1">
              <a:latin typeface="Arial"/>
              <a:ea typeface="+mj-ea"/>
              <a:cs typeface="Arial"/>
            </a:endParaRPr>
          </a:p>
          <a:p>
            <a:pPr lvl="2">
              <a:lnSpc>
                <a:spcPts val="3200"/>
              </a:lnSpc>
              <a:defRPr/>
            </a:pPr>
            <a:r>
              <a:rPr lang="en-US" altLang="ko-KR" b="1">
                <a:latin typeface="Arial"/>
                <a:ea typeface="+mj-ea"/>
                <a:cs typeface="Arial"/>
              </a:rPr>
              <a:t>BMD 1 </a:t>
            </a:r>
            <a:r>
              <a:rPr lang="ko-KR" altLang="en-US" b="1">
                <a:latin typeface="Arial"/>
                <a:ea typeface="+mj-ea"/>
                <a:cs typeface="Arial"/>
              </a:rPr>
              <a:t>클래스 </a:t>
            </a:r>
            <a:r>
              <a:rPr lang="en-US" altLang="ko-KR" b="1">
                <a:latin typeface="Arial"/>
                <a:ea typeface="+mj-ea"/>
                <a:cs typeface="Arial"/>
              </a:rPr>
              <a:t>:</a:t>
            </a:r>
            <a:r>
              <a:rPr lang="ko-KR" altLang="en-US" b="1">
                <a:latin typeface="Arial"/>
                <a:ea typeface="+mj-ea"/>
                <a:cs typeface="Arial"/>
              </a:rPr>
              <a:t> 환자 </a:t>
            </a:r>
            <a:r>
              <a:rPr lang="en-US" altLang="ko-KR" b="1">
                <a:latin typeface="Arial"/>
                <a:ea typeface="+mj-ea"/>
                <a:cs typeface="Arial"/>
              </a:rPr>
              <a:t>9,721</a:t>
            </a:r>
            <a:r>
              <a:rPr lang="ko-KR" altLang="en-US" b="1">
                <a:latin typeface="Arial"/>
                <a:ea typeface="+mj-ea"/>
                <a:cs typeface="Arial"/>
              </a:rPr>
              <a:t> </a:t>
            </a:r>
            <a:r>
              <a:rPr lang="en-US" altLang="ko-KR" b="1">
                <a:latin typeface="Arial"/>
                <a:ea typeface="+mj-ea"/>
                <a:cs typeface="Arial"/>
              </a:rPr>
              <a:t>  |</a:t>
            </a:r>
            <a:r>
              <a:rPr lang="ko-KR" altLang="en-US" b="1">
                <a:latin typeface="Arial"/>
                <a:ea typeface="+mj-ea"/>
                <a:cs typeface="Arial"/>
              </a:rPr>
              <a:t> </a:t>
            </a:r>
            <a:r>
              <a:rPr lang="en-US" altLang="ko-KR" b="1">
                <a:latin typeface="Arial"/>
                <a:ea typeface="+mj-ea"/>
                <a:cs typeface="Arial"/>
              </a:rPr>
              <a:t>JPG 62,221</a:t>
            </a:r>
            <a:endParaRPr lang="en-US" altLang="ko-KR" b="1">
              <a:latin typeface="Arial"/>
              <a:ea typeface="+mj-ea"/>
              <a:cs typeface="Arial"/>
            </a:endParaRPr>
          </a:p>
          <a:p>
            <a:pPr lvl="0">
              <a:lnSpc>
                <a:spcPts val="3200"/>
              </a:lnSpc>
              <a:defRPr/>
            </a:pPr>
            <a:endParaRPr lang="en-US" altLang="ko-KR" b="1">
              <a:latin typeface="Arial"/>
              <a:ea typeface="+mj-ea"/>
              <a:cs typeface="Arial"/>
            </a:endParaRPr>
          </a:p>
        </p:txBody>
      </p:sp>
      <p:sp>
        <p:nvSpPr>
          <p:cNvPr id="10" name="Holder 6"/>
          <p:cNvSpPr>
            <a:spLocks noGrp="1"/>
          </p:cNvSpPr>
          <p:nvPr>
            <p:ph type="sldNum" sz="quarter" idx="4294967295"/>
          </p:nvPr>
        </p:nvSpPr>
        <p:spPr>
          <a:xfrm>
            <a:off x="11056618" y="6419409"/>
            <a:ext cx="297181" cy="228600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2</a:t>
            </a:fld>
            <a:endParaRPr lang="en-US" spc="-25"/>
          </a:p>
        </p:txBody>
      </p:sp>
      <p:graphicFrame>
        <p:nvGraphicFramePr>
          <p:cNvPr id="11" name=""/>
          <p:cNvGraphicFramePr>
            <a:graphicFrameLocks noGrp="1"/>
          </p:cNvGraphicFramePr>
          <p:nvPr/>
        </p:nvGraphicFramePr>
        <p:xfrm>
          <a:off x="2150938" y="1437004"/>
          <a:ext cx="7890122" cy="1382395"/>
        </p:xfrm>
        <a:graphic>
          <a:graphicData uri="http://schemas.openxmlformats.org/drawingml/2006/table">
            <a:tbl>
              <a:tblPr firstRow="1" bandRow="1">
                <a:tableStyleId>{0A19EC50-B813-4FCE-9F78-2F8D5DE6B856}</a:tableStyleId>
              </a:tblPr>
              <a:tblGrid>
                <a:gridCol w="1397000"/>
                <a:gridCol w="2164080"/>
                <a:gridCol w="2164521"/>
                <a:gridCol w="2164521"/>
              </a:tblGrid>
              <a:tr h="116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DICOM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JPG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Density.csv</a:t>
                      </a:r>
                      <a:endParaRPr lang="en-US" altLang="ko-KR"/>
                    </a:p>
                  </a:txBody>
                  <a:tcPr marL="91440" marR="91440" anchor="ctr"/>
                </a:tc>
              </a:tr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데이터 수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216,075</a:t>
                      </a:r>
                      <a:endParaRPr lang="en-US" altLang="ko-KR"/>
                    </a:p>
                    <a:p>
                      <a:pPr algn="ctr">
                        <a:defRPr/>
                      </a:pPr>
                      <a:r>
                        <a:rPr lang="en-US" altLang="ko-KR"/>
                        <a:t>(175,177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+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40,898)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175,177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211,952</a:t>
                      </a:r>
                      <a:endParaRPr lang="en-US" altLang="ko-KR"/>
                    </a:p>
                    <a:p>
                      <a:pPr algn="ctr">
                        <a:defRPr/>
                      </a:pPr>
                      <a:r>
                        <a:rPr lang="en-US" altLang="ko-KR"/>
                        <a:t>(211,121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+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831)</a:t>
                      </a:r>
                      <a:endParaRPr lang="en-US" altLang="ko-KR"/>
                    </a:p>
                  </a:txBody>
                  <a:tcPr marL="91440" marR="91440" anchor="ctr"/>
                </a:tc>
              </a:tr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cohort </a:t>
                      </a:r>
                      <a:r>
                        <a:rPr lang="ko-KR" altLang="en-US"/>
                        <a:t>수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24,028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24,028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21,776</a:t>
                      </a:r>
                      <a:endParaRPr lang="en-US" altLang="ko-KR"/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609701" y="456043"/>
            <a:ext cx="9753499" cy="420257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 b="1">
                <a:latin typeface="Arial"/>
                <a:ea typeface="+mj-ea"/>
                <a:cs typeface="Arial"/>
              </a:rPr>
              <a:t>Model </a:t>
            </a:r>
            <a:r>
              <a:rPr lang="ko-KR" altLang="en-US" b="1">
                <a:latin typeface="Arial"/>
                <a:ea typeface="+mj-ea"/>
                <a:cs typeface="Arial"/>
              </a:rPr>
              <a:t>비교</a:t>
            </a:r>
            <a:endParaRPr lang="ko-KR" altLang="en-US" b="1">
              <a:latin typeface="Arial"/>
              <a:ea typeface="+mj-ea"/>
              <a:cs typeface="Arial"/>
            </a:endParaRPr>
          </a:p>
        </p:txBody>
      </p:sp>
      <p:sp>
        <p:nvSpPr>
          <p:cNvPr id="10" name="Holder 6"/>
          <p:cNvSpPr>
            <a:spLocks noGrp="1"/>
          </p:cNvSpPr>
          <p:nvPr>
            <p:ph type="sldNum" sz="quarter" idx="4294967295"/>
          </p:nvPr>
        </p:nvSpPr>
        <p:spPr>
          <a:xfrm>
            <a:off x="11056618" y="6419409"/>
            <a:ext cx="297181" cy="228600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3</a:t>
            </a:fld>
            <a:endParaRPr lang="en-US" spc="-25"/>
          </a:p>
        </p:txBody>
      </p:sp>
      <p:graphicFrame>
        <p:nvGraphicFramePr>
          <p:cNvPr id="11" name=""/>
          <p:cNvGraphicFramePr>
            <a:graphicFrameLocks noGrp="1"/>
          </p:cNvGraphicFramePr>
          <p:nvPr/>
        </p:nvGraphicFramePr>
        <p:xfrm>
          <a:off x="1600200" y="1183640"/>
          <a:ext cx="8991600" cy="1483360"/>
        </p:xfrm>
        <a:graphic>
          <a:graphicData uri="http://schemas.openxmlformats.org/drawingml/2006/table">
            <a:tbl>
              <a:tblPr firstRow="1" bandRow="1">
                <a:tableStyleId>{0A19EC50-B813-4FCE-9F78-2F8D5DE6B856}</a:tableStyleId>
              </a:tblPr>
              <a:tblGrid>
                <a:gridCol w="2998059"/>
                <a:gridCol w="3690071"/>
                <a:gridCol w="2303469"/>
              </a:tblGrid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Type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Input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Label</a:t>
                      </a:r>
                      <a:endParaRPr lang="en-US" altLang="ko-KR"/>
                    </a:p>
                  </a:txBody>
                  <a:tcPr marL="91440" marR="91440" anchor="ctr"/>
                </a:tc>
              </a:tr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Image Classification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Segmentation JPG</a:t>
                      </a:r>
                      <a:endParaRPr lang="en-US" altLang="ko-KR"/>
                    </a:p>
                  </a:txBody>
                  <a:tcPr marL="91440" marR="91440" anchor="ctr"/>
                </a:tc>
                <a:tc row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BMD [ 0 / 1 ]</a:t>
                      </a:r>
                      <a:endParaRPr lang="en-US" altLang="ko-KR"/>
                    </a:p>
                  </a:txBody>
                  <a:tcPr marL="91440" marR="91440" anchor="ctr"/>
                </a:tc>
              </a:tr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clinical model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age</a:t>
                      </a:r>
                      <a:r>
                        <a:rPr lang="en-US" altLang="ko-KR"/>
                        <a:t>,</a:t>
                      </a:r>
                      <a:r>
                        <a:rPr lang="ko-KR" altLang="en-US"/>
                        <a:t> density</a:t>
                      </a:r>
                      <a:r>
                        <a:rPr lang="en-US" altLang="ko-KR"/>
                        <a:t> features</a:t>
                      </a:r>
                      <a:endParaRPr lang="en-US" altLang="ko-KR"/>
                    </a:p>
                  </a:txBody>
                  <a:tcPr marL="91440" marR="91440" anchor="ctr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image + clinical model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JPG + </a:t>
                      </a:r>
                      <a:r>
                        <a:rPr lang="en-US" altLang="ko-KR"/>
                        <a:t>features</a:t>
                      </a:r>
                      <a:endParaRPr lang="en-US" altLang="ko-KR"/>
                    </a:p>
                  </a:txBody>
                  <a:tcPr marL="91440" marR="91440" anchor="ctr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</a:tbl>
          </a:graphicData>
        </a:graphic>
      </p:graphicFrame>
      <p:pic>
        <p:nvPicPr>
          <p:cNvPr id="2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78061" y="2982985"/>
            <a:ext cx="6835877" cy="3494014"/>
          </a:xfrm>
          <a:prstGeom prst="rect">
            <a:avLst/>
          </a:prstGeom>
          <a:ln w="88900" cap="sq">
            <a:solidFill>
              <a:schemeClr val="accent1"/>
            </a:solidFill>
            <a:miter/>
          </a:ln>
          <a:effectLst>
            <a:outerShdw blurRad="127000" dist="127000" dir="27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609701" y="456043"/>
            <a:ext cx="9753499" cy="420257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 b="1">
                <a:latin typeface="Arial"/>
                <a:ea typeface="+mj-ea"/>
                <a:cs typeface="Arial"/>
              </a:rPr>
              <a:t>Model </a:t>
            </a:r>
            <a:r>
              <a:rPr lang="ko-KR" altLang="en-US" b="1">
                <a:latin typeface="Arial"/>
                <a:ea typeface="+mj-ea"/>
                <a:cs typeface="Arial"/>
              </a:rPr>
              <a:t>비교</a:t>
            </a:r>
            <a:endParaRPr lang="ko-KR" altLang="en-US" b="1">
              <a:latin typeface="Arial"/>
              <a:ea typeface="+mj-ea"/>
              <a:cs typeface="Arial"/>
            </a:endParaRPr>
          </a:p>
        </p:txBody>
      </p:sp>
      <p:sp>
        <p:nvSpPr>
          <p:cNvPr id="10" name="Holder 6"/>
          <p:cNvSpPr>
            <a:spLocks noGrp="1"/>
          </p:cNvSpPr>
          <p:nvPr>
            <p:ph type="sldNum" sz="quarter" idx="4294967295"/>
          </p:nvPr>
        </p:nvSpPr>
        <p:spPr>
          <a:xfrm>
            <a:off x="11056618" y="6419409"/>
            <a:ext cx="297181" cy="228600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4</a:t>
            </a:fld>
            <a:endParaRPr lang="en-US" spc="-25"/>
          </a:p>
        </p:txBody>
      </p:sp>
      <p:graphicFrame>
        <p:nvGraphicFramePr>
          <p:cNvPr id="11" name=""/>
          <p:cNvGraphicFramePr>
            <a:graphicFrameLocks noGrp="1"/>
          </p:cNvGraphicFramePr>
          <p:nvPr/>
        </p:nvGraphicFramePr>
        <p:xfrm>
          <a:off x="1600200" y="1183640"/>
          <a:ext cx="8991600" cy="1483360"/>
        </p:xfrm>
        <a:graphic>
          <a:graphicData uri="http://schemas.openxmlformats.org/drawingml/2006/table">
            <a:tbl>
              <a:tblPr firstRow="1" bandRow="1">
                <a:tableStyleId>{0A19EC50-B813-4FCE-9F78-2F8D5DE6B856}</a:tableStyleId>
              </a:tblPr>
              <a:tblGrid>
                <a:gridCol w="2998059"/>
                <a:gridCol w="3690071"/>
                <a:gridCol w="2303469"/>
              </a:tblGrid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Type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Input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Label</a:t>
                      </a:r>
                      <a:endParaRPr lang="en-US" altLang="ko-KR"/>
                    </a:p>
                  </a:txBody>
                  <a:tcPr marL="91440" marR="91440" anchor="ctr"/>
                </a:tc>
              </a:tr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Image Classification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Segmentation JPG</a:t>
                      </a:r>
                      <a:endParaRPr lang="en-US" altLang="ko-KR"/>
                    </a:p>
                  </a:txBody>
                  <a:tcPr marL="91440" marR="91440" anchor="ctr"/>
                </a:tc>
                <a:tc row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BMD [ 0 / 1 ]</a:t>
                      </a:r>
                      <a:endParaRPr lang="en-US" altLang="ko-KR"/>
                    </a:p>
                  </a:txBody>
                  <a:tcPr marL="91440" marR="91440" anchor="ctr"/>
                </a:tc>
              </a:tr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clinical model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age</a:t>
                      </a:r>
                      <a:r>
                        <a:rPr lang="en-US" altLang="ko-KR"/>
                        <a:t>,</a:t>
                      </a:r>
                      <a:r>
                        <a:rPr lang="ko-KR" altLang="en-US"/>
                        <a:t> density</a:t>
                      </a:r>
                      <a:r>
                        <a:rPr lang="en-US" altLang="ko-KR"/>
                        <a:t> features</a:t>
                      </a:r>
                      <a:endParaRPr lang="en-US" altLang="ko-KR"/>
                    </a:p>
                  </a:txBody>
                  <a:tcPr marL="91440" marR="91440" anchor="ctr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image + clinical model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JPG + </a:t>
                      </a:r>
                      <a:r>
                        <a:rPr lang="en-US" altLang="ko-KR"/>
                        <a:t>features</a:t>
                      </a:r>
                      <a:endParaRPr lang="en-US" altLang="ko-KR"/>
                    </a:p>
                  </a:txBody>
                  <a:tcPr marL="91440" marR="91440" anchor="ctr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</a:tbl>
          </a:graphicData>
        </a:graphic>
      </p:graphicFrame>
      <p:graphicFrame>
        <p:nvGraphicFramePr>
          <p:cNvPr id="19" name=""/>
          <p:cNvGraphicFramePr>
            <a:graphicFrameLocks noGrp="1"/>
          </p:cNvGraphicFramePr>
          <p:nvPr/>
        </p:nvGraphicFramePr>
        <p:xfrm>
          <a:off x="1611367" y="2814319"/>
          <a:ext cx="8969266" cy="3815080"/>
        </p:xfrm>
        <a:graphic>
          <a:graphicData uri="http://schemas.openxmlformats.org/drawingml/2006/table">
            <a:tbl>
              <a:tblPr firstRow="1" bandRow="1">
                <a:tableStyleId>{C69FF03A-DF0C-4845-94BB-EF2385AD676B}</a:tableStyleId>
              </a:tblPr>
              <a:tblGrid>
                <a:gridCol w="1589033"/>
                <a:gridCol w="7380233"/>
              </a:tblGrid>
              <a:tr h="79756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b="0"/>
                        <a:t>VGGNet</a:t>
                      </a:r>
                      <a:endParaRPr lang="en-US" altLang="ko-KR" b="0"/>
                    </a:p>
                  </a:txBody>
                  <a:tcPr marL="91440" marR="91440" anchor="ctr">
                    <a:lnL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214200" indent="-214200" algn="l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구조가 비교적 단순하고, 작은 3x3 필터를 여러 겹 쌓아 깊은 네트워크</a:t>
                      </a:r>
                      <a:r>
                        <a:rPr xmlns:mc="http://schemas.openxmlformats.org/markup-compatibility/2006" xmlns:hp="http://schemas.haansoft.com/office/presentation/8.0" lang="en-US" altLang="ko-KR" sz="15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xmlns:mc="http://schemas.openxmlformats.org/markup-compatibility/2006" xmlns:hp="http://schemas.haansoft.com/office/presentation/8.0" lang="ko-KR" altLang="en-US" sz="15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구현</a:t>
                      </a:r>
                      <a:r>
                        <a:rPr xmlns:mc="http://schemas.openxmlformats.org/markup-compatibility/2006" xmlns:hp="http://schemas.haansoft.com/office/presentation/8.0" sz="15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endParaRPr xmlns:mc="http://schemas.openxmlformats.org/markup-compatibility/2006" xmlns:hp="http://schemas.haansoft.com/office/presentation/8.0" sz="15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214200" indent="-214200" algn="l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이 덕분에 적은 데이터셋에서도 안정적인 성능을 보여 여러 연구에서 채택.</a:t>
                      </a:r>
                      <a:endParaRPr xmlns:mc="http://schemas.openxmlformats.org/markup-compatibility/2006" xmlns:hp="http://schemas.haansoft.com/office/presentation/8.0" sz="15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ResNet</a:t>
                      </a:r>
                      <a:endParaRPr lang="en-US" altLang="ko-KR"/>
                    </a:p>
                  </a:txBody>
                  <a:tcPr marL="91440" marR="91440" anchor="ctr">
                    <a:lnL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214200" indent="-214200" algn="l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'잔차 학습(Residual Learning)'이라는 개념을 도입하여 네트워크가 매우 깊어지더라도 학습이 효과적으로</a:t>
                      </a:r>
                      <a:r>
                        <a:rPr xmlns:mc="http://schemas.openxmlformats.org/markup-compatibility/2006" xmlns:hp="http://schemas.haansoft.com/office/presentation/8.0" lang="en-US" altLang="ko-KR" sz="15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xmlns:mc="http://schemas.openxmlformats.org/markup-compatibility/2006" xmlns:hp="http://schemas.haansoft.com/office/presentation/8.0" sz="15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이루어지도록 만든 모델.</a:t>
                      </a:r>
                      <a:endParaRPr xmlns:mc="http://schemas.openxmlformats.org/markup-compatibility/2006" xmlns:hp="http://schemas.haansoft.com/office/presentation/8.0" sz="15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214200" indent="-214200" algn="l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골다공증 분류 및 스크리닝 연구에서 널리 사용.</a:t>
                      </a:r>
                      <a:endParaRPr xmlns:mc="http://schemas.openxmlformats.org/markup-compatibility/2006" xmlns:hp="http://schemas.haansoft.com/office/presentation/8.0" sz="15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DenseNet</a:t>
                      </a:r>
                      <a:endParaRPr lang="en-US" altLang="ko-KR"/>
                    </a:p>
                  </a:txBody>
                  <a:tcPr marL="91440" marR="91440" anchor="ctr">
                    <a:lnL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214200" indent="-214200" algn="l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각 레이어를 모든 이전 레이어와 연결하는 독특한 구조.</a:t>
                      </a:r>
                      <a:endParaRPr xmlns:mc="http://schemas.openxmlformats.org/markup-compatibility/2006" xmlns:hp="http://schemas.haansoft.com/office/presentation/8.0" sz="15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214200" indent="-214200" algn="l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이를 통해 정보의 흐름을 극대화하고 특징을 효율적으로 재사용하여 골밀도 계산 등에서 좋은 성능을 보</a:t>
                      </a:r>
                      <a:r>
                        <a:rPr xmlns:mc="http://schemas.openxmlformats.org/markup-compatibility/2006" xmlns:hp="http://schemas.haansoft.com/office/presentation/8.0" lang="ko-KR" altLang="en-US" sz="15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임</a:t>
                      </a:r>
                      <a:r>
                        <a:rPr xmlns:mc="http://schemas.openxmlformats.org/markup-compatibility/2006" xmlns:hp="http://schemas.haansoft.com/office/presentation/8.0" sz="15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endParaRPr xmlns:mc="http://schemas.openxmlformats.org/markup-compatibility/2006" xmlns:hp="http://schemas.haansoft.com/office/presentation/8.0" sz="15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EfficientNet</a:t>
                      </a:r>
                      <a:endParaRPr lang="en-US" altLang="ko-KR"/>
                    </a:p>
                  </a:txBody>
                  <a:tcPr marL="91440" marR="91440" anchor="ctr">
                    <a:lnL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214200" indent="-214200" algn="l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모델의 깊이, 너비, 해상도를 최적의 비율로 조정하여 계산 효율성과 성능을 동시에 높인 모델.</a:t>
                      </a:r>
                      <a:endParaRPr xmlns:mc="http://schemas.openxmlformats.org/markup-compatibility/2006" xmlns:hp="http://schemas.haansoft.com/office/presentation/8.0" sz="15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3057b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609701" y="456042"/>
            <a:ext cx="9753499" cy="420258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ko-KR" altLang="en-US" b="1">
                <a:latin typeface="Arial"/>
                <a:ea typeface="+mj-ea"/>
                <a:cs typeface="Arial"/>
              </a:rPr>
              <a:t>간단한 </a:t>
            </a:r>
            <a:r>
              <a:rPr lang="en-US" altLang="ko-KR" b="1">
                <a:latin typeface="Arial"/>
                <a:ea typeface="+mj-ea"/>
                <a:cs typeface="Arial"/>
              </a:rPr>
              <a:t>CNN</a:t>
            </a:r>
            <a:r>
              <a:rPr lang="ko-KR" altLang="en-US" b="1">
                <a:latin typeface="Arial"/>
                <a:ea typeface="+mj-ea"/>
                <a:cs typeface="Arial"/>
              </a:rPr>
              <a:t> </a:t>
            </a:r>
            <a:r>
              <a:rPr lang="en-US" altLang="ko-KR" b="1">
                <a:latin typeface="Arial"/>
                <a:ea typeface="+mj-ea"/>
                <a:cs typeface="Arial"/>
              </a:rPr>
              <a:t>Model Training</a:t>
            </a:r>
            <a:endParaRPr lang="en-US" altLang="ko-KR" b="1">
              <a:latin typeface="Arial"/>
              <a:ea typeface="+mj-ea"/>
              <a:cs typeface="Arial"/>
            </a:endParaRPr>
          </a:p>
        </p:txBody>
      </p:sp>
      <p:sp>
        <p:nvSpPr>
          <p:cNvPr id="9" name="텍스트 개체 틀 7"/>
          <p:cNvSpPr txBox="1"/>
          <p:nvPr/>
        </p:nvSpPr>
        <p:spPr>
          <a:xfrm>
            <a:off x="457200" y="1295400"/>
            <a:ext cx="10409072" cy="1628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85750" indent="-285750">
              <a:lnSpc>
                <a:spcPct val="100000"/>
              </a:lnSpc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>
              <a:lnSpc>
                <a:spcPct val="100000"/>
              </a:lnSpc>
              <a:buFont typeface="Arial"/>
              <a:buChar char="•"/>
              <a:defRPr sz="2000">
                <a:latin typeface="+mn-lt"/>
                <a:ea typeface="+mn-ea"/>
                <a:cs typeface="+mn-cs"/>
              </a:defRPr>
            </a:lvl2pPr>
            <a:lvl3pPr marL="1200150" indent="-285750">
              <a:lnSpc>
                <a:spcPct val="100000"/>
              </a:lnSpc>
              <a:buFont typeface="Arial"/>
              <a:buChar char="•"/>
              <a:defRPr sz="1800">
                <a:latin typeface="+mn-lt"/>
                <a:ea typeface="+mn-ea"/>
                <a:cs typeface="+mn-cs"/>
              </a:defRPr>
            </a:lvl3pPr>
            <a:lvl4pPr marL="1657350" indent="-285750">
              <a:lnSpc>
                <a:spcPct val="100000"/>
              </a:lnSpc>
              <a:buFont typeface="Arial"/>
              <a:buChar char="•"/>
              <a:defRPr sz="1600">
                <a:latin typeface="+mn-lt"/>
                <a:ea typeface="+mn-ea"/>
                <a:cs typeface="+mn-cs"/>
              </a:defRPr>
            </a:lvl4pPr>
            <a:lvl5pPr marL="2114550" indent="-285750">
              <a:lnSpc>
                <a:spcPct val="100000"/>
              </a:lnSpc>
              <a:buFont typeface="Arial"/>
              <a:buChar char="•"/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200"/>
              </a:lnSpc>
              <a:defRPr/>
            </a:pPr>
            <a:r>
              <a:rPr lang="en-US" altLang="ko-KR" b="1">
                <a:latin typeface="Arial"/>
                <a:ea typeface="+mj-ea"/>
                <a:cs typeface="Arial"/>
              </a:rPr>
              <a:t>Input</a:t>
            </a:r>
            <a:r>
              <a:rPr lang="ko-KR" altLang="en-US" b="1">
                <a:latin typeface="Arial"/>
                <a:ea typeface="+mj-ea"/>
                <a:cs typeface="Arial"/>
              </a:rPr>
              <a:t>을 </a:t>
            </a:r>
            <a:r>
              <a:rPr lang="en-US" altLang="ko-KR" b="1">
                <a:latin typeface="Arial"/>
                <a:ea typeface="+mj-ea"/>
                <a:cs typeface="Arial"/>
              </a:rPr>
              <a:t>3</a:t>
            </a:r>
            <a:r>
              <a:rPr lang="ko-KR" altLang="en-US" b="1">
                <a:latin typeface="Arial"/>
                <a:ea typeface="+mj-ea"/>
                <a:cs typeface="Arial"/>
              </a:rPr>
              <a:t>가지로 비교 예정</a:t>
            </a:r>
            <a:endParaRPr lang="ko-KR" altLang="en-US" b="1">
              <a:latin typeface="Arial"/>
              <a:ea typeface="+mj-ea"/>
              <a:cs typeface="Arial"/>
            </a:endParaRPr>
          </a:p>
          <a:p>
            <a:pPr lvl="1">
              <a:lnSpc>
                <a:spcPts val="3200"/>
              </a:lnSpc>
              <a:defRPr/>
            </a:pPr>
            <a:r>
              <a:rPr lang="en-US" altLang="ko-KR" b="1">
                <a:latin typeface="Arial"/>
                <a:ea typeface="+mj-ea"/>
                <a:cs typeface="Arial"/>
              </a:rPr>
              <a:t>Segmentation JPG (3ch) </a:t>
            </a:r>
            <a:r>
              <a:rPr lang="ko-KR" altLang="en-US" b="1">
                <a:latin typeface="Arial"/>
                <a:ea typeface="+mj-ea"/>
                <a:cs typeface="Arial"/>
              </a:rPr>
              <a:t>→ </a:t>
            </a:r>
            <a:r>
              <a:rPr lang="en-US" altLang="ko-KR" b="1">
                <a:latin typeface="Arial"/>
                <a:ea typeface="+mj-ea"/>
                <a:cs typeface="Arial"/>
              </a:rPr>
              <a:t>BMD</a:t>
            </a:r>
            <a:endParaRPr lang="ko-KR" altLang="en-US" b="1">
              <a:latin typeface="Arial"/>
              <a:ea typeface="+mj-ea"/>
              <a:cs typeface="Arial"/>
            </a:endParaRPr>
          </a:p>
          <a:p>
            <a:pPr lvl="1">
              <a:lnSpc>
                <a:spcPts val="3200"/>
              </a:lnSpc>
              <a:defRPr/>
            </a:pPr>
            <a:r>
              <a:rPr lang="en-US" altLang="ko-KR" b="1">
                <a:latin typeface="Arial"/>
                <a:ea typeface="+mj-ea"/>
                <a:cs typeface="Arial"/>
              </a:rPr>
              <a:t>DICOM Raw Image (1ch) </a:t>
            </a:r>
            <a:r>
              <a:rPr lang="ko-KR" altLang="en-US" b="1">
                <a:latin typeface="Arial"/>
                <a:ea typeface="+mj-ea"/>
                <a:cs typeface="Arial"/>
              </a:rPr>
              <a:t>→ </a:t>
            </a:r>
            <a:r>
              <a:rPr lang="en-US" altLang="ko-KR" b="1">
                <a:latin typeface="Arial"/>
                <a:ea typeface="+mj-ea"/>
                <a:cs typeface="Arial"/>
              </a:rPr>
              <a:t>BMD</a:t>
            </a:r>
            <a:endParaRPr lang="en-US" altLang="ko-KR" b="1">
              <a:latin typeface="Arial"/>
              <a:ea typeface="+mj-ea"/>
              <a:cs typeface="Arial"/>
            </a:endParaRPr>
          </a:p>
          <a:p>
            <a:pPr lvl="1">
              <a:lnSpc>
                <a:spcPts val="3200"/>
              </a:lnSpc>
              <a:defRPr/>
            </a:pPr>
            <a:r>
              <a:rPr lang="en-US" altLang="ko-KR" b="1">
                <a:latin typeface="Arial"/>
                <a:ea typeface="+mj-ea"/>
                <a:cs typeface="Arial"/>
              </a:rPr>
              <a:t>Raw Image + Segmentation (4ch) </a:t>
            </a:r>
            <a:r>
              <a:rPr lang="ko-KR" altLang="en-US" b="1">
                <a:latin typeface="Arial"/>
                <a:ea typeface="+mj-ea"/>
                <a:cs typeface="Arial"/>
              </a:rPr>
              <a:t>→ </a:t>
            </a:r>
            <a:r>
              <a:rPr lang="en-US" altLang="ko-KR" b="1">
                <a:latin typeface="Arial"/>
                <a:ea typeface="+mj-ea"/>
                <a:cs typeface="Arial"/>
              </a:rPr>
              <a:t>BMD</a:t>
            </a:r>
            <a:endParaRPr lang="en-US" altLang="ko-KR" b="1">
              <a:latin typeface="Arial"/>
              <a:ea typeface="+mj-ea"/>
              <a:cs typeface="Arial"/>
            </a:endParaRPr>
          </a:p>
        </p:txBody>
      </p:sp>
      <p:sp>
        <p:nvSpPr>
          <p:cNvPr id="10" name="Holder 6"/>
          <p:cNvSpPr>
            <a:spLocks noGrp="1"/>
          </p:cNvSpPr>
          <p:nvPr>
            <p:ph type="sldNum" sz="quarter" idx="4294967295"/>
          </p:nvPr>
        </p:nvSpPr>
        <p:spPr>
          <a:xfrm>
            <a:off x="11056618" y="6419409"/>
            <a:ext cx="297181" cy="228600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5</a:t>
            </a:fld>
            <a:endParaRPr lang="en-US" spc="-25"/>
          </a:p>
        </p:txBody>
      </p:sp>
      <p:pic>
        <p:nvPicPr>
          <p:cNvPr id="5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43099" y="3429000"/>
            <a:ext cx="8305800" cy="2768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609701" y="456042"/>
            <a:ext cx="9753499" cy="420258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ko-KR" altLang="en-US" b="1">
                <a:latin typeface="Arial"/>
                <a:ea typeface="+mj-ea"/>
                <a:cs typeface="Arial"/>
              </a:rPr>
              <a:t>간단한 </a:t>
            </a:r>
            <a:r>
              <a:rPr lang="en-US" altLang="ko-KR" b="1">
                <a:latin typeface="Arial"/>
                <a:ea typeface="+mj-ea"/>
                <a:cs typeface="Arial"/>
              </a:rPr>
              <a:t>CNN</a:t>
            </a:r>
            <a:r>
              <a:rPr lang="ko-KR" altLang="en-US" b="1">
                <a:latin typeface="Arial"/>
                <a:ea typeface="+mj-ea"/>
                <a:cs typeface="Arial"/>
              </a:rPr>
              <a:t> </a:t>
            </a:r>
            <a:r>
              <a:rPr lang="en-US" altLang="ko-KR" b="1">
                <a:latin typeface="Arial"/>
                <a:ea typeface="+mj-ea"/>
                <a:cs typeface="Arial"/>
              </a:rPr>
              <a:t>Model Training</a:t>
            </a:r>
            <a:r>
              <a:rPr lang="ko-KR" altLang="en-US" b="1">
                <a:latin typeface="Arial"/>
                <a:ea typeface="+mj-ea"/>
                <a:cs typeface="Arial"/>
              </a:rPr>
              <a:t> </a:t>
            </a:r>
            <a:r>
              <a:rPr lang="en-US" altLang="ko-KR" b="1">
                <a:latin typeface="Arial"/>
                <a:ea typeface="+mj-ea"/>
                <a:cs typeface="Arial"/>
              </a:rPr>
              <a:t>-</a:t>
            </a:r>
            <a:r>
              <a:rPr lang="ko-KR" altLang="en-US" b="1">
                <a:latin typeface="Arial"/>
                <a:ea typeface="+mj-ea"/>
                <a:cs typeface="Arial"/>
              </a:rPr>
              <a:t> </a:t>
            </a:r>
            <a:r>
              <a:rPr lang="en-US" altLang="ko-KR" b="1">
                <a:latin typeface="Arial"/>
                <a:ea typeface="+mj-ea"/>
                <a:cs typeface="Arial"/>
              </a:rPr>
              <a:t>Sampling Data</a:t>
            </a:r>
            <a:endParaRPr lang="en-US" altLang="ko-KR" b="1">
              <a:latin typeface="Arial"/>
              <a:ea typeface="+mj-ea"/>
              <a:cs typeface="Arial"/>
            </a:endParaRPr>
          </a:p>
        </p:txBody>
      </p:sp>
      <p:sp>
        <p:nvSpPr>
          <p:cNvPr id="9" name="텍스트 개체 틀 7"/>
          <p:cNvSpPr txBox="1"/>
          <p:nvPr/>
        </p:nvSpPr>
        <p:spPr>
          <a:xfrm>
            <a:off x="457199" y="1295400"/>
            <a:ext cx="11125201" cy="3019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85750" indent="-285750">
              <a:lnSpc>
                <a:spcPct val="100000"/>
              </a:lnSpc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>
              <a:lnSpc>
                <a:spcPct val="100000"/>
              </a:lnSpc>
              <a:buFont typeface="Arial"/>
              <a:buChar char="•"/>
              <a:defRPr sz="2000">
                <a:latin typeface="+mn-lt"/>
                <a:ea typeface="+mn-ea"/>
                <a:cs typeface="+mn-cs"/>
              </a:defRPr>
            </a:lvl2pPr>
            <a:lvl3pPr marL="1200150" indent="-285750">
              <a:lnSpc>
                <a:spcPct val="100000"/>
              </a:lnSpc>
              <a:buFont typeface="Arial"/>
              <a:buChar char="•"/>
              <a:defRPr sz="1800">
                <a:latin typeface="+mn-lt"/>
                <a:ea typeface="+mn-ea"/>
                <a:cs typeface="+mn-cs"/>
              </a:defRPr>
            </a:lvl3pPr>
            <a:lvl4pPr marL="1657350" indent="-285750">
              <a:lnSpc>
                <a:spcPct val="100000"/>
              </a:lnSpc>
              <a:buFont typeface="Arial"/>
              <a:buChar char="•"/>
              <a:defRPr sz="1600">
                <a:latin typeface="+mn-lt"/>
                <a:ea typeface="+mn-ea"/>
                <a:cs typeface="+mn-cs"/>
              </a:defRPr>
            </a:lvl4pPr>
            <a:lvl5pPr marL="2114550" indent="-285750">
              <a:lnSpc>
                <a:spcPct val="100000"/>
              </a:lnSpc>
              <a:buFont typeface="Arial"/>
              <a:buChar char="•"/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ko-KR" sz="2200">
                <a:latin typeface="Arial"/>
                <a:ea typeface="+mj-ea"/>
                <a:cs typeface="Arial"/>
              </a:rPr>
              <a:t>대용량 데이터셋의 특성상, 학습 과정에서 손실 감소나 정확도 향상을 모니터링하는 데 장시간이 소요됨.</a:t>
            </a:r>
            <a:endParaRPr lang="en-US" altLang="ko-KR" sz="2200">
              <a:latin typeface="Arial"/>
              <a:ea typeface="+mj-ea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2200">
                <a:latin typeface="Arial"/>
                <a:ea typeface="+mj-ea"/>
                <a:cs typeface="Arial"/>
              </a:rPr>
              <a:t>따라서 모델 및 데이터의 이상 여부를 빠르게 검증하기 위해, 일부 샘플</a:t>
            </a:r>
            <a:r>
              <a:rPr lang="ko-KR" altLang="en-US" sz="2200">
                <a:latin typeface="Arial"/>
                <a:ea typeface="+mj-ea"/>
                <a:cs typeface="Arial"/>
              </a:rPr>
              <a:t> </a:t>
            </a:r>
            <a:r>
              <a:rPr lang="en-US" altLang="ko-KR" sz="2200">
                <a:latin typeface="Arial"/>
                <a:ea typeface="+mj-ea"/>
                <a:cs typeface="Arial"/>
              </a:rPr>
              <a:t>데이터를 사용하여 과적합 발생 여부를 사전 확인.</a:t>
            </a:r>
            <a:endParaRPr lang="en-US" altLang="ko-KR" sz="2200">
              <a:latin typeface="Arial"/>
              <a:ea typeface="+mj-ea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2200">
                <a:latin typeface="Arial"/>
                <a:ea typeface="+mj-ea"/>
                <a:cs typeface="Arial"/>
              </a:rPr>
              <a:t>샘플 구간에서 정상적인 학습 패턴이 관찰될 경우, 전체 데이터셋을 대상으로 본격적인 학습을 수행.</a:t>
            </a:r>
            <a:endParaRPr lang="en-US" altLang="ko-KR" sz="2200">
              <a:latin typeface="Arial"/>
              <a:ea typeface="+mj-ea"/>
              <a:cs typeface="Arial"/>
            </a:endParaRPr>
          </a:p>
        </p:txBody>
      </p:sp>
      <p:sp>
        <p:nvSpPr>
          <p:cNvPr id="10" name="Holder 6"/>
          <p:cNvSpPr>
            <a:spLocks noGrp="1"/>
          </p:cNvSpPr>
          <p:nvPr>
            <p:ph type="sldNum" sz="quarter" idx="4294967295"/>
          </p:nvPr>
        </p:nvSpPr>
        <p:spPr>
          <a:xfrm>
            <a:off x="11056618" y="6419409"/>
            <a:ext cx="297181" cy="228600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6</a:t>
            </a:fld>
            <a:endParaRPr lang="en-US" spc="-25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609701" y="456042"/>
            <a:ext cx="9753499" cy="420258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ko-KR" altLang="en-US" b="1">
                <a:latin typeface="Arial"/>
                <a:ea typeface="+mj-ea"/>
                <a:cs typeface="Arial"/>
              </a:rPr>
              <a:t>간단한 </a:t>
            </a:r>
            <a:r>
              <a:rPr lang="en-US" altLang="ko-KR" b="1">
                <a:latin typeface="Arial"/>
                <a:ea typeface="+mj-ea"/>
                <a:cs typeface="Arial"/>
              </a:rPr>
              <a:t>CNN</a:t>
            </a:r>
            <a:r>
              <a:rPr lang="ko-KR" altLang="en-US" b="1">
                <a:latin typeface="Arial"/>
                <a:ea typeface="+mj-ea"/>
                <a:cs typeface="Arial"/>
              </a:rPr>
              <a:t> </a:t>
            </a:r>
            <a:r>
              <a:rPr lang="en-US" altLang="ko-KR" b="1">
                <a:latin typeface="Arial"/>
                <a:ea typeface="+mj-ea"/>
                <a:cs typeface="Arial"/>
              </a:rPr>
              <a:t>Model Training</a:t>
            </a:r>
            <a:r>
              <a:rPr lang="ko-KR" altLang="en-US" b="1">
                <a:latin typeface="Arial"/>
                <a:ea typeface="+mj-ea"/>
                <a:cs typeface="Arial"/>
              </a:rPr>
              <a:t> </a:t>
            </a:r>
            <a:r>
              <a:rPr lang="en-US" altLang="ko-KR" b="1">
                <a:latin typeface="Arial"/>
                <a:ea typeface="+mj-ea"/>
                <a:cs typeface="Arial"/>
              </a:rPr>
              <a:t>-</a:t>
            </a:r>
            <a:r>
              <a:rPr lang="ko-KR" altLang="en-US" b="1">
                <a:latin typeface="Arial"/>
                <a:ea typeface="+mj-ea"/>
                <a:cs typeface="Arial"/>
              </a:rPr>
              <a:t> </a:t>
            </a:r>
            <a:r>
              <a:rPr lang="en-US" altLang="ko-KR" b="1">
                <a:latin typeface="Arial"/>
                <a:ea typeface="+mj-ea"/>
                <a:cs typeface="Arial"/>
              </a:rPr>
              <a:t>Sampling Data</a:t>
            </a:r>
            <a:endParaRPr lang="en-US" altLang="ko-KR" b="1">
              <a:latin typeface="Arial"/>
              <a:ea typeface="+mj-ea"/>
              <a:cs typeface="Arial"/>
            </a:endParaRPr>
          </a:p>
        </p:txBody>
      </p:sp>
      <p:sp>
        <p:nvSpPr>
          <p:cNvPr id="10" name="Holder 6"/>
          <p:cNvSpPr>
            <a:spLocks noGrp="1"/>
          </p:cNvSpPr>
          <p:nvPr>
            <p:ph type="sldNum" sz="quarter" idx="4294967295"/>
          </p:nvPr>
        </p:nvSpPr>
        <p:spPr>
          <a:xfrm>
            <a:off x="11056618" y="6419409"/>
            <a:ext cx="297181" cy="228600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7</a:t>
            </a:fld>
            <a:endParaRPr lang="en-US" spc="-25"/>
          </a:p>
        </p:txBody>
      </p:sp>
      <p:pic>
        <p:nvPicPr>
          <p:cNvPr id="5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600" y="1219200"/>
            <a:ext cx="4019563" cy="5108735"/>
          </a:xfrm>
          <a:prstGeom prst="rect">
            <a:avLst/>
          </a:prstGeom>
        </p:spPr>
      </p:pic>
      <p:grpSp>
        <p:nvGrpSpPr>
          <p:cNvPr id="58" name=""/>
          <p:cNvGrpSpPr/>
          <p:nvPr/>
        </p:nvGrpSpPr>
        <p:grpSpPr>
          <a:xfrm rot="0">
            <a:off x="4800600" y="2898759"/>
            <a:ext cx="3429000" cy="3429176"/>
            <a:chOff x="4800600" y="2362200"/>
            <a:chExt cx="3886200" cy="3886400"/>
          </a:xfrm>
        </p:grpSpPr>
        <p:pic>
          <p:nvPicPr>
            <p:cNvPr id="55" name="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800600" y="2362200"/>
              <a:ext cx="3886200" cy="3886399"/>
            </a:xfrm>
            <a:prstGeom prst="rect">
              <a:avLst/>
            </a:prstGeom>
          </p:spPr>
        </p:pic>
        <p:sp>
          <p:nvSpPr>
            <p:cNvPr id="56" name=""/>
            <p:cNvSpPr/>
            <p:nvPr/>
          </p:nvSpPr>
          <p:spPr>
            <a:xfrm>
              <a:off x="4800600" y="4191000"/>
              <a:ext cx="3886200" cy="228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7" name=""/>
            <p:cNvSpPr/>
            <p:nvPr/>
          </p:nvSpPr>
          <p:spPr>
            <a:xfrm>
              <a:off x="4800600" y="2743200"/>
              <a:ext cx="3886200" cy="228600"/>
            </a:xfrm>
            <a:prstGeom prst="rect">
              <a:avLst/>
            </a:prstGeom>
            <a:noFill/>
            <a:ln w="25400" cap="flat" cmpd="sng" algn="ctr">
              <a:solidFill>
                <a:srgbClr val="ff0000">
                  <a:alpha val="100000"/>
                </a:srgbClr>
              </a:solidFill>
              <a:prstDash val="solid"/>
            </a:ln>
          </p:spPr>
          <p:txBody>
            <a:bodyPr anchor="ctr"/>
            <a:p>
              <a:pPr algn="ctr">
                <a:defRPr/>
              </a:pPr>
              <a:endParaRPr lang="ko-KR" altLang="en-US">
                <a:solidFill>
                  <a:srgbClr val="ffffff"/>
                </a:solidFill>
                <a:latin typeface="Arial"/>
                <a:ea typeface="맑은 고딕"/>
                <a:cs typeface="Arial"/>
              </a:endParaRPr>
            </a:p>
          </p:txBody>
        </p:sp>
      </p:grpSp>
      <p:pic>
        <p:nvPicPr>
          <p:cNvPr id="60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800600" y="1219200"/>
            <a:ext cx="2629035" cy="330216"/>
          </a:xfrm>
          <a:prstGeom prst="rect">
            <a:avLst/>
          </a:prstGeom>
        </p:spPr>
      </p:pic>
      <p:pic>
        <p:nvPicPr>
          <p:cNvPr id="62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800600" y="1752600"/>
            <a:ext cx="6363027" cy="9207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609701" y="456042"/>
            <a:ext cx="9753499" cy="420258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ko-KR" altLang="en-US" b="1">
                <a:latin typeface="Arial"/>
                <a:ea typeface="+mj-ea"/>
                <a:cs typeface="Arial"/>
              </a:rPr>
              <a:t>여러 </a:t>
            </a:r>
            <a:r>
              <a:rPr lang="en-US" altLang="ko-KR" b="1">
                <a:latin typeface="Arial"/>
                <a:ea typeface="+mj-ea"/>
                <a:cs typeface="Arial"/>
              </a:rPr>
              <a:t>Model Performance </a:t>
            </a:r>
            <a:r>
              <a:rPr lang="ko-KR" altLang="en-US" b="1">
                <a:latin typeface="Arial"/>
                <a:ea typeface="+mj-ea"/>
                <a:cs typeface="Arial"/>
              </a:rPr>
              <a:t>비교 </a:t>
            </a:r>
            <a:r>
              <a:rPr lang="en-US" altLang="ko-KR" b="1">
                <a:latin typeface="Arial"/>
                <a:ea typeface="+mj-ea"/>
                <a:cs typeface="Arial"/>
              </a:rPr>
              <a:t>-</a:t>
            </a:r>
            <a:r>
              <a:rPr lang="ko-KR" altLang="en-US" b="1">
                <a:latin typeface="Arial"/>
                <a:ea typeface="+mj-ea"/>
                <a:cs typeface="Arial"/>
              </a:rPr>
              <a:t> </a:t>
            </a:r>
            <a:r>
              <a:rPr lang="en-US" altLang="ko-KR" b="1">
                <a:latin typeface="Arial"/>
                <a:ea typeface="+mj-ea"/>
                <a:cs typeface="Arial"/>
              </a:rPr>
              <a:t>Sampling Data</a:t>
            </a:r>
            <a:endParaRPr lang="en-US" altLang="ko-KR" b="1">
              <a:latin typeface="Arial"/>
              <a:ea typeface="+mj-ea"/>
              <a:cs typeface="Arial"/>
            </a:endParaRPr>
          </a:p>
        </p:txBody>
      </p:sp>
      <p:sp>
        <p:nvSpPr>
          <p:cNvPr id="10" name="Holder 6"/>
          <p:cNvSpPr>
            <a:spLocks noGrp="1"/>
          </p:cNvSpPr>
          <p:nvPr>
            <p:ph type="sldNum" sz="quarter" idx="4294967295"/>
          </p:nvPr>
        </p:nvSpPr>
        <p:spPr>
          <a:xfrm>
            <a:off x="11056618" y="6419409"/>
            <a:ext cx="297181" cy="228600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8</a:t>
            </a:fld>
            <a:endParaRPr lang="en-US" spc="-25"/>
          </a:p>
        </p:txBody>
      </p:sp>
      <p:sp>
        <p:nvSpPr>
          <p:cNvPr id="64" name="텍스트 개체 틀 7"/>
          <p:cNvSpPr txBox="1"/>
          <p:nvPr/>
        </p:nvSpPr>
        <p:spPr>
          <a:xfrm>
            <a:off x="609600" y="1295399"/>
            <a:ext cx="10972800" cy="1504951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28575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2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SmallCNN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이외에도 리뷰 논문에서 사용되었던 </a:t>
            </a:r>
            <a:r>
              <a:rPr xmlns:mc="http://schemas.openxmlformats.org/markup-compatibility/2006" xmlns:hp="http://schemas.haansoft.com/office/presentation/8.0" kumimoji="0" lang="en-US" altLang="ko-KR" sz="22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ResNet, DenseNet, EfficientNet 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등 다른모델과 성능 비교</a:t>
            </a:r>
            <a:endParaRPr xmlns:mc="http://schemas.openxmlformats.org/markup-compatibility/2006" xmlns:hp="http://schemas.haansoft.com/office/presentation/8.0" kumimoji="0" lang="ko-KR" altLang="en-US" sz="22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marL="28575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2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pretrained weight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를 적용하여 </a:t>
            </a:r>
            <a:r>
              <a:rPr xmlns:mc="http://schemas.openxmlformats.org/markup-compatibility/2006" xmlns:hp="http://schemas.haansoft.com/office/presentation/8.0" kumimoji="0" lang="en-US" altLang="ko-KR" sz="22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train 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진행</a:t>
            </a:r>
            <a:endParaRPr xmlns:mc="http://schemas.openxmlformats.org/markup-compatibility/2006" xmlns:hp="http://schemas.haansoft.com/office/presentation/8.0" kumimoji="0" lang="ko-KR" altLang="en-US" sz="22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6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38200" y="2857484"/>
            <a:ext cx="5791200" cy="38721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609701" y="456042"/>
            <a:ext cx="9753499" cy="420258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ko-KR" altLang="en-US" b="1">
                <a:latin typeface="Arial"/>
                <a:ea typeface="+mj-ea"/>
                <a:cs typeface="Arial"/>
              </a:rPr>
              <a:t>여러 </a:t>
            </a:r>
            <a:r>
              <a:rPr lang="en-US" altLang="ko-KR" b="1">
                <a:latin typeface="Arial"/>
                <a:ea typeface="+mj-ea"/>
                <a:cs typeface="Arial"/>
              </a:rPr>
              <a:t>Model Performance </a:t>
            </a:r>
            <a:r>
              <a:rPr lang="ko-KR" altLang="en-US" b="1">
                <a:latin typeface="Arial"/>
                <a:ea typeface="+mj-ea"/>
                <a:cs typeface="Arial"/>
              </a:rPr>
              <a:t>비교 </a:t>
            </a:r>
            <a:r>
              <a:rPr lang="en-US" altLang="ko-KR" b="1">
                <a:latin typeface="Arial"/>
                <a:ea typeface="+mj-ea"/>
                <a:cs typeface="Arial"/>
              </a:rPr>
              <a:t>-</a:t>
            </a:r>
            <a:r>
              <a:rPr lang="ko-KR" altLang="en-US" b="1">
                <a:latin typeface="Arial"/>
                <a:ea typeface="+mj-ea"/>
                <a:cs typeface="Arial"/>
              </a:rPr>
              <a:t> </a:t>
            </a:r>
            <a:r>
              <a:rPr lang="en-US" altLang="ko-KR" b="1">
                <a:latin typeface="Arial"/>
                <a:ea typeface="+mj-ea"/>
                <a:cs typeface="Arial"/>
              </a:rPr>
              <a:t>Sampling Data</a:t>
            </a:r>
            <a:endParaRPr lang="en-US" altLang="ko-KR" b="1">
              <a:latin typeface="Arial"/>
              <a:ea typeface="+mj-ea"/>
              <a:cs typeface="Arial"/>
            </a:endParaRPr>
          </a:p>
        </p:txBody>
      </p:sp>
      <p:sp>
        <p:nvSpPr>
          <p:cNvPr id="10" name="Holder 6"/>
          <p:cNvSpPr>
            <a:spLocks noGrp="1"/>
          </p:cNvSpPr>
          <p:nvPr>
            <p:ph type="sldNum" sz="quarter" idx="4294967295"/>
          </p:nvPr>
        </p:nvSpPr>
        <p:spPr>
          <a:xfrm>
            <a:off x="11056618" y="6419409"/>
            <a:ext cx="297181" cy="228600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9</a:t>
            </a:fld>
            <a:endParaRPr lang="en-US" spc="-25"/>
          </a:p>
        </p:txBody>
      </p:sp>
      <p:grpSp>
        <p:nvGrpSpPr>
          <p:cNvPr id="66" name=""/>
          <p:cNvGrpSpPr>
            <a:grpSpLocks/>
          </p:cNvGrpSpPr>
          <p:nvPr/>
        </p:nvGrpSpPr>
        <p:grpSpPr>
          <a:xfrm rot="0">
            <a:off x="5837442" y="1689735"/>
            <a:ext cx="6202157" cy="3949064"/>
            <a:chOff x="5257800" y="1689735"/>
            <a:chExt cx="6781800" cy="4318137"/>
          </a:xfrm>
        </p:grpSpPr>
        <p:graphicFrame>
          <p:nvGraphicFramePr>
            <p:cNvPr id="64" name="차트 11"/>
            <p:cNvGraphicFramePr/>
            <p:nvPr/>
          </p:nvGraphicFramePr>
          <p:xfrm>
            <a:off x="5257800" y="2064521"/>
            <a:ext cx="6781800" cy="3943351"/>
          </p:xfrm>
          <a:graphic>
            <a:graphicData uri="http://schemas.openxmlformats.org/drawingml/2006/chart">
              <c:chart r:id="rId2"/>
            </a:graphicData>
          </a:graphic>
        </p:graphicFrame>
        <p:sp>
          <p:nvSpPr>
            <p:cNvPr id="65" name=""/>
            <p:cNvSpPr txBox="1"/>
            <p:nvPr/>
          </p:nvSpPr>
          <p:spPr>
            <a:xfrm>
              <a:off x="6400799" y="1689735"/>
              <a:ext cx="3200400" cy="39994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defRPr/>
              </a:pPr>
              <a:r>
                <a:rPr lang="en-US" altLang="ko-KR" b="1">
                  <a:latin typeface="맑은 고딕"/>
                  <a:ea typeface="맑은 고딕"/>
                </a:rPr>
                <a:t>Validation Accuracy</a:t>
              </a:r>
              <a:endParaRPr lang="en-US" altLang="ko-KR" b="1">
                <a:latin typeface="맑은 고딕"/>
                <a:ea typeface="맑은 고딕"/>
              </a:endParaRPr>
            </a:p>
          </p:txBody>
        </p:sp>
      </p:grpSp>
      <p:graphicFrame>
        <p:nvGraphicFramePr>
          <p:cNvPr id="68" name="차트 12"/>
          <p:cNvGraphicFramePr/>
          <p:nvPr/>
        </p:nvGraphicFramePr>
        <p:xfrm>
          <a:off x="152400" y="2060713"/>
          <a:ext cx="5486400" cy="3578086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70" name=""/>
          <p:cNvSpPr txBox="1"/>
          <p:nvPr/>
        </p:nvSpPr>
        <p:spPr>
          <a:xfrm>
            <a:off x="1143000" y="1691640"/>
            <a:ext cx="2926861" cy="36576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en-US" altLang="ko-KR" b="1">
                <a:solidFill>
                  <a:srgbClr val="000000"/>
                </a:solidFill>
                <a:latin typeface="맑은 고딕"/>
                <a:ea typeface="맑은 고딕"/>
              </a:rPr>
              <a:t>Train Loss</a:t>
            </a:r>
            <a:endParaRPr lang="en-US" altLang="ko-KR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609701" y="456042"/>
            <a:ext cx="9753499" cy="420258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ko-KR" altLang="en-US" b="1">
                <a:latin typeface="Arial"/>
                <a:ea typeface="+mj-ea"/>
                <a:cs typeface="Arial"/>
              </a:rPr>
              <a:t>이후 연구 진행 방향</a:t>
            </a:r>
            <a:endParaRPr lang="ko-KR" altLang="en-US" b="1">
              <a:latin typeface="Arial"/>
              <a:ea typeface="+mj-ea"/>
              <a:cs typeface="Arial"/>
            </a:endParaRPr>
          </a:p>
        </p:txBody>
      </p:sp>
      <p:sp>
        <p:nvSpPr>
          <p:cNvPr id="10" name="Holder 6"/>
          <p:cNvSpPr>
            <a:spLocks noGrp="1"/>
          </p:cNvSpPr>
          <p:nvPr>
            <p:ph type="sldNum" sz="quarter" idx="4294967295"/>
          </p:nvPr>
        </p:nvSpPr>
        <p:spPr>
          <a:xfrm>
            <a:off x="11056618" y="6419409"/>
            <a:ext cx="297181" cy="228600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10</a:t>
            </a:fld>
            <a:endParaRPr lang="en-US" spc="-25"/>
          </a:p>
        </p:txBody>
      </p:sp>
      <p:sp>
        <p:nvSpPr>
          <p:cNvPr id="71" name="텍스트 개체 틀 7"/>
          <p:cNvSpPr txBox="1"/>
          <p:nvPr/>
        </p:nvSpPr>
        <p:spPr>
          <a:xfrm>
            <a:off x="457199" y="1295400"/>
            <a:ext cx="11125201" cy="2009775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285750" indent="-285750" eaLnBrk="1" latinLnBrk="0" hangingPunct="1">
              <a:lnSpc>
                <a:spcPct val="20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2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DICOM Raw Image (1ch)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을 </a:t>
            </a:r>
            <a:r>
              <a:rPr xmlns:mc="http://schemas.openxmlformats.org/markup-compatibility/2006" xmlns:hp="http://schemas.haansoft.com/office/presentation/8.0" kumimoji="0" lang="en-US" altLang="ko-KR" sz="22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Input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으로 하는 모델 성능 비교</a:t>
            </a:r>
            <a:endParaRPr xmlns:mc="http://schemas.openxmlformats.org/markup-compatibility/2006" xmlns:hp="http://schemas.haansoft.com/office/presentation/8.0" kumimoji="0" lang="ko-KR" altLang="en-US" sz="22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marL="285750" indent="-285750" eaLnBrk="1" latinLnBrk="0" hangingPunct="1">
              <a:lnSpc>
                <a:spcPct val="20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2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DICOM Raw Image + Segmentation (4ch)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을 </a:t>
            </a:r>
            <a:r>
              <a:rPr xmlns:mc="http://schemas.openxmlformats.org/markup-compatibility/2006" xmlns:hp="http://schemas.haansoft.com/office/presentation/8.0" kumimoji="0" lang="en-US" altLang="ko-KR" sz="22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Input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으로 하는 모델 성능 비교</a:t>
            </a:r>
            <a:endParaRPr xmlns:mc="http://schemas.openxmlformats.org/markup-compatibility/2006" xmlns:hp="http://schemas.haansoft.com/office/presentation/8.0" kumimoji="0" lang="ko-KR" altLang="en-US" sz="22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marL="285750" indent="-285750" eaLnBrk="1" latinLnBrk="0" hangingPunct="1">
              <a:lnSpc>
                <a:spcPct val="20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200" b="0" i="0" u="none" strike="noStrike" kern="0" cap="none" spc="0" normalizeH="0" baseline="0" mc:Ignorable="hp" hp:hslEmbossed="0">
                <a:solidFill>
                  <a:srgbClr val="b8b8b8"/>
                </a:solidFill>
                <a:latin typeface="Arial"/>
                <a:ea typeface="맑은 고딕"/>
                <a:cs typeface="Arial"/>
              </a:rPr>
              <a:t>Age, Density Area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0" cap="none" spc="0" normalizeH="0" baseline="0" mc:Ignorable="hp" hp:hslEmbossed="0">
                <a:solidFill>
                  <a:srgbClr val="b8b8b8"/>
                </a:solidFill>
                <a:latin typeface="Arial"/>
                <a:ea typeface="맑은 고딕"/>
                <a:cs typeface="Arial"/>
              </a:rPr>
              <a:t> 등의 </a:t>
            </a:r>
            <a:r>
              <a:rPr xmlns:mc="http://schemas.openxmlformats.org/markup-compatibility/2006" xmlns:hp="http://schemas.haansoft.com/office/presentation/8.0" kumimoji="0" lang="en-US" altLang="ko-KR" sz="2200" b="0" i="0" u="none" strike="noStrike" kern="0" cap="none" spc="0" normalizeH="0" baseline="0" mc:Ignorable="hp" hp:hslEmbossed="0">
                <a:solidFill>
                  <a:srgbClr val="b8b8b8"/>
                </a:solidFill>
                <a:latin typeface="Arial"/>
                <a:ea typeface="맑은 고딕"/>
                <a:cs typeface="Arial"/>
              </a:rPr>
              <a:t>clinical data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0" cap="none" spc="0" normalizeH="0" baseline="0" mc:Ignorable="hp" hp:hslEmbossed="0">
                <a:solidFill>
                  <a:srgbClr val="b8b8b8"/>
                </a:solidFill>
                <a:latin typeface="Arial"/>
                <a:ea typeface="맑은 고딕"/>
                <a:cs typeface="Arial"/>
              </a:rPr>
              <a:t>를 </a:t>
            </a:r>
            <a:r>
              <a:rPr xmlns:mc="http://schemas.openxmlformats.org/markup-compatibility/2006" xmlns:hp="http://schemas.haansoft.com/office/presentation/8.0" kumimoji="0" lang="en-US" altLang="ko-KR" sz="2200" b="0" i="0" u="none" strike="noStrike" kern="0" cap="none" spc="0" normalizeH="0" baseline="0" mc:Ignorable="hp" hp:hslEmbossed="0">
                <a:solidFill>
                  <a:srgbClr val="b8b8b8"/>
                </a:solidFill>
                <a:latin typeface="Arial"/>
                <a:ea typeface="맑은 고딕"/>
                <a:cs typeface="Arial"/>
              </a:rPr>
              <a:t>Input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0" cap="none" spc="0" normalizeH="0" baseline="0" mc:Ignorable="hp" hp:hslEmbossed="0">
                <a:solidFill>
                  <a:srgbClr val="b8b8b8"/>
                </a:solidFill>
                <a:latin typeface="Arial"/>
                <a:ea typeface="맑은 고딕"/>
                <a:cs typeface="Arial"/>
              </a:rPr>
              <a:t>으로 하는 모델 성능 비교</a:t>
            </a:r>
            <a:endParaRPr xmlns:mc="http://schemas.openxmlformats.org/markup-compatibility/2006" xmlns:hp="http://schemas.haansoft.com/office/presentation/8.0" kumimoji="0" lang="ko-KR" altLang="en-US" sz="2200" b="0" i="0" u="none" strike="noStrike" kern="0" cap="none" spc="0" normalizeH="0" baseline="0" mc:Ignorable="hp" hp:hslEmbossed="0">
              <a:solidFill>
                <a:srgbClr val="b8b8b8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0" y="1262062"/>
            <a:ext cx="12192000" cy="5595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383</ep:Words>
  <ep:PresentationFormat>와이드스크린</ep:PresentationFormat>
  <ep:Paragraphs>43</ep:Paragraphs>
  <ep:Slides>11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Office Theme</vt:lpstr>
      <vt:lpstr>Osteoporosis Prediction by Mammography</vt:lpstr>
      <vt:lpstr>현재 파악된 데이터 현황</vt:lpstr>
      <vt:lpstr>Model 비교</vt:lpstr>
      <vt:lpstr>Model 비교</vt:lpstr>
      <vt:lpstr>간단한 CNN Model Training</vt:lpstr>
      <vt:lpstr>간단한 CNN Model Training - Sampling Data</vt:lpstr>
      <vt:lpstr>간단한 CNN Model Training - Sampling Data</vt:lpstr>
      <vt:lpstr>여러 Model Performance 비교 - Sampling Data</vt:lpstr>
      <vt:lpstr>여러 Model Performance 비교 - Sampling Data</vt:lpstr>
      <vt:lpstr>이후 연구 진행 방향</vt:lpstr>
      <vt:lpstr>슬라이드 11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2023-07-18T06:54:54.000</dcterms:created>
  <dc:creator>이소영</dc:creator>
  <cp:lastModifiedBy>jhjun</cp:lastModifiedBy>
  <dcterms:modified xsi:type="dcterms:W3CDTF">2025-10-23T02:27:07.416</dcterms:modified>
  <cp:revision>313</cp:revision>
  <dc:title>PowerPoint 프레젠테이션</dc:title>
  <cp:version/>
</cp:coreProperties>
</file>