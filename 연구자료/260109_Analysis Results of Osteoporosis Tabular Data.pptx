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301" r:id="rId4"/>
    <p:sldId id="306" r:id="rId5"/>
    <p:sldId id="259" r:id="rId6"/>
    <p:sldId id="260" r:id="rId7"/>
    <p:sldId id="261" r:id="rId8"/>
    <p:sldId id="262" r:id="rId9"/>
    <p:sldId id="263" r:id="rId10"/>
    <p:sldId id="302" r:id="rId11"/>
    <p:sldId id="267" r:id="rId12"/>
    <p:sldId id="304" r:id="rId13"/>
    <p:sldId id="303" r:id="rId14"/>
    <p:sldId id="266" r:id="rId15"/>
    <p:sldId id="268" r:id="rId16"/>
    <p:sldId id="286" r:id="rId17"/>
    <p:sldId id="300" r:id="rId18"/>
    <p:sldId id="299" r:id="rId19"/>
    <p:sldId id="293" r:id="rId20"/>
    <p:sldId id="291" r:id="rId21"/>
    <p:sldId id="292" r:id="rId22"/>
    <p:sldId id="294" r:id="rId23"/>
    <p:sldId id="295" r:id="rId24"/>
    <p:sldId id="298" r:id="rId25"/>
    <p:sldId id="296" r:id="rId26"/>
    <p:sldId id="269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53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9D6073-5DEC-478E-BFBB-120F47F47B7E}" styleName="Light Style 1 - Body/Background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dk1"/>
              </a:solidFill>
            </a:ln>
          </a:top>
          <a:bottom>
            <a:ln w="2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dk1"/>
              </a:solidFill>
            </a:ln>
          </a:top>
          <a:bottom>
            <a:ln w="10000" cmpd="sng">
              <a:solidFill>
                <a:schemeClr val="dk1"/>
              </a:solidFill>
            </a:ln>
          </a:bottom>
        </a:tcBdr>
        <a:fill>
          <a:solidFill>
            <a:schemeClr val="dk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F0A0EA-C916-463C-A3AD-4CCFBD9124EA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>
          <a:top>
            <a:ln w="6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1">
          <a:shade val="40000"/>
        </a:schemeClr>
      </a:tcTxStyle>
      <a:tcStyle>
        <a:tcBdr/>
        <a:fill>
          <a:solidFill>
            <a:schemeClr val="accent1">
              <a:alpha val="40000"/>
            </a:schemeClr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3287" autoAdjust="0"/>
  </p:normalViewPr>
  <p:slideViewPr>
    <p:cSldViewPr>
      <p:cViewPr varScale="1">
        <p:scale>
          <a:sx n="82" d="100"/>
          <a:sy n="82" d="100"/>
        </p:scale>
        <p:origin x="441" y="48"/>
      </p:cViewPr>
      <p:guideLst>
        <p:guide orient="horz" pos="2153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F3D1CD-0EED-4DFA-AF12-8E73FDA834A4}" type="datetime1">
              <a:rPr lang="ko-KR" altLang="en-US"/>
              <a:pPr lvl="0">
                <a:defRPr/>
              </a:pPr>
              <a:t>2026-01-09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38DA34-01F3-43BF-904F-885132A129B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338DA34-01F3-43BF-904F-885132A129B0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566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894A2-ECF3-2CD6-35A6-C4222E15A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C0E007-FEEE-A6BF-8D53-25DA60CCE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DA81C-CC1F-9E15-6FB7-2AB9623D7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4DC248-0266-4835-6C08-AE8A0EE91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338DA34-01F3-43BF-904F-885132A129B0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072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67AB530A-6101-4B84-BE96-F60B99530D5B}" type="datetime1">
              <a:rPr lang="en-US" altLang="ko-KR" smtClean="0"/>
              <a:t>1/9/2026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7" name="직사각형 6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446405"/>
            <a:ext cx="11353699" cy="353695"/>
          </a:xfrm>
        </p:spPr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8B407E3-1477-4517-A788-95A0A8DFE87F}" type="datetime1">
              <a:rPr lang="en-US" altLang="ko-KR" smtClean="0"/>
              <a:t>1/9/2026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800"/>
            <a:ext cx="11125200" cy="146685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/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/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/>
            </a:lvl4pPr>
            <a:lvl5pPr marL="2114550" indent="-285750">
              <a:lnSpc>
                <a:spcPct val="100000"/>
              </a:lnSpc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5929ED2A-46B0-48DB-9818-9186C7997277}" type="datetime1">
              <a:rPr lang="en-US" altLang="ko-KR" smtClean="0"/>
              <a:t>1/9/2026</a:t>
            </a:fld>
            <a:endParaRPr lang="ko-KR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직사각형 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B1F1C577-00B4-42BA-9211-76D99B454390}" type="datetime1">
              <a:rPr lang="en-US" altLang="ko-KR" smtClean="0"/>
              <a:t>1/9/2026</a:t>
            </a:fld>
            <a:endParaRPr lang="ko-KR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6" name="직사각형 5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ED9437DE-041C-4E36-932F-4CAC6CEF80F4}" type="datetime1">
              <a:rPr lang="en-US" altLang="ko-KR" smtClean="0"/>
              <a:t>1/9/2026</a:t>
            </a:fld>
            <a:endParaRPr lang="ko-KR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403205" cy="353695"/>
          </a:xfrm>
          <a:custGeom>
            <a:avLst/>
            <a:gdLst/>
            <a:ahLst/>
            <a:cxnLst/>
            <a:rect l="l" t="t" r="r" b="b"/>
            <a:pathLst>
              <a:path w="10403205" h="353695">
                <a:moveTo>
                  <a:pt x="10402824" y="0"/>
                </a:moveTo>
                <a:lnTo>
                  <a:pt x="0" y="0"/>
                </a:lnTo>
                <a:lnTo>
                  <a:pt x="0" y="353568"/>
                </a:lnTo>
                <a:lnTo>
                  <a:pt x="10402824" y="353568"/>
                </a:lnTo>
                <a:lnTo>
                  <a:pt x="10402824" y="0"/>
                </a:lnTo>
                <a:close/>
              </a:path>
            </a:pathLst>
          </a:custGeom>
          <a:solidFill>
            <a:srgbClr val="1F346B"/>
          </a:solid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pic>
        <p:nvPicPr>
          <p:cNvPr id="17" name="bg object 17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05155" y="12745"/>
            <a:ext cx="1045403" cy="324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379298"/>
            <a:ext cx="183133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008" y="1695830"/>
            <a:ext cx="9821545" cy="167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165DEC2-1FE6-4926-8908-7D1066279987}" type="datetime1">
              <a:rPr lang="en-US" altLang="ko-KR" smtClean="0"/>
              <a:t>1/9/2026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18" name="직사각형 1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ransition/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342901"/>
            <a:ext cx="12192000" cy="6540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dirty="0">
                <a:solidFill>
                  <a:schemeClr val="lt1"/>
                </a:solidFill>
              </a:rPr>
              <a:t>Analysis Results of Osteoporosis Tabular Data</a:t>
            </a:r>
          </a:p>
        </p:txBody>
      </p:sp>
      <p:pic>
        <p:nvPicPr>
          <p:cNvPr id="4" name="object 4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0" y="5446776"/>
            <a:ext cx="4561332" cy="1004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2026. 01. 09.</a:t>
            </a:r>
          </a:p>
        </p:txBody>
      </p:sp>
      <p:sp>
        <p:nvSpPr>
          <p:cNvPr id="6" name="object 5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JangHoon Chun</a:t>
            </a:r>
          </a:p>
        </p:txBody>
      </p:sp>
      <p:sp>
        <p:nvSpPr>
          <p:cNvPr id="7" name="object 5"/>
          <p:cNvSpPr txBox="1"/>
          <p:nvPr/>
        </p:nvSpPr>
        <p:spPr>
          <a:xfrm>
            <a:off x="417068" y="3978214"/>
            <a:ext cx="7139940" cy="119386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Department of Medical Device Industry,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aseline="25000">
              <a:latin typeface="Arial"/>
              <a:ea typeface="+mj-ea"/>
              <a:cs typeface="Arial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80E798-42C1-C411-6208-5D03D930F6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</a:t>
            </a:fld>
            <a:endParaRPr lang="en-US" altLang="ko-KR" spc="-2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1. What’s discussed in the last meetings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</a:t>
            </a:fld>
            <a:endParaRPr lang="en-US" spc="-25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81819E48-72CA-8688-A8C9-B4B9046C6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1125200" cy="290105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ko-KR" altLang="en-US" sz="2000" b="1" dirty="0"/>
              <a:t>다양한 모델을 통한 결과 비교</a:t>
            </a:r>
            <a:endParaRPr lang="en-US" altLang="ko-KR" sz="2000" b="1" dirty="0"/>
          </a:p>
          <a:p>
            <a:pPr lvl="1">
              <a:lnSpc>
                <a:spcPct val="200000"/>
              </a:lnSpc>
            </a:pPr>
            <a:r>
              <a:rPr lang="en-US" altLang="ko-KR" sz="1800" dirty="0"/>
              <a:t>Logistic Regression, Linear Discriminant Analysis(</a:t>
            </a:r>
            <a:r>
              <a:rPr lang="en-US" altLang="ko-KR" sz="1800" dirty="0" err="1"/>
              <a:t>lda</a:t>
            </a:r>
            <a:r>
              <a:rPr lang="en-US" altLang="ko-KR" sz="1800" dirty="0"/>
              <a:t>), Quadratic Discriminant Analysis(</a:t>
            </a:r>
            <a:r>
              <a:rPr lang="en-US" altLang="ko-KR" sz="1800" dirty="0" err="1"/>
              <a:t>qda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en-US" altLang="ko-KR" sz="1800" dirty="0"/>
              <a:t>Naive Bayes, Decision Tree, KNN, </a:t>
            </a:r>
            <a:r>
              <a:rPr lang="en-US" altLang="ko-KR" sz="1800" dirty="0" err="1"/>
              <a:t>XGBoost</a:t>
            </a:r>
            <a:r>
              <a:rPr lang="en-US" altLang="ko-KR" sz="1800" dirty="0"/>
              <a:t> </a:t>
            </a:r>
            <a:r>
              <a:rPr lang="ko-KR" altLang="en-US" sz="1800" dirty="0"/>
              <a:t>등</a:t>
            </a:r>
            <a:endParaRPr lang="en-US" altLang="ko-KR" sz="1800" dirty="0"/>
          </a:p>
          <a:p>
            <a:pPr lvl="1">
              <a:lnSpc>
                <a:spcPct val="200000"/>
              </a:lnSpc>
            </a:pPr>
            <a:endParaRPr lang="en-US" altLang="ko-KR" sz="1800" dirty="0"/>
          </a:p>
          <a:p>
            <a:pPr>
              <a:lnSpc>
                <a:spcPct val="200000"/>
              </a:lnSpc>
            </a:pPr>
            <a:r>
              <a:rPr lang="en-US" altLang="ko-KR" sz="2000" b="1" dirty="0"/>
              <a:t>Feature </a:t>
            </a:r>
            <a:r>
              <a:rPr lang="ko-KR" altLang="en-US" sz="2000" b="1" dirty="0"/>
              <a:t>별로 </a:t>
            </a:r>
            <a:r>
              <a:rPr lang="en-US" altLang="ko-KR" sz="2000" b="1" dirty="0"/>
              <a:t>Subgroup</a:t>
            </a:r>
            <a:r>
              <a:rPr lang="ko-KR" altLang="en-US" sz="2000" b="1" dirty="0"/>
              <a:t>을 나눠 성능 비교</a:t>
            </a:r>
            <a:endParaRPr lang="en-US" altLang="ko-KR" sz="2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Research Summary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3</a:t>
            </a:fld>
            <a:endParaRPr lang="en-US" spc="-25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3FEFC2D-D656-6D9A-A2F1-F6B04CC50DFB}"/>
              </a:ext>
            </a:extLst>
          </p:cNvPr>
          <p:cNvGrpSpPr/>
          <p:nvPr/>
        </p:nvGrpSpPr>
        <p:grpSpPr>
          <a:xfrm>
            <a:off x="1492495" y="2708419"/>
            <a:ext cx="9480305" cy="1994337"/>
            <a:chOff x="1492495" y="1828800"/>
            <a:chExt cx="9480305" cy="1994337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021845BA-E805-0178-E12E-C53B60AA13D3}"/>
                </a:ext>
              </a:extLst>
            </p:cNvPr>
            <p:cNvSpPr/>
            <p:nvPr/>
          </p:nvSpPr>
          <p:spPr>
            <a:xfrm>
              <a:off x="1492495" y="1828800"/>
              <a:ext cx="1620000" cy="86269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Data Preparation</a:t>
              </a:r>
              <a:endParaRPr lang="ko-KR" altLang="en-US" sz="1400" b="1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43E62D2-0F94-B113-4D16-60AB800D59AA}"/>
                </a:ext>
              </a:extLst>
            </p:cNvPr>
            <p:cNvSpPr/>
            <p:nvPr/>
          </p:nvSpPr>
          <p:spPr>
            <a:xfrm>
              <a:off x="4021498" y="1828800"/>
              <a:ext cx="1620000" cy="86269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Outer CV Loop</a:t>
              </a:r>
              <a:endParaRPr lang="ko-KR" altLang="en-US" sz="1400" b="1" dirty="0"/>
            </a:p>
          </p:txBody>
        </p:sp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62BA032F-822B-49C2-97CC-97BCAD523D3D}"/>
                </a:ext>
              </a:extLst>
            </p:cNvPr>
            <p:cNvSpPr/>
            <p:nvPr/>
          </p:nvSpPr>
          <p:spPr>
            <a:xfrm>
              <a:off x="3308188" y="2087608"/>
              <a:ext cx="517617" cy="3450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DD4F8D3-CBD6-4398-EABB-612875DA9799}"/>
                </a:ext>
              </a:extLst>
            </p:cNvPr>
            <p:cNvSpPr/>
            <p:nvPr/>
          </p:nvSpPr>
          <p:spPr>
            <a:xfrm>
              <a:off x="6685800" y="1832613"/>
              <a:ext cx="1620000" cy="86269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Sampling</a:t>
              </a:r>
            </a:p>
            <a:p>
              <a:pPr algn="ctr"/>
              <a:r>
                <a:rPr lang="en-US" altLang="ko-KR" sz="1400" b="1" dirty="0"/>
                <a:t>(Optional)</a:t>
              </a:r>
              <a:endParaRPr lang="ko-KR" altLang="en-US" sz="1400" b="1" dirty="0"/>
            </a:p>
          </p:txBody>
        </p:sp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3A414F6D-0CCD-AAF0-3A4C-BEDCC8B0A874}"/>
                </a:ext>
              </a:extLst>
            </p:cNvPr>
            <p:cNvSpPr/>
            <p:nvPr/>
          </p:nvSpPr>
          <p:spPr>
            <a:xfrm>
              <a:off x="5837191" y="2087608"/>
              <a:ext cx="517617" cy="3450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3BA1B622-78B4-812A-4294-681510DA9A6E}"/>
                </a:ext>
              </a:extLst>
            </p:cNvPr>
            <p:cNvSpPr/>
            <p:nvPr/>
          </p:nvSpPr>
          <p:spPr>
            <a:xfrm>
              <a:off x="9352800" y="2394622"/>
              <a:ext cx="1620000" cy="86269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Feature Selection (RFECV)</a:t>
              </a:r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ED779B7E-A04E-12AE-492C-D148F1488A6B}"/>
                </a:ext>
              </a:extLst>
            </p:cNvPr>
            <p:cNvSpPr/>
            <p:nvPr/>
          </p:nvSpPr>
          <p:spPr>
            <a:xfrm>
              <a:off x="8550183" y="2087608"/>
              <a:ext cx="517617" cy="3450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1ACBEB7-8ED5-B4D5-1376-6F13CD700C08}"/>
                </a:ext>
              </a:extLst>
            </p:cNvPr>
            <p:cNvSpPr/>
            <p:nvPr/>
          </p:nvSpPr>
          <p:spPr>
            <a:xfrm>
              <a:off x="6685800" y="2956630"/>
              <a:ext cx="1620000" cy="86269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Model Training</a:t>
              </a:r>
              <a:endParaRPr lang="ko-KR" altLang="en-US" sz="1400" b="1" dirty="0"/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0AEDB700-2CB2-9279-CA8A-6A34D8EBB95B}"/>
                </a:ext>
              </a:extLst>
            </p:cNvPr>
            <p:cNvSpPr/>
            <p:nvPr/>
          </p:nvSpPr>
          <p:spPr>
            <a:xfrm flipH="1">
              <a:off x="5837191" y="3211625"/>
              <a:ext cx="517617" cy="3450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C478E03-3984-0B65-61D8-7E4E9FDAF609}"/>
                </a:ext>
              </a:extLst>
            </p:cNvPr>
            <p:cNvSpPr/>
            <p:nvPr/>
          </p:nvSpPr>
          <p:spPr>
            <a:xfrm>
              <a:off x="1493475" y="2956630"/>
              <a:ext cx="1620000" cy="86269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Reporting &amp; Analysis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6BB91EC7-AACD-5688-429B-73B6BAC257F0}"/>
                </a:ext>
              </a:extLst>
            </p:cNvPr>
            <p:cNvSpPr/>
            <p:nvPr/>
          </p:nvSpPr>
          <p:spPr>
            <a:xfrm>
              <a:off x="4022478" y="2960443"/>
              <a:ext cx="1620000" cy="86269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Validation &amp; Evaluation</a:t>
              </a:r>
              <a:endParaRPr lang="ko-KR" altLang="en-US" sz="1400" b="1" dirty="0"/>
            </a:p>
          </p:txBody>
        </p:sp>
        <p:sp>
          <p:nvSpPr>
            <p:cNvPr id="21" name="화살표: 오른쪽 20">
              <a:extLst>
                <a:ext uri="{FF2B5EF4-FFF2-40B4-BE49-F238E27FC236}">
                  <a16:creationId xmlns:a16="http://schemas.microsoft.com/office/drawing/2014/main" id="{2FFF0EFA-AEFE-7474-2D59-B1AA628AE9C8}"/>
                </a:ext>
              </a:extLst>
            </p:cNvPr>
            <p:cNvSpPr/>
            <p:nvPr/>
          </p:nvSpPr>
          <p:spPr>
            <a:xfrm flipH="1">
              <a:off x="3309168" y="3215438"/>
              <a:ext cx="517617" cy="3450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E4CC7B3A-347F-A073-649A-D92AFDC0EB7A}"/>
                </a:ext>
              </a:extLst>
            </p:cNvPr>
            <p:cNvSpPr/>
            <p:nvPr/>
          </p:nvSpPr>
          <p:spPr>
            <a:xfrm flipH="1">
              <a:off x="8550183" y="3211625"/>
              <a:ext cx="517617" cy="3450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sp>
        <p:nvSpPr>
          <p:cNvPr id="28" name="설명선: 굽은 선 27">
            <a:extLst>
              <a:ext uri="{FF2B5EF4-FFF2-40B4-BE49-F238E27FC236}">
                <a16:creationId xmlns:a16="http://schemas.microsoft.com/office/drawing/2014/main" id="{2F407066-B5C2-7040-4A43-CB4BAC895187}"/>
              </a:ext>
            </a:extLst>
          </p:cNvPr>
          <p:cNvSpPr/>
          <p:nvPr/>
        </p:nvSpPr>
        <p:spPr>
          <a:xfrm>
            <a:off x="914400" y="1156642"/>
            <a:ext cx="2190700" cy="998603"/>
          </a:xfrm>
          <a:prstGeom prst="borderCallout2">
            <a:avLst>
              <a:gd name="adj1" fmla="val 105150"/>
              <a:gd name="adj2" fmla="val 12332"/>
              <a:gd name="adj3" fmla="val 130045"/>
              <a:gd name="adj4" fmla="val 12361"/>
              <a:gd name="adj5" fmla="val 158712"/>
              <a:gd name="adj6" fmla="val 25554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불필요한 </a:t>
            </a:r>
            <a:r>
              <a:rPr lang="en-US" altLang="ko-KR" sz="1200" dirty="0"/>
              <a:t>identifier </a:t>
            </a:r>
            <a:r>
              <a:rPr lang="ko-KR" altLang="en-US" sz="1200" dirty="0"/>
              <a:t>제거</a:t>
            </a:r>
            <a:endParaRPr lang="en-US" altLang="ko-KR" sz="12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Train/Test Split </a:t>
            </a:r>
            <a:r>
              <a:rPr lang="ko-KR" altLang="en-US" sz="1200" dirty="0"/>
              <a:t>고정</a:t>
            </a:r>
            <a:endParaRPr lang="en-US" altLang="ko-KR" sz="1200" dirty="0"/>
          </a:p>
        </p:txBody>
      </p:sp>
      <p:sp>
        <p:nvSpPr>
          <p:cNvPr id="29" name="설명선: 굽은 선 28">
            <a:extLst>
              <a:ext uri="{FF2B5EF4-FFF2-40B4-BE49-F238E27FC236}">
                <a16:creationId xmlns:a16="http://schemas.microsoft.com/office/drawing/2014/main" id="{41E6D52C-677D-E719-039E-7A5F39196975}"/>
              </a:ext>
            </a:extLst>
          </p:cNvPr>
          <p:cNvSpPr/>
          <p:nvPr/>
        </p:nvSpPr>
        <p:spPr>
          <a:xfrm>
            <a:off x="3448100" y="1156642"/>
            <a:ext cx="2190700" cy="998603"/>
          </a:xfrm>
          <a:prstGeom prst="borderCallout2">
            <a:avLst>
              <a:gd name="adj1" fmla="val 105150"/>
              <a:gd name="adj2" fmla="val 12332"/>
              <a:gd name="adj3" fmla="val 130045"/>
              <a:gd name="adj4" fmla="val 12361"/>
              <a:gd name="adj5" fmla="val 155668"/>
              <a:gd name="adj6" fmla="val 24702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Stratified K Fold(5-fold)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Class </a:t>
            </a:r>
            <a:r>
              <a:rPr lang="ko-KR" altLang="en-US" sz="1200" dirty="0"/>
              <a:t>비율 유지</a:t>
            </a:r>
            <a:endParaRPr lang="en-US" altLang="ko-KR" sz="12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77468B-FE1D-8381-FA2E-A15722343C90}"/>
              </a:ext>
            </a:extLst>
          </p:cNvPr>
          <p:cNvSpPr/>
          <p:nvPr/>
        </p:nvSpPr>
        <p:spPr>
          <a:xfrm>
            <a:off x="6545581" y="2590800"/>
            <a:ext cx="4579619" cy="2209800"/>
          </a:xfrm>
          <a:prstGeom prst="roundRect">
            <a:avLst>
              <a:gd name="adj" fmla="val 6171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3C2AE5-6C89-4355-8AFA-A8E36E45E35C}"/>
              </a:ext>
            </a:extLst>
          </p:cNvPr>
          <p:cNvSpPr txBox="1"/>
          <p:nvPr/>
        </p:nvSpPr>
        <p:spPr>
          <a:xfrm>
            <a:off x="7786802" y="2289844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Inner CV Loop</a:t>
            </a:r>
            <a:endParaRPr lang="ko-KR" altLang="en-US" sz="1600" b="1" dirty="0"/>
          </a:p>
        </p:txBody>
      </p:sp>
      <p:sp>
        <p:nvSpPr>
          <p:cNvPr id="31" name="설명선: 굽은 선 30">
            <a:extLst>
              <a:ext uri="{FF2B5EF4-FFF2-40B4-BE49-F238E27FC236}">
                <a16:creationId xmlns:a16="http://schemas.microsoft.com/office/drawing/2014/main" id="{B3F334BC-CA95-A7F4-CE3F-9606DBDB64BF}"/>
              </a:ext>
            </a:extLst>
          </p:cNvPr>
          <p:cNvSpPr/>
          <p:nvPr/>
        </p:nvSpPr>
        <p:spPr>
          <a:xfrm>
            <a:off x="6115100" y="1156642"/>
            <a:ext cx="2190700" cy="998603"/>
          </a:xfrm>
          <a:prstGeom prst="borderCallout2">
            <a:avLst>
              <a:gd name="adj1" fmla="val 105150"/>
              <a:gd name="adj2" fmla="val 12332"/>
              <a:gd name="adj3" fmla="val 130045"/>
              <a:gd name="adj4" fmla="val 12361"/>
              <a:gd name="adj5" fmla="val 157723"/>
              <a:gd name="adj6" fmla="val 26832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No Sampling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SMOTE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Under Sampling</a:t>
            </a:r>
          </a:p>
        </p:txBody>
      </p:sp>
      <p:sp>
        <p:nvSpPr>
          <p:cNvPr id="35" name="설명선: 굽은 선 34">
            <a:extLst>
              <a:ext uri="{FF2B5EF4-FFF2-40B4-BE49-F238E27FC236}">
                <a16:creationId xmlns:a16="http://schemas.microsoft.com/office/drawing/2014/main" id="{47D84410-A5B3-9430-469F-DB22CB2B1E8B}"/>
              </a:ext>
            </a:extLst>
          </p:cNvPr>
          <p:cNvSpPr/>
          <p:nvPr/>
        </p:nvSpPr>
        <p:spPr>
          <a:xfrm>
            <a:off x="9547021" y="1156641"/>
            <a:ext cx="2190700" cy="998603"/>
          </a:xfrm>
          <a:prstGeom prst="borderCallout2">
            <a:avLst>
              <a:gd name="adj1" fmla="val 107953"/>
              <a:gd name="adj2" fmla="val 81331"/>
              <a:gd name="adj3" fmla="val 154339"/>
              <a:gd name="adj4" fmla="val 82637"/>
              <a:gd name="adj5" fmla="val 208178"/>
              <a:gd name="adj6" fmla="val 64312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Coef</a:t>
            </a:r>
            <a:r>
              <a:rPr lang="ko-KR" altLang="en-US" sz="1200" dirty="0"/>
              <a:t> 기반 중요도 낮은 </a:t>
            </a:r>
            <a:r>
              <a:rPr lang="en-US" altLang="ko-KR" sz="1200" dirty="0"/>
              <a:t>feature</a:t>
            </a:r>
            <a:r>
              <a:rPr lang="ko-KR" altLang="en-US" sz="1200" dirty="0"/>
              <a:t>부터 순차 제거 </a:t>
            </a:r>
            <a:endParaRPr lang="en-US" altLang="ko-KR" sz="1200" dirty="0"/>
          </a:p>
        </p:txBody>
      </p:sp>
      <p:sp>
        <p:nvSpPr>
          <p:cNvPr id="36" name="설명선: 굽은 선 35">
            <a:extLst>
              <a:ext uri="{FF2B5EF4-FFF2-40B4-BE49-F238E27FC236}">
                <a16:creationId xmlns:a16="http://schemas.microsoft.com/office/drawing/2014/main" id="{7C962E3E-1C6B-AE2F-E823-F163A49CBA34}"/>
              </a:ext>
            </a:extLst>
          </p:cNvPr>
          <p:cNvSpPr/>
          <p:nvPr/>
        </p:nvSpPr>
        <p:spPr>
          <a:xfrm>
            <a:off x="7454833" y="5458941"/>
            <a:ext cx="2190700" cy="998603"/>
          </a:xfrm>
          <a:prstGeom prst="borderCallout2">
            <a:avLst>
              <a:gd name="adj1" fmla="val -6040"/>
              <a:gd name="adj2" fmla="val 28091"/>
              <a:gd name="adj3" fmla="val -32535"/>
              <a:gd name="adj4" fmla="val 8528"/>
              <a:gd name="adj5" fmla="val -73066"/>
              <a:gd name="adj6" fmla="val 8518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Logistic Regression Hyperparameter </a:t>
            </a:r>
            <a:r>
              <a:rPr lang="ko-KR" altLang="en-US" sz="1200" dirty="0"/>
              <a:t>비교</a:t>
            </a:r>
            <a:endParaRPr lang="en-US" altLang="ko-KR" sz="12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/>
              <a:t>class_weight</a:t>
            </a:r>
            <a:r>
              <a:rPr lang="en-US" altLang="ko-KR" sz="1200" dirty="0"/>
              <a:t> </a:t>
            </a:r>
            <a:r>
              <a:rPr lang="ko-KR" altLang="en-US" sz="1200" dirty="0"/>
              <a:t>변경</a:t>
            </a:r>
            <a:endParaRPr lang="en-US" altLang="ko-KR" sz="1200" dirty="0"/>
          </a:p>
        </p:txBody>
      </p:sp>
      <p:sp>
        <p:nvSpPr>
          <p:cNvPr id="37" name="설명선: 굽은 선 36">
            <a:extLst>
              <a:ext uri="{FF2B5EF4-FFF2-40B4-BE49-F238E27FC236}">
                <a16:creationId xmlns:a16="http://schemas.microsoft.com/office/drawing/2014/main" id="{4F3E1ADC-A19D-E5C8-F942-906BCCFAF9A1}"/>
              </a:ext>
            </a:extLst>
          </p:cNvPr>
          <p:cNvSpPr/>
          <p:nvPr/>
        </p:nvSpPr>
        <p:spPr>
          <a:xfrm>
            <a:off x="4252121" y="5458941"/>
            <a:ext cx="2684391" cy="998603"/>
          </a:xfrm>
          <a:prstGeom prst="borderCallout2">
            <a:avLst>
              <a:gd name="adj1" fmla="val -6040"/>
              <a:gd name="adj2" fmla="val 35263"/>
              <a:gd name="adj3" fmla="val -29732"/>
              <a:gd name="adj4" fmla="val 19920"/>
              <a:gd name="adj5" fmla="val -68393"/>
              <a:gd name="adj6" fmla="val 20228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Threshold </a:t>
            </a:r>
            <a:r>
              <a:rPr lang="ko-KR" altLang="en-US" sz="1200" dirty="0"/>
              <a:t>변경</a:t>
            </a:r>
            <a:endParaRPr lang="en-US" altLang="ko-KR" sz="12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Confusion Matrix </a:t>
            </a:r>
            <a:r>
              <a:rPr lang="ko-KR" altLang="en-US" sz="1200" dirty="0"/>
              <a:t>기반 지표 산출</a:t>
            </a:r>
            <a:endParaRPr lang="en-US" altLang="ko-KR" sz="12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Fold</a:t>
            </a:r>
            <a:r>
              <a:rPr lang="ko-KR" altLang="en-US" sz="1200" dirty="0"/>
              <a:t>별 </a:t>
            </a:r>
            <a:r>
              <a:rPr lang="en-US" altLang="ko-KR" sz="1200" dirty="0"/>
              <a:t>/ </a:t>
            </a:r>
            <a:r>
              <a:rPr lang="ko-KR" altLang="en-US" sz="1200" dirty="0"/>
              <a:t>평균 성능 확인</a:t>
            </a:r>
            <a:endParaRPr lang="en-US" altLang="ko-KR" sz="1200" dirty="0"/>
          </a:p>
        </p:txBody>
      </p:sp>
      <p:sp>
        <p:nvSpPr>
          <p:cNvPr id="38" name="설명선: 굽은 선 37">
            <a:extLst>
              <a:ext uri="{FF2B5EF4-FFF2-40B4-BE49-F238E27FC236}">
                <a16:creationId xmlns:a16="http://schemas.microsoft.com/office/drawing/2014/main" id="{93CF0F72-E760-FF46-FDDE-344DFE252A76}"/>
              </a:ext>
            </a:extLst>
          </p:cNvPr>
          <p:cNvSpPr/>
          <p:nvPr/>
        </p:nvSpPr>
        <p:spPr>
          <a:xfrm>
            <a:off x="594150" y="5252117"/>
            <a:ext cx="3139650" cy="1205426"/>
          </a:xfrm>
          <a:prstGeom prst="borderCallout2">
            <a:avLst>
              <a:gd name="adj1" fmla="val -7909"/>
              <a:gd name="adj2" fmla="val 16591"/>
              <a:gd name="adj3" fmla="val -39396"/>
              <a:gd name="adj4" fmla="val 16749"/>
              <a:gd name="adj5" fmla="val -55852"/>
              <a:gd name="adj6" fmla="val 26112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성능 지표</a:t>
            </a:r>
            <a:r>
              <a:rPr lang="en-US" altLang="ko-KR" sz="1200" dirty="0"/>
              <a:t>, feature list </a:t>
            </a:r>
            <a:r>
              <a:rPr lang="ko-KR" altLang="en-US" sz="1200" dirty="0"/>
              <a:t>확인</a:t>
            </a:r>
            <a:endParaRPr lang="en-US" altLang="ko-KR" sz="12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Fold </a:t>
            </a:r>
            <a:r>
              <a:rPr lang="ko-KR" altLang="en-US" sz="1200" dirty="0"/>
              <a:t>평균 </a:t>
            </a:r>
            <a:r>
              <a:rPr lang="en-US" altLang="ko-KR" sz="1200" dirty="0"/>
              <a:t>± </a:t>
            </a:r>
            <a:r>
              <a:rPr lang="ko-KR" altLang="en-US" sz="1200" dirty="0"/>
              <a:t>표준편차 요약</a:t>
            </a:r>
            <a:endParaRPr lang="en-US" altLang="ko-KR" sz="12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Sampling / </a:t>
            </a:r>
            <a:r>
              <a:rPr lang="en-US" altLang="ko-KR" sz="1200" dirty="0" err="1"/>
              <a:t>class_weight</a:t>
            </a:r>
            <a:r>
              <a:rPr lang="en-US" altLang="ko-KR" sz="1200" dirty="0"/>
              <a:t> / RFECV </a:t>
            </a:r>
            <a:r>
              <a:rPr lang="ko-KR" altLang="en-US" sz="1200" dirty="0"/>
              <a:t>비교</a:t>
            </a:r>
            <a:endParaRPr lang="en-US" altLang="ko-KR" sz="12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Subgroup </a:t>
            </a:r>
            <a:r>
              <a:rPr lang="ko-KR" altLang="en-US" sz="1200" dirty="0"/>
              <a:t>결과 해석</a:t>
            </a:r>
            <a:endParaRPr lang="en-US" altLang="ko-KR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5554F-0CF6-D2F9-B051-E0A83DD6D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93EDF4A-A7DB-3F62-8BF2-CD9F96665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Research Summary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91CC3309-7041-0E77-8CBA-83540C93C8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4</a:t>
            </a:fld>
            <a:endParaRPr lang="en-US" spc="-25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410FA252-67EB-DC58-3981-0615616263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0972800" cy="242451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b="1" dirty="0"/>
              <a:t>Objective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Severe class imbalance (≈ </a:t>
            </a:r>
            <a:r>
              <a:rPr lang="en-US" altLang="ko-KR" b="1" dirty="0"/>
              <a:t>1:7</a:t>
            </a:r>
            <a:r>
              <a:rPr lang="en-US" altLang="ko-KR" dirty="0"/>
              <a:t>) in postmenopausal osteoporosis dataset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Multiple imbalance handling strategies and feature selection methods evaluated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Goal: </a:t>
            </a:r>
            <a:r>
              <a:rPr lang="en-US" altLang="ko-KR" b="1" dirty="0"/>
              <a:t>maximize sensitivity while maintaining stable AUC</a:t>
            </a:r>
            <a:endParaRPr lang="en-US" altLang="ko-KR" dirty="0"/>
          </a:p>
          <a:p>
            <a:pPr>
              <a:lnSpc>
                <a:spcPct val="150000"/>
              </a:lnSpc>
              <a:defRPr/>
            </a:pP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7E55724-05C7-1A86-5164-6FEFB32D1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389421"/>
              </p:ext>
            </p:extLst>
          </p:nvPr>
        </p:nvGraphicFramePr>
        <p:xfrm>
          <a:off x="1693680" y="3505200"/>
          <a:ext cx="8804640" cy="2525208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3441844495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3059053019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708862492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1260742359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3753755110"/>
                    </a:ext>
                  </a:extLst>
                </a:gridCol>
              </a:tblGrid>
              <a:tr h="420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Method</a:t>
                      </a:r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Accuracy</a:t>
                      </a:r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Sensitivity</a:t>
                      </a:r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Specificity</a:t>
                      </a:r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AUC</a:t>
                      </a:r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59835"/>
                  </a:ext>
                </a:extLst>
              </a:tr>
              <a:tr h="420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 sampling</a:t>
                      </a:r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0.68 ± 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0.66 ± 0.04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0.68 ± 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0.74 ± 0.03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778999"/>
                  </a:ext>
                </a:extLst>
              </a:tr>
              <a:tr h="420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SMOTE</a:t>
                      </a:r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0.72 ± 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0.50 ± 0.04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0.76 ± 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0.69 ± 0.03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563164"/>
                  </a:ext>
                </a:extLst>
              </a:tr>
              <a:tr h="420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UnderSampling</a:t>
                      </a:r>
                      <a:endParaRPr lang="en-US" sz="1400" dirty="0"/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0.66 ± 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0.66 ± 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0.66 ± 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0.73 ± 0.03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526674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Class weight = balanced</a:t>
                      </a:r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0.67 ± 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0.66 ± 0.07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0.68 ± 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0.74 ± 0.03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70461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Manual weight (1:10)</a:t>
                      </a:r>
                    </a:p>
                  </a:txBody>
                  <a:tcPr marL="55933" marR="55933" marT="27966" marB="279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0.57 ± 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0.79 ± 0.07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0.54 ± 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0.74 ± 0.03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019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69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5005-23A7-7AFB-BC2B-6E2832B0B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5AD6832-7334-44B4-725E-86C0EBDBE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14875F32-8918-4B60-499C-4A83AF0936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5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523AEAB0-2284-3E91-EC4F-83CD26934C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007846"/>
            <a:ext cx="5486400" cy="36375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인체 임상 변수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DA0C6FA-5764-D095-FA59-83B19B75D2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0622266"/>
              </p:ext>
            </p:extLst>
          </p:nvPr>
        </p:nvGraphicFramePr>
        <p:xfrm>
          <a:off x="685800" y="1542803"/>
          <a:ext cx="5562600" cy="4937760"/>
        </p:xfrm>
        <a:graphic>
          <a:graphicData uri="http://schemas.openxmlformats.org/drawingml/2006/table">
            <a:tbl>
              <a:tblPr firstRow="1" bandRow="1">
                <a:tableStyleId>{729D6073-5DEC-478E-BFBB-120F47F47B7E}</a:tableStyleId>
              </a:tblPr>
              <a:tblGrid>
                <a:gridCol w="160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3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Description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File Analyzed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환자 / 케이스 식별자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ID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골다공증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여부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나이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진료년월일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검사 날짜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YYYY-MM-DD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체중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몸무게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체질량지수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kg/m²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허리둘레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 둘레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근육량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부위별 평균 근육량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체지방율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체지방량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총량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복부지방율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</a:t>
                      </a: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비율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복부내장지방량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내장지방량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복부피하지방량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피하지방량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초경연령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 시작 나이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폐경여부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여부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출산횟</a:t>
                      </a: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수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횟수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Count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텍스트 개체 틀 7"/>
          <p:cNvSpPr txBox="1">
            <a:spLocks/>
          </p:cNvSpPr>
          <p:nvPr/>
        </p:nvSpPr>
        <p:spPr>
          <a:xfrm>
            <a:off x="6858000" y="1013289"/>
            <a:ext cx="3352800" cy="363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>
                <a:latin typeface="+mn-lt"/>
                <a:ea typeface="+mn-ea"/>
                <a:cs typeface="+mn-cs"/>
              </a:defRPr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>
                <a:latin typeface="+mn-lt"/>
                <a:ea typeface="+mn-ea"/>
                <a:cs typeface="+mn-cs"/>
              </a:defRPr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>
                <a:latin typeface="+mn-lt"/>
                <a:ea typeface="+mn-ea"/>
                <a:cs typeface="+mn-cs"/>
              </a:defRPr>
            </a:lvl4pPr>
            <a:lvl5pPr marL="2114550" indent="-285750">
              <a:lnSpc>
                <a:spcPct val="100000"/>
              </a:lnSpc>
              <a:buFont typeface="Arial"/>
              <a:buChar char="•"/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약물 복용 변수</a:t>
            </a:r>
            <a:endParaRPr lang="en-US" altLang="ko-KR" sz="1800" dirty="0"/>
          </a:p>
        </p:txBody>
      </p:sp>
      <p:graphicFrame>
        <p:nvGraphicFramePr>
          <p:cNvPr id="17" name="표 16"/>
          <p:cNvGraphicFramePr/>
          <p:nvPr>
            <p:extLst>
              <p:ext uri="{D42A27DB-BD31-4B8C-83A1-F6EECF244321}">
                <p14:modId xmlns:p14="http://schemas.microsoft.com/office/powerpoint/2010/main" val="3290937351"/>
              </p:ext>
            </p:extLst>
          </p:nvPr>
        </p:nvGraphicFramePr>
        <p:xfrm>
          <a:off x="6781800" y="1542803"/>
          <a:ext cx="4343400" cy="246888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852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혈압약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당뇨약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고지혈증약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소염진통제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02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흡연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current: 1 / </a:t>
                      </a:r>
                      <a:r>
                        <a:rPr lang="en-US" altLang="ko-KR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exsmoke</a:t>
                      </a: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: 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운동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3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음주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75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유방암 가족력 이력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20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영상 파생 변수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Mammography</a:t>
            </a:r>
            <a:r>
              <a:rPr lang="ko-KR" altLang="en-US" sz="1600"/>
              <a:t>로부터 계산된 값</a:t>
            </a:r>
          </a:p>
        </p:txBody>
      </p:sp>
      <p:graphicFrame>
        <p:nvGraphicFramePr>
          <p:cNvPr id="17" name="표 16"/>
          <p:cNvGraphicFramePr/>
          <p:nvPr/>
        </p:nvGraphicFramePr>
        <p:xfrm>
          <a:off x="1219200" y="2133600"/>
          <a:ext cx="9601200" cy="2074571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3445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Description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전체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d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ense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치밀 조직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내 치밀조직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g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rading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밀도 등급</a:t>
                      </a:r>
                      <a:endParaRPr lang="en-US" altLang="ko-KR"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1~4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단계</a:t>
                      </a:r>
                      <a:endParaRPr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*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BIRADS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Category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BI-RADS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평가 카테고리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1~5</a:t>
                      </a:r>
                      <a:r>
                        <a:rPr lang="ko-KR" alt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등급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43000" y="426720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</a:rPr>
              <a:t>*BIRADS (Breast Imaging Reporting and Data System)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7</a:t>
            </a:fld>
            <a:endParaRPr lang="en-US" spc="-25" dirty="0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환자 데이터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전체 </a:t>
            </a:r>
            <a:r>
              <a:rPr lang="en-US" altLang="ko-KR" sz="1600" dirty="0"/>
              <a:t>8,768</a:t>
            </a:r>
            <a:r>
              <a:rPr lang="ko-KR" altLang="en-US" sz="1600" dirty="0"/>
              <a:t>명 중 폐경 환자군만 고려</a:t>
            </a:r>
          </a:p>
        </p:txBody>
      </p:sp>
      <p:graphicFrame>
        <p:nvGraphicFramePr>
          <p:cNvPr id="2" name="표 18"/>
          <p:cNvGraphicFramePr/>
          <p:nvPr/>
        </p:nvGraphicFramePr>
        <p:xfrm>
          <a:off x="1251408" y="2819401"/>
          <a:ext cx="3124200" cy="144780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5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Group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Samples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3,961(100)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(87.7)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r>
                        <a:rPr lang="en-US" altLang="ko-KR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(12.3)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222146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맑은 고딕"/>
                <a:ea typeface="맑은 고딕"/>
              </a:rPr>
              <a:t>&lt;</a:t>
            </a:r>
            <a:r>
              <a:rPr lang="ko-KR" altLang="en-US" sz="1800">
                <a:latin typeface="맑은 고딕"/>
                <a:ea typeface="맑은 고딕"/>
              </a:rPr>
              <a:t>폐경 환자군 내 정상</a:t>
            </a:r>
            <a:r>
              <a:rPr lang="en-US" altLang="ko-KR" sz="1800">
                <a:latin typeface="맑은 고딕"/>
                <a:ea typeface="맑은 고딕"/>
              </a:rPr>
              <a:t>/</a:t>
            </a:r>
            <a:r>
              <a:rPr lang="ko-KR" altLang="en-US" sz="1800">
                <a:latin typeface="맑은 고딕"/>
                <a:ea typeface="맑은 고딕"/>
              </a:rPr>
              <a:t>골다공증 비율</a:t>
            </a:r>
            <a:r>
              <a:rPr lang="en-US" altLang="ko-KR" sz="1800">
                <a:latin typeface="맑은 고딕"/>
                <a:ea typeface="맑은 고딕"/>
              </a:rPr>
              <a:t>&gt;</a:t>
            </a:r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20" name="표 19"/>
          <p:cNvGraphicFramePr/>
          <p:nvPr>
            <p:extLst>
              <p:ext uri="{D42A27DB-BD31-4B8C-83A1-F6EECF244321}">
                <p14:modId xmlns:p14="http://schemas.microsoft.com/office/powerpoint/2010/main" val="862446855"/>
              </p:ext>
            </p:extLst>
          </p:nvPr>
        </p:nvGraphicFramePr>
        <p:xfrm>
          <a:off x="1029991" y="2860362"/>
          <a:ext cx="6041684" cy="39014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93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9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Classification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N_Sample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mean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std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60.3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7.34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63.78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8.18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2.99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122.54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123.57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38.38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29.73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10.71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28.68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43397"/>
              </p:ext>
            </p:extLst>
          </p:nvPr>
        </p:nvGraphicFramePr>
        <p:xfrm>
          <a:off x="1029991" y="1855638"/>
          <a:ext cx="10650493" cy="83773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343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0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Age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BMI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BreastDensity(%)AVG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DenseArea(sqcm)AVG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t-stat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-10.18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7.86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-2.09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4.84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2.53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0.037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0.012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AB9BFF4D-47DF-B8E5-82D8-8FA2E663DE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82586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Performed t-test</a:t>
            </a:r>
            <a:endParaRPr lang="ko-KR" altLang="en-US" sz="18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D24E2-BB33-B144-9C87-35A3DF7E78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8</a:t>
            </a:fld>
            <a:endParaRPr lang="en-US" altLang="ko-KR" spc="-2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288256"/>
            <a:ext cx="12192000" cy="54173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altLang="ko-KR"/>
              <a:t>3. Detailed progress</a:t>
            </a:r>
            <a:endParaRPr lang="en-US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9</a:t>
            </a:fld>
            <a:endParaRPr lang="en-US" spc="-25"/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82000" y="3934119"/>
            <a:ext cx="3497580" cy="2914650"/>
          </a:xfrm>
          <a:prstGeom prst="rect">
            <a:avLst/>
          </a:prstGeom>
        </p:spPr>
      </p:pic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40421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0D05-B709-BADB-8C94-6D3D4F8E7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E946EEA-4017-712F-2DB5-C0686EF10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</a:t>
            </a:r>
            <a:r>
              <a:rPr lang="ko-KR" altLang="en-US" dirty="0"/>
              <a:t> </a:t>
            </a:r>
            <a:r>
              <a:rPr lang="en-US" altLang="ko-KR" dirty="0"/>
              <a:t>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89B29A2A-4F5C-594F-6B11-DD280A0603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10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2DD03F2B-ADD3-ECFB-A169-E248A16015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219200"/>
            <a:ext cx="11125200" cy="2991396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en-US" altLang="ko-KR" b="1" dirty="0"/>
              <a:t>Dataset Split</a:t>
            </a:r>
          </a:p>
          <a:p>
            <a:pPr lvl="1">
              <a:lnSpc>
                <a:spcPct val="200000"/>
              </a:lnSpc>
              <a:defRPr/>
            </a:pPr>
            <a:r>
              <a:rPr lang="ko-KR" altLang="en-US" dirty="0" err="1"/>
              <a:t>폐경군</a:t>
            </a:r>
            <a:r>
              <a:rPr lang="ko-KR" altLang="en-US" dirty="0"/>
              <a:t> </a:t>
            </a:r>
            <a:r>
              <a:rPr lang="en-US" altLang="ko-KR" dirty="0"/>
              <a:t>Total 3961</a:t>
            </a:r>
            <a:r>
              <a:rPr lang="ko-KR" altLang="en-US" dirty="0"/>
              <a:t>개에 대해서 </a:t>
            </a:r>
            <a:r>
              <a:rPr lang="en-US" altLang="ko-KR" dirty="0"/>
              <a:t>8:2</a:t>
            </a:r>
            <a:r>
              <a:rPr lang="ko-KR" altLang="en-US" dirty="0"/>
              <a:t> 비율 </a:t>
            </a:r>
            <a:r>
              <a:rPr lang="en-US" altLang="ko-KR" dirty="0"/>
              <a:t>Dataset Split</a:t>
            </a:r>
            <a:endParaRPr lang="ko-KR" altLang="en-US" dirty="0"/>
          </a:p>
          <a:p>
            <a:pPr lvl="1">
              <a:lnSpc>
                <a:spcPct val="200000"/>
              </a:lnSpc>
              <a:defRPr/>
            </a:pPr>
            <a:r>
              <a:rPr lang="en-US" altLang="ko-KR" dirty="0"/>
              <a:t>Train Dataset : 3168(2779/389), Test Dataset : 793(696/97)</a:t>
            </a:r>
          </a:p>
          <a:p>
            <a:pPr lvl="2">
              <a:lnSpc>
                <a:spcPct val="200000"/>
              </a:lnSpc>
              <a:defRPr/>
            </a:pPr>
            <a:r>
              <a:rPr lang="en-US" altLang="ko-KR" dirty="0"/>
              <a:t>scale pos weight=7.144</a:t>
            </a:r>
          </a:p>
          <a:p>
            <a:pPr lvl="2">
              <a:lnSpc>
                <a:spcPct val="200000"/>
              </a:lnSpc>
              <a:defRPr/>
            </a:pPr>
            <a:r>
              <a:rPr lang="en-US" altLang="ko-KR" dirty="0"/>
              <a:t>stratify </a:t>
            </a:r>
            <a:r>
              <a:rPr lang="ko-KR" altLang="en-US" dirty="0"/>
              <a:t>옵션을 사용하여 </a:t>
            </a:r>
            <a:r>
              <a:rPr lang="en-US" altLang="ko-KR" dirty="0"/>
              <a:t>Dataset </a:t>
            </a:r>
            <a:r>
              <a:rPr lang="ko-KR" altLang="en-US" dirty="0"/>
              <a:t>비율 유지</a:t>
            </a:r>
            <a:endParaRPr lang="en-US" altLang="ko-KR" sz="2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1352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</a:t>
            </a:r>
            <a:r>
              <a:rPr lang="ko-KR" altLang="en-US" dirty="0"/>
              <a:t> </a:t>
            </a:r>
            <a:r>
              <a:rPr lang="en-US" altLang="ko-KR" dirty="0"/>
              <a:t>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11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6"/>
            <a:ext cx="11125200" cy="318561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b="1" dirty="0">
                <a:effectLst/>
              </a:rPr>
              <a:t>Preprocessing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dirty="0" err="1">
                <a:latin typeface="Arial" panose="020B0604020202020204" pitchFamily="34" charset="0"/>
              </a:rPr>
              <a:t>StandardScaler</a:t>
            </a:r>
            <a:endParaRPr lang="en-US" altLang="ko-KR" sz="2000" b="1" dirty="0">
              <a:latin typeface="Arial" panose="020B0604020202020204" pitchFamily="34" charset="0"/>
            </a:endParaRP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Arial" panose="020B0604020202020204" pitchFamily="34" charset="0"/>
              </a:rPr>
              <a:t>각 </a:t>
            </a:r>
            <a:r>
              <a:rPr lang="ko-KR" altLang="ko-KR" sz="1600" dirty="0" err="1">
                <a:latin typeface="Arial" panose="020B0604020202020204" pitchFamily="34" charset="0"/>
              </a:rPr>
              <a:t>numeric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r>
              <a:rPr lang="ko-KR" altLang="ko-KR" sz="1600" dirty="0" err="1">
                <a:latin typeface="Arial" panose="020B0604020202020204" pitchFamily="34" charset="0"/>
              </a:rPr>
              <a:t>feature를</a:t>
            </a:r>
            <a:r>
              <a:rPr lang="ko-KR" altLang="ko-KR" sz="1600" dirty="0">
                <a:latin typeface="Arial" panose="020B0604020202020204" pitchFamily="34" charset="0"/>
              </a:rPr>
              <a:t> 평균 0, 분산 1로 정규화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 err="1">
                <a:latin typeface="Arial" panose="020B0604020202020204" pitchFamily="34" charset="0"/>
              </a:rPr>
              <a:t>feature</a:t>
            </a:r>
            <a:r>
              <a:rPr lang="ko-KR" altLang="ko-KR" sz="1600" dirty="0">
                <a:latin typeface="Arial" panose="020B0604020202020204" pitchFamily="34" charset="0"/>
              </a:rPr>
              <a:t> 간 스케일 차이 제거</a:t>
            </a:r>
            <a:r>
              <a:rPr lang="en-US" altLang="ko-KR" sz="1600" dirty="0">
                <a:latin typeface="Arial" panose="020B0604020202020204" pitchFamily="34" charset="0"/>
              </a:rPr>
              <a:t> </a:t>
            </a:r>
            <a:r>
              <a:rPr lang="ko-KR" altLang="ko-KR" sz="1600" dirty="0">
                <a:latin typeface="Arial" panose="020B0604020202020204" pitchFamily="34" charset="0"/>
              </a:rPr>
              <a:t>(</a:t>
            </a:r>
            <a:r>
              <a:rPr lang="ko-KR" altLang="ko-KR" sz="1600" dirty="0" err="1">
                <a:latin typeface="Arial" panose="020B0604020202020204" pitchFamily="34" charset="0"/>
              </a:rPr>
              <a:t>Age</a:t>
            </a:r>
            <a:r>
              <a:rPr lang="ko-KR" altLang="ko-KR" sz="1600" dirty="0">
                <a:latin typeface="Arial" panose="020B0604020202020204" pitchFamily="34" charset="0"/>
              </a:rPr>
              <a:t>, BMI, </a:t>
            </a:r>
            <a:r>
              <a:rPr lang="ko-KR" altLang="ko-KR" sz="1600" dirty="0" err="1">
                <a:latin typeface="Arial" panose="020B0604020202020204" pitchFamily="34" charset="0"/>
              </a:rPr>
              <a:t>Muscl</a:t>
            </a:r>
            <a:r>
              <a:rPr lang="en-US" altLang="ko-KR" sz="1600" dirty="0">
                <a:latin typeface="Arial" panose="020B0604020202020204" pitchFamily="34" charset="0"/>
              </a:rPr>
              <a:t>e</a:t>
            </a:r>
            <a:r>
              <a:rPr lang="ko-KR" altLang="ko-KR" sz="1600" dirty="0">
                <a:latin typeface="Arial" panose="020B0604020202020204" pitchFamily="34" charset="0"/>
              </a:rPr>
              <a:t>, </a:t>
            </a:r>
            <a:r>
              <a:rPr lang="ko-KR" altLang="ko-KR" sz="1600" dirty="0" err="1">
                <a:latin typeface="Arial" panose="020B0604020202020204" pitchFamily="34" charset="0"/>
              </a:rPr>
              <a:t>Breast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D</a:t>
            </a:r>
            <a:r>
              <a:rPr lang="ko-KR" altLang="ko-KR" sz="1600" dirty="0" err="1">
                <a:latin typeface="Arial" panose="020B0604020202020204" pitchFamily="34" charset="0"/>
              </a:rPr>
              <a:t>ensity</a:t>
            </a:r>
            <a:r>
              <a:rPr lang="ko-KR" altLang="ko-KR" sz="1600" dirty="0">
                <a:latin typeface="Arial" panose="020B0604020202020204" pitchFamily="34" charset="0"/>
              </a:rPr>
              <a:t> 등)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 err="1">
                <a:latin typeface="Arial" panose="020B0604020202020204" pitchFamily="34" charset="0"/>
              </a:rPr>
              <a:t>Logistic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r>
              <a:rPr lang="ko-KR" altLang="ko-KR" sz="1600" dirty="0" err="1">
                <a:latin typeface="Arial" panose="020B0604020202020204" pitchFamily="34" charset="0"/>
              </a:rPr>
              <a:t>Regression</a:t>
            </a:r>
            <a:r>
              <a:rPr lang="ko-KR" altLang="ko-KR" sz="1600" dirty="0">
                <a:latin typeface="Arial" panose="020B0604020202020204" pitchFamily="34" charset="0"/>
              </a:rPr>
              <a:t> 학습 시</a:t>
            </a:r>
            <a:br>
              <a:rPr lang="ko-KR" altLang="ko-KR" sz="1600" dirty="0">
                <a:latin typeface="Arial" panose="020B0604020202020204" pitchFamily="34" charset="0"/>
              </a:rPr>
            </a:br>
            <a:r>
              <a:rPr lang="ko-KR" altLang="ko-KR" sz="1600" dirty="0">
                <a:latin typeface="Arial" panose="020B0604020202020204" pitchFamily="34" charset="0"/>
              </a:rPr>
              <a:t>→ </a:t>
            </a:r>
            <a:r>
              <a:rPr lang="ko-KR" altLang="ko-KR" sz="1600" b="1" dirty="0">
                <a:latin typeface="Arial" panose="020B0604020202020204" pitchFamily="34" charset="0"/>
              </a:rPr>
              <a:t>특정 </a:t>
            </a:r>
            <a:r>
              <a:rPr lang="ko-KR" altLang="ko-KR" sz="1600" b="1" dirty="0" err="1">
                <a:latin typeface="Arial" panose="020B0604020202020204" pitchFamily="34" charset="0"/>
              </a:rPr>
              <a:t>feature가</a:t>
            </a:r>
            <a:r>
              <a:rPr lang="ko-KR" altLang="ko-KR" sz="1600" b="1" dirty="0">
                <a:latin typeface="Arial" panose="020B0604020202020204" pitchFamily="34" charset="0"/>
              </a:rPr>
              <a:t> 스케일 때문에 과도하게 지배하는 현상 방지</a:t>
            </a:r>
            <a:endParaRPr lang="ko-KR" altLang="ko-KR" sz="1600" dirty="0">
              <a:latin typeface="Arial" panose="020B0604020202020204" pitchFamily="34" charset="0"/>
            </a:endParaRP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dirty="0">
                <a:latin typeface="Arial" panose="020B0604020202020204" pitchFamily="34" charset="0"/>
              </a:rPr>
              <a:t>Feature Selection </a:t>
            </a:r>
            <a:r>
              <a:rPr lang="ko-KR" altLang="en-US" sz="1600" dirty="0">
                <a:latin typeface="Arial" panose="020B0604020202020204" pitchFamily="34" charset="0"/>
              </a:rPr>
              <a:t>적용 시</a:t>
            </a:r>
            <a:br>
              <a:rPr lang="ko-KR" altLang="ko-KR" sz="1600" dirty="0">
                <a:latin typeface="Arial" panose="020B0604020202020204" pitchFamily="34" charset="0"/>
              </a:rPr>
            </a:br>
            <a:r>
              <a:rPr lang="ko-KR" altLang="ko-KR" sz="1600" dirty="0">
                <a:latin typeface="Arial" panose="020B0604020202020204" pitchFamily="34" charset="0"/>
              </a:rPr>
              <a:t>→ </a:t>
            </a:r>
            <a:r>
              <a:rPr lang="ko-KR" altLang="ko-KR" sz="1600" dirty="0" err="1">
                <a:latin typeface="Arial" panose="020B0604020202020204" pitchFamily="34" charset="0"/>
              </a:rPr>
              <a:t>coefficient</a:t>
            </a:r>
            <a:r>
              <a:rPr lang="ko-KR" altLang="ko-KR" sz="1600" dirty="0">
                <a:latin typeface="Arial" panose="020B0604020202020204" pitchFamily="34" charset="0"/>
              </a:rPr>
              <a:t> 기반 </a:t>
            </a:r>
            <a:r>
              <a:rPr lang="ko-KR" altLang="ko-KR" sz="1600" dirty="0" err="1">
                <a:latin typeface="Arial" panose="020B0604020202020204" pitchFamily="34" charset="0"/>
              </a:rPr>
              <a:t>feature</a:t>
            </a:r>
            <a:r>
              <a:rPr lang="ko-KR" altLang="ko-KR" sz="1600" dirty="0">
                <a:latin typeface="Arial" panose="020B0604020202020204" pitchFamily="34" charset="0"/>
              </a:rPr>
              <a:t> 중요도 비교의 안정성 확보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038A-B9F1-D136-AD66-F25C207BF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F8B620E-EE1D-D655-0B5A-E38C3763B9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</a:t>
            </a:r>
            <a:r>
              <a:rPr lang="ko-KR" altLang="en-US" dirty="0"/>
              <a:t> </a:t>
            </a:r>
            <a:r>
              <a:rPr lang="en-US" altLang="ko-KR" dirty="0"/>
              <a:t>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97B6E48A-D004-A6D4-A667-3C13D5E121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12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F418917E-1217-2921-058A-8A100BBE06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6"/>
            <a:ext cx="11125200" cy="484235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b="1" dirty="0">
                <a:effectLst/>
              </a:rPr>
              <a:t>Model Baseline</a:t>
            </a:r>
            <a:endParaRPr lang="ko-KR" altLang="ko-KR" sz="1600" dirty="0"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2000" b="1" dirty="0" err="1">
                <a:latin typeface="Arial" panose="020B0604020202020204" pitchFamily="34" charset="0"/>
              </a:rPr>
              <a:t>Logistic</a:t>
            </a:r>
            <a:r>
              <a:rPr lang="ko-KR" altLang="ko-KR" sz="2000" b="1" dirty="0">
                <a:latin typeface="Arial" panose="020B0604020202020204" pitchFamily="34" charset="0"/>
              </a:rPr>
              <a:t> </a:t>
            </a:r>
            <a:r>
              <a:rPr lang="ko-KR" altLang="ko-KR" sz="2000" b="1" dirty="0" err="1">
                <a:latin typeface="Arial" panose="020B0604020202020204" pitchFamily="34" charset="0"/>
              </a:rPr>
              <a:t>Regression</a:t>
            </a:r>
            <a:endParaRPr lang="ko-KR" altLang="ko-KR" sz="2000" dirty="0">
              <a:latin typeface="Arial" panose="020B0604020202020204" pitchFamily="34" charset="0"/>
            </a:endParaRP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800" dirty="0">
                <a:latin typeface="Arial" panose="020B0604020202020204" pitchFamily="34" charset="0"/>
              </a:rPr>
              <a:t>의료 </a:t>
            </a:r>
            <a:r>
              <a:rPr lang="ko-KR" altLang="ko-KR" sz="1800" dirty="0" err="1">
                <a:latin typeface="Arial" panose="020B0604020202020204" pitchFamily="34" charset="0"/>
              </a:rPr>
              <a:t>tabular</a:t>
            </a:r>
            <a:r>
              <a:rPr lang="ko-KR" altLang="ko-KR" sz="1800" dirty="0">
                <a:latin typeface="Arial" panose="020B0604020202020204" pitchFamily="34" charset="0"/>
              </a:rPr>
              <a:t> 데이터 분석에 널리 사용되는 선형 분류 모델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800" dirty="0">
                <a:latin typeface="Arial" panose="020B0604020202020204" pitchFamily="34" charset="0"/>
              </a:rPr>
              <a:t>상대적으로 적은 데이터에서도 안정적인 학습 가능</a:t>
            </a:r>
            <a:endParaRPr lang="en-US" altLang="ko-KR" sz="1800" dirty="0">
              <a:latin typeface="Arial" panose="020B0604020202020204" pitchFamily="34" charset="0"/>
            </a:endParaRP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800" dirty="0">
                <a:latin typeface="Arial" panose="020B0604020202020204" pitchFamily="34" charset="0"/>
              </a:rPr>
              <a:t>과도한 모델 복잡도 없이 </a:t>
            </a:r>
            <a:r>
              <a:rPr lang="ko-KR" altLang="ko-KR" sz="1800" dirty="0" err="1">
                <a:latin typeface="Arial" panose="020B0604020202020204" pitchFamily="34" charset="0"/>
              </a:rPr>
              <a:t>baseline</a:t>
            </a:r>
            <a:r>
              <a:rPr lang="ko-KR" altLang="ko-KR" sz="1800" dirty="0">
                <a:latin typeface="Arial" panose="020B0604020202020204" pitchFamily="34" charset="0"/>
              </a:rPr>
              <a:t> 성능 확인에 적합</a:t>
            </a:r>
            <a:endParaRPr lang="en-US" altLang="ko-KR" sz="1800" dirty="0">
              <a:latin typeface="Arial" panose="020B0604020202020204" pitchFamily="34" charset="0"/>
            </a:endParaRP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8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Interpretability-oriented design</a:t>
            </a:r>
            <a:endParaRPr lang="ko-KR" altLang="en-US" sz="2000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각 </a:t>
            </a:r>
            <a:r>
              <a:rPr lang="en-US" altLang="ko-KR" sz="1800" dirty="0"/>
              <a:t>feature</a:t>
            </a:r>
            <a:r>
              <a:rPr lang="ko-KR" altLang="en-US" sz="1800" dirty="0"/>
              <a:t>의 </a:t>
            </a:r>
            <a:r>
              <a:rPr lang="en-US" altLang="ko-KR" sz="1800" dirty="0"/>
              <a:t>coefficient</a:t>
            </a:r>
            <a:r>
              <a:rPr lang="ko-KR" altLang="en-US" sz="1800" dirty="0"/>
              <a:t>를 통해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골다공증 발생 위험에 대한 영향</a:t>
            </a:r>
            <a:r>
              <a:rPr lang="en-US" altLang="ko-KR" sz="1800" dirty="0"/>
              <a:t>(positive / negative)</a:t>
            </a:r>
            <a:r>
              <a:rPr lang="ko-KR" altLang="en-US" sz="1800" dirty="0"/>
              <a:t> 해석 가능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임상 변수 및 약물 변수의 기여도 분석에 유리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30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1EE4A-7496-9931-A62E-BC435EA8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2795A28-FFA3-3BCB-004D-5037F1A00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</a:t>
            </a:r>
            <a:r>
              <a:rPr lang="ko-KR" altLang="en-US" dirty="0"/>
              <a:t> </a:t>
            </a:r>
            <a:r>
              <a:rPr lang="en-US" altLang="ko-KR" dirty="0"/>
              <a:t>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E1B078B5-3A35-2885-B45A-349D760D14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13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DA457EC6-50D0-0D2C-315E-887D41048D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6"/>
            <a:ext cx="11125200" cy="47126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b="1" dirty="0">
                <a:effectLst/>
              </a:rPr>
              <a:t>Logistic Regression Hyperparameter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800" b="1" dirty="0" err="1">
                <a:effectLst/>
              </a:rPr>
              <a:t>class_weight</a:t>
            </a:r>
            <a:r>
              <a:rPr lang="en-US" altLang="ko-KR" sz="1800" b="1" dirty="0">
                <a:effectLst/>
              </a:rPr>
              <a:t>: </a:t>
            </a:r>
            <a:r>
              <a:rPr lang="en-US" altLang="ko-KR" sz="1800" b="0" dirty="0">
                <a:effectLst/>
              </a:rPr>
              <a:t>None (default)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 err="1">
                <a:effectLst/>
              </a:rPr>
              <a:t>클래스</a:t>
            </a:r>
            <a:r>
              <a:rPr lang="en-US" altLang="ko-KR" sz="1600" dirty="0">
                <a:effectLst/>
              </a:rPr>
              <a:t> </a:t>
            </a:r>
            <a:r>
              <a:rPr lang="en-US" altLang="ko-KR" sz="1600" dirty="0" err="1">
                <a:effectLst/>
              </a:rPr>
              <a:t>불균형</a:t>
            </a:r>
            <a:r>
              <a:rPr lang="en-US" altLang="ko-KR" sz="1600" dirty="0">
                <a:effectLst/>
              </a:rPr>
              <a:t> </a:t>
            </a:r>
            <a:r>
              <a:rPr lang="en-US" altLang="ko-KR" sz="1600" dirty="0" err="1">
                <a:effectLst/>
              </a:rPr>
              <a:t>처리</a:t>
            </a:r>
            <a:r>
              <a:rPr lang="en-US" altLang="ko-KR" sz="1600" dirty="0">
                <a:effectLst/>
              </a:rPr>
              <a:t>: `None`, `</a:t>
            </a:r>
            <a:r>
              <a:rPr lang="en-US" altLang="ko-KR" sz="1600" dirty="0" err="1">
                <a:effectLst/>
              </a:rPr>
              <a:t>dict</a:t>
            </a:r>
            <a:r>
              <a:rPr lang="en-US" altLang="ko-KR" sz="1600" dirty="0">
                <a:effectLst/>
              </a:rPr>
              <a:t>`, </a:t>
            </a:r>
            <a:r>
              <a:rPr lang="en-US" altLang="ko-KR" sz="1600" dirty="0" err="1">
                <a:effectLst/>
              </a:rPr>
              <a:t>또는</a:t>
            </a:r>
            <a:r>
              <a:rPr lang="en-US" altLang="ko-KR" sz="1600" dirty="0">
                <a:effectLst/>
              </a:rPr>
              <a:t> `'balanced'`.</a:t>
            </a:r>
            <a:endParaRPr lang="en-US" altLang="ko-KR" sz="1800" b="1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800" b="1" dirty="0">
                <a:effectLst/>
              </a:rPr>
              <a:t>solver: </a:t>
            </a:r>
            <a:r>
              <a:rPr lang="en-US" altLang="ko-KR" sz="1800" dirty="0" err="1">
                <a:effectLst/>
              </a:rPr>
              <a:t>lbfgs</a:t>
            </a:r>
            <a:r>
              <a:rPr lang="en-US" altLang="ko-KR" sz="1800" dirty="0">
                <a:effectLst/>
              </a:rPr>
              <a:t> (default)</a:t>
            </a:r>
            <a:endParaRPr lang="en-US" altLang="ko-KR" sz="1800" b="1" dirty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600" dirty="0">
                <a:effectLst/>
              </a:rPr>
              <a:t>최적화 알고리즘 선택. 선택지: '</a:t>
            </a:r>
            <a:r>
              <a:rPr lang="ko-KR" altLang="ko-KR" sz="1600" dirty="0" err="1">
                <a:effectLst/>
              </a:rPr>
              <a:t>lbfgs</a:t>
            </a:r>
            <a:r>
              <a:rPr lang="ko-KR" altLang="ko-KR" sz="1600" dirty="0">
                <a:effectLst/>
              </a:rPr>
              <a:t>', '</a:t>
            </a:r>
            <a:r>
              <a:rPr lang="ko-KR" altLang="ko-KR" sz="1600" dirty="0" err="1">
                <a:effectLst/>
              </a:rPr>
              <a:t>liblinear</a:t>
            </a:r>
            <a:r>
              <a:rPr lang="ko-KR" altLang="ko-KR" sz="1600" dirty="0">
                <a:effectLst/>
              </a:rPr>
              <a:t>', '</a:t>
            </a:r>
            <a:r>
              <a:rPr lang="ko-KR" altLang="ko-KR" sz="1600" dirty="0" err="1">
                <a:effectLst/>
              </a:rPr>
              <a:t>newton-cg</a:t>
            </a:r>
            <a:r>
              <a:rPr lang="ko-KR" altLang="ko-KR" sz="1600" dirty="0">
                <a:effectLst/>
              </a:rPr>
              <a:t>', '</a:t>
            </a:r>
            <a:r>
              <a:rPr lang="ko-KR" altLang="ko-KR" sz="1600" dirty="0" err="1">
                <a:effectLst/>
              </a:rPr>
              <a:t>newton-cholesky</a:t>
            </a:r>
            <a:r>
              <a:rPr lang="ko-KR" altLang="ko-KR" sz="1600" dirty="0">
                <a:effectLst/>
              </a:rPr>
              <a:t>', '</a:t>
            </a:r>
            <a:r>
              <a:rPr lang="ko-KR" altLang="ko-KR" sz="1600" dirty="0" err="1">
                <a:effectLst/>
              </a:rPr>
              <a:t>sag</a:t>
            </a:r>
            <a:r>
              <a:rPr lang="ko-KR" altLang="ko-KR" sz="1600" dirty="0">
                <a:effectLst/>
              </a:rPr>
              <a:t>', '</a:t>
            </a:r>
            <a:r>
              <a:rPr lang="ko-KR" altLang="ko-KR" sz="1600" dirty="0" err="1">
                <a:effectLst/>
              </a:rPr>
              <a:t>saga</a:t>
            </a:r>
            <a:r>
              <a:rPr lang="ko-KR" altLang="ko-KR" sz="1600" dirty="0">
                <a:effectLst/>
              </a:rPr>
              <a:t>'.  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ko-KR" sz="1600" dirty="0">
                <a:effectLst/>
              </a:rPr>
              <a:t>중요한 호환성: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ko-KR" sz="1600" dirty="0">
                <a:effectLst/>
              </a:rPr>
              <a:t>'</a:t>
            </a:r>
            <a:r>
              <a:rPr lang="ko-KR" altLang="ko-KR" sz="1600" dirty="0" err="1">
                <a:effectLst/>
              </a:rPr>
              <a:t>liblinear'는</a:t>
            </a:r>
            <a:r>
              <a:rPr lang="ko-KR" altLang="ko-KR" sz="1600" dirty="0">
                <a:effectLst/>
              </a:rPr>
              <a:t> </a:t>
            </a:r>
            <a:r>
              <a:rPr lang="ko-KR" altLang="ko-KR" sz="1600" dirty="0" err="1">
                <a:effectLst/>
              </a:rPr>
              <a:t>binary</a:t>
            </a:r>
            <a:r>
              <a:rPr lang="ko-KR" altLang="ko-KR" sz="1600" dirty="0">
                <a:effectLst/>
              </a:rPr>
              <a:t> 전용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ko-KR" sz="1600" dirty="0">
                <a:effectLst/>
              </a:rPr>
              <a:t> '</a:t>
            </a:r>
            <a:r>
              <a:rPr lang="ko-KR" altLang="ko-KR" sz="1600" dirty="0" err="1">
                <a:effectLst/>
              </a:rPr>
              <a:t>saga'는</a:t>
            </a:r>
            <a:r>
              <a:rPr lang="ko-KR" altLang="ko-KR" sz="1600" dirty="0">
                <a:effectLst/>
              </a:rPr>
              <a:t> </a:t>
            </a:r>
            <a:r>
              <a:rPr lang="ko-KR" altLang="ko-KR" sz="1600" dirty="0" err="1">
                <a:effectLst/>
              </a:rPr>
              <a:t>elasticnet</a:t>
            </a:r>
            <a:r>
              <a:rPr lang="ko-KR" altLang="ko-KR" sz="1600" dirty="0">
                <a:effectLst/>
              </a:rPr>
              <a:t> 지원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ko-KR" sz="1600" dirty="0">
                <a:effectLst/>
              </a:rPr>
              <a:t>일부 </a:t>
            </a:r>
            <a:r>
              <a:rPr lang="ko-KR" altLang="ko-KR" sz="1600" dirty="0" err="1">
                <a:effectLst/>
              </a:rPr>
              <a:t>solver는</a:t>
            </a:r>
            <a:r>
              <a:rPr lang="ko-KR" altLang="ko-KR" sz="1600" dirty="0">
                <a:effectLst/>
              </a:rPr>
              <a:t> 특정 </a:t>
            </a:r>
            <a:r>
              <a:rPr lang="ko-KR" altLang="ko-KR" sz="1600" dirty="0" err="1">
                <a:effectLst/>
              </a:rPr>
              <a:t>penalty만</a:t>
            </a:r>
            <a:r>
              <a:rPr lang="ko-KR" altLang="ko-KR" sz="1600" dirty="0">
                <a:effectLst/>
              </a:rPr>
              <a:t> 지원(예: '</a:t>
            </a:r>
            <a:r>
              <a:rPr lang="ko-KR" altLang="ko-KR" sz="1600" dirty="0" err="1">
                <a:effectLst/>
              </a:rPr>
              <a:t>lbfgs'는</a:t>
            </a:r>
            <a:r>
              <a:rPr lang="ko-KR" altLang="ko-KR" sz="1600" dirty="0">
                <a:effectLst/>
              </a:rPr>
              <a:t> l2 또는 </a:t>
            </a:r>
            <a:r>
              <a:rPr lang="ko-KR" altLang="ko-KR" sz="1600" dirty="0" err="1">
                <a:effectLst/>
              </a:rPr>
              <a:t>None</a:t>
            </a:r>
            <a:r>
              <a:rPr lang="ko-KR" altLang="ko-KR" sz="1600" dirty="0">
                <a:effectLst/>
              </a:rPr>
              <a:t>)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ko-KR" sz="1600" dirty="0">
                <a:effectLst/>
              </a:rPr>
              <a:t>튜닝: 데이터 크기/희소성에 따라 선택 (</a:t>
            </a:r>
            <a:r>
              <a:rPr lang="ko-KR" altLang="ko-KR" sz="1600" dirty="0" err="1">
                <a:effectLst/>
              </a:rPr>
              <a:t>liblinear</a:t>
            </a:r>
            <a:r>
              <a:rPr lang="ko-KR" altLang="ko-KR" sz="1600" dirty="0">
                <a:effectLst/>
              </a:rPr>
              <a:t> 소규모, </a:t>
            </a:r>
            <a:r>
              <a:rPr lang="ko-KR" altLang="ko-KR" sz="1600" dirty="0" err="1">
                <a:effectLst/>
              </a:rPr>
              <a:t>sag</a:t>
            </a:r>
            <a:r>
              <a:rPr lang="ko-KR" altLang="ko-KR" sz="1600" dirty="0">
                <a:effectLst/>
              </a:rPr>
              <a:t>/</a:t>
            </a:r>
            <a:r>
              <a:rPr lang="ko-KR" altLang="ko-KR" sz="1600" dirty="0" err="1">
                <a:effectLst/>
              </a:rPr>
              <a:t>saga</a:t>
            </a:r>
            <a:r>
              <a:rPr lang="ko-KR" altLang="ko-KR" sz="1600" dirty="0">
                <a:effectLst/>
              </a:rPr>
              <a:t> 대규모)</a:t>
            </a:r>
            <a:endParaRPr lang="en-US" altLang="ko-KR" sz="1600" dirty="0">
              <a:effectLst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800" b="1" dirty="0"/>
          </a:p>
          <a:p>
            <a:pPr>
              <a:lnSpc>
                <a:spcPct val="150000"/>
              </a:lnSpc>
              <a:defRPr/>
            </a:pPr>
            <a:r>
              <a:rPr lang="ko-KR" altLang="en-US" sz="1800" b="1" dirty="0"/>
              <a:t>이외에도 </a:t>
            </a:r>
            <a:r>
              <a:rPr lang="en-US" altLang="ko-KR" sz="1800" b="1" dirty="0"/>
              <a:t>penalty, </a:t>
            </a:r>
            <a:r>
              <a:rPr lang="en-US" altLang="ko-KR" sz="1800" b="1" dirty="0" err="1"/>
              <a:t>tol</a:t>
            </a:r>
            <a:r>
              <a:rPr lang="en-US" altLang="ko-KR" sz="1800" b="1" dirty="0"/>
              <a:t>, C, </a:t>
            </a:r>
            <a:r>
              <a:rPr lang="en-US" altLang="ko-KR" sz="1800" b="1" dirty="0" err="1"/>
              <a:t>max_iter</a:t>
            </a:r>
            <a:r>
              <a:rPr lang="en-US" altLang="ko-KR" sz="1800" b="1" dirty="0"/>
              <a:t>, </a:t>
            </a:r>
            <a:r>
              <a:rPr lang="en-US" altLang="ko-KR" sz="1800" b="1" dirty="0" err="1"/>
              <a:t>warm_start</a:t>
            </a:r>
            <a:r>
              <a:rPr lang="en-US" altLang="ko-KR" sz="1800" b="1" dirty="0"/>
              <a:t>, l1_ratio </a:t>
            </a:r>
            <a:r>
              <a:rPr lang="ko-KR" altLang="en-US" sz="1800" b="1" dirty="0"/>
              <a:t>등의 </a:t>
            </a:r>
            <a:r>
              <a:rPr lang="ko-KR" altLang="en-US" sz="1800" b="1" dirty="0" err="1"/>
              <a:t>하이퍼파라미터</a:t>
            </a:r>
            <a:r>
              <a:rPr lang="ko-KR" altLang="en-US" sz="1800" b="1" dirty="0"/>
              <a:t> 확인</a:t>
            </a:r>
            <a:endParaRPr lang="ko-KR" altLang="ko-KR" sz="18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8612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6"/>
            <a:ext cx="5486400" cy="115467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Hold-out Model Train &amp; Test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All Feature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Train : 3168, Test : 793</a:t>
            </a:r>
            <a:endParaRPr lang="en-US" altLang="ko-KR" sz="20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066800" y="3124200"/>
          <a:ext cx="2971800" cy="2766060"/>
        </p:xfrm>
        <a:graphic>
          <a:graphicData uri="http://schemas.openxmlformats.org/drawingml/2006/table">
            <a:tbl>
              <a:tblPr firstRow="1" bandRow="1"/>
              <a:tblGrid>
                <a:gridCol w="1155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253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Osteoporosis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pred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proba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0.354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0.3055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0.542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0.7409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0.5066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0.4614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0.420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2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0.019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2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0.651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0.4672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874448" y="1828800"/>
            <a:ext cx="6012751" cy="4267215"/>
          </a:xfrm>
          <a:prstGeom prst="rect">
            <a:avLst/>
          </a:prstGeom>
        </p:spPr>
      </p:pic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306499"/>
              </p:ext>
            </p:extLst>
          </p:nvPr>
        </p:nvGraphicFramePr>
        <p:xfrm>
          <a:off x="1066800" y="2270760"/>
          <a:ext cx="3847631" cy="548640"/>
        </p:xfrm>
        <a:graphic>
          <a:graphicData uri="http://schemas.openxmlformats.org/drawingml/2006/table">
            <a:tbl>
              <a:tblPr firstRow="1" bandRow="1"/>
              <a:tblGrid>
                <a:gridCol w="967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 dirty="0"/>
                        <a:t>Specificity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 dirty="0"/>
                        <a:t>Sensitivity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 dirty="0"/>
                        <a:t>ROC_AUC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0.6734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0.6704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0.6907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0.7521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91A7D3-E373-6BF7-3D34-09A69018A8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14</a:t>
            </a:fld>
            <a:endParaRPr lang="en-US" altLang="ko-KR" spc="-2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6"/>
            <a:ext cx="5486400" cy="813919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/>
              <a:t>5-fold CV Model Train &amp; Test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Total Data : 3961 </a:t>
            </a:r>
            <a:r>
              <a:rPr lang="ko-KR" altLang="en-US" sz="1600"/>
              <a:t>→ </a:t>
            </a:r>
            <a:r>
              <a:rPr lang="en-US" altLang="ko-KR" sz="1600"/>
              <a:t>Stratified</a:t>
            </a:r>
            <a:r>
              <a:rPr lang="ko-KR" altLang="en-US" sz="1600"/>
              <a:t> </a:t>
            </a:r>
            <a:r>
              <a:rPr lang="en-US" altLang="ko-KR" sz="1600"/>
              <a:t>5-fold CV</a:t>
            </a:r>
            <a:endParaRPr lang="ko-KR" altLang="en-US" sz="160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559238"/>
              </p:ext>
            </p:extLst>
          </p:nvPr>
        </p:nvGraphicFramePr>
        <p:xfrm>
          <a:off x="914246" y="1768926"/>
          <a:ext cx="6781953" cy="2144268"/>
        </p:xfrm>
        <a:graphic>
          <a:graphicData uri="http://schemas.openxmlformats.org/drawingml/2006/table">
            <a:tbl>
              <a:tblPr firstRow="1" bandRow="1"/>
              <a:tblGrid>
                <a:gridCol w="956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145">
                  <a:extLst>
                    <a:ext uri="{9D8B030D-6E8A-4147-A177-3AD203B41FA5}">
                      <a16:colId xmlns:a16="http://schemas.microsoft.com/office/drawing/2014/main" val="1837681278"/>
                    </a:ext>
                  </a:extLst>
                </a:gridCol>
                <a:gridCol w="1165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51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Valid set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Accuracy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marL="4763" marR="4763" marT="4763" marB="0" anchor="ctr"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marL="4763" marR="4763" marT="4763" marB="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ROC_AUC</a:t>
                      </a:r>
                    </a:p>
                  </a:txBody>
                  <a:tcPr marL="4763" marR="4763" marT="4763" marB="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0.6646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0.6647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0.6633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0.7343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0.6869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0.695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0.6289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0.7317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0.6881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0.6849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0.7113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0.7832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0.6755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0.6849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0.6082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0.7135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0.6755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0.6719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0.701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0.7455</a:t>
                      </a:r>
                    </a:p>
                  </a:txBody>
                  <a:tcPr marL="4763" marR="4763" marT="4763" marB="0"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49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 dirty="0">
                          <a:latin typeface="맑은 고딕"/>
                          <a:ea typeface="맑은 고딕"/>
                        </a:rPr>
                        <a:t>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0.6781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0.6803</a:t>
                      </a:r>
                    </a:p>
                  </a:txBody>
                  <a:tcPr marL="4763" marR="4763" marT="4763" marB="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0.6625</a:t>
                      </a:r>
                    </a:p>
                  </a:txBody>
                  <a:tcPr marL="4763" marR="4763" marT="4763" marB="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0.7417</a:t>
                      </a:r>
                    </a:p>
                  </a:txBody>
                  <a:tcPr marL="4763" marR="4763" marT="4763" marB="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49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 dirty="0">
                          <a:latin typeface="맑은 고딕"/>
                          <a:ea typeface="맑은 고딕"/>
                        </a:rPr>
                        <a:t>std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0.0097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0.0119</a:t>
                      </a:r>
                    </a:p>
                  </a:txBody>
                  <a:tcPr marL="4763" marR="4763" marT="4763" marB="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0.0446</a:t>
                      </a:r>
                    </a:p>
                  </a:txBody>
                  <a:tcPr marL="4763" marR="4763" marT="4763" marB="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0.0259</a:t>
                      </a:r>
                    </a:p>
                  </a:txBody>
                  <a:tcPr marL="4763" marR="4763" marT="4763" marB="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278130" y="4261484"/>
          <a:ext cx="2160268" cy="2367916"/>
        </p:xfrm>
        <a:graphic>
          <a:graphicData uri="http://schemas.openxmlformats.org/drawingml/2006/table">
            <a:tbl>
              <a:tblPr firstRow="1" bandRow="1"/>
              <a:tblGrid>
                <a:gridCol w="42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0.1472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0.0441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0.1825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0.5635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0.7058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0.9010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0.5410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0.1783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0.2494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0.5309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2607018" y="4261486"/>
          <a:ext cx="2160268" cy="2367914"/>
        </p:xfrm>
        <a:graphic>
          <a:graphicData uri="http://schemas.openxmlformats.org/drawingml/2006/table">
            <a:tbl>
              <a:tblPr firstRow="1" bandRow="1"/>
              <a:tblGrid>
                <a:gridCol w="42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0.8011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0.6472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0.0906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0.1347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0.5747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0.4517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0.4294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0.3262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0.3212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0.0936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4935907" y="4261486"/>
          <a:ext cx="2160267" cy="2367914"/>
        </p:xfrm>
        <a:graphic>
          <a:graphicData uri="http://schemas.openxmlformats.org/drawingml/2006/table">
            <a:tbl>
              <a:tblPr firstRow="1" bandRow="1"/>
              <a:tblGrid>
                <a:gridCol w="424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0.1501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0.6466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0.2858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0.3252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0.5590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0.1651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0.1895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0.1620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0.6504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0.6347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7264795" y="4261486"/>
          <a:ext cx="2160268" cy="2367914"/>
        </p:xfrm>
        <a:graphic>
          <a:graphicData uri="http://schemas.openxmlformats.org/drawingml/2006/table">
            <a:tbl>
              <a:tblPr firstRow="1" bandRow="1"/>
              <a:tblGrid>
                <a:gridCol w="42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0.3222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0.6545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0.4056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0.3052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0.1458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0.5858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0.6696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0.3705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0.5540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0.0809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9593684" y="4261486"/>
          <a:ext cx="2160268" cy="2367914"/>
        </p:xfrm>
        <a:graphic>
          <a:graphicData uri="http://schemas.openxmlformats.org/drawingml/2006/table">
            <a:tbl>
              <a:tblPr firstRow="1" bandRow="1"/>
              <a:tblGrid>
                <a:gridCol w="443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0.5039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0.1340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0.4932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0.5577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0.4264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0.2580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0.7154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0.6654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0.7475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0.2019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ED920-3943-09E7-33EC-49A3915794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15</a:t>
            </a:fld>
            <a:endParaRPr lang="en-US" altLang="ko-KR" spc="-2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3245-DCE5-6618-EC16-2D904566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CD1AD09-0C68-EAEB-46C6-6AFF85A20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7154A3-7A4B-A992-E094-8E42779140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48551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Class Imbalance Handling </a:t>
            </a:r>
            <a:r>
              <a:rPr lang="en-US" altLang="ko-KR" dirty="0"/>
              <a:t>(Imbalance ratio ≈ 1 : 7)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6C0210DD-ECAE-89E5-2C16-2C3E7E738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6" y="3944668"/>
            <a:ext cx="884872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A9D148-18C3-BA6D-79DC-4539F74F28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16</a:t>
            </a:fld>
            <a:endParaRPr lang="en-US" altLang="ko-KR" spc="-25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0F3761A-37B7-E642-5743-9F1FC932F0D7}"/>
              </a:ext>
            </a:extLst>
          </p:cNvPr>
          <p:cNvSpPr/>
          <p:nvPr/>
        </p:nvSpPr>
        <p:spPr>
          <a:xfrm>
            <a:off x="7620000" y="4038600"/>
            <a:ext cx="1524000" cy="381000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AD94D62-A8C3-28D3-F4FC-BA265A3954E4}"/>
              </a:ext>
            </a:extLst>
          </p:cNvPr>
          <p:cNvGrpSpPr/>
          <p:nvPr/>
        </p:nvGrpSpPr>
        <p:grpSpPr>
          <a:xfrm>
            <a:off x="3009900" y="1723770"/>
            <a:ext cx="6172200" cy="2205606"/>
            <a:chOff x="3009900" y="1723770"/>
            <a:chExt cx="6172200" cy="2205606"/>
          </a:xfrm>
        </p:grpSpPr>
        <p:pic>
          <p:nvPicPr>
            <p:cNvPr id="1028" name="Picture 4" descr="Image">
              <a:extLst>
                <a:ext uri="{FF2B5EF4-FFF2-40B4-BE49-F238E27FC236}">
                  <a16:creationId xmlns:a16="http://schemas.microsoft.com/office/drawing/2014/main" id="{253E20DB-8A30-9326-C6DE-824EEEC99B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9233" y="2093426"/>
              <a:ext cx="5393533" cy="1788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설명선: 굽은 이중선 4">
              <a:extLst>
                <a:ext uri="{FF2B5EF4-FFF2-40B4-BE49-F238E27FC236}">
                  <a16:creationId xmlns:a16="http://schemas.microsoft.com/office/drawing/2014/main" id="{20CE3460-DC77-E3EB-8FA5-27B59C9D52F3}"/>
                </a:ext>
              </a:extLst>
            </p:cNvPr>
            <p:cNvSpPr/>
            <p:nvPr/>
          </p:nvSpPr>
          <p:spPr>
            <a:xfrm flipH="1">
              <a:off x="3009900" y="2078134"/>
              <a:ext cx="6172200" cy="1851242"/>
            </a:xfrm>
            <a:prstGeom prst="borderCallout3">
              <a:avLst>
                <a:gd name="adj1" fmla="val 41088"/>
                <a:gd name="adj2" fmla="val -2407"/>
                <a:gd name="adj3" fmla="val 41344"/>
                <a:gd name="adj4" fmla="val -12115"/>
                <a:gd name="adj5" fmla="val 114892"/>
                <a:gd name="adj6" fmla="val -11600"/>
                <a:gd name="adj7" fmla="val 117509"/>
                <a:gd name="adj8" fmla="val -1205"/>
              </a:avLst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BAD2321-1E23-A731-7349-32B238A7B7FC}"/>
                </a:ext>
              </a:extLst>
            </p:cNvPr>
            <p:cNvSpPr txBox="1"/>
            <p:nvPr/>
          </p:nvSpPr>
          <p:spPr>
            <a:xfrm>
              <a:off x="3399234" y="1723770"/>
              <a:ext cx="53935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/>
                <a:t>SMOTE (Synthetic Minority Over-sampling Technique)</a:t>
              </a:r>
              <a:endParaRPr lang="ko-KR" alt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0617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2F1A-D941-870B-AD6F-EA2AE196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A9D721F-DCD0-B6C2-28A3-9D126F36DC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dirty="0"/>
              <a:t>3. Detailed</a:t>
            </a:r>
            <a:r>
              <a:rPr lang="ko-KR" altLang="en-US" dirty="0"/>
              <a:t> </a:t>
            </a:r>
            <a:r>
              <a:rPr lang="en-US" altLang="ko-KR" dirty="0"/>
              <a:t>progress</a:t>
            </a:r>
            <a:endParaRPr 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DF6DF19-84F0-E562-D7F4-91CC10C9DA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10744200" cy="505599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Feature Selection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Recursive feature elimination with cross-validation </a:t>
            </a:r>
            <a:r>
              <a:rPr lang="en-US" altLang="ko-KR" b="1" dirty="0"/>
              <a:t>(RFECV)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Recursive Feature Elimination (RFE)</a:t>
            </a:r>
            <a:endParaRPr lang="ko-KR" altLang="en-US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모델 계수</a:t>
            </a:r>
            <a:r>
              <a:rPr lang="en-US" altLang="ko-KR" dirty="0"/>
              <a:t>(</a:t>
            </a:r>
            <a:r>
              <a:rPr lang="en-US" altLang="ko-KR" dirty="0" err="1"/>
              <a:t>coef</a:t>
            </a:r>
            <a:r>
              <a:rPr lang="en-US" altLang="ko-KR" dirty="0"/>
              <a:t>) </a:t>
            </a:r>
            <a:r>
              <a:rPr lang="ko-KR" altLang="en-US" dirty="0"/>
              <a:t>또는 중요도를 기준으로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중요도가 낮은 </a:t>
            </a:r>
            <a:r>
              <a:rPr lang="en-US" altLang="ko-KR" dirty="0"/>
              <a:t>feature</a:t>
            </a:r>
            <a:r>
              <a:rPr lang="ko-KR" altLang="en-US" dirty="0"/>
              <a:t>를 순차적으로 제거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Cross-Validation</a:t>
            </a:r>
            <a:endParaRPr lang="ko-KR" altLang="en-US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각 </a:t>
            </a:r>
            <a:r>
              <a:rPr lang="en-US" altLang="ko-KR" dirty="0"/>
              <a:t>feature subset</a:t>
            </a:r>
            <a:r>
              <a:rPr lang="ko-KR" altLang="en-US" dirty="0"/>
              <a:t>에 대해 </a:t>
            </a:r>
            <a:r>
              <a:rPr lang="en-US" altLang="ko-KR" dirty="0"/>
              <a:t>CV </a:t>
            </a:r>
            <a:r>
              <a:rPr lang="ko-KR" altLang="en-US" dirty="0"/>
              <a:t>성능 평가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성능이 최대가 되는 최적 </a:t>
            </a:r>
            <a:r>
              <a:rPr lang="en-US" altLang="ko-KR" dirty="0"/>
              <a:t>feature </a:t>
            </a:r>
            <a:r>
              <a:rPr lang="ko-KR" altLang="en-US" dirty="0"/>
              <a:t>개수 자동 선택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해당 연구에 사용된 </a:t>
            </a:r>
            <a:r>
              <a:rPr lang="en-US" altLang="ko-KR" dirty="0"/>
              <a:t>Dataset</a:t>
            </a:r>
            <a:r>
              <a:rPr lang="ko-KR" altLang="en-US" dirty="0"/>
              <a:t>은 </a:t>
            </a:r>
            <a:r>
              <a:rPr lang="en-US" altLang="ko-KR" dirty="0"/>
              <a:t>Train Dataset</a:t>
            </a:r>
            <a:r>
              <a:rPr lang="ko-KR" altLang="en-US" dirty="0"/>
              <a:t>으로 진행</a:t>
            </a:r>
            <a:r>
              <a:rPr lang="en-US" altLang="ko-KR" dirty="0"/>
              <a:t>(Test Dataset</a:t>
            </a:r>
            <a:r>
              <a:rPr lang="ko-KR" altLang="en-US" dirty="0"/>
              <a:t> </a:t>
            </a:r>
            <a:r>
              <a:rPr lang="en-US" altLang="ko-KR" dirty="0"/>
              <a:t>X)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FBB688F-8971-A276-FD19-FB30B958A0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17</a:t>
            </a:fld>
            <a:endParaRPr lang="en-US" altLang="ko-KR" spc="-25"/>
          </a:p>
        </p:txBody>
      </p:sp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59C57F-A4E2-F51C-52E7-47E4CB0B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757"/>
          <a:stretch>
            <a:fillRect/>
          </a:stretch>
        </p:blipFill>
        <p:spPr>
          <a:xfrm>
            <a:off x="7030118" y="2286000"/>
            <a:ext cx="4030869" cy="221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5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5573-B8C4-DAE7-4AA7-FB1950336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9709014-8050-CD25-C1B2-A04AA4440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092212"/>
              </p:ext>
            </p:extLst>
          </p:nvPr>
        </p:nvGraphicFramePr>
        <p:xfrm>
          <a:off x="1247361" y="2514600"/>
          <a:ext cx="9697277" cy="381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61914">
                  <a:extLst>
                    <a:ext uri="{9D8B030D-6E8A-4147-A177-3AD203B41FA5}">
                      <a16:colId xmlns:a16="http://schemas.microsoft.com/office/drawing/2014/main" val="211768891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13217478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64202403"/>
                    </a:ext>
                  </a:extLst>
                </a:gridCol>
                <a:gridCol w="902567">
                  <a:extLst>
                    <a:ext uri="{9D8B030D-6E8A-4147-A177-3AD203B41FA5}">
                      <a16:colId xmlns:a16="http://schemas.microsoft.com/office/drawing/2014/main" val="754411955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907092337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3617152644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5497528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32840582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1168853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02246008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579671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7746087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fold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n_train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n_valid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selected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features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accuracy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roc_auc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7506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.9892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.0513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.6968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2367159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550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.9892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.0641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.7190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1474739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.9928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.0513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.7893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2208018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.7234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77974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.9964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.0256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.7539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537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.9917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.0437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.7365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06829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.0014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.0027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.0153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.0321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609276"/>
                  </a:ext>
                </a:extLst>
              </a:tr>
            </a:tbl>
          </a:graphicData>
        </a:graphic>
      </p:graphicFrame>
      <p:sp>
        <p:nvSpPr>
          <p:cNvPr id="3" name="object 3">
            <a:extLst>
              <a:ext uri="{FF2B5EF4-FFF2-40B4-BE49-F238E27FC236}">
                <a16:creationId xmlns:a16="http://schemas.microsoft.com/office/drawing/2014/main" id="{8C76025C-EF75-24B2-D126-766E98BE96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1C35455-D7C4-CC61-0844-223CCECD0B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en-US" altLang="ko-KR" dirty="0"/>
              <a:t>Feature Selection with RFECV – No Sampling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063B77-AFEC-21B5-61A7-D6EE6E9AE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85912"/>
            <a:ext cx="4938226" cy="471488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80A43A-52D8-88AA-1D4D-57E545D946FD}"/>
              </a:ext>
            </a:extLst>
          </p:cNvPr>
          <p:cNvGrpSpPr/>
          <p:nvPr/>
        </p:nvGrpSpPr>
        <p:grpSpPr>
          <a:xfrm>
            <a:off x="3733800" y="2207180"/>
            <a:ext cx="3024830" cy="4431933"/>
            <a:chOff x="3962400" y="2207180"/>
            <a:chExt cx="3024830" cy="4431933"/>
          </a:xfrm>
        </p:grpSpPr>
        <p:pic>
          <p:nvPicPr>
            <p:cNvPr id="9" name="그림 8" descr="텍스트, 폰트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5E714D4-ADE4-08EA-76B6-E8CC319FC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24400" y="2207180"/>
              <a:ext cx="2262830" cy="4431933"/>
            </a:xfrm>
            <a:prstGeom prst="rect">
              <a:avLst/>
            </a:prstGeom>
          </p:spPr>
        </p:pic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5A3A434-713E-AB7E-0849-B7BC774E1641}"/>
                </a:ext>
              </a:extLst>
            </p:cNvPr>
            <p:cNvSpPr/>
            <p:nvPr/>
          </p:nvSpPr>
          <p:spPr>
            <a:xfrm>
              <a:off x="3962400" y="3102429"/>
              <a:ext cx="402771" cy="40277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53130E3-5346-387E-6955-FC80BE777D2B}"/>
                </a:ext>
              </a:extLst>
            </p:cNvPr>
            <p:cNvCxnSpPr>
              <a:stCxn id="10" idx="0"/>
            </p:cNvCxnSpPr>
            <p:nvPr/>
          </p:nvCxnSpPr>
          <p:spPr>
            <a:xfrm flipV="1">
              <a:off x="4163786" y="2207180"/>
              <a:ext cx="560614" cy="89524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DF06835-896B-3B30-A23F-46BDB5C8CA18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4163786" y="3505200"/>
              <a:ext cx="555170" cy="3124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그림 4" descr="폰트, 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EAA33F-40F3-F265-F9DC-486ED8113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854" y="1585912"/>
            <a:ext cx="2236913" cy="6808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9BFF45F-0285-83FF-D723-090E1870DF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18</a:t>
            </a:fld>
            <a:endParaRPr lang="en-US" altLang="ko-KR" spc="-25"/>
          </a:p>
        </p:txBody>
      </p:sp>
    </p:spTree>
    <p:extLst>
      <p:ext uri="{BB962C8B-B14F-4D97-AF65-F5344CB8AC3E}">
        <p14:creationId xmlns:p14="http://schemas.microsoft.com/office/powerpoint/2010/main" val="219869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C6105-25D7-D6FA-5613-5E44E836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462821F-52BA-5093-EABE-3710140513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94441CC-B845-220C-3A4B-CD311278BB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en-US" altLang="ko-KR" dirty="0"/>
              <a:t>Feature Selection with RFECV – No Sampling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6C256E-FF0A-81E6-0CF7-EFC07D6A9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85912"/>
            <a:ext cx="4938226" cy="471488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E09E4D-0C05-8D2C-FBB4-00D12E068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89503"/>
              </p:ext>
            </p:extLst>
          </p:nvPr>
        </p:nvGraphicFramePr>
        <p:xfrm>
          <a:off x="1247361" y="2514600"/>
          <a:ext cx="9697277" cy="381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61914">
                  <a:extLst>
                    <a:ext uri="{9D8B030D-6E8A-4147-A177-3AD203B41FA5}">
                      <a16:colId xmlns:a16="http://schemas.microsoft.com/office/drawing/2014/main" val="211768891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13217478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64202403"/>
                    </a:ext>
                  </a:extLst>
                </a:gridCol>
                <a:gridCol w="902567">
                  <a:extLst>
                    <a:ext uri="{9D8B030D-6E8A-4147-A177-3AD203B41FA5}">
                      <a16:colId xmlns:a16="http://schemas.microsoft.com/office/drawing/2014/main" val="754411955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907092337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3617152644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5497528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32840582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1168853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02246008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579671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7746087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fold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n_train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n_valid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selected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features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accuracy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roc_auc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7506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.9892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.0513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.6968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2367159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550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.9892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.0641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.7190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1474739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.9928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.0513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.7893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2208018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.7234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77974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.9964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.0256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.7539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537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.9917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.0437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.7365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06829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.0014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.0027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.0153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.0321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609276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154A09-A1BC-A205-3D51-D28A687FE0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19</a:t>
            </a:fld>
            <a:endParaRPr lang="en-US" altLang="ko-KR" spc="-25"/>
          </a:p>
        </p:txBody>
      </p:sp>
      <p:pic>
        <p:nvPicPr>
          <p:cNvPr id="9" name="그림 8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10B7C2-A874-ED46-E1B8-9AD659F6A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90600"/>
            <a:ext cx="2709209" cy="134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2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68E91-9B47-FA05-0BE4-0535120F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6270821-A2F4-16F2-212F-F959C0D348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162544-8E65-65B1-D378-B88749A322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en-US" altLang="ko-KR" dirty="0"/>
              <a:t>Feature Selection with RFECV – SMOTE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9209C36-5B59-176D-245C-48D1D7DE8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907063"/>
              </p:ext>
            </p:extLst>
          </p:nvPr>
        </p:nvGraphicFramePr>
        <p:xfrm>
          <a:off x="856110" y="2743200"/>
          <a:ext cx="10479780" cy="381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11776">
                  <a:extLst>
                    <a:ext uri="{9D8B030D-6E8A-4147-A177-3AD203B41FA5}">
                      <a16:colId xmlns:a16="http://schemas.microsoft.com/office/drawing/2014/main" val="222458302"/>
                    </a:ext>
                  </a:extLst>
                </a:gridCol>
                <a:gridCol w="877775">
                  <a:extLst>
                    <a:ext uri="{9D8B030D-6E8A-4147-A177-3AD203B41FA5}">
                      <a16:colId xmlns:a16="http://schemas.microsoft.com/office/drawing/2014/main" val="917867271"/>
                    </a:ext>
                  </a:extLst>
                </a:gridCol>
                <a:gridCol w="877775">
                  <a:extLst>
                    <a:ext uri="{9D8B030D-6E8A-4147-A177-3AD203B41FA5}">
                      <a16:colId xmlns:a16="http://schemas.microsoft.com/office/drawing/2014/main" val="3178747756"/>
                    </a:ext>
                  </a:extLst>
                </a:gridCol>
                <a:gridCol w="611776">
                  <a:extLst>
                    <a:ext uri="{9D8B030D-6E8A-4147-A177-3AD203B41FA5}">
                      <a16:colId xmlns:a16="http://schemas.microsoft.com/office/drawing/2014/main" val="1516823513"/>
                    </a:ext>
                  </a:extLst>
                </a:gridCol>
                <a:gridCol w="969986">
                  <a:extLst>
                    <a:ext uri="{9D8B030D-6E8A-4147-A177-3AD203B41FA5}">
                      <a16:colId xmlns:a16="http://schemas.microsoft.com/office/drawing/2014/main" val="1984103390"/>
                    </a:ext>
                  </a:extLst>
                </a:gridCol>
                <a:gridCol w="552673">
                  <a:extLst>
                    <a:ext uri="{9D8B030D-6E8A-4147-A177-3AD203B41FA5}">
                      <a16:colId xmlns:a16="http://schemas.microsoft.com/office/drawing/2014/main" val="2589138306"/>
                    </a:ext>
                  </a:extLst>
                </a:gridCol>
                <a:gridCol w="552673">
                  <a:extLst>
                    <a:ext uri="{9D8B030D-6E8A-4147-A177-3AD203B41FA5}">
                      <a16:colId xmlns:a16="http://schemas.microsoft.com/office/drawing/2014/main" val="1211319444"/>
                    </a:ext>
                  </a:extLst>
                </a:gridCol>
                <a:gridCol w="552673">
                  <a:extLst>
                    <a:ext uri="{9D8B030D-6E8A-4147-A177-3AD203B41FA5}">
                      <a16:colId xmlns:a16="http://schemas.microsoft.com/office/drawing/2014/main" val="250863637"/>
                    </a:ext>
                  </a:extLst>
                </a:gridCol>
                <a:gridCol w="552673">
                  <a:extLst>
                    <a:ext uri="{9D8B030D-6E8A-4147-A177-3AD203B41FA5}">
                      <a16:colId xmlns:a16="http://schemas.microsoft.com/office/drawing/2014/main" val="332887124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0317343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6447755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9158658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82160885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fold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13" marR="4013" marT="40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n_train</a:t>
                      </a:r>
                      <a:endParaRPr lang="en-US" sz="1400" b="1" u="none" strike="noStrike" dirty="0">
                        <a:effectLst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before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13" marR="4013" marT="40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n_train</a:t>
                      </a:r>
                      <a:endParaRPr lang="en-US" sz="1400" b="1" u="none" strike="noStrike" dirty="0">
                        <a:effectLst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after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13" marR="4013" marT="401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n_valid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Selected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features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13" marR="4013" marT="40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13" marR="4013" marT="40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FP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13" marR="4013" marT="401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13" marR="4013" marT="401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13" marR="4013" marT="401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accuracy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roc_auc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645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4446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427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129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.7303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.7680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.4615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.6563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1105743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4446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403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.7003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.7248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.5256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.6797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5508371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2534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4446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440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116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.7618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.7914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.5513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.7374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512805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2535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4446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430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126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.7409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.7734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.5065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.6877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835525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4448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414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141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.7093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.7459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.4487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.6740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56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.7285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.7607</a:t>
                      </a: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.4987</a:t>
                      </a: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.6870</a:t>
                      </a: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47212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.0220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.0231</a:t>
                      </a: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.0386</a:t>
                      </a: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.0272</a:t>
                      </a: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649996"/>
                  </a:ext>
                </a:extLst>
              </a:tr>
            </a:tbl>
          </a:graphicData>
        </a:graphic>
      </p:graphicFrame>
      <p:pic>
        <p:nvPicPr>
          <p:cNvPr id="11" name="그림 10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B9FEDE-0952-D17C-2AC6-9ADA02103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69" y="1600200"/>
            <a:ext cx="4780800" cy="69669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B00A26-CC02-1EE6-F7CC-D94176A31E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20</a:t>
            </a:fld>
            <a:endParaRPr lang="en-US" altLang="ko-KR" spc="-25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A0C16A-C8F7-BDA4-DEED-4DC37B7FD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90600"/>
            <a:ext cx="2709209" cy="134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0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009BC-D0ED-B88C-122F-B970E781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385F5A5-7349-0735-5454-B0F36FED50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8B8BE0-DF3F-A774-56E6-B9A5925B9E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en-US" altLang="ko-KR" dirty="0"/>
              <a:t>Feature Selection with RFECV – </a:t>
            </a:r>
            <a:r>
              <a:rPr lang="en-US" altLang="ko-KR" dirty="0" err="1"/>
              <a:t>UnderSampling</a:t>
            </a:r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FCD9B-3EAB-3DD5-A69C-C3FCFDACC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017590"/>
              </p:ext>
            </p:extLst>
          </p:nvPr>
        </p:nvGraphicFramePr>
        <p:xfrm>
          <a:off x="856110" y="2743200"/>
          <a:ext cx="10479780" cy="381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11776">
                  <a:extLst>
                    <a:ext uri="{9D8B030D-6E8A-4147-A177-3AD203B41FA5}">
                      <a16:colId xmlns:a16="http://schemas.microsoft.com/office/drawing/2014/main" val="222458302"/>
                    </a:ext>
                  </a:extLst>
                </a:gridCol>
                <a:gridCol w="877775">
                  <a:extLst>
                    <a:ext uri="{9D8B030D-6E8A-4147-A177-3AD203B41FA5}">
                      <a16:colId xmlns:a16="http://schemas.microsoft.com/office/drawing/2014/main" val="917867271"/>
                    </a:ext>
                  </a:extLst>
                </a:gridCol>
                <a:gridCol w="877775">
                  <a:extLst>
                    <a:ext uri="{9D8B030D-6E8A-4147-A177-3AD203B41FA5}">
                      <a16:colId xmlns:a16="http://schemas.microsoft.com/office/drawing/2014/main" val="3178747756"/>
                    </a:ext>
                  </a:extLst>
                </a:gridCol>
                <a:gridCol w="611776">
                  <a:extLst>
                    <a:ext uri="{9D8B030D-6E8A-4147-A177-3AD203B41FA5}">
                      <a16:colId xmlns:a16="http://schemas.microsoft.com/office/drawing/2014/main" val="1516823513"/>
                    </a:ext>
                  </a:extLst>
                </a:gridCol>
                <a:gridCol w="969986">
                  <a:extLst>
                    <a:ext uri="{9D8B030D-6E8A-4147-A177-3AD203B41FA5}">
                      <a16:colId xmlns:a16="http://schemas.microsoft.com/office/drawing/2014/main" val="1984103390"/>
                    </a:ext>
                  </a:extLst>
                </a:gridCol>
                <a:gridCol w="552673">
                  <a:extLst>
                    <a:ext uri="{9D8B030D-6E8A-4147-A177-3AD203B41FA5}">
                      <a16:colId xmlns:a16="http://schemas.microsoft.com/office/drawing/2014/main" val="2589138306"/>
                    </a:ext>
                  </a:extLst>
                </a:gridCol>
                <a:gridCol w="552673">
                  <a:extLst>
                    <a:ext uri="{9D8B030D-6E8A-4147-A177-3AD203B41FA5}">
                      <a16:colId xmlns:a16="http://schemas.microsoft.com/office/drawing/2014/main" val="1211319444"/>
                    </a:ext>
                  </a:extLst>
                </a:gridCol>
                <a:gridCol w="552673">
                  <a:extLst>
                    <a:ext uri="{9D8B030D-6E8A-4147-A177-3AD203B41FA5}">
                      <a16:colId xmlns:a16="http://schemas.microsoft.com/office/drawing/2014/main" val="250863637"/>
                    </a:ext>
                  </a:extLst>
                </a:gridCol>
                <a:gridCol w="552673">
                  <a:extLst>
                    <a:ext uri="{9D8B030D-6E8A-4147-A177-3AD203B41FA5}">
                      <a16:colId xmlns:a16="http://schemas.microsoft.com/office/drawing/2014/main" val="332887124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0317343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97045993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9158658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82160885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fold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  <a:latin typeface="+mn-lt"/>
                        </a:rPr>
                        <a:t>n_train</a:t>
                      </a:r>
                      <a:endParaRPr lang="en-US" sz="1400" b="1" u="none" strike="noStrike" dirty="0">
                        <a:effectLst/>
                        <a:latin typeface="+mn-lt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before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  <a:latin typeface="+mn-lt"/>
                        </a:rPr>
                        <a:t>n_train</a:t>
                      </a:r>
                      <a:endParaRPr lang="en-US" sz="1400" b="1" u="none" strike="noStrike" dirty="0">
                        <a:effectLst/>
                        <a:latin typeface="+mn-lt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after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  <a:latin typeface="+mn-lt"/>
                        </a:rPr>
                        <a:t>n_valid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Selected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features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TN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FP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FN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TP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accuracy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roc_auc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645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+mn-lt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+mn-lt"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622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+mn-lt"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178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.6688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.6799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.5897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.7009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1105743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+mn-lt"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+mn-lt"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.6356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.6367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.6282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.7032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5508371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+mn-lt"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+mn-lt"/>
                        </a:rPr>
                        <a:t>2534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+mn-lt"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.6798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.6745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.7179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.7808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512805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+mn-lt"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+mn-lt"/>
                        </a:rPr>
                        <a:t>2535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+mn-lt"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.6603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.6601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.6623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.7155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835525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+mn-lt"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+mn-lt"/>
                        </a:rPr>
                        <a:t>2535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622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+mn-lt"/>
                        </a:rPr>
                        <a:t>633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.6398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.6324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.6923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.7271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56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.6569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.6567</a:t>
                      </a: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.6581</a:t>
                      </a: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.7255</a:t>
                      </a: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4375068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.0169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.0192</a:t>
                      </a: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.0455</a:t>
                      </a: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.0292</a:t>
                      </a: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144290"/>
                  </a:ext>
                </a:extLst>
              </a:tr>
            </a:tbl>
          </a:graphicData>
        </a:graphic>
      </p:graphicFrame>
      <p:pic>
        <p:nvPicPr>
          <p:cNvPr id="4" name="그림 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5A4568-356C-0F11-3F22-69EEC35B3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4780800" cy="65397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ED6827-4E05-A3CF-F470-2B7AD6FECD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21</a:t>
            </a:fld>
            <a:endParaRPr lang="en-US" altLang="ko-KR" spc="-25"/>
          </a:p>
        </p:txBody>
      </p:sp>
      <p:pic>
        <p:nvPicPr>
          <p:cNvPr id="7" name="그림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4CE718-1984-3D2F-0BE8-0AAE9E9C3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90600"/>
            <a:ext cx="2709209" cy="134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2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EFF7-7781-5AED-2B58-08850BA4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B88F926-CD04-A8FA-3057-674BBB9EF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A99F7EF-446F-9468-CF16-310E356E2F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en-US" altLang="ko-KR" dirty="0"/>
              <a:t>Class Weight - None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13B4A2-C121-0B04-74AE-93755B4A1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6157"/>
            <a:ext cx="4938226" cy="47148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E88B2A-1D25-BFB8-1A94-32826418EE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22</a:t>
            </a:fld>
            <a:endParaRPr lang="en-US" altLang="ko-KR" spc="-25"/>
          </a:p>
        </p:txBody>
      </p:sp>
      <p:pic>
        <p:nvPicPr>
          <p:cNvPr id="7" name="그림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17FD4D-3296-F6D3-9D98-FF4730407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791886"/>
            <a:ext cx="2709209" cy="1343027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2377B83-1D7C-C0B2-2E84-6CCA6407D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355275"/>
              </p:ext>
            </p:extLst>
          </p:nvPr>
        </p:nvGraphicFramePr>
        <p:xfrm>
          <a:off x="1247361" y="2514600"/>
          <a:ext cx="9697277" cy="381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61914">
                  <a:extLst>
                    <a:ext uri="{9D8B030D-6E8A-4147-A177-3AD203B41FA5}">
                      <a16:colId xmlns:a16="http://schemas.microsoft.com/office/drawing/2014/main" val="211768891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13217478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64202403"/>
                    </a:ext>
                  </a:extLst>
                </a:gridCol>
                <a:gridCol w="902567">
                  <a:extLst>
                    <a:ext uri="{9D8B030D-6E8A-4147-A177-3AD203B41FA5}">
                      <a16:colId xmlns:a16="http://schemas.microsoft.com/office/drawing/2014/main" val="754411955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907092337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3617152644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5497528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32840582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1168853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02246008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579671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7746087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fold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n_train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n_valid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selected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features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accuracy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roc_auc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7506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.9892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.0513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.6968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2367159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550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.9892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.0641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.7190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1474739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.9928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.0513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.7893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2208018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.7234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77974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553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76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.9964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.0256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.7539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537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.9917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.0437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.7365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06829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.0014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.0027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.0153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.0321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60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7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0C21-256B-FB56-EDDF-A117FA25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2B71FD2-7FFF-DFFE-F6DC-9D64867D3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79EDC40-B8C0-388D-23A5-212300913B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en-US" altLang="ko-KR" dirty="0"/>
              <a:t>Class Weight – balanced (1:7 </a:t>
            </a:r>
            <a:r>
              <a:rPr lang="ko-KR" altLang="en-US" dirty="0"/>
              <a:t>정도</a:t>
            </a:r>
            <a:r>
              <a:rPr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208213-A805-8333-5716-910FEA158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6157"/>
            <a:ext cx="4938226" cy="471488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DA6150D-1910-B2AE-C1B8-1DDFDD9C5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826451"/>
              </p:ext>
            </p:extLst>
          </p:nvPr>
        </p:nvGraphicFramePr>
        <p:xfrm>
          <a:off x="1247361" y="2514600"/>
          <a:ext cx="9697277" cy="381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61914">
                  <a:extLst>
                    <a:ext uri="{9D8B030D-6E8A-4147-A177-3AD203B41FA5}">
                      <a16:colId xmlns:a16="http://schemas.microsoft.com/office/drawing/2014/main" val="211768891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13217478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64202403"/>
                    </a:ext>
                  </a:extLst>
                </a:gridCol>
                <a:gridCol w="902567">
                  <a:extLst>
                    <a:ext uri="{9D8B030D-6E8A-4147-A177-3AD203B41FA5}">
                      <a16:colId xmlns:a16="http://schemas.microsoft.com/office/drawing/2014/main" val="754411955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907092337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3617152644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5497528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32840582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1168853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8339151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579671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7746087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fold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n_train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n_valid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selected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features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accuracy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roc_auc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7506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380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176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.6672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.6835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.5513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.7050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2367159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368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188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.6577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.6619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.6282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.7048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1474739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386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170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61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.7050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.6942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.7821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.7903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2208018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392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164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.6983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.6494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.7274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77974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355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.6477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.6396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.7051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.7611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537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.6752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.6768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.6632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.7377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6534500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.0235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.0772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.0334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28146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DC6E7C-83BA-DFDB-8168-1796E0994C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23</a:t>
            </a:fld>
            <a:endParaRPr lang="en-US" altLang="ko-KR" spc="-25"/>
          </a:p>
        </p:txBody>
      </p:sp>
      <p:pic>
        <p:nvPicPr>
          <p:cNvPr id="8" name="그림 7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3F622E-9230-569E-A87B-A85E1826B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770132"/>
            <a:ext cx="2757473" cy="13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0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69B0-7213-C9BE-AF5E-994D31CCE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3AB6D1C-29F6-90E9-1B3E-36D6D7462E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81C72FE-CB1F-5BE1-66FF-34AEC7A1DD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en-US" altLang="ko-KR" dirty="0"/>
              <a:t>Class Weight – {0 : 1, 1 : 3}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A28AB4-C4D2-DE3C-FBA6-69F616CA5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6157"/>
            <a:ext cx="4938226" cy="471488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D7EF743-EB2D-B412-C618-9FEA467BB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687735"/>
              </p:ext>
            </p:extLst>
          </p:nvPr>
        </p:nvGraphicFramePr>
        <p:xfrm>
          <a:off x="1247361" y="2514600"/>
          <a:ext cx="9697277" cy="381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61914">
                  <a:extLst>
                    <a:ext uri="{9D8B030D-6E8A-4147-A177-3AD203B41FA5}">
                      <a16:colId xmlns:a16="http://schemas.microsoft.com/office/drawing/2014/main" val="211768891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13217478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64202403"/>
                    </a:ext>
                  </a:extLst>
                </a:gridCol>
                <a:gridCol w="902567">
                  <a:extLst>
                    <a:ext uri="{9D8B030D-6E8A-4147-A177-3AD203B41FA5}">
                      <a16:colId xmlns:a16="http://schemas.microsoft.com/office/drawing/2014/main" val="754411955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907092337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3617152644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5497528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32840582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1168853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8771433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579671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7746087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fold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n_train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n_valid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selected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features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accuracy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roc_auc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7506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2534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634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510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58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.8360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.9173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.2564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.6979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2367159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2534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634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502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.8391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.9029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.3846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.7087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1474739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2534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634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524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.8659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.9424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.3205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.7804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2208018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2535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633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510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.8357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.9173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.2468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.7303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77974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2535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633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507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53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.8404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.9135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.3205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.7633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537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.9187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.3058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.7361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5005454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.0114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.0130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.0501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.0314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904827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F3E027-2DC3-0F42-C056-4F01988D55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24</a:t>
            </a:fld>
            <a:endParaRPr lang="en-US" altLang="ko-KR" spc="-25"/>
          </a:p>
        </p:txBody>
      </p:sp>
      <p:pic>
        <p:nvPicPr>
          <p:cNvPr id="8" name="그림 7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F6FA66-EDBB-EA1E-437D-DFE2B86C9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770132"/>
            <a:ext cx="2732896" cy="13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7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CE6BD-417D-4F3D-9D34-DCBDF3533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14C2A84-624A-251C-4647-6BA10A749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22514B0-1545-048F-19B2-B0CE98C8A5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en-US" altLang="ko-KR" dirty="0"/>
              <a:t>Class Weight – {0 : 1, 1 : 10}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702E16-98B9-DA90-FB6E-A4C735A07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6157"/>
            <a:ext cx="4938226" cy="471488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37FB713-33FE-20DF-C5BB-F4FC538AA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292911"/>
              </p:ext>
            </p:extLst>
          </p:nvPr>
        </p:nvGraphicFramePr>
        <p:xfrm>
          <a:off x="1247361" y="2514600"/>
          <a:ext cx="9697277" cy="381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61914">
                  <a:extLst>
                    <a:ext uri="{9D8B030D-6E8A-4147-A177-3AD203B41FA5}">
                      <a16:colId xmlns:a16="http://schemas.microsoft.com/office/drawing/2014/main" val="211768891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132174787"/>
                    </a:ext>
                  </a:extLst>
                </a:gridCol>
                <a:gridCol w="832570">
                  <a:extLst>
                    <a:ext uri="{9D8B030D-6E8A-4147-A177-3AD203B41FA5}">
                      <a16:colId xmlns:a16="http://schemas.microsoft.com/office/drawing/2014/main" val="364202403"/>
                    </a:ext>
                  </a:extLst>
                </a:gridCol>
                <a:gridCol w="902567">
                  <a:extLst>
                    <a:ext uri="{9D8B030D-6E8A-4147-A177-3AD203B41FA5}">
                      <a16:colId xmlns:a16="http://schemas.microsoft.com/office/drawing/2014/main" val="754411955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907092337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3617152644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5497528"/>
                    </a:ext>
                  </a:extLst>
                </a:gridCol>
                <a:gridCol w="561914">
                  <a:extLst>
                    <a:ext uri="{9D8B030D-6E8A-4147-A177-3AD203B41FA5}">
                      <a16:colId xmlns:a16="http://schemas.microsoft.com/office/drawing/2014/main" val="132840582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1168853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46243435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579671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7746087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fold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n_train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n_valid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selected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features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accuracy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roc_auc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7506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250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.5694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.5504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.7051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.7062</a:t>
                      </a:r>
                    </a:p>
                  </a:txBody>
                  <a:tcPr marL="4763" marR="4763" marT="4763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2367159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289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267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58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.5473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.5198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.7436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.7060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1474739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251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67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.5868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.5486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.8590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.7821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2208018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633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320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236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58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.5972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.5755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.7532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.7232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77974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2535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633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283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272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68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.5545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.5099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.8718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.7599</a:t>
                      </a: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537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.5710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.5408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.7865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.7355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7030802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.0235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.0665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.0305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238286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7814856-3B19-1436-2767-EB96A3964C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25</a:t>
            </a:fld>
            <a:endParaRPr lang="en-US" altLang="ko-KR" spc="-25"/>
          </a:p>
        </p:txBody>
      </p:sp>
      <p:pic>
        <p:nvPicPr>
          <p:cNvPr id="8" name="그림 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FB958B-72F2-2618-C19D-81991ED71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775645"/>
            <a:ext cx="2878070" cy="13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0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1262062"/>
            <a:ext cx="12192000" cy="559593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E1A395-A83D-44A1-7D40-3CB830EEE3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altLang="ko-KR" spc="-25" smtClean="0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26</a:t>
            </a:fld>
            <a:endParaRPr lang="en-US" altLang="ko-KR" spc="-2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3401</TotalTime>
  <Words>2561</Words>
  <Application>Microsoft Office PowerPoint</Application>
  <PresentationFormat>와이드스크린</PresentationFormat>
  <Paragraphs>1365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Malgun Gothic</vt:lpstr>
      <vt:lpstr>Malgun Gothic</vt:lpstr>
      <vt:lpstr>Arial</vt:lpstr>
      <vt:lpstr>Office Theme</vt:lpstr>
      <vt:lpstr>Analysis Results of Osteoporosis Tabular Data</vt:lpstr>
      <vt:lpstr>1. What’s discussed in the last meetings</vt:lpstr>
      <vt:lpstr>2. Research Summary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전장훈</cp:lastModifiedBy>
  <cp:revision>730</cp:revision>
  <dcterms:created xsi:type="dcterms:W3CDTF">2023-07-18T06:54:54Z</dcterms:created>
  <dcterms:modified xsi:type="dcterms:W3CDTF">2026-01-09T02:13:42Z</dcterms:modified>
  <cp:version/>
</cp:coreProperties>
</file>