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87" r:id="rId1"/>
  </p:sldMasterIdLst>
  <p:notesMasterIdLst>
    <p:notesMasterId r:id="rId2"/>
  </p:notesMasterIdLst>
  <p:handoutMasterIdLst>
    <p:handoutMasterId r:id="rId3"/>
  </p:handout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prnPr scaleToFitPaper="1"/>
  <p:showPr showNarration="1" useTimings="0"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C69FF03A-DF0C-4845-94BB-EF2385AD676B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2700" cmpd="sng">
              <a:solidFill>
                <a:schemeClr val="accent1"/>
              </a:solidFill>
            </a:ln>
          </a:top>
          <a:bottom>
            <a:ln w="2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 w="10000" cmpd="sng">
              <a:solidFill>
                <a:schemeClr val="accent1"/>
              </a:solidFill>
            </a:ln>
          </a:top>
          <a:bottom>
            <a:ln w="10000" cmpd="sng">
              <a:solidFill>
                <a:schemeClr val="accent1"/>
              </a:solidFill>
            </a:ln>
          </a:bottom>
        </a:tcBdr>
        <a:fill>
          <a:solidFill>
            <a:schemeClr val="accent1">
              <a:alpha val="20000"/>
              <a:tint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A19EC50-B813-4FCE-9F78-2F8D5DE6B856}" styleName="Normal Style 2 - Accent 1">
    <a:tblBg>
      <a:effectRef idx="1">
        <a:schemeClr val="dk1"/>
      </a:effectRef>
    </a:tblBg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10000"/>
              <a:satMod val="53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30000"/>
              <a:satMod val="33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20000"/>
              <a:satMod val="73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>
              <a:alpha val="90000"/>
              <a:satMod val="150000"/>
            </a:schemeClr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>
              <a:alpha val="90000"/>
              <a:satMod val="150000"/>
            </a:schemeClr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>
              <a:alpha val="50000"/>
              <a:satMod val="630000"/>
            </a:schemeClr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>
              <a:shade val="50000"/>
              <a:satMod val="230000"/>
            </a:schemeClr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06F615A-370F-48FF-96DE-FFA2584FB0C5}" styleName="Light Style 2 - Body/Background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dk1"/>
            </a:lnRef>
          </a:left>
          <a:right>
            <a:lnRef idx="1">
              <a:schemeClr val="dk1"/>
            </a:lnRef>
          </a:right>
          <a:top>
            <a:lnRef idx="1">
              <a:schemeClr val="dk1"/>
            </a:lnRef>
          </a:top>
          <a:bottom>
            <a:lnRef idx="1">
              <a:schemeClr val="dk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dk1"/>
            </a:lnRef>
          </a:top>
          <a:bottom>
            <a:lnRef idx="1">
              <a:schemeClr val="dk1"/>
            </a:lnRef>
          </a:bottom>
        </a:tcBdr>
      </a:tcStyle>
    </a:band1H>
    <a:band1V>
      <a:tcTxStyle/>
      <a:tcStyle>
        <a:tcBdr>
          <a:left>
            <a:lnRef idx="1">
              <a:schemeClr val="dk1"/>
            </a:lnRef>
          </a:left>
          <a:right>
            <a:lnRef idx="1">
              <a:schemeClr val="dk1"/>
            </a:lnRef>
          </a:right>
        </a:tcBdr>
      </a:tcStyle>
    </a:band1V>
    <a:band2V>
      <a:tcTxStyle/>
      <a:tcStyle>
        <a:tcBdr>
          <a:left>
            <a:lnRef idx="1">
              <a:schemeClr val="dk1"/>
            </a:lnRef>
          </a:left>
          <a:right>
            <a:lnRef idx="1">
              <a:schemeClr val="dk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>
        <a:fontRef idx="minor">
          <a:scrgbClr r="0" g="0" b="0"/>
        </a:fontRef>
        <a:schemeClr val="dk1"/>
      </a:tcTxStyle>
      <a:tcStyle>
        <a:tcBdr>
          <a:top>
            <a:ln w="60800" cmpd="dbl">
              <a:solidFill>
                <a:schemeClr val="dk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dk1">
          <a:shade val="40000"/>
        </a:schemeClr>
      </a:tcTxStyle>
      <a:tcStyle>
        <a:tcBdr/>
        <a:fill>
          <a:solidFill>
            <a:schemeClr val="dk1">
              <a:alpha val="4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29D6073-5DEC-478E-BFBB-120F47F47B7E}" styleName="Light Style 1 - Body/Background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2700" cmpd="sng">
              <a:solidFill>
                <a:schemeClr val="dk1"/>
              </a:solidFill>
            </a:ln>
          </a:top>
          <a:bottom>
            <a:ln w="227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 w="10000" cmpd="sng">
              <a:solidFill>
                <a:schemeClr val="dk1"/>
              </a:solidFill>
            </a:ln>
          </a:top>
          <a:bottom>
            <a:ln w="10000" cmpd="sng">
              <a:solidFill>
                <a:schemeClr val="dk1"/>
              </a:solidFill>
            </a:ln>
          </a:bottom>
        </a:tcBdr>
        <a:fill>
          <a:solidFill>
            <a:schemeClr val="dk1">
              <a:alpha val="20000"/>
              <a:tint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dbl">
              <a:solidFill>
                <a:schemeClr val="dk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2700" cmpd="sng">
              <a:solidFill>
                <a:schemeClr val="dk1"/>
              </a:solidFill>
            </a:ln>
          </a:bottom>
        </a:tcBdr>
        <a:fill>
          <a:noFill/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F0A0EA-C916-463C-A3AD-4CCFBD9124EA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TxStyle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TxStyle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>
        <a:fontRef idx="minor">
          <a:scrgbClr r="0" g="0" b="0"/>
        </a:fontRef>
        <a:schemeClr val="accent1"/>
      </a:tcTxStyle>
      <a:tcStyle>
        <a:tcBdr>
          <a:top>
            <a:ln w="6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accent1">
          <a:shade val="40000"/>
        </a:schemeClr>
      </a:tcTxStyle>
      <a:tcStyle>
        <a:tcBdr/>
        <a:fill>
          <a:solidFill>
            <a:schemeClr val="accent1">
              <a:alpha val="40000"/>
            </a:schemeClr>
          </a:solidFill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14995" autoAdjust="0"/>
    <p:restoredTop sz="76831" autoAdjust="0"/>
  </p:normalViewPr>
  <p:slideViewPr>
    <p:cSldViewPr>
      <p:cViewPr varScale="1">
        <p:scale>
          <a:sx n="100" d="100"/>
          <a:sy n="100" d="100"/>
        </p:scale>
        <p:origin x="630" y="114"/>
      </p:cViewPr>
      <p:guideLst>
        <p:guide orient="horz" pos="2154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7.xml"  /><Relationship Id="rId11" Type="http://schemas.openxmlformats.org/officeDocument/2006/relationships/slide" Target="slides/slide8.xml"  /><Relationship Id="rId12" Type="http://schemas.openxmlformats.org/officeDocument/2006/relationships/slide" Target="slides/slide9.xml"  /><Relationship Id="rId13" Type="http://schemas.openxmlformats.org/officeDocument/2006/relationships/slide" Target="slides/slide10.xml"  /><Relationship Id="rId14" Type="http://schemas.openxmlformats.org/officeDocument/2006/relationships/slide" Target="slides/slide11.xml"  /><Relationship Id="rId15" Type="http://schemas.openxmlformats.org/officeDocument/2006/relationships/slide" Target="slides/slide12.xml"  /><Relationship Id="rId16" Type="http://schemas.openxmlformats.org/officeDocument/2006/relationships/slide" Target="slides/slide13.xml"  /><Relationship Id="rId17" Type="http://schemas.openxmlformats.org/officeDocument/2006/relationships/slide" Target="slides/slide14.xml"  /><Relationship Id="rId18" Type="http://schemas.openxmlformats.org/officeDocument/2006/relationships/slide" Target="slides/slide15.xml"  /><Relationship Id="rId19" Type="http://schemas.openxmlformats.org/officeDocument/2006/relationships/slide" Target="slides/slide16.xml"  /><Relationship Id="rId2" Type="http://schemas.openxmlformats.org/officeDocument/2006/relationships/notesMaster" Target="notesMasters/notesMaster1.xml"  /><Relationship Id="rId20" Type="http://schemas.openxmlformats.org/officeDocument/2006/relationships/slide" Target="slides/slide17.xml"  /><Relationship Id="rId21" Type="http://schemas.openxmlformats.org/officeDocument/2006/relationships/slide" Target="slides/slide18.xml"  /><Relationship Id="rId22" Type="http://schemas.openxmlformats.org/officeDocument/2006/relationships/slide" Target="slides/slide19.xml"  /><Relationship Id="rId23" Type="http://schemas.openxmlformats.org/officeDocument/2006/relationships/slide" Target="slides/slide20.xml"  /><Relationship Id="rId24" Type="http://schemas.openxmlformats.org/officeDocument/2006/relationships/slide" Target="slides/slide21.xml"  /><Relationship Id="rId25" Type="http://schemas.openxmlformats.org/officeDocument/2006/relationships/slide" Target="slides/slide22.xml"  /><Relationship Id="rId26" Type="http://schemas.openxmlformats.org/officeDocument/2006/relationships/slide" Target="slides/slide23.xml"  /><Relationship Id="rId27" Type="http://schemas.openxmlformats.org/officeDocument/2006/relationships/slide" Target="slides/slide24.xml"  /><Relationship Id="rId28" Type="http://schemas.openxmlformats.org/officeDocument/2006/relationships/presProps" Target="presProps.xml"  /><Relationship Id="rId29" Type="http://schemas.openxmlformats.org/officeDocument/2006/relationships/viewProps" Target="viewProps.xml"  /><Relationship Id="rId3" Type="http://schemas.openxmlformats.org/officeDocument/2006/relationships/handoutMaster" Target="handoutMasters/handoutMaster1.xml"  /><Relationship Id="rId30" Type="http://schemas.openxmlformats.org/officeDocument/2006/relationships/theme" Target="theme/theme1.xml"  /><Relationship Id="rId31" Type="http://schemas.openxmlformats.org/officeDocument/2006/relationships/tableStyles" Target="tableStyles.xml"  /><Relationship Id="rId4" Type="http://schemas.openxmlformats.org/officeDocument/2006/relationships/slide" Target="slides/slide1.xml"  /><Relationship Id="rId5" Type="http://schemas.openxmlformats.org/officeDocument/2006/relationships/slide" Target="slides/slide2.xml"  /><Relationship Id="rId6" Type="http://schemas.openxmlformats.org/officeDocument/2006/relationships/slide" Target="slides/slide3.xml"  /><Relationship Id="rId7" Type="http://schemas.openxmlformats.org/officeDocument/2006/relationships/slide" Target="slides/slide4.xml"  /><Relationship Id="rId8" Type="http://schemas.openxmlformats.org/officeDocument/2006/relationships/slide" Target="slides/slide5.xml"  /><Relationship Id="rId9" Type="http://schemas.openxmlformats.org/officeDocument/2006/relationships/slide" Target="slides/slide6.xml"  /></Relationships>
</file>

<file path=ppt/handoutMasters/_rels/handout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3.xml"  /></Relationships>
</file>

<file path=ppt/handoutMasters/handoutMaster1.xml><?xml version="1.0" encoding="utf-8"?>
<p:handout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5283200" cy="3429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6905978" y="0"/>
            <a:ext cx="5283200" cy="3429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D8D7A7C4-C82A-4D21-9AB0-F0C5A1D3EF09}" type="datetime1">
              <a:rPr lang="ko-KR" altLang="en-US"/>
              <a:pPr lvl="0">
                <a:defRPr/>
              </a:pPr>
              <a:t>2025-12-02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5283200" cy="3429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6905978" y="6513910"/>
            <a:ext cx="5283200" cy="3429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F450E784-2449-4FFD-AA69-3F5CFAA75BCB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24F3D1CD-0EED-4DFA-AF12-8E73FDA834A4}" type="datetime1">
              <a:rPr lang="ko-KR" altLang="en-US"/>
              <a:pPr lvl="0">
                <a:defRPr/>
              </a:pPr>
              <a:t>2025-12-02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두 번째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세 번째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네 번째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 번째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B338DA34-01F3-43BF-904F-885132A129B0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Title Slide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 idx="0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1A3D5110-9FE0-496F-B26A-071D02F2DE37}" type="datetime1">
              <a:rPr lang="ko-KR"/>
              <a:pPr lvl="0">
                <a:defRPr/>
              </a:pPr>
              <a:t>2025-10-11</a:t>
            </a:fld>
            <a:endParaRPr lang="ko-KR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Malgun Gothic"/>
                <a:cs typeface="Malgun Gothic"/>
              </a:defRPr>
            </a:lvl1pPr>
          </a:lstStyle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‹#›</a:t>
            </a:fld>
            <a:endParaRPr spc="-25"/>
          </a:p>
        </p:txBody>
      </p:sp>
      <p:sp>
        <p:nvSpPr>
          <p:cNvPr id="7" name=""/>
          <p:cNvSpPr/>
          <p:nvPr userDrawn="1"/>
        </p:nvSpPr>
        <p:spPr>
          <a:xfrm>
            <a:off x="1219200" y="0"/>
            <a:ext cx="10972800" cy="352844"/>
          </a:xfrm>
          <a:prstGeom prst="rect">
            <a:avLst/>
          </a:prstGeom>
          <a:solidFill>
            <a:srgbClr val="1f346b">
              <a:alpha val="100000"/>
            </a:srgbClr>
          </a:solidFill>
          <a:ln w="25400" cap="flat" cmpd="sng" algn="ctr">
            <a:noFill/>
            <a:prstDash val="solid"/>
          </a:ln>
        </p:spPr>
        <p:txBody>
          <a:bodyPr anchor="ctr"/>
          <a:p>
            <a:pPr algn="ctr">
              <a:defRPr/>
            </a:pPr>
            <a:endParaRPr lang="en-US" altLang="ko-KR">
              <a:solidFill>
                <a:srgbClr val="ffffff"/>
              </a:solidFill>
              <a:latin typeface="Arial"/>
              <a:ea typeface="맑은 고딕"/>
              <a:cs typeface="Arial"/>
            </a:endParaRPr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Title and Content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/>
          <p:nvPr userDrawn="1"/>
        </p:nvSpPr>
        <p:spPr>
          <a:xfrm>
            <a:off x="1219200" y="0"/>
            <a:ext cx="10972800" cy="352844"/>
          </a:xfrm>
          <a:prstGeom prst="rect">
            <a:avLst/>
          </a:prstGeom>
          <a:solidFill>
            <a:srgbClr val="1f346b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en-US" altLang="ko-KR"/>
          </a:p>
        </p:txBody>
      </p:sp>
      <p:sp>
        <p:nvSpPr>
          <p:cNvPr id="2" name="Holder 2"/>
          <p:cNvSpPr>
            <a:spLocks noGrp="1"/>
          </p:cNvSpPr>
          <p:nvPr>
            <p:ph type="title" idx="0"/>
          </p:nvPr>
        </p:nvSpPr>
        <p:spPr>
          <a:xfrm>
            <a:off x="609701" y="446405"/>
            <a:ext cx="11353699" cy="353695"/>
          </a:xfrm>
        </p:spPr>
        <p:txBody>
          <a:bodyPr lIns="0" tIns="0" rIns="0" bIns="0"/>
          <a:lstStyle>
            <a:lvl1pPr>
              <a:defRPr sz="2400" b="1" i="0">
                <a:solidFill>
                  <a:srgbClr val="1f346b"/>
                </a:solidFill>
                <a:latin typeface="Arial"/>
                <a:cs typeface="Arial"/>
              </a:defRPr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1A3D5110-9FE0-496F-B26A-071D02F2DE37}" type="datetime1">
              <a:rPr lang="ko-KR"/>
              <a:pPr lvl="0">
                <a:defRPr/>
              </a:pPr>
              <a:t>2025-10-11</a:t>
            </a:fld>
            <a:endParaRPr lang="ko-KR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Malgun Gothic"/>
                <a:cs typeface="Malgun Gothic"/>
              </a:defRPr>
            </a:lvl1pPr>
          </a:lstStyle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‹#›</a:t>
            </a:fld>
            <a:endParaRPr spc="-25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066800"/>
            <a:ext cx="11125200" cy="1466850"/>
          </a:xfrm>
        </p:spPr>
        <p:txBody>
          <a:bodyPr/>
          <a:lstStyle>
            <a:lvl1pPr marL="285750" indent="-285750">
              <a:lnSpc>
                <a:spcPct val="100000"/>
              </a:lnSpc>
              <a:buFont typeface="Arial"/>
              <a:buChar char="•"/>
              <a:defRPr sz="2400"/>
            </a:lvl1pPr>
            <a:lvl2pPr marL="742950" indent="-285750">
              <a:lnSpc>
                <a:spcPct val="100000"/>
              </a:lnSpc>
              <a:buFont typeface="Arial"/>
              <a:buChar char="•"/>
              <a:defRPr sz="2000"/>
            </a:lvl2pPr>
            <a:lvl3pPr marL="1200150" indent="-285750">
              <a:lnSpc>
                <a:spcPct val="100000"/>
              </a:lnSpc>
              <a:buFont typeface="Arial"/>
              <a:buChar char="•"/>
              <a:defRPr sz="1800"/>
            </a:lvl3pPr>
            <a:lvl4pPr marL="1657350" indent="-285750">
              <a:lnSpc>
                <a:spcPct val="100000"/>
              </a:lnSpc>
              <a:buFont typeface="Arial"/>
              <a:buChar char="•"/>
              <a:defRPr sz="1600"/>
            </a:lvl4pPr>
            <a:lvl5pPr marL="2114550" indent="-285750">
              <a:lnSpc>
                <a:spcPct val="100000"/>
              </a:lnSpc>
              <a:buFont typeface="Arial"/>
              <a:buChar char="•"/>
              <a:defRPr/>
            </a:lvl5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두 번째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세 번째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네 번째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 번째 수준</a:t>
            </a:r>
            <a:endParaRPr lang="ko-KR" alt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Two Content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 idx="0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1f346b"/>
                </a:solidFill>
                <a:latin typeface="Arial"/>
                <a:cs typeface="Arial"/>
              </a:defRPr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1A3D5110-9FE0-496F-B26A-071D02F2DE37}" type="datetime1">
              <a:rPr lang="ko-KR"/>
              <a:pPr lvl="0">
                <a:defRPr/>
              </a:pPr>
              <a:t>2025-10-11</a:t>
            </a:fld>
            <a:endParaRPr lang="ko-KR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Malgun Gothic"/>
                <a:cs typeface="Malgun Gothic"/>
              </a:defRPr>
            </a:lvl1pPr>
          </a:lstStyle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‹#›</a:t>
            </a:fld>
            <a:endParaRPr spc="-25"/>
          </a:p>
        </p:txBody>
      </p:sp>
      <p:sp>
        <p:nvSpPr>
          <p:cNvPr id="8" name=""/>
          <p:cNvSpPr/>
          <p:nvPr userDrawn="1"/>
        </p:nvSpPr>
        <p:spPr>
          <a:xfrm>
            <a:off x="1219200" y="0"/>
            <a:ext cx="10972800" cy="352844"/>
          </a:xfrm>
          <a:prstGeom prst="rect">
            <a:avLst/>
          </a:prstGeom>
          <a:solidFill>
            <a:srgbClr val="1f346b">
              <a:alpha val="100000"/>
            </a:srgbClr>
          </a:solidFill>
          <a:ln w="25400" cap="flat" cmpd="sng" algn="ctr">
            <a:noFill/>
            <a:prstDash val="solid"/>
          </a:ln>
        </p:spPr>
        <p:txBody>
          <a:bodyPr anchor="ctr"/>
          <a:p>
            <a:pPr algn="ctr">
              <a:defRPr/>
            </a:pPr>
            <a:endParaRPr lang="en-US" altLang="ko-KR">
              <a:solidFill>
                <a:srgbClr val="ffffff"/>
              </a:solidFill>
              <a:latin typeface="Arial"/>
              <a:ea typeface="맑은 고딕"/>
              <a:cs typeface="Arial"/>
            </a:endParaRPr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Title Only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 idx="0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1f346b"/>
                </a:solidFill>
                <a:latin typeface="Arial"/>
                <a:cs typeface="Arial"/>
              </a:defRPr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1A3D5110-9FE0-496F-B26A-071D02F2DE37}" type="datetime1">
              <a:rPr lang="ko-KR"/>
              <a:pPr lvl="0">
                <a:defRPr/>
              </a:pPr>
              <a:t>2025-10-11</a:t>
            </a:fld>
            <a:endParaRPr lang="ko-KR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Malgun Gothic"/>
                <a:cs typeface="Malgun Gothic"/>
              </a:defRPr>
            </a:lvl1pPr>
          </a:lstStyle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‹#›</a:t>
            </a:fld>
            <a:endParaRPr spc="-25"/>
          </a:p>
        </p:txBody>
      </p:sp>
      <p:sp>
        <p:nvSpPr>
          <p:cNvPr id="6" name=""/>
          <p:cNvSpPr/>
          <p:nvPr userDrawn="1"/>
        </p:nvSpPr>
        <p:spPr>
          <a:xfrm>
            <a:off x="1219200" y="0"/>
            <a:ext cx="10972800" cy="352844"/>
          </a:xfrm>
          <a:prstGeom prst="rect">
            <a:avLst/>
          </a:prstGeom>
          <a:solidFill>
            <a:srgbClr val="1f346b">
              <a:alpha val="100000"/>
            </a:srgbClr>
          </a:solidFill>
          <a:ln w="25400" cap="flat" cmpd="sng" algn="ctr">
            <a:noFill/>
            <a:prstDash val="solid"/>
          </a:ln>
        </p:spPr>
        <p:txBody>
          <a:bodyPr anchor="ctr"/>
          <a:p>
            <a:pPr algn="ctr">
              <a:defRPr/>
            </a:pPr>
            <a:endParaRPr lang="en-US" altLang="ko-KR">
              <a:solidFill>
                <a:srgbClr val="ffffff"/>
              </a:solidFill>
              <a:latin typeface="Arial"/>
              <a:ea typeface="맑은 고딕"/>
              <a:cs typeface="Arial"/>
            </a:endParaRPr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1" matchingName="Blank" type="obj" preserve="1">
  <p:cSld name="Blank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1A3D5110-9FE0-496F-B26A-071D02F2DE37}" type="datetime1">
              <a:rPr lang="ko-KR"/>
              <a:pPr lvl="0">
                <a:defRPr/>
              </a:pPr>
              <a:t>2025-10-10</a:t>
            </a:fld>
            <a:endParaRPr lang="ko-KR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Malgun Gothic"/>
                <a:cs typeface="Malgun Gothic"/>
              </a:defRPr>
            </a:lvl1pPr>
          </a:lstStyle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‹#›</a:t>
            </a:fld>
            <a:endParaRPr spc="-25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theme" Target="../theme/theme1.xml"  /><Relationship Id="rId7" Type="http://schemas.openxmlformats.org/officeDocument/2006/relationships/image" Target="../media/image1.png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Office Theme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0403205" cy="353695"/>
          </a:xfrm>
          <a:custGeom>
            <a:avLst/>
            <a:gdLst/>
            <a:rect l="l" t="t" r="r" b="b"/>
            <a:pathLst>
              <a:path w="10403205" h="353695">
                <a:moveTo>
                  <a:pt x="10402824" y="0"/>
                </a:moveTo>
                <a:lnTo>
                  <a:pt x="0" y="0"/>
                </a:lnTo>
                <a:lnTo>
                  <a:pt x="0" y="353568"/>
                </a:lnTo>
                <a:lnTo>
                  <a:pt x="10402824" y="353568"/>
                </a:lnTo>
                <a:lnTo>
                  <a:pt x="10402824" y="0"/>
                </a:lnTo>
                <a:close/>
              </a:path>
            </a:pathLst>
          </a:custGeom>
          <a:solidFill>
            <a:srgbClr val="1f346b"/>
          </a:solidFill>
        </p:spPr>
        <p:txBody>
          <a:bodyPr wrap="square" lIns="0" tIns="0" rIns="0" bIns="0"/>
          <a:lstStyle/>
          <a:p>
            <a:pPr lvl="0">
              <a:defRPr/>
            </a:pPr>
            <a:endParaRPr/>
          </a:p>
        </p:txBody>
      </p:sp>
      <p:pic>
        <p:nvPicPr>
          <p:cNvPr id="17" name="bg object 17"/>
          <p:cNvPicPr/>
          <p:nvPr/>
        </p:nvPicPr>
        <p:blipFill rotWithShape="1">
          <a:blip r:embed="rId7"/>
          <a:stretch>
            <a:fillRect/>
          </a:stretch>
        </p:blipFill>
        <p:spPr>
          <a:xfrm>
            <a:off x="105155" y="12745"/>
            <a:ext cx="1045403" cy="32405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 idx="0"/>
          </p:nvPr>
        </p:nvSpPr>
        <p:spPr>
          <a:xfrm>
            <a:off x="609701" y="379298"/>
            <a:ext cx="1831339" cy="3917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1f346b"/>
                </a:solidFill>
                <a:latin typeface="Arial"/>
                <a:cs typeface="Arial"/>
              </a:defRPr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11008" y="1695830"/>
            <a:ext cx="9821545" cy="1677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2705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1A3D5110-9FE0-496F-B26A-071D02F2DE37}" type="datetime1">
              <a:rPr lang="ko-KR"/>
              <a:pPr lvl="0">
                <a:defRPr/>
              </a:pPr>
              <a:t>2025-10-11</a:t>
            </a:fld>
            <a:endParaRPr lang="ko-KR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56619" y="6419409"/>
            <a:ext cx="256540" cy="228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Malgun Gothic"/>
                <a:cs typeface="Malgun Gothic"/>
              </a:defRPr>
            </a:lvl1pPr>
          </a:lstStyle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‹#›</a:t>
            </a:fld>
            <a:endParaRPr spc="-25"/>
          </a:p>
        </p:txBody>
      </p:sp>
      <p:sp>
        <p:nvSpPr>
          <p:cNvPr id="18" name=""/>
          <p:cNvSpPr/>
          <p:nvPr userDrawn="1"/>
        </p:nvSpPr>
        <p:spPr>
          <a:xfrm>
            <a:off x="1219200" y="0"/>
            <a:ext cx="10972800" cy="352844"/>
          </a:xfrm>
          <a:prstGeom prst="rect">
            <a:avLst/>
          </a:prstGeom>
          <a:solidFill>
            <a:srgbClr val="1f346b">
              <a:alpha val="100000"/>
            </a:srgbClr>
          </a:solidFill>
          <a:ln w="25400" cap="flat" cmpd="sng" algn="ctr">
            <a:noFill/>
            <a:prstDash val="solid"/>
          </a:ln>
        </p:spPr>
        <p:txBody>
          <a:bodyPr anchor="ctr"/>
          <a:p>
            <a:pPr algn="ctr">
              <a:defRPr/>
            </a:pPr>
            <a:endParaRPr lang="en-US" altLang="ko-KR">
              <a:solidFill>
                <a:srgbClr val="ffffff"/>
              </a:solidFill>
              <a:latin typeface="Arial"/>
              <a:ea typeface="맑은 고딕"/>
              <a:cs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</p:sldLayoutIdLst>
  <p:transition xmlns:mc="http://schemas.openxmlformats.org/markup-compatibility/2006" xmlns:hp="http://schemas.haansoft.com/office/presentation/8.0" mc:Ignorable="hp" hp:hslDur="500"/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.jpeg"  /><Relationship Id="rId3" Type="http://schemas.openxmlformats.org/officeDocument/2006/relationships/image" Target="../media/image3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4.png"  /><Relationship Id="rId3" Type="http://schemas.openxmlformats.org/officeDocument/2006/relationships/image" Target="../media/image5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6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7.pn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8.png"  /><Relationship Id="rId3" Type="http://schemas.openxmlformats.org/officeDocument/2006/relationships/image" Target="../media/image9.png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0.png"  /><Relationship Id="rId3" Type="http://schemas.openxmlformats.org/officeDocument/2006/relationships/image" Target="../media/image11.png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2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2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2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2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5.xml"  /><Relationship Id="rId2" Type="http://schemas.openxmlformats.org/officeDocument/2006/relationships/image" Target="../media/image12.jpe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 rotWithShape="1">
          <a:blip r:embed="rId2"/>
          <a:stretch>
            <a:fillRect/>
          </a:stretch>
        </p:blipFill>
        <p:spPr>
          <a:xfrm>
            <a:off x="0" y="342901"/>
            <a:ext cx="12192000" cy="65404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 idx="0"/>
          </p:nvPr>
        </p:nvSpPr>
        <p:spPr>
          <a:xfrm>
            <a:off x="499363" y="2062806"/>
            <a:ext cx="11387837" cy="385119"/>
          </a:xfrm>
          <a:prstGeom prst="rect">
            <a:avLst/>
          </a:prstGeom>
        </p:spPr>
        <p:txBody>
          <a:bodyPr vert="horz" wrap="square" lIns="0" tIns="13335" rIns="0" bIns="0">
            <a:spAutoFit/>
          </a:bodyPr>
          <a:lstStyle/>
          <a:p>
            <a:pPr marL="12700">
              <a:lnSpc>
                <a:spcPct val="100000"/>
              </a:lnSpc>
              <a:spcBef>
                <a:spcPts val="104"/>
              </a:spcBef>
              <a:defRPr/>
            </a:pPr>
            <a:r>
              <a:rPr lang="en-US" altLang="ko-KR" sz="2500">
                <a:solidFill>
                  <a:schemeClr val="lt1"/>
                </a:solidFill>
              </a:rPr>
              <a:t>Tabular Data Analysis</a:t>
            </a:r>
            <a:endParaRPr lang="en-US" altLang="ko-KR" sz="2500">
              <a:solidFill>
                <a:schemeClr val="lt1"/>
              </a:solidFill>
            </a:endParaRPr>
          </a:p>
        </p:txBody>
      </p:sp>
      <p:pic>
        <p:nvPicPr>
          <p:cNvPr id="4" name="object 4"/>
          <p:cNvPicPr/>
          <p:nvPr/>
        </p:nvPicPr>
        <p:blipFill rotWithShape="1">
          <a:blip r:embed="rId3"/>
          <a:stretch>
            <a:fillRect/>
          </a:stretch>
        </p:blipFill>
        <p:spPr>
          <a:xfrm>
            <a:off x="0" y="5446776"/>
            <a:ext cx="4561332" cy="100431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17068" y="3139177"/>
            <a:ext cx="7139940" cy="259045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600">
                <a:solidFill>
                  <a:schemeClr val="bg1">
                    <a:lumMod val="75000"/>
                  </a:schemeClr>
                </a:solidFill>
                <a:latin typeface="Arial"/>
                <a:ea typeface="+mj-ea"/>
                <a:cs typeface="Arial"/>
              </a:rPr>
              <a:t>2025. 12. 03.</a:t>
            </a:r>
            <a:endParaRPr lang="en-US" altLang="ko-KR" sz="1600">
              <a:solidFill>
                <a:schemeClr val="bg1">
                  <a:lumMod val="75000"/>
                </a:schemeClr>
              </a:solidFill>
              <a:latin typeface="Arial"/>
              <a:ea typeface="+mj-ea"/>
              <a:cs typeface="Arial"/>
            </a:endParaRPr>
          </a:p>
        </p:txBody>
      </p:sp>
      <p:sp>
        <p:nvSpPr>
          <p:cNvPr id="6" name="object 5"/>
          <p:cNvSpPr txBox="1"/>
          <p:nvPr/>
        </p:nvSpPr>
        <p:spPr>
          <a:xfrm>
            <a:off x="417068" y="3564777"/>
            <a:ext cx="7139940" cy="289823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800" b="1">
                <a:solidFill>
                  <a:srgbClr val="ffffff"/>
                </a:solidFill>
                <a:latin typeface="Arial"/>
                <a:ea typeface="+mj-ea"/>
                <a:cs typeface="Arial"/>
              </a:rPr>
              <a:t>JangHoon Chun</a:t>
            </a:r>
            <a:endParaRPr lang="en-US" altLang="ko-KR" sz="1800" b="1">
              <a:solidFill>
                <a:srgbClr val="ffffff"/>
              </a:solidFill>
              <a:latin typeface="Arial"/>
              <a:ea typeface="+mj-ea"/>
              <a:cs typeface="Arial"/>
            </a:endParaRPr>
          </a:p>
        </p:txBody>
      </p:sp>
      <p:sp>
        <p:nvSpPr>
          <p:cNvPr id="7" name="object 5"/>
          <p:cNvSpPr txBox="1"/>
          <p:nvPr/>
        </p:nvSpPr>
        <p:spPr>
          <a:xfrm>
            <a:off x="417068" y="3978214"/>
            <a:ext cx="7139940" cy="1193861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600">
                <a:solidFill>
                  <a:srgbClr val="ffffff"/>
                </a:solidFill>
                <a:latin typeface="Arial"/>
                <a:ea typeface="+mj-ea"/>
                <a:cs typeface="Arial"/>
              </a:rPr>
              <a:t>Department of Medical Device Industry,</a:t>
            </a:r>
            <a:endParaRPr lang="en-US" altLang="ko-KR" sz="1600">
              <a:solidFill>
                <a:srgbClr val="ffffff"/>
              </a:solidFill>
              <a:latin typeface="Arial"/>
              <a:ea typeface="+mj-ea"/>
              <a:cs typeface="Arial"/>
            </a:endParaRPr>
          </a:p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600">
                <a:solidFill>
                  <a:srgbClr val="ffffff"/>
                </a:solidFill>
                <a:latin typeface="Arial"/>
                <a:ea typeface="+mj-ea"/>
                <a:cs typeface="Arial"/>
              </a:rPr>
              <a:t>Gangnam Severance Hospital,</a:t>
            </a:r>
            <a:endParaRPr lang="en-US" altLang="ko-KR" sz="1600">
              <a:solidFill>
                <a:srgbClr val="ffffff"/>
              </a:solidFill>
              <a:latin typeface="Arial"/>
              <a:ea typeface="+mj-ea"/>
              <a:cs typeface="Arial"/>
            </a:endParaRPr>
          </a:p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600">
                <a:solidFill>
                  <a:srgbClr val="ffffff"/>
                </a:solidFill>
                <a:latin typeface="Arial"/>
                <a:ea typeface="+mj-ea"/>
                <a:cs typeface="Arial"/>
              </a:rPr>
              <a:t>Yonsei University College of Medicine</a:t>
            </a:r>
            <a:endParaRPr lang="en-US" altLang="ko-KR" sz="1600">
              <a:solidFill>
                <a:srgbClr val="ffffff"/>
              </a:solidFill>
              <a:latin typeface="Arial"/>
              <a:ea typeface="+mj-ea"/>
              <a:cs typeface="Arial"/>
            </a:endParaRPr>
          </a:p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endParaRPr lang="en-US" altLang="ko-KR" sz="1600">
              <a:solidFill>
                <a:srgbClr val="ffffff"/>
              </a:solidFill>
              <a:latin typeface="Arial"/>
              <a:ea typeface="+mj-ea"/>
              <a:cs typeface="Arial"/>
            </a:endParaRPr>
          </a:p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endParaRPr sz="1600" baseline="25000">
              <a:latin typeface="Arial"/>
              <a:ea typeface="+mj-ea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 idx="0"/>
          </p:nvPr>
        </p:nvSpPr>
        <p:spPr>
          <a:xfrm>
            <a:off x="609701" y="446405"/>
            <a:ext cx="11353699" cy="372744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lvl="0">
              <a:defRPr/>
            </a:pPr>
            <a:r>
              <a:rPr lang="en-US"/>
              <a:t>What’s discussed in the last meetings</a:t>
            </a:r>
            <a:endParaRPr lang="en-US"/>
          </a:p>
        </p:txBody>
      </p:sp>
      <p:sp>
        <p:nvSpPr>
          <p:cNvPr id="12" name="Holder 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lang="en-US"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2</a:t>
            </a:fld>
            <a:endParaRPr lang="en-US" spc="-25"/>
          </a:p>
        </p:txBody>
      </p:sp>
      <p:sp>
        <p:nvSpPr>
          <p:cNvPr id="13" name="텍스트 개체 틀 7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009645"/>
            <a:ext cx="5486400" cy="285755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ko-KR" altLang="en-US" sz="1300"/>
              <a:t>인체 임상 변수</a:t>
            </a:r>
            <a:endParaRPr lang="ko-KR" altLang="en-US" sz="1300"/>
          </a:p>
        </p:txBody>
      </p:sp>
      <p:graphicFrame>
        <p:nvGraphicFramePr>
          <p:cNvPr id="14" name=""/>
          <p:cNvGraphicFramePr/>
          <p:nvPr/>
        </p:nvGraphicFramePr>
        <p:xfrm>
          <a:off x="685800" y="1356360"/>
          <a:ext cx="5016425" cy="4693920"/>
        </p:xfrm>
        <a:graphic>
          <a:graphicData uri="http://schemas.openxmlformats.org/drawingml/2006/table">
            <a:tbl>
              <a:tblPr firstRow="1" bandRow="1">
                <a:tableStyleId>{729D6073-5DEC-478E-BFBB-120F47F47B7E}</a:tableStyleId>
              </a:tblPr>
              <a:tblGrid>
                <a:gridCol w="1602105"/>
                <a:gridCol w="2202740"/>
                <a:gridCol w="1211580"/>
              </a:tblGrid>
              <a:tr h="316477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Variable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Description</a:t>
                      </a:r>
                      <a:endParaRPr lang="ko-KR" altLang="en-US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Units / Classification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</a:tr>
              <a:tr h="194755"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File Analyzed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환자 / 케이스 식별자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ID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316477"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Osteoporosis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골다공증 여부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(0=정상, 1=골다공증)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Binary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194755"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Age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나이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세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194755"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진료년월일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검사 날짜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YYYY-MM-DD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194755"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키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키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cm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194755"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체중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몸무게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kg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194755"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BMI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체질량지수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kg/m²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194755"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허리둘레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허리 둘레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cm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194755"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근육량SoftLeanMass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부위별 평균 근육량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kg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194755"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체지방율BodyFat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체지방 비율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%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194755"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체지방량FatMassKg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체지방 총량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kg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194755"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복부지방율WHRatio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복부지방률 (WH Ratio)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%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194755"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복부내장지방량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내장지방량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kg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194755"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복부피하지방량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피하지방량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kg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194755"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초경연령ALL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초경 시작 나이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세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194755"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폐경여부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폐경 여부 (1=예, 0=아니오)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Binary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194755"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출산횟수ALL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출산 횟수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Count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5" name="텍스트 개체 틀 7"/>
          <p:cNvSpPr>
            <a:spLocks noGrp="1"/>
          </p:cNvSpPr>
          <p:nvPr/>
        </p:nvSpPr>
        <p:spPr>
          <a:xfrm>
            <a:off x="6096000" y="1009645"/>
            <a:ext cx="5486400" cy="285755"/>
          </a:xfrm>
          <a:prstGeom prst="rect">
            <a:avLst/>
          </a:prstGeom>
        </p:spPr>
        <p:txBody>
          <a:bodyPr wrap="square" lIns="0" tIns="0" rIns="0" bIns="0">
            <a:spAutoFit/>
          </a:bodyPr>
          <a:p>
            <a:pPr marL="285750" indent="-285750" eaLnBrk="1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ko-KR" altLang="en-US" sz="1300" b="0" i="0" u="none" strike="noStrike" kern="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영상 파생 변수</a:t>
            </a:r>
            <a:endParaRPr xmlns:mc="http://schemas.openxmlformats.org/markup-compatibility/2006" xmlns:hp="http://schemas.haansoft.com/office/presentation/8.0" kumimoji="0" lang="ko-KR" altLang="en-US" sz="1300" b="0" i="0" u="none" strike="noStrike" kern="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17" name=""/>
          <p:cNvGraphicFramePr/>
          <p:nvPr/>
        </p:nvGraphicFramePr>
        <p:xfrm>
          <a:off x="6248399" y="1356360"/>
          <a:ext cx="5339713" cy="1615440"/>
        </p:xfrm>
        <a:graphic>
          <a:graphicData uri="http://schemas.openxmlformats.org/drawingml/2006/table">
            <a:tbl>
              <a:tblPr firstRow="1" bandRow="1">
                <a:tableStyleId>{206F615A-370F-48FF-96DE-FFA2584FB0C5}</a:tableStyleId>
              </a:tblPr>
              <a:tblGrid>
                <a:gridCol w="1916429"/>
                <a:gridCol w="2125980"/>
                <a:gridCol w="1297304"/>
              </a:tblGrid>
              <a:tr h="261011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Variable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Description</a:t>
                      </a:r>
                      <a:endParaRPr lang="ko-KR" altLang="en-US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Units / Classification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179445"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BreastArea(sqcm)AVG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ko-KR" altLang="en-US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유방 전체 면적 평균</a:t>
                      </a:r>
                      <a:endParaRPr xmlns:mc="http://schemas.openxmlformats.org/markup-compatibility/2006" xmlns:hp="http://schemas.haansoft.com/office/presentation/8.0" lang="ko-KR" altLang="en-US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cm²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179445"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DenseArea(sqcm)AVG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ko-KR" altLang="en-US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치밀 조직 면적 평균</a:t>
                      </a:r>
                      <a:endParaRPr xmlns:mc="http://schemas.openxmlformats.org/markup-compatibility/2006" xmlns:hp="http://schemas.haansoft.com/office/presentation/8.0" lang="ko-KR" altLang="en-US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cm²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179445"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BreastDensity(%)AVG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ko-KR" altLang="en-US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유방 내 치밀조직 비율</a:t>
                      </a:r>
                      <a:endParaRPr xmlns:mc="http://schemas.openxmlformats.org/markup-compatibility/2006" xmlns:hp="http://schemas.haansoft.com/office/presentation/8.0" lang="ko-KR" altLang="en-US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%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179445"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Breast_Density_Grading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ko-KR" altLang="en-US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유방 밀도 등급</a:t>
                      </a: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 (1~4</a:t>
                      </a:r>
                      <a:r>
                        <a:rPr xmlns:mc="http://schemas.openxmlformats.org/markup-compatibility/2006" xmlns:hp="http://schemas.haansoft.com/office/presentation/8.0" lang="ko-KR" altLang="en-US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단계</a:t>
                      </a: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)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Categorical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179445"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BIRADS_Category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BI-RADS </a:t>
                      </a:r>
                      <a:r>
                        <a:rPr xmlns:mc="http://schemas.openxmlformats.org/markup-compatibility/2006" xmlns:hp="http://schemas.haansoft.com/office/presentation/8.0" lang="ko-KR" altLang="en-US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평가 카테고리</a:t>
                      </a:r>
                      <a:endParaRPr xmlns:mc="http://schemas.openxmlformats.org/markup-compatibility/2006" xmlns:hp="http://schemas.haansoft.com/office/presentation/8.0" lang="ko-KR" altLang="en-US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1~5</a:t>
                      </a:r>
                      <a:r>
                        <a:rPr xmlns:mc="http://schemas.openxmlformats.org/markup-compatibility/2006" xmlns:hp="http://schemas.haansoft.com/office/presentation/8.0" lang="ko-KR" altLang="en-US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 등급</a:t>
                      </a:r>
                      <a:endParaRPr xmlns:mc="http://schemas.openxmlformats.org/markup-compatibility/2006" xmlns:hp="http://schemas.haansoft.com/office/presentation/8.0" lang="ko-KR" altLang="en-US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"/>
          <p:cNvGraphicFramePr/>
          <p:nvPr/>
        </p:nvGraphicFramePr>
        <p:xfrm>
          <a:off x="6248400" y="3276600"/>
          <a:ext cx="2133599" cy="975360"/>
        </p:xfrm>
        <a:graphic>
          <a:graphicData uri="http://schemas.openxmlformats.org/drawingml/2006/table">
            <a:tbl>
              <a:tblPr firstRow="1" bandRow="1">
                <a:tableStyleId>{206F615A-370F-48FF-96DE-FFA2584FB0C5}</a:tableStyleId>
              </a:tblPr>
              <a:tblGrid>
                <a:gridCol w="1066800"/>
                <a:gridCol w="1066799"/>
              </a:tblGrid>
              <a:tr h="116840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Group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Samples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116840"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Total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r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3,961(100)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116840"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Normal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r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3,475</a:t>
                      </a: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(87.7)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116840"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Osteoporosis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r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486</a:t>
                      </a: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(12.3)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 idx="0"/>
          </p:nvPr>
        </p:nvSpPr>
        <p:spPr>
          <a:xfrm>
            <a:off x="609701" y="446405"/>
            <a:ext cx="11353699" cy="372744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lvl="0">
              <a:defRPr/>
            </a:pPr>
            <a:r>
              <a:rPr lang="en-US"/>
              <a:t>What’s discussed in the last meetings</a:t>
            </a:r>
            <a:endParaRPr lang="en-US"/>
          </a:p>
        </p:txBody>
      </p:sp>
      <p:graphicFrame>
        <p:nvGraphicFramePr>
          <p:cNvPr id="20" name=""/>
          <p:cNvGraphicFramePr/>
          <p:nvPr/>
        </p:nvGraphicFramePr>
        <p:xfrm>
          <a:off x="695326" y="1143000"/>
          <a:ext cx="10810875" cy="4358640"/>
        </p:xfrm>
        <a:graphic>
          <a:graphicData uri="http://schemas.openxmlformats.org/drawingml/2006/table">
            <a:tbl>
              <a:tblPr firstRow="1" bandRow="1">
                <a:tableStyleId>{206F615A-370F-48FF-96DE-FFA2584FB0C5}</a:tableStyleId>
              </a:tblPr>
              <a:tblGrid>
                <a:gridCol w="1934577"/>
                <a:gridCol w="1101630"/>
                <a:gridCol w="1101630"/>
                <a:gridCol w="951923"/>
                <a:gridCol w="951924"/>
                <a:gridCol w="951924"/>
                <a:gridCol w="951924"/>
                <a:gridCol w="961491"/>
                <a:gridCol w="951923"/>
                <a:gridCol w="951923"/>
              </a:tblGrid>
              <a:tr h="272415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Variable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Classification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N_Sample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mean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std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min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000">
                          <a:latin typeface="맑은 고딕"/>
                        </a:rPr>
                        <a:t>25%</a:t>
                      </a:r>
                      <a:endParaRPr lang="ko-KR" altLang="en-US" sz="1000"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000">
                          <a:latin typeface="맑은 고딕"/>
                        </a:rPr>
                        <a:t>50%</a:t>
                      </a:r>
                      <a:endParaRPr lang="ko-KR" altLang="en-US" sz="1000"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000">
                          <a:latin typeface="맑은 고딕"/>
                        </a:rPr>
                        <a:t>75%</a:t>
                      </a:r>
                      <a:endParaRPr lang="ko-KR" altLang="en-US" sz="1000"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max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272415">
                <a:tc rowSpan="3"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Age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Total 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3,961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60.3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7.34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36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55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59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65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90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272415">
                <a:tc vMerge="1">
                  <a:txBody>
                    <a:bodyPr vert="horz" lIns="91440" tIns="45720" rIns="91440" bIns="45720" anchor="t" anchorCtr="0"/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Normal</a:t>
                      </a: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(0)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3,475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59.81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7.07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36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55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59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64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86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272415">
                <a:tc vMerge="1">
                  <a:txBody>
                    <a:bodyPr vert="horz" lIns="91440" tIns="45720" rIns="91440" bIns="45720" anchor="t" anchorCtr="0"/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Osteoporosis</a:t>
                      </a: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(1)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486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63.78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8.18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48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58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62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69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90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272415">
                <a:tc rowSpan="3"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BMI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Total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3,961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23.07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3.12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12.5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20.9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22.7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24.8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42.2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272415">
                <a:tc vMerge="1">
                  <a:txBody>
                    <a:bodyPr vert="horz" lIns="91440" tIns="45720" rIns="91440" bIns="45720" anchor="t" anchorCtr="0"/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Normal</a:t>
                      </a: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(0)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3,475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23.21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3.12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12.5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21.1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22.9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24.9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42.2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272415">
                <a:tc vMerge="1">
                  <a:txBody>
                    <a:bodyPr vert="horz" lIns="91440" tIns="45720" rIns="91440" bIns="45720" anchor="t" anchorCtr="0"/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Osteoporosis</a:t>
                      </a: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(1)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486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22.07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2.99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14.3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20.1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21.8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24.0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38.1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272415">
                <a:tc rowSpan="3"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BreastDensity(%)AVG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Total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3,961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26.75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11.45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3.13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19.26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24.81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32.28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89.30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272415">
                <a:tc vMerge="1">
                  <a:txBody>
                    <a:bodyPr vert="horz" lIns="91440" tIns="45720" rIns="91440" bIns="45720" anchor="t" anchorCtr="0"/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Normal</a:t>
                      </a: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(0)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3,475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26.59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11.24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3.13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19.18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24.78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32.15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89.30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272415">
                <a:tc vMerge="1">
                  <a:txBody>
                    <a:bodyPr vert="horz" lIns="91440" tIns="45720" rIns="91440" bIns="45720" anchor="t" anchorCtr="0"/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Osteoporosis</a:t>
                      </a: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(1)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486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27.87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12.81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5.12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19.78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24.96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33.53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84.95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272415">
                <a:tc rowSpan="3"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BreastArea(sqcm)AVG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Total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3,961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122.54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38.10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27.45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95.33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117.25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144.23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377.72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272415">
                <a:tc vMerge="1">
                  <a:txBody>
                    <a:bodyPr vert="horz" lIns="91440" tIns="45720" rIns="91440" bIns="45720" anchor="t" anchorCtr="0"/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Normal</a:t>
                      </a: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(0)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3,475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123.57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38.38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27.45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96.75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118.56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145.10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377.72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272415">
                <a:tc vMerge="1">
                  <a:txBody>
                    <a:bodyPr vert="horz" lIns="91440" tIns="45720" rIns="91440" bIns="45720" anchor="t" anchorCtr="0"/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Osteoporosis</a:t>
                      </a: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(1)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486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115.22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35.22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31.55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88.61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110.13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137.10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241.37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272415">
                <a:tc rowSpan="3"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DenseArea(sqcm)AVG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Total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3,961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29.73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10.59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9.35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22.49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27.81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34.68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97.78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272415">
                <a:tc vMerge="1">
                  <a:txBody>
                    <a:bodyPr vert="horz" lIns="91440" tIns="45720" rIns="91440" bIns="45720" anchor="t" anchorCtr="0"/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Normal</a:t>
                      </a: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(0)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3,475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29.87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10.71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9.35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22.56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27.90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34.80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97.78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272415">
                <a:tc vMerge="1">
                  <a:txBody>
                    <a:bodyPr vert="horz" lIns="91440" tIns="45720" rIns="91440" bIns="45720" anchor="t" anchorCtr="0"/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Osteoporosis</a:t>
                      </a: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(1)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486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28.68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9.58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10.04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21.72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27.01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33.87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66.51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"/>
          <p:cNvGraphicFramePr>
            <a:graphicFrameLocks noGrp="1"/>
          </p:cNvGraphicFramePr>
          <p:nvPr/>
        </p:nvGraphicFramePr>
        <p:xfrm>
          <a:off x="685800" y="5638800"/>
          <a:ext cx="10812780" cy="833922"/>
        </p:xfrm>
        <a:graphic>
          <a:graphicData uri="http://schemas.openxmlformats.org/drawingml/2006/table">
            <a:tbl>
              <a:tblPr firstRow="1" bandRow="1">
                <a:tableStyleId>{206F615A-370F-48FF-96DE-FFA2584FB0C5}</a:tableStyleId>
              </a:tblPr>
              <a:tblGrid>
                <a:gridCol w="1363980"/>
                <a:gridCol w="1583055"/>
                <a:gridCol w="1573530"/>
                <a:gridCol w="2097405"/>
                <a:gridCol w="2097405"/>
                <a:gridCol w="2097405"/>
              </a:tblGrid>
              <a:tr h="289090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Type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Age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BMI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BreastDensity(%)AVG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BreastArea(sqcm)AVG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DenseArea(sqcm)AVG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272416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t-stat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-10.18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7.86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-2.09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4.84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2.53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272416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p-value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&lt;0.001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&lt;0.001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0.037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&lt;0.001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0.012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55257" y="1143000"/>
            <a:ext cx="11881485" cy="527937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 idx="0"/>
          </p:nvPr>
        </p:nvSpPr>
        <p:spPr>
          <a:xfrm>
            <a:off x="609701" y="446405"/>
            <a:ext cx="11353699" cy="372744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lvl="0">
              <a:defRPr/>
            </a:pPr>
            <a:r>
              <a:rPr lang="en-US"/>
              <a:t>What’s discussed in the last meetings</a:t>
            </a:r>
            <a:endParaRPr lang="en-US"/>
          </a:p>
        </p:txBody>
      </p:sp>
      <p:sp>
        <p:nvSpPr>
          <p:cNvPr id="12" name="Holder 6"/>
          <p:cNvSpPr>
            <a:spLocks noGrp="1"/>
          </p:cNvSpPr>
          <p:nvPr>
            <p:ph type="sldNum" sz="quarter" idx="7"/>
          </p:nvPr>
        </p:nvSpPr>
        <p:spPr>
          <a:xfrm>
            <a:off x="11056619" y="6419409"/>
            <a:ext cx="256540" cy="171891"/>
          </a:xfrm>
        </p:spPr>
        <p:txBody>
          <a:bodyPr/>
          <a:lstStyle/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lang="en-US"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4</a:t>
            </a:fld>
            <a:endParaRPr lang="en-US" spc="-25"/>
          </a:p>
        </p:txBody>
      </p:sp>
      <p:pic>
        <p:nvPicPr>
          <p:cNvPr id="47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8382000" y="3867149"/>
            <a:ext cx="3497580" cy="29146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 idx="0"/>
          </p:nvPr>
        </p:nvSpPr>
        <p:spPr>
          <a:xfrm>
            <a:off x="609701" y="446405"/>
            <a:ext cx="11353699" cy="420370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>
              <a:lnSpc>
                <a:spcPts val="3200"/>
              </a:lnSpc>
              <a:defRPr/>
            </a:pPr>
            <a:r>
              <a:rPr lang="en-US" altLang="ko-KR"/>
              <a:t>Research Summary</a:t>
            </a:r>
            <a:endParaRPr lang="en-US" altLang="ko-KR"/>
          </a:p>
        </p:txBody>
      </p:sp>
      <p:sp>
        <p:nvSpPr>
          <p:cNvPr id="12" name="Holder 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lang="en-US"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5</a:t>
            </a:fld>
            <a:endParaRPr lang="en-US" spc="-25"/>
          </a:p>
        </p:txBody>
      </p:sp>
      <p:sp>
        <p:nvSpPr>
          <p:cNvPr id="13" name="텍스트 개체 틀 7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066794"/>
            <a:ext cx="11125200" cy="4381506"/>
          </a:xfrm>
        </p:spPr>
        <p:txBody>
          <a:bodyPr/>
          <a:lstStyle/>
          <a:p>
            <a:pPr lvl="0">
              <a:lnSpc>
                <a:spcPct val="200000"/>
              </a:lnSpc>
              <a:defRPr/>
            </a:pPr>
            <a:r>
              <a:rPr lang="ko-KR" altLang="en-US" sz="1800"/>
              <a:t>Developed a Logistic Regression baseline using a postmenopausal cohort of 3,961 subjects.</a:t>
            </a:r>
            <a:endParaRPr lang="ko-KR" altLang="en-US" sz="1800"/>
          </a:p>
          <a:p>
            <a:pPr lvl="0">
              <a:lnSpc>
                <a:spcPct val="200000"/>
              </a:lnSpc>
              <a:defRPr/>
            </a:pPr>
            <a:r>
              <a:rPr lang="ko-KR" altLang="en-US" sz="1800"/>
              <a:t>Age, BMI, BreastDensity, and DenseArea showed significant group differences.</a:t>
            </a:r>
            <a:endParaRPr lang="ko-KR" altLang="en-US" sz="1800"/>
          </a:p>
          <a:p>
            <a:pPr lvl="0">
              <a:lnSpc>
                <a:spcPct val="200000"/>
              </a:lnSpc>
              <a:defRPr/>
            </a:pPr>
            <a:r>
              <a:rPr lang="ko-KR" altLang="en-US" sz="1800"/>
              <a:t>Holdout and k-fold CV delivered similar performance, indicating stable data behavior.</a:t>
            </a:r>
            <a:endParaRPr lang="ko-KR" altLang="en-US" sz="1800"/>
          </a:p>
          <a:p>
            <a:pPr lvl="0">
              <a:lnSpc>
                <a:spcPct val="200000"/>
              </a:lnSpc>
              <a:defRPr/>
            </a:pPr>
            <a:r>
              <a:rPr lang="ko-KR" altLang="en-US" sz="1800"/>
              <a:t>SMOTE and undersampling had minimal impact on AUC and accuracy.</a:t>
            </a:r>
            <a:endParaRPr lang="ko-KR" altLang="en-US" sz="1800"/>
          </a:p>
          <a:p>
            <a:pPr lvl="0">
              <a:lnSpc>
                <a:spcPct val="200000"/>
              </a:lnSpc>
              <a:defRPr/>
            </a:pPr>
            <a:r>
              <a:rPr lang="ko-KR" altLang="en-US" sz="1800"/>
              <a:t>GridSearch yielded a Precision 1.0 / Recall 0.01 issue, requiring further threshold and sampling analysis.</a:t>
            </a:r>
            <a:endParaRPr lang="ko-KR" altLang="en-US" sz="1800"/>
          </a:p>
          <a:p>
            <a:pPr lvl="0">
              <a:lnSpc>
                <a:spcPct val="200000"/>
              </a:lnSpc>
              <a:defRPr/>
            </a:pPr>
            <a:r>
              <a:rPr lang="ko-KR" altLang="en-US" sz="1800"/>
              <a:t>Stratified results showed clear sensitivity differences across Age, BMI, and BDG (AUC higher in BDG 2 and 4).</a:t>
            </a:r>
            <a:endParaRPr lang="ko-KR" altLang="en-US" sz="1800"/>
          </a:p>
          <a:p>
            <a:pPr lvl="0">
              <a:lnSpc>
                <a:spcPct val="200000"/>
              </a:lnSpc>
              <a:defRPr/>
            </a:pPr>
            <a:r>
              <a:rPr lang="ko-KR" altLang="en-US" sz="1800"/>
              <a:t>Logistic Regression achieved ~0.71 AUC, providing a reliable baseline for future model upgrades.</a:t>
            </a:r>
            <a:endParaRPr lang="ko-KR" altLang="en-US" sz="1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 idx="0"/>
          </p:nvPr>
        </p:nvSpPr>
        <p:spPr>
          <a:xfrm>
            <a:off x="609701" y="446405"/>
            <a:ext cx="11353699" cy="420370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>
              <a:lnSpc>
                <a:spcPts val="3200"/>
              </a:lnSpc>
              <a:defRPr/>
            </a:pPr>
            <a:r>
              <a:rPr lang="en-US" altLang="ko-KR"/>
              <a:t>Research Summary</a:t>
            </a:r>
            <a:endParaRPr lang="en-US" altLang="ko-KR"/>
          </a:p>
        </p:txBody>
      </p:sp>
      <p:sp>
        <p:nvSpPr>
          <p:cNvPr id="12" name="Holder 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lang="en-US"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6</a:t>
            </a:fld>
            <a:endParaRPr lang="en-US" spc="-25"/>
          </a:p>
        </p:txBody>
      </p:sp>
      <p:sp>
        <p:nvSpPr>
          <p:cNvPr id="13" name="텍스트 개체 틀 7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066794"/>
            <a:ext cx="11125200" cy="3695706"/>
          </a:xfrm>
        </p:spPr>
        <p:txBody>
          <a:bodyPr/>
          <a:lstStyle/>
          <a:p>
            <a:pPr lvl="0">
              <a:lnSpc>
                <a:spcPct val="200000"/>
              </a:lnSpc>
              <a:defRPr/>
            </a:pPr>
            <a:r>
              <a:rPr lang="ko-KR" altLang="en-US" sz="2000" b="1"/>
              <a:t>Postmenopausal Cohort Analysis (Logistic Regression)</a:t>
            </a:r>
            <a:endParaRPr lang="ko-KR" altLang="en-US" sz="2000" b="1"/>
          </a:p>
          <a:p>
            <a:pPr lvl="1">
              <a:lnSpc>
                <a:spcPct val="150000"/>
              </a:lnSpc>
              <a:defRPr/>
            </a:pPr>
            <a:r>
              <a:rPr lang="en-US" altLang="ko-KR" sz="1600"/>
              <a:t>Age, BMI, BreastDensity, DenseArea</a:t>
            </a:r>
            <a:r>
              <a:rPr lang="ko-KR" altLang="en-US" sz="1600"/>
              <a:t> 등이 </a:t>
            </a:r>
            <a:r>
              <a:rPr lang="en-US" altLang="ko-KR" sz="1600"/>
              <a:t>linear</a:t>
            </a:r>
            <a:r>
              <a:rPr lang="ko-KR" altLang="en-US" sz="1600"/>
              <a:t>한 경향이 있다고 생각</a:t>
            </a:r>
            <a:endParaRPr lang="ko-KR" altLang="en-US" sz="1600"/>
          </a:p>
          <a:p>
            <a:pPr lvl="1">
              <a:lnSpc>
                <a:spcPct val="150000"/>
              </a:lnSpc>
              <a:defRPr/>
            </a:pPr>
            <a:r>
              <a:rPr lang="en-US" altLang="ko-KR" sz="1600"/>
              <a:t>해석 가능성과 낮은 데이터 요구량에 기반한 Baseline 구축</a:t>
            </a:r>
            <a:endParaRPr lang="en-US" altLang="ko-KR" sz="1600"/>
          </a:p>
          <a:p>
            <a:pPr lvl="1">
              <a:lnSpc>
                <a:spcPct val="150000"/>
              </a:lnSpc>
              <a:defRPr/>
            </a:pPr>
            <a:r>
              <a:rPr lang="en-US" altLang="ko-KR" sz="1600"/>
              <a:t>의료 Tabular 데이터의 선형적 구조와 높은 적합성</a:t>
            </a:r>
            <a:endParaRPr lang="en-US" altLang="ko-KR" sz="1600"/>
          </a:p>
          <a:p>
            <a:pPr lvl="0">
              <a:lnSpc>
                <a:spcPct val="200000"/>
              </a:lnSpc>
              <a:defRPr/>
            </a:pPr>
            <a:r>
              <a:rPr lang="en-US" altLang="ko-KR" sz="2000" b="1"/>
              <a:t>Data Augmentation</a:t>
            </a:r>
            <a:endParaRPr lang="en-US" altLang="ko-KR" sz="2000"/>
          </a:p>
          <a:p>
            <a:pPr lvl="1">
              <a:lnSpc>
                <a:spcPct val="200000"/>
              </a:lnSpc>
              <a:defRPr/>
            </a:pPr>
            <a:r>
              <a:rPr lang="ko-KR" altLang="en-US" sz="2000"/>
              <a:t>oversampling with y=1 with </a:t>
            </a:r>
            <a:r>
              <a:rPr lang="ko-KR" altLang="en-US" sz="2000" b="1"/>
              <a:t>SMOTE method</a:t>
            </a:r>
            <a:endParaRPr lang="ko-KR" altLang="en-US" sz="2000" b="1"/>
          </a:p>
          <a:p>
            <a:pPr lvl="2">
              <a:lnSpc>
                <a:spcPct val="150000"/>
              </a:lnSpc>
              <a:defRPr/>
            </a:pPr>
            <a:r>
              <a:rPr lang="en-US" altLang="ko-KR" sz="1600" b="1"/>
              <a:t>SMOTE</a:t>
            </a:r>
            <a:r>
              <a:rPr lang="en-US" altLang="ko-KR" sz="1600"/>
              <a:t>: </a:t>
            </a:r>
            <a:r>
              <a:rPr lang="ko-KR" altLang="en-US" sz="1600"/>
              <a:t>Synthetic Minority Over-sampling Technique</a:t>
            </a:r>
            <a:endParaRPr lang="ko-KR" altLang="en-US" sz="1600"/>
          </a:p>
          <a:p>
            <a:pPr lvl="1">
              <a:lnSpc>
                <a:spcPct val="150000"/>
              </a:lnSpc>
              <a:defRPr/>
            </a:pPr>
            <a:r>
              <a:rPr lang="en-US" altLang="ko-KR" sz="1800"/>
              <a:t>undersampling with y=1 with </a:t>
            </a:r>
            <a:r>
              <a:rPr lang="en-US" altLang="ko-KR" sz="1800" b="1"/>
              <a:t>RandomUnderSampler</a:t>
            </a:r>
            <a:endParaRPr lang="en-US" altLang="ko-KR" sz="1800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 idx="0"/>
          </p:nvPr>
        </p:nvSpPr>
        <p:spPr>
          <a:xfrm>
            <a:off x="609701" y="446405"/>
            <a:ext cx="11353699" cy="420370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>
              <a:lnSpc>
                <a:spcPts val="3200"/>
              </a:lnSpc>
              <a:defRPr/>
            </a:pPr>
            <a:r>
              <a:rPr lang="en-US" altLang="ko-KR"/>
              <a:t>Research Summary</a:t>
            </a:r>
            <a:endParaRPr lang="en-US" altLang="ko-KR"/>
          </a:p>
        </p:txBody>
      </p:sp>
      <p:sp>
        <p:nvSpPr>
          <p:cNvPr id="12" name="Holder 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lang="en-US"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6</a:t>
            </a:fld>
            <a:endParaRPr lang="en-US" spc="-25"/>
          </a:p>
        </p:txBody>
      </p:sp>
      <p:sp>
        <p:nvSpPr>
          <p:cNvPr id="13" name="텍스트 개체 틀 7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066795"/>
            <a:ext cx="11125200" cy="3286130"/>
          </a:xfrm>
        </p:spPr>
        <p:txBody>
          <a:bodyPr/>
          <a:lstStyle/>
          <a:p>
            <a:pPr lvl="0">
              <a:lnSpc>
                <a:spcPct val="200000"/>
              </a:lnSpc>
              <a:defRPr/>
            </a:pPr>
            <a:r>
              <a:rPr lang="en-US" altLang="ko-KR" sz="2000"/>
              <a:t>Compared </a:t>
            </a:r>
            <a:r>
              <a:rPr lang="en-US" altLang="ko-KR" sz="2000" b="1"/>
              <a:t>Holdout vs. k-fold Cross-Validation</a:t>
            </a:r>
            <a:r>
              <a:rPr lang="en-US" altLang="ko-KR" sz="2000"/>
              <a:t> → similar performance across all metrics</a:t>
            </a:r>
            <a:endParaRPr lang="en-US" altLang="ko-KR" sz="2000"/>
          </a:p>
          <a:p>
            <a:pPr lvl="1">
              <a:lnSpc>
                <a:spcPct val="200000"/>
              </a:lnSpc>
              <a:defRPr/>
            </a:pPr>
            <a:r>
              <a:rPr lang="ko-KR" altLang="en-US" sz="2000"/>
              <a:t>Conducted hyperparameter tuning via Grid Search (param_grid)</a:t>
            </a:r>
            <a:endParaRPr lang="ko-KR" altLang="en-US" sz="2000"/>
          </a:p>
          <a:p>
            <a:pPr lvl="2">
              <a:lnSpc>
                <a:spcPct val="150000"/>
              </a:lnSpc>
              <a:defRPr/>
            </a:pPr>
            <a:r>
              <a:rPr lang="en-US" altLang="ko-KR" sz="1600"/>
              <a:t>Higher performance with lower precision code improvements leads to lower Recall</a:t>
            </a:r>
            <a:endParaRPr lang="en-US" altLang="ko-KR" sz="1600"/>
          </a:p>
          <a:p>
            <a:pPr lvl="1">
              <a:lnSpc>
                <a:spcPct val="200000"/>
              </a:lnSpc>
              <a:defRPr/>
            </a:pPr>
            <a:r>
              <a:rPr lang="ko-KR" altLang="en-US" sz="2000"/>
              <a:t>Performed </a:t>
            </a:r>
            <a:r>
              <a:rPr lang="ko-KR" altLang="en-US" sz="2000" b="1"/>
              <a:t>stratified analyses using Age, BMI, BDG</a:t>
            </a:r>
            <a:endParaRPr lang="ko-KR" altLang="en-US" sz="2000" b="1"/>
          </a:p>
          <a:p>
            <a:pPr lvl="2">
              <a:lnSpc>
                <a:spcPct val="150000"/>
              </a:lnSpc>
              <a:defRPr/>
            </a:pPr>
            <a:r>
              <a:rPr lang="en-US" altLang="ko-KR" sz="1600" b="1"/>
              <a:t>Age: </a:t>
            </a:r>
            <a:r>
              <a:rPr lang="en-US" altLang="ko-KR" sz="1600"/>
              <a:t>the older the age, the higher the recall</a:t>
            </a:r>
            <a:endParaRPr lang="en-US" altLang="ko-KR" sz="1600"/>
          </a:p>
          <a:p>
            <a:pPr lvl="2">
              <a:lnSpc>
                <a:spcPct val="150000"/>
              </a:lnSpc>
              <a:defRPr/>
            </a:pPr>
            <a:r>
              <a:rPr lang="en-US" altLang="ko-KR" sz="1600" b="1"/>
              <a:t>BMI:</a:t>
            </a:r>
            <a:r>
              <a:rPr lang="en-US" altLang="ko-KR" sz="1600"/>
              <a:t> the lower the number, the higher the recall</a:t>
            </a:r>
            <a:endParaRPr lang="en-US" altLang="ko-KR" sz="1600"/>
          </a:p>
          <a:p>
            <a:pPr lvl="2">
              <a:lnSpc>
                <a:spcPct val="150000"/>
              </a:lnSpc>
              <a:defRPr/>
            </a:pPr>
            <a:r>
              <a:rPr lang="en-US" altLang="ko-KR" sz="1600" b="1"/>
              <a:t>BDG:</a:t>
            </a:r>
            <a:r>
              <a:rPr lang="en-US" altLang="ko-KR" sz="1600"/>
              <a:t> in Grade 2, recall is highest</a:t>
            </a:r>
            <a:endParaRPr lang="en-US" altLang="ko-KR" sz="16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 idx="0"/>
          </p:nvPr>
        </p:nvSpPr>
        <p:spPr>
          <a:xfrm>
            <a:off x="609701" y="446405"/>
            <a:ext cx="11353699" cy="420369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>
              <a:lnSpc>
                <a:spcPts val="3200"/>
              </a:lnSpc>
              <a:defRPr/>
            </a:pPr>
            <a:r>
              <a:rPr lang="en-US" altLang="ko-KR"/>
              <a:t>Detailed Progress</a:t>
            </a:r>
            <a:endParaRPr lang="en-US" altLang="ko-KR"/>
          </a:p>
        </p:txBody>
      </p:sp>
      <p:sp>
        <p:nvSpPr>
          <p:cNvPr id="12" name="Holder 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lang="en-US"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8</a:t>
            </a:fld>
            <a:endParaRPr lang="en-US" spc="-25"/>
          </a:p>
        </p:txBody>
      </p:sp>
      <p:sp>
        <p:nvSpPr>
          <p:cNvPr id="13" name="텍스트 개체 틀 7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066799"/>
            <a:ext cx="11125200" cy="4143376"/>
          </a:xfrm>
        </p:spPr>
        <p:txBody>
          <a:bodyPr/>
          <a:lstStyle/>
          <a:p>
            <a:pPr>
              <a:defRPr/>
            </a:pPr>
            <a:r>
              <a:rPr lang="en-US" altLang="ko-KR" sz="2000" b="1"/>
              <a:t>Dataset Split</a:t>
            </a:r>
            <a:endParaRPr lang="en-US" altLang="ko-KR" sz="2000" b="1"/>
          </a:p>
          <a:p>
            <a:pPr lvl="1">
              <a:lnSpc>
                <a:spcPct val="200000"/>
              </a:lnSpc>
              <a:defRPr/>
            </a:pPr>
            <a:r>
              <a:rPr lang="ko-KR" altLang="en-US" sz="1800" b="1"/>
              <a:t>폐경군 </a:t>
            </a:r>
            <a:r>
              <a:rPr lang="en-US" altLang="ko-KR" sz="1800" b="1"/>
              <a:t>Total 3961</a:t>
            </a:r>
            <a:r>
              <a:rPr lang="ko-KR" altLang="en-US" sz="1800" b="1"/>
              <a:t>개에 대해서 </a:t>
            </a:r>
            <a:r>
              <a:rPr lang="en-US" altLang="ko-KR" sz="1800" b="1"/>
              <a:t>8:2</a:t>
            </a:r>
            <a:r>
              <a:rPr lang="ko-KR" altLang="en-US" sz="1800" b="1"/>
              <a:t>로 </a:t>
            </a:r>
            <a:r>
              <a:rPr lang="en-US" altLang="ko-KR" sz="1800" b="1"/>
              <a:t>Train:Test</a:t>
            </a:r>
            <a:r>
              <a:rPr lang="ko-KR" altLang="en-US" sz="1800" b="1"/>
              <a:t>로 </a:t>
            </a:r>
            <a:r>
              <a:rPr lang="en-US" altLang="ko-KR" sz="1800" b="1"/>
              <a:t>Dataset Split </a:t>
            </a:r>
            <a:r>
              <a:rPr lang="ko-KR" altLang="en-US" sz="1800" b="1"/>
              <a:t>진행</a:t>
            </a:r>
            <a:endParaRPr lang="ko-KR" altLang="en-US" sz="1800" b="1"/>
          </a:p>
          <a:p>
            <a:pPr lvl="1">
              <a:lnSpc>
                <a:spcPct val="200000"/>
              </a:lnSpc>
              <a:defRPr/>
            </a:pPr>
            <a:r>
              <a:rPr lang="en-US" altLang="ko-KR" sz="1800" b="1"/>
              <a:t>Train Dataset : 3168(2779/389), Test Dataset : 793(696/97), scale_pos_weight=7.144</a:t>
            </a:r>
            <a:endParaRPr lang="en-US" altLang="ko-KR" sz="1800" b="1"/>
          </a:p>
          <a:p>
            <a:pPr lvl="2">
              <a:lnSpc>
                <a:spcPct val="200000"/>
              </a:lnSpc>
              <a:defRPr/>
            </a:pPr>
            <a:r>
              <a:rPr lang="en-US" altLang="ko-KR" sz="1600"/>
              <a:t>stratify </a:t>
            </a:r>
            <a:r>
              <a:rPr lang="ko-KR" altLang="en-US" sz="1600"/>
              <a:t>옵션을 사용하여 </a:t>
            </a:r>
            <a:r>
              <a:rPr lang="en-US" altLang="ko-KR" sz="1600"/>
              <a:t>Dataset </a:t>
            </a:r>
            <a:r>
              <a:rPr lang="ko-KR" altLang="en-US" sz="1600"/>
              <a:t>비율 유지</a:t>
            </a:r>
            <a:endParaRPr lang="ko-KR" altLang="en-US" sz="1600"/>
          </a:p>
          <a:p>
            <a:pPr lvl="0">
              <a:lnSpc>
                <a:spcPct val="200000"/>
              </a:lnSpc>
              <a:defRPr/>
            </a:pPr>
            <a:r>
              <a:rPr lang="en-US" altLang="ko-KR" sz="2000" b="1">
                <a:effectLst/>
              </a:rPr>
              <a:t>Pipeline</a:t>
            </a:r>
            <a:endParaRPr lang="en-US" altLang="ko-KR" sz="2000" b="1">
              <a:effectLst/>
            </a:endParaRPr>
          </a:p>
          <a:p>
            <a:pPr lvl="1">
              <a:lnSpc>
                <a:spcPct val="150000"/>
              </a:lnSpc>
              <a:defRPr/>
            </a:pPr>
            <a:endParaRPr lang="en-US" altLang="ko-KR" sz="1800" b="1">
              <a:effectLst/>
            </a:endParaRPr>
          </a:p>
          <a:p>
            <a:pPr lvl="1">
              <a:lnSpc>
                <a:spcPct val="150000"/>
              </a:lnSpc>
              <a:defRPr/>
            </a:pPr>
            <a:endParaRPr lang="en-US" altLang="ko-KR" sz="1800" b="1">
              <a:effectLst/>
            </a:endParaRPr>
          </a:p>
          <a:p>
            <a:pPr lvl="1">
              <a:lnSpc>
                <a:spcPct val="150000"/>
              </a:lnSpc>
              <a:defRPr/>
            </a:pPr>
            <a:endParaRPr lang="en-US" altLang="ko-KR" sz="1800" b="1">
              <a:effectLst/>
            </a:endParaRPr>
          </a:p>
          <a:p>
            <a:pPr marL="0" lvl="0" indent="0">
              <a:lnSpc>
                <a:spcPct val="150000"/>
              </a:lnSpc>
              <a:buNone/>
              <a:defRPr/>
            </a:pPr>
            <a:endParaRPr lang="en-US" altLang="ko-KR" sz="1800" b="1">
              <a:effectLst/>
            </a:endParaRPr>
          </a:p>
        </p:txBody>
      </p:sp>
      <p:pic>
        <p:nvPicPr>
          <p:cNvPr id="1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914400" y="3657600"/>
            <a:ext cx="2209800" cy="13529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 idx="0"/>
          </p:nvPr>
        </p:nvSpPr>
        <p:spPr>
          <a:xfrm>
            <a:off x="609701" y="446405"/>
            <a:ext cx="11353699" cy="420369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>
              <a:lnSpc>
                <a:spcPts val="3200"/>
              </a:lnSpc>
              <a:defRPr/>
            </a:pPr>
            <a:r>
              <a:rPr lang="en-US" altLang="ko-KR"/>
              <a:t>Detailed Progress</a:t>
            </a:r>
            <a:endParaRPr lang="en-US" altLang="ko-KR"/>
          </a:p>
        </p:txBody>
      </p:sp>
      <p:sp>
        <p:nvSpPr>
          <p:cNvPr id="12" name="Holder 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lang="en-US"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8</a:t>
            </a:fld>
            <a:endParaRPr lang="en-US" spc="-25"/>
          </a:p>
        </p:txBody>
      </p:sp>
      <p:sp>
        <p:nvSpPr>
          <p:cNvPr id="13" name="텍스트 개체 틀 7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066799"/>
            <a:ext cx="11125200" cy="3190876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en-US" altLang="ko-KR" sz="2000" b="1"/>
              <a:t>Logistic Regression Results</a:t>
            </a:r>
            <a:endParaRPr lang="en-US" altLang="ko-KR" sz="2000" b="1"/>
          </a:p>
          <a:p>
            <a:pPr lvl="1">
              <a:lnSpc>
                <a:spcPct val="150000"/>
              </a:lnSpc>
              <a:defRPr/>
            </a:pPr>
            <a:r>
              <a:rPr lang="en-US" altLang="ko-KR" sz="2000" b="1"/>
              <a:t>Test Metrics : 793</a:t>
            </a:r>
            <a:r>
              <a:rPr lang="ko-KR" altLang="en-US" sz="2000" b="1"/>
              <a:t> </a:t>
            </a:r>
            <a:r>
              <a:rPr lang="en-US" altLang="ko-KR" sz="2000" b="1"/>
              <a:t>[696 / 97]</a:t>
            </a:r>
            <a:endParaRPr lang="en-US" altLang="ko-KR" sz="2000" b="1"/>
          </a:p>
          <a:p>
            <a:pPr lvl="1">
              <a:lnSpc>
                <a:spcPct val="150000"/>
              </a:lnSpc>
              <a:defRPr/>
            </a:pPr>
            <a:endParaRPr lang="en-US" altLang="ko-KR" sz="2000" b="1"/>
          </a:p>
          <a:p>
            <a:pPr lvl="1">
              <a:lnSpc>
                <a:spcPct val="150000"/>
              </a:lnSpc>
              <a:defRPr/>
            </a:pPr>
            <a:endParaRPr lang="en-US" altLang="ko-KR" sz="2000" b="1"/>
          </a:p>
          <a:p>
            <a:pPr lvl="1">
              <a:lnSpc>
                <a:spcPct val="150000"/>
              </a:lnSpc>
              <a:defRPr/>
            </a:pPr>
            <a:endParaRPr lang="en-US" altLang="ko-KR" sz="2000" b="1"/>
          </a:p>
          <a:p>
            <a:pPr lvl="1">
              <a:lnSpc>
                <a:spcPct val="150000"/>
              </a:lnSpc>
              <a:defRPr/>
            </a:pPr>
            <a:endParaRPr lang="en-US" altLang="ko-KR" sz="2000" b="1"/>
          </a:p>
          <a:p>
            <a:pPr lvl="1">
              <a:lnSpc>
                <a:spcPct val="150000"/>
              </a:lnSpc>
              <a:defRPr/>
            </a:pPr>
            <a:r>
              <a:rPr lang="en-US" altLang="ko-KR" sz="2000" b="1"/>
              <a:t>SMOTE | Test Metrics : 793</a:t>
            </a:r>
            <a:r>
              <a:rPr lang="ko-KR" altLang="en-US" sz="2000" b="1"/>
              <a:t> </a:t>
            </a:r>
            <a:r>
              <a:rPr lang="en-US" altLang="ko-KR" sz="2000" b="1"/>
              <a:t>[696 / 97]</a:t>
            </a:r>
            <a:endParaRPr lang="en-US" altLang="ko-KR" sz="2000" b="1"/>
          </a:p>
        </p:txBody>
      </p:sp>
      <p:graphicFrame>
        <p:nvGraphicFramePr>
          <p:cNvPr id="17" name=""/>
          <p:cNvGraphicFramePr>
            <a:graphicFrameLocks noGrp="1"/>
          </p:cNvGraphicFramePr>
          <p:nvPr/>
        </p:nvGraphicFramePr>
        <p:xfrm>
          <a:off x="2042159" y="2057400"/>
          <a:ext cx="8117205" cy="1502984"/>
        </p:xfrm>
        <a:graphic>
          <a:graphicData uri="http://schemas.openxmlformats.org/drawingml/2006/table">
            <a:tbl>
              <a:tblPr firstRow="1" bandRow="1">
                <a:tableStyleId>{206F615A-370F-48FF-96DE-FFA2584FB0C5}</a:tableStyleId>
              </a:tblPr>
              <a:tblGrid>
                <a:gridCol w="1783080"/>
                <a:gridCol w="1268730"/>
                <a:gridCol w="1259205"/>
                <a:gridCol w="1259205"/>
                <a:gridCol w="1268730"/>
                <a:gridCol w="1278255"/>
              </a:tblGrid>
              <a:tr h="184260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Feature Set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Accuracy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Precision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Recall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F1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AUC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314786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[age, bmi]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.6595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.2164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.6804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.3284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.7144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314786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[age, bmi, bda]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.6507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.2097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.6701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.3194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.7105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314786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[age, bmi, bdg]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.6608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.2171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.6804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.3292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.7146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314786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[age, bmi, da]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.6545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.2117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.6701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.3218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.7051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"/>
          <p:cNvGraphicFramePr>
            <a:graphicFrameLocks noGrp="1"/>
          </p:cNvGraphicFramePr>
          <p:nvPr/>
        </p:nvGraphicFramePr>
        <p:xfrm>
          <a:off x="2037397" y="4572000"/>
          <a:ext cx="8117205" cy="1502984"/>
        </p:xfrm>
        <a:graphic>
          <a:graphicData uri="http://schemas.openxmlformats.org/drawingml/2006/table">
            <a:tbl>
              <a:tblPr firstRow="1" bandRow="1">
                <a:tableStyleId>{206F615A-370F-48FF-96DE-FFA2584FB0C5}</a:tableStyleId>
              </a:tblPr>
              <a:tblGrid>
                <a:gridCol w="1783080"/>
                <a:gridCol w="1268730"/>
                <a:gridCol w="1259205"/>
                <a:gridCol w="1259205"/>
                <a:gridCol w="1268730"/>
                <a:gridCol w="1278255"/>
              </a:tblGrid>
              <a:tr h="184260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Feature Set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Accuracy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Precision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Recall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F1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AUC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314786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[age, bmi]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.6608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.2171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.6804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.3292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.7148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314786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[age, bmi, bda]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.6545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.2136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.6804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.3251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.7106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314786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[age, bmi, bdg]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.6633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.2167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.6701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.3275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.7114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314786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[age, bmi, da]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.6507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.2078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.6598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.316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.7066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 idx="0"/>
          </p:nvPr>
        </p:nvSpPr>
        <p:spPr>
          <a:xfrm>
            <a:off x="609701" y="446405"/>
            <a:ext cx="11353699" cy="420369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>
              <a:lnSpc>
                <a:spcPts val="3200"/>
              </a:lnSpc>
              <a:defRPr/>
            </a:pPr>
            <a:r>
              <a:rPr lang="en-US" altLang="ko-KR"/>
              <a:t>Detailed Progress</a:t>
            </a:r>
            <a:endParaRPr lang="en-US" altLang="ko-KR"/>
          </a:p>
        </p:txBody>
      </p:sp>
      <p:sp>
        <p:nvSpPr>
          <p:cNvPr id="12" name="Holder 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lang="en-US"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9</a:t>
            </a:fld>
            <a:endParaRPr lang="en-US" spc="-25"/>
          </a:p>
        </p:txBody>
      </p:sp>
      <p:sp>
        <p:nvSpPr>
          <p:cNvPr id="13" name="텍스트 개체 틀 7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066799"/>
            <a:ext cx="11125200" cy="3190876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en-US" altLang="ko-KR" sz="2000" b="1"/>
              <a:t>Logistic Regression Results</a:t>
            </a:r>
            <a:endParaRPr lang="en-US" altLang="ko-KR" sz="2000" b="1"/>
          </a:p>
          <a:p>
            <a:pPr lvl="1">
              <a:lnSpc>
                <a:spcPct val="150000"/>
              </a:lnSpc>
              <a:defRPr/>
            </a:pPr>
            <a:r>
              <a:rPr lang="en-US" altLang="ko-KR" sz="2000" b="1"/>
              <a:t>Test Metrics : 793</a:t>
            </a:r>
            <a:r>
              <a:rPr lang="ko-KR" altLang="en-US" sz="2000" b="1"/>
              <a:t> </a:t>
            </a:r>
            <a:r>
              <a:rPr lang="en-US" altLang="ko-KR" sz="2000" b="1"/>
              <a:t>[696 / 97]</a:t>
            </a:r>
            <a:endParaRPr lang="en-US" altLang="ko-KR" sz="2000" b="1"/>
          </a:p>
          <a:p>
            <a:pPr lvl="1">
              <a:lnSpc>
                <a:spcPct val="150000"/>
              </a:lnSpc>
              <a:defRPr/>
            </a:pPr>
            <a:endParaRPr lang="en-US" altLang="ko-KR" sz="2000" b="1"/>
          </a:p>
          <a:p>
            <a:pPr lvl="1">
              <a:lnSpc>
                <a:spcPct val="150000"/>
              </a:lnSpc>
              <a:defRPr/>
            </a:pPr>
            <a:endParaRPr lang="en-US" altLang="ko-KR" sz="2000" b="1"/>
          </a:p>
          <a:p>
            <a:pPr lvl="1">
              <a:lnSpc>
                <a:spcPct val="150000"/>
              </a:lnSpc>
              <a:defRPr/>
            </a:pPr>
            <a:endParaRPr lang="en-US" altLang="ko-KR" sz="2000" b="1"/>
          </a:p>
          <a:p>
            <a:pPr lvl="1">
              <a:lnSpc>
                <a:spcPct val="150000"/>
              </a:lnSpc>
              <a:defRPr/>
            </a:pPr>
            <a:endParaRPr lang="en-US" altLang="ko-KR" sz="2000" b="1"/>
          </a:p>
          <a:p>
            <a:pPr lvl="1">
              <a:lnSpc>
                <a:spcPct val="150000"/>
              </a:lnSpc>
              <a:defRPr/>
            </a:pPr>
            <a:r>
              <a:rPr lang="en-US" altLang="ko-KR" sz="2000" b="1"/>
              <a:t>UnderSampling | Test Metrics : 793</a:t>
            </a:r>
            <a:r>
              <a:rPr lang="ko-KR" altLang="en-US" sz="2000" b="1"/>
              <a:t> </a:t>
            </a:r>
            <a:r>
              <a:rPr lang="en-US" altLang="ko-KR" sz="2000" b="1"/>
              <a:t>[696 / 97]</a:t>
            </a:r>
            <a:endParaRPr lang="en-US" altLang="ko-KR" sz="2000" b="1"/>
          </a:p>
        </p:txBody>
      </p:sp>
      <p:graphicFrame>
        <p:nvGraphicFramePr>
          <p:cNvPr id="17" name=""/>
          <p:cNvGraphicFramePr>
            <a:graphicFrameLocks noGrp="1"/>
          </p:cNvGraphicFramePr>
          <p:nvPr/>
        </p:nvGraphicFramePr>
        <p:xfrm>
          <a:off x="2042159" y="2057400"/>
          <a:ext cx="8117205" cy="1502984"/>
        </p:xfrm>
        <a:graphic>
          <a:graphicData uri="http://schemas.openxmlformats.org/drawingml/2006/table">
            <a:tbl>
              <a:tblPr firstRow="1" bandRow="1">
                <a:tableStyleId>{206F615A-370F-48FF-96DE-FFA2584FB0C5}</a:tableStyleId>
              </a:tblPr>
              <a:tblGrid>
                <a:gridCol w="1783080"/>
                <a:gridCol w="1268730"/>
                <a:gridCol w="1259205"/>
                <a:gridCol w="1259205"/>
                <a:gridCol w="1268730"/>
                <a:gridCol w="1278255"/>
              </a:tblGrid>
              <a:tr h="184260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Feature Set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Accuracy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Precision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Recall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F1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AUC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314786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[age, bmi]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.6595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.2164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.6804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.3284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.7144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314786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[age, bmi, bda]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.6507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.2097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.6701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.3194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.7105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314786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[age, bmi, bdg]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.6608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.2171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.6804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.3292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.7146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314786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[age, bmi, da]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.6545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.2117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.6701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.3218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.7051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"/>
          <p:cNvGraphicFramePr>
            <a:graphicFrameLocks noGrp="1"/>
          </p:cNvGraphicFramePr>
          <p:nvPr/>
        </p:nvGraphicFramePr>
        <p:xfrm>
          <a:off x="2037397" y="4572000"/>
          <a:ext cx="8117205" cy="1502984"/>
        </p:xfrm>
        <a:graphic>
          <a:graphicData uri="http://schemas.openxmlformats.org/drawingml/2006/table">
            <a:tbl>
              <a:tblPr firstRow="1" bandRow="1">
                <a:tableStyleId>{206F615A-370F-48FF-96DE-FFA2584FB0C5}</a:tableStyleId>
              </a:tblPr>
              <a:tblGrid>
                <a:gridCol w="1783080"/>
                <a:gridCol w="1268730"/>
                <a:gridCol w="1259205"/>
                <a:gridCol w="1259205"/>
                <a:gridCol w="1268730"/>
                <a:gridCol w="1278255"/>
              </a:tblGrid>
              <a:tr h="184260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Feature Set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Accuracy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Precision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Recall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F1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AUC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314786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[age, bmi]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.6456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.2089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.6804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.3196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.7146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314786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[age, bmi, bda]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.6431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.2075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.6804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.3181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.7124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314786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[age, bmi, bdg]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.6419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.2123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.7113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.3270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.7138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314786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[age, bmi, da]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.6494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.2109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.6804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.3220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.7060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 idx="0"/>
          </p:nvPr>
        </p:nvSpPr>
        <p:spPr>
          <a:xfrm>
            <a:off x="609701" y="446405"/>
            <a:ext cx="11353699" cy="420369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>
              <a:lnSpc>
                <a:spcPts val="3200"/>
              </a:lnSpc>
              <a:defRPr/>
            </a:pPr>
            <a:r>
              <a:rPr lang="en-US" altLang="ko-KR"/>
              <a:t>Detailed Progress</a:t>
            </a:r>
            <a:endParaRPr lang="en-US" altLang="ko-KR"/>
          </a:p>
        </p:txBody>
      </p:sp>
      <p:sp>
        <p:nvSpPr>
          <p:cNvPr id="12" name="Holder 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lang="en-US"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10</a:t>
            </a:fld>
            <a:endParaRPr lang="en-US" spc="-25"/>
          </a:p>
        </p:txBody>
      </p:sp>
      <p:sp>
        <p:nvSpPr>
          <p:cNvPr id="13" name="텍스트 개체 틀 7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066798"/>
            <a:ext cx="11125200" cy="5029202"/>
          </a:xfrm>
        </p:spPr>
        <p:txBody>
          <a:bodyPr/>
          <a:lstStyle/>
          <a:p>
            <a:pPr marL="0" indent="0">
              <a:lnSpc>
                <a:spcPct val="200000"/>
              </a:lnSpc>
              <a:buNone/>
              <a:defRPr/>
            </a:pPr>
            <a:r>
              <a:rPr lang="en-US" altLang="ko-KR" sz="1800" b="1">
                <a:effectLst/>
              </a:rPr>
              <a:t>LogisticRegression Hyperparameter</a:t>
            </a:r>
            <a:endParaRPr lang="en-US" altLang="ko-KR" sz="1800" b="1">
              <a:effectLst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700" b="1">
                <a:effectLst/>
              </a:rPr>
              <a:t>penalty: </a:t>
            </a:r>
            <a:r>
              <a:rPr lang="en-US" altLang="ko-KR" sz="1700">
                <a:effectLst/>
              </a:rPr>
              <a:t>l2 (default)</a:t>
            </a:r>
            <a:endParaRPr lang="en-US" altLang="ko-KR" sz="1700">
              <a:effectLst/>
            </a:endParaRPr>
          </a:p>
          <a:p>
            <a:pPr lvl="1">
              <a:lnSpc>
                <a:spcPct val="120000"/>
              </a:lnSpc>
              <a:defRPr/>
            </a:pPr>
            <a:r>
              <a:rPr lang="ko-KR" altLang="ko-KR" sz="1500">
                <a:effectLst/>
              </a:rPr>
              <a:t>정규화 유형. 선택지: `None`, `'l1'`, `'l2'`, `'elasticnet'`.  </a:t>
            </a:r>
            <a:endParaRPr lang="ko-KR" altLang="ko-KR" sz="1500">
              <a:effectLst/>
            </a:endParaRPr>
          </a:p>
          <a:p>
            <a:pPr lvl="1">
              <a:lnSpc>
                <a:spcPct val="120000"/>
              </a:lnSpc>
              <a:defRPr/>
            </a:pPr>
            <a:r>
              <a:rPr lang="ko-KR" altLang="ko-KR" sz="1500">
                <a:effectLst/>
              </a:rPr>
              <a:t>효과: 과적합 제어. `l1`은 희소(특징 선택) 유도. `elasticnet`은 L1+L2 혼합.  </a:t>
            </a:r>
            <a:endParaRPr lang="ko-KR" altLang="ko-KR" sz="1500">
              <a:effectLst/>
            </a:endParaRPr>
          </a:p>
          <a:p>
            <a:pPr lvl="1">
              <a:lnSpc>
                <a:spcPct val="120000"/>
              </a:lnSpc>
              <a:defRPr/>
            </a:pPr>
            <a:r>
              <a:rPr lang="ko-KR" altLang="ko-KR" sz="1500">
                <a:effectLst/>
              </a:rPr>
              <a:t>주의: 일부 </a:t>
            </a:r>
            <a:r>
              <a:rPr lang="en-US" altLang="ko-KR" sz="1500">
                <a:effectLst/>
              </a:rPr>
              <a:t>solver</a:t>
            </a:r>
            <a:r>
              <a:rPr lang="ko-KR" altLang="ko-KR" sz="1500">
                <a:effectLst/>
              </a:rPr>
              <a:t>와 호환성 제약 있음(예: `elasticnet`은 `saga`만).</a:t>
            </a:r>
            <a:endParaRPr lang="ko-KR" altLang="ko-KR" sz="1500">
              <a:effectLst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700" b="1">
                <a:effectLst/>
              </a:rPr>
              <a:t>dual: </a:t>
            </a:r>
            <a:r>
              <a:rPr lang="en-US" altLang="ko-KR" sz="1700" b="0">
                <a:effectLst/>
              </a:rPr>
              <a:t>False (default)</a:t>
            </a:r>
            <a:endParaRPr lang="en-US" altLang="ko-KR" sz="1700" b="0">
              <a:effectLst/>
            </a:endParaRPr>
          </a:p>
          <a:p>
            <a:pPr lvl="1">
              <a:lnSpc>
                <a:spcPct val="120000"/>
              </a:lnSpc>
              <a:defRPr/>
            </a:pPr>
            <a:r>
              <a:rPr lang="ko-KR" altLang="ko-KR" sz="1500">
                <a:effectLst/>
              </a:rPr>
              <a:t>듀얼 문제 사용 여부.  </a:t>
            </a:r>
            <a:endParaRPr lang="ko-KR" altLang="ko-KR" sz="1500">
              <a:effectLst/>
            </a:endParaRPr>
          </a:p>
          <a:p>
            <a:pPr lvl="1">
              <a:lnSpc>
                <a:spcPct val="120000"/>
              </a:lnSpc>
              <a:defRPr/>
            </a:pPr>
            <a:r>
              <a:rPr lang="ko-KR" altLang="ko-KR" sz="1500">
                <a:effectLst/>
              </a:rPr>
              <a:t>사용처: `liblinear`에서만 의미 있음. 보통 `n_samples &gt; n_features`면 `dual=False` 권장.</a:t>
            </a:r>
            <a:endParaRPr lang="ko-KR" altLang="ko-KR" sz="1700" b="1">
              <a:effectLst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700" b="1">
                <a:effectLst/>
              </a:rPr>
              <a:t>tol: </a:t>
            </a:r>
            <a:r>
              <a:rPr lang="en-US" altLang="ko-KR" sz="1700" b="0">
                <a:effectLst/>
              </a:rPr>
              <a:t>1e-4 (default)</a:t>
            </a:r>
            <a:endParaRPr lang="en-US" altLang="ko-KR" sz="1700" b="0">
              <a:effectLst/>
            </a:endParaRPr>
          </a:p>
          <a:p>
            <a:pPr lvl="1">
              <a:lnSpc>
                <a:spcPct val="120000"/>
              </a:lnSpc>
              <a:defRPr/>
            </a:pPr>
            <a:r>
              <a:rPr lang="en-US" altLang="ko-KR" sz="1500">
                <a:effectLst/>
              </a:rPr>
              <a:t>수렴 판정 허용 오차(작을수록 정밀도 ↑, 계산량 ↑).</a:t>
            </a:r>
            <a:endParaRPr lang="en-US" altLang="ko-KR" sz="1700" b="1">
              <a:effectLst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700" b="1">
                <a:effectLst/>
              </a:rPr>
              <a:t>C: </a:t>
            </a:r>
            <a:r>
              <a:rPr lang="en-US" altLang="ko-KR" sz="1700" b="0">
                <a:effectLst/>
              </a:rPr>
              <a:t>1.0 (default)</a:t>
            </a:r>
            <a:endParaRPr lang="en-US" altLang="ko-KR" sz="1700" b="0">
              <a:effectLst/>
            </a:endParaRPr>
          </a:p>
          <a:p>
            <a:pPr lvl="1">
              <a:lnSpc>
                <a:spcPct val="120000"/>
              </a:lnSpc>
              <a:defRPr/>
            </a:pPr>
            <a:r>
              <a:rPr lang="en-US" altLang="ko-KR" sz="1500">
                <a:effectLst/>
              </a:rPr>
              <a:t>규제 역수 (작을수록 규제 강도 ↑).  </a:t>
            </a:r>
            <a:endParaRPr lang="en-US" altLang="ko-KR" sz="1500">
              <a:effectLst/>
            </a:endParaRPr>
          </a:p>
          <a:p>
            <a:pPr lvl="1">
              <a:lnSpc>
                <a:spcPct val="120000"/>
              </a:lnSpc>
              <a:defRPr/>
            </a:pPr>
            <a:r>
              <a:rPr lang="en-US" altLang="ko-KR" sz="1500">
                <a:effectLst/>
              </a:rPr>
              <a:t>튜닝 추천: 로그 스케일 탐색 예: `np.logspace(-4, 4, 10)`.</a:t>
            </a:r>
            <a:endParaRPr lang="en-US" altLang="ko-KR" sz="1700" b="1">
              <a:effectLst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700" b="1">
                <a:effectLst/>
              </a:rPr>
              <a:t>fit_intercept: </a:t>
            </a:r>
            <a:r>
              <a:rPr lang="en-US" altLang="ko-KR" sz="1700" b="0">
                <a:effectLst/>
              </a:rPr>
              <a:t>True (default)</a:t>
            </a:r>
            <a:endParaRPr lang="en-US" altLang="ko-KR" sz="1700" b="0">
              <a:effectLst/>
            </a:endParaRPr>
          </a:p>
          <a:p>
            <a:pPr lvl="1">
              <a:lnSpc>
                <a:spcPct val="150000"/>
              </a:lnSpc>
              <a:defRPr/>
            </a:pPr>
            <a:r>
              <a:rPr lang="ko-KR" altLang="ko-KR" sz="1500">
                <a:effectLst/>
              </a:rPr>
              <a:t>절편 항 포함 여부.</a:t>
            </a:r>
            <a:endParaRPr lang="ko-KR" altLang="ko-KR" sz="1500" b="1">
              <a:effectLst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 idx="0"/>
          </p:nvPr>
        </p:nvSpPr>
        <p:spPr>
          <a:xfrm>
            <a:off x="609701" y="446405"/>
            <a:ext cx="11353699" cy="420369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>
              <a:lnSpc>
                <a:spcPts val="3200"/>
              </a:lnSpc>
              <a:defRPr/>
            </a:pPr>
            <a:r>
              <a:rPr lang="en-US" altLang="ko-KR"/>
              <a:t>Detailed Progress</a:t>
            </a:r>
            <a:endParaRPr lang="en-US" altLang="ko-KR"/>
          </a:p>
        </p:txBody>
      </p:sp>
      <p:sp>
        <p:nvSpPr>
          <p:cNvPr id="12" name="Holder 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lang="en-US"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11</a:t>
            </a:fld>
            <a:endParaRPr lang="en-US" spc="-25"/>
          </a:p>
        </p:txBody>
      </p:sp>
      <p:sp>
        <p:nvSpPr>
          <p:cNvPr id="13" name="텍스트 개체 틀 7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066796"/>
            <a:ext cx="11125200" cy="5324478"/>
          </a:xfrm>
        </p:spPr>
        <p:txBody>
          <a:bodyPr/>
          <a:lstStyle/>
          <a:p>
            <a:pPr marL="0" indent="0">
              <a:lnSpc>
                <a:spcPct val="200000"/>
              </a:lnSpc>
              <a:buNone/>
              <a:defRPr/>
            </a:pPr>
            <a:r>
              <a:rPr lang="en-US" altLang="ko-KR" sz="1800" b="1">
                <a:effectLst/>
              </a:rPr>
              <a:t>LogisticRegression Hyperparameter</a:t>
            </a:r>
            <a:endParaRPr lang="en-US" altLang="ko-KR" sz="1800" b="1">
              <a:effectLst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700" b="1">
                <a:effectLst/>
              </a:rPr>
              <a:t>intercept_scaling: </a:t>
            </a:r>
            <a:r>
              <a:rPr lang="en-US" altLang="ko-KR" sz="1700" b="0">
                <a:effectLst/>
              </a:rPr>
              <a:t>1 (default)</a:t>
            </a:r>
            <a:endParaRPr lang="en-US" altLang="ko-KR" sz="1700" b="0">
              <a:effectLst/>
            </a:endParaRPr>
          </a:p>
          <a:p>
            <a:pPr lvl="1">
              <a:lnSpc>
                <a:spcPct val="150000"/>
              </a:lnSpc>
              <a:defRPr/>
            </a:pPr>
            <a:r>
              <a:rPr lang="ko-KR" altLang="ko-KR" sz="1500">
                <a:effectLst/>
              </a:rPr>
              <a:t>`liblinear` 사용 시 절편 스케일 조정(보통 기본값 사용).</a:t>
            </a:r>
            <a:endParaRPr lang="ko-KR" altLang="ko-KR" sz="1700" b="1">
              <a:effectLst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700" b="1">
                <a:effectLst/>
              </a:rPr>
              <a:t>class_weight: </a:t>
            </a:r>
            <a:r>
              <a:rPr lang="en-US" altLang="ko-KR" sz="1700" b="0">
                <a:effectLst/>
              </a:rPr>
              <a:t>None (default)</a:t>
            </a:r>
            <a:endParaRPr lang="en-US" altLang="ko-KR" sz="1700" b="0">
              <a:effectLst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ko-KR" sz="1500">
                <a:effectLst/>
              </a:rPr>
              <a:t>클래스 불균형 처리: `None`, `dict`, 또는 `'balanced'`.</a:t>
            </a:r>
            <a:endParaRPr lang="en-US" altLang="ko-KR" sz="1700" b="1">
              <a:effectLst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700" b="1">
                <a:effectLst/>
              </a:rPr>
              <a:t>random_state: </a:t>
            </a:r>
            <a:r>
              <a:rPr lang="en-US" altLang="ko-KR" sz="1700" b="0">
                <a:effectLst/>
              </a:rPr>
              <a:t>None (default)</a:t>
            </a:r>
            <a:endParaRPr lang="en-US" altLang="ko-KR" sz="1700" b="0">
              <a:effectLst/>
            </a:endParaRPr>
          </a:p>
          <a:p>
            <a:pPr lvl="1">
              <a:lnSpc>
                <a:spcPct val="150000"/>
              </a:lnSpc>
              <a:defRPr/>
            </a:pPr>
            <a:r>
              <a:rPr lang="ko-KR" altLang="ko-KR" sz="1500">
                <a:effectLst/>
              </a:rPr>
              <a:t>재현성(무작위 셔플 등).  </a:t>
            </a:r>
            <a:endParaRPr lang="ko-KR" altLang="ko-KR" sz="1500">
              <a:effectLst/>
            </a:endParaRPr>
          </a:p>
          <a:p>
            <a:pPr lvl="1">
              <a:lnSpc>
                <a:spcPct val="150000"/>
              </a:lnSpc>
              <a:defRPr/>
            </a:pPr>
            <a:r>
              <a:rPr lang="ko-KR" altLang="ko-KR" sz="1500">
                <a:effectLst/>
              </a:rPr>
              <a:t>영향: `sag`, `saga`, `liblinear` 등에서 데이터 셔플/초기화에 영향.</a:t>
            </a:r>
            <a:endParaRPr lang="ko-KR" altLang="ko-KR" sz="1700" b="1">
              <a:effectLst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700" b="1">
                <a:effectLst/>
              </a:rPr>
              <a:t>solver: </a:t>
            </a:r>
            <a:r>
              <a:rPr lang="en-US" altLang="ko-KR" sz="1700">
                <a:effectLst/>
              </a:rPr>
              <a:t>lbfgs (default)</a:t>
            </a:r>
            <a:endParaRPr lang="en-US" altLang="ko-KR" sz="1700" b="1">
              <a:effectLst/>
            </a:endParaRPr>
          </a:p>
          <a:p>
            <a:pPr lvl="1">
              <a:lnSpc>
                <a:spcPct val="150000"/>
              </a:lnSpc>
              <a:defRPr/>
            </a:pPr>
            <a:r>
              <a:rPr lang="ko-KR" altLang="ko-KR" sz="1500">
                <a:effectLst/>
              </a:rPr>
              <a:t>최적화 알고리즘 선택. 선택지: 'lbfgs', 'liblinear', 'newton-cg', 'newton-cholesky', 'sag', 'saga'.  </a:t>
            </a:r>
            <a:endParaRPr lang="ko-KR" altLang="ko-KR" sz="1500">
              <a:effectLst/>
            </a:endParaRPr>
          </a:p>
          <a:p>
            <a:pPr lvl="1">
              <a:lnSpc>
                <a:spcPct val="150000"/>
              </a:lnSpc>
              <a:defRPr/>
            </a:pPr>
            <a:r>
              <a:rPr lang="ko-KR" altLang="ko-KR" sz="1500">
                <a:effectLst/>
              </a:rPr>
              <a:t>중요한 호환성:</a:t>
            </a:r>
            <a:endParaRPr lang="ko-KR" altLang="ko-KR" sz="1500">
              <a:effectLst/>
            </a:endParaRPr>
          </a:p>
          <a:p>
            <a:pPr lvl="2">
              <a:lnSpc>
                <a:spcPct val="120000"/>
              </a:lnSpc>
              <a:defRPr/>
            </a:pPr>
            <a:r>
              <a:rPr lang="ko-KR" altLang="ko-KR" sz="1500">
                <a:effectLst/>
              </a:rPr>
              <a:t>'liblinear'는 binary 전용(멀티클래스는 OvR).  </a:t>
            </a:r>
            <a:endParaRPr lang="ko-KR" altLang="ko-KR" sz="1500">
              <a:effectLst/>
            </a:endParaRPr>
          </a:p>
          <a:p>
            <a:pPr lvl="2">
              <a:lnSpc>
                <a:spcPct val="120000"/>
              </a:lnSpc>
              <a:defRPr/>
            </a:pPr>
            <a:r>
              <a:rPr lang="ko-KR" altLang="ko-KR" sz="1500">
                <a:effectLst/>
              </a:rPr>
              <a:t> 'saga'는 elasticnet 지원.  </a:t>
            </a:r>
            <a:endParaRPr lang="ko-KR" altLang="ko-KR" sz="1500">
              <a:effectLst/>
            </a:endParaRPr>
          </a:p>
          <a:p>
            <a:pPr lvl="2">
              <a:lnSpc>
                <a:spcPct val="120000"/>
              </a:lnSpc>
              <a:defRPr/>
            </a:pPr>
            <a:r>
              <a:rPr lang="ko-KR" altLang="ko-KR" sz="1500">
                <a:effectLst/>
              </a:rPr>
              <a:t>일부 solver는 특정 penalty만 지원(예: 'lbfgs'는 l2 또는 None).  </a:t>
            </a:r>
            <a:endParaRPr lang="ko-KR" altLang="ko-KR" sz="1500">
              <a:effectLst/>
            </a:endParaRPr>
          </a:p>
          <a:p>
            <a:pPr lvl="1">
              <a:lnSpc>
                <a:spcPct val="150000"/>
              </a:lnSpc>
              <a:defRPr/>
            </a:pPr>
            <a:r>
              <a:rPr lang="ko-KR" altLang="ko-KR" sz="1500">
                <a:effectLst/>
              </a:rPr>
              <a:t>튜닝: 데이터 크기/희소성에 따라 선택 (liblinear 소규모, sag/saga 대규모).</a:t>
            </a:r>
            <a:endParaRPr lang="ko-KR" altLang="ko-KR" sz="1500" b="1">
              <a:effectLst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 idx="0"/>
          </p:nvPr>
        </p:nvSpPr>
        <p:spPr>
          <a:xfrm>
            <a:off x="609701" y="446405"/>
            <a:ext cx="11353699" cy="420369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>
              <a:lnSpc>
                <a:spcPts val="3200"/>
              </a:lnSpc>
              <a:defRPr/>
            </a:pPr>
            <a:r>
              <a:rPr lang="en-US" altLang="ko-KR"/>
              <a:t>Detailed Progress</a:t>
            </a:r>
            <a:endParaRPr lang="en-US" altLang="ko-KR"/>
          </a:p>
        </p:txBody>
      </p:sp>
      <p:sp>
        <p:nvSpPr>
          <p:cNvPr id="12" name="Holder 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lang="en-US"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12</a:t>
            </a:fld>
            <a:endParaRPr lang="en-US" spc="-25"/>
          </a:p>
        </p:txBody>
      </p:sp>
      <p:sp>
        <p:nvSpPr>
          <p:cNvPr id="13" name="텍스트 개체 틀 7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066798"/>
            <a:ext cx="11125200" cy="5276852"/>
          </a:xfrm>
        </p:spPr>
        <p:txBody>
          <a:bodyPr/>
          <a:lstStyle/>
          <a:p>
            <a:pPr marL="0" indent="0">
              <a:lnSpc>
                <a:spcPct val="200000"/>
              </a:lnSpc>
              <a:buNone/>
              <a:defRPr/>
            </a:pPr>
            <a:r>
              <a:rPr lang="en-US" altLang="ko-KR" sz="1800" b="1">
                <a:effectLst/>
              </a:rPr>
              <a:t>LogisticRegression Hyperparameter</a:t>
            </a:r>
            <a:endParaRPr lang="en-US" altLang="ko-KR" sz="1800" b="1">
              <a:effectLst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700" b="1">
                <a:effectLst/>
              </a:rPr>
              <a:t>max_iter: </a:t>
            </a:r>
            <a:r>
              <a:rPr lang="en-US" altLang="ko-KR" sz="1700" b="0">
                <a:effectLst/>
              </a:rPr>
              <a:t>100 (default)</a:t>
            </a:r>
            <a:endParaRPr lang="en-US" altLang="ko-KR" sz="1700" b="0">
              <a:effectLst/>
            </a:endParaRPr>
          </a:p>
          <a:p>
            <a:pPr lvl="1">
              <a:lnSpc>
                <a:spcPct val="150000"/>
              </a:lnSpc>
              <a:defRPr/>
            </a:pPr>
            <a:r>
              <a:rPr lang="ko-KR" altLang="ko-KR" sz="1500">
                <a:effectLst/>
              </a:rPr>
              <a:t>최대 반복 횟수(수렴하지 않으면 증가시킬 수 있음).</a:t>
            </a:r>
            <a:endParaRPr lang="ko-KR" altLang="ko-KR" sz="1700" b="1">
              <a:effectLst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700" b="1">
                <a:effectLst/>
              </a:rPr>
              <a:t>multi_class: </a:t>
            </a:r>
            <a:r>
              <a:rPr lang="en-US" altLang="ko-KR" sz="1700">
                <a:effectLst/>
              </a:rPr>
              <a:t>(</a:t>
            </a:r>
            <a:r>
              <a:rPr lang="en-US" altLang="ko-KR" sz="1700" b="0">
                <a:effectLst/>
              </a:rPr>
              <a:t>deprecated)</a:t>
            </a:r>
            <a:endParaRPr lang="en-US" altLang="ko-KR" sz="1700" b="0">
              <a:effectLst/>
            </a:endParaRPr>
          </a:p>
          <a:p>
            <a:pPr lvl="1">
              <a:lnSpc>
                <a:spcPct val="150000"/>
              </a:lnSpc>
              <a:defRPr/>
            </a:pPr>
            <a:r>
              <a:rPr lang="ko-KR" altLang="ko-KR" sz="1500">
                <a:effectLst/>
              </a:rPr>
              <a:t>멀티클래스 전략: 'auto', 'ovr', 'multinomial'.  </a:t>
            </a:r>
            <a:endParaRPr lang="ko-KR" altLang="ko-KR" sz="1500">
              <a:effectLst/>
            </a:endParaRPr>
          </a:p>
          <a:p>
            <a:pPr lvl="1">
              <a:lnSpc>
                <a:spcPct val="150000"/>
              </a:lnSpc>
              <a:defRPr/>
            </a:pPr>
            <a:r>
              <a:rPr lang="ko-KR" altLang="ko-KR" sz="1500">
                <a:effectLst/>
              </a:rPr>
              <a:t>현재 버전에서는 일부 deprecation 경고 있음; 멀티클래스 사용 시 문서 확인 권장.</a:t>
            </a:r>
            <a:endParaRPr lang="ko-KR" altLang="ko-KR" sz="1700" b="1">
              <a:effectLst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700" b="1">
                <a:effectLst/>
              </a:rPr>
              <a:t>verbose: </a:t>
            </a:r>
            <a:r>
              <a:rPr lang="en-US" altLang="ko-KR" sz="1700" b="0">
                <a:effectLst/>
              </a:rPr>
              <a:t>0 (default)</a:t>
            </a:r>
            <a:endParaRPr lang="en-US" altLang="ko-KR" sz="1700" b="0">
              <a:effectLst/>
            </a:endParaRPr>
          </a:p>
          <a:p>
            <a:pPr lvl="1">
              <a:lnSpc>
                <a:spcPct val="150000"/>
              </a:lnSpc>
              <a:defRPr/>
            </a:pPr>
            <a:r>
              <a:rPr lang="ko-KR" altLang="ko-KR" sz="1500">
                <a:effectLst/>
              </a:rPr>
              <a:t>학습 메시지 출력 레벨.</a:t>
            </a:r>
            <a:endParaRPr lang="ko-KR" altLang="ko-KR" sz="1700" b="1">
              <a:effectLst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700" b="1">
                <a:effectLst/>
              </a:rPr>
              <a:t>warm_start: </a:t>
            </a:r>
            <a:r>
              <a:rPr lang="en-US" altLang="ko-KR" sz="1700" b="0">
                <a:effectLst/>
              </a:rPr>
              <a:t>False (default)</a:t>
            </a:r>
            <a:endParaRPr lang="en-US" altLang="ko-KR" sz="1700" b="0">
              <a:effectLst/>
            </a:endParaRPr>
          </a:p>
          <a:p>
            <a:pPr lvl="1">
              <a:lnSpc>
                <a:spcPct val="150000"/>
              </a:lnSpc>
              <a:defRPr/>
            </a:pPr>
            <a:r>
              <a:rPr lang="ko-KR" altLang="ko-KR" sz="1500">
                <a:effectLst/>
              </a:rPr>
              <a:t>이전 학습 결과를 초기화값으로 재사용.</a:t>
            </a:r>
            <a:endParaRPr lang="ko-KR" altLang="ko-KR" sz="1700" b="1">
              <a:effectLst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700" b="1">
                <a:effectLst/>
              </a:rPr>
              <a:t>n_jobs: </a:t>
            </a:r>
            <a:r>
              <a:rPr lang="en-US" altLang="ko-KR" sz="1700" b="0">
                <a:effectLst/>
              </a:rPr>
              <a:t>None (default)</a:t>
            </a:r>
            <a:endParaRPr lang="en-US" altLang="ko-KR" sz="1700" b="0">
              <a:effectLst/>
            </a:endParaRPr>
          </a:p>
          <a:p>
            <a:pPr lvl="1">
              <a:lnSpc>
                <a:spcPct val="150000"/>
              </a:lnSpc>
              <a:defRPr/>
            </a:pPr>
            <a:r>
              <a:rPr lang="ko-KR" altLang="ko-KR" sz="1500">
                <a:effectLst/>
              </a:rPr>
              <a:t>병렬 처리에 사용할 CPU 수(일부 solver에만 영향).</a:t>
            </a:r>
            <a:endParaRPr lang="ko-KR" altLang="ko-KR" sz="1700" b="1">
              <a:effectLst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700" b="1">
                <a:effectLst/>
              </a:rPr>
              <a:t>l1_ratio: </a:t>
            </a:r>
            <a:r>
              <a:rPr lang="en-US" altLang="ko-KR" sz="1700" b="0">
                <a:effectLst/>
              </a:rPr>
              <a:t>None (default)</a:t>
            </a:r>
            <a:endParaRPr lang="en-US" altLang="ko-KR" sz="1700" b="0">
              <a:effectLst/>
            </a:endParaRPr>
          </a:p>
          <a:p>
            <a:pPr lvl="1">
              <a:lnSpc>
                <a:spcPct val="150000"/>
              </a:lnSpc>
              <a:defRPr/>
            </a:pPr>
            <a:r>
              <a:rPr lang="ko-KR" altLang="ko-KR" sz="1500">
                <a:effectLst/>
              </a:rPr>
              <a:t>elasticnet 혼합비 (0&lt;=l1_ratio&lt;=1). penalty='elasticnet'일 때 지정.</a:t>
            </a:r>
            <a:endParaRPr lang="ko-KR" altLang="ko-KR" sz="1500">
              <a:effectLst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 idx="0"/>
          </p:nvPr>
        </p:nvSpPr>
        <p:spPr>
          <a:xfrm>
            <a:off x="609701" y="446405"/>
            <a:ext cx="11353699" cy="420369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>
              <a:lnSpc>
                <a:spcPts val="3200"/>
              </a:lnSpc>
              <a:defRPr/>
            </a:pPr>
            <a:r>
              <a:rPr lang="en-US" altLang="ko-KR"/>
              <a:t>Detailed Progress</a:t>
            </a:r>
            <a:endParaRPr lang="en-US" altLang="ko-KR"/>
          </a:p>
        </p:txBody>
      </p:sp>
      <p:sp>
        <p:nvSpPr>
          <p:cNvPr id="12" name="Holder 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lang="en-US"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13</a:t>
            </a:fld>
            <a:endParaRPr lang="en-US" spc="-25"/>
          </a:p>
        </p:txBody>
      </p:sp>
      <p:sp>
        <p:nvSpPr>
          <p:cNvPr id="13" name="텍스트 개체 틀 7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066798"/>
            <a:ext cx="11125200" cy="3133727"/>
          </a:xfrm>
        </p:spPr>
        <p:txBody>
          <a:bodyPr/>
          <a:lstStyle/>
          <a:p>
            <a:pPr marL="0" indent="0">
              <a:lnSpc>
                <a:spcPct val="200000"/>
              </a:lnSpc>
              <a:buNone/>
              <a:defRPr/>
            </a:pPr>
            <a:r>
              <a:rPr lang="en-US" altLang="ko-KR" sz="1800" b="1">
                <a:effectLst/>
              </a:rPr>
              <a:t>LogisticRegression Hyperparameter</a:t>
            </a:r>
            <a:endParaRPr lang="en-US" altLang="ko-KR" sz="1800" b="1">
              <a:effectLst/>
            </a:endParaRPr>
          </a:p>
          <a:p>
            <a:pPr lvl="0">
              <a:lnSpc>
                <a:spcPct val="200000"/>
              </a:lnSpc>
              <a:defRPr/>
            </a:pPr>
            <a:r>
              <a:rPr lang="ko-KR" altLang="ko-KR" sz="1700">
                <a:effectLst/>
              </a:rPr>
              <a:t>penalty ↔ solver 호환성 반드시 확인: 예) elasticnet은 saga만, liblinear는 multinomial 지원 안 함.  </a:t>
            </a:r>
            <a:endParaRPr lang="ko-KR" altLang="ko-KR" sz="1700">
              <a:effectLst/>
            </a:endParaRPr>
          </a:p>
          <a:p>
            <a:pPr lvl="0">
              <a:lnSpc>
                <a:spcPct val="200000"/>
              </a:lnSpc>
              <a:defRPr/>
            </a:pPr>
            <a:r>
              <a:rPr lang="ko-KR" altLang="ko-KR" sz="1700">
                <a:effectLst/>
              </a:rPr>
              <a:t>규제 강도(C)는 </a:t>
            </a:r>
            <a:r>
              <a:rPr lang="en-US" altLang="ko-KR" sz="1700">
                <a:effectLst/>
              </a:rPr>
              <a:t>log scale</a:t>
            </a:r>
            <a:r>
              <a:rPr lang="ko-KR" altLang="ko-KR" sz="1700">
                <a:effectLst/>
              </a:rPr>
              <a:t>로 탐색. l1 또는 elasticnet 사용 시 특성 선택 효과 확인.  </a:t>
            </a:r>
            <a:endParaRPr lang="ko-KR" altLang="ko-KR" sz="1700">
              <a:effectLst/>
            </a:endParaRPr>
          </a:p>
          <a:p>
            <a:pPr lvl="0">
              <a:lnSpc>
                <a:spcPct val="200000"/>
              </a:lnSpc>
              <a:defRPr/>
            </a:pPr>
            <a:r>
              <a:rPr lang="ko-KR" altLang="ko-KR" sz="1700">
                <a:effectLst/>
              </a:rPr>
              <a:t>클래스 불균형 심하면 class_weight='balanced' 또는 </a:t>
            </a:r>
            <a:r>
              <a:rPr lang="en-US" altLang="ko-KR" sz="1700">
                <a:effectLst/>
              </a:rPr>
              <a:t>sampling</a:t>
            </a:r>
            <a:r>
              <a:rPr lang="ko-KR" altLang="ko-KR" sz="1700">
                <a:effectLst/>
              </a:rPr>
              <a:t>을 고려.  </a:t>
            </a:r>
            <a:endParaRPr lang="ko-KR" altLang="ko-KR" sz="1700">
              <a:effectLst/>
            </a:endParaRPr>
          </a:p>
          <a:p>
            <a:pPr lvl="0">
              <a:lnSpc>
                <a:spcPct val="200000"/>
              </a:lnSpc>
              <a:defRPr/>
            </a:pPr>
            <a:r>
              <a:rPr lang="ko-KR" altLang="ko-KR" sz="1700">
                <a:effectLst/>
              </a:rPr>
              <a:t>대용량 데이터는 sag/saga가 빠름(특성 스케일링 권장).  </a:t>
            </a:r>
            <a:endParaRPr lang="ko-KR" altLang="ko-KR" sz="1700">
              <a:effectLst/>
            </a:endParaRPr>
          </a:p>
          <a:p>
            <a:pPr lvl="0">
              <a:lnSpc>
                <a:spcPct val="200000"/>
              </a:lnSpc>
              <a:defRPr/>
            </a:pPr>
            <a:r>
              <a:rPr lang="ko-KR" altLang="ko-KR" sz="1700">
                <a:effectLst/>
              </a:rPr>
              <a:t>수렴 문제 발생시 max_iter 증가 및 tol 완화, 또는 다른 solver 시도.</a:t>
            </a:r>
            <a:endParaRPr lang="ko-KR" altLang="ko-KR" sz="1700">
              <a:effectLst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 idx="0"/>
          </p:nvPr>
        </p:nvSpPr>
        <p:spPr>
          <a:xfrm>
            <a:off x="609701" y="446405"/>
            <a:ext cx="11353699" cy="420369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>
              <a:lnSpc>
                <a:spcPts val="3200"/>
              </a:lnSpc>
              <a:defRPr/>
            </a:pPr>
            <a:r>
              <a:rPr lang="en-US" altLang="ko-KR"/>
              <a:t>Detailed Progress</a:t>
            </a:r>
            <a:endParaRPr lang="en-US" altLang="ko-KR"/>
          </a:p>
        </p:txBody>
      </p:sp>
      <p:sp>
        <p:nvSpPr>
          <p:cNvPr id="12" name="Holder 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lang="en-US"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10</a:t>
            </a:fld>
            <a:endParaRPr lang="en-US" spc="-25"/>
          </a:p>
        </p:txBody>
      </p:sp>
      <p:sp>
        <p:nvSpPr>
          <p:cNvPr id="13" name="텍스트 개체 틀 7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066798"/>
            <a:ext cx="11125200" cy="3743327"/>
          </a:xfrm>
        </p:spPr>
        <p:txBody>
          <a:bodyPr/>
          <a:lstStyle/>
          <a:p>
            <a:pPr lvl="0">
              <a:lnSpc>
                <a:spcPct val="150000"/>
              </a:lnSpc>
              <a:defRPr/>
            </a:pPr>
            <a:r>
              <a:rPr lang="en-US" altLang="ko-KR" sz="2000" b="1"/>
              <a:t>Grid Search</a:t>
            </a:r>
            <a:endParaRPr lang="en-US" altLang="ko-KR" sz="2000" b="1"/>
          </a:p>
          <a:p>
            <a:pPr lvl="0">
              <a:lnSpc>
                <a:spcPct val="150000"/>
              </a:lnSpc>
              <a:defRPr/>
            </a:pPr>
            <a:endParaRPr lang="en-US" altLang="ko-KR" sz="2000" b="1"/>
          </a:p>
          <a:p>
            <a:pPr lvl="0">
              <a:lnSpc>
                <a:spcPct val="150000"/>
              </a:lnSpc>
              <a:defRPr/>
            </a:pPr>
            <a:endParaRPr lang="en-US" altLang="ko-KR" sz="2000" b="1"/>
          </a:p>
          <a:p>
            <a:pPr lvl="0">
              <a:lnSpc>
                <a:spcPct val="150000"/>
              </a:lnSpc>
              <a:defRPr/>
            </a:pPr>
            <a:endParaRPr lang="en-US" altLang="ko-KR" sz="2000" b="1"/>
          </a:p>
          <a:p>
            <a:pPr lvl="0">
              <a:lnSpc>
                <a:spcPct val="150000"/>
              </a:lnSpc>
              <a:defRPr/>
            </a:pPr>
            <a:r>
              <a:rPr lang="en-US" altLang="ko-KR" sz="2000" b="1"/>
              <a:t>Compare Versions</a:t>
            </a:r>
            <a:endParaRPr lang="en-US" altLang="ko-KR" sz="2000" b="1"/>
          </a:p>
          <a:p>
            <a:pPr lvl="1">
              <a:lnSpc>
                <a:spcPct val="150000"/>
              </a:lnSpc>
              <a:defRPr/>
            </a:pPr>
            <a:r>
              <a:rPr lang="en-US" altLang="ko-KR" sz="1600"/>
              <a:t>Holdout</a:t>
            </a:r>
            <a:endParaRPr lang="en-US" altLang="ko-KR" sz="1600"/>
          </a:p>
          <a:p>
            <a:pPr lvl="1">
              <a:lnSpc>
                <a:spcPct val="150000"/>
              </a:lnSpc>
              <a:defRPr/>
            </a:pPr>
            <a:r>
              <a:rPr lang="en-US" altLang="ko-KR" sz="1600"/>
              <a:t>Holdout (GridSearch)</a:t>
            </a:r>
            <a:endParaRPr lang="en-US" altLang="ko-KR" sz="1600"/>
          </a:p>
          <a:p>
            <a:pPr lvl="1">
              <a:lnSpc>
                <a:spcPct val="150000"/>
              </a:lnSpc>
              <a:defRPr/>
            </a:pPr>
            <a:r>
              <a:rPr lang="en-US" altLang="ko-KR" sz="1600"/>
              <a:t>5-fold CV (fixed params)</a:t>
            </a:r>
            <a:endParaRPr lang="en-US" altLang="ko-KR" sz="1600"/>
          </a:p>
          <a:p>
            <a:pPr lvl="1">
              <a:lnSpc>
                <a:spcPct val="150000"/>
              </a:lnSpc>
              <a:defRPr/>
            </a:pPr>
            <a:r>
              <a:rPr lang="en-US" altLang="ko-KR" sz="1600"/>
              <a:t>5-fold CV (GridSearch)</a:t>
            </a:r>
            <a:endParaRPr lang="en-US" altLang="ko-KR" sz="2000"/>
          </a:p>
        </p:txBody>
      </p:sp>
      <p:pic>
        <p:nvPicPr>
          <p:cNvPr id="15" name=""/>
          <p:cNvPicPr>
            <a:picLocks noChangeAspect="1"/>
          </p:cNvPicPr>
          <p:nvPr/>
        </p:nvPicPr>
        <p:blipFill rotWithShape="1">
          <a:blip r:embed="rId2"/>
          <a:srcRect t="32590"/>
          <a:stretch>
            <a:fillRect/>
          </a:stretch>
        </p:blipFill>
        <p:spPr>
          <a:xfrm>
            <a:off x="904059" y="1600200"/>
            <a:ext cx="3515540" cy="1219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 idx="0"/>
          </p:nvPr>
        </p:nvSpPr>
        <p:spPr>
          <a:xfrm>
            <a:off x="609701" y="446405"/>
            <a:ext cx="11353699" cy="420369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>
              <a:lnSpc>
                <a:spcPts val="3200"/>
              </a:lnSpc>
              <a:defRPr/>
            </a:pPr>
            <a:r>
              <a:rPr lang="en-US" altLang="ko-KR"/>
              <a:t>Detailed Progress</a:t>
            </a:r>
            <a:endParaRPr lang="en-US" altLang="ko-KR"/>
          </a:p>
        </p:txBody>
      </p:sp>
      <p:sp>
        <p:nvSpPr>
          <p:cNvPr id="12" name="Holder 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lang="en-US"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9</a:t>
            </a:fld>
            <a:endParaRPr lang="en-US" spc="-25"/>
          </a:p>
        </p:txBody>
      </p:sp>
      <p:sp>
        <p:nvSpPr>
          <p:cNvPr id="13" name="텍스트 개체 틀 7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066799"/>
            <a:ext cx="11125200" cy="904876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en-US" altLang="ko-KR" sz="2000" b="1"/>
              <a:t>Logistic Regression Results</a:t>
            </a:r>
            <a:endParaRPr lang="en-US" altLang="ko-KR" sz="2000" b="1"/>
          </a:p>
          <a:p>
            <a:pPr lvl="1">
              <a:lnSpc>
                <a:spcPct val="150000"/>
              </a:lnSpc>
              <a:defRPr/>
            </a:pPr>
            <a:r>
              <a:rPr lang="en-US" altLang="ko-KR" sz="2000" b="1"/>
              <a:t>Test Metrics : 793</a:t>
            </a:r>
            <a:r>
              <a:rPr lang="ko-KR" altLang="en-US" sz="2000" b="1"/>
              <a:t> </a:t>
            </a:r>
            <a:r>
              <a:rPr lang="en-US" altLang="ko-KR" sz="2000" b="1"/>
              <a:t>[696 / 97]</a:t>
            </a:r>
            <a:endParaRPr lang="en-US" altLang="ko-KR" sz="2000" b="1"/>
          </a:p>
        </p:txBody>
      </p:sp>
      <p:graphicFrame>
        <p:nvGraphicFramePr>
          <p:cNvPr id="17" name=""/>
          <p:cNvGraphicFramePr>
            <a:graphicFrameLocks noGrp="1"/>
          </p:cNvGraphicFramePr>
          <p:nvPr/>
        </p:nvGraphicFramePr>
        <p:xfrm>
          <a:off x="1376451" y="2057400"/>
          <a:ext cx="9433560" cy="4145279"/>
        </p:xfrm>
        <a:graphic>
          <a:graphicData uri="http://schemas.openxmlformats.org/drawingml/2006/table">
            <a:tbl>
              <a:tblPr firstRow="1" bandRow="1">
                <a:tableStyleId>{206F615A-370F-48FF-96DE-FFA2584FB0C5}</a:tableStyleId>
              </a:tblPr>
              <a:tblGrid>
                <a:gridCol w="1230630"/>
                <a:gridCol w="1868805"/>
                <a:gridCol w="1268730"/>
                <a:gridCol w="1259205"/>
                <a:gridCol w="1259205"/>
                <a:gridCol w="1268730"/>
                <a:gridCol w="1278255"/>
              </a:tblGrid>
              <a:tr h="203318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Feature Set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Method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Accuracy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Precision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Recall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F1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AUC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234942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[age, bmi]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Holdout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.6595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.2164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.6804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.3284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.7144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234942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5-fold CV (fixed params)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.6595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.2164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.6804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.3284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.7144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234942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Holdout (gridSearch)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.8789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1.0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.0103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.0204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.7148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234942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5-fold CV (gridSearch)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.8777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.7117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234942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[age, bmi, bda]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Holdout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.6507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.2097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.6701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.3194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.7105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234942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5-fold CV (fixed params)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.6507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.2097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.6701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.3194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.7105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234942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Holdout (gridSearch)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.8789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1.0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.0103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.0204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.7118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234942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5-fold CV (gridSearch)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.8777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.7148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234942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[age, bmi, bdg]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Holdout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.6608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.2171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.6804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.3292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.7146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234942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5-fold CV (fixed params)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.6608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.2171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.6804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.3292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.7146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234942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Holdout (gridSearch)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.8789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1.0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.0103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.0204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.7118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234942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5-fold CV (gridSearch)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.8777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.7148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234942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[age, bmi, da]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Holdout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.6545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.2117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.6701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.3218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.7051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234942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5-fold CV (fixed params)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.6545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.2117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.6701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.3218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.7051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234942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Holdout (gridSearch)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.8789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1.0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.0103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.0204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.7118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234942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5-fold CV (gridSearch)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.8777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.7056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 idx="0"/>
          </p:nvPr>
        </p:nvSpPr>
        <p:spPr>
          <a:xfrm>
            <a:off x="609701" y="446405"/>
            <a:ext cx="11353699" cy="420369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>
              <a:lnSpc>
                <a:spcPts val="3200"/>
              </a:lnSpc>
              <a:defRPr/>
            </a:pPr>
            <a:r>
              <a:rPr lang="en-US" altLang="ko-KR"/>
              <a:t>Detailed Progress</a:t>
            </a:r>
            <a:endParaRPr lang="en-US" altLang="ko-KR"/>
          </a:p>
        </p:txBody>
      </p:sp>
      <p:sp>
        <p:nvSpPr>
          <p:cNvPr id="12" name="Holder 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lang="en-US"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17</a:t>
            </a:fld>
            <a:endParaRPr lang="en-US" spc="-25"/>
          </a:p>
        </p:txBody>
      </p:sp>
      <p:sp>
        <p:nvSpPr>
          <p:cNvPr id="13" name="텍스트 개체 틀 7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066798"/>
            <a:ext cx="11125200" cy="1276352"/>
          </a:xfrm>
        </p:spPr>
        <p:txBody>
          <a:bodyPr/>
          <a:lstStyle/>
          <a:p>
            <a:pPr lvl="0">
              <a:lnSpc>
                <a:spcPct val="150000"/>
              </a:lnSpc>
              <a:defRPr/>
            </a:pPr>
            <a:r>
              <a:rPr lang="en-US" altLang="ko-KR" sz="2000" b="1"/>
              <a:t>Decision Threshold </a:t>
            </a:r>
            <a:r>
              <a:rPr lang="ko-KR" altLang="en-US" sz="2000" b="1"/>
              <a:t>조정</a:t>
            </a:r>
            <a:endParaRPr lang="ko-KR" altLang="en-US" sz="2000" b="1"/>
          </a:p>
          <a:p>
            <a:pPr lvl="0">
              <a:lnSpc>
                <a:spcPct val="150000"/>
              </a:lnSpc>
              <a:defRPr/>
            </a:pPr>
            <a:r>
              <a:rPr lang="en-US" altLang="ko-KR" sz="1800"/>
              <a:t>Logistic Regression</a:t>
            </a:r>
            <a:r>
              <a:rPr lang="ko-KR" altLang="en-US" sz="1800"/>
              <a:t> </a:t>
            </a:r>
            <a:r>
              <a:rPr lang="en-US" altLang="ko-KR" sz="1800"/>
              <a:t>Output</a:t>
            </a:r>
            <a:r>
              <a:rPr lang="ko-KR" altLang="en-US" sz="1800"/>
              <a:t>이 확률이기 때문에</a:t>
            </a:r>
            <a:r>
              <a:rPr lang="en-US" altLang="ko-KR" sz="1800"/>
              <a:t>,</a:t>
            </a:r>
            <a:r>
              <a:rPr lang="ko-KR" altLang="en-US" sz="1800"/>
              <a:t> </a:t>
            </a:r>
            <a:r>
              <a:rPr lang="en-US" altLang="ko-KR" sz="1800"/>
              <a:t>Threshold</a:t>
            </a:r>
            <a:r>
              <a:rPr lang="ko-KR" altLang="en-US" sz="1800"/>
              <a:t>에 따라 최종 분류가 달라질 수 있을 거라고 판단</a:t>
            </a:r>
            <a:endParaRPr lang="ko-KR" altLang="en-US" sz="1800"/>
          </a:p>
          <a:p>
            <a:pPr lvl="0">
              <a:lnSpc>
                <a:spcPct val="150000"/>
              </a:lnSpc>
              <a:defRPr/>
            </a:pPr>
            <a:r>
              <a:rPr lang="ko-KR" altLang="en-US" sz="1800"/>
              <a:t>여러 </a:t>
            </a:r>
            <a:r>
              <a:rPr lang="en-US" altLang="ko-KR" sz="1800"/>
              <a:t>Threshold</a:t>
            </a:r>
            <a:r>
              <a:rPr lang="ko-KR" altLang="en-US" sz="1800"/>
              <a:t>를 비교 분석 진행</a:t>
            </a:r>
            <a:endParaRPr lang="ko-KR" altLang="en-US" sz="1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 idx="0"/>
          </p:nvPr>
        </p:nvSpPr>
        <p:spPr>
          <a:xfrm>
            <a:off x="609701" y="446405"/>
            <a:ext cx="11353699" cy="420369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>
              <a:lnSpc>
                <a:spcPts val="3200"/>
              </a:lnSpc>
              <a:defRPr/>
            </a:pPr>
            <a:r>
              <a:rPr lang="en-US" altLang="ko-KR"/>
              <a:t>Detailed Progress</a:t>
            </a:r>
            <a:endParaRPr lang="en-US" altLang="ko-KR"/>
          </a:p>
        </p:txBody>
      </p:sp>
      <p:sp>
        <p:nvSpPr>
          <p:cNvPr id="12" name="Holder 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lang="en-US"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18</a:t>
            </a:fld>
            <a:endParaRPr lang="en-US" spc="-25"/>
          </a:p>
        </p:txBody>
      </p:sp>
      <p:sp>
        <p:nvSpPr>
          <p:cNvPr id="13" name="텍스트 개체 틀 7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066798"/>
            <a:ext cx="5486400" cy="447677"/>
          </a:xfrm>
        </p:spPr>
        <p:txBody>
          <a:bodyPr/>
          <a:lstStyle/>
          <a:p>
            <a:pPr lvl="0">
              <a:lnSpc>
                <a:spcPct val="150000"/>
              </a:lnSpc>
              <a:defRPr/>
            </a:pPr>
            <a:r>
              <a:rPr lang="en-US" altLang="ko-KR" sz="2000" b="1"/>
              <a:t>V1 [age, bmi]</a:t>
            </a:r>
            <a:endParaRPr lang="en-US" altLang="ko-KR" sz="2000" b="1"/>
          </a:p>
        </p:txBody>
      </p:sp>
      <p:pic>
        <p:nvPicPr>
          <p:cNvPr id="1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09600" y="1762124"/>
            <a:ext cx="4286250" cy="3571875"/>
          </a:xfrm>
          <a:prstGeom prst="rect">
            <a:avLst/>
          </a:prstGeom>
        </p:spPr>
      </p:pic>
      <p:sp>
        <p:nvSpPr>
          <p:cNvPr id="15" name="텍스트 개체 틀 7"/>
          <p:cNvSpPr>
            <a:spLocks noGrp="1"/>
          </p:cNvSpPr>
          <p:nvPr/>
        </p:nvSpPr>
        <p:spPr>
          <a:xfrm>
            <a:off x="6096000" y="1066798"/>
            <a:ext cx="5486400" cy="447677"/>
          </a:xfrm>
          <a:prstGeom prst="rect">
            <a:avLst/>
          </a:prstGeom>
        </p:spPr>
        <p:txBody>
          <a:bodyPr wrap="square" lIns="0" tIns="0" rIns="0" bIns="0">
            <a:spAutoFit/>
          </a:bodyPr>
          <a:p>
            <a:pPr marL="285750" lvl="0" indent="-285750" eaLnBrk="1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sz="2000" b="1" i="0" u="none" strike="noStrike" kern="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V2 [age, bmi, bda]</a:t>
            </a:r>
            <a:endParaRPr xmlns:mc="http://schemas.openxmlformats.org/markup-compatibility/2006" xmlns:hp="http://schemas.haansoft.com/office/presentation/8.0" kumimoji="0" lang="en-US" altLang="ko-KR" sz="2000" b="1" i="0" u="none" strike="noStrike" kern="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6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172200" y="1762125"/>
            <a:ext cx="4286250" cy="3571875"/>
          </a:xfrm>
          <a:prstGeom prst="rect">
            <a:avLst/>
          </a:prstGeom>
        </p:spPr>
      </p:pic>
      <p:sp>
        <p:nvSpPr>
          <p:cNvPr id="17" name="텍스트 개체 틀 7"/>
          <p:cNvSpPr>
            <a:spLocks noGrp="1"/>
          </p:cNvSpPr>
          <p:nvPr/>
        </p:nvSpPr>
        <p:spPr>
          <a:xfrm>
            <a:off x="609600" y="5343523"/>
            <a:ext cx="5486400" cy="1228727"/>
          </a:xfrm>
          <a:prstGeom prst="rect">
            <a:avLst/>
          </a:prstGeom>
        </p:spPr>
        <p:txBody>
          <a:bodyPr wrap="square" lIns="0" tIns="0" rIns="0" bIns="0">
            <a:spAutoFit/>
          </a:bodyPr>
          <a:p>
            <a:pPr marL="285750" lvl="0" indent="-285750" eaLnBrk="1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sz="1800" i="0" u="none" strike="noStrike" kern="0" cap="none" spc="0" normalizeH="0" baseline="0" mc:Ignorable="hp" hp:hslEmbossed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Precision: 0.249</a:t>
            </a:r>
            <a:endParaRPr xmlns:mc="http://schemas.openxmlformats.org/markup-compatibility/2006" xmlns:hp="http://schemas.haansoft.com/office/presentation/8.0" kumimoji="0" lang="en-US" altLang="ko-KR" sz="1800" i="0" u="none" strike="noStrike" kern="0" cap="none" spc="0" normalizeH="0" baseline="0" mc:Ignorable="hp" hp:hslEmbossed="0">
              <a:solidFill>
                <a:srgbClr val="000000"/>
              </a:solidFill>
              <a:latin typeface="Arial"/>
              <a:ea typeface="맑은 고딕"/>
              <a:cs typeface="Arial"/>
            </a:endParaRPr>
          </a:p>
          <a:p>
            <a:pPr marL="285750" lvl="0" indent="-285750" eaLnBrk="1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sz="1800" i="0" u="none" strike="noStrike" kern="0" cap="none" spc="0" normalizeH="0" baseline="0" mc:Ignorable="hp" hp:hslEmbossed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Recall: 0.639</a:t>
            </a:r>
            <a:endParaRPr xmlns:mc="http://schemas.openxmlformats.org/markup-compatibility/2006" xmlns:hp="http://schemas.haansoft.com/office/presentation/8.0" kumimoji="0" lang="en-US" altLang="ko-KR" sz="1800" i="0" u="none" strike="noStrike" kern="0" cap="none" spc="0" normalizeH="0" baseline="0" mc:Ignorable="hp" hp:hslEmbossed="0">
              <a:solidFill>
                <a:srgbClr val="000000"/>
              </a:solidFill>
              <a:latin typeface="Arial"/>
              <a:ea typeface="맑은 고딕"/>
              <a:cs typeface="Arial"/>
            </a:endParaRPr>
          </a:p>
          <a:p>
            <a:pPr marL="285750" lvl="0" indent="-285750" eaLnBrk="1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sz="1800" i="0" u="none" strike="noStrike" kern="0" cap="none" spc="0" normalizeH="0" baseline="0" mc:Ignorable="hp" hp:hslEmbossed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F1: 0.358</a:t>
            </a:r>
            <a:endParaRPr xmlns:mc="http://schemas.openxmlformats.org/markup-compatibility/2006" xmlns:hp="http://schemas.haansoft.com/office/presentation/8.0" kumimoji="0" lang="en-US" altLang="ko-KR" sz="1800" i="0" u="none" strike="noStrike" kern="0" cap="none" spc="0" normalizeH="0" baseline="0" mc:Ignorable="hp" hp:hslEmbossed="0">
              <a:solidFill>
                <a:srgbClr val="000000"/>
              </a:solidFill>
              <a:latin typeface="Arial"/>
              <a:ea typeface="맑은 고딕"/>
              <a:cs typeface="Arial"/>
            </a:endParaRPr>
          </a:p>
        </p:txBody>
      </p:sp>
      <p:sp>
        <p:nvSpPr>
          <p:cNvPr id="18" name="텍스트 개체 틀 7"/>
          <p:cNvSpPr>
            <a:spLocks noGrp="1"/>
          </p:cNvSpPr>
          <p:nvPr/>
        </p:nvSpPr>
        <p:spPr>
          <a:xfrm>
            <a:off x="6096000" y="5343523"/>
            <a:ext cx="5486400" cy="1228727"/>
          </a:xfrm>
          <a:prstGeom prst="rect">
            <a:avLst/>
          </a:prstGeom>
        </p:spPr>
        <p:txBody>
          <a:bodyPr wrap="square" lIns="0" tIns="0" rIns="0" bIns="0">
            <a:spAutoFit/>
          </a:bodyPr>
          <a:p>
            <a:pPr marL="285750" lvl="0" indent="-285750" eaLnBrk="1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sz="1800" i="0" u="none" strike="noStrike" kern="0" cap="none" spc="0" normalizeH="0" baseline="0" mc:Ignorable="hp" hp:hslEmbossed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Precision: 0.238</a:t>
            </a:r>
            <a:endParaRPr xmlns:mc="http://schemas.openxmlformats.org/markup-compatibility/2006" xmlns:hp="http://schemas.haansoft.com/office/presentation/8.0" kumimoji="0" lang="en-US" altLang="ko-KR" sz="1800" i="0" u="none" strike="noStrike" kern="0" cap="none" spc="0" normalizeH="0" baseline="0" mc:Ignorable="hp" hp:hslEmbossed="0">
              <a:solidFill>
                <a:srgbClr val="000000"/>
              </a:solidFill>
              <a:latin typeface="Arial"/>
              <a:ea typeface="맑은 고딕"/>
              <a:cs typeface="Arial"/>
            </a:endParaRPr>
          </a:p>
          <a:p>
            <a:pPr marL="285750" lvl="0" indent="-285750" eaLnBrk="1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sz="1800" i="0" u="none" strike="noStrike" kern="0" cap="none" spc="0" normalizeH="0" baseline="0" mc:Ignorable="hp" hp:hslEmbossed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Recall: 0.649</a:t>
            </a:r>
            <a:endParaRPr xmlns:mc="http://schemas.openxmlformats.org/markup-compatibility/2006" xmlns:hp="http://schemas.haansoft.com/office/presentation/8.0" kumimoji="0" lang="en-US" altLang="ko-KR" sz="1800" i="0" u="none" strike="noStrike" kern="0" cap="none" spc="0" normalizeH="0" baseline="0" mc:Ignorable="hp" hp:hslEmbossed="0">
              <a:solidFill>
                <a:srgbClr val="000000"/>
              </a:solidFill>
              <a:latin typeface="Arial"/>
              <a:ea typeface="맑은 고딕"/>
              <a:cs typeface="Arial"/>
            </a:endParaRPr>
          </a:p>
          <a:p>
            <a:pPr marL="285750" lvl="0" indent="-285750" eaLnBrk="1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sz="1800" i="0" u="none" strike="noStrike" kern="0" cap="none" spc="0" normalizeH="0" baseline="0" mc:Ignorable="hp" hp:hslEmbossed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F1: 0.348</a:t>
            </a:r>
            <a:endParaRPr xmlns:mc="http://schemas.openxmlformats.org/markup-compatibility/2006" xmlns:hp="http://schemas.haansoft.com/office/presentation/8.0" kumimoji="0" lang="en-US" altLang="ko-KR" sz="1800" i="0" u="none" strike="noStrike" kern="0" cap="none" spc="0" normalizeH="0" baseline="0" mc:Ignorable="hp" hp:hslEmbossed="0">
              <a:solidFill>
                <a:srgbClr val="000000"/>
              </a:solidFill>
              <a:latin typeface="Arial"/>
              <a:ea typeface="맑은 고딕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 idx="0"/>
          </p:nvPr>
        </p:nvSpPr>
        <p:spPr>
          <a:xfrm>
            <a:off x="609701" y="446405"/>
            <a:ext cx="11353699" cy="420369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>
              <a:lnSpc>
                <a:spcPts val="3200"/>
              </a:lnSpc>
              <a:defRPr/>
            </a:pPr>
            <a:r>
              <a:rPr lang="en-US" altLang="ko-KR"/>
              <a:t>Detailed Progress</a:t>
            </a:r>
            <a:endParaRPr lang="en-US" altLang="ko-KR"/>
          </a:p>
        </p:txBody>
      </p:sp>
      <p:sp>
        <p:nvSpPr>
          <p:cNvPr id="12" name="Holder 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lang="en-US"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19</a:t>
            </a:fld>
            <a:endParaRPr lang="en-US" spc="-25"/>
          </a:p>
        </p:txBody>
      </p:sp>
      <p:sp>
        <p:nvSpPr>
          <p:cNvPr id="13" name="텍스트 개체 틀 7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066798"/>
            <a:ext cx="5486400" cy="447677"/>
          </a:xfrm>
        </p:spPr>
        <p:txBody>
          <a:bodyPr/>
          <a:lstStyle/>
          <a:p>
            <a:pPr lvl="0">
              <a:lnSpc>
                <a:spcPct val="150000"/>
              </a:lnSpc>
              <a:defRPr/>
            </a:pPr>
            <a:r>
              <a:rPr lang="en-US" altLang="ko-KR" sz="2000" b="1"/>
              <a:t>V3 [age, bmi, bdg]</a:t>
            </a:r>
            <a:endParaRPr lang="en-US" altLang="ko-KR" sz="2000" b="1"/>
          </a:p>
        </p:txBody>
      </p:sp>
      <p:sp>
        <p:nvSpPr>
          <p:cNvPr id="15" name="텍스트 개체 틀 7"/>
          <p:cNvSpPr>
            <a:spLocks noGrp="1"/>
          </p:cNvSpPr>
          <p:nvPr/>
        </p:nvSpPr>
        <p:spPr>
          <a:xfrm>
            <a:off x="6096000" y="1066798"/>
            <a:ext cx="5486400" cy="447677"/>
          </a:xfrm>
          <a:prstGeom prst="rect">
            <a:avLst/>
          </a:prstGeom>
        </p:spPr>
        <p:txBody>
          <a:bodyPr wrap="square" lIns="0" tIns="0" rIns="0" bIns="0">
            <a:spAutoFit/>
          </a:bodyPr>
          <a:p>
            <a:pPr marL="285750" lvl="0" indent="-285750" eaLnBrk="1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sz="2000" b="1" i="0" u="none" strike="noStrike" kern="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V4 [age, bmi, da]</a:t>
            </a:r>
            <a:endParaRPr xmlns:mc="http://schemas.openxmlformats.org/markup-compatibility/2006" xmlns:hp="http://schemas.haansoft.com/office/presentation/8.0" kumimoji="0" lang="en-US" altLang="ko-KR" sz="2000" b="1" i="0" u="none" strike="noStrike" kern="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7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85800" y="1762125"/>
            <a:ext cx="4286250" cy="3571875"/>
          </a:xfrm>
          <a:prstGeom prst="rect">
            <a:avLst/>
          </a:prstGeom>
        </p:spPr>
      </p:pic>
      <p:pic>
        <p:nvPicPr>
          <p:cNvPr id="18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096000" y="1762125"/>
            <a:ext cx="4286250" cy="3571875"/>
          </a:xfrm>
          <a:prstGeom prst="rect">
            <a:avLst/>
          </a:prstGeom>
        </p:spPr>
      </p:pic>
      <p:sp>
        <p:nvSpPr>
          <p:cNvPr id="19" name="텍스트 개체 틀 7"/>
          <p:cNvSpPr>
            <a:spLocks noGrp="1"/>
          </p:cNvSpPr>
          <p:nvPr/>
        </p:nvSpPr>
        <p:spPr>
          <a:xfrm>
            <a:off x="609600" y="5343523"/>
            <a:ext cx="5486400" cy="1228727"/>
          </a:xfrm>
          <a:prstGeom prst="rect">
            <a:avLst/>
          </a:prstGeom>
        </p:spPr>
        <p:txBody>
          <a:bodyPr wrap="square" lIns="0" tIns="0" rIns="0" bIns="0">
            <a:spAutoFit/>
          </a:bodyPr>
          <a:p>
            <a:pPr marL="285750" lvl="0" indent="-285750" eaLnBrk="1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sz="1800" i="0" u="none" strike="noStrike" kern="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Precision: 0.249</a:t>
            </a:r>
            <a:endParaRPr xmlns:mc="http://schemas.openxmlformats.org/markup-compatibility/2006" xmlns:hp="http://schemas.haansoft.com/office/presentation/8.0" kumimoji="0" lang="en-US" altLang="ko-KR" sz="1800" i="0" u="none" strike="noStrike" kern="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85750" lvl="0" indent="-285750" eaLnBrk="1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sz="1800" i="0" u="none" strike="noStrike" kern="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Recall: 0.639</a:t>
            </a:r>
            <a:endParaRPr xmlns:mc="http://schemas.openxmlformats.org/markup-compatibility/2006" xmlns:hp="http://schemas.haansoft.com/office/presentation/8.0" kumimoji="0" lang="en-US" altLang="ko-KR" sz="1800" i="0" u="none" strike="noStrike" kern="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85750" lvl="0" indent="-285750" eaLnBrk="1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sz="1800" i="0" u="none" strike="noStrike" kern="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F1: 0.358</a:t>
            </a:r>
            <a:endParaRPr xmlns:mc="http://schemas.openxmlformats.org/markup-compatibility/2006" xmlns:hp="http://schemas.haansoft.com/office/presentation/8.0" kumimoji="0" lang="en-US" altLang="ko-KR" sz="1800" i="0" u="none" strike="noStrike" kern="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" name="텍스트 개체 틀 7"/>
          <p:cNvSpPr>
            <a:spLocks noGrp="1"/>
          </p:cNvSpPr>
          <p:nvPr/>
        </p:nvSpPr>
        <p:spPr>
          <a:xfrm>
            <a:off x="6096000" y="5343523"/>
            <a:ext cx="5486400" cy="1228727"/>
          </a:xfrm>
          <a:prstGeom prst="rect">
            <a:avLst/>
          </a:prstGeom>
        </p:spPr>
        <p:txBody>
          <a:bodyPr wrap="square" lIns="0" tIns="0" rIns="0" bIns="0">
            <a:spAutoFit/>
          </a:bodyPr>
          <a:p>
            <a:pPr marL="285750" lvl="0" indent="-285750" eaLnBrk="1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sz="1800" i="0" u="none" strike="noStrike" kern="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Precision: 0.324</a:t>
            </a:r>
            <a:endParaRPr xmlns:mc="http://schemas.openxmlformats.org/markup-compatibility/2006" xmlns:hp="http://schemas.haansoft.com/office/presentation/8.0" kumimoji="0" lang="en-US" altLang="ko-KR" sz="1800" i="0" u="none" strike="noStrike" kern="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85750" lvl="0" indent="-285750" eaLnBrk="1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sz="1800" i="0" u="none" strike="noStrike" kern="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Recall: 0.351</a:t>
            </a:r>
            <a:endParaRPr xmlns:mc="http://schemas.openxmlformats.org/markup-compatibility/2006" xmlns:hp="http://schemas.haansoft.com/office/presentation/8.0" kumimoji="0" lang="en-US" altLang="ko-KR" sz="1800" i="0" u="none" strike="noStrike" kern="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85750" lvl="0" indent="-285750" eaLnBrk="1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en-US" altLang="ko-KR" sz="1800" i="0" u="none" strike="noStrike" kern="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F1: 0.337</a:t>
            </a:r>
            <a:endParaRPr xmlns:mc="http://schemas.openxmlformats.org/markup-compatibility/2006" xmlns:hp="http://schemas.haansoft.com/office/presentation/8.0" kumimoji="0" lang="en-US" altLang="ko-KR" sz="1800" i="0" u="none" strike="noStrike" kern="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 idx="0"/>
          </p:nvPr>
        </p:nvSpPr>
        <p:spPr>
          <a:xfrm>
            <a:off x="609701" y="446405"/>
            <a:ext cx="11353699" cy="420369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>
              <a:lnSpc>
                <a:spcPts val="3200"/>
              </a:lnSpc>
              <a:defRPr/>
            </a:pPr>
            <a:r>
              <a:rPr lang="en-US" altLang="ko-KR"/>
              <a:t>Detailed Progress</a:t>
            </a:r>
            <a:endParaRPr lang="en-US" altLang="ko-KR"/>
          </a:p>
        </p:txBody>
      </p:sp>
      <p:sp>
        <p:nvSpPr>
          <p:cNvPr id="12" name="Holder 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lang="en-US"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10</a:t>
            </a:fld>
            <a:endParaRPr lang="en-US" spc="-25"/>
          </a:p>
        </p:txBody>
      </p:sp>
      <p:sp>
        <p:nvSpPr>
          <p:cNvPr id="13" name="텍스트 개체 틀 7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066798"/>
            <a:ext cx="11125200" cy="1543052"/>
          </a:xfrm>
        </p:spPr>
        <p:txBody>
          <a:bodyPr/>
          <a:lstStyle/>
          <a:p>
            <a:pPr lvl="0">
              <a:lnSpc>
                <a:spcPct val="150000"/>
              </a:lnSpc>
              <a:defRPr/>
            </a:pPr>
            <a:r>
              <a:rPr lang="en-US" altLang="ko-KR" sz="2000" b="1"/>
              <a:t>Stratified Analysis</a:t>
            </a:r>
            <a:endParaRPr lang="en-US" altLang="ko-KR" sz="2000" b="1"/>
          </a:p>
          <a:p>
            <a:pPr lvl="1">
              <a:lnSpc>
                <a:spcPct val="150000"/>
              </a:lnSpc>
              <a:defRPr/>
            </a:pPr>
            <a:r>
              <a:rPr lang="en-US" altLang="ko-KR" sz="1600" b="1"/>
              <a:t>Age : </a:t>
            </a:r>
            <a:r>
              <a:rPr lang="en-US" altLang="ko-KR" sz="1600"/>
              <a:t>&lt;60,  60~69,  &gt;=70</a:t>
            </a:r>
            <a:endParaRPr lang="en-US" altLang="ko-KR" sz="1600" b="1"/>
          </a:p>
          <a:p>
            <a:pPr lvl="1">
              <a:lnSpc>
                <a:spcPct val="150000"/>
              </a:lnSpc>
              <a:defRPr/>
            </a:pPr>
            <a:r>
              <a:rPr lang="en-US" altLang="ko-KR" sz="1600" b="1"/>
              <a:t>BMI : </a:t>
            </a:r>
            <a:r>
              <a:rPr lang="en-US" altLang="ko-KR" sz="1600"/>
              <a:t>&lt;18.5,  18.5~22.9,  23~24.9,  &gt;=25</a:t>
            </a:r>
            <a:endParaRPr lang="en-US" altLang="ko-KR" sz="1600" b="1"/>
          </a:p>
          <a:p>
            <a:pPr lvl="1">
              <a:lnSpc>
                <a:spcPct val="150000"/>
              </a:lnSpc>
              <a:defRPr/>
            </a:pPr>
            <a:r>
              <a:rPr lang="en-US" altLang="ko-KR" sz="1600" b="1"/>
              <a:t>Breast_Density_Grading : </a:t>
            </a:r>
            <a:r>
              <a:rPr lang="en-US" altLang="ko-KR" sz="1600"/>
              <a:t>1, 2, 3, 4</a:t>
            </a:r>
            <a:endParaRPr lang="en-US" altLang="ko-KR" sz="16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 idx="0"/>
          </p:nvPr>
        </p:nvSpPr>
        <p:spPr>
          <a:xfrm>
            <a:off x="609701" y="446405"/>
            <a:ext cx="11353699" cy="420369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>
              <a:lnSpc>
                <a:spcPts val="3200"/>
              </a:lnSpc>
              <a:defRPr/>
            </a:pPr>
            <a:r>
              <a:rPr lang="en-US" altLang="ko-KR"/>
              <a:t>Detailed Progress</a:t>
            </a:r>
            <a:endParaRPr lang="en-US" altLang="ko-KR"/>
          </a:p>
        </p:txBody>
      </p:sp>
      <p:sp>
        <p:nvSpPr>
          <p:cNvPr id="12" name="Holder 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lang="en-US"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11</a:t>
            </a:fld>
            <a:endParaRPr lang="en-US" spc="-25"/>
          </a:p>
        </p:txBody>
      </p:sp>
      <p:sp>
        <p:nvSpPr>
          <p:cNvPr id="13" name="텍스트 개체 틀 7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066799"/>
            <a:ext cx="11125200" cy="904876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en-US" altLang="ko-KR" sz="2000" b="1"/>
              <a:t>Logistic Regression Results</a:t>
            </a:r>
            <a:endParaRPr lang="en-US" altLang="ko-KR" sz="2000" b="1"/>
          </a:p>
          <a:p>
            <a:pPr lvl="1">
              <a:lnSpc>
                <a:spcPct val="150000"/>
              </a:lnSpc>
              <a:defRPr/>
            </a:pPr>
            <a:r>
              <a:rPr lang="en-US" altLang="ko-KR" sz="2000" b="1"/>
              <a:t>Test Metrics : 793</a:t>
            </a:r>
            <a:r>
              <a:rPr lang="ko-KR" altLang="en-US" sz="2000" b="1"/>
              <a:t> </a:t>
            </a:r>
            <a:r>
              <a:rPr lang="en-US" altLang="ko-KR" sz="2000" b="1"/>
              <a:t>[696 / 97]</a:t>
            </a:r>
            <a:endParaRPr lang="en-US" altLang="ko-KR" sz="2000" b="1"/>
          </a:p>
        </p:txBody>
      </p:sp>
      <p:graphicFrame>
        <p:nvGraphicFramePr>
          <p:cNvPr id="17" name=""/>
          <p:cNvGraphicFramePr>
            <a:graphicFrameLocks noGrp="1"/>
          </p:cNvGraphicFramePr>
          <p:nvPr/>
        </p:nvGraphicFramePr>
        <p:xfrm>
          <a:off x="426618" y="2085975"/>
          <a:ext cx="11342370" cy="3657600"/>
        </p:xfrm>
        <a:graphic>
          <a:graphicData uri="http://schemas.openxmlformats.org/drawingml/2006/table">
            <a:tbl>
              <a:tblPr firstRow="1" bandRow="1">
                <a:tableStyleId>{206F615A-370F-48FF-96DE-FFA2584FB0C5}</a:tableStyleId>
              </a:tblPr>
              <a:tblGrid>
                <a:gridCol w="1230630"/>
                <a:gridCol w="1659255"/>
                <a:gridCol w="1059180"/>
                <a:gridCol w="1059180"/>
                <a:gridCol w="1268730"/>
                <a:gridCol w="1259205"/>
                <a:gridCol w="1259205"/>
                <a:gridCol w="1268730"/>
                <a:gridCol w="1278255"/>
              </a:tblGrid>
              <a:tr h="203318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Feature Set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Stratified Variable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Method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N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Accuracy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Precision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Recall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F1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AUC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234942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[age, bmi]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Age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&lt;60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417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.8201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.1719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.3333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.2268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.6628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234942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60-69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276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.5543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.2282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.8095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.3560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.7126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234942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&gt;=70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100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.2800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.2283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 b="1">
                          <a:latin typeface="맑은 고딕"/>
                        </a:rPr>
                        <a:t>.9545</a:t>
                      </a:r>
                      <a:endParaRPr lang="en-US" altLang="ko-KR" sz="1000" b="1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.3684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.6696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234942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BMI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&lt;18.5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36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.4444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.3667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 b="1">
                          <a:latin typeface="맑은 고딕"/>
                        </a:rPr>
                        <a:t>.9167</a:t>
                      </a:r>
                      <a:endParaRPr lang="en-US" altLang="ko-KR" sz="1000" b="1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.5238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.5729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234942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18.5-22.9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378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.5582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.2083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.7273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.3239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.6748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234942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23-24.9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197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.7766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.1957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.5625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.2903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.6708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234942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&gt;=25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182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.7857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.1622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.4286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.2353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.7085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234942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[age, bmi, bda]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Age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&lt;60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417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.8153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.1562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.3030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.2062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.6647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234942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60-69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276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.5362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.2208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.8095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.3469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.7070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234942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&gt;=70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100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.2800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.2283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 b="1">
                          <a:latin typeface="맑은 고딕"/>
                        </a:rPr>
                        <a:t>.9545</a:t>
                      </a:r>
                      <a:endParaRPr lang="en-US" altLang="ko-KR" sz="1000" b="1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.3684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.6696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234942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BMI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&lt;18.5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36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.4444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.3571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 b="1">
                          <a:latin typeface="맑은 고딕"/>
                        </a:rPr>
                        <a:t>.8333</a:t>
                      </a:r>
                      <a:endParaRPr lang="en-US" altLang="ko-KR" sz="1000" b="1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.0500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.5764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234942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18.5-22.9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378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.5423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.2020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.7273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.3162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.6730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234942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23-24.9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197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.7716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.1915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.5625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.2857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.6744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234942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&gt;=25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182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.7857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.1622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.4286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.2353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.7015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 idx="0"/>
          </p:nvPr>
        </p:nvSpPr>
        <p:spPr>
          <a:xfrm>
            <a:off x="609701" y="446405"/>
            <a:ext cx="11353699" cy="420369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>
              <a:lnSpc>
                <a:spcPts val="3200"/>
              </a:lnSpc>
              <a:defRPr/>
            </a:pPr>
            <a:r>
              <a:rPr lang="en-US" altLang="ko-KR"/>
              <a:t>Detailed Progress</a:t>
            </a:r>
            <a:endParaRPr lang="en-US" altLang="ko-KR"/>
          </a:p>
        </p:txBody>
      </p:sp>
      <p:sp>
        <p:nvSpPr>
          <p:cNvPr id="12" name="Holder 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lang="en-US"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12</a:t>
            </a:fld>
            <a:endParaRPr lang="en-US" spc="-25"/>
          </a:p>
        </p:txBody>
      </p:sp>
      <p:sp>
        <p:nvSpPr>
          <p:cNvPr id="13" name="텍스트 개체 틀 7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066799"/>
            <a:ext cx="11125200" cy="904876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en-US" altLang="ko-KR" sz="2000" b="1"/>
              <a:t>Logistic Regression Results</a:t>
            </a:r>
            <a:endParaRPr lang="en-US" altLang="ko-KR" sz="2000" b="1"/>
          </a:p>
          <a:p>
            <a:pPr lvl="1">
              <a:lnSpc>
                <a:spcPct val="150000"/>
              </a:lnSpc>
              <a:defRPr/>
            </a:pPr>
            <a:r>
              <a:rPr lang="en-US" altLang="ko-KR" sz="2000" b="1"/>
              <a:t>Test Metrics : 793</a:t>
            </a:r>
            <a:r>
              <a:rPr lang="ko-KR" altLang="en-US" sz="2000" b="1"/>
              <a:t> </a:t>
            </a:r>
            <a:r>
              <a:rPr lang="en-US" altLang="ko-KR" sz="2000" b="1"/>
              <a:t>[696 / 97]</a:t>
            </a:r>
            <a:endParaRPr lang="en-US" altLang="ko-KR" sz="2000" b="1"/>
          </a:p>
        </p:txBody>
      </p:sp>
      <p:graphicFrame>
        <p:nvGraphicFramePr>
          <p:cNvPr id="17" name=""/>
          <p:cNvGraphicFramePr>
            <a:graphicFrameLocks noGrp="1"/>
          </p:cNvGraphicFramePr>
          <p:nvPr/>
        </p:nvGraphicFramePr>
        <p:xfrm>
          <a:off x="426618" y="2085976"/>
          <a:ext cx="11342370" cy="4632960"/>
        </p:xfrm>
        <a:graphic>
          <a:graphicData uri="http://schemas.openxmlformats.org/drawingml/2006/table">
            <a:tbl>
              <a:tblPr firstRow="1" bandRow="1">
                <a:tableStyleId>{206F615A-370F-48FF-96DE-FFA2584FB0C5}</a:tableStyleId>
              </a:tblPr>
              <a:tblGrid>
                <a:gridCol w="1230630"/>
                <a:gridCol w="1659255"/>
                <a:gridCol w="1059180"/>
                <a:gridCol w="1059180"/>
                <a:gridCol w="1268730"/>
                <a:gridCol w="1259205"/>
                <a:gridCol w="1259205"/>
                <a:gridCol w="1268730"/>
                <a:gridCol w="1278255"/>
              </a:tblGrid>
              <a:tr h="227096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Feature Set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Stratified Variable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Method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N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Accuracy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Precision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Recall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F1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AUC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227096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[age, bmi, bdg]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Age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&lt;60</a:t>
                      </a:r>
                      <a:endParaRPr xmlns:mc="http://schemas.openxmlformats.org/markup-compatibility/2006" xmlns:hp="http://schemas.haansoft.com/office/presentation/8.0" lang="EN-US" sz="1000" b="0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417</a:t>
                      </a:r>
                      <a:endParaRPr xmlns:mc="http://schemas.openxmlformats.org/markup-compatibility/2006" xmlns:hp="http://schemas.haansoft.com/office/presentation/8.0" lang="EN-US" sz="1000" b="0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.8225</a:t>
                      </a:r>
                      <a:endParaRPr xmlns:mc="http://schemas.openxmlformats.org/markup-compatibility/2006" xmlns:hp="http://schemas.haansoft.com/office/presentation/8.0" lang="EN-US" sz="1000" b="0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.1746</a:t>
                      </a:r>
                      <a:endParaRPr xmlns:mc="http://schemas.openxmlformats.org/markup-compatibility/2006" xmlns:hp="http://schemas.haansoft.com/office/presentation/8.0" lang="EN-US" sz="1000" b="0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.3333</a:t>
                      </a:r>
                      <a:endParaRPr xmlns:mc="http://schemas.openxmlformats.org/markup-compatibility/2006" xmlns:hp="http://schemas.haansoft.com/office/presentation/8.0" lang="EN-US" sz="1000" b="0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.2292</a:t>
                      </a:r>
                      <a:endParaRPr xmlns:mc="http://schemas.openxmlformats.org/markup-compatibility/2006" xmlns:hp="http://schemas.haansoft.com/office/presentation/8.0" lang="EN-US" sz="1000" b="0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.6634</a:t>
                      </a:r>
                      <a:endParaRPr xmlns:mc="http://schemas.openxmlformats.org/markup-compatibility/2006" xmlns:hp="http://schemas.haansoft.com/office/presentation/8.0" lang="EN-US" sz="1000" b="0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lt1"/>
                    </a:solidFill>
                  </a:tcPr>
                </a:tc>
              </a:tr>
              <a:tr h="227096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60-69</a:t>
                      </a:r>
                      <a:endParaRPr xmlns:mc="http://schemas.openxmlformats.org/markup-compatibility/2006" xmlns:hp="http://schemas.haansoft.com/office/presentation/8.0" lang="EN-US" sz="1000" b="0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276</a:t>
                      </a:r>
                      <a:endParaRPr xmlns:mc="http://schemas.openxmlformats.org/markup-compatibility/2006" xmlns:hp="http://schemas.haansoft.com/office/presentation/8.0" lang="EN-US" sz="1000" b="0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.5543</a:t>
                      </a:r>
                      <a:endParaRPr xmlns:mc="http://schemas.openxmlformats.org/markup-compatibility/2006" xmlns:hp="http://schemas.haansoft.com/office/presentation/8.0" lang="EN-US" sz="1000" b="0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.2282</a:t>
                      </a:r>
                      <a:endParaRPr xmlns:mc="http://schemas.openxmlformats.org/markup-compatibility/2006" xmlns:hp="http://schemas.haansoft.com/office/presentation/8.0" lang="EN-US" sz="1000" b="0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.8095</a:t>
                      </a:r>
                      <a:endParaRPr xmlns:mc="http://schemas.openxmlformats.org/markup-compatibility/2006" xmlns:hp="http://schemas.haansoft.com/office/presentation/8.0" lang="EN-US" sz="1000" b="0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.356</a:t>
                      </a:r>
                      <a:r>
                        <a:rPr xmlns:mc="http://schemas.openxmlformats.org/markup-compatibility/2006" xmlns:hp="http://schemas.haansoft.com/office/presentation/8.0" lang="en-US" altLang="ko-KR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  <a:endParaRPr xmlns:mc="http://schemas.openxmlformats.org/markup-compatibility/2006" xmlns:hp="http://schemas.haansoft.com/office/presentation/8.0" lang="en-US" altLang="ko-KR" sz="1000" b="0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.7129</a:t>
                      </a:r>
                      <a:endParaRPr xmlns:mc="http://schemas.openxmlformats.org/markup-compatibility/2006" xmlns:hp="http://schemas.haansoft.com/office/presentation/8.0" lang="EN-US" sz="1000" b="0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lt1"/>
                    </a:solidFill>
                  </a:tcPr>
                </a:tc>
              </a:tr>
              <a:tr h="227096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&gt;=70</a:t>
                      </a:r>
                      <a:endParaRPr xmlns:mc="http://schemas.openxmlformats.org/markup-compatibility/2006" xmlns:hp="http://schemas.haansoft.com/office/presentation/8.0" lang="EN-US" sz="1000" b="0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100</a:t>
                      </a:r>
                      <a:endParaRPr xmlns:mc="http://schemas.openxmlformats.org/markup-compatibility/2006" xmlns:hp="http://schemas.haansoft.com/office/presentation/8.0" lang="EN-US" sz="1000" b="0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.28</a:t>
                      </a:r>
                      <a:r>
                        <a:rPr xmlns:mc="http://schemas.openxmlformats.org/markup-compatibility/2006" xmlns:hp="http://schemas.haansoft.com/office/presentation/8.0" lang="en-US" altLang="ko-KR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00</a:t>
                      </a:r>
                      <a:endParaRPr xmlns:mc="http://schemas.openxmlformats.org/markup-compatibility/2006" xmlns:hp="http://schemas.haansoft.com/office/presentation/8.0" lang="en-US" altLang="ko-KR" sz="1000" b="0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.2283</a:t>
                      </a:r>
                      <a:endParaRPr xmlns:mc="http://schemas.openxmlformats.org/markup-compatibility/2006" xmlns:hp="http://schemas.haansoft.com/office/presentation/8.0" lang="EN-US" sz="1000" b="0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1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.9545</a:t>
                      </a:r>
                      <a:endParaRPr xmlns:mc="http://schemas.openxmlformats.org/markup-compatibility/2006" xmlns:hp="http://schemas.haansoft.com/office/presentation/8.0" lang="EN-US" sz="1000" b="1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.3684</a:t>
                      </a:r>
                      <a:endParaRPr xmlns:mc="http://schemas.openxmlformats.org/markup-compatibility/2006" xmlns:hp="http://schemas.haansoft.com/office/presentation/8.0" lang="EN-US" sz="1000" b="0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.6684</a:t>
                      </a:r>
                      <a:endParaRPr xmlns:mc="http://schemas.openxmlformats.org/markup-compatibility/2006" xmlns:hp="http://schemas.haansoft.com/office/presentation/8.0" lang="EN-US" sz="1000" b="0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227096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BMI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&lt;18.5</a:t>
                      </a:r>
                      <a:endParaRPr xmlns:mc="http://schemas.openxmlformats.org/markup-compatibility/2006" xmlns:hp="http://schemas.haansoft.com/office/presentation/8.0" lang="EN-US" sz="1000" b="0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0"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36</a:t>
                      </a:r>
                      <a:endParaRPr xmlns:mc="http://schemas.openxmlformats.org/markup-compatibility/2006" xmlns:hp="http://schemas.haansoft.com/office/presentation/8.0" lang="EN-US" sz="1000" b="0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0"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.4444</a:t>
                      </a:r>
                      <a:endParaRPr xmlns:mc="http://schemas.openxmlformats.org/markup-compatibility/2006" xmlns:hp="http://schemas.haansoft.com/office/presentation/8.0" lang="EN-US" sz="1000" b="0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0"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.3667</a:t>
                      </a:r>
                      <a:endParaRPr xmlns:mc="http://schemas.openxmlformats.org/markup-compatibility/2006" xmlns:hp="http://schemas.haansoft.com/office/presentation/8.0" lang="EN-US" sz="1000" b="0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0"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1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.9167</a:t>
                      </a:r>
                      <a:endParaRPr xmlns:mc="http://schemas.openxmlformats.org/markup-compatibility/2006" xmlns:hp="http://schemas.haansoft.com/office/presentation/8.0" lang="EN-US" sz="1000" b="1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0"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.5238</a:t>
                      </a:r>
                      <a:endParaRPr xmlns:mc="http://schemas.openxmlformats.org/markup-compatibility/2006" xmlns:hp="http://schemas.haansoft.com/office/presentation/8.0" lang="EN-US" sz="1000" b="0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0"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.5729</a:t>
                      </a:r>
                      <a:endParaRPr xmlns:mc="http://schemas.openxmlformats.org/markup-compatibility/2006" xmlns:hp="http://schemas.haansoft.com/office/presentation/8.0" lang="EN-US" sz="1000" b="0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0">
                      <a:noFill/>
                    </a:lnB>
                    <a:solidFill>
                      <a:schemeClr val="lt1"/>
                    </a:solidFill>
                  </a:tcPr>
                </a:tc>
              </a:tr>
              <a:tr h="227096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18.5-22.9</a:t>
                      </a:r>
                      <a:endParaRPr xmlns:mc="http://schemas.openxmlformats.org/markup-compatibility/2006" xmlns:hp="http://schemas.haansoft.com/office/presentation/8.0" lang="EN-US" sz="1000" b="0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378</a:t>
                      </a:r>
                      <a:endParaRPr xmlns:mc="http://schemas.openxmlformats.org/markup-compatibility/2006" xmlns:hp="http://schemas.haansoft.com/office/presentation/8.0" lang="EN-US" sz="1000" b="0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.5608</a:t>
                      </a:r>
                      <a:endParaRPr xmlns:mc="http://schemas.openxmlformats.org/markup-compatibility/2006" xmlns:hp="http://schemas.haansoft.com/office/presentation/8.0" lang="EN-US" sz="1000" b="0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.2094</a:t>
                      </a:r>
                      <a:endParaRPr xmlns:mc="http://schemas.openxmlformats.org/markup-compatibility/2006" xmlns:hp="http://schemas.haansoft.com/office/presentation/8.0" lang="EN-US" sz="1000" b="0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.7273</a:t>
                      </a:r>
                      <a:endParaRPr xmlns:mc="http://schemas.openxmlformats.org/markup-compatibility/2006" xmlns:hp="http://schemas.haansoft.com/office/presentation/8.0" lang="EN-US" sz="1000" b="0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.3252</a:t>
                      </a:r>
                      <a:endParaRPr xmlns:mc="http://schemas.openxmlformats.org/markup-compatibility/2006" xmlns:hp="http://schemas.haansoft.com/office/presentation/8.0" lang="EN-US" sz="1000" b="0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.6755</a:t>
                      </a:r>
                      <a:endParaRPr xmlns:mc="http://schemas.openxmlformats.org/markup-compatibility/2006" xmlns:hp="http://schemas.haansoft.com/office/presentation/8.0" lang="EN-US" sz="1000" b="0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lt1"/>
                    </a:solidFill>
                  </a:tcPr>
                </a:tc>
              </a:tr>
              <a:tr h="227096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23-24.9</a:t>
                      </a:r>
                      <a:endParaRPr xmlns:mc="http://schemas.openxmlformats.org/markup-compatibility/2006" xmlns:hp="http://schemas.haansoft.com/office/presentation/8.0" lang="EN-US" sz="1000" b="0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197</a:t>
                      </a:r>
                      <a:endParaRPr xmlns:mc="http://schemas.openxmlformats.org/markup-compatibility/2006" xmlns:hp="http://schemas.haansoft.com/office/presentation/8.0" lang="EN-US" sz="1000" b="0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.7766</a:t>
                      </a:r>
                      <a:endParaRPr xmlns:mc="http://schemas.openxmlformats.org/markup-compatibility/2006" xmlns:hp="http://schemas.haansoft.com/office/presentation/8.0" lang="EN-US" sz="1000" b="0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.1957</a:t>
                      </a:r>
                      <a:endParaRPr xmlns:mc="http://schemas.openxmlformats.org/markup-compatibility/2006" xmlns:hp="http://schemas.haansoft.com/office/presentation/8.0" lang="EN-US" sz="1000" b="0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.5625</a:t>
                      </a:r>
                      <a:endParaRPr xmlns:mc="http://schemas.openxmlformats.org/markup-compatibility/2006" xmlns:hp="http://schemas.haansoft.com/office/presentation/8.0" lang="EN-US" sz="1000" b="0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.2903</a:t>
                      </a:r>
                      <a:endParaRPr xmlns:mc="http://schemas.openxmlformats.org/markup-compatibility/2006" xmlns:hp="http://schemas.haansoft.com/office/presentation/8.0" lang="EN-US" sz="1000" b="0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.6721</a:t>
                      </a:r>
                      <a:endParaRPr xmlns:mc="http://schemas.openxmlformats.org/markup-compatibility/2006" xmlns:hp="http://schemas.haansoft.com/office/presentation/8.0" lang="EN-US" sz="1000" b="0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lt1"/>
                    </a:solidFill>
                  </a:tcPr>
                </a:tc>
              </a:tr>
              <a:tr h="227096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&gt;=25</a:t>
                      </a:r>
                      <a:endParaRPr xmlns:mc="http://schemas.openxmlformats.org/markup-compatibility/2006" xmlns:hp="http://schemas.haansoft.com/office/presentation/8.0" lang="EN-US" sz="1000" b="0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182</a:t>
                      </a:r>
                      <a:endParaRPr xmlns:mc="http://schemas.openxmlformats.org/markup-compatibility/2006" xmlns:hp="http://schemas.haansoft.com/office/presentation/8.0" lang="EN-US" sz="1000" b="0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.7857</a:t>
                      </a:r>
                      <a:endParaRPr xmlns:mc="http://schemas.openxmlformats.org/markup-compatibility/2006" xmlns:hp="http://schemas.haansoft.com/office/presentation/8.0" lang="EN-US" sz="1000" b="0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.1622</a:t>
                      </a:r>
                      <a:endParaRPr xmlns:mc="http://schemas.openxmlformats.org/markup-compatibility/2006" xmlns:hp="http://schemas.haansoft.com/office/presentation/8.0" lang="EN-US" sz="1000" b="0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.4286</a:t>
                      </a:r>
                      <a:endParaRPr xmlns:mc="http://schemas.openxmlformats.org/markup-compatibility/2006" xmlns:hp="http://schemas.haansoft.com/office/presentation/8.0" lang="EN-US" sz="1000" b="0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.2353</a:t>
                      </a:r>
                      <a:endParaRPr xmlns:mc="http://schemas.openxmlformats.org/markup-compatibility/2006" xmlns:hp="http://schemas.haansoft.com/office/presentation/8.0" lang="EN-US" sz="1000" b="0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.7077</a:t>
                      </a:r>
                      <a:endParaRPr xmlns:mc="http://schemas.openxmlformats.org/markup-compatibility/2006" xmlns:hp="http://schemas.haansoft.com/office/presentation/8.0" lang="EN-US" sz="1000" b="0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227096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BDG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1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54</a:t>
                      </a:r>
                      <a:endParaRPr xmlns:mc="http://schemas.openxmlformats.org/markup-compatibility/2006" xmlns:hp="http://schemas.haansoft.com/office/presentation/8.0" lang="EN-US" sz="1000" b="0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0"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.7222</a:t>
                      </a:r>
                      <a:endParaRPr xmlns:mc="http://schemas.openxmlformats.org/markup-compatibility/2006" xmlns:hp="http://schemas.haansoft.com/office/presentation/8.0" lang="EN-US" sz="1000" b="0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0"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.2143</a:t>
                      </a:r>
                      <a:endParaRPr xmlns:mc="http://schemas.openxmlformats.org/markup-compatibility/2006" xmlns:hp="http://schemas.haansoft.com/office/presentation/8.0" lang="EN-US" sz="1000" b="0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0"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.4286</a:t>
                      </a:r>
                      <a:endParaRPr xmlns:mc="http://schemas.openxmlformats.org/markup-compatibility/2006" xmlns:hp="http://schemas.haansoft.com/office/presentation/8.0" lang="EN-US" sz="1000" b="0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0"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.2857</a:t>
                      </a:r>
                      <a:endParaRPr xmlns:mc="http://schemas.openxmlformats.org/markup-compatibility/2006" xmlns:hp="http://schemas.haansoft.com/office/presentation/8.0" lang="EN-US" sz="1000" b="0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0"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.6413</a:t>
                      </a:r>
                      <a:endParaRPr xmlns:mc="http://schemas.openxmlformats.org/markup-compatibility/2006" xmlns:hp="http://schemas.haansoft.com/office/presentation/8.0" lang="EN-US" sz="1000" b="0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0">
                      <a:noFill/>
                    </a:lnB>
                    <a:solidFill>
                      <a:schemeClr val="lt1"/>
                    </a:solidFill>
                  </a:tcPr>
                </a:tc>
              </a:tr>
              <a:tr h="227096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2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89</a:t>
                      </a:r>
                      <a:endParaRPr xmlns:mc="http://schemas.openxmlformats.org/markup-compatibility/2006" xmlns:hp="http://schemas.haansoft.com/office/presentation/8.0" lang="EN-US" sz="1000" b="0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.618</a:t>
                      </a:r>
                      <a:r>
                        <a:rPr xmlns:mc="http://schemas.openxmlformats.org/markup-compatibility/2006" xmlns:hp="http://schemas.haansoft.com/office/presentation/8.0" lang="en-US" altLang="ko-KR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  <a:endParaRPr xmlns:mc="http://schemas.openxmlformats.org/markup-compatibility/2006" xmlns:hp="http://schemas.haansoft.com/office/presentation/8.0" lang="en-US" altLang="ko-KR" sz="1000" b="0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.2979</a:t>
                      </a:r>
                      <a:endParaRPr xmlns:mc="http://schemas.openxmlformats.org/markup-compatibility/2006" xmlns:hp="http://schemas.haansoft.com/office/presentation/8.0" lang="EN-US" sz="1000" b="0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1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.9333</a:t>
                      </a:r>
                      <a:endParaRPr xmlns:mc="http://schemas.openxmlformats.org/markup-compatibility/2006" xmlns:hp="http://schemas.haansoft.com/office/presentation/8.0" lang="EN-US" sz="1000" b="1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.4516</a:t>
                      </a:r>
                      <a:endParaRPr xmlns:mc="http://schemas.openxmlformats.org/markup-compatibility/2006" xmlns:hp="http://schemas.haansoft.com/office/presentation/8.0" lang="EN-US" sz="1000" b="0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.8428</a:t>
                      </a:r>
                      <a:endParaRPr xmlns:mc="http://schemas.openxmlformats.org/markup-compatibility/2006" xmlns:hp="http://schemas.haansoft.com/office/presentation/8.0" lang="EN-US" sz="1000" b="0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lt1"/>
                    </a:solidFill>
                  </a:tcPr>
                </a:tc>
              </a:tr>
              <a:tr h="227096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3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540</a:t>
                      </a:r>
                      <a:endParaRPr xmlns:mc="http://schemas.openxmlformats.org/markup-compatibility/2006" xmlns:hp="http://schemas.haansoft.com/office/presentation/8.0" lang="EN-US" sz="1000" b="0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.6537</a:t>
                      </a:r>
                      <a:endParaRPr xmlns:mc="http://schemas.openxmlformats.org/markup-compatibility/2006" xmlns:hp="http://schemas.haansoft.com/office/presentation/8.0" lang="EN-US" sz="1000" b="0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.185</a:t>
                      </a:r>
                      <a:r>
                        <a:rPr xmlns:mc="http://schemas.openxmlformats.org/markup-compatibility/2006" xmlns:hp="http://schemas.haansoft.com/office/presentation/8.0" lang="en-US" altLang="ko-KR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  <a:endParaRPr xmlns:mc="http://schemas.openxmlformats.org/markup-compatibility/2006" xmlns:hp="http://schemas.haansoft.com/office/presentation/8.0" lang="en-US" altLang="ko-KR" sz="1000" b="0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.6066</a:t>
                      </a:r>
                      <a:endParaRPr xmlns:mc="http://schemas.openxmlformats.org/markup-compatibility/2006" xmlns:hp="http://schemas.haansoft.com/office/presentation/8.0" lang="EN-US" sz="1000" b="0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.2835</a:t>
                      </a:r>
                      <a:endParaRPr xmlns:mc="http://schemas.openxmlformats.org/markup-compatibility/2006" xmlns:hp="http://schemas.haansoft.com/office/presentation/8.0" lang="EN-US" sz="1000" b="0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.6752</a:t>
                      </a:r>
                      <a:endParaRPr xmlns:mc="http://schemas.openxmlformats.org/markup-compatibility/2006" xmlns:hp="http://schemas.haansoft.com/office/presentation/8.0" lang="EN-US" sz="1000" b="0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lt1"/>
                    </a:solidFill>
                  </a:tcPr>
                </a:tc>
              </a:tr>
              <a:tr h="227096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4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110</a:t>
                      </a:r>
                      <a:endParaRPr xmlns:mc="http://schemas.openxmlformats.org/markup-compatibility/2006" xmlns:hp="http://schemas.haansoft.com/office/presentation/8.0" lang="EN-US" sz="1000" b="0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.7</a:t>
                      </a:r>
                      <a:r>
                        <a:rPr xmlns:mc="http://schemas.openxmlformats.org/markup-compatibility/2006" xmlns:hp="http://schemas.haansoft.com/office/presentation/8.0" lang="en-US" altLang="ko-KR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000</a:t>
                      </a:r>
                      <a:endParaRPr xmlns:mc="http://schemas.openxmlformats.org/markup-compatibility/2006" xmlns:hp="http://schemas.haansoft.com/office/presentation/8.0" lang="en-US" altLang="ko-KR" sz="1000" b="0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.2791</a:t>
                      </a:r>
                      <a:endParaRPr xmlns:mc="http://schemas.openxmlformats.org/markup-compatibility/2006" xmlns:hp="http://schemas.haansoft.com/office/presentation/8.0" lang="EN-US" sz="1000" b="0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.8571</a:t>
                      </a:r>
                      <a:endParaRPr xmlns:mc="http://schemas.openxmlformats.org/markup-compatibility/2006" xmlns:hp="http://schemas.haansoft.com/office/presentation/8.0" lang="EN-US" sz="1000" b="0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.4211</a:t>
                      </a:r>
                      <a:endParaRPr xmlns:mc="http://schemas.openxmlformats.org/markup-compatibility/2006" xmlns:hp="http://schemas.haansoft.com/office/presentation/8.0" lang="EN-US" sz="1000" b="0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.7984</a:t>
                      </a:r>
                      <a:endParaRPr xmlns:mc="http://schemas.openxmlformats.org/markup-compatibility/2006" xmlns:hp="http://schemas.haansoft.com/office/presentation/8.0" lang="EN-US" sz="1000" b="0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227096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[age, bmi, da]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Age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&lt;60</a:t>
                      </a:r>
                      <a:endParaRPr xmlns:mc="http://schemas.openxmlformats.org/markup-compatibility/2006" xmlns:hp="http://schemas.haansoft.com/office/presentation/8.0" lang="EN-US" sz="1000" b="0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0"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417</a:t>
                      </a:r>
                      <a:endParaRPr xmlns:mc="http://schemas.openxmlformats.org/markup-compatibility/2006" xmlns:hp="http://schemas.haansoft.com/office/presentation/8.0" lang="EN-US" sz="1000" b="0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0"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.8106</a:t>
                      </a:r>
                      <a:endParaRPr xmlns:mc="http://schemas.openxmlformats.org/markup-compatibility/2006" xmlns:hp="http://schemas.haansoft.com/office/presentation/8.0" lang="EN-US" sz="1000" b="0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0"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.1714</a:t>
                      </a:r>
                      <a:endParaRPr xmlns:mc="http://schemas.openxmlformats.org/markup-compatibility/2006" xmlns:hp="http://schemas.haansoft.com/office/presentation/8.0" lang="EN-US" sz="1000" b="0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0"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.3636</a:t>
                      </a:r>
                      <a:endParaRPr xmlns:mc="http://schemas.openxmlformats.org/markup-compatibility/2006" xmlns:hp="http://schemas.haansoft.com/office/presentation/8.0" lang="EN-US" sz="1000" b="0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0"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.233</a:t>
                      </a:r>
                      <a:r>
                        <a:rPr xmlns:mc="http://schemas.openxmlformats.org/markup-compatibility/2006" xmlns:hp="http://schemas.haansoft.com/office/presentation/8.0" lang="en-US" altLang="ko-KR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  <a:endParaRPr xmlns:mc="http://schemas.openxmlformats.org/markup-compatibility/2006" xmlns:hp="http://schemas.haansoft.com/office/presentation/8.0" lang="en-US" altLang="ko-KR" sz="1000" b="0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0"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.6669</a:t>
                      </a:r>
                      <a:endParaRPr xmlns:mc="http://schemas.openxmlformats.org/markup-compatibility/2006" xmlns:hp="http://schemas.haansoft.com/office/presentation/8.0" lang="EN-US" sz="1000" b="0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0">
                      <a:noFill/>
                    </a:lnB>
                    <a:solidFill>
                      <a:schemeClr val="lt1"/>
                    </a:solidFill>
                  </a:tcPr>
                </a:tc>
              </a:tr>
              <a:tr h="227097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60-69</a:t>
                      </a:r>
                      <a:endParaRPr xmlns:mc="http://schemas.openxmlformats.org/markup-compatibility/2006" xmlns:hp="http://schemas.haansoft.com/office/presentation/8.0" lang="EN-US" sz="1000" b="0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276</a:t>
                      </a:r>
                      <a:endParaRPr xmlns:mc="http://schemas.openxmlformats.org/markup-compatibility/2006" xmlns:hp="http://schemas.haansoft.com/office/presentation/8.0" lang="EN-US" sz="1000" b="0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.5507</a:t>
                      </a:r>
                      <a:endParaRPr xmlns:mc="http://schemas.openxmlformats.org/markup-compatibility/2006" xmlns:hp="http://schemas.haansoft.com/office/presentation/8.0" lang="EN-US" sz="1000" b="0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.223</a:t>
                      </a:r>
                      <a:r>
                        <a:rPr xmlns:mc="http://schemas.openxmlformats.org/markup-compatibility/2006" xmlns:hp="http://schemas.haansoft.com/office/presentation/8.0" lang="en-US" altLang="ko-KR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  <a:endParaRPr xmlns:mc="http://schemas.openxmlformats.org/markup-compatibility/2006" xmlns:hp="http://schemas.haansoft.com/office/presentation/8.0" lang="en-US" altLang="ko-KR" sz="1000" b="0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.7857</a:t>
                      </a:r>
                      <a:endParaRPr xmlns:mc="http://schemas.openxmlformats.org/markup-compatibility/2006" xmlns:hp="http://schemas.haansoft.com/office/presentation/8.0" lang="EN-US" sz="1000" b="0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.3474</a:t>
                      </a:r>
                      <a:endParaRPr xmlns:mc="http://schemas.openxmlformats.org/markup-compatibility/2006" xmlns:hp="http://schemas.haansoft.com/office/presentation/8.0" lang="EN-US" sz="1000" b="0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.701</a:t>
                      </a:r>
                      <a:r>
                        <a:rPr xmlns:mc="http://schemas.openxmlformats.org/markup-compatibility/2006" xmlns:hp="http://schemas.haansoft.com/office/presentation/8.0" lang="en-US" altLang="ko-KR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  <a:endParaRPr xmlns:mc="http://schemas.openxmlformats.org/markup-compatibility/2006" xmlns:hp="http://schemas.haansoft.com/office/presentation/8.0" lang="en-US" altLang="ko-KR" sz="1000" b="0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lt1"/>
                    </a:solidFill>
                  </a:tcPr>
                </a:tc>
              </a:tr>
              <a:tr h="227095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&gt;=70</a:t>
                      </a:r>
                      <a:endParaRPr xmlns:mc="http://schemas.openxmlformats.org/markup-compatibility/2006" xmlns:hp="http://schemas.haansoft.com/office/presentation/8.0" lang="EN-US" sz="1000" b="0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100</a:t>
                      </a:r>
                      <a:endParaRPr xmlns:mc="http://schemas.openxmlformats.org/markup-compatibility/2006" xmlns:hp="http://schemas.haansoft.com/office/presentation/8.0" lang="EN-US" sz="1000" b="0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.29</a:t>
                      </a:r>
                      <a:r>
                        <a:rPr xmlns:mc="http://schemas.openxmlformats.org/markup-compatibility/2006" xmlns:hp="http://schemas.haansoft.com/office/presentation/8.0" lang="en-US" altLang="ko-KR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00</a:t>
                      </a:r>
                      <a:endParaRPr xmlns:mc="http://schemas.openxmlformats.org/markup-compatibility/2006" xmlns:hp="http://schemas.haansoft.com/office/presentation/8.0" lang="en-US" altLang="ko-KR" sz="1000" b="0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.2247</a:t>
                      </a:r>
                      <a:endParaRPr xmlns:mc="http://schemas.openxmlformats.org/markup-compatibility/2006" xmlns:hp="http://schemas.haansoft.com/office/presentation/8.0" lang="EN-US" sz="1000" b="0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1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.9091</a:t>
                      </a:r>
                      <a:endParaRPr xmlns:mc="http://schemas.openxmlformats.org/markup-compatibility/2006" xmlns:hp="http://schemas.haansoft.com/office/presentation/8.0" lang="EN-US" sz="1000" b="1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.3604</a:t>
                      </a:r>
                      <a:endParaRPr xmlns:mc="http://schemas.openxmlformats.org/markup-compatibility/2006" xmlns:hp="http://schemas.haansoft.com/office/presentation/8.0" lang="EN-US" sz="1000" b="0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.6358</a:t>
                      </a:r>
                      <a:endParaRPr xmlns:mc="http://schemas.openxmlformats.org/markup-compatibility/2006" xmlns:hp="http://schemas.haansoft.com/office/presentation/8.0" lang="EN-US" sz="1000" b="0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  <a:tr h="227095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000">
                          <a:latin typeface="맑은 고딕"/>
                        </a:rPr>
                        <a:t>BMI</a:t>
                      </a: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&lt;18.5</a:t>
                      </a:r>
                      <a:endParaRPr xmlns:mc="http://schemas.openxmlformats.org/markup-compatibility/2006" xmlns:hp="http://schemas.haansoft.com/office/presentation/8.0" lang="EN-US" sz="1000" b="0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0"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36</a:t>
                      </a:r>
                      <a:endParaRPr xmlns:mc="http://schemas.openxmlformats.org/markup-compatibility/2006" xmlns:hp="http://schemas.haansoft.com/office/presentation/8.0" lang="EN-US" sz="1000" b="0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0"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.3889</a:t>
                      </a:r>
                      <a:endParaRPr xmlns:mc="http://schemas.openxmlformats.org/markup-compatibility/2006" xmlns:hp="http://schemas.haansoft.com/office/presentation/8.0" lang="EN-US" sz="1000" b="0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0"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.3438</a:t>
                      </a:r>
                      <a:endParaRPr xmlns:mc="http://schemas.openxmlformats.org/markup-compatibility/2006" xmlns:hp="http://schemas.haansoft.com/office/presentation/8.0" lang="EN-US" sz="1000" b="0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0"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1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.9167</a:t>
                      </a:r>
                      <a:endParaRPr xmlns:mc="http://schemas.openxmlformats.org/markup-compatibility/2006" xmlns:hp="http://schemas.haansoft.com/office/presentation/8.0" lang="EN-US" sz="1000" b="1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0"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.5</a:t>
                      </a:r>
                      <a:r>
                        <a:rPr xmlns:mc="http://schemas.openxmlformats.org/markup-compatibility/2006" xmlns:hp="http://schemas.haansoft.com/office/presentation/8.0" lang="en-US" altLang="ko-KR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000</a:t>
                      </a:r>
                      <a:endParaRPr xmlns:mc="http://schemas.openxmlformats.org/markup-compatibility/2006" xmlns:hp="http://schemas.haansoft.com/office/presentation/8.0" lang="en-US" altLang="ko-KR" sz="1000" b="0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0"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.5625</a:t>
                      </a:r>
                      <a:endParaRPr xmlns:mc="http://schemas.openxmlformats.org/markup-compatibility/2006" xmlns:hp="http://schemas.haansoft.com/office/presentation/8.0" lang="EN-US" sz="1000" b="0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0">
                      <a:noFill/>
                    </a:lnB>
                    <a:solidFill>
                      <a:schemeClr val="lt1"/>
                    </a:solidFill>
                  </a:tcPr>
                </a:tc>
              </a:tr>
              <a:tr h="227096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18.5-22.9</a:t>
                      </a:r>
                      <a:endParaRPr xmlns:mc="http://schemas.openxmlformats.org/markup-compatibility/2006" xmlns:hp="http://schemas.haansoft.com/office/presentation/8.0" lang="EN-US" sz="1000" b="0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378</a:t>
                      </a:r>
                      <a:endParaRPr xmlns:mc="http://schemas.openxmlformats.org/markup-compatibility/2006" xmlns:hp="http://schemas.haansoft.com/office/presentation/8.0" lang="EN-US" sz="1000" b="0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.545</a:t>
                      </a:r>
                      <a:r>
                        <a:rPr xmlns:mc="http://schemas.openxmlformats.org/markup-compatibility/2006" xmlns:hp="http://schemas.haansoft.com/office/presentation/8.0" lang="en-US" altLang="ko-KR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  <a:endParaRPr xmlns:mc="http://schemas.openxmlformats.org/markup-compatibility/2006" xmlns:hp="http://schemas.haansoft.com/office/presentation/8.0" lang="en-US" altLang="ko-KR" sz="1000" b="0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.203</a:t>
                      </a:r>
                      <a:r>
                        <a:rPr xmlns:mc="http://schemas.openxmlformats.org/markup-compatibility/2006" xmlns:hp="http://schemas.haansoft.com/office/presentation/8.0" lang="en-US" altLang="ko-KR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  <a:endParaRPr xmlns:mc="http://schemas.openxmlformats.org/markup-compatibility/2006" xmlns:hp="http://schemas.haansoft.com/office/presentation/8.0" lang="en-US" altLang="ko-KR" sz="1000" b="0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.7273</a:t>
                      </a:r>
                      <a:endParaRPr xmlns:mc="http://schemas.openxmlformats.org/markup-compatibility/2006" xmlns:hp="http://schemas.haansoft.com/office/presentation/8.0" lang="EN-US" sz="1000" b="0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.3175</a:t>
                      </a:r>
                      <a:endParaRPr xmlns:mc="http://schemas.openxmlformats.org/markup-compatibility/2006" xmlns:hp="http://schemas.haansoft.com/office/presentation/8.0" lang="EN-US" sz="1000" b="0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.6705</a:t>
                      </a:r>
                      <a:endParaRPr xmlns:mc="http://schemas.openxmlformats.org/markup-compatibility/2006" xmlns:hp="http://schemas.haansoft.com/office/presentation/8.0" lang="EN-US" sz="1000" b="0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lt1"/>
                    </a:solidFill>
                  </a:tcPr>
                </a:tc>
              </a:tr>
              <a:tr h="227096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23-24.9</a:t>
                      </a:r>
                      <a:endParaRPr xmlns:mc="http://schemas.openxmlformats.org/markup-compatibility/2006" xmlns:hp="http://schemas.haansoft.com/office/presentation/8.0" lang="EN-US" sz="1000" b="0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197</a:t>
                      </a:r>
                      <a:endParaRPr xmlns:mc="http://schemas.openxmlformats.org/markup-compatibility/2006" xmlns:hp="http://schemas.haansoft.com/office/presentation/8.0" lang="EN-US" sz="1000" b="0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.7817</a:t>
                      </a:r>
                      <a:endParaRPr xmlns:mc="http://schemas.openxmlformats.org/markup-compatibility/2006" xmlns:hp="http://schemas.haansoft.com/office/presentation/8.0" lang="EN-US" sz="1000" b="0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.186</a:t>
                      </a:r>
                      <a:r>
                        <a:rPr xmlns:mc="http://schemas.openxmlformats.org/markup-compatibility/2006" xmlns:hp="http://schemas.haansoft.com/office/presentation/8.0" lang="en-US" altLang="ko-KR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  <a:endParaRPr xmlns:mc="http://schemas.openxmlformats.org/markup-compatibility/2006" xmlns:hp="http://schemas.haansoft.com/office/presentation/8.0" lang="en-US" altLang="ko-KR" sz="1000" b="0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.5</a:t>
                      </a:r>
                      <a:r>
                        <a:rPr xmlns:mc="http://schemas.openxmlformats.org/markup-compatibility/2006" xmlns:hp="http://schemas.haansoft.com/office/presentation/8.0" lang="en-US" altLang="ko-KR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000</a:t>
                      </a:r>
                      <a:endParaRPr xmlns:mc="http://schemas.openxmlformats.org/markup-compatibility/2006" xmlns:hp="http://schemas.haansoft.com/office/presentation/8.0" lang="en-US" altLang="ko-KR" sz="1000" b="0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.2712</a:t>
                      </a:r>
                      <a:endParaRPr xmlns:mc="http://schemas.openxmlformats.org/markup-compatibility/2006" xmlns:hp="http://schemas.haansoft.com/office/presentation/8.0" lang="EN-US" sz="1000" b="0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.6671</a:t>
                      </a:r>
                      <a:endParaRPr xmlns:mc="http://schemas.openxmlformats.org/markup-compatibility/2006" xmlns:hp="http://schemas.haansoft.com/office/presentation/8.0" lang="EN-US" sz="1000" b="0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lt1"/>
                    </a:solidFill>
                  </a:tcPr>
                </a:tc>
              </a:tr>
              <a:tr h="227096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endParaRPr lang="en-US" altLang="ko-KR" sz="1000">
                        <a:latin typeface="맑은 고딕"/>
                      </a:endParaRPr>
                    </a:p>
                  </a:txBody>
                  <a:tcPr marL="91440" marR="91440"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&gt;=25</a:t>
                      </a:r>
                      <a:endParaRPr xmlns:mc="http://schemas.openxmlformats.org/markup-compatibility/2006" xmlns:hp="http://schemas.haansoft.com/office/presentation/8.0" lang="EN-US" sz="1000" b="0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182</a:t>
                      </a:r>
                      <a:endParaRPr xmlns:mc="http://schemas.openxmlformats.org/markup-compatibility/2006" xmlns:hp="http://schemas.haansoft.com/office/presentation/8.0" lang="EN-US" sz="1000" b="0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.7967</a:t>
                      </a:r>
                      <a:endParaRPr xmlns:mc="http://schemas.openxmlformats.org/markup-compatibility/2006" xmlns:hp="http://schemas.haansoft.com/office/presentation/8.0" lang="EN-US" sz="1000" b="0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.1714</a:t>
                      </a:r>
                      <a:endParaRPr xmlns:mc="http://schemas.openxmlformats.org/markup-compatibility/2006" xmlns:hp="http://schemas.haansoft.com/office/presentation/8.0" lang="EN-US" sz="1000" b="0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.4286</a:t>
                      </a:r>
                      <a:endParaRPr xmlns:mc="http://schemas.openxmlformats.org/markup-compatibility/2006" xmlns:hp="http://schemas.haansoft.com/office/presentation/8.0" lang="EN-US" sz="1000" b="0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.2449</a:t>
                      </a:r>
                      <a:endParaRPr xmlns:mc="http://schemas.openxmlformats.org/markup-compatibility/2006" xmlns:hp="http://schemas.haansoft.com/office/presentation/8.0" lang="EN-US" sz="1000" b="0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/>
                      </a:pPr>
                      <a:r>
                        <a:rPr xmlns:mc="http://schemas.openxmlformats.org/markup-compatibility/2006" xmlns:hp="http://schemas.haansoft.com/office/presentation/8.0" lang="EN-US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.702</a:t>
                      </a:r>
                      <a:r>
                        <a:rPr xmlns:mc="http://schemas.openxmlformats.org/markup-compatibility/2006" xmlns:hp="http://schemas.haansoft.com/office/presentation/8.0" lang="en-US" altLang="ko-KR" sz="1000" b="0" i="0" u="none" strike="noStrike" mc:Ignorable="hp" hp:hslEmbossed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  <a:endParaRPr xmlns:mc="http://schemas.openxmlformats.org/markup-compatibility/2006" xmlns:hp="http://schemas.haansoft.com/office/presentation/8.0" lang="en-US" altLang="ko-KR" sz="1000" b="0" i="0" u="none" strike="noStrike" mc:Ignorable="hp" hp:hslEmbossed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 idx="0"/>
          </p:nvPr>
        </p:nvSpPr>
        <p:spPr>
          <a:xfrm>
            <a:off x="609701" y="446405"/>
            <a:ext cx="11353699" cy="420370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>
              <a:lnSpc>
                <a:spcPts val="3200"/>
              </a:lnSpc>
              <a:defRPr/>
            </a:pPr>
            <a:r>
              <a:rPr lang="en-US" altLang="ko-KR"/>
              <a:t>FeedBack</a:t>
            </a:r>
            <a:endParaRPr lang="en-US" altLang="ko-KR"/>
          </a:p>
        </p:txBody>
      </p:sp>
      <p:sp>
        <p:nvSpPr>
          <p:cNvPr id="12" name="Holder 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lang="en-US"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19</a:t>
            </a:fld>
            <a:endParaRPr lang="en-US" spc="-25"/>
          </a:p>
        </p:txBody>
      </p:sp>
      <p:sp>
        <p:nvSpPr>
          <p:cNvPr id="13" name="텍스트 개체 틀 7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066798"/>
            <a:ext cx="11125200" cy="2657477"/>
          </a:xfrm>
        </p:spPr>
        <p:txBody>
          <a:bodyPr/>
          <a:lstStyle/>
          <a:p>
            <a:pPr marL="0" indent="0">
              <a:lnSpc>
                <a:spcPct val="200000"/>
              </a:lnSpc>
              <a:buNone/>
              <a:defRPr/>
            </a:pPr>
            <a:r>
              <a:rPr lang="en-US" altLang="ko-KR" sz="2000" b="1"/>
              <a:t>1. “Precision 1.0 / Recall 0.01”의 원인 규명이 최우선 (</a:t>
            </a:r>
            <a:r>
              <a:rPr lang="ko-KR" altLang="en-US" sz="2000" b="1"/>
              <a:t>연구 진행 中</a:t>
            </a:r>
            <a:r>
              <a:rPr lang="en-US" altLang="ko-KR" sz="2000" b="1"/>
              <a:t>)</a:t>
            </a:r>
            <a:endParaRPr lang="en-US" altLang="ko-KR" sz="2000" b="1"/>
          </a:p>
          <a:p>
            <a:pPr lvl="1">
              <a:lnSpc>
                <a:spcPct val="150000"/>
              </a:lnSpc>
              <a:defRPr/>
            </a:pPr>
            <a:r>
              <a:rPr lang="en-US" altLang="ko-KR" sz="1800"/>
              <a:t>Decision Threshold </a:t>
            </a:r>
            <a:r>
              <a:rPr lang="ko-KR" altLang="en-US" sz="1800"/>
              <a:t>분석</a:t>
            </a:r>
            <a:endParaRPr lang="ko-KR" altLang="en-US" sz="1800"/>
          </a:p>
          <a:p>
            <a:pPr lvl="1">
              <a:lnSpc>
                <a:spcPct val="150000"/>
              </a:lnSpc>
              <a:defRPr/>
            </a:pPr>
            <a:r>
              <a:rPr lang="en-US" altLang="ko-KR" sz="1800"/>
              <a:t>SMOTE </a:t>
            </a:r>
            <a:r>
              <a:rPr lang="ko-KR" altLang="en-US" sz="1800"/>
              <a:t>후 데이터 분포 변화 검증</a:t>
            </a:r>
            <a:endParaRPr lang="ko-KR" altLang="en-US" sz="1800"/>
          </a:p>
          <a:p>
            <a:pPr lvl="1">
              <a:lnSpc>
                <a:spcPct val="150000"/>
              </a:lnSpc>
              <a:defRPr/>
            </a:pPr>
            <a:r>
              <a:rPr lang="en-US" altLang="ko-KR" sz="1800"/>
              <a:t>class_weight </a:t>
            </a:r>
            <a:r>
              <a:rPr lang="ko-KR" altLang="en-US" sz="1800"/>
              <a:t>영향 분석</a:t>
            </a:r>
            <a:endParaRPr lang="ko-KR" altLang="en-US" sz="1800"/>
          </a:p>
          <a:p>
            <a:pPr lvl="1">
              <a:lnSpc>
                <a:spcPct val="150000"/>
              </a:lnSpc>
              <a:defRPr/>
            </a:pPr>
            <a:r>
              <a:rPr lang="ko-KR" altLang="en-US" sz="1800"/>
              <a:t>오분류 샘플</a:t>
            </a:r>
            <a:r>
              <a:rPr lang="en-US" altLang="ko-KR" sz="1800"/>
              <a:t>(FN/FP) </a:t>
            </a:r>
            <a:r>
              <a:rPr lang="ko-KR" altLang="en-US" sz="1800"/>
              <a:t>분석</a:t>
            </a:r>
            <a:endParaRPr lang="ko-KR" altLang="en-US" sz="1800"/>
          </a:p>
          <a:p>
            <a:pPr lvl="1">
              <a:lnSpc>
                <a:spcPct val="150000"/>
              </a:lnSpc>
              <a:defRPr/>
            </a:pPr>
            <a:r>
              <a:rPr lang="en-US" altLang="ko-KR" sz="1800"/>
              <a:t>GridSearch </a:t>
            </a:r>
            <a:r>
              <a:rPr lang="ko-KR" altLang="en-US" sz="1800"/>
              <a:t>구간과 </a:t>
            </a:r>
            <a:r>
              <a:rPr lang="en-US" altLang="ko-KR" sz="1800"/>
              <a:t>Holdout </a:t>
            </a:r>
            <a:r>
              <a:rPr lang="ko-KR" altLang="en-US" sz="1800"/>
              <a:t>테스트셋의 분포 차이 검증</a:t>
            </a:r>
            <a:endParaRPr lang="ko-KR" altLang="en-US" sz="1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 rotWithShape="1">
          <a:blip r:embed="rId2"/>
          <a:stretch>
            <a:fillRect/>
          </a:stretch>
        </p:blipFill>
        <p:spPr>
          <a:xfrm>
            <a:off x="0" y="1262062"/>
            <a:ext cx="12192000" cy="55959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사용자 지정 1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3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0000ff"/>
      </a:hlink>
      <a:folHlink>
        <a:srgbClr val="800080"/>
      </a:folHlink>
    </a:clrScheme>
    <a:fontScheme name="한컴오피스">
      <a:majorFont>
        <a:latin typeface="Calibri"/>
        <a:ea typeface=""/>
        <a:cs typeface="Times New Roman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Times New Roman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1549</ep:Words>
  <ep:PresentationFormat>와이드스크린</ep:PresentationFormat>
  <ep:Paragraphs>175</ep:Paragraphs>
  <ep:Slides>24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ep:HeadingPairs>
  <ep:TitlesOfParts>
    <vt:vector size="25" baseType="lpstr">
      <vt:lpstr>Office Theme</vt:lpstr>
      <vt:lpstr>Tabular Data Analysis</vt:lpstr>
      <vt:lpstr>What’s discussed in the last meetings</vt:lpstr>
      <vt:lpstr>What’s discussed in the last meetings</vt:lpstr>
      <vt:lpstr>What’s discussed in the last meetings</vt:lpstr>
      <vt:lpstr>Research Summary</vt:lpstr>
      <vt:lpstr>Research Summary</vt:lpstr>
      <vt:lpstr>Research Summary</vt:lpstr>
      <vt:lpstr>Detailed Progress</vt:lpstr>
      <vt:lpstr>Detailed Progress</vt:lpstr>
      <vt:lpstr>Detailed Progress</vt:lpstr>
      <vt:lpstr>Detailed Progress</vt:lpstr>
      <vt:lpstr>Detailed Progress</vt:lpstr>
      <vt:lpstr>Detailed Progress</vt:lpstr>
      <vt:lpstr>Detailed Progress</vt:lpstr>
      <vt:lpstr>Detailed Progress</vt:lpstr>
      <vt:lpstr>Detailed Progress</vt:lpstr>
      <vt:lpstr>Detailed Progress</vt:lpstr>
      <vt:lpstr>Detailed Progress</vt:lpstr>
      <vt:lpstr>Detailed Progress</vt:lpstr>
      <vt:lpstr>Detailed Progress</vt:lpstr>
      <vt:lpstr>Detailed Progress</vt:lpstr>
      <vt:lpstr>Detailed Progress</vt:lpstr>
      <vt:lpstr>FeedBack</vt:lpstr>
      <vt:lpstr>슬라이드 24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2023-07-18T06:54:54.000</dcterms:created>
  <dc:creator>이소영</dc:creator>
  <cp:lastModifiedBy>jhjun</cp:lastModifiedBy>
  <dcterms:modified xsi:type="dcterms:W3CDTF">2025-12-03T02:13:47.895</dcterms:modified>
  <cp:revision>518</cp:revision>
  <dc:title>PowerPoint 프레젠테이션</dc:title>
  <cp:version/>
</cp:coreProperties>
</file>