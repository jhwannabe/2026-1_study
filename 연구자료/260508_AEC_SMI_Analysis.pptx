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469" r:id="rId9"/>
    <p:sldId id="470" r:id="rId10"/>
    <p:sldId id="404" r:id="rId11"/>
    <p:sldId id="488" r:id="rId12"/>
    <p:sldId id="481" r:id="rId13"/>
    <p:sldId id="513" r:id="rId14"/>
    <p:sldId id="512" r:id="rId15"/>
    <p:sldId id="507" r:id="rId16"/>
    <p:sldId id="508" r:id="rId17"/>
    <p:sldId id="509" r:id="rId18"/>
    <p:sldId id="510" r:id="rId19"/>
    <p:sldId id="511" r:id="rId20"/>
    <p:sldId id="514" r:id="rId21"/>
    <p:sldId id="520" r:id="rId22"/>
    <p:sldId id="521" r:id="rId23"/>
    <p:sldId id="522" r:id="rId24"/>
    <p:sldId id="523" r:id="rId25"/>
    <p:sldId id="515" r:id="rId26"/>
    <p:sldId id="516" r:id="rId27"/>
    <p:sldId id="517" r:id="rId28"/>
    <p:sldId id="518" r:id="rId29"/>
    <p:sldId id="477" r:id="rId30"/>
    <p:sldId id="478" r:id="rId31"/>
    <p:sldId id="479" r:id="rId32"/>
  </p:sldIdLst>
  <p:sldSz cx="12192000" cy="6858000"/>
  <p:notesSz cx="6858000" cy="9144000"/>
  <p:embeddedFontLst>
    <p:embeddedFont>
      <p:font typeface="KoPub돋움체 Bold" panose="00000800000000000000" pitchFamily="2" charset="-127"/>
      <p:bold r:id="rId34"/>
    </p:embeddedFont>
    <p:embeddedFont>
      <p:font typeface="KoPub돋움체 Medium" panose="00000600000000000000" pitchFamily="2" charset="-127"/>
      <p:regular r:id="rId3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469"/>
            <p14:sldId id="470"/>
            <p14:sldId id="404"/>
            <p14:sldId id="488"/>
            <p14:sldId id="481"/>
            <p14:sldId id="513"/>
            <p14:sldId id="512"/>
            <p14:sldId id="507"/>
            <p14:sldId id="508"/>
            <p14:sldId id="509"/>
            <p14:sldId id="510"/>
            <p14:sldId id="511"/>
            <p14:sldId id="514"/>
            <p14:sldId id="520"/>
            <p14:sldId id="521"/>
            <p14:sldId id="522"/>
            <p14:sldId id="523"/>
            <p14:sldId id="515"/>
            <p14:sldId id="516"/>
            <p14:sldId id="517"/>
            <p14:sldId id="518"/>
            <p14:sldId id="477"/>
            <p14:sldId id="47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D8C9C-3F8B-3937-6AA8-03D2653A8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0A45A9-8CD8-072E-70AC-10E77CE72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2FD8BD-BA42-DB65-BA2C-ED143F00B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B30F8-36A2-F3B4-F6BB-D694717C2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678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2A36-5742-A4FA-C316-D41784070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D615DA-6686-2B8B-0285-01C92C00F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9FE657-A9E0-5FEC-8BDE-632E35332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4AD69-2487-D023-2356-0A77FFED7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24379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1CE4-E7CA-6EDF-1421-45F6A8DA1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332BEC-8349-B32B-2A37-7154FBE33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FBAA75-1357-269A-33E5-1B38DC0C4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436E1-99A4-BFBE-C199-1928B2440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193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137EC-935B-F27F-0B3A-82BA6B63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05E30-F03C-90A2-D345-FF6C012B3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7ED97C-301A-832F-D282-F63788EC7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FE422C-7D9A-AF44-F301-C21009F0B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032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D2AEF-2CA6-9FA1-CCEA-F50BE5CE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A053C-EE09-00F4-7036-7FD0C51D9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5ED7D4-4B0C-2090-8C29-F5A31CFD9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879173-992F-B3DE-3733-0EABD0BE8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44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D637A-C167-AD9C-EFB9-94F9F013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F00713-1B10-B091-7E90-47848A83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D355B7-50B1-56A4-94AF-3E74D8D0EE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A3FFB4-36B1-90A7-7A95-C2C77C90ED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5471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C86A-F3DE-B063-3A23-320EEECB3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2C22F3-BFCA-56FF-3FEF-994374B13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BEAB45-A6C4-BB7C-BD93-038BEDFF2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8FE18B-A86F-89FE-8160-D20A7C39A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6720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6B93-68AE-642D-A58E-C56821BE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D121F7-4D72-46AB-1B9A-FD3F40AC0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7C9ACF-F9BA-91E5-48DB-56A441B9C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970-8756-CA31-2280-9478D037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486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5434C-99E0-F345-5A60-9537782A1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4455EC-778E-44C1-1331-CFA84F832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F3126D-E9D5-C64F-8ED7-86F32C584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22D7C5-837B-A46B-5D2F-3A8C615C9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28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E335F-D1DF-AEEF-4D4B-433973FA7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40D741-7156-2D66-15FA-0AB7D2B18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AE4922-FD7D-96F4-105E-B8C395791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C2A824-C153-D15F-9EC2-F670ECB26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043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2FF0-383A-7BD2-C3AE-F9442AC3C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34AF7C-A5E2-243F-ACFD-6A9FFF32F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010C46-B099-587A-ED0D-C4CC9296D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28FA7D-B124-7B5B-F082-C737E698EC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1518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0D9A4-914B-2805-5C81-BB66DFD9B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8AC3C8-C8B2-0258-2713-F097165E2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D52835-BEC7-0651-148A-C093BE6A7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1F939-E848-8BBC-1607-1064454434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7514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9A466-46CC-8BF3-F1EB-C5921C02A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18C498-CA8D-9869-C2E1-4F1E4809C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D8337-F1FE-48F9-2D42-E2377FDA0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E6C3BC-5495-657B-1227-DE3FA8A7E5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1978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3E2A-9AEF-5BE1-DD51-CBA746746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93EF30-4D95-9155-55A0-5F44631D0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431435-D939-DFC3-FE3D-A520C27B2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DC25FE-B4A7-4E10-C61A-E7F515147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2936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6BEB9-0689-2C6F-2BA1-EAC307E4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0BBB0-D5C1-7052-6E98-64716747F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E8FD44-C03D-D391-30A9-AF2E4D27D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72312-F4E2-1A0B-C925-C5A1DA61FE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604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1998-793B-F39A-FC53-AA62D2B8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DDA1E6-B548-7CBF-BC6C-998ECDD75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9C0B4B-DCBD-EA72-D88E-66224875F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7DBC8-06CD-9EB1-5A22-D910A0EC9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689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4719-C167-8157-B64A-45FDD3B6C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A9642F-0B85-5768-7FBD-0E28B0AB7B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AF6AC8-217B-C245-3952-264160EAB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1B86B-7466-DE22-548D-0A65C21A6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4411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D5ED-B50F-A51B-E98C-EE1E4FE5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9928E-9054-E4C9-8057-E5B277B2C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37C0F-EB4E-04FE-AE90-EDDA42308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738BB-4900-A1BA-71FE-443B797ED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191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Regression &amp; 1D CNN Result Comparison with AEC, SMI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2026. 05. 08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Output</a:t>
            </a:r>
            <a:r>
              <a:rPr lang="ko-KR" altLang="en-US" dirty="0"/>
              <a:t>을 </a:t>
            </a:r>
            <a:r>
              <a:rPr lang="en-US" altLang="ko-KR" dirty="0"/>
              <a:t>TAMA</a:t>
            </a:r>
            <a:r>
              <a:rPr lang="ko-KR" altLang="en-US" dirty="0"/>
              <a:t>가 아닌 </a:t>
            </a:r>
            <a:r>
              <a:rPr lang="en-US" altLang="ko-KR" dirty="0"/>
              <a:t>SMI</a:t>
            </a:r>
            <a:r>
              <a:rPr lang="ko-KR" altLang="en-US" dirty="0"/>
              <a:t> 사용 </a:t>
            </a:r>
            <a:r>
              <a:rPr lang="en-US" altLang="ko-KR" dirty="0"/>
              <a:t>(SMI = 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단계가 불필요하게 세분화되어 있음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동일한 케이스로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47151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Case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1,373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373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514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859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764748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42.33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6.23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38.46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41.64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51.75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8.71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46.66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52.13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C3FBA42-D7D9-5A3C-5541-9B4BC6C71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63447"/>
              </p:ext>
            </p:extLst>
          </p:nvPr>
        </p:nvGraphicFramePr>
        <p:xfrm>
          <a:off x="609600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104.94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15.31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148.23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26.35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629F2-4908-FD07-E1E0-C2266A397493}"/>
              </a:ext>
            </a:extLst>
          </p:cNvPr>
          <p:cNvSpPr txBox="1"/>
          <p:nvPr/>
        </p:nvSpPr>
        <p:spPr>
          <a:xfrm>
            <a:off x="609600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TAMA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 </a:t>
            </a:r>
            <a:r>
              <a:rPr lang="ko-KR" altLang="en-US" dirty="0"/>
              <a:t>데이터 분포</a:t>
            </a:r>
            <a:endParaRPr lang="en-US" altLang="ko-KR" dirty="0"/>
          </a:p>
          <a:p>
            <a:r>
              <a:rPr lang="en-US" altLang="ko-KR" dirty="0"/>
              <a:t>TAMA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 데이터 수 </a:t>
            </a:r>
            <a:r>
              <a:rPr lang="en-US" altLang="ko-KR" dirty="0"/>
              <a:t>: 358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136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;</a:t>
            </a:r>
            <a:r>
              <a:rPr lang="ko-KR" altLang="en-US" dirty="0"/>
              <a:t> </a:t>
            </a:r>
            <a:r>
              <a:rPr lang="en-US" altLang="ko-KR" dirty="0"/>
              <a:t>222 / 859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344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129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215 / 859</a:t>
            </a:r>
          </a:p>
          <a:p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</a:t>
            </a:r>
            <a:r>
              <a:rPr lang="ko-KR" altLang="en-US" dirty="0"/>
              <a:t> 모두 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259 / 1,373</a:t>
            </a:r>
          </a:p>
          <a:p>
            <a:pPr lvl="1"/>
            <a:r>
              <a:rPr lang="en-US" altLang="ko-KR" dirty="0"/>
              <a:t>M : 101 / 514, F : 158 / 859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7C6EE-58B4-F1F0-2344-D36AF998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4" descr="01_linear_comparison.png">
            <a:extLst>
              <a:ext uri="{FF2B5EF4-FFF2-40B4-BE49-F238E27FC236}">
                <a16:creationId xmlns:a16="http://schemas.microsoft.com/office/drawing/2014/main" id="{CEDC65A8-D20F-AEF0-B684-24249C496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85" y="1429810"/>
            <a:ext cx="11519429" cy="478794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3EF9288-BD3F-C9F9-79AF-FDFB9D03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341EBA-B986-ED03-8AA3-2BCAD2C3B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8469F36-15EA-3E89-85E0-0E4897977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</a:t>
            </a:r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7380191-5B0A-F67B-068B-93536E5BBE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4153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89CA0-469F-E89A-D5B7-AAC38D572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02_logistic_comparison.png">
            <a:extLst>
              <a:ext uri="{FF2B5EF4-FFF2-40B4-BE49-F238E27FC236}">
                <a16:creationId xmlns:a16="http://schemas.microsoft.com/office/drawing/2014/main" id="{4441D831-696A-3603-B7AB-AAE769737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85" y="1177125"/>
            <a:ext cx="10722429" cy="51910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447F92A-1E00-ED9D-CB0B-75F85FA66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2E63-9B5A-D8A5-E4DF-DC1221EC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C1DC97E-CF7D-9BDA-8C5B-946FF37C7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</a:t>
            </a:r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8610668-6E2A-76B3-F9DC-3CA678BF1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6454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55A9-AEF9-D5A1-0490-5AC34E93F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B92B89-6849-A531-EF9C-6BFDE6A1A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35B9C-2FB8-F029-34B2-E08B03126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3E91B83-30D3-658C-E191-1A166813B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Linear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60EE0B1-F640-18A4-336A-6ABF1E596C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EE77655-1410-5A48-15CA-BEE969B14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722995"/>
              </p:ext>
            </p:extLst>
          </p:nvPr>
        </p:nvGraphicFramePr>
        <p:xfrm>
          <a:off x="508000" y="1593029"/>
          <a:ext cx="11176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537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R²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0.6481 ± 0.0331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16.908 ± 1.528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0.6750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17.629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BMI (3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-0.0146 ± 0.0910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28.657 ± 1.929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30.594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rgbClr val="1A1A2E"/>
                          </a:solidFill>
                        </a:rPr>
                        <a:t>aec1 ~ aec256 (256</a:t>
                      </a:r>
                      <a:r>
                        <a:rPr lang="ko-KR" altLang="en-US" sz="1200" b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-0.5312 ± 0.8611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33.873 ± 9.896</a:t>
                      </a:r>
                      <a:endParaRPr lang="en-US" altLang="ko-KR"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0.2098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27.488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rgbClr val="1A1A2E"/>
                          </a:solidFill>
                        </a:rPr>
                        <a:t>signal_length ~ wavelet_energy_ratio_D1 (65</a:t>
                      </a:r>
                      <a:r>
                        <a:rPr lang="ko-KR" altLang="en-US" sz="1200" b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0.0644 ± 0.0724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27.522 ± 1.582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0.0617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29.955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선택 피처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(|r|&lt;0.8, VIF&lt;10.0) — Train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기준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14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endParaRPr lang="en-US" altLang="ko-KR"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0.6486 ± 0.0316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16.900 ± 1.535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0.6765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17.587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, BMI (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 + 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선택 피처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" name="Picture 5" descr="Linear_Actual_vs_Predicted.png">
            <a:extLst>
              <a:ext uri="{FF2B5EF4-FFF2-40B4-BE49-F238E27FC236}">
                <a16:creationId xmlns:a16="http://schemas.microsoft.com/office/drawing/2014/main" id="{3AF685D4-1A17-0D45-8C6F-AD7D49CAB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02" y="4401551"/>
            <a:ext cx="2017442" cy="1990543"/>
          </a:xfrm>
          <a:prstGeom prst="rect">
            <a:avLst/>
          </a:prstGeom>
        </p:spPr>
      </p:pic>
      <p:pic>
        <p:nvPicPr>
          <p:cNvPr id="9" name="Picture 7" descr="Linear_Actual_vs_Predicted.png">
            <a:extLst>
              <a:ext uri="{FF2B5EF4-FFF2-40B4-BE49-F238E27FC236}">
                <a16:creationId xmlns:a16="http://schemas.microsoft.com/office/drawing/2014/main" id="{6B93E075-8C6E-C11F-EF68-CC4396AB3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966" y="4401551"/>
            <a:ext cx="2017442" cy="1990543"/>
          </a:xfrm>
          <a:prstGeom prst="rect">
            <a:avLst/>
          </a:prstGeom>
        </p:spPr>
      </p:pic>
      <p:pic>
        <p:nvPicPr>
          <p:cNvPr id="10" name="Picture 9" descr="Linear_Actual_vs_Predicted.png">
            <a:extLst>
              <a:ext uri="{FF2B5EF4-FFF2-40B4-BE49-F238E27FC236}">
                <a16:creationId xmlns:a16="http://schemas.microsoft.com/office/drawing/2014/main" id="{E894E3C4-4042-9928-1B20-445E230075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830" y="4401551"/>
            <a:ext cx="2017442" cy="1990543"/>
          </a:xfrm>
          <a:prstGeom prst="rect">
            <a:avLst/>
          </a:prstGeom>
        </p:spPr>
      </p:pic>
      <p:pic>
        <p:nvPicPr>
          <p:cNvPr id="13" name="Picture 11" descr="Linear_Actual_vs_Predicted.png">
            <a:extLst>
              <a:ext uri="{FF2B5EF4-FFF2-40B4-BE49-F238E27FC236}">
                <a16:creationId xmlns:a16="http://schemas.microsoft.com/office/drawing/2014/main" id="{DBA427B3-BAEB-8D46-5C9E-EC4DE218A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5694" y="4401551"/>
            <a:ext cx="2017442" cy="1990543"/>
          </a:xfrm>
          <a:prstGeom prst="rect">
            <a:avLst/>
          </a:prstGeom>
        </p:spPr>
      </p:pic>
      <p:pic>
        <p:nvPicPr>
          <p:cNvPr id="14" name="Picture 13" descr="Linear_Actual_vs_Predicted.png">
            <a:extLst>
              <a:ext uri="{FF2B5EF4-FFF2-40B4-BE49-F238E27FC236}">
                <a16:creationId xmlns:a16="http://schemas.microsoft.com/office/drawing/2014/main" id="{DABB14AB-0373-0857-CF2B-ECCC2CE84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6558" y="4401551"/>
            <a:ext cx="2017442" cy="19905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4ED29CD-6879-F5C6-0552-3F46B5050CB9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D5167D-DDBD-3545-BC66-E4A9091B4FBA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77F2B-CCA4-9DEC-A4CE-4EBB2FCF9772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C307C8-D87A-F21E-FCBB-AB57B7F1EE91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BAEA81-8657-DAEE-2D0A-ED0A816E6836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0527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437B8-D304-3F37-ECC8-91CEAA9E2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2F519A-89EC-D24B-BF89-601C6A64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24C7-782F-C85C-D2BE-35FDB247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91EBCEC-F22B-4B58-515C-21361C4BC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CA118A0-D9C1-4654-4F13-12E5F1879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7BEA7EAE-C8CF-4AE8-2731-E1240556A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619981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0.7230 ± 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0.7514 ± 0.0192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0.7869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0.5658 ± 0.0378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0.6440 ± 0.0336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0.5855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0.6327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0.4633 ± 0.0285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0.7395 ± 0.0017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0.5046 ± 0.0593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0.7350 ± 0.0066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0.6388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0.7147 ± 0.0239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0.7505 ± 0.0184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81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57DDC-7AF2-1C2E-8468-599F277C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DDD744-A3F7-BAC5-A0BE-FCF123F3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FC0-D2F8-B8F7-40EC-BD302321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AB5D61-8BB8-9B53-4DA8-0967774CB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15526C8-8754-AB6C-B149-FB0133C27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8" name="Picture 5" descr="Logistic_Confusion_Matrix.png">
            <a:extLst>
              <a:ext uri="{FF2B5EF4-FFF2-40B4-BE49-F238E27FC236}">
                <a16:creationId xmlns:a16="http://schemas.microsoft.com/office/drawing/2014/main" id="{3466445B-BF67-7A72-6AE5-4CFACCC37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456486"/>
            <a:ext cx="2286000" cy="1926900"/>
          </a:xfrm>
          <a:prstGeom prst="rect">
            <a:avLst/>
          </a:prstGeom>
        </p:spPr>
      </p:pic>
      <p:pic>
        <p:nvPicPr>
          <p:cNvPr id="9" name="Picture 7" descr="Logistic_Confusion_Matrix.png">
            <a:extLst>
              <a:ext uri="{FF2B5EF4-FFF2-40B4-BE49-F238E27FC236}">
                <a16:creationId xmlns:a16="http://schemas.microsoft.com/office/drawing/2014/main" id="{79179891-2E61-49F1-EEB8-186A9BF05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4456486"/>
            <a:ext cx="2286000" cy="1926900"/>
          </a:xfrm>
          <a:prstGeom prst="rect">
            <a:avLst/>
          </a:prstGeom>
        </p:spPr>
      </p:pic>
      <p:pic>
        <p:nvPicPr>
          <p:cNvPr id="10" name="Picture 9" descr="Logistic_Confusion_Matrix.png">
            <a:extLst>
              <a:ext uri="{FF2B5EF4-FFF2-40B4-BE49-F238E27FC236}">
                <a16:creationId xmlns:a16="http://schemas.microsoft.com/office/drawing/2014/main" id="{388007AA-D539-F1E3-A394-ED29D8D04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4456486"/>
            <a:ext cx="2286000" cy="1926900"/>
          </a:xfrm>
          <a:prstGeom prst="rect">
            <a:avLst/>
          </a:prstGeom>
        </p:spPr>
      </p:pic>
      <p:pic>
        <p:nvPicPr>
          <p:cNvPr id="13" name="Picture 11" descr="Logistic_Confusion_Matrix.png">
            <a:extLst>
              <a:ext uri="{FF2B5EF4-FFF2-40B4-BE49-F238E27FC236}">
                <a16:creationId xmlns:a16="http://schemas.microsoft.com/office/drawing/2014/main" id="{AB37058F-2B44-674C-0248-FCCB62BD0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192" y="4456486"/>
            <a:ext cx="2286000" cy="1926900"/>
          </a:xfrm>
          <a:prstGeom prst="rect">
            <a:avLst/>
          </a:prstGeom>
        </p:spPr>
      </p:pic>
      <p:pic>
        <p:nvPicPr>
          <p:cNvPr id="14" name="Picture 13" descr="Logistic_Confusion_Matrix.png">
            <a:extLst>
              <a:ext uri="{FF2B5EF4-FFF2-40B4-BE49-F238E27FC236}">
                <a16:creationId xmlns:a16="http://schemas.microsoft.com/office/drawing/2014/main" id="{259D7B30-EF5A-3342-CA5D-C7BADD5CFE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456486"/>
            <a:ext cx="2286000" cy="19269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EF29082-97DA-AE78-788E-A681BCFEA75E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65C400-B302-F066-D311-42D6AAF3CF4D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75E536-BF7F-0983-F6D3-6318B8DA2BE3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57D5AE-B868-24C1-535C-B54B56B6CA65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94BBE2-5904-8877-07AE-75CA8671825B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ogistic_ROC_Curve.png">
            <a:extLst>
              <a:ext uri="{FF2B5EF4-FFF2-40B4-BE49-F238E27FC236}">
                <a16:creationId xmlns:a16="http://schemas.microsoft.com/office/drawing/2014/main" id="{178870CA-D935-E02E-2E47-ACE12D9110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765" y="1951501"/>
            <a:ext cx="2286000" cy="2015401"/>
          </a:xfrm>
          <a:prstGeom prst="rect">
            <a:avLst/>
          </a:prstGeom>
        </p:spPr>
      </p:pic>
      <p:pic>
        <p:nvPicPr>
          <p:cNvPr id="5" name="Picture 7" descr="Logistic_ROC_Curve.png">
            <a:extLst>
              <a:ext uri="{FF2B5EF4-FFF2-40B4-BE49-F238E27FC236}">
                <a16:creationId xmlns:a16="http://schemas.microsoft.com/office/drawing/2014/main" id="{8E5468FD-92A7-7A64-6B0D-0AF1B04DC1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4629" y="1951501"/>
            <a:ext cx="2286000" cy="2015401"/>
          </a:xfrm>
          <a:prstGeom prst="rect">
            <a:avLst/>
          </a:prstGeom>
        </p:spPr>
      </p:pic>
      <p:pic>
        <p:nvPicPr>
          <p:cNvPr id="12" name="Picture 9" descr="Logistic_ROC_Curve.png">
            <a:extLst>
              <a:ext uri="{FF2B5EF4-FFF2-40B4-BE49-F238E27FC236}">
                <a16:creationId xmlns:a16="http://schemas.microsoft.com/office/drawing/2014/main" id="{568A4CB9-A937-5C80-AD11-6F0E912D1E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5493" y="1951501"/>
            <a:ext cx="2286000" cy="2015401"/>
          </a:xfrm>
          <a:prstGeom prst="rect">
            <a:avLst/>
          </a:prstGeom>
        </p:spPr>
      </p:pic>
      <p:pic>
        <p:nvPicPr>
          <p:cNvPr id="15" name="Picture 11" descr="Logistic_ROC_Curve.png">
            <a:extLst>
              <a:ext uri="{FF2B5EF4-FFF2-40B4-BE49-F238E27FC236}">
                <a16:creationId xmlns:a16="http://schemas.microsoft.com/office/drawing/2014/main" id="{AB9FA218-B77F-D9C5-64DC-2BA2CB0BF9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16357" y="1951501"/>
            <a:ext cx="2286000" cy="2015401"/>
          </a:xfrm>
          <a:prstGeom prst="rect">
            <a:avLst/>
          </a:prstGeom>
        </p:spPr>
      </p:pic>
      <p:pic>
        <p:nvPicPr>
          <p:cNvPr id="16" name="Picture 13" descr="Logistic_ROC_Curve.png">
            <a:extLst>
              <a:ext uri="{FF2B5EF4-FFF2-40B4-BE49-F238E27FC236}">
                <a16:creationId xmlns:a16="http://schemas.microsoft.com/office/drawing/2014/main" id="{589D3366-EB65-76B9-6DAB-BC3412E288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57221" y="1951501"/>
            <a:ext cx="2286000" cy="20154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C7C1B14-A960-9BFE-40AE-2AF0CFCD5E32}"/>
              </a:ext>
            </a:extLst>
          </p:cNvPr>
          <p:cNvSpPr txBox="1"/>
          <p:nvPr/>
        </p:nvSpPr>
        <p:spPr>
          <a:xfrm>
            <a:off x="228600" y="174043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410777-D07F-53DF-5012-9D791DB6F5B3}"/>
              </a:ext>
            </a:extLst>
          </p:cNvPr>
          <p:cNvSpPr txBox="1"/>
          <p:nvPr/>
        </p:nvSpPr>
        <p:spPr>
          <a:xfrm>
            <a:off x="2569464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07F824-7227-5133-8205-62AFE3EDC0BA}"/>
              </a:ext>
            </a:extLst>
          </p:cNvPr>
          <p:cNvSpPr txBox="1"/>
          <p:nvPr/>
        </p:nvSpPr>
        <p:spPr>
          <a:xfrm>
            <a:off x="4910328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02D32B-D35E-7895-058F-A8D9F8837601}"/>
              </a:ext>
            </a:extLst>
          </p:cNvPr>
          <p:cNvSpPr txBox="1"/>
          <p:nvPr/>
        </p:nvSpPr>
        <p:spPr>
          <a:xfrm>
            <a:off x="7251192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DE719B-90C2-4EEF-F2C9-2576B3E8CB0C}"/>
              </a:ext>
            </a:extLst>
          </p:cNvPr>
          <p:cNvSpPr txBox="1"/>
          <p:nvPr/>
        </p:nvSpPr>
        <p:spPr>
          <a:xfrm>
            <a:off x="9592056" y="1740430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624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DC6F8-78B7-4214-48EA-FD7B6E1E4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592E6-43FA-64AC-A465-58574016F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30B337-9115-DC90-4FDE-256F8419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661E3F1-F5E3-DC86-7E13-74473ADFB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Linear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07FB28-C6D6-039F-219A-F865F60BE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1C6BA94-68BF-2F57-782B-CD950A1F3F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170491"/>
              </p:ext>
            </p:extLst>
          </p:nvPr>
        </p:nvGraphicFramePr>
        <p:xfrm>
          <a:off x="508000" y="1593029"/>
          <a:ext cx="11176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537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R²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0.4798 ± 0.0494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6.029 ± 0.404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0.4564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6.785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altLang="ko-KR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, BMI (3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-0.1359 ± 0.0736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8.924 ± 0.647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-0.0709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9.523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aec1 ~ aec256 (256개)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-0.3680 ± 0.7289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9.432 ± 2.286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0.1555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8.457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signal_length ~ wavelet_energy_ratio_D1 (65개)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0.0490 ± 0.0552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8.154 ± 0.338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0.0186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9.116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VIF&lt;10.0) — Train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14개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0.4792 ± 0.0484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6.034 ± 0.408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0.4573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6.779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51035E7-D285-3D09-A272-77EF4AC38819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92F39-A0D2-A5F2-F5DF-7303FDCC0234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5774F4-DA1E-043B-415D-A0546FF70CF8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6023CB-4BE6-0D96-B5CD-08899F2C35B4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FBAE32-DB33-F5AF-E99B-F384F0184FF1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inear_Actual_vs_Predicted.png">
            <a:extLst>
              <a:ext uri="{FF2B5EF4-FFF2-40B4-BE49-F238E27FC236}">
                <a16:creationId xmlns:a16="http://schemas.microsoft.com/office/drawing/2014/main" id="{A5B74571-732F-D2B5-BC97-D09E9E51A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16" y="4524111"/>
            <a:ext cx="2070463" cy="1778252"/>
          </a:xfrm>
          <a:prstGeom prst="rect">
            <a:avLst/>
          </a:prstGeom>
        </p:spPr>
      </p:pic>
      <p:pic>
        <p:nvPicPr>
          <p:cNvPr id="5" name="Picture 7" descr="Linear_Actual_vs_Predicted.png">
            <a:extLst>
              <a:ext uri="{FF2B5EF4-FFF2-40B4-BE49-F238E27FC236}">
                <a16:creationId xmlns:a16="http://schemas.microsoft.com/office/drawing/2014/main" id="{980C231D-21B7-036E-D277-344BA0C84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3080" y="4524111"/>
            <a:ext cx="2070463" cy="1778252"/>
          </a:xfrm>
          <a:prstGeom prst="rect">
            <a:avLst/>
          </a:prstGeom>
        </p:spPr>
      </p:pic>
      <p:pic>
        <p:nvPicPr>
          <p:cNvPr id="12" name="Picture 9" descr="Linear_Actual_vs_Predicted.png">
            <a:extLst>
              <a:ext uri="{FF2B5EF4-FFF2-40B4-BE49-F238E27FC236}">
                <a16:creationId xmlns:a16="http://schemas.microsoft.com/office/drawing/2014/main" id="{A3519C56-EEBE-8900-AF92-CAC5686784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944" y="4524111"/>
            <a:ext cx="2070463" cy="1778252"/>
          </a:xfrm>
          <a:prstGeom prst="rect">
            <a:avLst/>
          </a:prstGeom>
        </p:spPr>
      </p:pic>
      <p:pic>
        <p:nvPicPr>
          <p:cNvPr id="20" name="Picture 11" descr="Linear_Actual_vs_Predicted.png">
            <a:extLst>
              <a:ext uri="{FF2B5EF4-FFF2-40B4-BE49-F238E27FC236}">
                <a16:creationId xmlns:a16="http://schemas.microsoft.com/office/drawing/2014/main" id="{1C4618EE-79DD-678F-D18A-43FADF5A65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4808" y="4524111"/>
            <a:ext cx="2070463" cy="1778252"/>
          </a:xfrm>
          <a:prstGeom prst="rect">
            <a:avLst/>
          </a:prstGeom>
        </p:spPr>
      </p:pic>
      <p:pic>
        <p:nvPicPr>
          <p:cNvPr id="21" name="Picture 13" descr="Linear_Actual_vs_Predicted.png">
            <a:extLst>
              <a:ext uri="{FF2B5EF4-FFF2-40B4-BE49-F238E27FC236}">
                <a16:creationId xmlns:a16="http://schemas.microsoft.com/office/drawing/2014/main" id="{1F4A6B1E-1932-6FFA-4232-5DF60C2889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5672" y="4524111"/>
            <a:ext cx="2070463" cy="177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151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7031-F1C4-D446-514E-DB21B0C7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4C58D4-F8C6-3053-16E3-917FA913E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D18253-780A-2217-FF35-E8541E0C6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2F6F644-ECD5-E706-FA80-A92472DEA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6BF949B-19D5-9B6B-39E9-F7B34F88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E12A9498-8E94-072F-C454-716A4D3DD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564060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0.7434 ± 0.0339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0.7614 ± 0.0202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0.8400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0.5542 ± 0.0209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0.6557 ± 0.0109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0.5651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0.6509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0.5811 ± 0.0504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0.7441 ± 0.0065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0.6287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0.7527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 ± 0.0392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0.7459 ± 0.0015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0.5323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0.7491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0.7232 ± 0.0364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0.7623 ± 0.0191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0.8326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528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C66-C17B-CBE8-8C42-524F625DC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63FCE-92F6-A9EE-6378-14563FCF9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A44044-4C0C-118F-AD71-6444D2F2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791C851-C5AE-E210-84E9-AA64B3630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D5A132F-ECB7-1229-322A-0C26EEB0C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48385C-7583-65E6-0BF7-DB436F2D1717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2578C-8959-764C-2647-9943A2D7AE9B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B90C50-A289-29E6-B775-F18CB5ECCDE3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1C0E3C-C629-CC38-1F20-423C4B9C9A8B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7FCA3F-30F7-BAF7-AF0F-01A2BC24D514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ogistic_Confusion_Matrix.png">
            <a:extLst>
              <a:ext uri="{FF2B5EF4-FFF2-40B4-BE49-F238E27FC236}">
                <a16:creationId xmlns:a16="http://schemas.microsoft.com/office/drawing/2014/main" id="{C50BA9FB-A1CB-2411-C06D-05FC5E0D2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04" y="4466122"/>
            <a:ext cx="2086793" cy="1873720"/>
          </a:xfrm>
          <a:prstGeom prst="rect">
            <a:avLst/>
          </a:prstGeom>
        </p:spPr>
      </p:pic>
      <p:pic>
        <p:nvPicPr>
          <p:cNvPr id="5" name="Picture 7" descr="Logistic_Confusion_Matrix.png">
            <a:extLst>
              <a:ext uri="{FF2B5EF4-FFF2-40B4-BE49-F238E27FC236}">
                <a16:creationId xmlns:a16="http://schemas.microsoft.com/office/drawing/2014/main" id="{3F2FBD0E-D55E-1614-2465-7F9071C8C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068" y="4466122"/>
            <a:ext cx="2086793" cy="1873720"/>
          </a:xfrm>
          <a:prstGeom prst="rect">
            <a:avLst/>
          </a:prstGeom>
        </p:spPr>
      </p:pic>
      <p:pic>
        <p:nvPicPr>
          <p:cNvPr id="12" name="Picture 9" descr="Logistic_Confusion_Matrix.png">
            <a:extLst>
              <a:ext uri="{FF2B5EF4-FFF2-40B4-BE49-F238E27FC236}">
                <a16:creationId xmlns:a16="http://schemas.microsoft.com/office/drawing/2014/main" id="{09CD8E4D-1F2B-78FB-7E9D-DB914EC52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932" y="4466122"/>
            <a:ext cx="2086793" cy="1873720"/>
          </a:xfrm>
          <a:prstGeom prst="rect">
            <a:avLst/>
          </a:prstGeom>
        </p:spPr>
      </p:pic>
      <p:pic>
        <p:nvPicPr>
          <p:cNvPr id="15" name="Picture 11" descr="Logistic_Confusion_Matrix.png">
            <a:extLst>
              <a:ext uri="{FF2B5EF4-FFF2-40B4-BE49-F238E27FC236}">
                <a16:creationId xmlns:a16="http://schemas.microsoft.com/office/drawing/2014/main" id="{33126C9B-8348-A0AA-5616-F42FD71DB4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796" y="4466122"/>
            <a:ext cx="2086793" cy="1873720"/>
          </a:xfrm>
          <a:prstGeom prst="rect">
            <a:avLst/>
          </a:prstGeom>
        </p:spPr>
      </p:pic>
      <p:pic>
        <p:nvPicPr>
          <p:cNvPr id="16" name="Picture 13" descr="Logistic_Confusion_Matrix.png">
            <a:extLst>
              <a:ext uri="{FF2B5EF4-FFF2-40B4-BE49-F238E27FC236}">
                <a16:creationId xmlns:a16="http://schemas.microsoft.com/office/drawing/2014/main" id="{7B7E7965-7E34-BE6E-B07B-2A5C28536A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1660" y="4466122"/>
            <a:ext cx="2086793" cy="18737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89DD8C9-EF3D-D0BD-F179-30BE82EBBABF}"/>
              </a:ext>
            </a:extLst>
          </p:cNvPr>
          <p:cNvSpPr txBox="1"/>
          <p:nvPr/>
        </p:nvSpPr>
        <p:spPr>
          <a:xfrm>
            <a:off x="228600" y="163821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5A2673-95E0-CA9F-2F6C-14081D999917}"/>
              </a:ext>
            </a:extLst>
          </p:cNvPr>
          <p:cNvSpPr txBox="1"/>
          <p:nvPr/>
        </p:nvSpPr>
        <p:spPr>
          <a:xfrm>
            <a:off x="2569464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10F276-E24D-F0DB-4393-D43B6FBB8108}"/>
              </a:ext>
            </a:extLst>
          </p:cNvPr>
          <p:cNvSpPr txBox="1"/>
          <p:nvPr/>
        </p:nvSpPr>
        <p:spPr>
          <a:xfrm>
            <a:off x="4910328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15276D-0899-4258-9DD8-A707ED91A022}"/>
              </a:ext>
            </a:extLst>
          </p:cNvPr>
          <p:cNvSpPr txBox="1"/>
          <p:nvPr/>
        </p:nvSpPr>
        <p:spPr>
          <a:xfrm>
            <a:off x="7251192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DAD88E-7A55-8A86-48C6-25E7299B7A5D}"/>
              </a:ext>
            </a:extLst>
          </p:cNvPr>
          <p:cNvSpPr txBox="1"/>
          <p:nvPr/>
        </p:nvSpPr>
        <p:spPr>
          <a:xfrm>
            <a:off x="9592056" y="163821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8" name="Picture 5" descr="Logistic_ROC_Curve.png">
            <a:extLst>
              <a:ext uri="{FF2B5EF4-FFF2-40B4-BE49-F238E27FC236}">
                <a16:creationId xmlns:a16="http://schemas.microsoft.com/office/drawing/2014/main" id="{095BDBBA-32BE-CEE6-E40F-40F0E5F64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1894246"/>
            <a:ext cx="2286000" cy="1926900"/>
          </a:xfrm>
          <a:prstGeom prst="rect">
            <a:avLst/>
          </a:prstGeom>
        </p:spPr>
      </p:pic>
      <p:pic>
        <p:nvPicPr>
          <p:cNvPr id="9" name="Picture 7" descr="Logistic_ROC_Curve.png">
            <a:extLst>
              <a:ext uri="{FF2B5EF4-FFF2-40B4-BE49-F238E27FC236}">
                <a16:creationId xmlns:a16="http://schemas.microsoft.com/office/drawing/2014/main" id="{3525D3E9-43D4-97A3-ECDE-D61240B6B2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9464" y="1894246"/>
            <a:ext cx="2286000" cy="1926900"/>
          </a:xfrm>
          <a:prstGeom prst="rect">
            <a:avLst/>
          </a:prstGeom>
        </p:spPr>
      </p:pic>
      <p:pic>
        <p:nvPicPr>
          <p:cNvPr id="10" name="Picture 9" descr="Logistic_ROC_Curve.png">
            <a:extLst>
              <a:ext uri="{FF2B5EF4-FFF2-40B4-BE49-F238E27FC236}">
                <a16:creationId xmlns:a16="http://schemas.microsoft.com/office/drawing/2014/main" id="{55D7E0F9-84DF-88F3-BF67-13769DE6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0328" y="1894246"/>
            <a:ext cx="2286000" cy="1926900"/>
          </a:xfrm>
          <a:prstGeom prst="rect">
            <a:avLst/>
          </a:prstGeom>
        </p:spPr>
      </p:pic>
      <p:pic>
        <p:nvPicPr>
          <p:cNvPr id="13" name="Picture 11" descr="Logistic_ROC_Curve.png">
            <a:extLst>
              <a:ext uri="{FF2B5EF4-FFF2-40B4-BE49-F238E27FC236}">
                <a16:creationId xmlns:a16="http://schemas.microsoft.com/office/drawing/2014/main" id="{444EF664-8B46-000A-C8F3-8584ECBE78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51192" y="1894246"/>
            <a:ext cx="2286000" cy="1926900"/>
          </a:xfrm>
          <a:prstGeom prst="rect">
            <a:avLst/>
          </a:prstGeom>
        </p:spPr>
      </p:pic>
      <p:pic>
        <p:nvPicPr>
          <p:cNvPr id="14" name="Picture 13" descr="Logistic_ROC_Curve.png">
            <a:extLst>
              <a:ext uri="{FF2B5EF4-FFF2-40B4-BE49-F238E27FC236}">
                <a16:creationId xmlns:a16="http://schemas.microsoft.com/office/drawing/2014/main" id="{41550C50-3531-98C3-6DF8-EC886C1A1F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92056" y="1894246"/>
            <a:ext cx="2286000" cy="192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9171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131EA-24B6-EF7D-5618-AE9553A3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923900-9360-965D-388C-686374ED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F7F540-F6B1-E77D-48C7-53105662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993544B-EABD-2D41-E261-BE1C8730D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1D CNN(ResNet1D) Code Flow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1.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feature_selector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df_fold_tr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→ if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피처 선택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(fold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의 학습셋에만 의존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2. X shape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변환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(N, F) → (N, 1, F)  [1D Conv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입력 형식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]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3. ResNet1D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초기화 →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_fit()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호출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4.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best_state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복원 →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_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eval_epoch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검증셋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5. MAE, R²,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성별별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ACC/AUC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계산 및 저장</a:t>
            </a:r>
          </a:p>
          <a:p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76CD353-18A9-E517-A94A-2D7488965D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1119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5729E-387A-EF7E-D063-F3715C912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EA0E1-359B-4568-18B9-1A56CBB23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C75D3-CB74-0485-2A59-9C1F452FC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C12FACD-FE6B-2300-4EC2-C8622A0B0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466891A-6374-5BF5-F7E2-310FD12B89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5F537FE8-F73A-3F57-95BC-140C7A500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632216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MAE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R²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MAE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R²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12.3331 ± 0.8795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0.6734 ± 0.0422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12.8148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0.7198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16.9969 ± 1.1511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0.3803 ± 0.0470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17.6174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0.3910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18.4973 ± 1.0157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0.2533 ± 0.0479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19.5603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0.2547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13.4161 ± 0.4913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0.6069 ± 0.0409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13.8909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0.6662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473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AC950-A61E-8B95-7D71-2861E43C9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CBFA4-2F7F-71EA-4025-FC0A140E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1C384-1641-1C2A-BC7D-9B77FA551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AFF31C2-D300-DEDF-7B02-37E283E15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4197CF8-2018-9B8A-C710-0F7FF78D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75D953B-A37F-65B3-23A2-43B6AA360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74616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ACC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AUC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ACC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Test AUC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0.7604 ± 0.0250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0.6297 ± 0.0529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0.7636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0.6374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0.7067 ± 0.0186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0.6098 ± 0.0474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0.6945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0.5766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0.6994 ± 0.0347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0.6129 ± 0.0351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0.6909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0.5751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0.7559 ± 0.0343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0.6060 ± 0.0255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0.7709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0.6293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2">
            <a:extLst>
              <a:ext uri="{FF2B5EF4-FFF2-40B4-BE49-F238E27FC236}">
                <a16:creationId xmlns:a16="http://schemas.microsoft.com/office/drawing/2014/main" id="{5D63D525-4F84-086F-CBC5-17E9F52CB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542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919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39C01-6E36-CB84-AEF0-6EB8E8A9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B9EC6-DC4A-535D-B54C-C7BA7FF3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36689D-0F0E-0F65-E098-78BE38991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0D8C56-9956-F255-3BF3-CDE614A26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DBB61B4-3B45-430A-90B6-20E830E468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230522D4-F730-C2DF-7B31-6533991072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545222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MAE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R²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MAE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R²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4.3631 ± 0.1774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0.5150 ± 0.0402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4.6291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0.4953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5.3853 ± 0.2697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0.2936 ± 0.0450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5.7357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0.2965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6.0599 ± 0.1140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0.1331 ± 0.0225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6.1585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0.1605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4.9570 ± 0.2059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0.3705 ± 0.0611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5.6656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0.2995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0714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A301-2866-2355-3DB3-430EC08CA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D3F812-8CCE-3F6E-A91C-7A9654A2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5ECC2A-CD14-1640-2039-5B93C89F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97BBC83-8ACB-F712-8AAF-630CA4052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ResNet1D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2559A6C-3809-0D38-4EED-6EAC37029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55967FE6-596A-FCEA-40B8-13B95466C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577417"/>
              </p:ext>
            </p:extLst>
          </p:nvPr>
        </p:nvGraphicFramePr>
        <p:xfrm>
          <a:off x="798286" y="1611264"/>
          <a:ext cx="10595427" cy="2106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ACC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CV AUC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(mean ± std)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>
                          <a:effectLst/>
                        </a:rPr>
                        <a:t>Test ACC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Test AUC</a:t>
                      </a:r>
                    </a:p>
                  </a:txBody>
                  <a:tcPr marL="95250" marR="95250" marT="47625" marB="47625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0.7659 ± 0.0150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0.6900 ± 0.0370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0.7527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0.6715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0.7241 ± 0.0249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0.6563 ± 0.0342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0.7345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0.6107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0.6813 ± 0.0368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0.5861 ± 0.0440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0.6873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0.5574</a:t>
                      </a:r>
                    </a:p>
                  </a:txBody>
                  <a:tcPr marL="95250" marR="95250" marT="47625" marB="476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0.7368 ± 0.0181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0.6837 ± 0.0546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>
                          <a:effectLst/>
                        </a:rPr>
                        <a:t>0.7382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0.7283</a:t>
                      </a: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ctangle 2">
            <a:extLst>
              <a:ext uri="{FF2B5EF4-FFF2-40B4-BE49-F238E27FC236}">
                <a16:creationId xmlns:a16="http://schemas.microsoft.com/office/drawing/2014/main" id="{8BB78FD6-00DB-7E3B-1A57-0866DBE47F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542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364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48490-454B-4153-980F-A0DE9031C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E195D89-C504-7EAB-B193-44C039D9E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30854B9-7EE7-9B00-26D9-3787C761A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337061-D320-8FFA-1C24-8500B9B83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6FCB7F7-D9BB-CC69-6BC9-56C7B050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Only Clinic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D9B1008-B957-C14E-D16E-115D72A163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8111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BE03B-129A-FA7F-BA74-AB80876D1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FE274-7FEF-8686-DE57-00CACD63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61BCEB-0A12-06C4-4515-6124BE7E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F83C31-E129-BB53-9CEA-B79009D8C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E1ECDC0-DDC8-EF98-DB3F-FA65B5752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 raw data 256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4904DE3-058A-1927-6548-9FC6F4137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584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5C9D-880F-D659-4847-987A5A4CA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07D80050-95FC-DF20-162A-E32B7080C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DC6935A-1E40-6F64-B20E-6B6FA8656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610ED-D2B7-E024-0D6F-1CC59DB9F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002283A-CE11-0726-0325-4D7178BBB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 Feature Selection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FCA7FC9-FDA7-4276-9586-C883AADBE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9086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DEE5-6CFB-790C-F159-E4154663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BF9CDBB-B12A-480E-F023-945CD0239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987461"/>
            <a:ext cx="10080000" cy="5251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0CE6D6D-875E-D417-B22D-46DA3AA7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52BB25-697A-1D1D-1360-F75291935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3BAB8FB-2837-2974-D9F3-832BCDB15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+ AEC Features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29F560F-E0E2-960E-3234-D56DE7BA1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1045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&amp; Logistic Regression </a:t>
            </a:r>
            <a:r>
              <a:rPr lang="ko-KR" altLang="en-US" dirty="0"/>
              <a:t>성능 비교 결과는 </a:t>
            </a:r>
            <a:r>
              <a:rPr lang="en-US" altLang="ko-KR" dirty="0"/>
              <a:t>AEC Feature</a:t>
            </a:r>
            <a:r>
              <a:rPr lang="ko-KR" altLang="en-US" dirty="0"/>
              <a:t>의 유무에 따른 성능 차이 없음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Test Dataset AUC </a:t>
            </a:r>
            <a:r>
              <a:rPr lang="ko-KR" altLang="en-US" dirty="0"/>
              <a:t>기준 </a:t>
            </a:r>
            <a:r>
              <a:rPr lang="en-US" altLang="ko-KR" dirty="0"/>
              <a:t>0.8400 </a:t>
            </a:r>
            <a:r>
              <a:rPr lang="ko-KR" altLang="en-US" dirty="0"/>
              <a:t>→ </a:t>
            </a:r>
            <a:r>
              <a:rPr lang="en-US" altLang="ko-KR" dirty="0"/>
              <a:t>0.8326 </a:t>
            </a:r>
            <a:r>
              <a:rPr lang="ko-KR" altLang="en-US" dirty="0"/>
              <a:t>로 </a:t>
            </a:r>
            <a:r>
              <a:rPr lang="el-GR" altLang="ko-KR" dirty="0"/>
              <a:t>Δ</a:t>
            </a:r>
            <a:r>
              <a:rPr lang="en-US" altLang="ko-KR" dirty="0"/>
              <a:t>AUC = -0.0074</a:t>
            </a:r>
          </a:p>
          <a:p>
            <a:r>
              <a:rPr lang="en-US" altLang="ko-KR" dirty="0"/>
              <a:t>1D CNN</a:t>
            </a:r>
            <a:r>
              <a:rPr lang="ko-KR" altLang="en-US" dirty="0"/>
              <a:t>에서의 성능 비교 결과는 </a:t>
            </a:r>
            <a:r>
              <a:rPr lang="en-US" altLang="ko-KR" dirty="0"/>
              <a:t>AEC Feature</a:t>
            </a:r>
            <a:r>
              <a:rPr lang="ko-KR" altLang="en-US" dirty="0"/>
              <a:t>의 유무에 따른 성능 차이 나타남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Test Dataset AUC </a:t>
            </a:r>
            <a:r>
              <a:rPr lang="ko-KR" altLang="en-US" dirty="0"/>
              <a:t>기준 </a:t>
            </a:r>
            <a:r>
              <a:rPr lang="en-US" altLang="ko-KR" dirty="0"/>
              <a:t>0.671 </a:t>
            </a:r>
            <a:r>
              <a:rPr lang="ko-KR" altLang="en-US" dirty="0"/>
              <a:t>→ </a:t>
            </a:r>
            <a:r>
              <a:rPr lang="en-US" altLang="ko-KR" dirty="0"/>
              <a:t>0.728 </a:t>
            </a:r>
            <a:r>
              <a:rPr lang="ko-KR" altLang="en-US" dirty="0"/>
              <a:t>로 </a:t>
            </a:r>
            <a:r>
              <a:rPr lang="el-GR" altLang="ko-KR" dirty="0"/>
              <a:t>Δ</a:t>
            </a:r>
            <a:r>
              <a:rPr lang="en-US" altLang="ko-KR" dirty="0"/>
              <a:t>AUC = </a:t>
            </a:r>
            <a:r>
              <a:rPr lang="en-US" altLang="ko-KR"/>
              <a:t>+0.057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77532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5EEC-2CEC-6365-9E7D-50563D5E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01FE3-122C-A217-8711-BE44765E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1D CNN</a:t>
            </a:r>
            <a:r>
              <a:rPr lang="ko-KR" altLang="en-US" dirty="0"/>
              <a:t>에 대한 알고리즘 최적화 진행</a:t>
            </a:r>
            <a:endParaRPr lang="en-US" altLang="ko-KR" dirty="0"/>
          </a:p>
          <a:p>
            <a:r>
              <a:rPr lang="en-US" altLang="ko-KR" dirty="0"/>
              <a:t>Sensitivity analysis </a:t>
            </a:r>
            <a:r>
              <a:rPr lang="ko-KR" altLang="en-US" dirty="0"/>
              <a:t>다음 분석 추가진행</a:t>
            </a:r>
            <a:endParaRPr lang="en-US" altLang="ko-KR" dirty="0"/>
          </a:p>
          <a:p>
            <a:pPr lvl="1"/>
            <a:r>
              <a:rPr lang="en-US" altLang="ko-KR" dirty="0"/>
              <a:t>full curve 0–100%, central 80% crop, central 60% crop</a:t>
            </a:r>
          </a:p>
          <a:p>
            <a:pPr lvl="1"/>
            <a:r>
              <a:rPr lang="en-US" altLang="ko-KR" dirty="0"/>
              <a:t>raw AEC curve, within-curve normalized AEC curve</a:t>
            </a:r>
          </a:p>
          <a:p>
            <a:pPr lvl="1"/>
            <a:r>
              <a:rPr lang="en-US" altLang="ko-KR" dirty="0"/>
              <a:t>scan length extreme case </a:t>
            </a:r>
            <a:r>
              <a:rPr lang="ko-KR" altLang="en-US" dirty="0"/>
              <a:t>제외 </a:t>
            </a:r>
            <a:endParaRPr lang="en-US" altLang="ko-KR" dirty="0"/>
          </a:p>
          <a:p>
            <a:r>
              <a:rPr lang="ko-KR" altLang="en-US" dirty="0"/>
              <a:t>강남 데이터에서 성능확인 후 외부</a:t>
            </a:r>
            <a:r>
              <a:rPr lang="en-US" altLang="ko-KR" dirty="0"/>
              <a:t>(</a:t>
            </a:r>
            <a:r>
              <a:rPr lang="ko-KR" altLang="en-US" dirty="0"/>
              <a:t>신촌</a:t>
            </a:r>
            <a:r>
              <a:rPr lang="en-US" altLang="ko-KR" dirty="0"/>
              <a:t>) </a:t>
            </a:r>
            <a:r>
              <a:rPr lang="ko-KR" altLang="en-US" dirty="0"/>
              <a:t>데이터로 </a:t>
            </a:r>
            <a:r>
              <a:rPr lang="en-US" altLang="ko-KR" dirty="0"/>
              <a:t>validation </a:t>
            </a:r>
            <a:r>
              <a:rPr lang="ko-KR" altLang="en-US" dirty="0"/>
              <a:t>진행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ABBE78-02FA-72F3-4C99-5DF66B43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AE87C-2C19-EF69-E4B0-C48A4BD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37105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1656</TotalTime>
  <Words>2081</Words>
  <Application>Microsoft Office PowerPoint</Application>
  <PresentationFormat>와이드스크린</PresentationFormat>
  <Paragraphs>593</Paragraphs>
  <Slides>31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KoPub돋움체 Medium</vt:lpstr>
      <vt:lpstr>KoPub돋움체 Bold</vt:lpstr>
      <vt:lpstr>Arial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160</cp:revision>
  <dcterms:created xsi:type="dcterms:W3CDTF">2026-04-09T07:05:16Z</dcterms:created>
  <dcterms:modified xsi:type="dcterms:W3CDTF">2026-05-08T05:29:34Z</dcterms:modified>
</cp:coreProperties>
</file>