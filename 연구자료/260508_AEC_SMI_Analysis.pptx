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469" r:id="rId9"/>
    <p:sldId id="470" r:id="rId10"/>
    <p:sldId id="404" r:id="rId11"/>
    <p:sldId id="471" r:id="rId12"/>
    <p:sldId id="397" r:id="rId13"/>
    <p:sldId id="438" r:id="rId14"/>
    <p:sldId id="439" r:id="rId15"/>
    <p:sldId id="355" r:id="rId16"/>
    <p:sldId id="427" r:id="rId17"/>
    <p:sldId id="445" r:id="rId18"/>
    <p:sldId id="398" r:id="rId19"/>
    <p:sldId id="420" r:id="rId20"/>
    <p:sldId id="447" r:id="rId21"/>
    <p:sldId id="449" r:id="rId22"/>
    <p:sldId id="448" r:id="rId23"/>
    <p:sldId id="450" r:id="rId24"/>
    <p:sldId id="472" r:id="rId25"/>
    <p:sldId id="384" r:id="rId26"/>
    <p:sldId id="451" r:id="rId27"/>
    <p:sldId id="440" r:id="rId28"/>
    <p:sldId id="452" r:id="rId29"/>
    <p:sldId id="443" r:id="rId30"/>
    <p:sldId id="454" r:id="rId31"/>
    <p:sldId id="444" r:id="rId32"/>
    <p:sldId id="473" r:id="rId33"/>
    <p:sldId id="474" r:id="rId34"/>
    <p:sldId id="475" r:id="rId35"/>
    <p:sldId id="476" r:id="rId36"/>
    <p:sldId id="477" r:id="rId37"/>
    <p:sldId id="478" r:id="rId38"/>
    <p:sldId id="479" r:id="rId39"/>
  </p:sldIdLst>
  <p:sldSz cx="12192000" cy="6858000"/>
  <p:notesSz cx="6858000" cy="9144000"/>
  <p:embeddedFontLst>
    <p:embeddedFont>
      <p:font typeface="KoPub돋움체 Bold" panose="00000800000000000000" pitchFamily="2" charset="-127"/>
      <p:bold r:id="rId41"/>
    </p:embeddedFont>
    <p:embeddedFont>
      <p:font typeface="KoPub돋움체 Medium" panose="00000600000000000000" pitchFamily="2" charset="-127"/>
      <p:regular r:id="rId42"/>
    </p:embeddedFont>
    <p:embeddedFont>
      <p:font typeface="맑은 고딕" panose="020B0503020000020004" pitchFamily="50" charset="-127"/>
      <p:regular r:id="rId43"/>
      <p:bold r:id="rId4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469"/>
            <p14:sldId id="470"/>
            <p14:sldId id="404"/>
            <p14:sldId id="471"/>
            <p14:sldId id="397"/>
            <p14:sldId id="438"/>
            <p14:sldId id="439"/>
            <p14:sldId id="355"/>
            <p14:sldId id="427"/>
            <p14:sldId id="445"/>
            <p14:sldId id="398"/>
            <p14:sldId id="420"/>
            <p14:sldId id="447"/>
            <p14:sldId id="449"/>
            <p14:sldId id="448"/>
            <p14:sldId id="450"/>
            <p14:sldId id="472"/>
            <p14:sldId id="384"/>
            <p14:sldId id="451"/>
            <p14:sldId id="440"/>
            <p14:sldId id="452"/>
            <p14:sldId id="443"/>
            <p14:sldId id="454"/>
            <p14:sldId id="444"/>
            <p14:sldId id="473"/>
            <p14:sldId id="474"/>
            <p14:sldId id="475"/>
            <p14:sldId id="476"/>
            <p14:sldId id="477"/>
            <p14:sldId id="47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566F-2E6E-1FA1-19C9-7DF770D62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B90227-C94C-C1B8-0CEE-61B007ED7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060A00-4238-8358-3234-740712683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ACDF0-3A10-A885-EC0C-7D4698C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7792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489A-CEE8-338E-B78B-094157534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1F500A-8AB8-2AAC-71C0-B36548C15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6B2D-447F-9132-5DDA-6DF3CA1B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CD8D70-DAE0-6BF5-1824-C0307E002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737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C67F8-72DA-B326-74AD-797572C09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E5161-6F6F-DC8C-742E-C5E11F10D4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0E4F3F-782C-2F10-C77C-6E512AF67C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9B5FA-8F4C-4766-6132-6CDE376048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4641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368A7-1646-CF1F-5415-DD6CE9D82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42F370-8292-5BE4-2517-55FA009BC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938177-38A6-FE5B-4A1E-23734BEA0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6E119B-9F39-8258-3B9B-F003F7FD3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3491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A359B-97EC-4D36-5E79-FB9DEE58E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A6C30-D296-2007-585E-F618B9CF1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E7AD54-B6F2-70B1-6428-3889888C7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7A41A9-025F-0D2B-4CBD-4D41400DA3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094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45166-C522-8589-E1A1-AD5CE05C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EF26E2-04CA-B887-1416-A24C2B1793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3E9DF9-8950-68CB-A792-C7C59EA04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58DEF2-C7EF-F7AB-15B0-14F266DFAD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2324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642E8-CE03-E287-9576-D48A9BDF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77CAF0-0A76-D19F-ED5E-D35802F1D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C25CDE-52C3-1C4A-514A-680F1C8EE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7B3207-0BE6-145B-AD0C-575386460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5680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FDD7-AA58-5F6F-9CC5-A18A020BC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E5804B4-B77C-0B40-C5B6-095DF44BF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3E3A-17D0-8956-73AE-502B14E92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BFB56-7660-5CC6-CB9F-33ECFFE46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5842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4CF-A488-1A40-FF16-5335B765F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CBE108-63F1-CFE1-5721-B565D1360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A09878-90F5-F5AF-C1E2-ED3529168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ECD8FE-4D0D-F4EE-4A52-2674B332B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52285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925B6-41CB-98E4-2AC1-52B4E5C6E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1DC00-F825-D09F-ABCD-1DCB4F970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C6F590-3066-CF5E-62D8-9B3B04558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CCDA13-736E-DFB4-3223-311BCD6AE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233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23C6-C6C8-6B11-EAE7-58CB2FF10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C567CF-8004-EB95-4810-A2DB5A06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EDAAF5-83E1-05E5-3725-F98D653E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0FFC-D69A-EE19-8653-44A576203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46684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1976-4E2A-7F7F-F479-0EB7FF4BA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71E6ED-E4A9-20BA-818A-902939134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61057A-1D48-C718-61F9-5FF1DEB27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FBDC88-7493-1EBA-BEC0-93D54A384A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43961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10577-DB47-79F1-9479-70925EB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81F6F-CADB-E3BD-7E18-C3B806418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2C631D-5CB8-2E88-B26D-E5E7D9B5B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A2087-0BD9-4A20-38AB-A6AFF39C1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0564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5022-4F78-B966-23E9-132FCD2B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C4DDA7-C0D1-B9DD-CAD2-BBCBC6105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2304D-8E74-7290-85A3-77A016122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16B92F-CE5B-D82D-3CD9-8753410DD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4358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05F5D-354E-CD63-1548-1F7210328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EF4BDD-3CF4-C84B-6FDC-5AF7EC0AF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3C66C-FFEB-1489-45C1-8F52FDCFF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C26E63-C31F-FB01-8AA4-DA203578D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1951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3036-C637-7AE6-5E48-EBF6442B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6E23BD-3C69-7BFC-CB73-21AA89629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5D0B03-46D9-556D-9309-52DA23452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AE5D0B-599B-3427-5A5C-619F171CE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63376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  <a:p>
            <a:pPr lvl="1" latinLnBrk="0"/>
            <a:r>
              <a:rPr lang="en-US" altLang="ko-KR" dirty="0"/>
              <a:t>Case 1. only Clinic (Age, Sex, BMI)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2. only AEC-CNN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3. Clinic + AEC-CNN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4. Clinic + handcrafted AEC </a:t>
            </a:r>
            <a:endParaRPr lang="ko-KR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1,373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859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764748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42.33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6.23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38.46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41.64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51.75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8.71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46.66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52.13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C3FBA42-D7D9-5A3C-5541-9B4BC6C71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63447"/>
              </p:ext>
            </p:extLst>
          </p:nvPr>
        </p:nvGraphicFramePr>
        <p:xfrm>
          <a:off x="609600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104.94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15.31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148.23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26.35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분포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629F2-4908-FD07-E1E0-C2266A397493}"/>
              </a:ext>
            </a:extLst>
          </p:cNvPr>
          <p:cNvSpPr txBox="1"/>
          <p:nvPr/>
        </p:nvSpPr>
        <p:spPr>
          <a:xfrm>
            <a:off x="609600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TAMA </a:t>
            </a:r>
            <a:r>
              <a:rPr lang="ko-KR" altLang="en-US" dirty="0"/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 </a:t>
            </a:r>
            <a:r>
              <a:rPr lang="ko-KR" altLang="en-US" dirty="0"/>
              <a:t>데이터 분포</a:t>
            </a:r>
            <a:endParaRPr lang="en-US" altLang="ko-KR" dirty="0"/>
          </a:p>
          <a:p>
            <a:r>
              <a:rPr lang="en-US" altLang="ko-KR" dirty="0"/>
              <a:t>TAMA threshold(</a:t>
            </a:r>
            <a:r>
              <a:rPr lang="ko-KR" altLang="en-US" dirty="0"/>
              <a:t>하위 </a:t>
            </a:r>
            <a:r>
              <a:rPr lang="en-US" altLang="ko-KR" dirty="0"/>
              <a:t>25%)</a:t>
            </a:r>
            <a:r>
              <a:rPr lang="ko-KR" altLang="en-US" dirty="0"/>
              <a:t>인 데이터 수 </a:t>
            </a:r>
            <a:r>
              <a:rPr lang="en-US" altLang="ko-KR" dirty="0"/>
              <a:t>: 358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136/514,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;</a:t>
            </a:r>
            <a:r>
              <a:rPr lang="ko-KR" altLang="en-US" dirty="0"/>
              <a:t> </a:t>
            </a:r>
            <a:r>
              <a:rPr lang="en-US" altLang="ko-KR" dirty="0"/>
              <a:t>222/859</a:t>
            </a:r>
          </a:p>
          <a:p>
            <a:r>
              <a:rPr lang="en-US" altLang="ko-KR" dirty="0"/>
              <a:t>SMI threshold(M:50, F:38.5)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489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272/514,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217/859</a:t>
            </a:r>
          </a:p>
          <a:p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</a:t>
            </a:r>
            <a:r>
              <a:rPr lang="ko-KR" altLang="en-US" dirty="0"/>
              <a:t> 모두 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293 / 1,373</a:t>
            </a:r>
          </a:p>
          <a:p>
            <a:pPr lvl="1"/>
            <a:r>
              <a:rPr lang="en-US" altLang="ko-KR" dirty="0"/>
              <a:t>M : 133/514, F : 160/859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217734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수동 선택</a:t>
            </a:r>
            <a:endParaRPr lang="en-US" altLang="ko-KR" dirty="0"/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/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/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5BD2-87D5-C074-EAAD-D6924743B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9DBCB-83BA-7224-5DD3-7B3DC2639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B16D1B-6E8C-B89F-8724-DBEB8948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776DA4E4-00A3-E690-8224-10FF5B020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수동 선택</a:t>
            </a:r>
            <a:endParaRPr lang="en-US" altLang="ko-KR" b="1" dirty="0"/>
          </a:p>
          <a:p>
            <a:pPr lvl="1"/>
            <a:r>
              <a:rPr lang="ko-KR" altLang="en-US" dirty="0"/>
              <a:t>전체 </a:t>
            </a:r>
            <a:r>
              <a:rPr lang="en-US" altLang="ko-KR" dirty="0"/>
              <a:t>AEC Feature vs</a:t>
            </a:r>
            <a:r>
              <a:rPr lang="ko-KR" altLang="en-US" dirty="0"/>
              <a:t> </a:t>
            </a:r>
            <a:r>
              <a:rPr lang="en-US" altLang="ko-KR" dirty="0"/>
              <a:t>TAMA</a:t>
            </a:r>
            <a:r>
              <a:rPr lang="ko-KR" altLang="en-US" dirty="0"/>
              <a:t>를 통해 </a:t>
            </a:r>
            <a:r>
              <a:rPr lang="en-US" altLang="ko-KR" dirty="0"/>
              <a:t>Pearson/Spearman </a:t>
            </a:r>
            <a:r>
              <a:rPr lang="ko-KR" altLang="en-US" dirty="0"/>
              <a:t>상관계수 </a:t>
            </a:r>
            <a:r>
              <a:rPr lang="en-US" altLang="ko-KR" dirty="0"/>
              <a:t>+ VIF </a:t>
            </a:r>
            <a:r>
              <a:rPr lang="ko-KR" altLang="en-US" dirty="0"/>
              <a:t>계산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결과 확인 후 수동으로 </a:t>
            </a:r>
            <a:r>
              <a:rPr lang="en-US" altLang="ko-KR" dirty="0">
                <a:solidFill>
                  <a:srgbClr val="1A1A2E"/>
                </a:solidFill>
              </a:rPr>
              <a:t>feature </a:t>
            </a:r>
            <a:r>
              <a:rPr lang="ko-KR" altLang="en-US" dirty="0">
                <a:solidFill>
                  <a:srgbClr val="1A1A2E"/>
                </a:solidFill>
              </a:rPr>
              <a:t>선택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단일 병원</a:t>
            </a:r>
            <a:r>
              <a:rPr lang="en-US" altLang="ko-KR" dirty="0">
                <a:solidFill>
                  <a:srgbClr val="1A1A2E"/>
                </a:solidFill>
              </a:rPr>
              <a:t>(</a:t>
            </a:r>
            <a:r>
              <a:rPr lang="ko-KR" altLang="en-US" dirty="0">
                <a:solidFill>
                  <a:srgbClr val="1A1A2E"/>
                </a:solidFill>
              </a:rPr>
              <a:t>강남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  <a:r>
              <a:rPr lang="ko-KR" altLang="en-US" dirty="0">
                <a:solidFill>
                  <a:srgbClr val="1A1A2E"/>
                </a:solidFill>
              </a:rPr>
              <a:t>만 분석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선택 결과</a:t>
            </a:r>
            <a:r>
              <a:rPr lang="en-US" altLang="ko-KR" dirty="0">
                <a:solidFill>
                  <a:srgbClr val="1A1A2E"/>
                </a:solidFill>
              </a:rPr>
              <a:t>:  ['mean', 'CV', 'skewness', '</a:t>
            </a:r>
            <a:r>
              <a:rPr lang="en-US" altLang="ko-KR" dirty="0" err="1">
                <a:solidFill>
                  <a:srgbClr val="1A1A2E"/>
                </a:solidFill>
              </a:rPr>
              <a:t>slope_abs_mean</a:t>
            </a:r>
            <a:r>
              <a:rPr lang="en-US" altLang="ko-KR" dirty="0">
                <a:solidFill>
                  <a:srgbClr val="1A1A2E"/>
                </a:solidFill>
              </a:rPr>
              <a:t>']</a:t>
            </a:r>
            <a:endParaRPr lang="ko-KR" altLang="en-US" dirty="0">
              <a:solidFill>
                <a:srgbClr val="1A1A2E"/>
              </a:solidFill>
            </a:endParaRPr>
          </a:p>
          <a:p>
            <a:pPr lvl="1"/>
            <a:endParaRPr lang="en-US" altLang="ko-KR" dirty="0">
              <a:solidFill>
                <a:srgbClr val="1A1A2E"/>
              </a:solidFill>
            </a:endParaRP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99219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96C61-0560-DFF9-6385-475BEB734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내용 개체 틀 10">
            <a:extLst>
              <a:ext uri="{FF2B5EF4-FFF2-40B4-BE49-F238E27FC236}">
                <a16:creationId xmlns:a16="http://schemas.microsoft.com/office/drawing/2014/main" id="{50D0C90D-3828-BC8C-1164-95B6C1A3C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자동 선택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9859806-4F9B-C58F-568A-671515A8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8E39A-2CEC-3AE7-D3E9-EFF1EDC0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522D9CA-DB13-E8D4-A211-D139CF214D05}"/>
              </a:ext>
            </a:extLst>
          </p:cNvPr>
          <p:cNvSpPr/>
          <p:nvPr/>
        </p:nvSpPr>
        <p:spPr>
          <a:xfrm>
            <a:off x="563880" y="1696087"/>
            <a:ext cx="2103120" cy="998052"/>
          </a:xfrm>
          <a:prstGeom prst="rect">
            <a:avLst/>
          </a:prstGeom>
          <a:solidFill>
            <a:srgbClr val="1A55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9942EA-4551-BFB8-75A3-4436D8744A8E}"/>
              </a:ext>
            </a:extLst>
          </p:cNvPr>
          <p:cNvSpPr txBox="1"/>
          <p:nvPr/>
        </p:nvSpPr>
        <p:spPr>
          <a:xfrm>
            <a:off x="56388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KoPub돋움체 Bold"/>
              </a:rPr>
              <a:t>Step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F69552-3717-1F7A-BF20-B7A3EB3652C3}"/>
              </a:ext>
            </a:extLst>
          </p:cNvPr>
          <p:cNvSpPr txBox="1"/>
          <p:nvPr/>
        </p:nvSpPr>
        <p:spPr>
          <a:xfrm>
            <a:off x="56388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KoPub돋움체 Bold"/>
              </a:rPr>
              <a:t>Near-zero
Variance </a:t>
            </a:r>
            <a:r>
              <a:rPr sz="1400" b="1" i="0" dirty="0" err="1">
                <a:solidFill>
                  <a:srgbClr val="FFFFFF"/>
                </a:solidFill>
                <a:latin typeface="KoPub돋움체 Bold"/>
              </a:rPr>
              <a:t>제거</a:t>
            </a:r>
            <a:endParaRPr sz="1400" b="1" i="0" dirty="0">
              <a:solidFill>
                <a:srgbClr val="FFFFFF"/>
              </a:solidFill>
              <a:latin typeface="KoPub돋움체 Bold"/>
            </a:endParaRP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A6A389E8-DA0D-5668-B5B5-85D7D1CEDEA8}"/>
              </a:ext>
            </a:extLst>
          </p:cNvPr>
          <p:cNvSpPr/>
          <p:nvPr/>
        </p:nvSpPr>
        <p:spPr>
          <a:xfrm>
            <a:off x="2804160" y="1696087"/>
            <a:ext cx="2103120" cy="9980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2962E5-4BB8-F3AA-4C56-C1EE071FCC99}"/>
              </a:ext>
            </a:extLst>
          </p:cNvPr>
          <p:cNvSpPr txBox="1"/>
          <p:nvPr/>
        </p:nvSpPr>
        <p:spPr>
          <a:xfrm>
            <a:off x="280416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4608E4-FF89-612E-FBFF-3E77474EA99D}"/>
              </a:ext>
            </a:extLst>
          </p:cNvPr>
          <p:cNvSpPr txBox="1"/>
          <p:nvPr/>
        </p:nvSpPr>
        <p:spPr>
          <a:xfrm>
            <a:off x="280416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Pearson 상관
중복 제거</a:t>
            </a:r>
          </a:p>
        </p:txBody>
      </p:sp>
      <p:sp>
        <p:nvSpPr>
          <p:cNvPr id="15" name="Rectangle 11">
            <a:extLst>
              <a:ext uri="{FF2B5EF4-FFF2-40B4-BE49-F238E27FC236}">
                <a16:creationId xmlns:a16="http://schemas.microsoft.com/office/drawing/2014/main" id="{DF4BAE5E-2CB0-FB8A-D168-38B463ED8A67}"/>
              </a:ext>
            </a:extLst>
          </p:cNvPr>
          <p:cNvSpPr/>
          <p:nvPr/>
        </p:nvSpPr>
        <p:spPr>
          <a:xfrm>
            <a:off x="5044440" y="1696087"/>
            <a:ext cx="2103120" cy="998052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CEAC71-F314-BC54-8F8C-D932A0A0277F}"/>
              </a:ext>
            </a:extLst>
          </p:cNvPr>
          <p:cNvSpPr txBox="1"/>
          <p:nvPr/>
        </p:nvSpPr>
        <p:spPr>
          <a:xfrm>
            <a:off x="504444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49CD74-2B52-8E53-27B4-C9DFD7AB365E}"/>
              </a:ext>
            </a:extLst>
          </p:cNvPr>
          <p:cNvSpPr txBox="1"/>
          <p:nvPr/>
        </p:nvSpPr>
        <p:spPr>
          <a:xfrm>
            <a:off x="504444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단변량 필터
(OR 결합)</a:t>
            </a:r>
          </a:p>
        </p:txBody>
      </p:sp>
      <p:sp>
        <p:nvSpPr>
          <p:cNvPr id="19" name="Rectangle 15">
            <a:extLst>
              <a:ext uri="{FF2B5EF4-FFF2-40B4-BE49-F238E27FC236}">
                <a16:creationId xmlns:a16="http://schemas.microsoft.com/office/drawing/2014/main" id="{305ABC69-8443-3860-EBCE-B25C8E3514A1}"/>
              </a:ext>
            </a:extLst>
          </p:cNvPr>
          <p:cNvSpPr/>
          <p:nvPr/>
        </p:nvSpPr>
        <p:spPr>
          <a:xfrm>
            <a:off x="7284720" y="1696087"/>
            <a:ext cx="2103120" cy="998052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001893-4CFA-862E-C332-192491807659}"/>
              </a:ext>
            </a:extLst>
          </p:cNvPr>
          <p:cNvSpPr txBox="1"/>
          <p:nvPr/>
        </p:nvSpPr>
        <p:spPr>
          <a:xfrm>
            <a:off x="728472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Step 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0F5990-A1D7-FA1A-5DA8-53EC9153E62E}"/>
              </a:ext>
            </a:extLst>
          </p:cNvPr>
          <p:cNvSpPr txBox="1"/>
          <p:nvPr/>
        </p:nvSpPr>
        <p:spPr>
          <a:xfrm>
            <a:off x="728472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앙상블 투표
+ 완전/SFS 탐색</a:t>
            </a:r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206EECF2-3CF6-4F72-AA40-8064A0124F64}"/>
              </a:ext>
            </a:extLst>
          </p:cNvPr>
          <p:cNvSpPr/>
          <p:nvPr/>
        </p:nvSpPr>
        <p:spPr>
          <a:xfrm>
            <a:off x="9525000" y="1696087"/>
            <a:ext cx="2103120" cy="9980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666981-EE36-9701-8DA5-6383D6814977}"/>
              </a:ext>
            </a:extLst>
          </p:cNvPr>
          <p:cNvSpPr txBox="1"/>
          <p:nvPr/>
        </p:nvSpPr>
        <p:spPr>
          <a:xfrm>
            <a:off x="9525000" y="1769239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Final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B6F756-98CB-8643-D9A4-6764B17CB57E}"/>
              </a:ext>
            </a:extLst>
          </p:cNvPr>
          <p:cNvSpPr txBox="1"/>
          <p:nvPr/>
        </p:nvSpPr>
        <p:spPr>
          <a:xfrm>
            <a:off x="9525000" y="2061847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KoPub돋움체 Bold"/>
              </a:rPr>
              <a:t>VIF Pruning
(mean 고정)</a:t>
            </a: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FD91A08-AC4C-D477-F737-33C06636B116}"/>
              </a:ext>
            </a:extLst>
          </p:cNvPr>
          <p:cNvGrpSpPr/>
          <p:nvPr/>
        </p:nvGrpSpPr>
        <p:grpSpPr>
          <a:xfrm>
            <a:off x="563880" y="2758147"/>
            <a:ext cx="11064240" cy="461665"/>
            <a:chOff x="320040" y="2542032"/>
            <a:chExt cx="11064240" cy="461665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842D9D5-20CD-7538-6FE5-794AB94CC6A3}"/>
                </a:ext>
              </a:extLst>
            </p:cNvPr>
            <p:cNvSpPr txBox="1"/>
            <p:nvPr/>
          </p:nvSpPr>
          <p:spPr>
            <a:xfrm>
              <a:off x="32004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 err="1">
                  <a:latin typeface="KoPub돋움체 Medium"/>
                </a:rPr>
                <a:t>표준화</a:t>
              </a:r>
              <a:r>
                <a:rPr sz="1200" b="0" i="0" dirty="0">
                  <a:latin typeface="KoPub돋움체 Medium"/>
                </a:rPr>
                <a:t> 후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variance &lt; 0.01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5E6DE08-3482-EEB1-582C-86F481BD675A}"/>
                </a:ext>
              </a:extLst>
            </p:cNvPr>
            <p:cNvSpPr txBox="1"/>
            <p:nvPr/>
          </p:nvSpPr>
          <p:spPr>
            <a:xfrm>
              <a:off x="256032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|r| ≥ 0.95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후순위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C08F65-E1EB-9516-C682-68D803279986}"/>
                </a:ext>
              </a:extLst>
            </p:cNvPr>
            <p:cNvSpPr txBox="1"/>
            <p:nvPr/>
          </p:nvSpPr>
          <p:spPr>
            <a:xfrm>
              <a:off x="480060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MI &gt; 0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lang="ko-KR" altLang="en-US" sz="1200" b="0" i="0" dirty="0">
                  <a:latin typeface="KoPub돋움체 Medium"/>
                </a:rPr>
                <a:t>또는</a:t>
              </a:r>
              <a:r>
                <a:rPr sz="1200" b="0" i="0" dirty="0">
                  <a:latin typeface="KoPub돋움체 Medium"/>
                </a:rPr>
                <a:t> Spearman p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&lt;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>
                  <a:latin typeface="KoPub돋움체 Medium"/>
                </a:rPr>
                <a:t>0.05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59EBE51-E9ED-A4C8-5681-199515BD66E1}"/>
                </a:ext>
              </a:extLst>
            </p:cNvPr>
            <p:cNvSpPr txBox="1"/>
            <p:nvPr/>
          </p:nvSpPr>
          <p:spPr>
            <a:xfrm>
              <a:off x="7040880" y="2542032"/>
              <a:ext cx="2103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LASSO + RFECV</a:t>
              </a:r>
              <a:endParaRPr lang="en-US" sz="1200" dirty="0">
                <a:latin typeface="KoPub돋움체 Medium"/>
              </a:endParaRPr>
            </a:p>
            <a:p>
              <a:pPr algn="l"/>
              <a:r>
                <a:rPr sz="1200" b="0" i="0" dirty="0">
                  <a:latin typeface="KoPub돋움체 Medium"/>
                </a:rPr>
                <a:t>+ RF Permutation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CD71BF4-9679-B31C-EDFF-5919DF3BE15E}"/>
                </a:ext>
              </a:extLst>
            </p:cNvPr>
            <p:cNvSpPr txBox="1"/>
            <p:nvPr/>
          </p:nvSpPr>
          <p:spPr>
            <a:xfrm>
              <a:off x="9281160" y="2542032"/>
              <a:ext cx="21031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>
                  <a:latin typeface="KoPub돋움체 Medium"/>
                </a:rPr>
                <a:t>VIF &gt; 10</a:t>
              </a:r>
              <a:r>
                <a:rPr lang="en-US"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반복</a:t>
              </a:r>
              <a:r>
                <a:rPr sz="1200" b="0" i="0" dirty="0">
                  <a:latin typeface="KoPub돋움체 Medium"/>
                </a:rPr>
                <a:t> </a:t>
              </a:r>
              <a:r>
                <a:rPr sz="1200" b="0" i="0" dirty="0" err="1">
                  <a:latin typeface="KoPub돋움체 Medium"/>
                </a:rPr>
                <a:t>제거</a:t>
              </a:r>
              <a:endParaRPr sz="1200" b="0" i="0" dirty="0">
                <a:latin typeface="KoPub돋움체 Medium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8A39C34-6D03-D4B8-9D65-0DB57021CBF2}"/>
              </a:ext>
            </a:extLst>
          </p:cNvPr>
          <p:cNvSpPr txBox="1"/>
          <p:nvPr/>
        </p:nvSpPr>
        <p:spPr>
          <a:xfrm>
            <a:off x="6479967" y="3302596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최종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선택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BCF90-8287-49E7-403E-09E7AEEB9982}"/>
              </a:ext>
            </a:extLst>
          </p:cNvPr>
          <p:cNvSpPr txBox="1"/>
          <p:nvPr/>
        </p:nvSpPr>
        <p:spPr>
          <a:xfrm>
            <a:off x="320040" y="6014535"/>
            <a:ext cx="11363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7F27"/>
                </a:solidFill>
                <a:latin typeface="KoPub돋움체 Medium"/>
              </a:rPr>
              <a:t>* mean 피처는 AEC 신호 평균 진폭 = 해석 가능성 최우선 → 모든 최종 세트에 강제 포함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E5F45D-6041-A0EA-E652-8E74C4B7FB17}"/>
              </a:ext>
            </a:extLst>
          </p:cNvPr>
          <p:cNvSpPr txBox="1"/>
          <p:nvPr/>
        </p:nvSpPr>
        <p:spPr>
          <a:xfrm>
            <a:off x="563878" y="3302596"/>
            <a:ext cx="59160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latin typeface="KoPub돋움체 Bold"/>
              </a:rPr>
              <a:t>파이프라인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단계별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피처</a:t>
            </a:r>
            <a:r>
              <a:rPr sz="1600" b="1" i="0" dirty="0">
                <a:latin typeface="KoPub돋움체 Bold"/>
              </a:rPr>
              <a:t> 수 </a:t>
            </a:r>
            <a:r>
              <a:rPr sz="1600" b="1" i="0" dirty="0" err="1">
                <a:latin typeface="KoPub돋움체 Bold"/>
              </a:rPr>
              <a:t>변화</a:t>
            </a:r>
            <a:r>
              <a:rPr sz="1600" b="1" i="0" dirty="0">
                <a:latin typeface="KoPub돋움체 Bold"/>
              </a:rPr>
              <a:t> (</a:t>
            </a:r>
            <a:r>
              <a:rPr sz="1600" b="1" i="0" dirty="0" err="1">
                <a:latin typeface="KoPub돋움체 Bold"/>
              </a:rPr>
              <a:t>강남</a:t>
            </a:r>
            <a:r>
              <a:rPr sz="1600" b="1" i="0" dirty="0">
                <a:latin typeface="KoPub돋움체 Bold"/>
              </a:rPr>
              <a:t> </a:t>
            </a:r>
            <a:r>
              <a:rPr sz="1600" b="1" i="0" dirty="0" err="1">
                <a:latin typeface="KoPub돋움체 Bold"/>
              </a:rPr>
              <a:t>기준</a:t>
            </a:r>
            <a:r>
              <a:rPr sz="1600" b="1" i="0" dirty="0">
                <a:latin typeface="KoPub돋움체 Bold"/>
              </a:rPr>
              <a:t>)</a:t>
            </a:r>
          </a:p>
        </p:txBody>
      </p:sp>
      <p:graphicFrame>
        <p:nvGraphicFramePr>
          <p:cNvPr id="39" name="Table 6">
            <a:extLst>
              <a:ext uri="{FF2B5EF4-FFF2-40B4-BE49-F238E27FC236}">
                <a16:creationId xmlns:a16="http://schemas.microsoft.com/office/drawing/2014/main" id="{42FBA0F0-A196-6D6F-2EEE-67705DFC7194}"/>
              </a:ext>
            </a:extLst>
          </p:cNvPr>
          <p:cNvGraphicFramePr>
            <a:graphicFrameLocks noGrp="1"/>
          </p:cNvGraphicFramePr>
          <p:nvPr/>
        </p:nvGraphicFramePr>
        <p:xfrm>
          <a:off x="568151" y="3706842"/>
          <a:ext cx="4803454" cy="2160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11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단계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제거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수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잔여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1 - Near-zero var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65개 전체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2 - High correlation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45개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Step 3 - Union pass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43개 </a:t>
                      </a:r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후보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Step 4 - Best search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22개 풀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99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VIF pruning (VIF&gt;10)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최종</a:t>
                      </a:r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 9개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0" name="Table 6">
            <a:extLst>
              <a:ext uri="{FF2B5EF4-FFF2-40B4-BE49-F238E27FC236}">
                <a16:creationId xmlns:a16="http://schemas.microsoft.com/office/drawing/2014/main" id="{63449535-FBF9-C660-62B1-1B9385149142}"/>
              </a:ext>
            </a:extLst>
          </p:cNvPr>
          <p:cNvGraphicFramePr>
            <a:graphicFrameLocks noGrp="1"/>
          </p:cNvGraphicFramePr>
          <p:nvPr/>
        </p:nvGraphicFramePr>
        <p:xfrm>
          <a:off x="6479967" y="3706841"/>
          <a:ext cx="5028152" cy="1574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940">
                  <a:extLst>
                    <a:ext uri="{9D8B030D-6E8A-4147-A177-3AD203B41FA5}">
                      <a16:colId xmlns:a16="http://schemas.microsoft.com/office/drawing/2014/main" val="3663847924"/>
                    </a:ext>
                  </a:extLst>
                </a:gridCol>
                <a:gridCol w="1137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4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Selected Features</a:t>
                      </a:r>
                      <a:endParaRPr sz="1100" b="1" dirty="0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Pipeline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Prev R²</a:t>
                      </a:r>
                      <a:endParaRPr sz="1100" b="1">
                        <a:solidFill>
                          <a:srgbClr val="FFFFFF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A1A2E"/>
                          </a:solidFill>
                        </a:rPr>
                        <a:t>강남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9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0.1818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0.1768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13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0.0775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0.0305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9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병합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11</a:t>
                      </a:r>
                      <a:endParaRPr sz="1100" b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0.0881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A1A2E"/>
                          </a:solidFill>
                        </a:rPr>
                        <a:t>0.0965</a:t>
                      </a:r>
                      <a:endParaRPr sz="11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059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151481C9-9D84-912C-1C87-DD8B1F5AD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863437"/>
          </a:xfrm>
          <a:prstGeom prst="rect">
            <a:avLst/>
          </a:prstGeom>
        </p:spPr>
      </p:pic>
      <p:pic>
        <p:nvPicPr>
          <p:cNvPr id="6" name="Picture 4" descr="05_final_features_summary.png">
            <a:extLst>
              <a:ext uri="{FF2B5EF4-FFF2-40B4-BE49-F238E27FC236}">
                <a16:creationId xmlns:a16="http://schemas.microsoft.com/office/drawing/2014/main" id="{E1D79CFF-0E3C-0AB0-818C-4B26ABBF9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86343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pic>
        <p:nvPicPr>
          <p:cNvPr id="3" name="Picture 3" descr="01_correlation_heatmap.png">
            <a:extLst>
              <a:ext uri="{FF2B5EF4-FFF2-40B4-BE49-F238E27FC236}">
                <a16:creationId xmlns:a16="http://schemas.microsoft.com/office/drawing/2014/main" id="{0F09D61F-4575-4AA0-4EC0-F4ADA2B85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54236"/>
            <a:ext cx="5669280" cy="4906979"/>
          </a:xfrm>
          <a:prstGeom prst="rect">
            <a:avLst/>
          </a:prstGeom>
        </p:spPr>
      </p:pic>
      <p:pic>
        <p:nvPicPr>
          <p:cNvPr id="5" name="Picture 4" descr="05_final_features_summary.png">
            <a:extLst>
              <a:ext uri="{FF2B5EF4-FFF2-40B4-BE49-F238E27FC236}">
                <a16:creationId xmlns:a16="http://schemas.microsoft.com/office/drawing/2014/main" id="{69FA6F37-7768-C4BF-D5F4-6B224F40B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54236"/>
            <a:ext cx="5760720" cy="490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0AF5-5AD4-970A-6032-9A77087E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9E4D-9258-E9D9-61B0-7DF9AA00D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E9BAC8-C865-9E76-78F1-E5167BA5D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5397248-C9F4-C827-E41B-B2FA3EF82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– </a:t>
            </a:r>
            <a:r>
              <a:rPr lang="ko-KR" altLang="en-US" dirty="0"/>
              <a:t>자동 선택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FF409B6C-1299-8DA2-3803-D731263E40B2}"/>
              </a:ext>
            </a:extLst>
          </p:cNvPr>
          <p:cNvGraphicFramePr>
            <a:graphicFrameLocks noGrp="1"/>
          </p:cNvGraphicFramePr>
          <p:nvPr/>
        </p:nvGraphicFramePr>
        <p:xfrm>
          <a:off x="1149945" y="4113064"/>
          <a:ext cx="9892110" cy="1960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0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51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9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데이터셋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선택된 피처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5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강남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IQR,</a:t>
                      </a:r>
                      <a:r>
                        <a:rPr lang="en-US" altLang="ko-KR" sz="1200" dirty="0">
                          <a:effectLst/>
                        </a:rPr>
                        <a:t> mean,</a:t>
                      </a:r>
                      <a:r>
                        <a:rPr lang="en-US" sz="1200" dirty="0">
                          <a:effectLst/>
                        </a:rPr>
                        <a:t> band2_energy, </a:t>
                      </a:r>
                      <a:r>
                        <a:rPr lang="en-US" sz="1200" dirty="0" err="1">
                          <a:effectLst/>
                        </a:rPr>
                        <a:t>dominant_freq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slope_max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spectral_energy</a:t>
                      </a:r>
                      <a:r>
                        <a:rPr lang="en-US" sz="1200" dirty="0">
                          <a:effectLst/>
                        </a:rPr>
                        <a:t>, wavelet_cD1_energy, wavelet_cD2_energy, wavelet_energy_ratio_D1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신촌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IQR, mean, </a:t>
                      </a:r>
                      <a:r>
                        <a:rPr lang="en-US" sz="1200" dirty="0" err="1">
                          <a:effectLst/>
                        </a:rPr>
                        <a:t>peak_count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peak_max_width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peak_mean_width</a:t>
                      </a:r>
                      <a:r>
                        <a:rPr lang="en-US" sz="1200" dirty="0">
                          <a:effectLst/>
                        </a:rPr>
                        <a:t>, skewness, </a:t>
                      </a:r>
                      <a:r>
                        <a:rPr lang="en-US" sz="1200" dirty="0" err="1">
                          <a:effectLst/>
                        </a:rPr>
                        <a:t>slope_mean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slope_min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spectral_centroid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spectral_energy</a:t>
                      </a:r>
                      <a:r>
                        <a:rPr lang="en-US" sz="1200" dirty="0">
                          <a:effectLst/>
                        </a:rPr>
                        <a:t>, wavelet_cD2_std, wavelet_cD3_energy, </a:t>
                      </a:r>
                      <a:r>
                        <a:rPr lang="en-US" sz="1200" dirty="0" err="1">
                          <a:effectLst/>
                        </a:rPr>
                        <a:t>zero_crossing_rate</a:t>
                      </a:r>
                      <a:endParaRPr lang="en-US" sz="12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5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병합</a:t>
                      </a:r>
                      <a:r>
                        <a:rPr lang="en-US" altLang="ko-KR" sz="1400" dirty="0">
                          <a:effectLst/>
                        </a:rPr>
                        <a:t>(</a:t>
                      </a:r>
                      <a:r>
                        <a:rPr lang="ko-KR" altLang="en-US" sz="1400" dirty="0">
                          <a:effectLst/>
                        </a:rPr>
                        <a:t>강남</a:t>
                      </a:r>
                      <a:r>
                        <a:rPr lang="en-US" altLang="ko-KR" sz="1400" dirty="0">
                          <a:effectLst/>
                        </a:rPr>
                        <a:t>+</a:t>
                      </a:r>
                      <a:r>
                        <a:rPr lang="ko-KR" altLang="en-US" sz="1400" dirty="0">
                          <a:effectLst/>
                        </a:rPr>
                        <a:t>신촌</a:t>
                      </a:r>
                      <a:r>
                        <a:rPr lang="en-US" altLang="ko-KR" sz="1400" dirty="0">
                          <a:effectLst/>
                        </a:rPr>
                        <a:t>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mean, </a:t>
                      </a:r>
                      <a:r>
                        <a:rPr lang="en-US" sz="1200" dirty="0">
                          <a:effectLst/>
                        </a:rPr>
                        <a:t>band3_energy_ratio, </a:t>
                      </a:r>
                      <a:r>
                        <a:rPr lang="en-US" sz="1200" dirty="0" err="1">
                          <a:effectLst/>
                        </a:rPr>
                        <a:t>peak_main_pos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peak_std_height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signal_length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slope_mean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spectral_energy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valley_count</a:t>
                      </a:r>
                      <a:r>
                        <a:rPr lang="en-US" sz="1200" dirty="0">
                          <a:effectLst/>
                        </a:rPr>
                        <a:t>, wavelet_cD1_std, wavelet_cD3_std, </a:t>
                      </a:r>
                      <a:r>
                        <a:rPr lang="en-US" sz="1200" dirty="0" err="1">
                          <a:effectLst/>
                        </a:rPr>
                        <a:t>zero_crossing_rate</a:t>
                      </a:r>
                      <a:endParaRPr lang="en-US" sz="12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9836D049-1183-77F9-8DE6-0E2B7CFCABB4}"/>
              </a:ext>
            </a:extLst>
          </p:cNvPr>
          <p:cNvGraphicFramePr>
            <a:graphicFrameLocks noGrp="1"/>
          </p:cNvGraphicFramePr>
          <p:nvPr/>
        </p:nvGraphicFramePr>
        <p:xfrm>
          <a:off x="1149945" y="1909943"/>
          <a:ext cx="4573152" cy="16102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7838">
                  <a:extLst>
                    <a:ext uri="{9D8B030D-6E8A-4147-A177-3AD203B41FA5}">
                      <a16:colId xmlns:a16="http://schemas.microsoft.com/office/drawing/2014/main" val="3457807918"/>
                    </a:ext>
                  </a:extLst>
                </a:gridCol>
                <a:gridCol w="1577668">
                  <a:extLst>
                    <a:ext uri="{9D8B030D-6E8A-4147-A177-3AD203B41FA5}">
                      <a16:colId xmlns:a16="http://schemas.microsoft.com/office/drawing/2014/main" val="1544939453"/>
                    </a:ext>
                  </a:extLst>
                </a:gridCol>
              </a:tblGrid>
              <a:tr h="1815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데이터셋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N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선택 피처 수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3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강남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1674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4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신촌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1271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13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6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병합</a:t>
                      </a:r>
                      <a:endParaRPr lang="en-US" altLang="ko-KR" sz="14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(</a:t>
                      </a:r>
                      <a:r>
                        <a:rPr lang="ko-KR" altLang="en-US" sz="1400" dirty="0">
                          <a:effectLst/>
                        </a:rPr>
                        <a:t>강남</a:t>
                      </a:r>
                      <a:r>
                        <a:rPr lang="en-US" altLang="ko-KR" sz="1400" dirty="0">
                          <a:effectLst/>
                        </a:rPr>
                        <a:t>+</a:t>
                      </a:r>
                      <a:r>
                        <a:rPr lang="ko-KR" altLang="en-US" sz="1400" dirty="0">
                          <a:effectLst/>
                        </a:rPr>
                        <a:t>신촌</a:t>
                      </a:r>
                      <a:r>
                        <a:rPr lang="en-US" altLang="ko-KR" sz="1400" dirty="0">
                          <a:effectLst/>
                        </a:rPr>
                        <a:t>)</a:t>
                      </a:r>
                    </a:p>
                  </a:txBody>
                  <a:tcPr marL="82550" marR="8255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2945</a:t>
                      </a:r>
                    </a:p>
                  </a:txBody>
                  <a:tcPr marL="82550" marR="8255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11</a:t>
                      </a:r>
                    </a:p>
                  </a:txBody>
                  <a:tcPr marL="82550" marR="82550" marT="38100" marB="38100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600E78C-9705-3789-2144-42ECABA0B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909" y="493961"/>
            <a:ext cx="6172200" cy="33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872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로지스틱</a:t>
            </a:r>
            <a:r>
              <a:rPr sz="1300"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BMI </a:t>
            </a:r>
            <a:r>
              <a:rPr lang="ko-KR" altLang="en-US" sz="4000" dirty="0"/>
              <a:t>기여도 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8E032-80A1-2BD5-1738-6C0FFD59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071CB4-AFD1-AFED-FDBF-0C1C13F02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C294E-00FF-5AF0-05D9-AC6B3F254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C187963-7A49-FE75-24B5-BC08064FA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6CC0959-5CB0-AE80-3D0E-6EBF138089D3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1688275"/>
          <a:ext cx="11281555" cy="2609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75073768"/>
                    </a:ext>
                  </a:extLst>
                </a:gridCol>
                <a:gridCol w="1013188">
                  <a:extLst>
                    <a:ext uri="{9D8B030D-6E8A-4147-A177-3AD203B41FA5}">
                      <a16:colId xmlns:a16="http://schemas.microsoft.com/office/drawing/2014/main" val="3998434773"/>
                    </a:ext>
                  </a:extLst>
                </a:gridCol>
                <a:gridCol w="1638818">
                  <a:extLst>
                    <a:ext uri="{9D8B030D-6E8A-4147-A177-3AD203B41FA5}">
                      <a16:colId xmlns:a16="http://schemas.microsoft.com/office/drawing/2014/main" val="3457807918"/>
                    </a:ext>
                  </a:extLst>
                </a:gridCol>
                <a:gridCol w="1446166">
                  <a:extLst>
                    <a:ext uri="{9D8B030D-6E8A-4147-A177-3AD203B41FA5}">
                      <a16:colId xmlns:a16="http://schemas.microsoft.com/office/drawing/2014/main" val="1544939453"/>
                    </a:ext>
                  </a:extLst>
                </a:gridCol>
                <a:gridCol w="1628815">
                  <a:extLst>
                    <a:ext uri="{9D8B030D-6E8A-4147-A177-3AD203B41FA5}">
                      <a16:colId xmlns:a16="http://schemas.microsoft.com/office/drawing/2014/main" val="3303967436"/>
                    </a:ext>
                  </a:extLst>
                </a:gridCol>
                <a:gridCol w="1616649">
                  <a:extLst>
                    <a:ext uri="{9D8B030D-6E8A-4147-A177-3AD203B41FA5}">
                      <a16:colId xmlns:a16="http://schemas.microsoft.com/office/drawing/2014/main" val="1596193348"/>
                    </a:ext>
                  </a:extLst>
                </a:gridCol>
                <a:gridCol w="1630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BMI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N feat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Lin R²(±std)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Lin RMSE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AUC(±std)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Log Sens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Spec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Case 1 (no BMI)</a:t>
                      </a:r>
                      <a:endParaRPr lang="en-US" sz="11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0.5430 ± 0.0401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19.91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0.5992 ± 0.0403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0.3886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0.8173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1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0.6620 ± 0.0367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17.12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0.7427 ± 0.0188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0.7647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0.6491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528694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0.6300 ± 0.0407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17.91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0.7000 ± 0.0276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0.7741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0.5726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19547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2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0.6780 ± 0.0357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16.71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0.7510 ± 0.0227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0.7394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0.6883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532009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45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0.6210 ± 0.0339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18.13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0.7104 ± 0.0260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0.5889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(+BMI)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46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0.6682 ± 0.0318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16.96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0.7400 ± 0.0287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0.6319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FC5D62D1-777B-B096-AF47-AA0131186F24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4611584"/>
          <a:ext cx="7675418" cy="125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403">
                  <a:extLst>
                    <a:ext uri="{9D8B030D-6E8A-4147-A177-3AD203B41FA5}">
                      <a16:colId xmlns:a16="http://schemas.microsoft.com/office/drawing/2014/main" val="3110612638"/>
                    </a:ext>
                  </a:extLst>
                </a:gridCol>
                <a:gridCol w="1377165">
                  <a:extLst>
                    <a:ext uri="{9D8B030D-6E8A-4147-A177-3AD203B41FA5}">
                      <a16:colId xmlns:a16="http://schemas.microsoft.com/office/drawing/2014/main" val="3068643098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1665777330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3948507518"/>
                    </a:ext>
                  </a:extLst>
                </a:gridCol>
                <a:gridCol w="1678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R²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RMSE (cm²)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AUC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해석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+0.1190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-2.79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+0.1435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-0.0410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+0.0480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-1.20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+0.0510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+0.0806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+0.0472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-1.17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+0.0296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+0.0330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BMI </a:t>
                      </a:r>
                      <a:r>
                        <a:rPr lang="ko-KR" altLang="en-US" sz="1400" dirty="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40704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19834-D765-F834-655F-EFF286658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F2980-D61F-3A99-31FA-CDFEDCC91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26D1EF-DC95-CBDA-BC54-ACCF7BBF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B40FB36-EED3-A518-CFBA-F86F9F233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9983188-77AE-AF74-A801-610DA0B5FD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1659"/>
            <a:ext cx="12192000" cy="43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85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2BE89-483D-22CF-0B03-0686AFCC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77A6-BF02-0B2B-C253-6CFD1963B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CDB12-F8EA-C571-F002-DD98450F6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0CBD8F0-F695-6084-612A-182BA033E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314823B-A23B-1A1D-93EE-3DE90B6D4D9E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1688275"/>
          <a:ext cx="11281555" cy="2609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75073768"/>
                    </a:ext>
                  </a:extLst>
                </a:gridCol>
                <a:gridCol w="1013188">
                  <a:extLst>
                    <a:ext uri="{9D8B030D-6E8A-4147-A177-3AD203B41FA5}">
                      <a16:colId xmlns:a16="http://schemas.microsoft.com/office/drawing/2014/main" val="3998434773"/>
                    </a:ext>
                  </a:extLst>
                </a:gridCol>
                <a:gridCol w="1638818">
                  <a:extLst>
                    <a:ext uri="{9D8B030D-6E8A-4147-A177-3AD203B41FA5}">
                      <a16:colId xmlns:a16="http://schemas.microsoft.com/office/drawing/2014/main" val="3457807918"/>
                    </a:ext>
                  </a:extLst>
                </a:gridCol>
                <a:gridCol w="1446166">
                  <a:extLst>
                    <a:ext uri="{9D8B030D-6E8A-4147-A177-3AD203B41FA5}">
                      <a16:colId xmlns:a16="http://schemas.microsoft.com/office/drawing/2014/main" val="1544939453"/>
                    </a:ext>
                  </a:extLst>
                </a:gridCol>
                <a:gridCol w="1628815">
                  <a:extLst>
                    <a:ext uri="{9D8B030D-6E8A-4147-A177-3AD203B41FA5}">
                      <a16:colId xmlns:a16="http://schemas.microsoft.com/office/drawing/2014/main" val="3303967436"/>
                    </a:ext>
                  </a:extLst>
                </a:gridCol>
                <a:gridCol w="1616649">
                  <a:extLst>
                    <a:ext uri="{9D8B030D-6E8A-4147-A177-3AD203B41FA5}">
                      <a16:colId xmlns:a16="http://schemas.microsoft.com/office/drawing/2014/main" val="1596193348"/>
                    </a:ext>
                  </a:extLst>
                </a:gridCol>
                <a:gridCol w="1630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BMI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N feat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Lin R²(±std)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Lin RMSE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AUC(±std)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Log Sens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Log Spec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Case 1 (no 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0.5216 ± 0.0656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21.24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0.6076 ± 0.0299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0.5505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0.6938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1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0.6398 ± 0.0629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18.42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0.7513 ± 0.0332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0.7988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0.6073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528694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0.5444 ± 0.0587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20.73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0.6441 ± 0.0430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0.6114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0.6552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19547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2 (+BMI)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0.6415 ± 0.0615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18.37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0.7502 ± 0.0362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0.6125</a:t>
                      </a:r>
                    </a:p>
                  </a:txBody>
                  <a:tcPr marL="82550" marR="8255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532009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(no BMI)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no BMI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58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0.5350 ± 0.0693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20.92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0.6784 ± 0.0236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0.6410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0.6740</a:t>
                      </a:r>
                    </a:p>
                  </a:txBody>
                  <a:tcPr marL="82550" marR="8255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Case 4 (+BMI)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effectLst/>
                        </a:rPr>
                        <a:t>+BMI</a:t>
                      </a:r>
                      <a:endParaRPr 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59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0.6340 ± 0.0590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18.56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0.7529 ± 0.0321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0.7572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CC2CB5A6-F5DD-FBF1-C92C-D06C15163DC9}"/>
              </a:ext>
            </a:extLst>
          </p:cNvPr>
          <p:cNvGraphicFramePr>
            <a:graphicFrameLocks noGrp="1"/>
          </p:cNvGraphicFramePr>
          <p:nvPr/>
        </p:nvGraphicFramePr>
        <p:xfrm>
          <a:off x="455222" y="4611584"/>
          <a:ext cx="7675418" cy="125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1403">
                  <a:extLst>
                    <a:ext uri="{9D8B030D-6E8A-4147-A177-3AD203B41FA5}">
                      <a16:colId xmlns:a16="http://schemas.microsoft.com/office/drawing/2014/main" val="3110612638"/>
                    </a:ext>
                  </a:extLst>
                </a:gridCol>
                <a:gridCol w="1377165">
                  <a:extLst>
                    <a:ext uri="{9D8B030D-6E8A-4147-A177-3AD203B41FA5}">
                      <a16:colId xmlns:a16="http://schemas.microsoft.com/office/drawing/2014/main" val="3068643098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1665777330"/>
                    </a:ext>
                  </a:extLst>
                </a:gridCol>
                <a:gridCol w="1199284">
                  <a:extLst>
                    <a:ext uri="{9D8B030D-6E8A-4147-A177-3AD203B41FA5}">
                      <a16:colId xmlns:a16="http://schemas.microsoft.com/office/drawing/2014/main" val="3948507518"/>
                    </a:ext>
                  </a:extLst>
                </a:gridCol>
                <a:gridCol w="1678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Case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R²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RMSE (cm²)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AUC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l-GR" sz="1400" b="1" dirty="0">
                          <a:solidFill>
                            <a:schemeClr val="bg1"/>
                          </a:solidFill>
                          <a:effectLst/>
                        </a:rPr>
                        <a:t>Δ</a:t>
                      </a: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</a:rPr>
                        <a:t>해석</a:t>
                      </a:r>
                    </a:p>
                  </a:txBody>
                  <a:tcPr marL="82550" marR="82550" marT="38100" marB="381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+0.1182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-2.82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+0.1437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-0.0047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+0.0971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-2.36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+0.1061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+0.0150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BMI </a:t>
                      </a:r>
                      <a:r>
                        <a:rPr lang="ko-KR" altLang="en-US" sz="140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+0.0990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effectLst/>
                        </a:rPr>
                        <a:t>-2.36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+0.0745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+0.0403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BMI </a:t>
                      </a:r>
                      <a:r>
                        <a:rPr lang="ko-KR" altLang="en-US" sz="1400" dirty="0">
                          <a:effectLst/>
                        </a:rPr>
                        <a:t>보정 유효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1507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D7A36-C441-079A-3D51-01658E9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E09C3DB-1D07-5DCE-3DAE-9CBE3E15B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1659"/>
            <a:ext cx="12192000" cy="43542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7F4E1A1-4B68-6C2B-0905-572F97877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C6A584-FD61-4899-84D4-D328667DF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8F0502B-6362-FF80-9026-F61BE2388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BMI </a:t>
            </a:r>
            <a:r>
              <a:rPr lang="ko-KR" altLang="en-US" dirty="0"/>
              <a:t>유무에 따른 성능 비교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44354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52048-3D54-90BA-4C63-E9E6CBFE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5F65B-4C7C-5F4C-D369-09DC5557E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9C3DE5-6647-3CC0-BA2B-261B8E16B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2059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94DCFC33-C28C-2700-774F-9A442D3EB2B6}"/>
              </a:ext>
            </a:extLst>
          </p:cNvPr>
          <p:cNvGraphicFramePr>
            <a:graphicFrameLocks noGrp="1"/>
          </p:cNvGraphicFramePr>
          <p:nvPr/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2772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1  Clinical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12.83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17.12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2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0.678 ± 0.036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16.71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3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0.669 ± 0.038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12.59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4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AEC_prev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0.668 ± 0.032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12.77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16.96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Case 5 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AEC_new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+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 </a:t>
                      </a:r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Scanner</a:t>
                      </a:r>
                      <a:r>
                        <a:rPr lang="en-US"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/</a:t>
                      </a:r>
                      <a:r>
                        <a:rPr lang="en-US" sz="1400" b="0" dirty="0" err="1">
                          <a:solidFill>
                            <a:srgbClr val="1A1A2E"/>
                          </a:solidFill>
                          <a:latin typeface="KoPub돋움체 Medium"/>
                        </a:rPr>
                        <a:t>kVp</a:t>
                      </a:r>
                      <a:endParaRPr sz="1400" b="0" dirty="0">
                        <a:solidFill>
                          <a:srgbClr val="1A1A2E"/>
                        </a:solidFill>
                        <a:latin typeface="KoPub돋움체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2E"/>
                          </a:solidFill>
                          <a:latin typeface="KoPub돋움체 Medium"/>
                        </a:rPr>
                        <a:t>0.662 ± 0.035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12.74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A1A2E"/>
                          </a:solidFill>
                          <a:latin typeface="KoPub돋움체 Medium"/>
                        </a:rPr>
                        <a:t>17.11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8DD6A-655F-02B1-E450-20C581D2F763}"/>
              </a:ext>
            </a:extLst>
          </p:cNvPr>
          <p:cNvSpPr txBox="1"/>
          <p:nvPr/>
        </p:nvSpPr>
        <p:spPr>
          <a:xfrm>
            <a:off x="741104" y="4018547"/>
            <a:ext cx="107097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</a:t>
            </a:r>
            <a:r>
              <a:rPr lang="ko-KR" altLang="en-US" sz="1400" b="1" dirty="0">
                <a:solidFill>
                  <a:srgbClr val="0070C0"/>
                </a:solidFill>
              </a:rPr>
              <a:t>선형 </a:t>
            </a:r>
            <a:r>
              <a:rPr lang="en-US" altLang="ko-KR" sz="1400" b="1" dirty="0">
                <a:solidFill>
                  <a:srgbClr val="0070C0"/>
                </a:solidFill>
              </a:rPr>
              <a:t>R²):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+0.0160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+0.0074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-0.0086</a:t>
            </a:r>
            <a:endParaRPr sz="1400" b="1" i="0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7C3C-4653-E1E8-34C3-4DE3700A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754F0-975C-63A5-9703-08B00C81E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D4FFE-10CB-4156-612D-F30A1CFED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8" name="Picture 5" descr="01_linear_actual_vs_pred.png">
            <a:extLst>
              <a:ext uri="{FF2B5EF4-FFF2-40B4-BE49-F238E27FC236}">
                <a16:creationId xmlns:a16="http://schemas.microsoft.com/office/drawing/2014/main" id="{C671C277-89AA-1AC0-6310-66046529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" y="1454236"/>
            <a:ext cx="11610505" cy="2473330"/>
          </a:xfrm>
          <a:prstGeom prst="rect">
            <a:avLst/>
          </a:prstGeom>
        </p:spPr>
      </p:pic>
      <p:pic>
        <p:nvPicPr>
          <p:cNvPr id="10" name="Picture 7" descr="03_linear_coefficients.png">
            <a:extLst>
              <a:ext uri="{FF2B5EF4-FFF2-40B4-BE49-F238E27FC236}">
                <a16:creationId xmlns:a16="http://schemas.microsoft.com/office/drawing/2014/main" id="{35231708-4493-894B-79D3-89FD4CD77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" y="3927566"/>
            <a:ext cx="11610505" cy="247333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EC9F7-2246-ED5F-159E-5D0850FD9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838551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BD93E-4F6B-E136-B982-870195650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2553B926-1BE2-B289-82FC-C1DD7EA9BF05}"/>
              </a:ext>
            </a:extLst>
          </p:cNvPr>
          <p:cNvGraphicFramePr>
            <a:graphicFrameLocks noGrp="1"/>
          </p:cNvGraphicFramePr>
          <p:nvPr/>
        </p:nvGraphicFramePr>
        <p:xfrm>
          <a:off x="696000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723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AUC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0.7427 ± 0.0188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0.7647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0.6491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0.7510 ± 0.0227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0.7394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0.6883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0.7442 ± 0.0280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0.6374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0.8274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0.5794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0.7400 ± 0.0287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0.6674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0.7834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solidFill>
                            <a:srgbClr val="000000"/>
                          </a:solidFill>
                          <a:effectLst/>
                        </a:rPr>
                        <a:t>0.7311 ± 0.0291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0.6529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A6FE18B7-D629-E66E-BFE1-7DC89F0F4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0BD7E6-EF9B-E36B-1DCD-CED3DA9CC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38B3DF-A802-77BB-D637-F6348941F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399AA7-704D-17FF-4B91-28A54DA61309}"/>
              </a:ext>
            </a:extLst>
          </p:cNvPr>
          <p:cNvSpPr txBox="1"/>
          <p:nvPr/>
        </p:nvSpPr>
        <p:spPr>
          <a:xfrm>
            <a:off x="696000" y="3962400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(AUC):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+0.0083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+0.0015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-0.0068</a:t>
            </a:r>
            <a:endParaRPr lang="en-US" altLang="ko-KR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4209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B7EDD-BBED-5745-339F-DE33ECE8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B8E1BD-5C73-F9E4-0B9E-604BCC62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3DEC87-6666-F73C-8D68-B4B5F464B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4728E-DC65-4208-F163-B0EFE7BD1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pic>
        <p:nvPicPr>
          <p:cNvPr id="5" name="Picture 5" descr="04_logistic_roc.png">
            <a:extLst>
              <a:ext uri="{FF2B5EF4-FFF2-40B4-BE49-F238E27FC236}">
                <a16:creationId xmlns:a16="http://schemas.microsoft.com/office/drawing/2014/main" id="{3D094B75-AA7C-0679-5174-34B7EB1C6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3247" y="1378291"/>
            <a:ext cx="3123595" cy="2660680"/>
          </a:xfrm>
          <a:prstGeom prst="rect">
            <a:avLst/>
          </a:prstGeom>
        </p:spPr>
      </p:pic>
      <p:pic>
        <p:nvPicPr>
          <p:cNvPr id="7" name="Picture 7" descr="06_logistic_confusion.png">
            <a:extLst>
              <a:ext uri="{FF2B5EF4-FFF2-40B4-BE49-F238E27FC236}">
                <a16:creationId xmlns:a16="http://schemas.microsoft.com/office/drawing/2014/main" id="{D9D4E2D7-C6D1-FF1A-5E19-EBE1C0469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5776"/>
            <a:ext cx="8983422" cy="2509024"/>
          </a:xfrm>
          <a:prstGeom prst="rect">
            <a:avLst/>
          </a:prstGeom>
        </p:spPr>
      </p:pic>
      <p:pic>
        <p:nvPicPr>
          <p:cNvPr id="8" name="Picture 9" descr="07_logistic_coefficients.png">
            <a:extLst>
              <a:ext uri="{FF2B5EF4-FFF2-40B4-BE49-F238E27FC236}">
                <a16:creationId xmlns:a16="http://schemas.microsoft.com/office/drawing/2014/main" id="{AA3D9CB8-60E9-DA22-9684-6344A9E5D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114800"/>
            <a:ext cx="12192000" cy="232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99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51A8-3835-CCEA-C419-550150CF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15">
            <a:extLst>
              <a:ext uri="{FF2B5EF4-FFF2-40B4-BE49-F238E27FC236}">
                <a16:creationId xmlns:a16="http://schemas.microsoft.com/office/drawing/2014/main" id="{7408A1CA-D336-AF2C-7C8F-F9EBA15EF032}"/>
              </a:ext>
            </a:extLst>
          </p:cNvPr>
          <p:cNvGraphicFramePr>
            <a:graphicFrameLocks noGrp="1"/>
          </p:cNvGraphicFramePr>
          <p:nvPr/>
        </p:nvGraphicFramePr>
        <p:xfrm>
          <a:off x="695998" y="1714259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2772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N feat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R²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MAE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RMSE (cm²)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0.640 ± 0.063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18.42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0.641 ± 0.061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18.37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0.637 ± 0.067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13.81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18.48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59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0.634 ± 0.059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14.00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18.56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66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0.638 ± 0.054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13.94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18.48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34640984-1D3E-0DCD-F5D0-6826F2D34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5EA2E-FF17-30D6-5615-AFEC32F2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4E691-CDF2-D3B6-CE48-E6FCBEFA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DA337-73E2-1A0C-2AB0-F482B4A43D92}"/>
              </a:ext>
            </a:extLst>
          </p:cNvPr>
          <p:cNvSpPr txBox="1"/>
          <p:nvPr/>
        </p:nvSpPr>
        <p:spPr>
          <a:xfrm>
            <a:off x="741104" y="4018547"/>
            <a:ext cx="107097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</a:t>
            </a:r>
            <a:r>
              <a:rPr lang="ko-KR" altLang="en-US" sz="1400" b="1" dirty="0">
                <a:solidFill>
                  <a:srgbClr val="0070C0"/>
                </a:solidFill>
              </a:rPr>
              <a:t>선형 </a:t>
            </a:r>
            <a:r>
              <a:rPr lang="en-US" altLang="ko-KR" sz="1400" b="1" dirty="0">
                <a:solidFill>
                  <a:srgbClr val="0070C0"/>
                </a:solidFill>
              </a:rPr>
              <a:t>R²):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+0.0017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-0.0027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-0.0044</a:t>
            </a:r>
            <a:endParaRPr lang="ko-KR" altLang="en-US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3101541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30B83-930D-CD0D-C43F-86D6C8A7E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47B4C5-A686-79CB-5D8C-0F253E0A6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63CA50-BEBA-716A-0432-E11CC20C8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285CD5D-99D4-2CD0-E53A-65E84FA78F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0963"/>
            <a:ext cx="12192000" cy="243840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82AF84-369B-8873-99B7-35DF74AF1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(5-fold CV) –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20E0C6C-2239-6340-7AF2-46BB5D2EBF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39687"/>
            <a:ext cx="12192000" cy="2599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50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B4C4F-88F7-D6CA-C91C-59AD956C7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15">
            <a:extLst>
              <a:ext uri="{FF2B5EF4-FFF2-40B4-BE49-F238E27FC236}">
                <a16:creationId xmlns:a16="http://schemas.microsoft.com/office/drawing/2014/main" id="{F10C9133-6F55-4993-F2DD-EE1A1242684F}"/>
              </a:ext>
            </a:extLst>
          </p:cNvPr>
          <p:cNvGraphicFramePr>
            <a:graphicFrameLocks noGrp="1"/>
          </p:cNvGraphicFramePr>
          <p:nvPr/>
        </p:nvGraphicFramePr>
        <p:xfrm>
          <a:off x="725688" y="1658112"/>
          <a:ext cx="1080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723">
                  <a:extLst>
                    <a:ext uri="{9D8B030D-6E8A-4147-A177-3AD203B41FA5}">
                      <a16:colId xmlns:a16="http://schemas.microsoft.com/office/drawing/2014/main" val="3218443073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437228936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1561253987"/>
                    </a:ext>
                  </a:extLst>
                </a:gridCol>
                <a:gridCol w="1893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Case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AUC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/>
                        </a:rPr>
                        <a:t>mean±std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Sensitivity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Case 1 Clinical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0.7513 ± 0.0332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0.6541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0.7988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0.6073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2 +AEC_prev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0.7502 ± 0.0362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0.6596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0.8055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0.6125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07736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3 +AEC_new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0.7492 ± 0.0239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0.6762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0.7857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0.6406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4 +AEC_prev +Scanner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0.7529 ± 0.0321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0.7061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0.7572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0.6896</a:t>
                      </a:r>
                    </a:p>
                  </a:txBody>
                  <a:tcPr marL="82550" marR="82550" marT="38100" marB="381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>
                          <a:effectLst/>
                        </a:rPr>
                        <a:t>Case 5 +AEC_new +Scanner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solidFill>
                            <a:srgbClr val="000000"/>
                          </a:solidFill>
                          <a:effectLst/>
                        </a:rPr>
                        <a:t>0.7493 ± 0.0342</a:t>
                      </a:r>
                      <a:endParaRPr lang="ko-KR" altLang="en-US" sz="1400" b="0">
                        <a:effectLst/>
                      </a:endParaRP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0.7164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effectLst/>
                        </a:rPr>
                        <a:t>0.6987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0.7219</a:t>
                      </a:r>
                    </a:p>
                  </a:txBody>
                  <a:tcPr marL="82550" marR="8255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39216515-6012-82DA-121E-E3E018E6C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DB75B5-5FB1-713C-9105-90396123B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7FE5C-85DC-1ABA-B9ED-E967A54D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A62A1-6AC4-C7BE-BA95-14207B870729}"/>
              </a:ext>
            </a:extLst>
          </p:cNvPr>
          <p:cNvSpPr txBox="1"/>
          <p:nvPr/>
        </p:nvSpPr>
        <p:spPr>
          <a:xfrm>
            <a:off x="696000" y="3962400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70C0"/>
                </a:solidFill>
              </a:rPr>
              <a:t>AEC </a:t>
            </a:r>
            <a:r>
              <a:rPr lang="ko-KR" altLang="en-US" sz="1400" b="1" dirty="0">
                <a:solidFill>
                  <a:srgbClr val="0070C0"/>
                </a:solidFill>
              </a:rPr>
              <a:t>기여도 </a:t>
            </a:r>
            <a:r>
              <a:rPr lang="en-US" altLang="ko-KR" sz="1400" b="1" dirty="0">
                <a:solidFill>
                  <a:srgbClr val="0070C0"/>
                </a:solidFill>
              </a:rPr>
              <a:t>(AUC):</a:t>
            </a:r>
            <a:r>
              <a:rPr lang="en-US" altLang="ko-KR" sz="1400" dirty="0">
                <a:solidFill>
                  <a:srgbClr val="0070C0"/>
                </a:solidFill>
              </a:rPr>
              <a:t> </a:t>
            </a:r>
            <a:r>
              <a:rPr lang="en-US" altLang="ko-KR" sz="1400" dirty="0" err="1">
                <a:solidFill>
                  <a:srgbClr val="0070C0"/>
                </a:solidFill>
              </a:rPr>
              <a:t>AEC_prev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-0.0011 | </a:t>
            </a:r>
            <a:r>
              <a:rPr lang="en-US" altLang="ko-KR" sz="1400" dirty="0" err="1">
                <a:solidFill>
                  <a:srgbClr val="0070C0"/>
                </a:solidFill>
              </a:rPr>
              <a:t>AEC_new</a:t>
            </a:r>
            <a:r>
              <a:rPr lang="en-US" altLang="ko-KR" sz="1400" dirty="0">
                <a:solidFill>
                  <a:srgbClr val="0070C0"/>
                </a:solidFill>
              </a:rPr>
              <a:t> </a:t>
            </a:r>
            <a:r>
              <a:rPr lang="el-GR" altLang="ko-KR" sz="1400" dirty="0">
                <a:solidFill>
                  <a:srgbClr val="0070C0"/>
                </a:solidFill>
              </a:rPr>
              <a:t>Δ = -0.0021 | </a:t>
            </a:r>
            <a:r>
              <a:rPr lang="ko-KR" altLang="en-US" sz="1400" dirty="0">
                <a:solidFill>
                  <a:srgbClr val="0070C0"/>
                </a:solidFill>
              </a:rPr>
              <a:t>차이 </a:t>
            </a:r>
            <a:r>
              <a:rPr lang="en-US" altLang="ko-KR" sz="1400" dirty="0">
                <a:solidFill>
                  <a:srgbClr val="0070C0"/>
                </a:solidFill>
              </a:rPr>
              <a:t>(new-</a:t>
            </a:r>
            <a:r>
              <a:rPr lang="en-US" altLang="ko-KR" sz="1400" dirty="0" err="1">
                <a:solidFill>
                  <a:srgbClr val="0070C0"/>
                </a:solidFill>
              </a:rPr>
              <a:t>prev</a:t>
            </a:r>
            <a:r>
              <a:rPr lang="en-US" altLang="ko-KR" sz="1400" dirty="0">
                <a:solidFill>
                  <a:srgbClr val="0070C0"/>
                </a:solidFill>
              </a:rPr>
              <a:t>) = -0.0010</a:t>
            </a:r>
            <a:endParaRPr lang="en-US" altLang="ko-KR" sz="1400" b="1" dirty="0">
              <a:solidFill>
                <a:srgbClr val="0070C0"/>
              </a:solidFill>
              <a:latin typeface="KoPub돋움체 Medium"/>
            </a:endParaRPr>
          </a:p>
        </p:txBody>
      </p:sp>
    </p:spTree>
    <p:extLst>
      <p:ext uri="{BB962C8B-B14F-4D97-AF65-F5344CB8AC3E}">
        <p14:creationId xmlns:p14="http://schemas.microsoft.com/office/powerpoint/2010/main" val="2994178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27077-E1FD-D83A-6E63-7AF36816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2A4F272-B4DE-21A8-4A6F-FC45D6CC5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3423" y="1378292"/>
            <a:ext cx="3113420" cy="26605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D27FB0-CEE9-0F6B-9DC5-F7EE7F549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5776"/>
            <a:ext cx="8983422" cy="250902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EF7A1BF-EA6A-FD51-B153-5384F1C1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9AC4AF-2D55-F48D-0F0E-5FB8D9B13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A9F13-F466-EFD5-AD51-ABEA508E1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1E4197F-A4BC-0C67-0D16-3AD89985B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4800"/>
            <a:ext cx="12192000" cy="23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095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6644-A6D9-C744-1A0A-0829CD01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4058F-693E-837F-AD14-6990529B0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External Verification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EBFF5-7D7B-F945-033C-DDE9B095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869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C4E4-BBA7-5186-4805-767C92EF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24B18-20E0-C337-5B78-39EE73AF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696106-F74C-85FD-FF81-B8707270C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External Verification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B4286-6361-9A29-A413-C5CB0D0F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68293D4-52FF-DAB4-D495-820F5CF70C45}"/>
              </a:ext>
            </a:extLst>
          </p:cNvPr>
          <p:cNvGrpSpPr/>
          <p:nvPr/>
        </p:nvGrpSpPr>
        <p:grpSpPr>
          <a:xfrm>
            <a:off x="465964" y="2025964"/>
            <a:ext cx="11260072" cy="3362842"/>
            <a:chOff x="1128724" y="1726209"/>
            <a:chExt cx="9827500" cy="293500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E1F1B413-99B2-3201-1F57-72CBDE65F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6098"/>
            <a:stretch>
              <a:fillRect/>
            </a:stretch>
          </p:blipFill>
          <p:spPr>
            <a:xfrm>
              <a:off x="1128724" y="4393581"/>
              <a:ext cx="9827500" cy="267629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7F46A1AB-843A-5874-7FD2-03EC76CEA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4" b="55122"/>
            <a:stretch>
              <a:fillRect/>
            </a:stretch>
          </p:blipFill>
          <p:spPr>
            <a:xfrm>
              <a:off x="1128724" y="1726209"/>
              <a:ext cx="9827500" cy="2667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6590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8E05-D044-09CE-C295-67924F57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36BA2E2-5663-9090-EADD-5C789C641E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80"/>
          <a:stretch>
            <a:fillRect/>
          </a:stretch>
        </p:blipFill>
        <p:spPr>
          <a:xfrm>
            <a:off x="508000" y="2025964"/>
            <a:ext cx="11232000" cy="348955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2DA1B66-7739-D858-81A3-453B85972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F49A9-F899-3D64-089A-BD89B0579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External Verification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918A8-EF1C-8731-0935-B97E60A65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9621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</a:t>
            </a:r>
            <a:r>
              <a:rPr lang="ko-KR" altLang="en-US" dirty="0"/>
              <a:t>를 </a:t>
            </a:r>
            <a:r>
              <a:rPr lang="en-US" altLang="ko-KR" dirty="0"/>
              <a:t>Clinic Data</a:t>
            </a:r>
            <a:r>
              <a:rPr lang="ko-KR" altLang="en-US" dirty="0"/>
              <a:t>에 포함하면 성능이 향상되는 것 확인</a:t>
            </a:r>
            <a:endParaRPr lang="en-US" altLang="ko-KR" dirty="0"/>
          </a:p>
          <a:p>
            <a:r>
              <a:rPr lang="ko-KR" altLang="en-US" dirty="0"/>
              <a:t>하지만</a:t>
            </a:r>
            <a:r>
              <a:rPr lang="en-US" altLang="ko-KR" dirty="0"/>
              <a:t>, AEC</a:t>
            </a:r>
            <a:r>
              <a:rPr lang="ko-KR" altLang="en-US" dirty="0"/>
              <a:t>와 이외의 </a:t>
            </a:r>
            <a:r>
              <a:rPr lang="en-US" altLang="ko-KR" dirty="0"/>
              <a:t>feature</a:t>
            </a:r>
            <a:r>
              <a:rPr lang="ko-KR" altLang="en-US" dirty="0"/>
              <a:t>를 포함했을 때의 차이가 이전보다는 미비함</a:t>
            </a:r>
            <a:endParaRPr lang="en-US" altLang="ko-KR" dirty="0"/>
          </a:p>
          <a:p>
            <a:r>
              <a:rPr lang="ko-KR" altLang="en-US" dirty="0"/>
              <a:t>외부 검증 결과 </a:t>
            </a:r>
            <a:r>
              <a:rPr lang="en-US" altLang="ko-KR" dirty="0"/>
              <a:t>Sensitivity</a:t>
            </a:r>
            <a:r>
              <a:rPr lang="ko-KR" altLang="en-US"/>
              <a:t>가 매우 낮음 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77532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3710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1197</TotalTime>
  <Words>2523</Words>
  <Application>Microsoft Office PowerPoint</Application>
  <PresentationFormat>와이드스크린</PresentationFormat>
  <Paragraphs>712</Paragraphs>
  <Slides>38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KoPub돋움체 Bold</vt:lpstr>
      <vt:lpstr>KoPub돋움체 Medium</vt:lpstr>
      <vt:lpstr>Arial</vt:lpstr>
      <vt:lpstr>맑은 고딕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BMI 기여도 분석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External Verification</vt:lpstr>
      <vt:lpstr>3. Detailed progress</vt:lpstr>
      <vt:lpstr>3. Detailed progress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113</cp:revision>
  <dcterms:created xsi:type="dcterms:W3CDTF">2026-04-09T07:05:16Z</dcterms:created>
  <dcterms:modified xsi:type="dcterms:W3CDTF">2026-05-06T09:40:21Z</dcterms:modified>
</cp:coreProperties>
</file>