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349" r:id="rId4"/>
    <p:sldId id="346" r:id="rId5"/>
    <p:sldId id="350" r:id="rId6"/>
    <p:sldId id="351" r:id="rId7"/>
    <p:sldId id="352" r:id="rId8"/>
    <p:sldId id="354" r:id="rId9"/>
    <p:sldId id="353" r:id="rId10"/>
    <p:sldId id="355" r:id="rId11"/>
    <p:sldId id="367" r:id="rId12"/>
    <p:sldId id="369" r:id="rId13"/>
    <p:sldId id="365" r:id="rId14"/>
    <p:sldId id="366" r:id="rId15"/>
    <p:sldId id="370" r:id="rId16"/>
    <p:sldId id="371" r:id="rId17"/>
    <p:sldId id="372" r:id="rId18"/>
    <p:sldId id="368" r:id="rId19"/>
    <p:sldId id="358" r:id="rId20"/>
    <p:sldId id="361" r:id="rId21"/>
    <p:sldId id="356" r:id="rId22"/>
    <p:sldId id="357" r:id="rId23"/>
    <p:sldId id="362" r:id="rId24"/>
    <p:sldId id="363" r:id="rId25"/>
    <p:sldId id="364" r:id="rId26"/>
    <p:sldId id="345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A5AA"/>
    <a:srgbClr val="1F346B"/>
    <a:srgbClr val="023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hun Kim" userId="2469e03939fca47a" providerId="LiveId" clId="{0EC0481E-6524-4E60-9AD2-E07F55D3906F}"/>
    <pc:docChg chg="undo custSel modSld modMainMaster">
      <pc:chgData name="Jihun Kim" userId="2469e03939fca47a" providerId="LiveId" clId="{0EC0481E-6524-4E60-9AD2-E07F55D3906F}" dt="2026-04-09T12:43:38.717" v="9" actId="113"/>
      <pc:docMkLst>
        <pc:docMk/>
      </pc:docMkLst>
      <pc:sldChg chg="modSp mod">
        <pc:chgData name="Jihun Kim" userId="2469e03939fca47a" providerId="LiveId" clId="{0EC0481E-6524-4E60-9AD2-E07F55D3906F}" dt="2026-04-09T12:43:04.015" v="5" actId="2711"/>
        <pc:sldMkLst>
          <pc:docMk/>
          <pc:sldMk cId="1998851532" sldId="256"/>
        </pc:sldMkLst>
        <pc:spChg chg="mod">
          <ac:chgData name="Jihun Kim" userId="2469e03939fca47a" providerId="LiveId" clId="{0EC0481E-6524-4E60-9AD2-E07F55D3906F}" dt="2026-04-09T12:41:51.143" v="2" actId="20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ihun Kim" userId="2469e03939fca47a" providerId="LiveId" clId="{0EC0481E-6524-4E60-9AD2-E07F55D3906F}" dt="2026-04-09T12:42:23.172" v="3" actId="2711"/>
          <ac:spMkLst>
            <pc:docMk/>
            <pc:sldMk cId="1998851532" sldId="256"/>
            <ac:spMk id="5" creationId="{94B21C1C-F3A0-440B-961E-968F2C77FB2A}"/>
          </ac:spMkLst>
        </pc:spChg>
        <pc:spChg chg="mod">
          <ac:chgData name="Jihun Kim" userId="2469e03939fca47a" providerId="LiveId" clId="{0EC0481E-6524-4E60-9AD2-E07F55D3906F}" dt="2026-04-09T12:42:57.903" v="4" actId="2711"/>
          <ac:spMkLst>
            <pc:docMk/>
            <pc:sldMk cId="1998851532" sldId="256"/>
            <ac:spMk id="6" creationId="{63F70F93-076B-4BBC-B933-AC7768BB0AE5}"/>
          </ac:spMkLst>
        </pc:spChg>
        <pc:spChg chg="mod">
          <ac:chgData name="Jihun Kim" userId="2469e03939fca47a" providerId="LiveId" clId="{0EC0481E-6524-4E60-9AD2-E07F55D3906F}" dt="2026-04-09T12:43:04.015" v="5" actId="2711"/>
          <ac:spMkLst>
            <pc:docMk/>
            <pc:sldMk cId="1998851532" sldId="256"/>
            <ac:spMk id="7" creationId="{CEB5E8A0-083F-4B6E-AA66-93BFFD6A8E1A}"/>
          </ac:spMkLst>
        </pc:spChg>
      </pc:sldChg>
      <pc:sldMasterChg chg="modSldLayout">
        <pc:chgData name="Jihun Kim" userId="2469e03939fca47a" providerId="LiveId" clId="{0EC0481E-6524-4E60-9AD2-E07F55D3906F}" dt="2026-04-09T12:43:38.717" v="9" actId="113"/>
        <pc:sldMasterMkLst>
          <pc:docMk/>
          <pc:sldMasterMk cId="2755485914" sldId="2147483648"/>
        </pc:sldMasterMkLst>
        <pc:sldLayoutChg chg="modSp mod">
          <pc:chgData name="Jihun Kim" userId="2469e03939fca47a" providerId="LiveId" clId="{0EC0481E-6524-4E60-9AD2-E07F55D3906F}" dt="2026-04-09T12:43:38.717" v="9" actId="113"/>
          <pc:sldLayoutMkLst>
            <pc:docMk/>
            <pc:sldMasterMk cId="2755485914" sldId="2147483648"/>
            <pc:sldLayoutMk cId="3176484067" sldId="2147483650"/>
          </pc:sldLayoutMkLst>
          <pc:spChg chg="mod">
            <ac:chgData name="Jihun Kim" userId="2469e03939fca47a" providerId="LiveId" clId="{0EC0481E-6524-4E60-9AD2-E07F55D3906F}" dt="2026-04-09T12:43:24.420" v="6" actId="2711"/>
            <ac:spMkLst>
              <pc:docMk/>
              <pc:sldMasterMk cId="2755485914" sldId="2147483648"/>
              <pc:sldLayoutMk cId="3176484067" sldId="2147483650"/>
              <ac:spMk id="2" creationId="{FE4F955D-C3E9-4033-8442-9095377B0662}"/>
            </ac:spMkLst>
          </pc:spChg>
          <pc:spChg chg="mod">
            <ac:chgData name="Jihun Kim" userId="2469e03939fca47a" providerId="LiveId" clId="{0EC0481E-6524-4E60-9AD2-E07F55D3906F}" dt="2026-04-09T12:43:38.717" v="9" actId="113"/>
            <ac:spMkLst>
              <pc:docMk/>
              <pc:sldMasterMk cId="2755485914" sldId="2147483648"/>
              <pc:sldLayoutMk cId="3176484067" sldId="2147483650"/>
              <ac:spMk id="3" creationId="{9CA482F1-FC12-443E-892A-B48F9C50AA5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4436-1BEA-4F09-AD5C-9DF87C96BF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C9518-700F-4811-95BB-24DAF3FA9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1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Arial" panose="020B0604020202020204" pitchFamily="34" charset="0"/>
              </a:rPr>
              <a:t>Linear &amp; Logistic Regression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2026. 04. 17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 Medical Device Engineering &amp; Management,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&amp; Method</a:t>
            </a:r>
          </a:p>
          <a:p>
            <a:pPr lvl="1"/>
            <a:r>
              <a:rPr lang="en-US" altLang="ko-KR" dirty="0"/>
              <a:t>Exploratory Data Analysis (EDA)</a:t>
            </a:r>
          </a:p>
          <a:p>
            <a:pPr lvl="1"/>
            <a:r>
              <a:rPr lang="en-US" altLang="ko-KR" dirty="0"/>
              <a:t>Rule-based Clustering (BMI, TAMA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ML-based Clustering (AEC shape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Key</a:t>
            </a:r>
            <a:r>
              <a:rPr lang="ko-KR" altLang="en-US" dirty="0"/>
              <a:t> </a:t>
            </a:r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Rule-based / ML-based </a:t>
            </a:r>
            <a:r>
              <a:rPr lang="ko-KR" altLang="en-US" dirty="0"/>
              <a:t>모두 일관된 그룹 차이 확인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en-US" altLang="ko-KR" dirty="0"/>
              <a:t>shape</a:t>
            </a:r>
            <a:r>
              <a:rPr lang="ko-KR" altLang="en-US" dirty="0"/>
              <a:t>보다는 위상의 차이가 나타남</a:t>
            </a:r>
            <a:endParaRPr lang="en-US" altLang="ko-KR" dirty="0"/>
          </a:p>
          <a:p>
            <a:r>
              <a:rPr lang="en-US" altLang="ko-KR" dirty="0"/>
              <a:t>Limitation</a:t>
            </a:r>
          </a:p>
          <a:p>
            <a:pPr lvl="1"/>
            <a:r>
              <a:rPr lang="en-US" altLang="ko-KR" dirty="0"/>
              <a:t>Data Preprocessing Code </a:t>
            </a:r>
            <a:r>
              <a:rPr lang="ko-KR" altLang="en-US" dirty="0"/>
              <a:t>분석 필요</a:t>
            </a:r>
            <a:r>
              <a:rPr lang="en-US" altLang="ko-KR" dirty="0"/>
              <a:t>(</a:t>
            </a:r>
            <a:r>
              <a:rPr lang="en-US" altLang="ko-KR" dirty="0" err="1"/>
              <a:t>StandardScaler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911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Feature Engineering</a:t>
            </a:r>
            <a:r>
              <a:rPr lang="ko-KR" altLang="en-US" dirty="0"/>
              <a:t>에 따른 성능 변화</a:t>
            </a:r>
            <a:endParaRPr lang="en-US" altLang="ko-KR" dirty="0"/>
          </a:p>
          <a:p>
            <a:pPr lvl="1"/>
            <a:r>
              <a:rPr lang="en-US" altLang="ko-KR" dirty="0"/>
              <a:t>Case 1.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]</a:t>
            </a:r>
          </a:p>
          <a:p>
            <a:pPr lvl="1"/>
            <a:r>
              <a:rPr lang="en-US" altLang="ko-KR" dirty="0"/>
              <a:t>Case 2.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AEC]</a:t>
            </a:r>
          </a:p>
          <a:p>
            <a:pPr lvl="1"/>
            <a:r>
              <a:rPr lang="en-US" altLang="ko-KR" dirty="0"/>
              <a:t>Case 3.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AEC, </a:t>
            </a:r>
            <a:r>
              <a:rPr lang="ko-KR" altLang="en-US" dirty="0"/>
              <a:t>모델명</a:t>
            </a:r>
            <a:r>
              <a:rPr lang="en-US" altLang="ko-KR" dirty="0"/>
              <a:t>]</a:t>
            </a:r>
            <a:endParaRPr lang="ko-KR" altLang="en-US" dirty="0"/>
          </a:p>
          <a:p>
            <a:r>
              <a:rPr lang="en-US" altLang="ko-KR" dirty="0"/>
              <a:t>Regression</a:t>
            </a:r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 데이터를 활용한 </a:t>
            </a:r>
            <a:r>
              <a:rPr lang="en-US" altLang="ko-KR" dirty="0"/>
              <a:t>TAMA </a:t>
            </a:r>
            <a:r>
              <a:rPr lang="ko-KR" altLang="en-US" dirty="0"/>
              <a:t>분류 모델 구축</a:t>
            </a:r>
            <a:endParaRPr lang="en-US" altLang="ko-KR" dirty="0"/>
          </a:p>
          <a:p>
            <a:pPr lvl="1"/>
            <a:r>
              <a:rPr lang="en-US" altLang="ko-KR" dirty="0"/>
              <a:t>Linear Regression: </a:t>
            </a:r>
            <a:r>
              <a:rPr lang="ko-KR" altLang="en-US" dirty="0"/>
              <a:t>변수 간의 선형적 상관관계 및 연속적인 경향성 파악</a:t>
            </a:r>
            <a:endParaRPr lang="en-US" altLang="ko-KR" dirty="0"/>
          </a:p>
          <a:p>
            <a:pPr lvl="1"/>
            <a:r>
              <a:rPr lang="en-US" altLang="ko-KR" dirty="0"/>
              <a:t>Logistic Regression: TAMA </a:t>
            </a:r>
            <a:r>
              <a:rPr lang="ko-KR" altLang="en-US" dirty="0"/>
              <a:t>분류</a:t>
            </a:r>
            <a:r>
              <a:rPr lang="en-US" altLang="ko-KR" dirty="0"/>
              <a:t>(4 Class)</a:t>
            </a:r>
            <a:r>
              <a:rPr lang="ko-KR" altLang="en-US" dirty="0"/>
              <a:t>의 확률 추정 및 분류 성능 확보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03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프로토타입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00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Main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Opportunistic CT Biomarker </a:t>
            </a:r>
            <a:r>
              <a:rPr lang="ko-KR" altLang="en-US" dirty="0"/>
              <a:t>기반 → </a:t>
            </a:r>
            <a:r>
              <a:rPr lang="en-US" altLang="ko-KR" dirty="0"/>
              <a:t>5</a:t>
            </a:r>
            <a:r>
              <a:rPr lang="ko-KR" altLang="en-US" dirty="0"/>
              <a:t>년 내 </a:t>
            </a:r>
            <a:r>
              <a:rPr lang="en-US" altLang="ko-KR" dirty="0"/>
              <a:t>vertebral compression fracture </a:t>
            </a:r>
            <a:r>
              <a:rPr lang="ko-KR" altLang="en-US" dirty="0"/>
              <a:t>예측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en-US" altLang="ko-KR" dirty="0"/>
              <a:t>incremental value </a:t>
            </a:r>
            <a:r>
              <a:rPr lang="ko-KR" altLang="en-US" dirty="0"/>
              <a:t>검증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en-US" altLang="ko-KR" dirty="0"/>
              <a:t>Baseline APCT + follow-up imaging </a:t>
            </a:r>
            <a:r>
              <a:rPr lang="ko-KR" altLang="en-US" dirty="0"/>
              <a:t>보유 환자</a:t>
            </a:r>
            <a:endParaRPr lang="en-US" altLang="ko-KR" dirty="0"/>
          </a:p>
          <a:p>
            <a:pPr lvl="1"/>
            <a:r>
              <a:rPr lang="ko-KR" altLang="en-US" dirty="0"/>
              <a:t>주요 변수</a:t>
            </a:r>
            <a:r>
              <a:rPr lang="en-US" altLang="ko-KR" dirty="0"/>
              <a:t>: Age, Sex, AEC, Muscle, Bone Density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모델 구조</a:t>
            </a:r>
            <a:endParaRPr lang="en-US" altLang="ko-KR" dirty="0"/>
          </a:p>
          <a:p>
            <a:pPr lvl="1"/>
            <a:r>
              <a:rPr lang="en-US" altLang="ko-KR" dirty="0"/>
              <a:t>Model A: Age + Sex</a:t>
            </a:r>
          </a:p>
          <a:p>
            <a:pPr lvl="1"/>
            <a:r>
              <a:rPr lang="en-US" altLang="ko-KR" dirty="0"/>
              <a:t>Model B: + Bone</a:t>
            </a:r>
          </a:p>
          <a:p>
            <a:pPr lvl="1"/>
            <a:r>
              <a:rPr lang="en-US" altLang="ko-KR" dirty="0"/>
              <a:t>Model C: + Muscle</a:t>
            </a:r>
          </a:p>
          <a:p>
            <a:pPr lvl="1"/>
            <a:r>
              <a:rPr lang="en-US" altLang="ko-KR" dirty="0"/>
              <a:t>Model D: + AEC (</a:t>
            </a:r>
            <a:r>
              <a:rPr lang="ko-KR" altLang="en-US" dirty="0"/>
              <a:t>핵심 비교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9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가 단순 보조 변수인지 </a:t>
            </a:r>
            <a:r>
              <a:rPr lang="en-US" altLang="ko-KR" dirty="0"/>
              <a:t>vs </a:t>
            </a:r>
            <a:r>
              <a:rPr lang="ko-KR" altLang="en-US" dirty="0"/>
              <a:t>독립적인 </a:t>
            </a:r>
            <a:r>
              <a:rPr lang="en-US" altLang="ko-KR" dirty="0"/>
              <a:t>biomarker</a:t>
            </a:r>
            <a:r>
              <a:rPr lang="ko-KR" altLang="en-US" dirty="0"/>
              <a:t>인지 검증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본 연구 모델 포함 가능성 평가</a:t>
            </a:r>
            <a:endParaRPr lang="en-US" altLang="ko-KR" dirty="0"/>
          </a:p>
          <a:p>
            <a:r>
              <a:rPr lang="ko-KR" altLang="en-US" dirty="0"/>
              <a:t>핵심 질문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는 </a:t>
            </a:r>
            <a:r>
              <a:rPr lang="en-US" altLang="ko-KR" dirty="0"/>
              <a:t>age/sex </a:t>
            </a:r>
            <a:r>
              <a:rPr lang="ko-KR" altLang="en-US" dirty="0"/>
              <a:t>이상 정보를 가지는가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Muscle/Bone</a:t>
            </a:r>
            <a:r>
              <a:rPr lang="ko-KR" altLang="en-US" dirty="0"/>
              <a:t>과 독립적 연관성이 존재하는가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Scanner/Center </a:t>
            </a:r>
            <a:r>
              <a:rPr lang="ko-KR" altLang="en-US" dirty="0"/>
              <a:t>보정 후에도 유지되는가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43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분석 전략</a:t>
            </a:r>
            <a:endParaRPr lang="en-US" altLang="ko-KR" dirty="0"/>
          </a:p>
          <a:p>
            <a:pPr lvl="1"/>
            <a:r>
              <a:rPr lang="ko-KR" altLang="en-US" dirty="0"/>
              <a:t>분포 분석 </a:t>
            </a:r>
            <a:r>
              <a:rPr lang="en-US" altLang="ko-KR" dirty="0"/>
              <a:t>(AEC by </a:t>
            </a:r>
            <a:r>
              <a:rPr lang="ko-KR" altLang="en-US" dirty="0"/>
              <a:t>센터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) – Complete</a:t>
            </a:r>
          </a:p>
          <a:p>
            <a:pPr lvl="1"/>
            <a:r>
              <a:rPr lang="ko-KR" altLang="en-US" b="1" dirty="0"/>
              <a:t>회귀 분석 </a:t>
            </a:r>
            <a:r>
              <a:rPr lang="en-US" altLang="ko-KR" b="1" dirty="0"/>
              <a:t>(muscle area </a:t>
            </a:r>
            <a:r>
              <a:rPr lang="en-US" altLang="ko-KR" dirty="0"/>
              <a:t>/ attenuation / bone density ~ AEC + age + sex)</a:t>
            </a:r>
          </a:p>
          <a:p>
            <a:pPr lvl="1"/>
            <a:r>
              <a:rPr lang="ko-KR" altLang="en-US" b="1" dirty="0"/>
              <a:t>고급 분석</a:t>
            </a:r>
            <a:endParaRPr lang="en-US" altLang="ko-KR" b="1" dirty="0"/>
          </a:p>
          <a:p>
            <a:pPr lvl="2"/>
            <a:r>
              <a:rPr lang="en-US" altLang="ko-KR" b="1" dirty="0"/>
              <a:t>Multivariable (center, scanner </a:t>
            </a:r>
            <a:r>
              <a:rPr lang="ko-KR" altLang="en-US" b="1" dirty="0"/>
              <a:t>보정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Spline </a:t>
            </a:r>
            <a:r>
              <a:rPr lang="ko-KR" altLang="en-US" dirty="0"/>
              <a:t>분석 →</a:t>
            </a:r>
            <a:r>
              <a:rPr lang="en-US" altLang="ko-KR" dirty="0"/>
              <a:t> </a:t>
            </a:r>
            <a:r>
              <a:rPr lang="ko-KR" altLang="en-US" dirty="0"/>
              <a:t>비선형 관계 확인</a:t>
            </a:r>
            <a:endParaRPr lang="en-US" altLang="ko-KR" dirty="0"/>
          </a:p>
          <a:p>
            <a:pPr lvl="2"/>
            <a:r>
              <a:rPr lang="en-US" altLang="ko-KR" dirty="0"/>
              <a:t>Center-stratified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결과물</a:t>
            </a:r>
            <a:endParaRPr lang="en-US" altLang="ko-KR" dirty="0"/>
          </a:p>
          <a:p>
            <a:pPr lvl="1"/>
            <a:r>
              <a:rPr lang="en-US" altLang="ko-KR" dirty="0"/>
              <a:t>AEC distribution plot</a:t>
            </a:r>
          </a:p>
          <a:p>
            <a:pPr lvl="1"/>
            <a:r>
              <a:rPr lang="en-US" altLang="ko-KR" dirty="0"/>
              <a:t>AEC vs biomarker scatter</a:t>
            </a:r>
          </a:p>
          <a:p>
            <a:pPr lvl="1"/>
            <a:r>
              <a:rPr lang="en-US" altLang="ko-KR" dirty="0"/>
              <a:t>Regression Table</a:t>
            </a:r>
          </a:p>
          <a:p>
            <a:pPr lvl="1"/>
            <a:r>
              <a:rPr lang="en-US" altLang="ko-KR" dirty="0"/>
              <a:t>Stratified Result Figure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01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데이터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583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CT DICOM Data</a:t>
            </a:r>
          </a:p>
          <a:p>
            <a:pPr lvl="1"/>
            <a:r>
              <a:rPr lang="ko-KR" altLang="en-US" dirty="0"/>
              <a:t>강남</a:t>
            </a:r>
            <a:r>
              <a:rPr lang="en-US" altLang="ko-KR" dirty="0"/>
              <a:t>_</a:t>
            </a:r>
            <a:r>
              <a:rPr lang="ko-KR" altLang="en-US" dirty="0"/>
              <a:t>원본 </a:t>
            </a:r>
            <a:r>
              <a:rPr lang="en-US" altLang="ko-KR" dirty="0"/>
              <a:t>: 2,062</a:t>
            </a:r>
            <a:r>
              <a:rPr lang="ko-KR" altLang="en-US" dirty="0"/>
              <a:t>명 </a:t>
            </a:r>
            <a:r>
              <a:rPr lang="en-US" altLang="ko-KR" dirty="0"/>
              <a:t>(1~2063, 1882 </a:t>
            </a:r>
            <a:r>
              <a:rPr lang="ko-KR" altLang="en-US" dirty="0"/>
              <a:t>없음</a:t>
            </a:r>
            <a:r>
              <a:rPr lang="en-US" altLang="ko-KR" dirty="0"/>
              <a:t>) </a:t>
            </a:r>
          </a:p>
          <a:p>
            <a:pPr lvl="1"/>
            <a:r>
              <a:rPr lang="ko-KR" altLang="en-US" dirty="0"/>
              <a:t>신촌</a:t>
            </a:r>
            <a:r>
              <a:rPr lang="en-US" altLang="ko-KR" dirty="0"/>
              <a:t>_</a:t>
            </a:r>
            <a:r>
              <a:rPr lang="ko-KR" altLang="en-US" dirty="0"/>
              <a:t>원본 </a:t>
            </a:r>
            <a:r>
              <a:rPr lang="en-US" altLang="ko-KR" dirty="0"/>
              <a:t>: 3,228</a:t>
            </a:r>
            <a:r>
              <a:rPr lang="ko-KR" altLang="en-US" dirty="0"/>
              <a:t>명 </a:t>
            </a:r>
            <a:r>
              <a:rPr lang="en-US" altLang="ko-KR" dirty="0"/>
              <a:t>(2064~5291)</a:t>
            </a:r>
          </a:p>
          <a:p>
            <a:pPr lvl="1"/>
            <a:r>
              <a:rPr lang="ko-KR" altLang="en-US" dirty="0"/>
              <a:t>환자마다 파일 개수가 각기 다름</a:t>
            </a:r>
          </a:p>
          <a:p>
            <a:r>
              <a:rPr lang="en-US" altLang="ko-KR" dirty="0"/>
              <a:t>Clinic Data</a:t>
            </a:r>
          </a:p>
          <a:p>
            <a:pPr lvl="1"/>
            <a:r>
              <a:rPr lang="en-US" altLang="ko-KR" dirty="0"/>
              <a:t>Patient</a:t>
            </a:r>
            <a:r>
              <a:rPr lang="ko-KR" altLang="en-US" dirty="0"/>
              <a:t>별 </a:t>
            </a:r>
            <a:r>
              <a:rPr lang="en-US" altLang="ko-KR" dirty="0"/>
              <a:t>L3</a:t>
            </a:r>
            <a:r>
              <a:rPr lang="ko-KR" altLang="en-US" dirty="0"/>
              <a:t>의 </a:t>
            </a:r>
            <a:r>
              <a:rPr lang="en-US" altLang="ko-KR" dirty="0"/>
              <a:t>TAMA Value</a:t>
            </a:r>
          </a:p>
          <a:p>
            <a:pPr lvl="1"/>
            <a:r>
              <a:rPr lang="ko-KR" altLang="en-US" dirty="0"/>
              <a:t>강남</a:t>
            </a:r>
            <a:r>
              <a:rPr lang="en-US" altLang="ko-KR" dirty="0"/>
              <a:t>_</a:t>
            </a:r>
            <a:r>
              <a:rPr lang="ko-KR" altLang="en-US" dirty="0"/>
              <a:t>결과 </a:t>
            </a:r>
            <a:r>
              <a:rPr lang="en-US" altLang="ko-KR" dirty="0"/>
              <a:t>: 2,046</a:t>
            </a:r>
            <a:r>
              <a:rPr lang="ko-KR" altLang="en-US" dirty="0"/>
              <a:t>명</a:t>
            </a:r>
            <a:r>
              <a:rPr lang="en-US" altLang="ko-KR" dirty="0"/>
              <a:t>, 3,762 </a:t>
            </a:r>
            <a:r>
              <a:rPr lang="ko-KR" altLang="en-US" dirty="0"/>
              <a:t>데이터</a:t>
            </a:r>
          </a:p>
          <a:p>
            <a:pPr lvl="2"/>
            <a:r>
              <a:rPr lang="en-US" altLang="ko-KR" dirty="0" err="1"/>
              <a:t>SRC_Report</a:t>
            </a:r>
            <a:r>
              <a:rPr lang="ko-KR" altLang="en-US" dirty="0"/>
              <a:t>가 </a:t>
            </a:r>
            <a:r>
              <a:rPr lang="en-US" altLang="ko-KR" dirty="0"/>
              <a:t>N/A </a:t>
            </a:r>
            <a:r>
              <a:rPr lang="ko-KR" altLang="en-US" dirty="0"/>
              <a:t>또는 </a:t>
            </a:r>
            <a:r>
              <a:rPr lang="en-US" altLang="ko-KR" dirty="0"/>
              <a:t>NO_LINK</a:t>
            </a:r>
            <a:r>
              <a:rPr lang="ko-KR" altLang="en-US" dirty="0"/>
              <a:t>인 데이터 수 </a:t>
            </a:r>
            <a:r>
              <a:rPr lang="en-US" altLang="ko-KR" dirty="0"/>
              <a:t>: 75</a:t>
            </a:r>
          </a:p>
          <a:p>
            <a:pPr lvl="1"/>
            <a:r>
              <a:rPr lang="ko-KR" altLang="en-US" dirty="0"/>
              <a:t>신촌</a:t>
            </a:r>
            <a:r>
              <a:rPr lang="en-US" altLang="ko-KR" dirty="0"/>
              <a:t>_</a:t>
            </a:r>
            <a:r>
              <a:rPr lang="ko-KR" altLang="en-US" dirty="0"/>
              <a:t>결과 </a:t>
            </a:r>
            <a:r>
              <a:rPr lang="en-US" altLang="ko-KR" dirty="0"/>
              <a:t>: 3,162</a:t>
            </a:r>
            <a:r>
              <a:rPr lang="ko-KR" altLang="en-US" dirty="0"/>
              <a:t>명</a:t>
            </a:r>
            <a:r>
              <a:rPr lang="en-US" altLang="ko-KR" dirty="0"/>
              <a:t>, 3,162 </a:t>
            </a:r>
            <a:r>
              <a:rPr lang="ko-KR" altLang="en-US" dirty="0"/>
              <a:t>데이터</a:t>
            </a:r>
          </a:p>
          <a:p>
            <a:pPr lvl="2"/>
            <a:r>
              <a:rPr lang="en-US" altLang="ko-KR" dirty="0" err="1"/>
              <a:t>SRC_Report</a:t>
            </a:r>
            <a:r>
              <a:rPr lang="ko-KR" altLang="en-US" dirty="0"/>
              <a:t>가 </a:t>
            </a:r>
            <a:r>
              <a:rPr lang="en-US" altLang="ko-KR" dirty="0"/>
              <a:t>N/A</a:t>
            </a:r>
            <a:r>
              <a:rPr lang="ko-KR" altLang="en-US" dirty="0"/>
              <a:t>인 데이터 수 </a:t>
            </a:r>
            <a:r>
              <a:rPr lang="en-US" altLang="ko-KR" dirty="0"/>
              <a:t>: 905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362DA0-91D8-4EE9-A87E-6FAD9090FB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357" y="634999"/>
            <a:ext cx="4368243" cy="2379133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BFDB310-E6A6-4433-A2CA-006DEB33BC8F}"/>
              </a:ext>
            </a:extLst>
          </p:cNvPr>
          <p:cNvGrpSpPr/>
          <p:nvPr/>
        </p:nvGrpSpPr>
        <p:grpSpPr>
          <a:xfrm>
            <a:off x="8026957" y="3149599"/>
            <a:ext cx="2508368" cy="2872759"/>
            <a:chOff x="7315200" y="3445268"/>
            <a:chExt cx="2819794" cy="322942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472E081-5688-418C-8BD3-9E7DEE806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0" y="3445268"/>
              <a:ext cx="2819794" cy="3229426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C19456C-7488-4A63-AF76-CA35D919B3A8}"/>
                </a:ext>
              </a:extLst>
            </p:cNvPr>
            <p:cNvSpPr/>
            <p:nvPr/>
          </p:nvSpPr>
          <p:spPr>
            <a:xfrm>
              <a:off x="7315200" y="5791200"/>
              <a:ext cx="2819794" cy="2355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66CB6AC-D32C-49BF-8BE6-3CF4E506D5A1}"/>
                </a:ext>
              </a:extLst>
            </p:cNvPr>
            <p:cNvSpPr/>
            <p:nvPr/>
          </p:nvSpPr>
          <p:spPr>
            <a:xfrm>
              <a:off x="7315200" y="6241423"/>
              <a:ext cx="2819794" cy="4065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8443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A4BA40B-4342-4F78-A400-ED422EBABB58}"/>
              </a:ext>
            </a:extLst>
          </p:cNvPr>
          <p:cNvGrpSpPr/>
          <p:nvPr/>
        </p:nvGrpSpPr>
        <p:grpSpPr>
          <a:xfrm>
            <a:off x="1552800" y="1463869"/>
            <a:ext cx="9086400" cy="4496663"/>
            <a:chOff x="1324200" y="1923609"/>
            <a:chExt cx="9086400" cy="449666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EC651B0-1FAE-40DD-B838-9433ABFE6F3B}"/>
                </a:ext>
              </a:extLst>
            </p:cNvPr>
            <p:cNvGrpSpPr/>
            <p:nvPr/>
          </p:nvGrpSpPr>
          <p:grpSpPr>
            <a:xfrm>
              <a:off x="6400800" y="1923609"/>
              <a:ext cx="4009800" cy="4495800"/>
              <a:chOff x="304800" y="1752600"/>
              <a:chExt cx="4009800" cy="4495800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703012C0-2425-4541-A724-05377386AD98}"/>
                  </a:ext>
                </a:extLst>
              </p:cNvPr>
              <p:cNvSpPr/>
              <p:nvPr/>
            </p:nvSpPr>
            <p:spPr>
              <a:xfrm>
                <a:off x="1447800" y="1752600"/>
                <a:ext cx="1800000" cy="540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/>
                  <a:t>신촌</a:t>
                </a: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201C38E3-77EF-475D-AE2C-1CEEF19EAF78}"/>
                  </a:ext>
                </a:extLst>
              </p:cNvPr>
              <p:cNvSpPr/>
              <p:nvPr/>
            </p:nvSpPr>
            <p:spPr>
              <a:xfrm>
                <a:off x="304800" y="4001363"/>
                <a:ext cx="1800000" cy="828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100" b="1" dirty="0"/>
                  <a:t>AEC (Axial)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dirty="0"/>
                  <a:t>2,068 </a:t>
                </a:r>
                <a:endParaRPr lang="ko-KR" altLang="en-US" sz="1600" dirty="0"/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653C56A8-0B49-4067-BD1F-9BE0F1714DFB}"/>
                  </a:ext>
                </a:extLst>
              </p:cNvPr>
              <p:cNvSpPr/>
              <p:nvPr/>
            </p:nvSpPr>
            <p:spPr>
              <a:xfrm>
                <a:off x="2514600" y="2793896"/>
                <a:ext cx="1800000" cy="828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100" b="1" dirty="0"/>
                  <a:t>Unique / Clinic Data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dirty="0"/>
                  <a:t>3,162 / 3,162</a:t>
                </a:r>
                <a:endParaRPr lang="ko-KR" altLang="en-US" sz="1600" dirty="0"/>
              </a:p>
            </p:txBody>
          </p:sp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671F4979-323A-46EF-A30E-12936B98D852}"/>
                  </a:ext>
                </a:extLst>
              </p:cNvPr>
              <p:cNvSpPr/>
              <p:nvPr/>
            </p:nvSpPr>
            <p:spPr>
              <a:xfrm>
                <a:off x="304800" y="2793896"/>
                <a:ext cx="1800000" cy="828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100" b="1" dirty="0"/>
                  <a:t>CT Data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dirty="0"/>
                  <a:t>3,228 </a:t>
                </a:r>
                <a:endParaRPr lang="ko-KR" altLang="en-US" sz="1600" dirty="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941462C4-99CC-4BD7-B961-98E33BD5A5A4}"/>
                  </a:ext>
                </a:extLst>
              </p:cNvPr>
              <p:cNvSpPr/>
              <p:nvPr/>
            </p:nvSpPr>
            <p:spPr>
              <a:xfrm>
                <a:off x="2514600" y="4001363"/>
                <a:ext cx="1800000" cy="828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100" b="1" dirty="0"/>
                  <a:t>TAMA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dirty="0"/>
                  <a:t>2,257</a:t>
                </a:r>
                <a:endParaRPr lang="ko-KR" altLang="en-US" sz="1600" dirty="0"/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CE21B25B-79F3-4ED3-A1A6-632EB8396D77}"/>
                  </a:ext>
                </a:extLst>
              </p:cNvPr>
              <p:cNvSpPr/>
              <p:nvPr/>
            </p:nvSpPr>
            <p:spPr>
              <a:xfrm>
                <a:off x="1447800" y="5420400"/>
                <a:ext cx="1800000" cy="828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dirty="0"/>
                  <a:t>모두 존재</a:t>
                </a:r>
                <a:endParaRPr lang="en-US" altLang="ko-KR" sz="1100" b="1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dirty="0"/>
                  <a:t>1438</a:t>
                </a:r>
                <a:endParaRPr lang="ko-KR" altLang="en-US" sz="1600" dirty="0"/>
              </a:p>
            </p:txBody>
          </p: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324BD3D8-0A5F-425A-BA54-597366601D37}"/>
                  </a:ext>
                </a:extLst>
              </p:cNvPr>
              <p:cNvCxnSpPr>
                <a:stCxn id="30" idx="2"/>
                <a:endCxn id="28" idx="0"/>
              </p:cNvCxnSpPr>
              <p:nvPr/>
            </p:nvCxnSpPr>
            <p:spPr>
              <a:xfrm>
                <a:off x="1204800" y="3621896"/>
                <a:ext cx="0" cy="37946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26F18310-5B15-4A8E-8DC5-9D26634D3A68}"/>
                  </a:ext>
                </a:extLst>
              </p:cNvPr>
              <p:cNvCxnSpPr>
                <a:cxnSpLocks/>
                <a:stCxn id="29" idx="2"/>
                <a:endCxn id="31" idx="0"/>
              </p:cNvCxnSpPr>
              <p:nvPr/>
            </p:nvCxnSpPr>
            <p:spPr>
              <a:xfrm>
                <a:off x="3414600" y="3621896"/>
                <a:ext cx="0" cy="37946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연결선: 꺾임 34">
                <a:extLst>
                  <a:ext uri="{FF2B5EF4-FFF2-40B4-BE49-F238E27FC236}">
                    <a16:creationId xmlns:a16="http://schemas.microsoft.com/office/drawing/2014/main" id="{893AD032-BF67-42D8-B1AF-2758CBB5C490}"/>
                  </a:ext>
                </a:extLst>
              </p:cNvPr>
              <p:cNvCxnSpPr>
                <a:stCxn id="27" idx="2"/>
                <a:endCxn id="30" idx="0"/>
              </p:cNvCxnSpPr>
              <p:nvPr/>
            </p:nvCxnSpPr>
            <p:spPr>
              <a:xfrm rot="5400000">
                <a:off x="1525652" y="1971748"/>
                <a:ext cx="501296" cy="1143000"/>
              </a:xfrm>
              <a:prstGeom prst="bent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연결선: 꺾임 35">
                <a:extLst>
                  <a:ext uri="{FF2B5EF4-FFF2-40B4-BE49-F238E27FC236}">
                    <a16:creationId xmlns:a16="http://schemas.microsoft.com/office/drawing/2014/main" id="{B9469B85-0F3D-4DBA-A4CE-575271DAE543}"/>
                  </a:ext>
                </a:extLst>
              </p:cNvPr>
              <p:cNvCxnSpPr>
                <a:cxnSpLocks/>
                <a:stCxn id="27" idx="2"/>
                <a:endCxn id="29" idx="0"/>
              </p:cNvCxnSpPr>
              <p:nvPr/>
            </p:nvCxnSpPr>
            <p:spPr>
              <a:xfrm rot="16200000" flipH="1">
                <a:off x="2630552" y="2009848"/>
                <a:ext cx="501296" cy="1066800"/>
              </a:xfrm>
              <a:prstGeom prst="bent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연결선: 꺾임 36">
                <a:extLst>
                  <a:ext uri="{FF2B5EF4-FFF2-40B4-BE49-F238E27FC236}">
                    <a16:creationId xmlns:a16="http://schemas.microsoft.com/office/drawing/2014/main" id="{B1C9335F-31AB-4738-8C8F-7BB11E349C5A}"/>
                  </a:ext>
                </a:extLst>
              </p:cNvPr>
              <p:cNvCxnSpPr>
                <a:cxnSpLocks/>
                <a:stCxn id="28" idx="2"/>
                <a:endCxn id="32" idx="0"/>
              </p:cNvCxnSpPr>
              <p:nvPr/>
            </p:nvCxnSpPr>
            <p:spPr>
              <a:xfrm rot="16200000" flipH="1">
                <a:off x="1480782" y="4553381"/>
                <a:ext cx="591037" cy="1143000"/>
              </a:xfrm>
              <a:prstGeom prst="bent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연결선: 꺾임 37">
                <a:extLst>
                  <a:ext uri="{FF2B5EF4-FFF2-40B4-BE49-F238E27FC236}">
                    <a16:creationId xmlns:a16="http://schemas.microsoft.com/office/drawing/2014/main" id="{3CFEACF3-83C2-42EC-8346-463929FA774E}"/>
                  </a:ext>
                </a:extLst>
              </p:cNvPr>
              <p:cNvCxnSpPr>
                <a:cxnSpLocks/>
                <a:stCxn id="31" idx="2"/>
                <a:endCxn id="32" idx="0"/>
              </p:cNvCxnSpPr>
              <p:nvPr/>
            </p:nvCxnSpPr>
            <p:spPr>
              <a:xfrm rot="5400000">
                <a:off x="2585682" y="4591481"/>
                <a:ext cx="591037" cy="1066800"/>
              </a:xfrm>
              <a:prstGeom prst="bent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B3FF120-F488-405A-B7E8-763C29D1C455}"/>
                </a:ext>
              </a:extLst>
            </p:cNvPr>
            <p:cNvGrpSpPr/>
            <p:nvPr/>
          </p:nvGrpSpPr>
          <p:grpSpPr>
            <a:xfrm>
              <a:off x="1324200" y="1924472"/>
              <a:ext cx="4009800" cy="4495800"/>
              <a:chOff x="304800" y="1752600"/>
              <a:chExt cx="4009800" cy="44958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39F4106D-0566-4508-A73D-0A6F101D2D87}"/>
                  </a:ext>
                </a:extLst>
              </p:cNvPr>
              <p:cNvSpPr/>
              <p:nvPr/>
            </p:nvSpPr>
            <p:spPr>
              <a:xfrm>
                <a:off x="1447800" y="1752600"/>
                <a:ext cx="1800000" cy="540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/>
                  <a:t>강남</a:t>
                </a:r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C5A1E06E-C7BC-4099-BEE3-0C2280B68EC9}"/>
                  </a:ext>
                </a:extLst>
              </p:cNvPr>
              <p:cNvSpPr/>
              <p:nvPr/>
            </p:nvSpPr>
            <p:spPr>
              <a:xfrm>
                <a:off x="304800" y="4001363"/>
                <a:ext cx="1800000" cy="828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100" b="1" dirty="0"/>
                  <a:t>AEC (Axial)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dirty="0"/>
                  <a:t>2,062 </a:t>
                </a:r>
                <a:endParaRPr lang="ko-KR" altLang="en-US" sz="1600" dirty="0"/>
              </a:p>
            </p:txBody>
          </p:sp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C1053D9C-9466-4076-9506-755D2C2828DE}"/>
                  </a:ext>
                </a:extLst>
              </p:cNvPr>
              <p:cNvSpPr/>
              <p:nvPr/>
            </p:nvSpPr>
            <p:spPr>
              <a:xfrm>
                <a:off x="2514600" y="2793896"/>
                <a:ext cx="1800000" cy="828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100" b="1" dirty="0"/>
                  <a:t>Unique / Clinic Data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dirty="0"/>
                  <a:t>2,046 / 3,762</a:t>
                </a:r>
                <a:endParaRPr lang="ko-KR" altLang="en-US" sz="1600" dirty="0"/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A5B0F087-FA55-4D43-AAFD-25D243532476}"/>
                  </a:ext>
                </a:extLst>
              </p:cNvPr>
              <p:cNvSpPr/>
              <p:nvPr/>
            </p:nvSpPr>
            <p:spPr>
              <a:xfrm>
                <a:off x="304800" y="2793896"/>
                <a:ext cx="1800000" cy="828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100" b="1" dirty="0"/>
                  <a:t>CT Data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dirty="0"/>
                  <a:t>2,062 </a:t>
                </a:r>
                <a:endParaRPr lang="ko-KR" altLang="en-US" sz="1600" dirty="0"/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8104EFD8-A7D9-4B6E-89F3-2DC51CE3F220}"/>
                  </a:ext>
                </a:extLst>
              </p:cNvPr>
              <p:cNvSpPr/>
              <p:nvPr/>
            </p:nvSpPr>
            <p:spPr>
              <a:xfrm>
                <a:off x="2514600" y="4001363"/>
                <a:ext cx="1800000" cy="828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100" b="1" dirty="0"/>
                  <a:t>TAMA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dirty="0"/>
                  <a:t>2,030</a:t>
                </a:r>
                <a:endParaRPr lang="ko-KR" altLang="en-US" sz="1600" dirty="0"/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3273AD10-3F00-471E-AC71-47C354D7E837}"/>
                  </a:ext>
                </a:extLst>
              </p:cNvPr>
              <p:cNvSpPr/>
              <p:nvPr/>
            </p:nvSpPr>
            <p:spPr>
              <a:xfrm>
                <a:off x="1447800" y="5420400"/>
                <a:ext cx="1800000" cy="82800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dirty="0"/>
                  <a:t>모두 존재</a:t>
                </a:r>
                <a:endParaRPr lang="en-US" altLang="ko-KR" sz="1100" b="1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dirty="0"/>
                  <a:t>2,029</a:t>
                </a:r>
                <a:endParaRPr lang="ko-KR" altLang="en-US" sz="1600" dirty="0"/>
              </a:p>
            </p:txBody>
          </p: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A924D008-334B-4F9D-AF39-D8816A053E51}"/>
                  </a:ext>
                </a:extLst>
              </p:cNvPr>
              <p:cNvCxnSpPr>
                <a:stCxn id="18" idx="2"/>
                <a:endCxn id="16" idx="0"/>
              </p:cNvCxnSpPr>
              <p:nvPr/>
            </p:nvCxnSpPr>
            <p:spPr>
              <a:xfrm>
                <a:off x="1204800" y="3621896"/>
                <a:ext cx="0" cy="37946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130E2967-6DFF-4A1E-83FB-5C298B903EB3}"/>
                  </a:ext>
                </a:extLst>
              </p:cNvPr>
              <p:cNvCxnSpPr>
                <a:cxnSpLocks/>
                <a:stCxn id="17" idx="2"/>
                <a:endCxn id="19" idx="0"/>
              </p:cNvCxnSpPr>
              <p:nvPr/>
            </p:nvCxnSpPr>
            <p:spPr>
              <a:xfrm>
                <a:off x="3414600" y="3621896"/>
                <a:ext cx="0" cy="37946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연결선: 꺾임 22">
                <a:extLst>
                  <a:ext uri="{FF2B5EF4-FFF2-40B4-BE49-F238E27FC236}">
                    <a16:creationId xmlns:a16="http://schemas.microsoft.com/office/drawing/2014/main" id="{AA1473F6-21EF-4733-BA9C-590A9CD65514}"/>
                  </a:ext>
                </a:extLst>
              </p:cNvPr>
              <p:cNvCxnSpPr>
                <a:stCxn id="15" idx="2"/>
                <a:endCxn id="18" idx="0"/>
              </p:cNvCxnSpPr>
              <p:nvPr/>
            </p:nvCxnSpPr>
            <p:spPr>
              <a:xfrm rot="5400000">
                <a:off x="1525652" y="1971748"/>
                <a:ext cx="501296" cy="1143000"/>
              </a:xfrm>
              <a:prstGeom prst="bent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연결선: 꺾임 23">
                <a:extLst>
                  <a:ext uri="{FF2B5EF4-FFF2-40B4-BE49-F238E27FC236}">
                    <a16:creationId xmlns:a16="http://schemas.microsoft.com/office/drawing/2014/main" id="{7EDEC437-B459-437B-ABEB-A4949D58EE91}"/>
                  </a:ext>
                </a:extLst>
              </p:cNvPr>
              <p:cNvCxnSpPr>
                <a:cxnSpLocks/>
                <a:stCxn id="15" idx="2"/>
                <a:endCxn id="17" idx="0"/>
              </p:cNvCxnSpPr>
              <p:nvPr/>
            </p:nvCxnSpPr>
            <p:spPr>
              <a:xfrm rot="16200000" flipH="1">
                <a:off x="2630552" y="2009848"/>
                <a:ext cx="501296" cy="1066800"/>
              </a:xfrm>
              <a:prstGeom prst="bent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연결선: 꺾임 24">
                <a:extLst>
                  <a:ext uri="{FF2B5EF4-FFF2-40B4-BE49-F238E27FC236}">
                    <a16:creationId xmlns:a16="http://schemas.microsoft.com/office/drawing/2014/main" id="{294941AC-8A65-48EC-A34D-518E41F2CBE2}"/>
                  </a:ext>
                </a:extLst>
              </p:cNvPr>
              <p:cNvCxnSpPr>
                <a:cxnSpLocks/>
                <a:stCxn id="16" idx="2"/>
                <a:endCxn id="20" idx="0"/>
              </p:cNvCxnSpPr>
              <p:nvPr/>
            </p:nvCxnSpPr>
            <p:spPr>
              <a:xfrm rot="16200000" flipH="1">
                <a:off x="1480782" y="4553381"/>
                <a:ext cx="591037" cy="1143000"/>
              </a:xfrm>
              <a:prstGeom prst="bent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연결선: 꺾임 25">
                <a:extLst>
                  <a:ext uri="{FF2B5EF4-FFF2-40B4-BE49-F238E27FC236}">
                    <a16:creationId xmlns:a16="http://schemas.microsoft.com/office/drawing/2014/main" id="{226736ED-851A-4589-8138-919E8625F4D9}"/>
                  </a:ext>
                </a:extLst>
              </p:cNvPr>
              <p:cNvCxnSpPr>
                <a:cxnSpLocks/>
                <a:stCxn id="19" idx="2"/>
                <a:endCxn id="20" idx="0"/>
              </p:cNvCxnSpPr>
              <p:nvPr/>
            </p:nvCxnSpPr>
            <p:spPr>
              <a:xfrm rot="5400000">
                <a:off x="2585682" y="4591481"/>
                <a:ext cx="591037" cy="1066800"/>
              </a:xfrm>
              <a:prstGeom prst="bent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4284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12BE9E3-6536-4FF8-AC4E-29FBCA148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b="1" dirty="0"/>
              <a:t>AEC Value Preprocessing Workflow</a:t>
            </a:r>
          </a:p>
          <a:p>
            <a:pPr lvl="1"/>
            <a:r>
              <a:rPr lang="en-US" altLang="ko-KR" b="1" dirty="0"/>
              <a:t>Normalization:</a:t>
            </a:r>
            <a:r>
              <a:rPr lang="ko-KR" altLang="en-US" dirty="0"/>
              <a:t> 환자별로 상이한 </a:t>
            </a:r>
            <a:r>
              <a:rPr lang="en-US" altLang="ko-KR" dirty="0"/>
              <a:t>CT </a:t>
            </a:r>
            <a:r>
              <a:rPr lang="ko-KR" altLang="en-US" dirty="0"/>
              <a:t>데이터 규격의 일관성 확보를 위한 정규화 수행</a:t>
            </a:r>
          </a:p>
          <a:p>
            <a:pPr lvl="1"/>
            <a:r>
              <a:rPr lang="en-US" altLang="ko-KR" b="1" dirty="0"/>
              <a:t>Feature Engineering:</a:t>
            </a:r>
            <a:r>
              <a:rPr lang="ko-KR" altLang="en-US" dirty="0"/>
              <a:t> 모델 성능 향상을 위해 원시 데이터</a:t>
            </a:r>
            <a:r>
              <a:rPr lang="en-US" altLang="ko-KR" dirty="0"/>
              <a:t>(Raw value)</a:t>
            </a:r>
            <a:r>
              <a:rPr lang="ko-KR" altLang="en-US" dirty="0"/>
              <a:t>로부터 통계적 특징</a:t>
            </a:r>
            <a:r>
              <a:rPr lang="en-US" altLang="ko-KR" dirty="0"/>
              <a:t>(Feature)</a:t>
            </a:r>
            <a:r>
              <a:rPr lang="ko-KR" altLang="en-US" dirty="0"/>
              <a:t>을 추출하여 학습 데이터로 활용</a:t>
            </a:r>
          </a:p>
          <a:p>
            <a:pPr lvl="1"/>
            <a:r>
              <a:rPr lang="en-US" altLang="ko-KR" b="1" dirty="0"/>
              <a:t>Dataset Construction:</a:t>
            </a:r>
            <a:r>
              <a:rPr lang="ko-KR" altLang="en-US" dirty="0"/>
              <a:t> 추출된 다차원 특징들을 통합하여 연구 특화 데이터셋 구축</a:t>
            </a:r>
          </a:p>
          <a:p>
            <a:pPr lvl="1"/>
            <a:r>
              <a:rPr lang="en-US" altLang="ko-KR" b="1" dirty="0"/>
              <a:t>Feature Selection:</a:t>
            </a:r>
            <a:r>
              <a:rPr lang="ko-KR" altLang="en-US" dirty="0"/>
              <a:t> </a:t>
            </a:r>
            <a:r>
              <a:rPr lang="ko-KR" altLang="en-US" dirty="0" err="1"/>
              <a:t>단변량</a:t>
            </a:r>
            <a:r>
              <a:rPr lang="ko-KR" altLang="en-US" dirty="0"/>
              <a:t> 분석을 시행하여 연구 모델에 가장 적합한 핵심 변수 식별 및 검증</a:t>
            </a:r>
          </a:p>
        </p:txBody>
      </p:sp>
    </p:spTree>
    <p:extLst>
      <p:ext uri="{BB962C8B-B14F-4D97-AF65-F5344CB8AC3E}">
        <p14:creationId xmlns:p14="http://schemas.microsoft.com/office/powerpoint/2010/main" val="3189097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12BE9E3-6536-4FF8-AC4E-29FBCA148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b="1" dirty="0"/>
              <a:t>AEC feature extracting </a:t>
            </a:r>
            <a:r>
              <a:rPr lang="ko-KR" altLang="en-US" b="1" dirty="0"/>
              <a:t>～ </a:t>
            </a:r>
            <a:r>
              <a:rPr lang="en-US" altLang="ko-KR" b="1" dirty="0"/>
              <a:t>65 features</a:t>
            </a:r>
            <a:endParaRPr lang="en-US" altLang="ko-KR" dirty="0"/>
          </a:p>
          <a:p>
            <a:pPr lvl="1"/>
            <a:r>
              <a:rPr lang="en-US" altLang="ko-KR" dirty="0"/>
              <a:t>Signal Info</a:t>
            </a:r>
          </a:p>
          <a:p>
            <a:pPr lvl="2"/>
            <a:r>
              <a:rPr lang="en-US" altLang="ko-KR" dirty="0"/>
              <a:t>Signal length</a:t>
            </a:r>
          </a:p>
          <a:p>
            <a:pPr lvl="1"/>
            <a:r>
              <a:rPr lang="en-US" altLang="ko-KR" dirty="0"/>
              <a:t>Basic Statistics</a:t>
            </a:r>
          </a:p>
          <a:p>
            <a:pPr lvl="2"/>
            <a:r>
              <a:rPr lang="en-US" altLang="ko-KR" dirty="0"/>
              <a:t>mean, std, min, max, range, median, IQR, skewness, kurtosis</a:t>
            </a:r>
          </a:p>
          <a:p>
            <a:pPr lvl="2"/>
            <a:r>
              <a:rPr lang="en-US" altLang="ko-KR" dirty="0"/>
              <a:t>percentile (p5, p10, p25, p75, p90, p95), p90_p10_ratio</a:t>
            </a:r>
          </a:p>
          <a:p>
            <a:pPr lvl="2"/>
            <a:r>
              <a:rPr lang="en-US" altLang="ko-KR" dirty="0"/>
              <a:t>CV (Coefficient of Variation), RMSE, </a:t>
            </a:r>
            <a:r>
              <a:rPr lang="en-US" altLang="ko-KR" dirty="0" err="1"/>
              <a:t>signal_energy</a:t>
            </a:r>
            <a:r>
              <a:rPr lang="en-US" altLang="ko-KR" dirty="0"/>
              <a:t> (Sum of squared values), </a:t>
            </a:r>
            <a:r>
              <a:rPr lang="en-US" altLang="ko-KR" dirty="0" err="1"/>
              <a:t>mean_abs_deviation</a:t>
            </a:r>
            <a:endParaRPr lang="en-US" altLang="ko-KR" dirty="0"/>
          </a:p>
          <a:p>
            <a:pPr lvl="1"/>
            <a:r>
              <a:rPr lang="en-US" altLang="ko-KR" dirty="0"/>
              <a:t>Shape</a:t>
            </a:r>
          </a:p>
          <a:p>
            <a:pPr lvl="2"/>
            <a:r>
              <a:rPr lang="en-US" altLang="ko-KR" dirty="0"/>
              <a:t>peak (count, max, mean, std, </a:t>
            </a:r>
            <a:r>
              <a:rPr lang="en-US" altLang="ko-KR" dirty="0" err="1"/>
              <a:t>first_position</a:t>
            </a:r>
            <a:r>
              <a:rPr lang="en-US" altLang="ko-KR" dirty="0"/>
              <a:t>, </a:t>
            </a:r>
            <a:r>
              <a:rPr lang="en-US" altLang="ko-KR" dirty="0" err="1"/>
              <a:t>last_position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Slope (count, max, min, mean, std, </a:t>
            </a:r>
            <a:r>
              <a:rPr lang="en-US" altLang="ko-KR" dirty="0" err="1"/>
              <a:t>abs_mean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Valley count, AUC</a:t>
            </a:r>
          </a:p>
          <a:p>
            <a:pPr lvl="1"/>
            <a:r>
              <a:rPr lang="en-US" altLang="ko-KR" dirty="0"/>
              <a:t>Frequency &amp; Wavelet</a:t>
            </a:r>
          </a:p>
        </p:txBody>
      </p:sp>
    </p:spTree>
    <p:extLst>
      <p:ext uri="{BB962C8B-B14F-4D97-AF65-F5344CB8AC3E}">
        <p14:creationId xmlns:p14="http://schemas.microsoft.com/office/powerpoint/2010/main" val="2793819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Linear &amp; Logistic Regression</a:t>
            </a:r>
            <a:endParaRPr lang="ko-KR" altLang="en-US" sz="4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8733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Regression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1215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12BE9E3-6536-4FF8-AC4E-29FBCA148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b="1" dirty="0"/>
              <a:t>Rank of correlation (</a:t>
            </a:r>
            <a:r>
              <a:rPr lang="en-US" altLang="ko-KR" dirty="0"/>
              <a:t>~ </a:t>
            </a:r>
            <a:r>
              <a:rPr lang="en-US" altLang="ko-KR" b="1" dirty="0"/>
              <a:t>TAMA)</a:t>
            </a:r>
            <a:endParaRPr lang="en-US" altLang="ko-KR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DA8A58C-4BF5-4C22-B4B4-83F32416FD23}"/>
              </a:ext>
            </a:extLst>
          </p:cNvPr>
          <p:cNvGrpSpPr/>
          <p:nvPr/>
        </p:nvGrpSpPr>
        <p:grpSpPr>
          <a:xfrm>
            <a:off x="696000" y="1599695"/>
            <a:ext cx="10800000" cy="4680000"/>
            <a:chOff x="727271" y="1599698"/>
            <a:chExt cx="10737458" cy="4639220"/>
          </a:xfrm>
        </p:grpSpPr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87A7621D-B7B9-484D-B862-0F780A7518A4}"/>
                </a:ext>
              </a:extLst>
            </p:cNvPr>
            <p:cNvSpPr/>
            <p:nvPr/>
          </p:nvSpPr>
          <p:spPr>
            <a:xfrm>
              <a:off x="727271" y="1599698"/>
              <a:ext cx="5300338" cy="307762"/>
            </a:xfrm>
            <a:prstGeom prst="rect">
              <a:avLst/>
            </a:prstGeom>
            <a:solidFill>
              <a:srgbClr val="E6F1FB"/>
            </a:solidFill>
            <a:ln w="12700">
              <a:solidFill>
                <a:srgbClr val="E6F1FB"/>
              </a:solidFill>
              <a:prstDash val="solid"/>
            </a:ln>
          </p:spPr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49019426-0BA1-413D-A37B-D90984DD7F74}"/>
                </a:ext>
              </a:extLst>
            </p:cNvPr>
            <p:cNvSpPr/>
            <p:nvPr/>
          </p:nvSpPr>
          <p:spPr>
            <a:xfrm>
              <a:off x="818460" y="1599698"/>
              <a:ext cx="5186352" cy="3077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▲  양의 상관  (Top 10)</a:t>
              </a:r>
              <a:endParaRPr lang="en-US" sz="1400" dirty="0"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7D7010F5-4D74-491D-B5CD-CE04D94F0C8C}"/>
                </a:ext>
              </a:extLst>
            </p:cNvPr>
            <p:cNvSpPr/>
            <p:nvPr/>
          </p:nvSpPr>
          <p:spPr>
            <a:xfrm>
              <a:off x="727271" y="2044242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70CC33D9-526D-4B84-9C2D-1CCA47B0E636}"/>
                </a:ext>
              </a:extLst>
            </p:cNvPr>
            <p:cNvSpPr/>
            <p:nvPr/>
          </p:nvSpPr>
          <p:spPr>
            <a:xfrm>
              <a:off x="727271" y="2044242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E8471534-5749-4E55-BF11-AC90F232D761}"/>
                </a:ext>
              </a:extLst>
            </p:cNvPr>
            <p:cNvSpPr/>
            <p:nvPr/>
          </p:nvSpPr>
          <p:spPr>
            <a:xfrm>
              <a:off x="1069228" y="1964452"/>
              <a:ext cx="1823772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p25</a:t>
              </a:r>
              <a:endParaRPr lang="en-US" sz="1400" b="1" dirty="0"/>
            </a:p>
          </p:txBody>
        </p:sp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FEE72CBA-27F7-4453-9FCF-117B34915C43}"/>
                </a:ext>
              </a:extLst>
            </p:cNvPr>
            <p:cNvSpPr/>
            <p:nvPr/>
          </p:nvSpPr>
          <p:spPr>
            <a:xfrm>
              <a:off x="2961392" y="2081288"/>
              <a:ext cx="1994751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0AB2B1A2-4EDB-42F8-9F44-3B5F6F62233A}"/>
                </a:ext>
              </a:extLst>
            </p:cNvPr>
            <p:cNvSpPr/>
            <p:nvPr/>
          </p:nvSpPr>
          <p:spPr>
            <a:xfrm>
              <a:off x="2961392" y="2081288"/>
              <a:ext cx="1823202" cy="193776"/>
            </a:xfrm>
            <a:prstGeom prst="rect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86818EE9-7C21-4A1E-A4DA-59E5EC4759EB}"/>
                </a:ext>
              </a:extLst>
            </p:cNvPr>
            <p:cNvSpPr/>
            <p:nvPr/>
          </p:nvSpPr>
          <p:spPr>
            <a:xfrm>
              <a:off x="5024534" y="1964452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+0.3656</a:t>
              </a:r>
              <a:endParaRPr lang="en-US" sz="1200" dirty="0"/>
            </a:p>
          </p:txBody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9411A5C2-9A01-4B57-8B9A-CBDD6DFA27C9}"/>
                </a:ext>
              </a:extLst>
            </p:cNvPr>
            <p:cNvSpPr/>
            <p:nvPr/>
          </p:nvSpPr>
          <p:spPr>
            <a:xfrm>
              <a:off x="727271" y="2471689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5CEAD5F0-FE27-4122-B2E6-56A3FE866489}"/>
                </a:ext>
              </a:extLst>
            </p:cNvPr>
            <p:cNvSpPr/>
            <p:nvPr/>
          </p:nvSpPr>
          <p:spPr>
            <a:xfrm>
              <a:off x="727271" y="2471689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795D1C68-7819-411A-BD90-77414D1B993B}"/>
                </a:ext>
              </a:extLst>
            </p:cNvPr>
            <p:cNvSpPr/>
            <p:nvPr/>
          </p:nvSpPr>
          <p:spPr>
            <a:xfrm>
              <a:off x="1069228" y="2391899"/>
              <a:ext cx="1823772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p10</a:t>
              </a:r>
              <a:endParaRPr lang="en-US" sz="1400" b="1" dirty="0"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B866D52F-DD15-491F-9043-81C9B5E0C65A}"/>
                </a:ext>
              </a:extLst>
            </p:cNvPr>
            <p:cNvSpPr/>
            <p:nvPr/>
          </p:nvSpPr>
          <p:spPr>
            <a:xfrm>
              <a:off x="2961392" y="2508734"/>
              <a:ext cx="1994751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0BFE0FC3-930D-4370-AA9C-8F543416D178}"/>
                </a:ext>
              </a:extLst>
            </p:cNvPr>
            <p:cNvSpPr/>
            <p:nvPr/>
          </p:nvSpPr>
          <p:spPr>
            <a:xfrm>
              <a:off x="2961392" y="2508734"/>
              <a:ext cx="1781811" cy="193776"/>
            </a:xfrm>
            <a:prstGeom prst="rect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24" name="Text 17">
              <a:extLst>
                <a:ext uri="{FF2B5EF4-FFF2-40B4-BE49-F238E27FC236}">
                  <a16:creationId xmlns:a16="http://schemas.microsoft.com/office/drawing/2014/main" id="{75F8D717-687E-41F5-B931-9D41AE1A809F}"/>
                </a:ext>
              </a:extLst>
            </p:cNvPr>
            <p:cNvSpPr/>
            <p:nvPr/>
          </p:nvSpPr>
          <p:spPr>
            <a:xfrm>
              <a:off x="5024534" y="2391899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+0.3573</a:t>
              </a:r>
              <a:endParaRPr lang="en-US" sz="1200" dirty="0"/>
            </a:p>
          </p:txBody>
        </p:sp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1DBFF5DD-264B-4F55-A1D7-49B17CB23CD5}"/>
                </a:ext>
              </a:extLst>
            </p:cNvPr>
            <p:cNvSpPr/>
            <p:nvPr/>
          </p:nvSpPr>
          <p:spPr>
            <a:xfrm>
              <a:off x="727271" y="2899136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40193135-E31E-4943-9232-AF014619763F}"/>
                </a:ext>
              </a:extLst>
            </p:cNvPr>
            <p:cNvSpPr/>
            <p:nvPr/>
          </p:nvSpPr>
          <p:spPr>
            <a:xfrm>
              <a:off x="727271" y="2899136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100" dirty="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2092F556-4611-4FB2-A79E-F5B8FBF05AEC}"/>
                </a:ext>
              </a:extLst>
            </p:cNvPr>
            <p:cNvSpPr/>
            <p:nvPr/>
          </p:nvSpPr>
          <p:spPr>
            <a:xfrm>
              <a:off x="1069228" y="2819346"/>
              <a:ext cx="1823772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signal_energy</a:t>
              </a:r>
              <a:endParaRPr lang="en-US" sz="1400" b="1" dirty="0"/>
            </a:p>
          </p:txBody>
        </p:sp>
        <p:sp>
          <p:nvSpPr>
            <p:cNvPr id="28" name="Shape 21">
              <a:extLst>
                <a:ext uri="{FF2B5EF4-FFF2-40B4-BE49-F238E27FC236}">
                  <a16:creationId xmlns:a16="http://schemas.microsoft.com/office/drawing/2014/main" id="{6C97C280-E669-4EA8-82A9-CB6BF4473324}"/>
                </a:ext>
              </a:extLst>
            </p:cNvPr>
            <p:cNvSpPr/>
            <p:nvPr/>
          </p:nvSpPr>
          <p:spPr>
            <a:xfrm>
              <a:off x="2961392" y="2936181"/>
              <a:ext cx="1994751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81A9BBAA-3419-4F94-968E-2DA4C8B6AFC5}"/>
                </a:ext>
              </a:extLst>
            </p:cNvPr>
            <p:cNvSpPr/>
            <p:nvPr/>
          </p:nvSpPr>
          <p:spPr>
            <a:xfrm>
              <a:off x="2961392" y="2936181"/>
              <a:ext cx="1714987" cy="193776"/>
            </a:xfrm>
            <a:prstGeom prst="rect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30" name="Text 23">
              <a:extLst>
                <a:ext uri="{FF2B5EF4-FFF2-40B4-BE49-F238E27FC236}">
                  <a16:creationId xmlns:a16="http://schemas.microsoft.com/office/drawing/2014/main" id="{FB24DE32-6525-4C4E-B992-D98A5EBF6DAB}"/>
                </a:ext>
              </a:extLst>
            </p:cNvPr>
            <p:cNvSpPr/>
            <p:nvPr/>
          </p:nvSpPr>
          <p:spPr>
            <a:xfrm>
              <a:off x="5024534" y="2819346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+0.3439</a:t>
              </a:r>
              <a:endParaRPr lang="en-US" sz="1200" dirty="0"/>
            </a:p>
          </p:txBody>
        </p:sp>
        <p:sp>
          <p:nvSpPr>
            <p:cNvPr id="31" name="Shape 24">
              <a:extLst>
                <a:ext uri="{FF2B5EF4-FFF2-40B4-BE49-F238E27FC236}">
                  <a16:creationId xmlns:a16="http://schemas.microsoft.com/office/drawing/2014/main" id="{184247D8-50D2-4334-9C42-AD691936D2A8}"/>
                </a:ext>
              </a:extLst>
            </p:cNvPr>
            <p:cNvSpPr/>
            <p:nvPr/>
          </p:nvSpPr>
          <p:spPr>
            <a:xfrm>
              <a:off x="727271" y="3326582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32" name="Text 25">
              <a:extLst>
                <a:ext uri="{FF2B5EF4-FFF2-40B4-BE49-F238E27FC236}">
                  <a16:creationId xmlns:a16="http://schemas.microsoft.com/office/drawing/2014/main" id="{E1A83DE2-5AB0-45AE-A34A-6FCBF186F3EE}"/>
                </a:ext>
              </a:extLst>
            </p:cNvPr>
            <p:cNvSpPr/>
            <p:nvPr/>
          </p:nvSpPr>
          <p:spPr>
            <a:xfrm>
              <a:off x="727271" y="3326582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100" dirty="0"/>
            </a:p>
          </p:txBody>
        </p:sp>
        <p:sp>
          <p:nvSpPr>
            <p:cNvPr id="33" name="Text 26">
              <a:extLst>
                <a:ext uri="{FF2B5EF4-FFF2-40B4-BE49-F238E27FC236}">
                  <a16:creationId xmlns:a16="http://schemas.microsoft.com/office/drawing/2014/main" id="{F7B7D9E6-EB81-4FE8-9CFC-0DCEB8BAB6BE}"/>
                </a:ext>
              </a:extLst>
            </p:cNvPr>
            <p:cNvSpPr/>
            <p:nvPr/>
          </p:nvSpPr>
          <p:spPr>
            <a:xfrm>
              <a:off x="1069228" y="3246792"/>
              <a:ext cx="1823772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AUC</a:t>
              </a:r>
              <a:endParaRPr lang="en-US" sz="1400" b="1" dirty="0"/>
            </a:p>
          </p:txBody>
        </p:sp>
        <p:sp>
          <p:nvSpPr>
            <p:cNvPr id="34" name="Shape 27">
              <a:extLst>
                <a:ext uri="{FF2B5EF4-FFF2-40B4-BE49-F238E27FC236}">
                  <a16:creationId xmlns:a16="http://schemas.microsoft.com/office/drawing/2014/main" id="{8AC8AEC2-21D5-423C-B678-EF4444BCEF82}"/>
                </a:ext>
              </a:extLst>
            </p:cNvPr>
            <p:cNvSpPr/>
            <p:nvPr/>
          </p:nvSpPr>
          <p:spPr>
            <a:xfrm>
              <a:off x="2961392" y="3363627"/>
              <a:ext cx="1994751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5" name="Shape 28">
              <a:extLst>
                <a:ext uri="{FF2B5EF4-FFF2-40B4-BE49-F238E27FC236}">
                  <a16:creationId xmlns:a16="http://schemas.microsoft.com/office/drawing/2014/main" id="{8E3D1287-D5E5-489C-B18D-9F2531FEA2F6}"/>
                </a:ext>
              </a:extLst>
            </p:cNvPr>
            <p:cNvSpPr/>
            <p:nvPr/>
          </p:nvSpPr>
          <p:spPr>
            <a:xfrm>
              <a:off x="2961392" y="3363627"/>
              <a:ext cx="1651155" cy="193776"/>
            </a:xfrm>
            <a:prstGeom prst="rect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36" name="Text 29">
              <a:extLst>
                <a:ext uri="{FF2B5EF4-FFF2-40B4-BE49-F238E27FC236}">
                  <a16:creationId xmlns:a16="http://schemas.microsoft.com/office/drawing/2014/main" id="{2BFB62B6-1AB9-4D5B-AD21-7D20BC1753CF}"/>
                </a:ext>
              </a:extLst>
            </p:cNvPr>
            <p:cNvSpPr/>
            <p:nvPr/>
          </p:nvSpPr>
          <p:spPr>
            <a:xfrm>
              <a:off x="5024534" y="3246792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+0.3311</a:t>
              </a:r>
              <a:endParaRPr lang="en-US" sz="1200" dirty="0"/>
            </a:p>
          </p:txBody>
        </p:sp>
        <p:sp>
          <p:nvSpPr>
            <p:cNvPr id="37" name="Shape 30">
              <a:extLst>
                <a:ext uri="{FF2B5EF4-FFF2-40B4-BE49-F238E27FC236}">
                  <a16:creationId xmlns:a16="http://schemas.microsoft.com/office/drawing/2014/main" id="{2EF15C6A-2E33-40AF-9BFA-C4891A3178C5}"/>
                </a:ext>
              </a:extLst>
            </p:cNvPr>
            <p:cNvSpPr/>
            <p:nvPr/>
          </p:nvSpPr>
          <p:spPr>
            <a:xfrm>
              <a:off x="727271" y="3754029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38" name="Text 31">
              <a:extLst>
                <a:ext uri="{FF2B5EF4-FFF2-40B4-BE49-F238E27FC236}">
                  <a16:creationId xmlns:a16="http://schemas.microsoft.com/office/drawing/2014/main" id="{A18965C0-F39C-4204-903A-0C140413E23F}"/>
                </a:ext>
              </a:extLst>
            </p:cNvPr>
            <p:cNvSpPr/>
            <p:nvPr/>
          </p:nvSpPr>
          <p:spPr>
            <a:xfrm>
              <a:off x="727271" y="3754029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100" dirty="0"/>
            </a:p>
          </p:txBody>
        </p:sp>
        <p:sp>
          <p:nvSpPr>
            <p:cNvPr id="39" name="Text 32">
              <a:extLst>
                <a:ext uri="{FF2B5EF4-FFF2-40B4-BE49-F238E27FC236}">
                  <a16:creationId xmlns:a16="http://schemas.microsoft.com/office/drawing/2014/main" id="{9C1C6C9E-45D5-428D-8092-133AF212860F}"/>
                </a:ext>
              </a:extLst>
            </p:cNvPr>
            <p:cNvSpPr/>
            <p:nvPr/>
          </p:nvSpPr>
          <p:spPr>
            <a:xfrm>
              <a:off x="1069228" y="3674239"/>
              <a:ext cx="1823772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kurtosis</a:t>
              </a:r>
              <a:endParaRPr lang="en-US" sz="1400" b="1" dirty="0"/>
            </a:p>
          </p:txBody>
        </p:sp>
        <p:sp>
          <p:nvSpPr>
            <p:cNvPr id="40" name="Shape 33">
              <a:extLst>
                <a:ext uri="{FF2B5EF4-FFF2-40B4-BE49-F238E27FC236}">
                  <a16:creationId xmlns:a16="http://schemas.microsoft.com/office/drawing/2014/main" id="{0BDC39BF-884F-4A37-BF34-7B7DC76FDD7D}"/>
                </a:ext>
              </a:extLst>
            </p:cNvPr>
            <p:cNvSpPr/>
            <p:nvPr/>
          </p:nvSpPr>
          <p:spPr>
            <a:xfrm>
              <a:off x="2961392" y="3791074"/>
              <a:ext cx="1994751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41" name="Shape 34">
              <a:extLst>
                <a:ext uri="{FF2B5EF4-FFF2-40B4-BE49-F238E27FC236}">
                  <a16:creationId xmlns:a16="http://schemas.microsoft.com/office/drawing/2014/main" id="{373D6C92-0088-4A01-92CA-A002AC789167}"/>
                </a:ext>
              </a:extLst>
            </p:cNvPr>
            <p:cNvSpPr/>
            <p:nvPr/>
          </p:nvSpPr>
          <p:spPr>
            <a:xfrm>
              <a:off x="2961392" y="3791074"/>
              <a:ext cx="1645669" cy="193776"/>
            </a:xfrm>
            <a:prstGeom prst="rect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42" name="Text 35">
              <a:extLst>
                <a:ext uri="{FF2B5EF4-FFF2-40B4-BE49-F238E27FC236}">
                  <a16:creationId xmlns:a16="http://schemas.microsoft.com/office/drawing/2014/main" id="{C0F2E5CA-4B4B-4401-A1F1-5503E3EC40A1}"/>
                </a:ext>
              </a:extLst>
            </p:cNvPr>
            <p:cNvSpPr/>
            <p:nvPr/>
          </p:nvSpPr>
          <p:spPr>
            <a:xfrm>
              <a:off x="5024534" y="3674239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+0.3300</a:t>
              </a:r>
              <a:endParaRPr lang="en-US" sz="1200" dirty="0"/>
            </a:p>
          </p:txBody>
        </p:sp>
        <p:sp>
          <p:nvSpPr>
            <p:cNvPr id="43" name="Shape 36">
              <a:extLst>
                <a:ext uri="{FF2B5EF4-FFF2-40B4-BE49-F238E27FC236}">
                  <a16:creationId xmlns:a16="http://schemas.microsoft.com/office/drawing/2014/main" id="{78844A55-0A94-4ED4-A09C-D3CE5AE85DEF}"/>
                </a:ext>
              </a:extLst>
            </p:cNvPr>
            <p:cNvSpPr/>
            <p:nvPr/>
          </p:nvSpPr>
          <p:spPr>
            <a:xfrm>
              <a:off x="727271" y="4181475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44" name="Text 37">
              <a:extLst>
                <a:ext uri="{FF2B5EF4-FFF2-40B4-BE49-F238E27FC236}">
                  <a16:creationId xmlns:a16="http://schemas.microsoft.com/office/drawing/2014/main" id="{B98553E5-1C00-4A9B-AA57-F71071A553C0}"/>
                </a:ext>
              </a:extLst>
            </p:cNvPr>
            <p:cNvSpPr/>
            <p:nvPr/>
          </p:nvSpPr>
          <p:spPr>
            <a:xfrm>
              <a:off x="727271" y="4181475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1100" dirty="0"/>
            </a:p>
          </p:txBody>
        </p:sp>
        <p:sp>
          <p:nvSpPr>
            <p:cNvPr id="45" name="Text 38">
              <a:extLst>
                <a:ext uri="{FF2B5EF4-FFF2-40B4-BE49-F238E27FC236}">
                  <a16:creationId xmlns:a16="http://schemas.microsoft.com/office/drawing/2014/main" id="{B08628B6-27B0-4F03-8BFE-68A236B4455F}"/>
                </a:ext>
              </a:extLst>
            </p:cNvPr>
            <p:cNvSpPr/>
            <p:nvPr/>
          </p:nvSpPr>
          <p:spPr>
            <a:xfrm>
              <a:off x="1069228" y="4101685"/>
              <a:ext cx="1823772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median</a:t>
              </a:r>
              <a:endParaRPr lang="en-US" sz="1400" b="1" dirty="0"/>
            </a:p>
          </p:txBody>
        </p:sp>
        <p:sp>
          <p:nvSpPr>
            <p:cNvPr id="46" name="Shape 39">
              <a:extLst>
                <a:ext uri="{FF2B5EF4-FFF2-40B4-BE49-F238E27FC236}">
                  <a16:creationId xmlns:a16="http://schemas.microsoft.com/office/drawing/2014/main" id="{EDD6671E-D677-48D6-95B3-3B382D987CE5}"/>
                </a:ext>
              </a:extLst>
            </p:cNvPr>
            <p:cNvSpPr/>
            <p:nvPr/>
          </p:nvSpPr>
          <p:spPr>
            <a:xfrm>
              <a:off x="2961392" y="4218521"/>
              <a:ext cx="1994751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47" name="Shape 40">
              <a:extLst>
                <a:ext uri="{FF2B5EF4-FFF2-40B4-BE49-F238E27FC236}">
                  <a16:creationId xmlns:a16="http://schemas.microsoft.com/office/drawing/2014/main" id="{6E362C83-EFF9-4704-A1E2-8243A27F42B7}"/>
                </a:ext>
              </a:extLst>
            </p:cNvPr>
            <p:cNvSpPr/>
            <p:nvPr/>
          </p:nvSpPr>
          <p:spPr>
            <a:xfrm>
              <a:off x="2961392" y="4218521"/>
              <a:ext cx="1635197" cy="193776"/>
            </a:xfrm>
            <a:prstGeom prst="rect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48" name="Text 41">
              <a:extLst>
                <a:ext uri="{FF2B5EF4-FFF2-40B4-BE49-F238E27FC236}">
                  <a16:creationId xmlns:a16="http://schemas.microsoft.com/office/drawing/2014/main" id="{28358024-E9DA-4167-A18B-0EC43FB003FA}"/>
                </a:ext>
              </a:extLst>
            </p:cNvPr>
            <p:cNvSpPr/>
            <p:nvPr/>
          </p:nvSpPr>
          <p:spPr>
            <a:xfrm>
              <a:off x="5024534" y="4101685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+0.3279</a:t>
              </a:r>
              <a:endParaRPr lang="en-US" sz="1200" dirty="0"/>
            </a:p>
          </p:txBody>
        </p:sp>
        <p:sp>
          <p:nvSpPr>
            <p:cNvPr id="49" name="Shape 42">
              <a:extLst>
                <a:ext uri="{FF2B5EF4-FFF2-40B4-BE49-F238E27FC236}">
                  <a16:creationId xmlns:a16="http://schemas.microsoft.com/office/drawing/2014/main" id="{171C2F7B-3935-4DB3-AE5C-898CBD1BE55F}"/>
                </a:ext>
              </a:extLst>
            </p:cNvPr>
            <p:cNvSpPr/>
            <p:nvPr/>
          </p:nvSpPr>
          <p:spPr>
            <a:xfrm>
              <a:off x="727271" y="4608922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50" name="Text 43">
              <a:extLst>
                <a:ext uri="{FF2B5EF4-FFF2-40B4-BE49-F238E27FC236}">
                  <a16:creationId xmlns:a16="http://schemas.microsoft.com/office/drawing/2014/main" id="{34CDCAF7-C2CB-42E1-814F-4122010D6141}"/>
                </a:ext>
              </a:extLst>
            </p:cNvPr>
            <p:cNvSpPr/>
            <p:nvPr/>
          </p:nvSpPr>
          <p:spPr>
            <a:xfrm>
              <a:off x="727271" y="4608922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</a:t>
              </a:r>
              <a:endParaRPr lang="en-US" sz="1100" dirty="0"/>
            </a:p>
          </p:txBody>
        </p:sp>
        <p:sp>
          <p:nvSpPr>
            <p:cNvPr id="51" name="Text 44">
              <a:extLst>
                <a:ext uri="{FF2B5EF4-FFF2-40B4-BE49-F238E27FC236}">
                  <a16:creationId xmlns:a16="http://schemas.microsoft.com/office/drawing/2014/main" id="{EFD30C25-AE49-4BB8-8C12-740005D9AB80}"/>
                </a:ext>
              </a:extLst>
            </p:cNvPr>
            <p:cNvSpPr/>
            <p:nvPr/>
          </p:nvSpPr>
          <p:spPr>
            <a:xfrm>
              <a:off x="1069228" y="4529132"/>
              <a:ext cx="1823772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p5</a:t>
              </a:r>
              <a:endParaRPr lang="en-US" sz="1400" b="1" dirty="0"/>
            </a:p>
          </p:txBody>
        </p:sp>
        <p:sp>
          <p:nvSpPr>
            <p:cNvPr id="52" name="Shape 45">
              <a:extLst>
                <a:ext uri="{FF2B5EF4-FFF2-40B4-BE49-F238E27FC236}">
                  <a16:creationId xmlns:a16="http://schemas.microsoft.com/office/drawing/2014/main" id="{262D761B-78CB-4E86-9DB9-C836A7EC99A2}"/>
                </a:ext>
              </a:extLst>
            </p:cNvPr>
            <p:cNvSpPr/>
            <p:nvPr/>
          </p:nvSpPr>
          <p:spPr>
            <a:xfrm>
              <a:off x="2961392" y="4645967"/>
              <a:ext cx="1994751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53" name="Shape 46">
              <a:extLst>
                <a:ext uri="{FF2B5EF4-FFF2-40B4-BE49-F238E27FC236}">
                  <a16:creationId xmlns:a16="http://schemas.microsoft.com/office/drawing/2014/main" id="{EF2589C6-D201-4D8A-A0AB-47AD80DAC2FA}"/>
                </a:ext>
              </a:extLst>
            </p:cNvPr>
            <p:cNvSpPr/>
            <p:nvPr/>
          </p:nvSpPr>
          <p:spPr>
            <a:xfrm>
              <a:off x="2961392" y="4645967"/>
              <a:ext cx="1511523" cy="193776"/>
            </a:xfrm>
            <a:prstGeom prst="rect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54" name="Text 47">
              <a:extLst>
                <a:ext uri="{FF2B5EF4-FFF2-40B4-BE49-F238E27FC236}">
                  <a16:creationId xmlns:a16="http://schemas.microsoft.com/office/drawing/2014/main" id="{37EBD51B-1277-49F2-88F5-D681302395AB}"/>
                </a:ext>
              </a:extLst>
            </p:cNvPr>
            <p:cNvSpPr/>
            <p:nvPr/>
          </p:nvSpPr>
          <p:spPr>
            <a:xfrm>
              <a:off x="5024534" y="4529132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+0.3031</a:t>
              </a:r>
              <a:endParaRPr lang="en-US" sz="1200" dirty="0"/>
            </a:p>
          </p:txBody>
        </p:sp>
        <p:sp>
          <p:nvSpPr>
            <p:cNvPr id="55" name="Shape 48">
              <a:extLst>
                <a:ext uri="{FF2B5EF4-FFF2-40B4-BE49-F238E27FC236}">
                  <a16:creationId xmlns:a16="http://schemas.microsoft.com/office/drawing/2014/main" id="{375AD286-0D44-4790-B502-818C7FFEACE6}"/>
                </a:ext>
              </a:extLst>
            </p:cNvPr>
            <p:cNvSpPr/>
            <p:nvPr/>
          </p:nvSpPr>
          <p:spPr>
            <a:xfrm>
              <a:off x="727271" y="5036368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56" name="Text 49">
              <a:extLst>
                <a:ext uri="{FF2B5EF4-FFF2-40B4-BE49-F238E27FC236}">
                  <a16:creationId xmlns:a16="http://schemas.microsoft.com/office/drawing/2014/main" id="{DE66925D-7274-4D6A-9147-F63246A47607}"/>
                </a:ext>
              </a:extLst>
            </p:cNvPr>
            <p:cNvSpPr/>
            <p:nvPr/>
          </p:nvSpPr>
          <p:spPr>
            <a:xfrm>
              <a:off x="727271" y="5036368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</a:t>
              </a:r>
              <a:endParaRPr lang="en-US" sz="1100" dirty="0"/>
            </a:p>
          </p:txBody>
        </p:sp>
        <p:sp>
          <p:nvSpPr>
            <p:cNvPr id="57" name="Text 50">
              <a:extLst>
                <a:ext uri="{FF2B5EF4-FFF2-40B4-BE49-F238E27FC236}">
                  <a16:creationId xmlns:a16="http://schemas.microsoft.com/office/drawing/2014/main" id="{E80D5557-5E3A-427D-BE47-19D3EAB0B92C}"/>
                </a:ext>
              </a:extLst>
            </p:cNvPr>
            <p:cNvSpPr/>
            <p:nvPr/>
          </p:nvSpPr>
          <p:spPr>
            <a:xfrm>
              <a:off x="1069228" y="4956578"/>
              <a:ext cx="1823772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min</a:t>
              </a:r>
              <a:endParaRPr lang="en-US" sz="1400" b="1" dirty="0"/>
            </a:p>
          </p:txBody>
        </p:sp>
        <p:sp>
          <p:nvSpPr>
            <p:cNvPr id="58" name="Shape 51">
              <a:extLst>
                <a:ext uri="{FF2B5EF4-FFF2-40B4-BE49-F238E27FC236}">
                  <a16:creationId xmlns:a16="http://schemas.microsoft.com/office/drawing/2014/main" id="{E00B8338-3CA5-4FED-9E30-E5C2B66368DE}"/>
                </a:ext>
              </a:extLst>
            </p:cNvPr>
            <p:cNvSpPr/>
            <p:nvPr/>
          </p:nvSpPr>
          <p:spPr>
            <a:xfrm>
              <a:off x="2961392" y="5073414"/>
              <a:ext cx="1994751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59" name="Shape 52">
              <a:extLst>
                <a:ext uri="{FF2B5EF4-FFF2-40B4-BE49-F238E27FC236}">
                  <a16:creationId xmlns:a16="http://schemas.microsoft.com/office/drawing/2014/main" id="{C2F142B2-86AC-47F3-B984-8AEA8889C30B}"/>
                </a:ext>
              </a:extLst>
            </p:cNvPr>
            <p:cNvSpPr/>
            <p:nvPr/>
          </p:nvSpPr>
          <p:spPr>
            <a:xfrm>
              <a:off x="2961392" y="5073414"/>
              <a:ext cx="1484593" cy="193776"/>
            </a:xfrm>
            <a:prstGeom prst="rect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60" name="Text 53">
              <a:extLst>
                <a:ext uri="{FF2B5EF4-FFF2-40B4-BE49-F238E27FC236}">
                  <a16:creationId xmlns:a16="http://schemas.microsoft.com/office/drawing/2014/main" id="{F1E6CE96-5B96-4004-AFBB-08756D45C6D1}"/>
                </a:ext>
              </a:extLst>
            </p:cNvPr>
            <p:cNvSpPr/>
            <p:nvPr/>
          </p:nvSpPr>
          <p:spPr>
            <a:xfrm>
              <a:off x="5024534" y="4956578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+0.2977</a:t>
              </a:r>
              <a:endParaRPr lang="en-US" sz="1200" dirty="0"/>
            </a:p>
          </p:txBody>
        </p:sp>
        <p:sp>
          <p:nvSpPr>
            <p:cNvPr id="61" name="Shape 54">
              <a:extLst>
                <a:ext uri="{FF2B5EF4-FFF2-40B4-BE49-F238E27FC236}">
                  <a16:creationId xmlns:a16="http://schemas.microsoft.com/office/drawing/2014/main" id="{B0D10816-8EA1-4AF8-B786-44CB494FDEA6}"/>
                </a:ext>
              </a:extLst>
            </p:cNvPr>
            <p:cNvSpPr/>
            <p:nvPr/>
          </p:nvSpPr>
          <p:spPr>
            <a:xfrm>
              <a:off x="727271" y="5463815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62" name="Text 55">
              <a:extLst>
                <a:ext uri="{FF2B5EF4-FFF2-40B4-BE49-F238E27FC236}">
                  <a16:creationId xmlns:a16="http://schemas.microsoft.com/office/drawing/2014/main" id="{0D3B5D96-F034-416D-A7B1-5E1B4C1350B4}"/>
                </a:ext>
              </a:extLst>
            </p:cNvPr>
            <p:cNvSpPr/>
            <p:nvPr/>
          </p:nvSpPr>
          <p:spPr>
            <a:xfrm>
              <a:off x="727271" y="5463815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1100" dirty="0"/>
            </a:p>
          </p:txBody>
        </p:sp>
        <p:sp>
          <p:nvSpPr>
            <p:cNvPr id="63" name="Text 56">
              <a:extLst>
                <a:ext uri="{FF2B5EF4-FFF2-40B4-BE49-F238E27FC236}">
                  <a16:creationId xmlns:a16="http://schemas.microsoft.com/office/drawing/2014/main" id="{2AE70E26-17B6-4FBA-84B0-4D00974F938A}"/>
                </a:ext>
              </a:extLst>
            </p:cNvPr>
            <p:cNvSpPr/>
            <p:nvPr/>
          </p:nvSpPr>
          <p:spPr>
            <a:xfrm>
              <a:off x="1069228" y="5384025"/>
              <a:ext cx="1823772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peak_mean_height</a:t>
              </a:r>
              <a:endParaRPr lang="en-US" sz="1400" b="1" dirty="0"/>
            </a:p>
          </p:txBody>
        </p:sp>
        <p:sp>
          <p:nvSpPr>
            <p:cNvPr id="64" name="Shape 57">
              <a:extLst>
                <a:ext uri="{FF2B5EF4-FFF2-40B4-BE49-F238E27FC236}">
                  <a16:creationId xmlns:a16="http://schemas.microsoft.com/office/drawing/2014/main" id="{55D68504-ECB5-40DA-89F1-36CA0807EB88}"/>
                </a:ext>
              </a:extLst>
            </p:cNvPr>
            <p:cNvSpPr/>
            <p:nvPr/>
          </p:nvSpPr>
          <p:spPr>
            <a:xfrm>
              <a:off x="2961392" y="5500860"/>
              <a:ext cx="1994751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65" name="Shape 58">
              <a:extLst>
                <a:ext uri="{FF2B5EF4-FFF2-40B4-BE49-F238E27FC236}">
                  <a16:creationId xmlns:a16="http://schemas.microsoft.com/office/drawing/2014/main" id="{C22006D6-73DE-40CD-BEB0-B27DFD540046}"/>
                </a:ext>
              </a:extLst>
            </p:cNvPr>
            <p:cNvSpPr/>
            <p:nvPr/>
          </p:nvSpPr>
          <p:spPr>
            <a:xfrm>
              <a:off x="2961392" y="5500860"/>
              <a:ext cx="1482100" cy="193776"/>
            </a:xfrm>
            <a:prstGeom prst="rect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66" name="Text 59">
              <a:extLst>
                <a:ext uri="{FF2B5EF4-FFF2-40B4-BE49-F238E27FC236}">
                  <a16:creationId xmlns:a16="http://schemas.microsoft.com/office/drawing/2014/main" id="{989C91CC-14BC-449E-896A-AF505D66078A}"/>
                </a:ext>
              </a:extLst>
            </p:cNvPr>
            <p:cNvSpPr/>
            <p:nvPr/>
          </p:nvSpPr>
          <p:spPr>
            <a:xfrm>
              <a:off x="5024534" y="5384025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+0.2972</a:t>
              </a:r>
              <a:endParaRPr lang="en-US" sz="1200" dirty="0"/>
            </a:p>
          </p:txBody>
        </p:sp>
        <p:sp>
          <p:nvSpPr>
            <p:cNvPr id="67" name="Shape 60">
              <a:extLst>
                <a:ext uri="{FF2B5EF4-FFF2-40B4-BE49-F238E27FC236}">
                  <a16:creationId xmlns:a16="http://schemas.microsoft.com/office/drawing/2014/main" id="{2617E9DA-67FA-4092-9644-ADF0A4F91D18}"/>
                </a:ext>
              </a:extLst>
            </p:cNvPr>
            <p:cNvSpPr/>
            <p:nvPr/>
          </p:nvSpPr>
          <p:spPr>
            <a:xfrm>
              <a:off x="727271" y="5891261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68" name="Text 61">
              <a:extLst>
                <a:ext uri="{FF2B5EF4-FFF2-40B4-BE49-F238E27FC236}">
                  <a16:creationId xmlns:a16="http://schemas.microsoft.com/office/drawing/2014/main" id="{EFFC123E-8893-4EDA-A8B2-B84D64D0520E}"/>
                </a:ext>
              </a:extLst>
            </p:cNvPr>
            <p:cNvSpPr/>
            <p:nvPr/>
          </p:nvSpPr>
          <p:spPr>
            <a:xfrm>
              <a:off x="727271" y="5891261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</a:t>
              </a:r>
              <a:endParaRPr lang="en-US" sz="1100" dirty="0"/>
            </a:p>
          </p:txBody>
        </p:sp>
        <p:sp>
          <p:nvSpPr>
            <p:cNvPr id="69" name="Text 62">
              <a:extLst>
                <a:ext uri="{FF2B5EF4-FFF2-40B4-BE49-F238E27FC236}">
                  <a16:creationId xmlns:a16="http://schemas.microsoft.com/office/drawing/2014/main" id="{AAB988D1-8826-4C95-BAE2-2E3FA65C3DF6}"/>
                </a:ext>
              </a:extLst>
            </p:cNvPr>
            <p:cNvSpPr/>
            <p:nvPr/>
          </p:nvSpPr>
          <p:spPr>
            <a:xfrm>
              <a:off x="1069228" y="5811471"/>
              <a:ext cx="1823772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AUC_normalized</a:t>
              </a:r>
              <a:endParaRPr lang="en-US" sz="1400" b="1" dirty="0"/>
            </a:p>
          </p:txBody>
        </p:sp>
        <p:sp>
          <p:nvSpPr>
            <p:cNvPr id="70" name="Shape 63">
              <a:extLst>
                <a:ext uri="{FF2B5EF4-FFF2-40B4-BE49-F238E27FC236}">
                  <a16:creationId xmlns:a16="http://schemas.microsoft.com/office/drawing/2014/main" id="{D3AF150A-FA6B-4498-BB9A-15F2B6E78407}"/>
                </a:ext>
              </a:extLst>
            </p:cNvPr>
            <p:cNvSpPr/>
            <p:nvPr/>
          </p:nvSpPr>
          <p:spPr>
            <a:xfrm>
              <a:off x="2961392" y="5928307"/>
              <a:ext cx="1994751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71" name="Shape 64">
              <a:extLst>
                <a:ext uri="{FF2B5EF4-FFF2-40B4-BE49-F238E27FC236}">
                  <a16:creationId xmlns:a16="http://schemas.microsoft.com/office/drawing/2014/main" id="{9A3A71CE-B35A-4FDE-9357-CD820DC189B8}"/>
                </a:ext>
              </a:extLst>
            </p:cNvPr>
            <p:cNvSpPr/>
            <p:nvPr/>
          </p:nvSpPr>
          <p:spPr>
            <a:xfrm>
              <a:off x="2961392" y="5928307"/>
              <a:ext cx="1481602" cy="193776"/>
            </a:xfrm>
            <a:prstGeom prst="rect">
              <a:avLst/>
            </a:prstGeom>
            <a:solidFill>
              <a:srgbClr val="185FA5"/>
            </a:solidFill>
            <a:ln w="12700">
              <a:solidFill>
                <a:srgbClr val="185FA5"/>
              </a:solidFill>
              <a:prstDash val="solid"/>
            </a:ln>
          </p:spPr>
        </p:sp>
        <p:sp>
          <p:nvSpPr>
            <p:cNvPr id="72" name="Text 65">
              <a:extLst>
                <a:ext uri="{FF2B5EF4-FFF2-40B4-BE49-F238E27FC236}">
                  <a16:creationId xmlns:a16="http://schemas.microsoft.com/office/drawing/2014/main" id="{FE5B77EA-DE82-4B78-B33D-7BCA1426E64E}"/>
                </a:ext>
              </a:extLst>
            </p:cNvPr>
            <p:cNvSpPr/>
            <p:nvPr/>
          </p:nvSpPr>
          <p:spPr>
            <a:xfrm>
              <a:off x="5024534" y="5811471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+0.2971</a:t>
              </a:r>
              <a:endParaRPr lang="en-US" sz="1200" dirty="0"/>
            </a:p>
          </p:txBody>
        </p:sp>
        <p:sp>
          <p:nvSpPr>
            <p:cNvPr id="73" name="Shape 66">
              <a:extLst>
                <a:ext uri="{FF2B5EF4-FFF2-40B4-BE49-F238E27FC236}">
                  <a16:creationId xmlns:a16="http://schemas.microsoft.com/office/drawing/2014/main" id="{5535B7D1-61CC-4CB0-99EF-503C6E65B738}"/>
                </a:ext>
              </a:extLst>
            </p:cNvPr>
            <p:cNvSpPr/>
            <p:nvPr/>
          </p:nvSpPr>
          <p:spPr>
            <a:xfrm>
              <a:off x="6358167" y="1599698"/>
              <a:ext cx="5106562" cy="307762"/>
            </a:xfrm>
            <a:prstGeom prst="rect">
              <a:avLst/>
            </a:prstGeom>
            <a:solidFill>
              <a:srgbClr val="FCEBEB"/>
            </a:solidFill>
            <a:ln w="12700">
              <a:solidFill>
                <a:srgbClr val="FCEBEB"/>
              </a:solidFill>
              <a:prstDash val="solid"/>
            </a:ln>
          </p:spPr>
        </p:sp>
        <p:sp>
          <p:nvSpPr>
            <p:cNvPr id="74" name="Text 67">
              <a:extLst>
                <a:ext uri="{FF2B5EF4-FFF2-40B4-BE49-F238E27FC236}">
                  <a16:creationId xmlns:a16="http://schemas.microsoft.com/office/drawing/2014/main" id="{F9AB1D27-3F7E-47B3-93D4-CA54665DC069}"/>
                </a:ext>
              </a:extLst>
            </p:cNvPr>
            <p:cNvSpPr/>
            <p:nvPr/>
          </p:nvSpPr>
          <p:spPr>
            <a:xfrm>
              <a:off x="6449356" y="1599698"/>
              <a:ext cx="4992576" cy="3077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▼  음의 상관  (Top 6)</a:t>
              </a:r>
              <a:endParaRPr lang="en-US" sz="1400" dirty="0"/>
            </a:p>
          </p:txBody>
        </p:sp>
        <p:sp>
          <p:nvSpPr>
            <p:cNvPr id="75" name="Shape 68">
              <a:extLst>
                <a:ext uri="{FF2B5EF4-FFF2-40B4-BE49-F238E27FC236}">
                  <a16:creationId xmlns:a16="http://schemas.microsoft.com/office/drawing/2014/main" id="{95378FA5-3301-4334-A266-7291812A1182}"/>
                </a:ext>
              </a:extLst>
            </p:cNvPr>
            <p:cNvSpPr/>
            <p:nvPr/>
          </p:nvSpPr>
          <p:spPr>
            <a:xfrm>
              <a:off x="6358167" y="2044242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FCEBEB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76" name="Text 69">
              <a:extLst>
                <a:ext uri="{FF2B5EF4-FFF2-40B4-BE49-F238E27FC236}">
                  <a16:creationId xmlns:a16="http://schemas.microsoft.com/office/drawing/2014/main" id="{9742EF52-8ED2-457C-ADF0-49171D9E7D3C}"/>
                </a:ext>
              </a:extLst>
            </p:cNvPr>
            <p:cNvSpPr/>
            <p:nvPr/>
          </p:nvSpPr>
          <p:spPr>
            <a:xfrm>
              <a:off x="6358167" y="2044242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77" name="Text 70">
              <a:extLst>
                <a:ext uri="{FF2B5EF4-FFF2-40B4-BE49-F238E27FC236}">
                  <a16:creationId xmlns:a16="http://schemas.microsoft.com/office/drawing/2014/main" id="{CBDF358E-584D-49F8-8443-CCCEB68DF2B8}"/>
                </a:ext>
              </a:extLst>
            </p:cNvPr>
            <p:cNvSpPr/>
            <p:nvPr/>
          </p:nvSpPr>
          <p:spPr>
            <a:xfrm>
              <a:off x="6700124" y="1964452"/>
              <a:ext cx="1994751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CV</a:t>
              </a:r>
              <a:endParaRPr lang="en-US" sz="1400" b="1" dirty="0"/>
            </a:p>
          </p:txBody>
        </p:sp>
        <p:sp>
          <p:nvSpPr>
            <p:cNvPr id="78" name="Shape 71">
              <a:extLst>
                <a:ext uri="{FF2B5EF4-FFF2-40B4-BE49-F238E27FC236}">
                  <a16:creationId xmlns:a16="http://schemas.microsoft.com/office/drawing/2014/main" id="{91B59764-9256-49BF-A08C-489E1BF24AF8}"/>
                </a:ext>
              </a:extLst>
            </p:cNvPr>
            <p:cNvSpPr/>
            <p:nvPr/>
          </p:nvSpPr>
          <p:spPr>
            <a:xfrm>
              <a:off x="8763267" y="2081288"/>
              <a:ext cx="1823772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79" name="Shape 72">
              <a:extLst>
                <a:ext uri="{FF2B5EF4-FFF2-40B4-BE49-F238E27FC236}">
                  <a16:creationId xmlns:a16="http://schemas.microsoft.com/office/drawing/2014/main" id="{5D6F36CD-8518-4D0B-B9E7-0F721AD41142}"/>
                </a:ext>
              </a:extLst>
            </p:cNvPr>
            <p:cNvSpPr/>
            <p:nvPr/>
          </p:nvSpPr>
          <p:spPr>
            <a:xfrm>
              <a:off x="8763267" y="2081288"/>
              <a:ext cx="1585769" cy="193776"/>
            </a:xfrm>
            <a:prstGeom prst="rect">
              <a:avLst/>
            </a:prstGeom>
            <a:solidFill>
              <a:srgbClr val="A32D2D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80" name="Text 73">
              <a:extLst>
                <a:ext uri="{FF2B5EF4-FFF2-40B4-BE49-F238E27FC236}">
                  <a16:creationId xmlns:a16="http://schemas.microsoft.com/office/drawing/2014/main" id="{B66A227F-92D4-4B95-88AF-EE75045E9B58}"/>
                </a:ext>
              </a:extLst>
            </p:cNvPr>
            <p:cNvSpPr/>
            <p:nvPr/>
          </p:nvSpPr>
          <p:spPr>
            <a:xfrm>
              <a:off x="10655430" y="1964452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-0.3478</a:t>
              </a:r>
              <a:endParaRPr lang="en-US" sz="1200" dirty="0"/>
            </a:p>
          </p:txBody>
        </p:sp>
        <p:sp>
          <p:nvSpPr>
            <p:cNvPr id="81" name="Shape 74">
              <a:extLst>
                <a:ext uri="{FF2B5EF4-FFF2-40B4-BE49-F238E27FC236}">
                  <a16:creationId xmlns:a16="http://schemas.microsoft.com/office/drawing/2014/main" id="{F80B0D8B-A48B-4AB7-83B2-E34CCE68B3CB}"/>
                </a:ext>
              </a:extLst>
            </p:cNvPr>
            <p:cNvSpPr/>
            <p:nvPr/>
          </p:nvSpPr>
          <p:spPr>
            <a:xfrm>
              <a:off x="6358167" y="2471689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FCEBEB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82" name="Text 75">
              <a:extLst>
                <a:ext uri="{FF2B5EF4-FFF2-40B4-BE49-F238E27FC236}">
                  <a16:creationId xmlns:a16="http://schemas.microsoft.com/office/drawing/2014/main" id="{18251F7C-C11D-4BA4-8760-B09439320352}"/>
                </a:ext>
              </a:extLst>
            </p:cNvPr>
            <p:cNvSpPr/>
            <p:nvPr/>
          </p:nvSpPr>
          <p:spPr>
            <a:xfrm>
              <a:off x="6358167" y="2471689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83" name="Text 76">
              <a:extLst>
                <a:ext uri="{FF2B5EF4-FFF2-40B4-BE49-F238E27FC236}">
                  <a16:creationId xmlns:a16="http://schemas.microsoft.com/office/drawing/2014/main" id="{F2BC6AB6-0F74-42BB-BD4E-3082D5A14CA1}"/>
                </a:ext>
              </a:extLst>
            </p:cNvPr>
            <p:cNvSpPr/>
            <p:nvPr/>
          </p:nvSpPr>
          <p:spPr>
            <a:xfrm>
              <a:off x="6700124" y="2391899"/>
              <a:ext cx="1994751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skewness</a:t>
              </a:r>
              <a:endParaRPr lang="en-US" sz="1400" b="1" dirty="0"/>
            </a:p>
          </p:txBody>
        </p:sp>
        <p:sp>
          <p:nvSpPr>
            <p:cNvPr id="84" name="Shape 77">
              <a:extLst>
                <a:ext uri="{FF2B5EF4-FFF2-40B4-BE49-F238E27FC236}">
                  <a16:creationId xmlns:a16="http://schemas.microsoft.com/office/drawing/2014/main" id="{DBBE376D-5B8C-4792-B4E2-30425920CC71}"/>
                </a:ext>
              </a:extLst>
            </p:cNvPr>
            <p:cNvSpPr/>
            <p:nvPr/>
          </p:nvSpPr>
          <p:spPr>
            <a:xfrm>
              <a:off x="8763267" y="2508734"/>
              <a:ext cx="1823772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85" name="Shape 78">
              <a:extLst>
                <a:ext uri="{FF2B5EF4-FFF2-40B4-BE49-F238E27FC236}">
                  <a16:creationId xmlns:a16="http://schemas.microsoft.com/office/drawing/2014/main" id="{596C15DC-C74F-45BC-9A4C-7B714671C2EC}"/>
                </a:ext>
              </a:extLst>
            </p:cNvPr>
            <p:cNvSpPr/>
            <p:nvPr/>
          </p:nvSpPr>
          <p:spPr>
            <a:xfrm>
              <a:off x="8763267" y="2508734"/>
              <a:ext cx="1555221" cy="193776"/>
            </a:xfrm>
            <a:prstGeom prst="rect">
              <a:avLst/>
            </a:prstGeom>
            <a:solidFill>
              <a:srgbClr val="A32D2D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86" name="Text 79">
              <a:extLst>
                <a:ext uri="{FF2B5EF4-FFF2-40B4-BE49-F238E27FC236}">
                  <a16:creationId xmlns:a16="http://schemas.microsoft.com/office/drawing/2014/main" id="{861C5C64-296D-48EE-B869-1FD68908029F}"/>
                </a:ext>
              </a:extLst>
            </p:cNvPr>
            <p:cNvSpPr/>
            <p:nvPr/>
          </p:nvSpPr>
          <p:spPr>
            <a:xfrm>
              <a:off x="10655430" y="2391899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-0.3411</a:t>
              </a:r>
              <a:endParaRPr lang="en-US" sz="1200" dirty="0"/>
            </a:p>
          </p:txBody>
        </p:sp>
        <p:sp>
          <p:nvSpPr>
            <p:cNvPr id="87" name="Shape 80">
              <a:extLst>
                <a:ext uri="{FF2B5EF4-FFF2-40B4-BE49-F238E27FC236}">
                  <a16:creationId xmlns:a16="http://schemas.microsoft.com/office/drawing/2014/main" id="{12A92F0E-04DC-43A8-876D-5CB5E08682DF}"/>
                </a:ext>
              </a:extLst>
            </p:cNvPr>
            <p:cNvSpPr/>
            <p:nvPr/>
          </p:nvSpPr>
          <p:spPr>
            <a:xfrm>
              <a:off x="6358167" y="2899136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FCEBEB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88" name="Text 81">
              <a:extLst>
                <a:ext uri="{FF2B5EF4-FFF2-40B4-BE49-F238E27FC236}">
                  <a16:creationId xmlns:a16="http://schemas.microsoft.com/office/drawing/2014/main" id="{E8A3E5CB-9EFF-458F-AC3F-A3C4C0BBAB93}"/>
                </a:ext>
              </a:extLst>
            </p:cNvPr>
            <p:cNvSpPr/>
            <p:nvPr/>
          </p:nvSpPr>
          <p:spPr>
            <a:xfrm>
              <a:off x="6358167" y="2899136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100" dirty="0"/>
            </a:p>
          </p:txBody>
        </p:sp>
        <p:sp>
          <p:nvSpPr>
            <p:cNvPr id="89" name="Text 82">
              <a:extLst>
                <a:ext uri="{FF2B5EF4-FFF2-40B4-BE49-F238E27FC236}">
                  <a16:creationId xmlns:a16="http://schemas.microsoft.com/office/drawing/2014/main" id="{883AF96A-B56E-431D-9A27-E8B1E789C468}"/>
                </a:ext>
              </a:extLst>
            </p:cNvPr>
            <p:cNvSpPr/>
            <p:nvPr/>
          </p:nvSpPr>
          <p:spPr>
            <a:xfrm>
              <a:off x="6700124" y="2819346"/>
              <a:ext cx="1994751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p90_p10_ratio</a:t>
              </a:r>
              <a:endParaRPr lang="en-US" sz="1400" b="1" dirty="0"/>
            </a:p>
          </p:txBody>
        </p:sp>
        <p:sp>
          <p:nvSpPr>
            <p:cNvPr id="90" name="Shape 83">
              <a:extLst>
                <a:ext uri="{FF2B5EF4-FFF2-40B4-BE49-F238E27FC236}">
                  <a16:creationId xmlns:a16="http://schemas.microsoft.com/office/drawing/2014/main" id="{FBA02B67-B100-481C-A564-025390B357B5}"/>
                </a:ext>
              </a:extLst>
            </p:cNvPr>
            <p:cNvSpPr/>
            <p:nvPr/>
          </p:nvSpPr>
          <p:spPr>
            <a:xfrm>
              <a:off x="8763267" y="2936181"/>
              <a:ext cx="1823772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91" name="Shape 84">
              <a:extLst>
                <a:ext uri="{FF2B5EF4-FFF2-40B4-BE49-F238E27FC236}">
                  <a16:creationId xmlns:a16="http://schemas.microsoft.com/office/drawing/2014/main" id="{57B68055-5991-47F8-AB17-6ADEF85C49C2}"/>
                </a:ext>
              </a:extLst>
            </p:cNvPr>
            <p:cNvSpPr/>
            <p:nvPr/>
          </p:nvSpPr>
          <p:spPr>
            <a:xfrm>
              <a:off x="8763267" y="2936181"/>
              <a:ext cx="1443515" cy="193776"/>
            </a:xfrm>
            <a:prstGeom prst="rect">
              <a:avLst/>
            </a:prstGeom>
            <a:solidFill>
              <a:srgbClr val="A32D2D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92" name="Text 85">
              <a:extLst>
                <a:ext uri="{FF2B5EF4-FFF2-40B4-BE49-F238E27FC236}">
                  <a16:creationId xmlns:a16="http://schemas.microsoft.com/office/drawing/2014/main" id="{96B48D58-4A86-424F-A324-1B170B06676F}"/>
                </a:ext>
              </a:extLst>
            </p:cNvPr>
            <p:cNvSpPr/>
            <p:nvPr/>
          </p:nvSpPr>
          <p:spPr>
            <a:xfrm>
              <a:off x="10655430" y="2819346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-0.3166</a:t>
              </a:r>
              <a:endParaRPr lang="en-US" sz="1200" dirty="0"/>
            </a:p>
          </p:txBody>
        </p:sp>
        <p:sp>
          <p:nvSpPr>
            <p:cNvPr id="93" name="Shape 86">
              <a:extLst>
                <a:ext uri="{FF2B5EF4-FFF2-40B4-BE49-F238E27FC236}">
                  <a16:creationId xmlns:a16="http://schemas.microsoft.com/office/drawing/2014/main" id="{00E1B3F6-3121-4F43-A33E-CD5EC5461C0B}"/>
                </a:ext>
              </a:extLst>
            </p:cNvPr>
            <p:cNvSpPr/>
            <p:nvPr/>
          </p:nvSpPr>
          <p:spPr>
            <a:xfrm>
              <a:off x="6358167" y="3326582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FCEBEB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94" name="Text 87">
              <a:extLst>
                <a:ext uri="{FF2B5EF4-FFF2-40B4-BE49-F238E27FC236}">
                  <a16:creationId xmlns:a16="http://schemas.microsoft.com/office/drawing/2014/main" id="{1BE6DD13-C934-4D1E-ABC1-7916CCAD9540}"/>
                </a:ext>
              </a:extLst>
            </p:cNvPr>
            <p:cNvSpPr/>
            <p:nvPr/>
          </p:nvSpPr>
          <p:spPr>
            <a:xfrm>
              <a:off x="6358167" y="3326582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100" dirty="0"/>
            </a:p>
          </p:txBody>
        </p:sp>
        <p:sp>
          <p:nvSpPr>
            <p:cNvPr id="95" name="Text 88">
              <a:extLst>
                <a:ext uri="{FF2B5EF4-FFF2-40B4-BE49-F238E27FC236}">
                  <a16:creationId xmlns:a16="http://schemas.microsoft.com/office/drawing/2014/main" id="{B6C6CA1F-21EC-4353-B0DA-A67F5913C5B6}"/>
                </a:ext>
              </a:extLst>
            </p:cNvPr>
            <p:cNvSpPr/>
            <p:nvPr/>
          </p:nvSpPr>
          <p:spPr>
            <a:xfrm>
              <a:off x="6700124" y="3246792"/>
              <a:ext cx="1994751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IQR</a:t>
              </a:r>
              <a:endParaRPr lang="en-US" sz="1400" b="1" dirty="0"/>
            </a:p>
          </p:txBody>
        </p:sp>
        <p:sp>
          <p:nvSpPr>
            <p:cNvPr id="96" name="Shape 89">
              <a:extLst>
                <a:ext uri="{FF2B5EF4-FFF2-40B4-BE49-F238E27FC236}">
                  <a16:creationId xmlns:a16="http://schemas.microsoft.com/office/drawing/2014/main" id="{8B5C2C1B-F99D-4E38-80F0-79F0D2EC1426}"/>
                </a:ext>
              </a:extLst>
            </p:cNvPr>
            <p:cNvSpPr/>
            <p:nvPr/>
          </p:nvSpPr>
          <p:spPr>
            <a:xfrm>
              <a:off x="8763267" y="3363627"/>
              <a:ext cx="1823772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97" name="Shape 90">
              <a:extLst>
                <a:ext uri="{FF2B5EF4-FFF2-40B4-BE49-F238E27FC236}">
                  <a16:creationId xmlns:a16="http://schemas.microsoft.com/office/drawing/2014/main" id="{551C2B4C-1434-4373-B1AF-F49C5DAD59A1}"/>
                </a:ext>
              </a:extLst>
            </p:cNvPr>
            <p:cNvSpPr/>
            <p:nvPr/>
          </p:nvSpPr>
          <p:spPr>
            <a:xfrm>
              <a:off x="8763267" y="3363627"/>
              <a:ext cx="1199130" cy="193776"/>
            </a:xfrm>
            <a:prstGeom prst="rect">
              <a:avLst/>
            </a:prstGeom>
            <a:solidFill>
              <a:srgbClr val="A32D2D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98" name="Text 91">
              <a:extLst>
                <a:ext uri="{FF2B5EF4-FFF2-40B4-BE49-F238E27FC236}">
                  <a16:creationId xmlns:a16="http://schemas.microsoft.com/office/drawing/2014/main" id="{2E7AA6E4-72B1-44D8-8C9A-9DC8E56106E5}"/>
                </a:ext>
              </a:extLst>
            </p:cNvPr>
            <p:cNvSpPr/>
            <p:nvPr/>
          </p:nvSpPr>
          <p:spPr>
            <a:xfrm>
              <a:off x="10655430" y="3246792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-0.2630</a:t>
              </a:r>
              <a:endParaRPr lang="en-US" sz="1200" dirty="0"/>
            </a:p>
          </p:txBody>
        </p:sp>
        <p:sp>
          <p:nvSpPr>
            <p:cNvPr id="99" name="Shape 92">
              <a:extLst>
                <a:ext uri="{FF2B5EF4-FFF2-40B4-BE49-F238E27FC236}">
                  <a16:creationId xmlns:a16="http://schemas.microsoft.com/office/drawing/2014/main" id="{8DB6EAA1-AD47-4D53-990C-72A460FF3462}"/>
                </a:ext>
              </a:extLst>
            </p:cNvPr>
            <p:cNvSpPr/>
            <p:nvPr/>
          </p:nvSpPr>
          <p:spPr>
            <a:xfrm>
              <a:off x="6358167" y="3754029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FCEBEB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100" name="Text 93">
              <a:extLst>
                <a:ext uri="{FF2B5EF4-FFF2-40B4-BE49-F238E27FC236}">
                  <a16:creationId xmlns:a16="http://schemas.microsoft.com/office/drawing/2014/main" id="{F5CD8796-B47F-4EE3-9799-A19B2970CA1B}"/>
                </a:ext>
              </a:extLst>
            </p:cNvPr>
            <p:cNvSpPr/>
            <p:nvPr/>
          </p:nvSpPr>
          <p:spPr>
            <a:xfrm>
              <a:off x="6358167" y="3754029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100" dirty="0"/>
            </a:p>
          </p:txBody>
        </p:sp>
        <p:sp>
          <p:nvSpPr>
            <p:cNvPr id="101" name="Text 94">
              <a:extLst>
                <a:ext uri="{FF2B5EF4-FFF2-40B4-BE49-F238E27FC236}">
                  <a16:creationId xmlns:a16="http://schemas.microsoft.com/office/drawing/2014/main" id="{29EF629E-BE5E-4512-BA99-B1398B2BC510}"/>
                </a:ext>
              </a:extLst>
            </p:cNvPr>
            <p:cNvSpPr/>
            <p:nvPr/>
          </p:nvSpPr>
          <p:spPr>
            <a:xfrm>
              <a:off x="6700124" y="3674239"/>
              <a:ext cx="1994751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mean_abs_deviation</a:t>
              </a:r>
              <a:endParaRPr lang="en-US" sz="1400" b="1" dirty="0"/>
            </a:p>
          </p:txBody>
        </p:sp>
        <p:sp>
          <p:nvSpPr>
            <p:cNvPr id="102" name="Shape 95">
              <a:extLst>
                <a:ext uri="{FF2B5EF4-FFF2-40B4-BE49-F238E27FC236}">
                  <a16:creationId xmlns:a16="http://schemas.microsoft.com/office/drawing/2014/main" id="{0D4747C1-0ECA-4E65-8ED5-9ECFF45D41F7}"/>
                </a:ext>
              </a:extLst>
            </p:cNvPr>
            <p:cNvSpPr/>
            <p:nvPr/>
          </p:nvSpPr>
          <p:spPr>
            <a:xfrm>
              <a:off x="8763267" y="3791074"/>
              <a:ext cx="1823772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03" name="Shape 96">
              <a:extLst>
                <a:ext uri="{FF2B5EF4-FFF2-40B4-BE49-F238E27FC236}">
                  <a16:creationId xmlns:a16="http://schemas.microsoft.com/office/drawing/2014/main" id="{985A66DC-3A49-4506-ABCD-CB6124AFF780}"/>
                </a:ext>
              </a:extLst>
            </p:cNvPr>
            <p:cNvSpPr/>
            <p:nvPr/>
          </p:nvSpPr>
          <p:spPr>
            <a:xfrm>
              <a:off x="8763267" y="3791074"/>
              <a:ext cx="978454" cy="193776"/>
            </a:xfrm>
            <a:prstGeom prst="rect">
              <a:avLst/>
            </a:prstGeom>
            <a:solidFill>
              <a:srgbClr val="A32D2D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104" name="Text 97">
              <a:extLst>
                <a:ext uri="{FF2B5EF4-FFF2-40B4-BE49-F238E27FC236}">
                  <a16:creationId xmlns:a16="http://schemas.microsoft.com/office/drawing/2014/main" id="{83245F59-5EBC-4526-B124-7087641036B6}"/>
                </a:ext>
              </a:extLst>
            </p:cNvPr>
            <p:cNvSpPr/>
            <p:nvPr/>
          </p:nvSpPr>
          <p:spPr>
            <a:xfrm>
              <a:off x="10655430" y="3674239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-0.2146</a:t>
              </a:r>
              <a:endParaRPr lang="en-US" sz="1200" dirty="0"/>
            </a:p>
          </p:txBody>
        </p:sp>
        <p:sp>
          <p:nvSpPr>
            <p:cNvPr id="105" name="Shape 98">
              <a:extLst>
                <a:ext uri="{FF2B5EF4-FFF2-40B4-BE49-F238E27FC236}">
                  <a16:creationId xmlns:a16="http://schemas.microsoft.com/office/drawing/2014/main" id="{590E9F96-9D3F-415F-AC4D-7D6E0D01A147}"/>
                </a:ext>
              </a:extLst>
            </p:cNvPr>
            <p:cNvSpPr/>
            <p:nvPr/>
          </p:nvSpPr>
          <p:spPr>
            <a:xfrm>
              <a:off x="6358167" y="4181475"/>
              <a:ext cx="284964" cy="250769"/>
            </a:xfrm>
            <a:prstGeom prst="roundRect">
              <a:avLst>
                <a:gd name="adj" fmla="val 18182"/>
              </a:avLst>
            </a:prstGeom>
            <a:solidFill>
              <a:srgbClr val="FCEBEB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106" name="Text 99">
              <a:extLst>
                <a:ext uri="{FF2B5EF4-FFF2-40B4-BE49-F238E27FC236}">
                  <a16:creationId xmlns:a16="http://schemas.microsoft.com/office/drawing/2014/main" id="{5B3E1D44-3052-4E40-A179-179A68896A87}"/>
                </a:ext>
              </a:extLst>
            </p:cNvPr>
            <p:cNvSpPr/>
            <p:nvPr/>
          </p:nvSpPr>
          <p:spPr>
            <a:xfrm>
              <a:off x="6358167" y="4181475"/>
              <a:ext cx="284964" cy="250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1100" dirty="0"/>
            </a:p>
          </p:txBody>
        </p:sp>
        <p:sp>
          <p:nvSpPr>
            <p:cNvPr id="107" name="Text 100">
              <a:extLst>
                <a:ext uri="{FF2B5EF4-FFF2-40B4-BE49-F238E27FC236}">
                  <a16:creationId xmlns:a16="http://schemas.microsoft.com/office/drawing/2014/main" id="{EA64852A-5CBA-496A-9B5C-67BFA1D27ABA}"/>
                </a:ext>
              </a:extLst>
            </p:cNvPr>
            <p:cNvSpPr/>
            <p:nvPr/>
          </p:nvSpPr>
          <p:spPr>
            <a:xfrm>
              <a:off x="6700124" y="4101685"/>
              <a:ext cx="1994751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slope_min</a:t>
              </a:r>
              <a:endParaRPr lang="en-US" sz="1400" b="1" dirty="0"/>
            </a:p>
          </p:txBody>
        </p:sp>
        <p:sp>
          <p:nvSpPr>
            <p:cNvPr id="108" name="Shape 101">
              <a:extLst>
                <a:ext uri="{FF2B5EF4-FFF2-40B4-BE49-F238E27FC236}">
                  <a16:creationId xmlns:a16="http://schemas.microsoft.com/office/drawing/2014/main" id="{D492A8D2-E613-499A-AB08-325272723627}"/>
                </a:ext>
              </a:extLst>
            </p:cNvPr>
            <p:cNvSpPr/>
            <p:nvPr/>
          </p:nvSpPr>
          <p:spPr>
            <a:xfrm>
              <a:off x="8763267" y="4218521"/>
              <a:ext cx="1823772" cy="193776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09" name="Shape 102">
              <a:extLst>
                <a:ext uri="{FF2B5EF4-FFF2-40B4-BE49-F238E27FC236}">
                  <a16:creationId xmlns:a16="http://schemas.microsoft.com/office/drawing/2014/main" id="{CEEC2F0C-7ACD-44E8-B387-24EE00103D5B}"/>
                </a:ext>
              </a:extLst>
            </p:cNvPr>
            <p:cNvSpPr/>
            <p:nvPr/>
          </p:nvSpPr>
          <p:spPr>
            <a:xfrm>
              <a:off x="8763267" y="4218521"/>
              <a:ext cx="788782" cy="193776"/>
            </a:xfrm>
            <a:prstGeom prst="rect">
              <a:avLst/>
            </a:prstGeom>
            <a:solidFill>
              <a:srgbClr val="A32D2D"/>
            </a:solidFill>
            <a:ln w="12700">
              <a:solidFill>
                <a:srgbClr val="A32D2D"/>
              </a:solidFill>
              <a:prstDash val="solid"/>
            </a:ln>
          </p:spPr>
        </p:sp>
        <p:sp>
          <p:nvSpPr>
            <p:cNvPr id="110" name="Text 103">
              <a:extLst>
                <a:ext uri="{FF2B5EF4-FFF2-40B4-BE49-F238E27FC236}">
                  <a16:creationId xmlns:a16="http://schemas.microsoft.com/office/drawing/2014/main" id="{E60D0311-4AD3-45E6-B2EE-CB83FBAA08C6}"/>
                </a:ext>
              </a:extLst>
            </p:cNvPr>
            <p:cNvSpPr/>
            <p:nvPr/>
          </p:nvSpPr>
          <p:spPr>
            <a:xfrm>
              <a:off x="10655430" y="4101685"/>
              <a:ext cx="775103" cy="4274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-0.1730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2351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12BE9E3-6536-4FF8-AC4E-29FBCA148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b="1" dirty="0"/>
              <a:t>Rank of correlation (</a:t>
            </a:r>
            <a:r>
              <a:rPr lang="en-US" altLang="ko-KR" dirty="0"/>
              <a:t>~ </a:t>
            </a:r>
            <a:r>
              <a:rPr lang="en-US" altLang="ko-KR" b="1" dirty="0"/>
              <a:t>TAMA)</a:t>
            </a:r>
            <a:endParaRPr lang="en-US" altLang="ko-KR" dirty="0"/>
          </a:p>
        </p:txBody>
      </p:sp>
      <p:sp>
        <p:nvSpPr>
          <p:cNvPr id="112" name="Shape 4">
            <a:extLst>
              <a:ext uri="{FF2B5EF4-FFF2-40B4-BE49-F238E27FC236}">
                <a16:creationId xmlns:a16="http://schemas.microsoft.com/office/drawing/2014/main" id="{85E64873-D7C9-4006-92A4-08A9B99FD57B}"/>
              </a:ext>
            </a:extLst>
          </p:cNvPr>
          <p:cNvSpPr/>
          <p:nvPr/>
        </p:nvSpPr>
        <p:spPr>
          <a:xfrm>
            <a:off x="696000" y="1601374"/>
            <a:ext cx="5331210" cy="310467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3" name="Text 5">
            <a:extLst>
              <a:ext uri="{FF2B5EF4-FFF2-40B4-BE49-F238E27FC236}">
                <a16:creationId xmlns:a16="http://schemas.microsoft.com/office/drawing/2014/main" id="{9D6DB924-7FF3-42C0-8459-D39DE896C5B5}"/>
              </a:ext>
            </a:extLst>
          </p:cNvPr>
          <p:cNvSpPr/>
          <p:nvPr/>
        </p:nvSpPr>
        <p:spPr>
          <a:xfrm>
            <a:off x="787720" y="1601374"/>
            <a:ext cx="5216561" cy="310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남성 (Male)  —  Top 10</a:t>
            </a:r>
            <a:endParaRPr lang="en-US" sz="1400" dirty="0"/>
          </a:p>
        </p:txBody>
      </p:sp>
      <p:sp>
        <p:nvSpPr>
          <p:cNvPr id="114" name="Shape 6">
            <a:extLst>
              <a:ext uri="{FF2B5EF4-FFF2-40B4-BE49-F238E27FC236}">
                <a16:creationId xmlns:a16="http://schemas.microsoft.com/office/drawing/2014/main" id="{FBFFD2C8-B1B0-4A68-ACC1-45DB2BC03FE4}"/>
              </a:ext>
            </a:extLst>
          </p:cNvPr>
          <p:cNvSpPr/>
          <p:nvPr/>
        </p:nvSpPr>
        <p:spPr>
          <a:xfrm>
            <a:off x="696000" y="2049826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5" name="Text 7">
            <a:extLst>
              <a:ext uri="{FF2B5EF4-FFF2-40B4-BE49-F238E27FC236}">
                <a16:creationId xmlns:a16="http://schemas.microsoft.com/office/drawing/2014/main" id="{5C7F5A6D-4910-4C08-BE76-65FEB50A81CB}"/>
              </a:ext>
            </a:extLst>
          </p:cNvPr>
          <p:cNvSpPr/>
          <p:nvPr/>
        </p:nvSpPr>
        <p:spPr>
          <a:xfrm>
            <a:off x="696000" y="2049826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6" name="Text 8">
            <a:extLst>
              <a:ext uri="{FF2B5EF4-FFF2-40B4-BE49-F238E27FC236}">
                <a16:creationId xmlns:a16="http://schemas.microsoft.com/office/drawing/2014/main" id="{4E9E8BB9-5058-4894-8B41-3D3D13E7149E}"/>
              </a:ext>
            </a:extLst>
          </p:cNvPr>
          <p:cNvSpPr/>
          <p:nvPr/>
        </p:nvSpPr>
        <p:spPr>
          <a:xfrm>
            <a:off x="1039949" y="1969335"/>
            <a:ext cx="1834395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</a:t>
            </a:r>
            <a:endParaRPr lang="en-US" sz="1400" b="1" dirty="0"/>
          </a:p>
        </p:txBody>
      </p:sp>
      <p:sp>
        <p:nvSpPr>
          <p:cNvPr id="117" name="Shape 9">
            <a:extLst>
              <a:ext uri="{FF2B5EF4-FFF2-40B4-BE49-F238E27FC236}">
                <a16:creationId xmlns:a16="http://schemas.microsoft.com/office/drawing/2014/main" id="{6009B5DD-5672-449B-A529-08E4558803BD}"/>
              </a:ext>
            </a:extLst>
          </p:cNvPr>
          <p:cNvSpPr/>
          <p:nvPr/>
        </p:nvSpPr>
        <p:spPr>
          <a:xfrm>
            <a:off x="2943134" y="2087197"/>
            <a:ext cx="2006369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Shape 10">
            <a:extLst>
              <a:ext uri="{FF2B5EF4-FFF2-40B4-BE49-F238E27FC236}">
                <a16:creationId xmlns:a16="http://schemas.microsoft.com/office/drawing/2014/main" id="{2B39677C-3C65-4E27-A301-311314683946}"/>
              </a:ext>
            </a:extLst>
          </p:cNvPr>
          <p:cNvSpPr/>
          <p:nvPr/>
        </p:nvSpPr>
        <p:spPr>
          <a:xfrm>
            <a:off x="2943134" y="2087197"/>
            <a:ext cx="1786672" cy="195479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9" name="Text 11">
            <a:extLst>
              <a:ext uri="{FF2B5EF4-FFF2-40B4-BE49-F238E27FC236}">
                <a16:creationId xmlns:a16="http://schemas.microsoft.com/office/drawing/2014/main" id="{C3699861-0BAB-4DE7-82E1-351A52FFED48}"/>
              </a:ext>
            </a:extLst>
          </p:cNvPr>
          <p:cNvSpPr/>
          <p:nvPr/>
        </p:nvSpPr>
        <p:spPr>
          <a:xfrm>
            <a:off x="5018293" y="1969335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+0.3562</a:t>
            </a:r>
            <a:endParaRPr lang="en-US" sz="1200" dirty="0"/>
          </a:p>
        </p:txBody>
      </p:sp>
      <p:sp>
        <p:nvSpPr>
          <p:cNvPr id="120" name="Shape 12">
            <a:extLst>
              <a:ext uri="{FF2B5EF4-FFF2-40B4-BE49-F238E27FC236}">
                <a16:creationId xmlns:a16="http://schemas.microsoft.com/office/drawing/2014/main" id="{71B702D0-6F73-46E1-834A-589CDAF09210}"/>
              </a:ext>
            </a:extLst>
          </p:cNvPr>
          <p:cNvSpPr/>
          <p:nvPr/>
        </p:nvSpPr>
        <p:spPr>
          <a:xfrm>
            <a:off x="696000" y="2481030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1" name="Text 13">
            <a:extLst>
              <a:ext uri="{FF2B5EF4-FFF2-40B4-BE49-F238E27FC236}">
                <a16:creationId xmlns:a16="http://schemas.microsoft.com/office/drawing/2014/main" id="{69D367C3-2AF1-46E9-9EDF-EC82688EF566}"/>
              </a:ext>
            </a:extLst>
          </p:cNvPr>
          <p:cNvSpPr/>
          <p:nvPr/>
        </p:nvSpPr>
        <p:spPr>
          <a:xfrm>
            <a:off x="696000" y="2481030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2" name="Text 14">
            <a:extLst>
              <a:ext uri="{FF2B5EF4-FFF2-40B4-BE49-F238E27FC236}">
                <a16:creationId xmlns:a16="http://schemas.microsoft.com/office/drawing/2014/main" id="{C846FAEF-3691-4539-9032-F26C75FB9866}"/>
              </a:ext>
            </a:extLst>
          </p:cNvPr>
          <p:cNvSpPr/>
          <p:nvPr/>
        </p:nvSpPr>
        <p:spPr>
          <a:xfrm>
            <a:off x="1039949" y="2400539"/>
            <a:ext cx="1834395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p10</a:t>
            </a:r>
            <a:endParaRPr lang="en-US" sz="1400" b="1" dirty="0"/>
          </a:p>
        </p:txBody>
      </p:sp>
      <p:sp>
        <p:nvSpPr>
          <p:cNvPr id="123" name="Shape 15">
            <a:extLst>
              <a:ext uri="{FF2B5EF4-FFF2-40B4-BE49-F238E27FC236}">
                <a16:creationId xmlns:a16="http://schemas.microsoft.com/office/drawing/2014/main" id="{1AAC8683-FAFA-4E24-95EE-42605478BB7E}"/>
              </a:ext>
            </a:extLst>
          </p:cNvPr>
          <p:cNvSpPr/>
          <p:nvPr/>
        </p:nvSpPr>
        <p:spPr>
          <a:xfrm>
            <a:off x="2943134" y="2518401"/>
            <a:ext cx="2006369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Shape 16">
            <a:extLst>
              <a:ext uri="{FF2B5EF4-FFF2-40B4-BE49-F238E27FC236}">
                <a16:creationId xmlns:a16="http://schemas.microsoft.com/office/drawing/2014/main" id="{0A494A07-6516-425C-8664-62920E5ACB81}"/>
              </a:ext>
            </a:extLst>
          </p:cNvPr>
          <p:cNvSpPr/>
          <p:nvPr/>
        </p:nvSpPr>
        <p:spPr>
          <a:xfrm>
            <a:off x="2943134" y="2518401"/>
            <a:ext cx="1670805" cy="195479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5" name="Text 17">
            <a:extLst>
              <a:ext uri="{FF2B5EF4-FFF2-40B4-BE49-F238E27FC236}">
                <a16:creationId xmlns:a16="http://schemas.microsoft.com/office/drawing/2014/main" id="{A6295BCC-331D-43B1-9F0E-2654BED1C196}"/>
              </a:ext>
            </a:extLst>
          </p:cNvPr>
          <p:cNvSpPr/>
          <p:nvPr/>
        </p:nvSpPr>
        <p:spPr>
          <a:xfrm>
            <a:off x="5018293" y="2400539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+0.3331</a:t>
            </a:r>
            <a:endParaRPr lang="en-US" sz="1200" dirty="0"/>
          </a:p>
        </p:txBody>
      </p:sp>
      <p:sp>
        <p:nvSpPr>
          <p:cNvPr id="126" name="Shape 18">
            <a:extLst>
              <a:ext uri="{FF2B5EF4-FFF2-40B4-BE49-F238E27FC236}">
                <a16:creationId xmlns:a16="http://schemas.microsoft.com/office/drawing/2014/main" id="{1347AA07-7503-4967-9E06-AF3FAD238221}"/>
              </a:ext>
            </a:extLst>
          </p:cNvPr>
          <p:cNvSpPr/>
          <p:nvPr/>
        </p:nvSpPr>
        <p:spPr>
          <a:xfrm>
            <a:off x="696000" y="2912234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7" name="Text 19">
            <a:extLst>
              <a:ext uri="{FF2B5EF4-FFF2-40B4-BE49-F238E27FC236}">
                <a16:creationId xmlns:a16="http://schemas.microsoft.com/office/drawing/2014/main" id="{0157A5B7-31DA-40F6-916F-25129B251CAB}"/>
              </a:ext>
            </a:extLst>
          </p:cNvPr>
          <p:cNvSpPr/>
          <p:nvPr/>
        </p:nvSpPr>
        <p:spPr>
          <a:xfrm>
            <a:off x="696000" y="2912234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8" name="Text 20">
            <a:extLst>
              <a:ext uri="{FF2B5EF4-FFF2-40B4-BE49-F238E27FC236}">
                <a16:creationId xmlns:a16="http://schemas.microsoft.com/office/drawing/2014/main" id="{ECD8F6CD-417A-4597-83F7-E1EFD6B64AF4}"/>
              </a:ext>
            </a:extLst>
          </p:cNvPr>
          <p:cNvSpPr/>
          <p:nvPr/>
        </p:nvSpPr>
        <p:spPr>
          <a:xfrm>
            <a:off x="1039949" y="2831743"/>
            <a:ext cx="1834395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p25</a:t>
            </a:r>
            <a:endParaRPr lang="en-US" sz="1400" b="1" dirty="0"/>
          </a:p>
        </p:txBody>
      </p:sp>
      <p:sp>
        <p:nvSpPr>
          <p:cNvPr id="129" name="Shape 21">
            <a:extLst>
              <a:ext uri="{FF2B5EF4-FFF2-40B4-BE49-F238E27FC236}">
                <a16:creationId xmlns:a16="http://schemas.microsoft.com/office/drawing/2014/main" id="{D2363B21-DA97-411C-9BE1-024F75B685EF}"/>
              </a:ext>
            </a:extLst>
          </p:cNvPr>
          <p:cNvSpPr/>
          <p:nvPr/>
        </p:nvSpPr>
        <p:spPr>
          <a:xfrm>
            <a:off x="2943134" y="2949605"/>
            <a:ext cx="2006369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Shape 22">
            <a:extLst>
              <a:ext uri="{FF2B5EF4-FFF2-40B4-BE49-F238E27FC236}">
                <a16:creationId xmlns:a16="http://schemas.microsoft.com/office/drawing/2014/main" id="{6A7A20AF-BB9C-47F6-87CF-22B0909A6110}"/>
              </a:ext>
            </a:extLst>
          </p:cNvPr>
          <p:cNvSpPr/>
          <p:nvPr/>
        </p:nvSpPr>
        <p:spPr>
          <a:xfrm>
            <a:off x="2943134" y="2949605"/>
            <a:ext cx="1612118" cy="195479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1" name="Text 23">
            <a:extLst>
              <a:ext uri="{FF2B5EF4-FFF2-40B4-BE49-F238E27FC236}">
                <a16:creationId xmlns:a16="http://schemas.microsoft.com/office/drawing/2014/main" id="{CD4B5495-C70A-4CB4-B00D-C2425237B046}"/>
              </a:ext>
            </a:extLst>
          </p:cNvPr>
          <p:cNvSpPr/>
          <p:nvPr/>
        </p:nvSpPr>
        <p:spPr>
          <a:xfrm>
            <a:off x="5018293" y="2831743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+0.3214</a:t>
            </a:r>
            <a:endParaRPr lang="en-US" sz="1200" dirty="0"/>
          </a:p>
        </p:txBody>
      </p:sp>
      <p:sp>
        <p:nvSpPr>
          <p:cNvPr id="132" name="Shape 24">
            <a:extLst>
              <a:ext uri="{FF2B5EF4-FFF2-40B4-BE49-F238E27FC236}">
                <a16:creationId xmlns:a16="http://schemas.microsoft.com/office/drawing/2014/main" id="{97E66C41-BB84-48FA-B073-F57016A24C07}"/>
              </a:ext>
            </a:extLst>
          </p:cNvPr>
          <p:cNvSpPr/>
          <p:nvPr/>
        </p:nvSpPr>
        <p:spPr>
          <a:xfrm>
            <a:off x="696000" y="3343438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3" name="Text 25">
            <a:extLst>
              <a:ext uri="{FF2B5EF4-FFF2-40B4-BE49-F238E27FC236}">
                <a16:creationId xmlns:a16="http://schemas.microsoft.com/office/drawing/2014/main" id="{4B1C574A-8DD5-4388-9DEF-188769A4415D}"/>
              </a:ext>
            </a:extLst>
          </p:cNvPr>
          <p:cNvSpPr/>
          <p:nvPr/>
        </p:nvSpPr>
        <p:spPr>
          <a:xfrm>
            <a:off x="696000" y="3343438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4" name="Text 26">
            <a:extLst>
              <a:ext uri="{FF2B5EF4-FFF2-40B4-BE49-F238E27FC236}">
                <a16:creationId xmlns:a16="http://schemas.microsoft.com/office/drawing/2014/main" id="{D65F624D-C0C9-4595-B446-C2151D901EA0}"/>
              </a:ext>
            </a:extLst>
          </p:cNvPr>
          <p:cNvSpPr/>
          <p:nvPr/>
        </p:nvSpPr>
        <p:spPr>
          <a:xfrm>
            <a:off x="1039949" y="3262946"/>
            <a:ext cx="1834395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p5</a:t>
            </a:r>
            <a:endParaRPr lang="en-US" sz="1400" b="1" dirty="0"/>
          </a:p>
        </p:txBody>
      </p:sp>
      <p:sp>
        <p:nvSpPr>
          <p:cNvPr id="135" name="Shape 27">
            <a:extLst>
              <a:ext uri="{FF2B5EF4-FFF2-40B4-BE49-F238E27FC236}">
                <a16:creationId xmlns:a16="http://schemas.microsoft.com/office/drawing/2014/main" id="{2F721957-A12D-492C-B08F-9F701DA92573}"/>
              </a:ext>
            </a:extLst>
          </p:cNvPr>
          <p:cNvSpPr/>
          <p:nvPr/>
        </p:nvSpPr>
        <p:spPr>
          <a:xfrm>
            <a:off x="2943134" y="3380809"/>
            <a:ext cx="2006369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6" name="Shape 28">
            <a:extLst>
              <a:ext uri="{FF2B5EF4-FFF2-40B4-BE49-F238E27FC236}">
                <a16:creationId xmlns:a16="http://schemas.microsoft.com/office/drawing/2014/main" id="{47D452A8-3B2F-4A11-9388-3B941BBCDF09}"/>
              </a:ext>
            </a:extLst>
          </p:cNvPr>
          <p:cNvSpPr/>
          <p:nvPr/>
        </p:nvSpPr>
        <p:spPr>
          <a:xfrm>
            <a:off x="2943134" y="3380809"/>
            <a:ext cx="1611617" cy="195479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7" name="Text 29">
            <a:extLst>
              <a:ext uri="{FF2B5EF4-FFF2-40B4-BE49-F238E27FC236}">
                <a16:creationId xmlns:a16="http://schemas.microsoft.com/office/drawing/2014/main" id="{D1E663F4-4504-46AC-8823-DD861FBA86C5}"/>
              </a:ext>
            </a:extLst>
          </p:cNvPr>
          <p:cNvSpPr/>
          <p:nvPr/>
        </p:nvSpPr>
        <p:spPr>
          <a:xfrm>
            <a:off x="5018293" y="3262946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+0.3213</a:t>
            </a:r>
            <a:endParaRPr lang="en-US" sz="1200" dirty="0"/>
          </a:p>
        </p:txBody>
      </p:sp>
      <p:sp>
        <p:nvSpPr>
          <p:cNvPr id="138" name="Shape 30">
            <a:extLst>
              <a:ext uri="{FF2B5EF4-FFF2-40B4-BE49-F238E27FC236}">
                <a16:creationId xmlns:a16="http://schemas.microsoft.com/office/drawing/2014/main" id="{D97032F4-59A2-4746-980E-36929CEF0F49}"/>
              </a:ext>
            </a:extLst>
          </p:cNvPr>
          <p:cNvSpPr/>
          <p:nvPr/>
        </p:nvSpPr>
        <p:spPr>
          <a:xfrm>
            <a:off x="696000" y="3774642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9" name="Text 31">
            <a:extLst>
              <a:ext uri="{FF2B5EF4-FFF2-40B4-BE49-F238E27FC236}">
                <a16:creationId xmlns:a16="http://schemas.microsoft.com/office/drawing/2014/main" id="{97A922AE-4703-4DCC-8696-ECFB94E3730D}"/>
              </a:ext>
            </a:extLst>
          </p:cNvPr>
          <p:cNvSpPr/>
          <p:nvPr/>
        </p:nvSpPr>
        <p:spPr>
          <a:xfrm>
            <a:off x="696000" y="3774642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40" name="Text 32">
            <a:extLst>
              <a:ext uri="{FF2B5EF4-FFF2-40B4-BE49-F238E27FC236}">
                <a16:creationId xmlns:a16="http://schemas.microsoft.com/office/drawing/2014/main" id="{5FE6D822-175E-45DE-9B21-8C1B9CACA9E9}"/>
              </a:ext>
            </a:extLst>
          </p:cNvPr>
          <p:cNvSpPr/>
          <p:nvPr/>
        </p:nvSpPr>
        <p:spPr>
          <a:xfrm>
            <a:off x="1039949" y="3694150"/>
            <a:ext cx="1834395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signal_energy</a:t>
            </a:r>
            <a:endParaRPr lang="en-US" sz="1400" b="1" dirty="0"/>
          </a:p>
        </p:txBody>
      </p:sp>
      <p:sp>
        <p:nvSpPr>
          <p:cNvPr id="141" name="Shape 33">
            <a:extLst>
              <a:ext uri="{FF2B5EF4-FFF2-40B4-BE49-F238E27FC236}">
                <a16:creationId xmlns:a16="http://schemas.microsoft.com/office/drawing/2014/main" id="{6B8041DF-6C33-4B11-8431-41DF6920AAC8}"/>
              </a:ext>
            </a:extLst>
          </p:cNvPr>
          <p:cNvSpPr/>
          <p:nvPr/>
        </p:nvSpPr>
        <p:spPr>
          <a:xfrm>
            <a:off x="2943134" y="3812013"/>
            <a:ext cx="2006369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2" name="Shape 34">
            <a:extLst>
              <a:ext uri="{FF2B5EF4-FFF2-40B4-BE49-F238E27FC236}">
                <a16:creationId xmlns:a16="http://schemas.microsoft.com/office/drawing/2014/main" id="{5D84E1E3-2605-4255-B11B-42D8A6958092}"/>
              </a:ext>
            </a:extLst>
          </p:cNvPr>
          <p:cNvSpPr/>
          <p:nvPr/>
        </p:nvSpPr>
        <p:spPr>
          <a:xfrm>
            <a:off x="2943134" y="3812013"/>
            <a:ext cx="1535876" cy="195479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3" name="Text 35">
            <a:extLst>
              <a:ext uri="{FF2B5EF4-FFF2-40B4-BE49-F238E27FC236}">
                <a16:creationId xmlns:a16="http://schemas.microsoft.com/office/drawing/2014/main" id="{9FA9DA4C-A77C-4BCE-8EAE-BDF2C87481C8}"/>
              </a:ext>
            </a:extLst>
          </p:cNvPr>
          <p:cNvSpPr/>
          <p:nvPr/>
        </p:nvSpPr>
        <p:spPr>
          <a:xfrm>
            <a:off x="5018293" y="3694150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+0.3062</a:t>
            </a:r>
            <a:endParaRPr lang="en-US" sz="1200" dirty="0"/>
          </a:p>
        </p:txBody>
      </p:sp>
      <p:sp>
        <p:nvSpPr>
          <p:cNvPr id="144" name="Shape 36">
            <a:extLst>
              <a:ext uri="{FF2B5EF4-FFF2-40B4-BE49-F238E27FC236}">
                <a16:creationId xmlns:a16="http://schemas.microsoft.com/office/drawing/2014/main" id="{EF2ECC31-1B94-4204-A8E4-043AD7F33C40}"/>
              </a:ext>
            </a:extLst>
          </p:cNvPr>
          <p:cNvSpPr/>
          <p:nvPr/>
        </p:nvSpPr>
        <p:spPr>
          <a:xfrm>
            <a:off x="696000" y="4205846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5" name="Text 37">
            <a:extLst>
              <a:ext uri="{FF2B5EF4-FFF2-40B4-BE49-F238E27FC236}">
                <a16:creationId xmlns:a16="http://schemas.microsoft.com/office/drawing/2014/main" id="{E34CFA4D-D1B4-4EF3-B6FF-82416C08D4B6}"/>
              </a:ext>
            </a:extLst>
          </p:cNvPr>
          <p:cNvSpPr/>
          <p:nvPr/>
        </p:nvSpPr>
        <p:spPr>
          <a:xfrm>
            <a:off x="696000" y="4205846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46" name="Text 38">
            <a:extLst>
              <a:ext uri="{FF2B5EF4-FFF2-40B4-BE49-F238E27FC236}">
                <a16:creationId xmlns:a16="http://schemas.microsoft.com/office/drawing/2014/main" id="{366853E9-A9B2-466C-86CA-F86BA1F4FD7E}"/>
              </a:ext>
            </a:extLst>
          </p:cNvPr>
          <p:cNvSpPr/>
          <p:nvPr/>
        </p:nvSpPr>
        <p:spPr>
          <a:xfrm>
            <a:off x="1039949" y="4125354"/>
            <a:ext cx="1834395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mean</a:t>
            </a:r>
            <a:endParaRPr lang="en-US" sz="1400" b="1" dirty="0"/>
          </a:p>
        </p:txBody>
      </p:sp>
      <p:sp>
        <p:nvSpPr>
          <p:cNvPr id="147" name="Shape 39">
            <a:extLst>
              <a:ext uri="{FF2B5EF4-FFF2-40B4-BE49-F238E27FC236}">
                <a16:creationId xmlns:a16="http://schemas.microsoft.com/office/drawing/2014/main" id="{683E4006-F03A-4AC1-91AA-A66E0F1D1C65}"/>
              </a:ext>
            </a:extLst>
          </p:cNvPr>
          <p:cNvSpPr/>
          <p:nvPr/>
        </p:nvSpPr>
        <p:spPr>
          <a:xfrm>
            <a:off x="2943134" y="4243217"/>
            <a:ext cx="2006369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8" name="Shape 40">
            <a:extLst>
              <a:ext uri="{FF2B5EF4-FFF2-40B4-BE49-F238E27FC236}">
                <a16:creationId xmlns:a16="http://schemas.microsoft.com/office/drawing/2014/main" id="{F740D7DB-A616-4342-99BD-ADD5931A4BAF}"/>
              </a:ext>
            </a:extLst>
          </p:cNvPr>
          <p:cNvSpPr/>
          <p:nvPr/>
        </p:nvSpPr>
        <p:spPr>
          <a:xfrm>
            <a:off x="2943134" y="4243217"/>
            <a:ext cx="1492739" cy="195479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9" name="Text 41">
            <a:extLst>
              <a:ext uri="{FF2B5EF4-FFF2-40B4-BE49-F238E27FC236}">
                <a16:creationId xmlns:a16="http://schemas.microsoft.com/office/drawing/2014/main" id="{AF6833CC-4398-4444-9350-8849B018E7BD}"/>
              </a:ext>
            </a:extLst>
          </p:cNvPr>
          <p:cNvSpPr/>
          <p:nvPr/>
        </p:nvSpPr>
        <p:spPr>
          <a:xfrm>
            <a:off x="5018293" y="4125354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+0.2976</a:t>
            </a:r>
            <a:endParaRPr lang="en-US" sz="1200" dirty="0"/>
          </a:p>
        </p:txBody>
      </p:sp>
      <p:sp>
        <p:nvSpPr>
          <p:cNvPr id="150" name="Shape 42">
            <a:extLst>
              <a:ext uri="{FF2B5EF4-FFF2-40B4-BE49-F238E27FC236}">
                <a16:creationId xmlns:a16="http://schemas.microsoft.com/office/drawing/2014/main" id="{F307473A-73A6-435B-8B97-BED046C747EC}"/>
              </a:ext>
            </a:extLst>
          </p:cNvPr>
          <p:cNvSpPr/>
          <p:nvPr/>
        </p:nvSpPr>
        <p:spPr>
          <a:xfrm>
            <a:off x="696000" y="4637050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1" name="Text 43">
            <a:extLst>
              <a:ext uri="{FF2B5EF4-FFF2-40B4-BE49-F238E27FC236}">
                <a16:creationId xmlns:a16="http://schemas.microsoft.com/office/drawing/2014/main" id="{0A2523F7-5F2F-4300-BF2B-A9B4BAFA0932}"/>
              </a:ext>
            </a:extLst>
          </p:cNvPr>
          <p:cNvSpPr/>
          <p:nvPr/>
        </p:nvSpPr>
        <p:spPr>
          <a:xfrm>
            <a:off x="696000" y="4637050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52" name="Text 44">
            <a:extLst>
              <a:ext uri="{FF2B5EF4-FFF2-40B4-BE49-F238E27FC236}">
                <a16:creationId xmlns:a16="http://schemas.microsoft.com/office/drawing/2014/main" id="{09E34C49-0879-48C1-B699-7E7D9B40FCB4}"/>
              </a:ext>
            </a:extLst>
          </p:cNvPr>
          <p:cNvSpPr/>
          <p:nvPr/>
        </p:nvSpPr>
        <p:spPr>
          <a:xfrm>
            <a:off x="1039949" y="4556558"/>
            <a:ext cx="1834395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AUC_normalized</a:t>
            </a:r>
            <a:endParaRPr lang="en-US" sz="1400" b="1" dirty="0"/>
          </a:p>
        </p:txBody>
      </p:sp>
      <p:sp>
        <p:nvSpPr>
          <p:cNvPr id="153" name="Shape 45">
            <a:extLst>
              <a:ext uri="{FF2B5EF4-FFF2-40B4-BE49-F238E27FC236}">
                <a16:creationId xmlns:a16="http://schemas.microsoft.com/office/drawing/2014/main" id="{8295D5F3-F890-4BDC-82DC-60B341EB76B5}"/>
              </a:ext>
            </a:extLst>
          </p:cNvPr>
          <p:cNvSpPr/>
          <p:nvPr/>
        </p:nvSpPr>
        <p:spPr>
          <a:xfrm>
            <a:off x="2943134" y="4674421"/>
            <a:ext cx="2006369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4" name="Shape 46">
            <a:extLst>
              <a:ext uri="{FF2B5EF4-FFF2-40B4-BE49-F238E27FC236}">
                <a16:creationId xmlns:a16="http://schemas.microsoft.com/office/drawing/2014/main" id="{10CF8733-FF54-4AC8-AFE3-2FD9BCE0655E}"/>
              </a:ext>
            </a:extLst>
          </p:cNvPr>
          <p:cNvSpPr/>
          <p:nvPr/>
        </p:nvSpPr>
        <p:spPr>
          <a:xfrm>
            <a:off x="2943134" y="4674421"/>
            <a:ext cx="1491235" cy="195479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5" name="Text 47">
            <a:extLst>
              <a:ext uri="{FF2B5EF4-FFF2-40B4-BE49-F238E27FC236}">
                <a16:creationId xmlns:a16="http://schemas.microsoft.com/office/drawing/2014/main" id="{6D026095-573E-4A2C-81E4-751AC1F14503}"/>
              </a:ext>
            </a:extLst>
          </p:cNvPr>
          <p:cNvSpPr/>
          <p:nvPr/>
        </p:nvSpPr>
        <p:spPr>
          <a:xfrm>
            <a:off x="5018293" y="4556558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+0.2973</a:t>
            </a:r>
            <a:endParaRPr lang="en-US" sz="1200" dirty="0"/>
          </a:p>
        </p:txBody>
      </p:sp>
      <p:sp>
        <p:nvSpPr>
          <p:cNvPr id="156" name="Shape 48">
            <a:extLst>
              <a:ext uri="{FF2B5EF4-FFF2-40B4-BE49-F238E27FC236}">
                <a16:creationId xmlns:a16="http://schemas.microsoft.com/office/drawing/2014/main" id="{BD411325-34F6-49C7-AC53-75A9BEFE862F}"/>
              </a:ext>
            </a:extLst>
          </p:cNvPr>
          <p:cNvSpPr/>
          <p:nvPr/>
        </p:nvSpPr>
        <p:spPr>
          <a:xfrm>
            <a:off x="696000" y="5068254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7" name="Text 49">
            <a:extLst>
              <a:ext uri="{FF2B5EF4-FFF2-40B4-BE49-F238E27FC236}">
                <a16:creationId xmlns:a16="http://schemas.microsoft.com/office/drawing/2014/main" id="{28996C44-DB2C-4F71-80A5-0D75A38C635B}"/>
              </a:ext>
            </a:extLst>
          </p:cNvPr>
          <p:cNvSpPr/>
          <p:nvPr/>
        </p:nvSpPr>
        <p:spPr>
          <a:xfrm>
            <a:off x="696000" y="5068254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58" name="Text 50">
            <a:extLst>
              <a:ext uri="{FF2B5EF4-FFF2-40B4-BE49-F238E27FC236}">
                <a16:creationId xmlns:a16="http://schemas.microsoft.com/office/drawing/2014/main" id="{BC8413DD-DBE1-4F59-86A4-4B024F15C1DC}"/>
              </a:ext>
            </a:extLst>
          </p:cNvPr>
          <p:cNvSpPr/>
          <p:nvPr/>
        </p:nvSpPr>
        <p:spPr>
          <a:xfrm>
            <a:off x="1039949" y="4987762"/>
            <a:ext cx="1834395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median</a:t>
            </a:r>
            <a:endParaRPr lang="en-US" sz="1400" b="1" dirty="0"/>
          </a:p>
        </p:txBody>
      </p:sp>
      <p:sp>
        <p:nvSpPr>
          <p:cNvPr id="159" name="Shape 51">
            <a:extLst>
              <a:ext uri="{FF2B5EF4-FFF2-40B4-BE49-F238E27FC236}">
                <a16:creationId xmlns:a16="http://schemas.microsoft.com/office/drawing/2014/main" id="{2ECE61D8-FCBD-430C-B1E9-75879B54C62E}"/>
              </a:ext>
            </a:extLst>
          </p:cNvPr>
          <p:cNvSpPr/>
          <p:nvPr/>
        </p:nvSpPr>
        <p:spPr>
          <a:xfrm>
            <a:off x="2943134" y="5105625"/>
            <a:ext cx="2006369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0" name="Shape 52">
            <a:extLst>
              <a:ext uri="{FF2B5EF4-FFF2-40B4-BE49-F238E27FC236}">
                <a16:creationId xmlns:a16="http://schemas.microsoft.com/office/drawing/2014/main" id="{ABAABB42-3D43-4743-9B96-B21FEFDDCA21}"/>
              </a:ext>
            </a:extLst>
          </p:cNvPr>
          <p:cNvSpPr/>
          <p:nvPr/>
        </p:nvSpPr>
        <p:spPr>
          <a:xfrm>
            <a:off x="2943134" y="5105625"/>
            <a:ext cx="1459132" cy="195479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1" name="Text 53">
            <a:extLst>
              <a:ext uri="{FF2B5EF4-FFF2-40B4-BE49-F238E27FC236}">
                <a16:creationId xmlns:a16="http://schemas.microsoft.com/office/drawing/2014/main" id="{24DDBC84-C4AB-415C-A717-CD9673834E37}"/>
              </a:ext>
            </a:extLst>
          </p:cNvPr>
          <p:cNvSpPr/>
          <p:nvPr/>
        </p:nvSpPr>
        <p:spPr>
          <a:xfrm>
            <a:off x="5018293" y="4987762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+0.2909</a:t>
            </a:r>
            <a:endParaRPr lang="en-US" sz="1200" dirty="0"/>
          </a:p>
        </p:txBody>
      </p:sp>
      <p:sp>
        <p:nvSpPr>
          <p:cNvPr id="162" name="Shape 54">
            <a:extLst>
              <a:ext uri="{FF2B5EF4-FFF2-40B4-BE49-F238E27FC236}">
                <a16:creationId xmlns:a16="http://schemas.microsoft.com/office/drawing/2014/main" id="{AE41425E-521B-4688-9857-A0204D48E756}"/>
              </a:ext>
            </a:extLst>
          </p:cNvPr>
          <p:cNvSpPr/>
          <p:nvPr/>
        </p:nvSpPr>
        <p:spPr>
          <a:xfrm>
            <a:off x="696000" y="5499458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3" name="Text 55">
            <a:extLst>
              <a:ext uri="{FF2B5EF4-FFF2-40B4-BE49-F238E27FC236}">
                <a16:creationId xmlns:a16="http://schemas.microsoft.com/office/drawing/2014/main" id="{7E15EEFA-13B5-4CA9-9A12-1BD07BFF5F6D}"/>
              </a:ext>
            </a:extLst>
          </p:cNvPr>
          <p:cNvSpPr/>
          <p:nvPr/>
        </p:nvSpPr>
        <p:spPr>
          <a:xfrm>
            <a:off x="696000" y="5499458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64" name="Text 56">
            <a:extLst>
              <a:ext uri="{FF2B5EF4-FFF2-40B4-BE49-F238E27FC236}">
                <a16:creationId xmlns:a16="http://schemas.microsoft.com/office/drawing/2014/main" id="{9A2CF6E8-73CC-4B47-84C2-85E5B321EC18}"/>
              </a:ext>
            </a:extLst>
          </p:cNvPr>
          <p:cNvSpPr/>
          <p:nvPr/>
        </p:nvSpPr>
        <p:spPr>
          <a:xfrm>
            <a:off x="1039949" y="5418966"/>
            <a:ext cx="1834395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peak_mean_height</a:t>
            </a:r>
            <a:endParaRPr lang="en-US" sz="1400" b="1" dirty="0"/>
          </a:p>
        </p:txBody>
      </p:sp>
      <p:sp>
        <p:nvSpPr>
          <p:cNvPr id="165" name="Shape 57">
            <a:extLst>
              <a:ext uri="{FF2B5EF4-FFF2-40B4-BE49-F238E27FC236}">
                <a16:creationId xmlns:a16="http://schemas.microsoft.com/office/drawing/2014/main" id="{44749E46-F0C8-4200-99DB-C927225D73C9}"/>
              </a:ext>
            </a:extLst>
          </p:cNvPr>
          <p:cNvSpPr/>
          <p:nvPr/>
        </p:nvSpPr>
        <p:spPr>
          <a:xfrm>
            <a:off x="2943134" y="5536829"/>
            <a:ext cx="2006369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6" name="Shape 58">
            <a:extLst>
              <a:ext uri="{FF2B5EF4-FFF2-40B4-BE49-F238E27FC236}">
                <a16:creationId xmlns:a16="http://schemas.microsoft.com/office/drawing/2014/main" id="{9BCAD9CB-71A3-40BD-A805-7A5E4F833300}"/>
              </a:ext>
            </a:extLst>
          </p:cNvPr>
          <p:cNvSpPr/>
          <p:nvPr/>
        </p:nvSpPr>
        <p:spPr>
          <a:xfrm>
            <a:off x="2943134" y="5536829"/>
            <a:ext cx="1358813" cy="195479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7" name="Text 59">
            <a:extLst>
              <a:ext uri="{FF2B5EF4-FFF2-40B4-BE49-F238E27FC236}">
                <a16:creationId xmlns:a16="http://schemas.microsoft.com/office/drawing/2014/main" id="{14653CFF-9D32-4020-A3F9-83AE261D42EA}"/>
              </a:ext>
            </a:extLst>
          </p:cNvPr>
          <p:cNvSpPr/>
          <p:nvPr/>
        </p:nvSpPr>
        <p:spPr>
          <a:xfrm>
            <a:off x="5018293" y="5418966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+0.2709</a:t>
            </a:r>
            <a:endParaRPr lang="en-US" sz="1200" dirty="0"/>
          </a:p>
        </p:txBody>
      </p:sp>
      <p:sp>
        <p:nvSpPr>
          <p:cNvPr id="168" name="Shape 60">
            <a:extLst>
              <a:ext uri="{FF2B5EF4-FFF2-40B4-BE49-F238E27FC236}">
                <a16:creationId xmlns:a16="http://schemas.microsoft.com/office/drawing/2014/main" id="{92F1D8B7-8C8C-4B36-88FF-98208059D7B2}"/>
              </a:ext>
            </a:extLst>
          </p:cNvPr>
          <p:cNvSpPr/>
          <p:nvPr/>
        </p:nvSpPr>
        <p:spPr>
          <a:xfrm>
            <a:off x="696000" y="5930661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9" name="Text 61">
            <a:extLst>
              <a:ext uri="{FF2B5EF4-FFF2-40B4-BE49-F238E27FC236}">
                <a16:creationId xmlns:a16="http://schemas.microsoft.com/office/drawing/2014/main" id="{6C7FC1F6-7702-4CF2-95F4-777BB1CE06E1}"/>
              </a:ext>
            </a:extLst>
          </p:cNvPr>
          <p:cNvSpPr/>
          <p:nvPr/>
        </p:nvSpPr>
        <p:spPr>
          <a:xfrm>
            <a:off x="696000" y="5930661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70" name="Text 62">
            <a:extLst>
              <a:ext uri="{FF2B5EF4-FFF2-40B4-BE49-F238E27FC236}">
                <a16:creationId xmlns:a16="http://schemas.microsoft.com/office/drawing/2014/main" id="{4FF61795-C987-4F30-AC88-5B20F5D520DC}"/>
              </a:ext>
            </a:extLst>
          </p:cNvPr>
          <p:cNvSpPr/>
          <p:nvPr/>
        </p:nvSpPr>
        <p:spPr>
          <a:xfrm>
            <a:off x="1039949" y="5850170"/>
            <a:ext cx="1834395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</a:t>
            </a:r>
            <a:endParaRPr lang="en-US" sz="1400" b="1" dirty="0"/>
          </a:p>
        </p:txBody>
      </p:sp>
      <p:sp>
        <p:nvSpPr>
          <p:cNvPr id="171" name="Shape 63">
            <a:extLst>
              <a:ext uri="{FF2B5EF4-FFF2-40B4-BE49-F238E27FC236}">
                <a16:creationId xmlns:a16="http://schemas.microsoft.com/office/drawing/2014/main" id="{869E4DDD-F35F-46D8-91DA-E69639C14853}"/>
              </a:ext>
            </a:extLst>
          </p:cNvPr>
          <p:cNvSpPr/>
          <p:nvPr/>
        </p:nvSpPr>
        <p:spPr>
          <a:xfrm>
            <a:off x="2943134" y="5968032"/>
            <a:ext cx="2006369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2" name="Shape 64">
            <a:extLst>
              <a:ext uri="{FF2B5EF4-FFF2-40B4-BE49-F238E27FC236}">
                <a16:creationId xmlns:a16="http://schemas.microsoft.com/office/drawing/2014/main" id="{13B08A88-AEBC-4D3A-977D-EDCA524A0CEF}"/>
              </a:ext>
            </a:extLst>
          </p:cNvPr>
          <p:cNvSpPr/>
          <p:nvPr/>
        </p:nvSpPr>
        <p:spPr>
          <a:xfrm>
            <a:off x="2943134" y="5968032"/>
            <a:ext cx="1346274" cy="195479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3" name="Text 65">
            <a:extLst>
              <a:ext uri="{FF2B5EF4-FFF2-40B4-BE49-F238E27FC236}">
                <a16:creationId xmlns:a16="http://schemas.microsoft.com/office/drawing/2014/main" id="{9802879F-F3A7-421B-A60E-2456BC2BF47E}"/>
              </a:ext>
            </a:extLst>
          </p:cNvPr>
          <p:cNvSpPr/>
          <p:nvPr/>
        </p:nvSpPr>
        <p:spPr>
          <a:xfrm>
            <a:off x="5018293" y="5850170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+0.2684</a:t>
            </a:r>
            <a:endParaRPr lang="en-US" sz="1200" dirty="0"/>
          </a:p>
        </p:txBody>
      </p:sp>
      <p:sp>
        <p:nvSpPr>
          <p:cNvPr id="174" name="Shape 66">
            <a:extLst>
              <a:ext uri="{FF2B5EF4-FFF2-40B4-BE49-F238E27FC236}">
                <a16:creationId xmlns:a16="http://schemas.microsoft.com/office/drawing/2014/main" id="{5B178004-75E3-4EAD-B236-1F1002D02269}"/>
              </a:ext>
            </a:extLst>
          </p:cNvPr>
          <p:cNvSpPr/>
          <p:nvPr/>
        </p:nvSpPr>
        <p:spPr>
          <a:xfrm>
            <a:off x="6359694" y="1601374"/>
            <a:ext cx="5136306" cy="310467"/>
          </a:xfrm>
          <a:prstGeom prst="rect">
            <a:avLst/>
          </a:prstGeom>
          <a:solidFill>
            <a:srgbClr val="FBF0F4"/>
          </a:solidFill>
          <a:ln w="12700">
            <a:solidFill>
              <a:srgbClr val="FBF0F4"/>
            </a:solidFill>
            <a:prstDash val="solid"/>
          </a:ln>
        </p:spPr>
      </p:sp>
      <p:sp>
        <p:nvSpPr>
          <p:cNvPr id="175" name="Text 67">
            <a:extLst>
              <a:ext uri="{FF2B5EF4-FFF2-40B4-BE49-F238E27FC236}">
                <a16:creationId xmlns:a16="http://schemas.microsoft.com/office/drawing/2014/main" id="{34D32585-EE79-4783-BBD2-C8EC956D4F5A}"/>
              </a:ext>
            </a:extLst>
          </p:cNvPr>
          <p:cNvSpPr/>
          <p:nvPr/>
        </p:nvSpPr>
        <p:spPr>
          <a:xfrm>
            <a:off x="6451414" y="1601374"/>
            <a:ext cx="5021656" cy="310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여성 (Female)  —  Top 10</a:t>
            </a:r>
            <a:endParaRPr lang="en-US" sz="1400" dirty="0"/>
          </a:p>
        </p:txBody>
      </p:sp>
      <p:sp>
        <p:nvSpPr>
          <p:cNvPr id="176" name="Shape 68">
            <a:extLst>
              <a:ext uri="{FF2B5EF4-FFF2-40B4-BE49-F238E27FC236}">
                <a16:creationId xmlns:a16="http://schemas.microsoft.com/office/drawing/2014/main" id="{59BA73EE-BACE-45C8-886D-A559DD5E32EA}"/>
              </a:ext>
            </a:extLst>
          </p:cNvPr>
          <p:cNvSpPr/>
          <p:nvPr/>
        </p:nvSpPr>
        <p:spPr>
          <a:xfrm>
            <a:off x="6359694" y="2049826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177" name="Text 69">
            <a:extLst>
              <a:ext uri="{FF2B5EF4-FFF2-40B4-BE49-F238E27FC236}">
                <a16:creationId xmlns:a16="http://schemas.microsoft.com/office/drawing/2014/main" id="{03951293-C80D-48D4-8E6A-E6E7C1E5CBA0}"/>
              </a:ext>
            </a:extLst>
          </p:cNvPr>
          <p:cNvSpPr/>
          <p:nvPr/>
        </p:nvSpPr>
        <p:spPr>
          <a:xfrm>
            <a:off x="6359694" y="2049826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8" name="Text 70">
            <a:extLst>
              <a:ext uri="{FF2B5EF4-FFF2-40B4-BE49-F238E27FC236}">
                <a16:creationId xmlns:a16="http://schemas.microsoft.com/office/drawing/2014/main" id="{BFBC7EBB-17F6-46EA-ACB6-A7F03F62F55B}"/>
              </a:ext>
            </a:extLst>
          </p:cNvPr>
          <p:cNvSpPr/>
          <p:nvPr/>
        </p:nvSpPr>
        <p:spPr>
          <a:xfrm>
            <a:off x="6703643" y="1969335"/>
            <a:ext cx="2006369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signal_energy</a:t>
            </a:r>
            <a:endParaRPr lang="en-US" sz="1400" b="1" dirty="0"/>
          </a:p>
        </p:txBody>
      </p:sp>
      <p:sp>
        <p:nvSpPr>
          <p:cNvPr id="179" name="Shape 71">
            <a:extLst>
              <a:ext uri="{FF2B5EF4-FFF2-40B4-BE49-F238E27FC236}">
                <a16:creationId xmlns:a16="http://schemas.microsoft.com/office/drawing/2014/main" id="{86A52292-9DFE-44D2-A799-8BAA74B54E49}"/>
              </a:ext>
            </a:extLst>
          </p:cNvPr>
          <p:cNvSpPr/>
          <p:nvPr/>
        </p:nvSpPr>
        <p:spPr>
          <a:xfrm>
            <a:off x="8778803" y="2087197"/>
            <a:ext cx="1834395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0" name="Shape 72">
            <a:extLst>
              <a:ext uri="{FF2B5EF4-FFF2-40B4-BE49-F238E27FC236}">
                <a16:creationId xmlns:a16="http://schemas.microsoft.com/office/drawing/2014/main" id="{F3927F3B-16F1-43E3-970E-D400762A4AE7}"/>
              </a:ext>
            </a:extLst>
          </p:cNvPr>
          <p:cNvSpPr/>
          <p:nvPr/>
        </p:nvSpPr>
        <p:spPr>
          <a:xfrm>
            <a:off x="8778803" y="2087197"/>
            <a:ext cx="1793579" cy="195479"/>
          </a:xfrm>
          <a:prstGeom prst="rect">
            <a:avLst/>
          </a:prstGeom>
          <a:solidFill>
            <a:srgbClr val="883355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181" name="Text 73">
            <a:extLst>
              <a:ext uri="{FF2B5EF4-FFF2-40B4-BE49-F238E27FC236}">
                <a16:creationId xmlns:a16="http://schemas.microsoft.com/office/drawing/2014/main" id="{9E8F7CF8-1B7C-4250-B96E-536C1E26E71C}"/>
              </a:ext>
            </a:extLst>
          </p:cNvPr>
          <p:cNvSpPr/>
          <p:nvPr/>
        </p:nvSpPr>
        <p:spPr>
          <a:xfrm>
            <a:off x="10681987" y="1969335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+0.3911</a:t>
            </a:r>
            <a:endParaRPr lang="en-US" sz="1200" dirty="0"/>
          </a:p>
        </p:txBody>
      </p:sp>
      <p:sp>
        <p:nvSpPr>
          <p:cNvPr id="182" name="Shape 74">
            <a:extLst>
              <a:ext uri="{FF2B5EF4-FFF2-40B4-BE49-F238E27FC236}">
                <a16:creationId xmlns:a16="http://schemas.microsoft.com/office/drawing/2014/main" id="{39509258-81B5-41F0-BC56-5DA92AA36008}"/>
              </a:ext>
            </a:extLst>
          </p:cNvPr>
          <p:cNvSpPr/>
          <p:nvPr/>
        </p:nvSpPr>
        <p:spPr>
          <a:xfrm>
            <a:off x="6359694" y="2481030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183" name="Text 75">
            <a:extLst>
              <a:ext uri="{FF2B5EF4-FFF2-40B4-BE49-F238E27FC236}">
                <a16:creationId xmlns:a16="http://schemas.microsoft.com/office/drawing/2014/main" id="{C77A1612-A82C-4972-BADC-D97C5AE4005F}"/>
              </a:ext>
            </a:extLst>
          </p:cNvPr>
          <p:cNvSpPr/>
          <p:nvPr/>
        </p:nvSpPr>
        <p:spPr>
          <a:xfrm>
            <a:off x="6359694" y="2481030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4" name="Text 76">
            <a:extLst>
              <a:ext uri="{FF2B5EF4-FFF2-40B4-BE49-F238E27FC236}">
                <a16:creationId xmlns:a16="http://schemas.microsoft.com/office/drawing/2014/main" id="{681A063F-8238-44AB-93CA-11264DA5D58D}"/>
              </a:ext>
            </a:extLst>
          </p:cNvPr>
          <p:cNvSpPr/>
          <p:nvPr/>
        </p:nvSpPr>
        <p:spPr>
          <a:xfrm>
            <a:off x="6703643" y="2400539"/>
            <a:ext cx="2006369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</a:t>
            </a:r>
            <a:endParaRPr lang="en-US" sz="1400" b="1" dirty="0"/>
          </a:p>
        </p:txBody>
      </p:sp>
      <p:sp>
        <p:nvSpPr>
          <p:cNvPr id="185" name="Shape 77">
            <a:extLst>
              <a:ext uri="{FF2B5EF4-FFF2-40B4-BE49-F238E27FC236}">
                <a16:creationId xmlns:a16="http://schemas.microsoft.com/office/drawing/2014/main" id="{84B7FEDB-920F-4726-AD20-2C4E29EA4E7B}"/>
              </a:ext>
            </a:extLst>
          </p:cNvPr>
          <p:cNvSpPr/>
          <p:nvPr/>
        </p:nvSpPr>
        <p:spPr>
          <a:xfrm>
            <a:off x="8778803" y="2518401"/>
            <a:ext cx="1834395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6" name="Shape 78">
            <a:extLst>
              <a:ext uri="{FF2B5EF4-FFF2-40B4-BE49-F238E27FC236}">
                <a16:creationId xmlns:a16="http://schemas.microsoft.com/office/drawing/2014/main" id="{8AD0F824-6BF8-426A-8403-2F7EFEE822E9}"/>
              </a:ext>
            </a:extLst>
          </p:cNvPr>
          <p:cNvSpPr/>
          <p:nvPr/>
        </p:nvSpPr>
        <p:spPr>
          <a:xfrm>
            <a:off x="8778803" y="2518401"/>
            <a:ext cx="1785325" cy="195479"/>
          </a:xfrm>
          <a:prstGeom prst="rect">
            <a:avLst/>
          </a:prstGeom>
          <a:solidFill>
            <a:srgbClr val="883355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187" name="Text 79">
            <a:extLst>
              <a:ext uri="{FF2B5EF4-FFF2-40B4-BE49-F238E27FC236}">
                <a16:creationId xmlns:a16="http://schemas.microsoft.com/office/drawing/2014/main" id="{5C3D345D-F4BC-42E5-B781-8CBC1B06586A}"/>
              </a:ext>
            </a:extLst>
          </p:cNvPr>
          <p:cNvSpPr/>
          <p:nvPr/>
        </p:nvSpPr>
        <p:spPr>
          <a:xfrm>
            <a:off x="10681987" y="2400539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+0.3893</a:t>
            </a:r>
            <a:endParaRPr lang="en-US" sz="1200" dirty="0"/>
          </a:p>
        </p:txBody>
      </p:sp>
      <p:sp>
        <p:nvSpPr>
          <p:cNvPr id="188" name="Shape 80">
            <a:extLst>
              <a:ext uri="{FF2B5EF4-FFF2-40B4-BE49-F238E27FC236}">
                <a16:creationId xmlns:a16="http://schemas.microsoft.com/office/drawing/2014/main" id="{955D39E1-39B7-4086-97B4-F93D9BE37443}"/>
              </a:ext>
            </a:extLst>
          </p:cNvPr>
          <p:cNvSpPr/>
          <p:nvPr/>
        </p:nvSpPr>
        <p:spPr>
          <a:xfrm>
            <a:off x="6359694" y="2912234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189" name="Text 81">
            <a:extLst>
              <a:ext uri="{FF2B5EF4-FFF2-40B4-BE49-F238E27FC236}">
                <a16:creationId xmlns:a16="http://schemas.microsoft.com/office/drawing/2014/main" id="{0A5D4A9C-BE28-4744-871D-F2EE52DBA13E}"/>
              </a:ext>
            </a:extLst>
          </p:cNvPr>
          <p:cNvSpPr/>
          <p:nvPr/>
        </p:nvSpPr>
        <p:spPr>
          <a:xfrm>
            <a:off x="6359694" y="2912234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0" name="Text 82">
            <a:extLst>
              <a:ext uri="{FF2B5EF4-FFF2-40B4-BE49-F238E27FC236}">
                <a16:creationId xmlns:a16="http://schemas.microsoft.com/office/drawing/2014/main" id="{8ADD1B31-EFA4-4263-A540-4C8451C4E012}"/>
              </a:ext>
            </a:extLst>
          </p:cNvPr>
          <p:cNvSpPr/>
          <p:nvPr/>
        </p:nvSpPr>
        <p:spPr>
          <a:xfrm>
            <a:off x="6703643" y="2831743"/>
            <a:ext cx="2006369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</a:t>
            </a:r>
            <a:endParaRPr lang="en-US" sz="1400" b="1" dirty="0"/>
          </a:p>
        </p:txBody>
      </p:sp>
      <p:sp>
        <p:nvSpPr>
          <p:cNvPr id="191" name="Shape 83">
            <a:extLst>
              <a:ext uri="{FF2B5EF4-FFF2-40B4-BE49-F238E27FC236}">
                <a16:creationId xmlns:a16="http://schemas.microsoft.com/office/drawing/2014/main" id="{21F515C9-BD2E-40C3-A64F-C5A7F8E7CA40}"/>
              </a:ext>
            </a:extLst>
          </p:cNvPr>
          <p:cNvSpPr/>
          <p:nvPr/>
        </p:nvSpPr>
        <p:spPr>
          <a:xfrm>
            <a:off x="8778803" y="2949605"/>
            <a:ext cx="1834395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2" name="Shape 84">
            <a:extLst>
              <a:ext uri="{FF2B5EF4-FFF2-40B4-BE49-F238E27FC236}">
                <a16:creationId xmlns:a16="http://schemas.microsoft.com/office/drawing/2014/main" id="{31797E69-CF5A-4012-B888-3B7CC1ED6F26}"/>
              </a:ext>
            </a:extLst>
          </p:cNvPr>
          <p:cNvSpPr/>
          <p:nvPr/>
        </p:nvSpPr>
        <p:spPr>
          <a:xfrm>
            <a:off x="8778803" y="2949605"/>
            <a:ext cx="1551439" cy="195479"/>
          </a:xfrm>
          <a:prstGeom prst="rect">
            <a:avLst/>
          </a:prstGeom>
          <a:solidFill>
            <a:srgbClr val="883355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193" name="Text 85">
            <a:extLst>
              <a:ext uri="{FF2B5EF4-FFF2-40B4-BE49-F238E27FC236}">
                <a16:creationId xmlns:a16="http://schemas.microsoft.com/office/drawing/2014/main" id="{4C27C273-144C-49B6-A7B3-3457B77139A9}"/>
              </a:ext>
            </a:extLst>
          </p:cNvPr>
          <p:cNvSpPr/>
          <p:nvPr/>
        </p:nvSpPr>
        <p:spPr>
          <a:xfrm>
            <a:off x="10681987" y="2831743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+0.3383</a:t>
            </a:r>
            <a:endParaRPr lang="en-US" sz="1200" dirty="0"/>
          </a:p>
        </p:txBody>
      </p:sp>
      <p:sp>
        <p:nvSpPr>
          <p:cNvPr id="194" name="Shape 86">
            <a:extLst>
              <a:ext uri="{FF2B5EF4-FFF2-40B4-BE49-F238E27FC236}">
                <a16:creationId xmlns:a16="http://schemas.microsoft.com/office/drawing/2014/main" id="{51C8E2DF-9D7E-4DE8-A184-248E5AF3D46E}"/>
              </a:ext>
            </a:extLst>
          </p:cNvPr>
          <p:cNvSpPr/>
          <p:nvPr/>
        </p:nvSpPr>
        <p:spPr>
          <a:xfrm>
            <a:off x="6359694" y="3343438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195" name="Text 87">
            <a:extLst>
              <a:ext uri="{FF2B5EF4-FFF2-40B4-BE49-F238E27FC236}">
                <a16:creationId xmlns:a16="http://schemas.microsoft.com/office/drawing/2014/main" id="{35B946F3-3D6E-4970-9FC7-D32EE4243A5C}"/>
              </a:ext>
            </a:extLst>
          </p:cNvPr>
          <p:cNvSpPr/>
          <p:nvPr/>
        </p:nvSpPr>
        <p:spPr>
          <a:xfrm>
            <a:off x="6359694" y="3343438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6" name="Text 88">
            <a:extLst>
              <a:ext uri="{FF2B5EF4-FFF2-40B4-BE49-F238E27FC236}">
                <a16:creationId xmlns:a16="http://schemas.microsoft.com/office/drawing/2014/main" id="{12076D74-F19B-4B09-B640-BD23F55ADAC6}"/>
              </a:ext>
            </a:extLst>
          </p:cNvPr>
          <p:cNvSpPr/>
          <p:nvPr/>
        </p:nvSpPr>
        <p:spPr>
          <a:xfrm>
            <a:off x="6703643" y="3262946"/>
            <a:ext cx="2006369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p10</a:t>
            </a:r>
            <a:endParaRPr lang="en-US" sz="1400" b="1" dirty="0"/>
          </a:p>
        </p:txBody>
      </p:sp>
      <p:sp>
        <p:nvSpPr>
          <p:cNvPr id="197" name="Shape 89">
            <a:extLst>
              <a:ext uri="{FF2B5EF4-FFF2-40B4-BE49-F238E27FC236}">
                <a16:creationId xmlns:a16="http://schemas.microsoft.com/office/drawing/2014/main" id="{7D080C58-919C-4022-A166-AF2AF550F510}"/>
              </a:ext>
            </a:extLst>
          </p:cNvPr>
          <p:cNvSpPr/>
          <p:nvPr/>
        </p:nvSpPr>
        <p:spPr>
          <a:xfrm>
            <a:off x="8778803" y="3380809"/>
            <a:ext cx="1834395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8" name="Shape 90">
            <a:extLst>
              <a:ext uri="{FF2B5EF4-FFF2-40B4-BE49-F238E27FC236}">
                <a16:creationId xmlns:a16="http://schemas.microsoft.com/office/drawing/2014/main" id="{8308995B-2C76-4BB0-8FF6-6CC9535CE136}"/>
              </a:ext>
            </a:extLst>
          </p:cNvPr>
          <p:cNvSpPr/>
          <p:nvPr/>
        </p:nvSpPr>
        <p:spPr>
          <a:xfrm>
            <a:off x="8778803" y="3380809"/>
            <a:ext cx="1524382" cy="195479"/>
          </a:xfrm>
          <a:prstGeom prst="rect">
            <a:avLst/>
          </a:prstGeom>
          <a:solidFill>
            <a:srgbClr val="883355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199" name="Text 91">
            <a:extLst>
              <a:ext uri="{FF2B5EF4-FFF2-40B4-BE49-F238E27FC236}">
                <a16:creationId xmlns:a16="http://schemas.microsoft.com/office/drawing/2014/main" id="{2B4F1CC1-63B7-4473-BA3D-EC6CE6F5333C}"/>
              </a:ext>
            </a:extLst>
          </p:cNvPr>
          <p:cNvSpPr/>
          <p:nvPr/>
        </p:nvSpPr>
        <p:spPr>
          <a:xfrm>
            <a:off x="10681987" y="3262946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+0.3324</a:t>
            </a:r>
            <a:endParaRPr lang="en-US" sz="1200" dirty="0"/>
          </a:p>
        </p:txBody>
      </p:sp>
      <p:sp>
        <p:nvSpPr>
          <p:cNvPr id="200" name="Shape 92">
            <a:extLst>
              <a:ext uri="{FF2B5EF4-FFF2-40B4-BE49-F238E27FC236}">
                <a16:creationId xmlns:a16="http://schemas.microsoft.com/office/drawing/2014/main" id="{3DC2642B-241E-4B03-8C18-0D4ED8C85A64}"/>
              </a:ext>
            </a:extLst>
          </p:cNvPr>
          <p:cNvSpPr/>
          <p:nvPr/>
        </p:nvSpPr>
        <p:spPr>
          <a:xfrm>
            <a:off x="6359694" y="3774642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01" name="Text 93">
            <a:extLst>
              <a:ext uri="{FF2B5EF4-FFF2-40B4-BE49-F238E27FC236}">
                <a16:creationId xmlns:a16="http://schemas.microsoft.com/office/drawing/2014/main" id="{43C1D29C-9C61-4063-B46A-C0D36626B42C}"/>
              </a:ext>
            </a:extLst>
          </p:cNvPr>
          <p:cNvSpPr/>
          <p:nvPr/>
        </p:nvSpPr>
        <p:spPr>
          <a:xfrm>
            <a:off x="6359694" y="3774642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2" name="Text 94">
            <a:extLst>
              <a:ext uri="{FF2B5EF4-FFF2-40B4-BE49-F238E27FC236}">
                <a16:creationId xmlns:a16="http://schemas.microsoft.com/office/drawing/2014/main" id="{CAB9935B-E605-4B0F-AAB3-A4E83E5F3C11}"/>
              </a:ext>
            </a:extLst>
          </p:cNvPr>
          <p:cNvSpPr/>
          <p:nvPr/>
        </p:nvSpPr>
        <p:spPr>
          <a:xfrm>
            <a:off x="6703643" y="3694150"/>
            <a:ext cx="2006369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p25</a:t>
            </a:r>
            <a:endParaRPr lang="en-US" sz="1400" b="1" dirty="0"/>
          </a:p>
        </p:txBody>
      </p:sp>
      <p:sp>
        <p:nvSpPr>
          <p:cNvPr id="203" name="Shape 95">
            <a:extLst>
              <a:ext uri="{FF2B5EF4-FFF2-40B4-BE49-F238E27FC236}">
                <a16:creationId xmlns:a16="http://schemas.microsoft.com/office/drawing/2014/main" id="{1B3C4B1D-8C1A-4AA4-B617-95CF21195358}"/>
              </a:ext>
            </a:extLst>
          </p:cNvPr>
          <p:cNvSpPr/>
          <p:nvPr/>
        </p:nvSpPr>
        <p:spPr>
          <a:xfrm>
            <a:off x="8778803" y="3812013"/>
            <a:ext cx="1834395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4" name="Shape 96">
            <a:extLst>
              <a:ext uri="{FF2B5EF4-FFF2-40B4-BE49-F238E27FC236}">
                <a16:creationId xmlns:a16="http://schemas.microsoft.com/office/drawing/2014/main" id="{6C8EAF4D-E8E6-4BCB-9653-DD1091596924}"/>
              </a:ext>
            </a:extLst>
          </p:cNvPr>
          <p:cNvSpPr/>
          <p:nvPr/>
        </p:nvSpPr>
        <p:spPr>
          <a:xfrm>
            <a:off x="8778803" y="3812013"/>
            <a:ext cx="1519797" cy="195479"/>
          </a:xfrm>
          <a:prstGeom prst="rect">
            <a:avLst/>
          </a:prstGeom>
          <a:solidFill>
            <a:srgbClr val="883355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05" name="Text 97">
            <a:extLst>
              <a:ext uri="{FF2B5EF4-FFF2-40B4-BE49-F238E27FC236}">
                <a16:creationId xmlns:a16="http://schemas.microsoft.com/office/drawing/2014/main" id="{EB4BF4E5-48F0-434D-B3B6-63FE49DAAE8E}"/>
              </a:ext>
            </a:extLst>
          </p:cNvPr>
          <p:cNvSpPr/>
          <p:nvPr/>
        </p:nvSpPr>
        <p:spPr>
          <a:xfrm>
            <a:off x="10681987" y="3694150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+0.3314</a:t>
            </a:r>
            <a:endParaRPr lang="en-US" sz="1200" dirty="0"/>
          </a:p>
        </p:txBody>
      </p:sp>
      <p:sp>
        <p:nvSpPr>
          <p:cNvPr id="206" name="Shape 98">
            <a:extLst>
              <a:ext uri="{FF2B5EF4-FFF2-40B4-BE49-F238E27FC236}">
                <a16:creationId xmlns:a16="http://schemas.microsoft.com/office/drawing/2014/main" id="{93B9790A-73A4-46CC-8A87-2375C39307FF}"/>
              </a:ext>
            </a:extLst>
          </p:cNvPr>
          <p:cNvSpPr/>
          <p:nvPr/>
        </p:nvSpPr>
        <p:spPr>
          <a:xfrm>
            <a:off x="6359694" y="4205846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07" name="Text 99">
            <a:extLst>
              <a:ext uri="{FF2B5EF4-FFF2-40B4-BE49-F238E27FC236}">
                <a16:creationId xmlns:a16="http://schemas.microsoft.com/office/drawing/2014/main" id="{3610B588-4122-4C9A-9825-9454E9802143}"/>
              </a:ext>
            </a:extLst>
          </p:cNvPr>
          <p:cNvSpPr/>
          <p:nvPr/>
        </p:nvSpPr>
        <p:spPr>
          <a:xfrm>
            <a:off x="6359694" y="4205846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8" name="Text 100">
            <a:extLst>
              <a:ext uri="{FF2B5EF4-FFF2-40B4-BE49-F238E27FC236}">
                <a16:creationId xmlns:a16="http://schemas.microsoft.com/office/drawing/2014/main" id="{AA22AA93-6B0D-4927-ABEE-F5C4B4A28A0A}"/>
              </a:ext>
            </a:extLst>
          </p:cNvPr>
          <p:cNvSpPr/>
          <p:nvPr/>
        </p:nvSpPr>
        <p:spPr>
          <a:xfrm>
            <a:off x="6703643" y="4125354"/>
            <a:ext cx="2006369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AUC_normalized</a:t>
            </a:r>
            <a:endParaRPr lang="en-US" sz="1400" b="1" dirty="0"/>
          </a:p>
        </p:txBody>
      </p:sp>
      <p:sp>
        <p:nvSpPr>
          <p:cNvPr id="209" name="Shape 101">
            <a:extLst>
              <a:ext uri="{FF2B5EF4-FFF2-40B4-BE49-F238E27FC236}">
                <a16:creationId xmlns:a16="http://schemas.microsoft.com/office/drawing/2014/main" id="{56AF6888-11AD-46EA-B1E3-EA34EC29C0D7}"/>
              </a:ext>
            </a:extLst>
          </p:cNvPr>
          <p:cNvSpPr/>
          <p:nvPr/>
        </p:nvSpPr>
        <p:spPr>
          <a:xfrm>
            <a:off x="8778803" y="4243217"/>
            <a:ext cx="1834395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0" name="Shape 102">
            <a:extLst>
              <a:ext uri="{FF2B5EF4-FFF2-40B4-BE49-F238E27FC236}">
                <a16:creationId xmlns:a16="http://schemas.microsoft.com/office/drawing/2014/main" id="{A1B4D12D-7AA5-45F6-8C75-64C20EF4DA20}"/>
              </a:ext>
            </a:extLst>
          </p:cNvPr>
          <p:cNvSpPr/>
          <p:nvPr/>
        </p:nvSpPr>
        <p:spPr>
          <a:xfrm>
            <a:off x="8778803" y="4243217"/>
            <a:ext cx="1514294" cy="195479"/>
          </a:xfrm>
          <a:prstGeom prst="rect">
            <a:avLst/>
          </a:prstGeom>
          <a:solidFill>
            <a:srgbClr val="883355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11" name="Text 103">
            <a:extLst>
              <a:ext uri="{FF2B5EF4-FFF2-40B4-BE49-F238E27FC236}">
                <a16:creationId xmlns:a16="http://schemas.microsoft.com/office/drawing/2014/main" id="{2471D24A-02BF-4C2B-89B2-208C2EA366B4}"/>
              </a:ext>
            </a:extLst>
          </p:cNvPr>
          <p:cNvSpPr/>
          <p:nvPr/>
        </p:nvSpPr>
        <p:spPr>
          <a:xfrm>
            <a:off x="10681987" y="4125354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+0.3302</a:t>
            </a:r>
            <a:endParaRPr lang="en-US" sz="1200" dirty="0"/>
          </a:p>
        </p:txBody>
      </p:sp>
      <p:sp>
        <p:nvSpPr>
          <p:cNvPr id="212" name="Shape 104">
            <a:extLst>
              <a:ext uri="{FF2B5EF4-FFF2-40B4-BE49-F238E27FC236}">
                <a16:creationId xmlns:a16="http://schemas.microsoft.com/office/drawing/2014/main" id="{EDB8A6D2-84D4-4507-B8C4-D6BDEB3C57D2}"/>
              </a:ext>
            </a:extLst>
          </p:cNvPr>
          <p:cNvSpPr/>
          <p:nvPr/>
        </p:nvSpPr>
        <p:spPr>
          <a:xfrm>
            <a:off x="6359694" y="4637050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13" name="Text 105">
            <a:extLst>
              <a:ext uri="{FF2B5EF4-FFF2-40B4-BE49-F238E27FC236}">
                <a16:creationId xmlns:a16="http://schemas.microsoft.com/office/drawing/2014/main" id="{AD9EE010-AA0F-454D-BCDB-758CC7927C96}"/>
              </a:ext>
            </a:extLst>
          </p:cNvPr>
          <p:cNvSpPr/>
          <p:nvPr/>
        </p:nvSpPr>
        <p:spPr>
          <a:xfrm>
            <a:off x="6359694" y="4637050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14" name="Text 106">
            <a:extLst>
              <a:ext uri="{FF2B5EF4-FFF2-40B4-BE49-F238E27FC236}">
                <a16:creationId xmlns:a16="http://schemas.microsoft.com/office/drawing/2014/main" id="{B275DF5F-73C9-477E-8D8B-F1FA76FF289E}"/>
              </a:ext>
            </a:extLst>
          </p:cNvPr>
          <p:cNvSpPr/>
          <p:nvPr/>
        </p:nvSpPr>
        <p:spPr>
          <a:xfrm>
            <a:off x="6703643" y="4556558"/>
            <a:ext cx="2006369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mean</a:t>
            </a:r>
            <a:endParaRPr lang="en-US" sz="1400" b="1" dirty="0"/>
          </a:p>
        </p:txBody>
      </p:sp>
      <p:sp>
        <p:nvSpPr>
          <p:cNvPr id="215" name="Shape 107">
            <a:extLst>
              <a:ext uri="{FF2B5EF4-FFF2-40B4-BE49-F238E27FC236}">
                <a16:creationId xmlns:a16="http://schemas.microsoft.com/office/drawing/2014/main" id="{CE1350C5-63A7-4692-8EE9-C90BF206B695}"/>
              </a:ext>
            </a:extLst>
          </p:cNvPr>
          <p:cNvSpPr/>
          <p:nvPr/>
        </p:nvSpPr>
        <p:spPr>
          <a:xfrm>
            <a:off x="8778803" y="4674421"/>
            <a:ext cx="1834395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6" name="Shape 108">
            <a:extLst>
              <a:ext uri="{FF2B5EF4-FFF2-40B4-BE49-F238E27FC236}">
                <a16:creationId xmlns:a16="http://schemas.microsoft.com/office/drawing/2014/main" id="{68231F5C-CB26-47D6-9392-87AE542B5806}"/>
              </a:ext>
            </a:extLst>
          </p:cNvPr>
          <p:cNvSpPr/>
          <p:nvPr/>
        </p:nvSpPr>
        <p:spPr>
          <a:xfrm>
            <a:off x="8778803" y="4674421"/>
            <a:ext cx="1511541" cy="195479"/>
          </a:xfrm>
          <a:prstGeom prst="rect">
            <a:avLst/>
          </a:prstGeom>
          <a:solidFill>
            <a:srgbClr val="883355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17" name="Text 109">
            <a:extLst>
              <a:ext uri="{FF2B5EF4-FFF2-40B4-BE49-F238E27FC236}">
                <a16:creationId xmlns:a16="http://schemas.microsoft.com/office/drawing/2014/main" id="{16AD1797-A387-482B-9959-E3DBC23CFCF0}"/>
              </a:ext>
            </a:extLst>
          </p:cNvPr>
          <p:cNvSpPr/>
          <p:nvPr/>
        </p:nvSpPr>
        <p:spPr>
          <a:xfrm>
            <a:off x="10681987" y="4556558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+0.3296</a:t>
            </a:r>
            <a:endParaRPr lang="en-US" sz="1200" dirty="0"/>
          </a:p>
        </p:txBody>
      </p:sp>
      <p:sp>
        <p:nvSpPr>
          <p:cNvPr id="218" name="Shape 110">
            <a:extLst>
              <a:ext uri="{FF2B5EF4-FFF2-40B4-BE49-F238E27FC236}">
                <a16:creationId xmlns:a16="http://schemas.microsoft.com/office/drawing/2014/main" id="{6652E040-69F8-488F-9BD8-2C19C9B8D96C}"/>
              </a:ext>
            </a:extLst>
          </p:cNvPr>
          <p:cNvSpPr/>
          <p:nvPr/>
        </p:nvSpPr>
        <p:spPr>
          <a:xfrm>
            <a:off x="6359694" y="5068254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19" name="Text 111">
            <a:extLst>
              <a:ext uri="{FF2B5EF4-FFF2-40B4-BE49-F238E27FC236}">
                <a16:creationId xmlns:a16="http://schemas.microsoft.com/office/drawing/2014/main" id="{B8F3F3C1-3C8A-4689-A711-4525EC6FA51B}"/>
              </a:ext>
            </a:extLst>
          </p:cNvPr>
          <p:cNvSpPr/>
          <p:nvPr/>
        </p:nvSpPr>
        <p:spPr>
          <a:xfrm>
            <a:off x="6359694" y="5068254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20" name="Text 112">
            <a:extLst>
              <a:ext uri="{FF2B5EF4-FFF2-40B4-BE49-F238E27FC236}">
                <a16:creationId xmlns:a16="http://schemas.microsoft.com/office/drawing/2014/main" id="{7EFB74AC-1316-4B00-9810-EF68B3485969}"/>
              </a:ext>
            </a:extLst>
          </p:cNvPr>
          <p:cNvSpPr/>
          <p:nvPr/>
        </p:nvSpPr>
        <p:spPr>
          <a:xfrm>
            <a:off x="6703643" y="4987762"/>
            <a:ext cx="2006369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p5</a:t>
            </a:r>
            <a:endParaRPr lang="en-US" sz="1400" b="1" dirty="0"/>
          </a:p>
        </p:txBody>
      </p:sp>
      <p:sp>
        <p:nvSpPr>
          <p:cNvPr id="221" name="Shape 113">
            <a:extLst>
              <a:ext uri="{FF2B5EF4-FFF2-40B4-BE49-F238E27FC236}">
                <a16:creationId xmlns:a16="http://schemas.microsoft.com/office/drawing/2014/main" id="{BE4C8779-7870-42F0-BA71-25C2EA8B9460}"/>
              </a:ext>
            </a:extLst>
          </p:cNvPr>
          <p:cNvSpPr/>
          <p:nvPr/>
        </p:nvSpPr>
        <p:spPr>
          <a:xfrm>
            <a:off x="8778803" y="5105625"/>
            <a:ext cx="1834395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2" name="Shape 114">
            <a:extLst>
              <a:ext uri="{FF2B5EF4-FFF2-40B4-BE49-F238E27FC236}">
                <a16:creationId xmlns:a16="http://schemas.microsoft.com/office/drawing/2014/main" id="{154AB69A-437A-445D-B9DD-0D6BE2D7448B}"/>
              </a:ext>
            </a:extLst>
          </p:cNvPr>
          <p:cNvSpPr/>
          <p:nvPr/>
        </p:nvSpPr>
        <p:spPr>
          <a:xfrm>
            <a:off x="8778803" y="5105625"/>
            <a:ext cx="1502370" cy="195479"/>
          </a:xfrm>
          <a:prstGeom prst="rect">
            <a:avLst/>
          </a:prstGeom>
          <a:solidFill>
            <a:srgbClr val="883355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23" name="Text 115">
            <a:extLst>
              <a:ext uri="{FF2B5EF4-FFF2-40B4-BE49-F238E27FC236}">
                <a16:creationId xmlns:a16="http://schemas.microsoft.com/office/drawing/2014/main" id="{BEA0AFF0-F92F-4068-8B7D-BA14E742CA25}"/>
              </a:ext>
            </a:extLst>
          </p:cNvPr>
          <p:cNvSpPr/>
          <p:nvPr/>
        </p:nvSpPr>
        <p:spPr>
          <a:xfrm>
            <a:off x="10681987" y="4987762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+0.3276</a:t>
            </a:r>
            <a:endParaRPr lang="en-US" sz="1200" dirty="0"/>
          </a:p>
        </p:txBody>
      </p:sp>
      <p:sp>
        <p:nvSpPr>
          <p:cNvPr id="224" name="Shape 116">
            <a:extLst>
              <a:ext uri="{FF2B5EF4-FFF2-40B4-BE49-F238E27FC236}">
                <a16:creationId xmlns:a16="http://schemas.microsoft.com/office/drawing/2014/main" id="{BA7E6622-4C3E-4E06-9D9D-45FA70D2F60F}"/>
              </a:ext>
            </a:extLst>
          </p:cNvPr>
          <p:cNvSpPr/>
          <p:nvPr/>
        </p:nvSpPr>
        <p:spPr>
          <a:xfrm>
            <a:off x="6359694" y="5499458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25" name="Text 117">
            <a:extLst>
              <a:ext uri="{FF2B5EF4-FFF2-40B4-BE49-F238E27FC236}">
                <a16:creationId xmlns:a16="http://schemas.microsoft.com/office/drawing/2014/main" id="{8B026193-786F-4916-97E7-5FA7C0835F4C}"/>
              </a:ext>
            </a:extLst>
          </p:cNvPr>
          <p:cNvSpPr/>
          <p:nvPr/>
        </p:nvSpPr>
        <p:spPr>
          <a:xfrm>
            <a:off x="6359694" y="5499458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26" name="Text 118">
            <a:extLst>
              <a:ext uri="{FF2B5EF4-FFF2-40B4-BE49-F238E27FC236}">
                <a16:creationId xmlns:a16="http://schemas.microsoft.com/office/drawing/2014/main" id="{4F97BA60-CA7C-4DA6-A271-9AD4928FFA8E}"/>
              </a:ext>
            </a:extLst>
          </p:cNvPr>
          <p:cNvSpPr/>
          <p:nvPr/>
        </p:nvSpPr>
        <p:spPr>
          <a:xfrm>
            <a:off x="6703643" y="5418966"/>
            <a:ext cx="2006369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median</a:t>
            </a:r>
            <a:endParaRPr lang="en-US" sz="1400" b="1" dirty="0"/>
          </a:p>
        </p:txBody>
      </p:sp>
      <p:sp>
        <p:nvSpPr>
          <p:cNvPr id="227" name="Shape 119">
            <a:extLst>
              <a:ext uri="{FF2B5EF4-FFF2-40B4-BE49-F238E27FC236}">
                <a16:creationId xmlns:a16="http://schemas.microsoft.com/office/drawing/2014/main" id="{B59B3868-D34C-474D-AF05-A5C80EA26A3D}"/>
              </a:ext>
            </a:extLst>
          </p:cNvPr>
          <p:cNvSpPr/>
          <p:nvPr/>
        </p:nvSpPr>
        <p:spPr>
          <a:xfrm>
            <a:off x="8778803" y="5536829"/>
            <a:ext cx="1834395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8" name="Shape 120">
            <a:extLst>
              <a:ext uri="{FF2B5EF4-FFF2-40B4-BE49-F238E27FC236}">
                <a16:creationId xmlns:a16="http://schemas.microsoft.com/office/drawing/2014/main" id="{4A98E70B-4331-48AB-8000-FDC03A3DBE4B}"/>
              </a:ext>
            </a:extLst>
          </p:cNvPr>
          <p:cNvSpPr/>
          <p:nvPr/>
        </p:nvSpPr>
        <p:spPr>
          <a:xfrm>
            <a:off x="8778803" y="5536829"/>
            <a:ext cx="1475312" cy="195479"/>
          </a:xfrm>
          <a:prstGeom prst="rect">
            <a:avLst/>
          </a:prstGeom>
          <a:solidFill>
            <a:srgbClr val="883355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29" name="Text 121">
            <a:extLst>
              <a:ext uri="{FF2B5EF4-FFF2-40B4-BE49-F238E27FC236}">
                <a16:creationId xmlns:a16="http://schemas.microsoft.com/office/drawing/2014/main" id="{6F4912B6-D45F-4D01-9DF1-91ACA72F53C2}"/>
              </a:ext>
            </a:extLst>
          </p:cNvPr>
          <p:cNvSpPr/>
          <p:nvPr/>
        </p:nvSpPr>
        <p:spPr>
          <a:xfrm>
            <a:off x="10681987" y="5418966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+0.3217</a:t>
            </a:r>
            <a:endParaRPr lang="en-US" sz="1200" dirty="0"/>
          </a:p>
        </p:txBody>
      </p:sp>
      <p:sp>
        <p:nvSpPr>
          <p:cNvPr id="230" name="Shape 122">
            <a:extLst>
              <a:ext uri="{FF2B5EF4-FFF2-40B4-BE49-F238E27FC236}">
                <a16:creationId xmlns:a16="http://schemas.microsoft.com/office/drawing/2014/main" id="{AE6F531A-4259-43B6-BE75-92ED08FED2D0}"/>
              </a:ext>
            </a:extLst>
          </p:cNvPr>
          <p:cNvSpPr/>
          <p:nvPr/>
        </p:nvSpPr>
        <p:spPr>
          <a:xfrm>
            <a:off x="6359694" y="5930661"/>
            <a:ext cx="286624" cy="252973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31" name="Text 123">
            <a:extLst>
              <a:ext uri="{FF2B5EF4-FFF2-40B4-BE49-F238E27FC236}">
                <a16:creationId xmlns:a16="http://schemas.microsoft.com/office/drawing/2014/main" id="{DEA48D21-AC92-446C-A630-A6BD15A23DC0}"/>
              </a:ext>
            </a:extLst>
          </p:cNvPr>
          <p:cNvSpPr/>
          <p:nvPr/>
        </p:nvSpPr>
        <p:spPr>
          <a:xfrm>
            <a:off x="6359694" y="5930661"/>
            <a:ext cx="286624" cy="25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32" name="Text 124">
            <a:extLst>
              <a:ext uri="{FF2B5EF4-FFF2-40B4-BE49-F238E27FC236}">
                <a16:creationId xmlns:a16="http://schemas.microsoft.com/office/drawing/2014/main" id="{F85407B3-635C-4AAD-AA25-AE724C152F0D}"/>
              </a:ext>
            </a:extLst>
          </p:cNvPr>
          <p:cNvSpPr/>
          <p:nvPr/>
        </p:nvSpPr>
        <p:spPr>
          <a:xfrm>
            <a:off x="6703643" y="5850170"/>
            <a:ext cx="2006369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peak_mean_height</a:t>
            </a:r>
            <a:endParaRPr lang="en-US" sz="1400" b="1" dirty="0"/>
          </a:p>
        </p:txBody>
      </p:sp>
      <p:sp>
        <p:nvSpPr>
          <p:cNvPr id="233" name="Shape 125">
            <a:extLst>
              <a:ext uri="{FF2B5EF4-FFF2-40B4-BE49-F238E27FC236}">
                <a16:creationId xmlns:a16="http://schemas.microsoft.com/office/drawing/2014/main" id="{B2528CBE-2251-40D1-B03B-ADF6D051FB28}"/>
              </a:ext>
            </a:extLst>
          </p:cNvPr>
          <p:cNvSpPr/>
          <p:nvPr/>
        </p:nvSpPr>
        <p:spPr>
          <a:xfrm>
            <a:off x="8778803" y="5968032"/>
            <a:ext cx="1834395" cy="19547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4" name="Shape 126">
            <a:extLst>
              <a:ext uri="{FF2B5EF4-FFF2-40B4-BE49-F238E27FC236}">
                <a16:creationId xmlns:a16="http://schemas.microsoft.com/office/drawing/2014/main" id="{E30AE27D-515D-4EDB-9033-2ED811041C19}"/>
              </a:ext>
            </a:extLst>
          </p:cNvPr>
          <p:cNvSpPr/>
          <p:nvPr/>
        </p:nvSpPr>
        <p:spPr>
          <a:xfrm>
            <a:off x="8778803" y="5968032"/>
            <a:ext cx="1426243" cy="195479"/>
          </a:xfrm>
          <a:prstGeom prst="rect">
            <a:avLst/>
          </a:prstGeom>
          <a:solidFill>
            <a:srgbClr val="883355"/>
          </a:solidFill>
          <a:ln w="12700">
            <a:solidFill>
              <a:srgbClr val="883355"/>
            </a:solidFill>
            <a:prstDash val="solid"/>
          </a:ln>
        </p:spPr>
      </p:sp>
      <p:sp>
        <p:nvSpPr>
          <p:cNvPr id="235" name="Text 127">
            <a:extLst>
              <a:ext uri="{FF2B5EF4-FFF2-40B4-BE49-F238E27FC236}">
                <a16:creationId xmlns:a16="http://schemas.microsoft.com/office/drawing/2014/main" id="{3507CD3D-4D11-4182-98D4-E48B5A549C9E}"/>
              </a:ext>
            </a:extLst>
          </p:cNvPr>
          <p:cNvSpPr/>
          <p:nvPr/>
        </p:nvSpPr>
        <p:spPr>
          <a:xfrm>
            <a:off x="10681987" y="5850170"/>
            <a:ext cx="779618" cy="43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+0.3110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42679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12BE9E3-6536-4FF8-AC4E-29FBCA148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ko-KR" altLang="en-US" dirty="0"/>
              <a:t>상관관계 분석 결과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AEC features: p25, </a:t>
            </a:r>
            <a:r>
              <a:rPr lang="en-US" altLang="ko-KR" dirty="0" err="1"/>
              <a:t>signal_energy</a:t>
            </a:r>
            <a:r>
              <a:rPr lang="en-US" altLang="ko-KR" dirty="0"/>
              <a:t>, CV, skewness</a:t>
            </a:r>
          </a:p>
          <a:p>
            <a:pPr lvl="2"/>
            <a:r>
              <a:rPr lang="ko-KR" altLang="en-US" dirty="0"/>
              <a:t>가장 높은 상관관계</a:t>
            </a:r>
            <a:r>
              <a:rPr lang="en-US" altLang="ko-KR" dirty="0"/>
              <a:t>: p25 (0.366), p10 (0.357), </a:t>
            </a:r>
            <a:r>
              <a:rPr lang="en-US" altLang="ko-KR" dirty="0" err="1"/>
              <a:t>signal_energy</a:t>
            </a:r>
            <a:r>
              <a:rPr lang="en-US" altLang="ko-KR" dirty="0"/>
              <a:t> (0.344)</a:t>
            </a:r>
          </a:p>
          <a:p>
            <a:pPr lvl="2"/>
            <a:r>
              <a:rPr lang="ko-KR" altLang="en-US" dirty="0"/>
              <a:t>가장 높은 음의 상관관계</a:t>
            </a:r>
            <a:r>
              <a:rPr lang="en-US" altLang="ko-KR" dirty="0"/>
              <a:t>: CV (-0.348), skewness (-0.341)</a:t>
            </a:r>
          </a:p>
          <a:p>
            <a:pPr lvl="2"/>
            <a:r>
              <a:rPr lang="en-US" altLang="ko-KR" dirty="0"/>
              <a:t>mean, median, p25, p10 </a:t>
            </a:r>
            <a:r>
              <a:rPr lang="ko-KR" altLang="en-US" dirty="0"/>
              <a:t>등은 서로 상관관계가 </a:t>
            </a:r>
            <a:r>
              <a:rPr lang="en-US" altLang="ko-KR" dirty="0"/>
              <a:t>0.9 </a:t>
            </a:r>
            <a:r>
              <a:rPr lang="ko-KR" altLang="en-US" dirty="0"/>
              <a:t>이상으로 매우 높음 → </a:t>
            </a:r>
            <a:r>
              <a:rPr lang="ko-KR" altLang="en-US" dirty="0" err="1"/>
              <a:t>다중공선성</a:t>
            </a:r>
            <a:r>
              <a:rPr lang="ko-KR" altLang="en-US" dirty="0"/>
              <a:t> 문제 방지</a:t>
            </a: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C1180B6-C479-448A-BA55-31AD859FC578}"/>
              </a:ext>
            </a:extLst>
          </p:cNvPr>
          <p:cNvGrpSpPr/>
          <p:nvPr/>
        </p:nvGrpSpPr>
        <p:grpSpPr>
          <a:xfrm>
            <a:off x="4090149" y="3347299"/>
            <a:ext cx="4011701" cy="3078899"/>
            <a:chOff x="4066116" y="3158009"/>
            <a:chExt cx="4059768" cy="311578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74B3528-DD0D-494D-9DF0-96114A1AD6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65"/>
            <a:stretch/>
          </p:blipFill>
          <p:spPr>
            <a:xfrm>
              <a:off x="4066116" y="3158009"/>
              <a:ext cx="4059768" cy="3115789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8B1CD10-949B-4AFC-9FFA-6202881496B7}"/>
                </a:ext>
              </a:extLst>
            </p:cNvPr>
            <p:cNvSpPr/>
            <p:nvPr/>
          </p:nvSpPr>
          <p:spPr>
            <a:xfrm>
              <a:off x="4241800" y="3606799"/>
              <a:ext cx="414866" cy="41486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직사각형 238">
              <a:extLst>
                <a:ext uri="{FF2B5EF4-FFF2-40B4-BE49-F238E27FC236}">
                  <a16:creationId xmlns:a16="http://schemas.microsoft.com/office/drawing/2014/main" id="{4AA9D94C-43D1-4594-B3E7-707B0DB3FDC8}"/>
                </a:ext>
              </a:extLst>
            </p:cNvPr>
            <p:cNvSpPr/>
            <p:nvPr/>
          </p:nvSpPr>
          <p:spPr>
            <a:xfrm>
              <a:off x="4241800" y="4859864"/>
              <a:ext cx="414866" cy="41486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75B5A36A-D1A4-4EAC-83D7-A387B7019625}"/>
                </a:ext>
              </a:extLst>
            </p:cNvPr>
            <p:cNvSpPr/>
            <p:nvPr/>
          </p:nvSpPr>
          <p:spPr>
            <a:xfrm>
              <a:off x="4241800" y="5681137"/>
              <a:ext cx="414866" cy="41486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4811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Linear Regression</a:t>
            </a:r>
          </a:p>
          <a:p>
            <a:pPr lvl="1"/>
            <a:r>
              <a:rPr lang="ko-KR" altLang="en-US" dirty="0"/>
              <a:t>데이터 로드 </a:t>
            </a:r>
            <a:r>
              <a:rPr lang="en-US" altLang="ko-KR" dirty="0"/>
              <a:t>(Excel)</a:t>
            </a:r>
          </a:p>
          <a:p>
            <a:pPr lvl="2"/>
            <a:r>
              <a:rPr lang="en-US" altLang="ko-KR" dirty="0"/>
              <a:t>X: AEC 128-dim </a:t>
            </a:r>
            <a:r>
              <a:rPr lang="ko-KR" altLang="en-US" dirty="0"/>
              <a:t>벡터</a:t>
            </a:r>
            <a:r>
              <a:rPr lang="en-US" altLang="ko-KR" dirty="0"/>
              <a:t>, y: TAMA</a:t>
            </a:r>
          </a:p>
          <a:p>
            <a:pPr lvl="1"/>
            <a:r>
              <a:rPr lang="en-US" altLang="ko-KR" dirty="0"/>
              <a:t>Train/Test </a:t>
            </a:r>
            <a:r>
              <a:rPr lang="ko-KR" altLang="en-US" dirty="0"/>
              <a:t>분할 </a:t>
            </a:r>
          </a:p>
          <a:p>
            <a:pPr lvl="1"/>
            <a:r>
              <a:rPr lang="ko-KR" altLang="en-US" dirty="0"/>
              <a:t>모델 학습</a:t>
            </a:r>
          </a:p>
          <a:p>
            <a:pPr lvl="1"/>
            <a:r>
              <a:rPr lang="ko-KR" altLang="en-US" dirty="0"/>
              <a:t>지표 계산</a:t>
            </a: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/>
              <a:t>기본 회귀 지표 </a:t>
            </a:r>
            <a:r>
              <a:rPr lang="en-US" altLang="ko-KR" dirty="0"/>
              <a:t>(R², Adj-R², MAE, MSE, RMSE, MAPE, </a:t>
            </a:r>
            <a:r>
              <a:rPr lang="en-US" altLang="ko-KR" dirty="0" err="1"/>
              <a:t>sMAPE</a:t>
            </a:r>
            <a:r>
              <a:rPr lang="en-US" altLang="ko-KR" dirty="0"/>
              <a:t>, Bias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5-Fold CV (R², MAE, RMSE)</a:t>
            </a: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/>
              <a:t>상관 분석 </a:t>
            </a:r>
            <a:r>
              <a:rPr lang="en-US" altLang="ko-KR" dirty="0"/>
              <a:t>(Pearson r, Spearman ρ)</a:t>
            </a: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 err="1"/>
              <a:t>잔차</a:t>
            </a:r>
            <a:r>
              <a:rPr lang="ko-KR" altLang="en-US" dirty="0"/>
              <a:t> 정규성 검정 </a:t>
            </a:r>
            <a:r>
              <a:rPr lang="en-US" altLang="ko-KR" dirty="0"/>
              <a:t>(Shapiro-Wilk, </a:t>
            </a:r>
            <a:r>
              <a:rPr lang="en-US" altLang="ko-KR" dirty="0" err="1"/>
              <a:t>Jarque-Bera</a:t>
            </a:r>
            <a:r>
              <a:rPr lang="en-US" altLang="ko-KR" dirty="0"/>
              <a:t>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Durbin-Watson (</a:t>
            </a:r>
            <a:r>
              <a:rPr lang="ko-KR" altLang="en-US" dirty="0" err="1"/>
              <a:t>잔차</a:t>
            </a:r>
            <a:r>
              <a:rPr lang="ko-KR" altLang="en-US" dirty="0"/>
              <a:t> 자기상관</a:t>
            </a:r>
            <a:r>
              <a:rPr lang="en-US" altLang="ko-KR" dirty="0"/>
              <a:t>)</a:t>
            </a: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 err="1"/>
              <a:t>다중공선성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조건 수 </a:t>
            </a:r>
            <a:r>
              <a:rPr lang="en-US" altLang="ko-KR" dirty="0"/>
              <a:t>κ)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6815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ko-KR" dirty="0"/>
              <a:t>Logistic Regression</a:t>
            </a:r>
          </a:p>
          <a:p>
            <a:pPr lvl="1"/>
            <a:r>
              <a:rPr lang="ko-KR" altLang="en-US" dirty="0"/>
              <a:t>데이터 로드 </a:t>
            </a:r>
            <a:r>
              <a:rPr lang="en-US" altLang="ko-KR" dirty="0"/>
              <a:t>(Excel)</a:t>
            </a:r>
          </a:p>
          <a:p>
            <a:pPr lvl="2"/>
            <a:r>
              <a:rPr lang="en-US" altLang="ko-KR" dirty="0" err="1"/>
              <a:t>X_raw</a:t>
            </a:r>
            <a:r>
              <a:rPr lang="en-US" altLang="ko-KR" dirty="0"/>
              <a:t>: AEC 128-dim </a:t>
            </a:r>
            <a:r>
              <a:rPr lang="ko-KR" altLang="en-US" dirty="0"/>
              <a:t>벡터</a:t>
            </a:r>
            <a:r>
              <a:rPr lang="en-US" altLang="ko-KR" dirty="0"/>
              <a:t>, </a:t>
            </a:r>
            <a:r>
              <a:rPr lang="en-US" altLang="ko-KR" dirty="0" err="1"/>
              <a:t>tama</a:t>
            </a:r>
            <a:r>
              <a:rPr lang="en-US" altLang="ko-KR" dirty="0"/>
              <a:t>: TAMA </a:t>
            </a:r>
            <a:r>
              <a:rPr lang="ko-KR" altLang="en-US" dirty="0" err="1"/>
              <a:t>연속값</a:t>
            </a:r>
            <a:endParaRPr lang="ko-KR" altLang="en-US" dirty="0"/>
          </a:p>
          <a:p>
            <a:pPr lvl="1"/>
            <a:r>
              <a:rPr lang="en-US" altLang="ko-KR" dirty="0"/>
              <a:t>TAMA → 4</a:t>
            </a:r>
            <a:r>
              <a:rPr lang="ko-KR" altLang="en-US" dirty="0"/>
              <a:t>분위 레이블 변환</a:t>
            </a:r>
          </a:p>
          <a:p>
            <a:pPr lvl="2"/>
            <a:r>
              <a:rPr lang="en-US" altLang="ko-KR" dirty="0" err="1"/>
              <a:t>np.digitize</a:t>
            </a:r>
            <a:r>
              <a:rPr lang="en-US" altLang="ko-KR" dirty="0"/>
              <a:t>([Q1, Q2, Q3]) → y: 0/1/2/3 (Q1~Q4)</a:t>
            </a:r>
          </a:p>
          <a:p>
            <a:pPr lvl="1"/>
            <a:r>
              <a:rPr lang="en-US" altLang="ko-KR" dirty="0"/>
              <a:t>Train/Test </a:t>
            </a:r>
            <a:r>
              <a:rPr lang="ko-KR" altLang="en-US" dirty="0"/>
              <a:t>분할</a:t>
            </a:r>
          </a:p>
          <a:p>
            <a:pPr lvl="1"/>
            <a:r>
              <a:rPr lang="ko-KR" altLang="en-US" dirty="0"/>
              <a:t>모델 학습</a:t>
            </a:r>
          </a:p>
          <a:p>
            <a:pPr lvl="1"/>
            <a:r>
              <a:rPr lang="ko-KR" altLang="en-US" dirty="0"/>
              <a:t>지표 계산</a:t>
            </a: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/>
              <a:t>기본 분류 지표 </a:t>
            </a:r>
            <a:r>
              <a:rPr lang="en-US" altLang="ko-KR" dirty="0"/>
              <a:t>(Accuracy, Balanced Acc, Kappa, MCC, Precision/Recall/F1)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ROC-AUC (</a:t>
            </a:r>
            <a:r>
              <a:rPr lang="en-US" altLang="ko-KR" dirty="0" err="1"/>
              <a:t>OvR</a:t>
            </a:r>
            <a:r>
              <a:rPr lang="en-US" altLang="ko-KR" dirty="0"/>
              <a:t>, macro/weighted)</a:t>
            </a: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/>
              <a:t>혼동 행렬 </a:t>
            </a:r>
            <a:r>
              <a:rPr lang="el-GR" altLang="ko-KR" dirty="0"/>
              <a:t>χ² </a:t>
            </a:r>
            <a:r>
              <a:rPr lang="ko-KR" altLang="en-US" dirty="0"/>
              <a:t>검정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5-Fold Stratified CV (Accuracy, Balanced Acc, F1, AUC)</a:t>
            </a: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 err="1"/>
              <a:t>다중공선성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조건 수 </a:t>
            </a:r>
            <a:r>
              <a:rPr lang="el-GR" altLang="ko-KR" dirty="0"/>
              <a:t>κ)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9422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Next Plans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0" dirty="0"/>
              <a:t>Linear &amp; Logistic Regression </a:t>
            </a:r>
            <a:r>
              <a:rPr lang="ko-KR" altLang="en-US" b="0" dirty="0"/>
              <a:t>보완</a:t>
            </a:r>
            <a:endParaRPr lang="en-US" altLang="ko-KR" b="0" dirty="0"/>
          </a:p>
          <a:p>
            <a:r>
              <a:rPr lang="en-US" altLang="ko-KR" b="0" dirty="0"/>
              <a:t>Case Study </a:t>
            </a:r>
            <a:r>
              <a:rPr lang="ko-KR" altLang="en-US" b="0" dirty="0"/>
              <a:t>보완</a:t>
            </a:r>
            <a:endParaRPr lang="en-US" altLang="ko-KR" b="0" dirty="0"/>
          </a:p>
          <a:p>
            <a:r>
              <a:rPr lang="ko-KR" altLang="en-US" b="0" dirty="0"/>
              <a:t>데이터 추가 정리</a:t>
            </a:r>
            <a:r>
              <a:rPr lang="en-US" altLang="ko-KR" b="0" dirty="0"/>
              <a:t>(</a:t>
            </a:r>
            <a:r>
              <a:rPr lang="ko-KR" altLang="en-US" b="0" dirty="0"/>
              <a:t>모델명 등</a:t>
            </a:r>
            <a:r>
              <a:rPr lang="en-US" altLang="ko-KR" b="0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5693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Multivariable Analysis</a:t>
            </a:r>
            <a:endParaRPr lang="ko-KR" altLang="en-US" sz="4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477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Case 1.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Case 2.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AEC]</a:t>
            </a:r>
          </a:p>
          <a:p>
            <a:r>
              <a:rPr lang="en-US" altLang="ko-KR" dirty="0"/>
              <a:t>Case 3.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AEC, </a:t>
            </a:r>
            <a:r>
              <a:rPr lang="ko-KR" altLang="en-US" dirty="0"/>
              <a:t>모델명</a:t>
            </a:r>
            <a:r>
              <a:rPr lang="en-US" altLang="ko-KR" dirty="0"/>
              <a:t>]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9217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Case 1.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]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65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Case 2.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AEC]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5416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Case </a:t>
            </a:r>
            <a:r>
              <a:rPr lang="en-US" altLang="ko-KR" dirty="0"/>
              <a:t>3.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AEC, </a:t>
            </a:r>
            <a:r>
              <a:rPr lang="ko-KR" altLang="en-US" dirty="0"/>
              <a:t>모델명</a:t>
            </a:r>
            <a:r>
              <a:rPr lang="en-US" altLang="ko-KR" dirty="0"/>
              <a:t>]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8163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1309</Words>
  <Application>Microsoft Office PowerPoint</Application>
  <PresentationFormat>와이드스크린</PresentationFormat>
  <Paragraphs>306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KoPub돋움체 Bold</vt:lpstr>
      <vt:lpstr>KoPub돋움체 Medium</vt:lpstr>
      <vt:lpstr>맑은 고딕</vt:lpstr>
      <vt:lpstr>에스코어 드림 8 Heavy</vt:lpstr>
      <vt:lpstr>Arial</vt:lpstr>
      <vt:lpstr>Calibri</vt:lpstr>
      <vt:lpstr>Calibri Light</vt:lpstr>
      <vt:lpstr>Office 테마</vt:lpstr>
      <vt:lpstr>PowerPoint 프레젠테이션</vt:lpstr>
      <vt:lpstr>1. What’s discussed in the last meetings</vt:lpstr>
      <vt:lpstr>2. Research Summary</vt:lpstr>
      <vt:lpstr>연구 프로토타입 정의</vt:lpstr>
      <vt:lpstr>Research Overview – Main Study</vt:lpstr>
      <vt:lpstr>Research Overview – Pilot Feasibility Study (현재 진행 연구)</vt:lpstr>
      <vt:lpstr>Research Overview – Pilot Feasibility Study (현재 진행 연구)</vt:lpstr>
      <vt:lpstr>데이터 정리</vt:lpstr>
      <vt:lpstr>3. Detailed progress</vt:lpstr>
      <vt:lpstr>3. Detailed progress</vt:lpstr>
      <vt:lpstr>3. Detailed progress</vt:lpstr>
      <vt:lpstr>3. Detailed progress</vt:lpstr>
      <vt:lpstr>Linear &amp; Logistic Regression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Next Plans</vt:lpstr>
      <vt:lpstr>Multivariable Analysis</vt:lpstr>
      <vt:lpstr>3. Detailed progress</vt:lpstr>
      <vt:lpstr>3. Detailed progress</vt:lpstr>
      <vt:lpstr>3. Detailed progress</vt:lpstr>
      <vt:lpstr>3. Detailed progress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60</cp:revision>
  <dcterms:created xsi:type="dcterms:W3CDTF">2026-04-09T07:05:16Z</dcterms:created>
  <dcterms:modified xsi:type="dcterms:W3CDTF">2026-04-14T06:24:04Z</dcterms:modified>
</cp:coreProperties>
</file>