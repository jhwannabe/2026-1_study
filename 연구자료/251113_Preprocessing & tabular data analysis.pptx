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712" r:id="rId1"/>
  </p:sldMasterIdLst>
  <p:notesMasterIdLst>
    <p:notesMasterId r:id="rId2"/>
  </p:notesMasterIdLst>
  <p:handoutMasterIdLst>
    <p:handoutMasterId r:id="rId3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 useTimings="0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69FF03A-DF0C-4845-94BB-EF2385AD676B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2700" cmpd="sng">
              <a:solidFill>
                <a:schemeClr val="accent1"/>
              </a:solidFill>
            </a:ln>
          </a:top>
          <a:bottom>
            <a:ln w="2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 w="10000" cmpd="sng">
              <a:solidFill>
                <a:schemeClr val="accent1"/>
              </a:solidFill>
            </a:ln>
          </a:top>
          <a:bottom>
            <a:ln w="10000" cmpd="sng">
              <a:solidFill>
                <a:schemeClr val="accent1"/>
              </a:solidFill>
            </a:ln>
          </a:bottom>
        </a:tcBdr>
        <a:fill>
          <a:solidFill>
            <a:schemeClr val="accent1">
              <a:alpha val="20000"/>
              <a:tint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19EC50-B813-4FCE-9F78-2F8D5DE6B856}" styleName="Normal Style 2 - Accent 1">
    <a:tblBg>
      <a:effectRef idx="1">
        <a:schemeClr val="dk1"/>
      </a:effectRef>
    </a:tblBg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10000"/>
              <a:satMod val="53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30000"/>
              <a:satMod val="33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20000"/>
              <a:satMod val="73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>
              <a:alpha val="90000"/>
              <a:satMod val="150000"/>
            </a:schemeClr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>
              <a:alpha val="90000"/>
              <a:satMod val="150000"/>
            </a:schemeClr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>
              <a:alpha val="50000"/>
              <a:satMod val="630000"/>
            </a:schemeClr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>
              <a:shade val="50000"/>
              <a:satMod val="230000"/>
            </a:schemeClr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F0A0EA-C916-463C-A3AD-4CCFBD9124EA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accent1"/>
      </a:tcTxStyle>
      <a:tcStyle>
        <a:tcBdr>
          <a:top>
            <a:ln w="6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accent1">
          <a:shade val="40000"/>
        </a:schemeClr>
      </a:tcTxStyle>
      <a:tcStyle>
        <a:tcBdr/>
        <a:fill>
          <a:solidFill>
            <a:schemeClr val="accent1">
              <a:alpha val="40000"/>
            </a:schemeClr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4995" autoAdjust="0"/>
    <p:restoredTop sz="76831" autoAdjust="0"/>
  </p:normalViewPr>
  <p:slideViewPr>
    <p:cSldViewPr>
      <p:cViewPr varScale="1">
        <p:scale>
          <a:sx n="100" d="100"/>
          <a:sy n="100" d="100"/>
        </p:scale>
        <p:origin x="630" y="114"/>
      </p:cViewPr>
      <p:guideLst>
        <p:guide orient="horz" pos="2880"/>
        <p:guide pos="215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slide" Target="slides/slide8.xml"  /><Relationship Id="rId12" Type="http://schemas.openxmlformats.org/officeDocument/2006/relationships/presProps" Target="presProps.xml"  /><Relationship Id="rId13" Type="http://schemas.openxmlformats.org/officeDocument/2006/relationships/viewProps" Target="viewProps.xml"  /><Relationship Id="rId14" Type="http://schemas.openxmlformats.org/officeDocument/2006/relationships/theme" Target="theme/theme1.xml"  /><Relationship Id="rId15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handoutMaster" Target="handoutMasters/handoutMaster1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handoutMasters/_rels/handout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handoutMasters/handoutMaster1.xml><?xml version="1.0" encoding="utf-8"?>
<p:handout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6905978" y="0"/>
            <a:ext cx="5283200" cy="3429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2025-11-13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52832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6905978" y="6513910"/>
            <a:ext cx="5283200" cy="3429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24F3D1CD-0EED-4DFA-AF12-8E73FDA834A4}" type="datetime1">
              <a:rPr lang="ko-KR" altLang="en-US"/>
              <a:pPr lvl="0">
                <a:defRPr/>
              </a:pPr>
              <a:t>2025-11-13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338DA34-01F3-43BF-904F-885132A129B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Slide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 idx="0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2025-10-11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7" name="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and Content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2" name="Holder 2"/>
          <p:cNvSpPr>
            <a:spLocks noGrp="1"/>
          </p:cNvSpPr>
          <p:nvPr>
            <p:ph type="title" idx="0"/>
          </p:nvPr>
        </p:nvSpPr>
        <p:spPr>
          <a:xfrm>
            <a:off x="609701" y="446405"/>
            <a:ext cx="11353699" cy="353695"/>
          </a:xfrm>
        </p:spPr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2025-10-11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66800"/>
            <a:ext cx="11125200" cy="1466850"/>
          </a:xfrm>
        </p:spPr>
        <p:txBody>
          <a:bodyPr/>
          <a:lstStyle>
            <a:lvl1pPr marL="285750" indent="-285750">
              <a:lnSpc>
                <a:spcPct val="100000"/>
              </a:lnSpc>
              <a:buFont typeface="Arial"/>
              <a:buChar char="•"/>
              <a:defRPr sz="2400"/>
            </a:lvl1pPr>
            <a:lvl2pPr marL="742950" indent="-285750">
              <a:lnSpc>
                <a:spcPct val="100000"/>
              </a:lnSpc>
              <a:buFont typeface="Arial"/>
              <a:buChar char="•"/>
              <a:defRPr sz="2000"/>
            </a:lvl2pPr>
            <a:lvl3pPr marL="1200150" indent="-285750">
              <a:lnSpc>
                <a:spcPct val="100000"/>
              </a:lnSpc>
              <a:buFont typeface="Arial"/>
              <a:buChar char="•"/>
              <a:defRPr sz="1800"/>
            </a:lvl3pPr>
            <a:lvl4pPr marL="1657350" indent="-285750">
              <a:lnSpc>
                <a:spcPct val="100000"/>
              </a:lnSpc>
              <a:buFont typeface="Arial"/>
              <a:buChar char="•"/>
              <a:defRPr sz="1600"/>
            </a:lvl4pPr>
            <a:lvl5pPr marL="2114550" indent="-285750">
              <a:lnSpc>
                <a:spcPct val="100000"/>
              </a:lnSpc>
              <a:buFont typeface="Arial"/>
              <a:buChar char="•"/>
              <a:defRPr/>
            </a:lvl5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wo Content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idx="0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2025-10-11</a:t>
            </a:fld>
            <a:endParaRPr lang="ko-KR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8" name="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Title Only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idx="0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2025-10-11</a:t>
            </a:fld>
            <a:endParaRPr lang="ko-KR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6" name="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1" matchingName="Blank" type="obj" preserve="1">
  <p:cSld name="Blank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2025-10-10</a:t>
            </a:fld>
            <a:endParaRPr lang="ko-KR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theme" Target="../theme/theme1.xml"  /><Relationship Id="rId7" Type="http://schemas.openxmlformats.org/officeDocument/2006/relationships/image" Target="../media/image1.png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Office Them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403205" cy="353695"/>
          </a:xfrm>
          <a:custGeom>
            <a:avLst/>
            <a:gdLst/>
            <a:rect l="l" t="t" r="r" b="b"/>
            <a:pathLst>
              <a:path w="10403205" h="353695">
                <a:moveTo>
                  <a:pt x="10402824" y="0"/>
                </a:moveTo>
                <a:lnTo>
                  <a:pt x="0" y="0"/>
                </a:lnTo>
                <a:lnTo>
                  <a:pt x="0" y="353568"/>
                </a:lnTo>
                <a:lnTo>
                  <a:pt x="10402824" y="353568"/>
                </a:lnTo>
                <a:lnTo>
                  <a:pt x="10402824" y="0"/>
                </a:lnTo>
                <a:close/>
              </a:path>
            </a:pathLst>
          </a:custGeom>
          <a:solidFill>
            <a:srgbClr val="1f346b"/>
          </a:solidFill>
        </p:spPr>
        <p:txBody>
          <a:bodyPr wrap="square" lIns="0" tIns="0" rIns="0" bIns="0"/>
          <a:lstStyle/>
          <a:p>
            <a:pPr lvl="0">
              <a:defRPr/>
            </a:pPr>
            <a:endParaRPr/>
          </a:p>
        </p:txBody>
      </p:sp>
      <p:pic>
        <p:nvPicPr>
          <p:cNvPr id="17" name="bg object 17"/>
          <p:cNvPicPr/>
          <p:nvPr/>
        </p:nvPicPr>
        <p:blipFill rotWithShape="1">
          <a:blip r:embed="rId7"/>
          <a:stretch>
            <a:fillRect/>
          </a:stretch>
        </p:blipFill>
        <p:spPr>
          <a:xfrm>
            <a:off x="105155" y="12745"/>
            <a:ext cx="1045403" cy="3240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 idx="0"/>
          </p:nvPr>
        </p:nvSpPr>
        <p:spPr>
          <a:xfrm>
            <a:off x="609701" y="379298"/>
            <a:ext cx="1831339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f346b"/>
                </a:solidFill>
                <a:latin typeface="Arial"/>
                <a:cs typeface="Arial"/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11008" y="1695830"/>
            <a:ext cx="9821545" cy="1677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0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1A3D5110-9FE0-496F-B26A-071D02F2DE37}" type="datetime1">
              <a:rPr lang="ko-KR"/>
              <a:pPr lvl="0">
                <a:defRPr/>
              </a:pPr>
              <a:t>2025-10-11</a:t>
            </a:fld>
            <a:endParaRPr lang="ko-K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56619" y="6419409"/>
            <a:ext cx="25654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‹#›</a:t>
            </a:fld>
            <a:endParaRPr spc="-25"/>
          </a:p>
        </p:txBody>
      </p:sp>
      <p:sp>
        <p:nvSpPr>
          <p:cNvPr id="18" name=""/>
          <p:cNvSpPr/>
          <p:nvPr userDrawn="1"/>
        </p:nvSpPr>
        <p:spPr>
          <a:xfrm>
            <a:off x="1219200" y="0"/>
            <a:ext cx="10972800" cy="352844"/>
          </a:xfrm>
          <a:prstGeom prst="rect">
            <a:avLst/>
          </a:prstGeom>
          <a:solidFill>
            <a:srgbClr val="1f346b">
              <a:alpha val="100000"/>
            </a:srgbClr>
          </a:solidFill>
          <a:ln w="25400" cap="flat" cmpd="sng" algn="ctr">
            <a:noFill/>
            <a:prstDash val="solid"/>
          </a:ln>
        </p:spPr>
        <p:txBody>
          <a:bodyPr anchor="ctr"/>
          <a:p>
            <a:pPr algn="ctr">
              <a:defRPr/>
            </a:pPr>
            <a:endParaRPr lang="en-US" altLang="ko-KR">
              <a:solidFill>
                <a:srgbClr val="ffffff"/>
              </a:solidFill>
              <a:latin typeface="Arial"/>
              <a:ea typeface="맑은 고딕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</p:sldLayoutIdLst>
  <p:transition xmlns:mc="http://schemas.openxmlformats.org/markup-compatibility/2006" xmlns:hp="http://schemas.haansoft.com/office/presentation/8.0" mc:Ignorable="hp" hp:hslDur="500"/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jpeg"  /><Relationship Id="rId3" Type="http://schemas.openxmlformats.org/officeDocument/2006/relationships/image" Target="../media/image3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Relationship Id="rId5" Type="http://schemas.openxmlformats.org/officeDocument/2006/relationships/image" Target="../media/image7.png"  /><Relationship Id="rId6" Type="http://schemas.openxmlformats.org/officeDocument/2006/relationships/image" Target="../media/image8.png"  /><Relationship Id="rId7" Type="http://schemas.openxmlformats.org/officeDocument/2006/relationships/image" Target="../media/image9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Relationship Id="rId5" Type="http://schemas.openxmlformats.org/officeDocument/2006/relationships/image" Target="../media/image7.png"  /><Relationship Id="rId6" Type="http://schemas.openxmlformats.org/officeDocument/2006/relationships/image" Target="../media/image8.png"  /><Relationship Id="rId7" Type="http://schemas.openxmlformats.org/officeDocument/2006/relationships/image" Target="../media/image9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11.jpe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0" y="342901"/>
            <a:ext cx="12192000" cy="6540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499363" y="2062806"/>
            <a:ext cx="11387837" cy="385119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en-US" altLang="ko-KR" sz="2500">
                <a:solidFill>
                  <a:schemeClr val="lt1"/>
                </a:solidFill>
              </a:rPr>
              <a:t>Clinic Tabular Data Analysis</a:t>
            </a:r>
            <a:endParaRPr lang="en-US" altLang="ko-KR" sz="2500">
              <a:solidFill>
                <a:schemeClr val="lt1"/>
              </a:solidFill>
            </a:endParaRPr>
          </a:p>
        </p:txBody>
      </p:sp>
      <p:pic>
        <p:nvPicPr>
          <p:cNvPr id="4" name="object 4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0" y="5446776"/>
            <a:ext cx="4561332" cy="10043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chemeClr val="bg1">
                    <a:lumMod val="75000"/>
                  </a:schemeClr>
                </a:solidFill>
                <a:latin typeface="Arial"/>
                <a:ea typeface="+mj-ea"/>
                <a:cs typeface="Arial"/>
              </a:rPr>
              <a:t>2025. 11. 13.</a:t>
            </a:r>
            <a:endParaRPr lang="en-US" altLang="ko-KR" sz="1600">
              <a:solidFill>
                <a:schemeClr val="bg1">
                  <a:lumMod val="75000"/>
                </a:schemeClr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>
                <a:solidFill>
                  <a:srgbClr val="ffffff"/>
                </a:solidFill>
                <a:latin typeface="Arial"/>
                <a:ea typeface="+mj-ea"/>
                <a:cs typeface="Arial"/>
              </a:rPr>
              <a:t>JangHoon Chun</a:t>
            </a:r>
            <a:endParaRPr lang="en-US" altLang="ko-KR" sz="1800" b="1">
              <a:solidFill>
                <a:srgbClr val="ffffff"/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7" name="object 5"/>
          <p:cNvSpPr txBox="1"/>
          <p:nvPr/>
        </p:nvSpPr>
        <p:spPr>
          <a:xfrm>
            <a:off x="417068" y="3978214"/>
            <a:ext cx="7139940" cy="1193861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Department of Medical Device Industry,</a:t>
            </a:r>
            <a:endParaRPr lang="en-US" altLang="ko-KR" sz="1600">
              <a:solidFill>
                <a:srgbClr val="ffffff"/>
              </a:solidFill>
              <a:latin typeface="Arial"/>
              <a:ea typeface="+mj-ea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Gangnam Severance Hospital,</a:t>
            </a:r>
            <a:endParaRPr lang="en-US" altLang="ko-KR" sz="1600">
              <a:solidFill>
                <a:srgbClr val="ffffff"/>
              </a:solidFill>
              <a:latin typeface="Arial"/>
              <a:ea typeface="+mj-ea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>
                <a:solidFill>
                  <a:srgbClr val="ffffff"/>
                </a:solidFill>
                <a:latin typeface="Arial"/>
                <a:ea typeface="+mj-ea"/>
                <a:cs typeface="Arial"/>
              </a:rPr>
              <a:t>Yonsei University College of Medicine</a:t>
            </a:r>
            <a:endParaRPr lang="en-US" altLang="ko-KR" sz="1600">
              <a:solidFill>
                <a:srgbClr val="ffffff"/>
              </a:solidFill>
              <a:latin typeface="Arial"/>
              <a:ea typeface="+mj-ea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>
              <a:solidFill>
                <a:srgbClr val="ffffff"/>
              </a:solidFill>
              <a:latin typeface="Arial"/>
              <a:ea typeface="+mj-ea"/>
              <a:cs typeface="Arial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aseline="25000">
              <a:latin typeface="Arial"/>
              <a:ea typeface="+mj-ea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7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ko-KR" altLang="en-US"/>
              <a:t>주요 </a:t>
            </a:r>
            <a:r>
              <a:rPr lang="en-US" altLang="ko-KR"/>
              <a:t>Tabular Data Field Analysis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2</a:t>
            </a:fld>
            <a:endParaRPr lang="en-US" spc="-25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009645"/>
            <a:ext cx="5486400" cy="28575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ko-KR" altLang="en-US" sz="1300"/>
              <a:t>인체 임상 변수</a:t>
            </a:r>
            <a:endParaRPr lang="ko-KR" altLang="en-US" sz="1300"/>
          </a:p>
        </p:txBody>
      </p:sp>
      <p:graphicFrame>
        <p:nvGraphicFramePr>
          <p:cNvPr id="14" name=""/>
          <p:cNvGraphicFramePr/>
          <p:nvPr/>
        </p:nvGraphicFramePr>
        <p:xfrm>
          <a:off x="685800" y="1356360"/>
          <a:ext cx="4320540" cy="4846320"/>
        </p:xfrm>
        <a:graphic>
          <a:graphicData uri="http://schemas.openxmlformats.org/drawingml/2006/table">
            <a:tbl>
              <a:tblPr firstRow="1" bandRow="1">
                <a:tableStyleId>{BDF0A0EA-C916-463C-A3AD-4CCFBD9124EA}</a:tableStyleId>
              </a:tblPr>
              <a:tblGrid>
                <a:gridCol w="1440180"/>
                <a:gridCol w="1440180"/>
                <a:gridCol w="1440180"/>
              </a:tblGrid>
              <a:tr h="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000">
                          <a:latin typeface="맑은 고딕"/>
                        </a:rPr>
                        <a:t>변수명</a:t>
                      </a:r>
                      <a:endParaRPr lang="ko-KR" altLang="en-US" sz="10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000">
                          <a:latin typeface="맑은 고딕"/>
                        </a:rPr>
                        <a:t>설명</a:t>
                      </a:r>
                      <a:endParaRPr lang="ko-KR" altLang="en-US" sz="10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000">
                          <a:latin typeface="맑은 고딕"/>
                        </a:rPr>
                        <a:t>단위 </a:t>
                      </a:r>
                      <a:r>
                        <a:rPr lang="en-US" altLang="ko-KR" sz="1000">
                          <a:latin typeface="맑은 고딕"/>
                        </a:rPr>
                        <a:t>/</a:t>
                      </a:r>
                      <a:r>
                        <a:rPr lang="ko-KR" altLang="en-US" sz="1000">
                          <a:latin typeface="맑은 고딕"/>
                        </a:rPr>
                        <a:t> 구분</a:t>
                      </a:r>
                      <a:endParaRPr lang="ko-KR" altLang="en-US" sz="1000"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File Analyzed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환자 / 케이스 식별자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ID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Osteoporosis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골다공증 여부 (0=정상, 1=골다공증)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Binary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Age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나이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세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진료년월일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검사 날짜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YYYY-MM-DD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키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키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cm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체중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몸무게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BMI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체질량지수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kg/m²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허리둘레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허리 둘레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cm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근육량SoftLeanMass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부위별 평균 근육량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체지방율BodyFat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 비율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%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체지방량FatMassKg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체지방 총량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복부지방율WHRatio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복부지방률 (WH Ratio)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%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복부내장지방량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내장지방량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복부피하지방량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피하지방량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kg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초경연령ALL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초경 시작 나이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세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폐경여부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폐경 여부 (1=예, 0=아니오)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Binary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출산횟수ALL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출산 횟수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Count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15" name="텍스트 개체 틀 7"/>
          <p:cNvSpPr>
            <a:spLocks noGrp="1"/>
          </p:cNvSpPr>
          <p:nvPr/>
        </p:nvSpPr>
        <p:spPr>
          <a:xfrm>
            <a:off x="6096000" y="1009645"/>
            <a:ext cx="5486400" cy="285755"/>
          </a:xfrm>
          <a:prstGeom prst="rect">
            <a:avLst/>
          </a:prstGeom>
        </p:spPr>
        <p:txBody>
          <a:bodyPr wrap="square" lIns="0" tIns="0" rIns="0" bIns="0">
            <a:spAutoFit/>
          </a:bodyPr>
          <a:p>
            <a:pPr marL="285750" indent="-28575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1300" b="0" i="0" u="none" strike="noStrike" kern="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영상 파생 변수</a:t>
            </a:r>
            <a:endParaRPr xmlns:mc="http://schemas.openxmlformats.org/markup-compatibility/2006" xmlns:hp="http://schemas.haansoft.com/office/presentation/8.0" kumimoji="0" lang="ko-KR" altLang="en-US" sz="1300" b="0" i="0" u="none" strike="noStrike" kern="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7" name=""/>
          <p:cNvGraphicFramePr/>
          <p:nvPr/>
        </p:nvGraphicFramePr>
        <p:xfrm>
          <a:off x="6248400" y="1356360"/>
          <a:ext cx="4320540" cy="1920240"/>
        </p:xfrm>
        <a:graphic>
          <a:graphicData uri="http://schemas.openxmlformats.org/drawingml/2006/table">
            <a:tbl>
              <a:tblPr firstRow="1" bandRow="1">
                <a:tableStyleId>{BDF0A0EA-C916-463C-A3AD-4CCFBD9124EA}</a:tableStyleId>
              </a:tblPr>
              <a:tblGrid>
                <a:gridCol w="1440180"/>
                <a:gridCol w="1440180"/>
                <a:gridCol w="1440180"/>
              </a:tblGrid>
              <a:tr h="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000">
                          <a:latin typeface="맑은 고딕"/>
                        </a:rPr>
                        <a:t>변수명</a:t>
                      </a:r>
                      <a:endParaRPr lang="ko-KR" altLang="en-US" sz="10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000">
                          <a:latin typeface="맑은 고딕"/>
                        </a:rPr>
                        <a:t>설명</a:t>
                      </a:r>
                      <a:endParaRPr lang="ko-KR" altLang="en-US" sz="10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000">
                          <a:latin typeface="맑은 고딕"/>
                        </a:rPr>
                        <a:t>단위 </a:t>
                      </a:r>
                      <a:r>
                        <a:rPr lang="en-US" altLang="ko-KR" sz="1000">
                          <a:latin typeface="맑은 고딕"/>
                        </a:rPr>
                        <a:t>/</a:t>
                      </a:r>
                      <a:r>
                        <a:rPr lang="ko-KR" altLang="en-US" sz="1000">
                          <a:latin typeface="맑은 고딕"/>
                        </a:rPr>
                        <a:t> 구분</a:t>
                      </a:r>
                      <a:endParaRPr lang="ko-KR" altLang="en-US" sz="1000"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BreastArea(sqcm)AVG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ko-KR" altLang="en-US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전체 면적 평균</a:t>
                      </a:r>
                      <a:endParaRPr xmlns:mc="http://schemas.openxmlformats.org/markup-compatibility/2006" xmlns:hp="http://schemas.haansoft.com/office/presentation/8.0" lang="ko-KR" altLang="en-US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cm²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DenseArea(sqcm)AVG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ko-KR" altLang="en-US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치밀 조직 면적 평균</a:t>
                      </a:r>
                      <a:endParaRPr xmlns:mc="http://schemas.openxmlformats.org/markup-compatibility/2006" xmlns:hp="http://schemas.haansoft.com/office/presentation/8.0" lang="ko-KR" altLang="en-US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cm²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BreastDensity(%)AVG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ko-KR" altLang="en-US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내 치밀조직 비율</a:t>
                      </a:r>
                      <a:endParaRPr xmlns:mc="http://schemas.openxmlformats.org/markup-compatibility/2006" xmlns:hp="http://schemas.haansoft.com/office/presentation/8.0" lang="ko-KR" altLang="en-US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%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Breast_Density_Grading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ko-KR" altLang="en-US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유방 밀도 등급</a:t>
                      </a:r>
                      <a:endParaRPr xmlns:mc="http://schemas.openxmlformats.org/markup-compatibility/2006" xmlns:hp="http://schemas.haansoft.com/office/presentation/8.0" lang="ko-KR" altLang="en-US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(1~4</a:t>
                      </a:r>
                      <a:r>
                        <a:rPr xmlns:mc="http://schemas.openxmlformats.org/markup-compatibility/2006" xmlns:hp="http://schemas.haansoft.com/office/presentation/8.0" lang="ko-KR" altLang="en-US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단계</a:t>
                      </a: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)</a:t>
                      </a:r>
                      <a:endParaRPr xmlns:mc="http://schemas.openxmlformats.org/markup-compatibility/2006" xmlns:hp="http://schemas.haansoft.com/office/presentation/8.0" lang="en-US" altLang="ko-KR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Categorical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BIRADS_Category</a:t>
                      </a:r>
                      <a:endParaRPr xmlns:mc="http://schemas.openxmlformats.org/markup-compatibility/2006" xmlns:hp="http://schemas.haansoft.com/office/presentation/8.0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BI-RADS </a:t>
                      </a:r>
                      <a:r>
                        <a:rPr xmlns:mc="http://schemas.openxmlformats.org/markup-compatibility/2006" xmlns:hp="http://schemas.haansoft.com/office/presentation/8.0" lang="ko-KR" altLang="en-US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평가 카테고리</a:t>
                      </a:r>
                      <a:endParaRPr xmlns:mc="http://schemas.openxmlformats.org/markup-compatibility/2006" xmlns:hp="http://schemas.haansoft.com/office/presentation/8.0" lang="ko-KR" altLang="en-US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1~5</a:t>
                      </a:r>
                      <a:r>
                        <a:rPr xmlns:mc="http://schemas.openxmlformats.org/markup-compatibility/2006" xmlns:hp="http://schemas.haansoft.com/office/presentation/8.0" lang="ko-KR" altLang="en-US" sz="10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Arial"/>
                        </a:rPr>
                        <a:t> 등급</a:t>
                      </a:r>
                      <a:endParaRPr xmlns:mc="http://schemas.openxmlformats.org/markup-compatibility/2006" xmlns:hp="http://schemas.haansoft.com/office/presentation/8.0" lang="ko-KR" altLang="en-US" sz="10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Arial"/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="6248400" y="3697605"/>
          <a:ext cx="3581399" cy="944809"/>
        </p:xfrm>
        <a:graphic>
          <a:graphicData uri="http://schemas.openxmlformats.org/drawingml/2006/table">
            <a:tbl>
              <a:tblPr firstRow="1" bandRow="1">
                <a:tableStyleId>{BDF0A0EA-C916-463C-A3AD-4CCFBD9124EA}</a:tableStyleId>
              </a:tblPr>
              <a:tblGrid>
                <a:gridCol w="2422370"/>
                <a:gridCol w="1159029"/>
              </a:tblGrid>
              <a:tr h="20200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200"/>
                        <a:t>그룹</a:t>
                      </a:r>
                      <a:endParaRPr lang="ko-KR" altLang="en-US" sz="1200"/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200"/>
                        <a:t>표본 수</a:t>
                      </a:r>
                      <a:endParaRPr lang="ko-KR" altLang="en-US" sz="1200"/>
                    </a:p>
                  </a:txBody>
                  <a:tcPr marL="91440" marR="91440"/>
                </a:tc>
              </a:tr>
              <a:tr h="336197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Osteoporosis = 0 (정상군)</a:t>
                      </a:r>
                      <a:endParaRPr xmlns:mc="http://schemas.openxmlformats.org/markup-compatibility/2006" xmlns:hp="http://schemas.haansoft.com/office/presentation/8.0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3,475명</a:t>
                      </a:r>
                      <a:endParaRPr xmlns:mc="http://schemas.openxmlformats.org/markup-compatibility/2006" xmlns:hp="http://schemas.haansoft.com/office/presentation/8.0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/>
                </a:tc>
              </a:tr>
              <a:tr h="336197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Osteoporosis = 1 (골다공증군)</a:t>
                      </a:r>
                      <a:endParaRPr xmlns:mc="http://schemas.openxmlformats.org/markup-compatibility/2006" xmlns:hp="http://schemas.haansoft.com/office/presentation/8.0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486명</a:t>
                      </a:r>
                      <a:endParaRPr xmlns:mc="http://schemas.openxmlformats.org/markup-compatibility/2006" xmlns:hp="http://schemas.haansoft.com/office/presentation/8.0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7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ko-KR" altLang="en-US"/>
              <a:t>주요 </a:t>
            </a:r>
            <a:r>
              <a:rPr lang="en-US" altLang="ko-KR"/>
              <a:t>Tabular Data Field Analysis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>
          <a:xfrm>
            <a:off x="11056619" y="6419409"/>
            <a:ext cx="256540" cy="171891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3</a:t>
            </a:fld>
            <a:endParaRPr lang="en-US" spc="-25"/>
          </a:p>
        </p:txBody>
      </p:sp>
      <p:graphicFrame>
        <p:nvGraphicFramePr>
          <p:cNvPr id="20" name=""/>
          <p:cNvGraphicFramePr/>
          <p:nvPr/>
        </p:nvGraphicFramePr>
        <p:xfrm>
          <a:off x="695326" y="1143000"/>
          <a:ext cx="10801348" cy="2724150"/>
        </p:xfrm>
        <a:graphic>
          <a:graphicData uri="http://schemas.openxmlformats.org/drawingml/2006/table">
            <a:tbl>
              <a:tblPr firstRow="1" bandRow="1">
                <a:tableStyleId>{BDF0A0EA-C916-463C-A3AD-4CCFBD9124EA}</a:tableStyleId>
              </a:tblPr>
              <a:tblGrid>
                <a:gridCol w="1925347"/>
                <a:gridCol w="1925347"/>
                <a:gridCol w="994644"/>
                <a:gridCol w="992164"/>
                <a:gridCol w="992164"/>
                <a:gridCol w="987748"/>
                <a:gridCol w="994644"/>
                <a:gridCol w="994644"/>
                <a:gridCol w="994644"/>
              </a:tblGrid>
              <a:tr h="27241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200">
                          <a:latin typeface="맑은 고딕"/>
                        </a:rPr>
                        <a:t>변수</a:t>
                      </a:r>
                      <a:endParaRPr lang="ko-KR" altLang="en-US" sz="12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200">
                          <a:latin typeface="맑은 고딕"/>
                        </a:rPr>
                        <a:t>구분</a:t>
                      </a:r>
                      <a:endParaRPr lang="ko-KR" altLang="en-US" sz="12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mean</a:t>
                      </a:r>
                      <a:endParaRPr lang="en-US" altLang="ko-KR" sz="12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std</a:t>
                      </a:r>
                      <a:endParaRPr lang="en-US" altLang="ko-KR" sz="12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min</a:t>
                      </a:r>
                      <a:endParaRPr lang="en-US" altLang="ko-KR" sz="12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200">
                          <a:latin typeface="맑은 고딕"/>
                        </a:rPr>
                        <a:t>25%</a:t>
                      </a:r>
                      <a:endParaRPr lang="ko-KR" altLang="en-US" sz="12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200">
                          <a:latin typeface="맑은 고딕"/>
                        </a:rPr>
                        <a:t>50%</a:t>
                      </a:r>
                      <a:endParaRPr lang="ko-KR" altLang="en-US" sz="12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200">
                          <a:latin typeface="맑은 고딕"/>
                        </a:rPr>
                        <a:t>75%</a:t>
                      </a:r>
                      <a:endParaRPr lang="ko-KR" altLang="en-US" sz="12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max</a:t>
                      </a:r>
                      <a:endParaRPr lang="en-US" altLang="ko-KR" sz="1200"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272415">
                <a:tc rowSpan="3"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Age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ko-KR" altLang="en-US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전체</a:t>
                      </a:r>
                      <a:endParaRPr xmlns:mc="http://schemas.openxmlformats.org/markup-compatibility/2006" xmlns:hp="http://schemas.haansoft.com/office/presentation/8.0" lang="ko-KR" altLang="en-US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60.3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7.34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36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55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59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65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90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정상군(0)</a:t>
                      </a:r>
                      <a:endParaRPr xmlns:mc="http://schemas.openxmlformats.org/markup-compatibility/2006" xmlns:hp="http://schemas.haansoft.com/office/presentation/8.0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59.81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7.07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36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55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59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64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86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골다공증군(1)</a:t>
                      </a:r>
                      <a:endParaRPr xmlns:mc="http://schemas.openxmlformats.org/markup-compatibility/2006" xmlns:hp="http://schemas.haansoft.com/office/presentation/8.0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63.78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8.18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48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58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62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69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90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272415">
                <a:tc rowSpan="3"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BMI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ko-KR" altLang="en-US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전체</a:t>
                      </a:r>
                      <a:endParaRPr xmlns:mc="http://schemas.openxmlformats.org/markup-compatibility/2006" xmlns:hp="http://schemas.haansoft.com/office/presentation/8.0" lang="ko-KR" altLang="en-US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23.07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3.12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12.5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20.9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22.7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24.8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42.2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정상군(0)</a:t>
                      </a:r>
                      <a:endParaRPr xmlns:mc="http://schemas.openxmlformats.org/markup-compatibility/2006" xmlns:hp="http://schemas.haansoft.com/office/presentation/8.0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23.21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3.12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12.5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21.1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22.9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24.9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42.2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골다공증군(1)</a:t>
                      </a:r>
                      <a:endParaRPr xmlns:mc="http://schemas.openxmlformats.org/markup-compatibility/2006" xmlns:hp="http://schemas.haansoft.com/office/presentation/8.0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22.07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2.99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14.3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20.1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21.8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24.0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38.1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272415">
                <a:tc rowSpan="3"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BreastDensity(%)AVG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ko-KR" altLang="en-US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전체</a:t>
                      </a:r>
                      <a:endParaRPr xmlns:mc="http://schemas.openxmlformats.org/markup-compatibility/2006" xmlns:hp="http://schemas.haansoft.com/office/presentation/8.0" lang="ko-KR" altLang="en-US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26.75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11.45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3.13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19.26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24.81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32.28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89.30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정상군(0)</a:t>
                      </a:r>
                      <a:endParaRPr xmlns:mc="http://schemas.openxmlformats.org/markup-compatibility/2006" xmlns:hp="http://schemas.haansoft.com/office/presentation/8.0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26.59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11.24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3.13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19.18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24.78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32.15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89.30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272415">
                <a:tc vMerge="1">
                  <a:txBody>
                    <a:bodyPr vert="horz" lIns="91440" tIns="45720" rIns="91440" bIns="45720" anchor="t" anchorCtr="0"/>
                    <a:p>
                      <a:pPr>
                        <a:defRPr/>
                      </a:pPr>
                      <a:endParaRPr lang="ko-KR" altLang="en-US"/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골다공증군(1)</a:t>
                      </a:r>
                      <a:endParaRPr xmlns:mc="http://schemas.openxmlformats.org/markup-compatibility/2006" xmlns:hp="http://schemas.haansoft.com/office/presentation/8.0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27.87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12.81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5.12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19.78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24.96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33.53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84.95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grpSp>
        <p:nvGrpSpPr>
          <p:cNvPr id="28" name=""/>
          <p:cNvGrpSpPr/>
          <p:nvPr/>
        </p:nvGrpSpPr>
        <p:grpSpPr>
          <a:xfrm rot="0">
            <a:off x="695325" y="4060507"/>
            <a:ext cx="10801350" cy="2340292"/>
            <a:chOff x="214884" y="1268730"/>
            <a:chExt cx="11087100" cy="2340292"/>
          </a:xfrm>
        </p:grpSpPr>
        <p:pic>
          <p:nvPicPr>
            <p:cNvPr id="29" name="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214884" y="1268730"/>
              <a:ext cx="3744467" cy="2340292"/>
            </a:xfrm>
            <a:prstGeom prst="rect">
              <a:avLst/>
            </a:prstGeom>
          </p:spPr>
        </p:pic>
        <p:pic>
          <p:nvPicPr>
            <p:cNvPr id="30" name="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886200" y="1268730"/>
              <a:ext cx="3744468" cy="2340292"/>
            </a:xfrm>
            <a:prstGeom prst="rect">
              <a:avLst/>
            </a:prstGeom>
          </p:spPr>
        </p:pic>
        <p:pic>
          <p:nvPicPr>
            <p:cNvPr id="31" name="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7557516" y="1268730"/>
              <a:ext cx="3744468" cy="234029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7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ko-KR" altLang="en-US"/>
              <a:t>주요 </a:t>
            </a:r>
            <a:r>
              <a:rPr lang="en-US" altLang="ko-KR"/>
              <a:t>Tabular Data Field Analysis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>
          <a:xfrm>
            <a:off x="11056619" y="6419409"/>
            <a:ext cx="256540" cy="171891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4</a:t>
            </a:fld>
            <a:endParaRPr lang="en-US" spc="-25"/>
          </a:p>
        </p:txBody>
      </p:sp>
      <p:sp>
        <p:nvSpPr>
          <p:cNvPr id="32" name=""/>
          <p:cNvSpPr/>
          <p:nvPr/>
        </p:nvSpPr>
        <p:spPr>
          <a:xfrm>
            <a:off x="990600" y="3850006"/>
            <a:ext cx="9144000" cy="26536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marL="0" indent="0" algn="l">
              <a:lnSpc>
                <a:spcPct val="150000"/>
              </a:lnSpc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lang="en-US" altLang="ko-KR" sz="16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Y label</a:t>
            </a:r>
            <a:r>
              <a:rPr xmlns:mc="http://schemas.openxmlformats.org/markup-compatibility/2006" xmlns:hp="http://schemas.haansoft.com/office/presentation/8.0" lang="ko-KR" altLang="en-US" sz="16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을 </a:t>
            </a:r>
            <a:r>
              <a:rPr xmlns:mc="http://schemas.openxmlformats.org/markup-compatibility/2006" xmlns:hp="http://schemas.haansoft.com/office/presentation/8.0" lang="en-US" altLang="ko-KR" sz="16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Density</a:t>
            </a:r>
            <a:r>
              <a:rPr xmlns:mc="http://schemas.openxmlformats.org/markup-compatibility/2006" xmlns:hp="http://schemas.haansoft.com/office/presentation/8.0" lang="ko-KR" altLang="en-US" sz="16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로 한 이유</a:t>
            </a:r>
            <a:endParaRPr xmlns:mc="http://schemas.openxmlformats.org/markup-compatibility/2006" xmlns:hp="http://schemas.haansoft.com/office/presentation/8.0" lang="ko-KR" altLang="en-US" sz="1600" b="1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0" indent="0" algn="l">
              <a:lnSpc>
                <a:spcPct val="150000"/>
              </a:lnSpc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lang="en-US" altLang="ko-KR" sz="16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-</a:t>
            </a:r>
            <a:r>
              <a:rPr xmlns:mc="http://schemas.openxmlformats.org/markup-compatibility/2006" xmlns:hp="http://schemas.haansoft.com/office/presentation/8.0" lang="ko-KR" altLang="en-US" sz="16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의미 있는 분포 비교를 위해</a:t>
            </a:r>
            <a:endParaRPr xmlns:mc="http://schemas.openxmlformats.org/markup-compatibility/2006" xmlns:hp="http://schemas.haansoft.com/office/presentation/8.0" lang="ko-KR" altLang="en-US" sz="1600" b="1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28480" indent="-228480" algn="l">
              <a:lnSpc>
                <a:spcPct val="150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ko-KR" altLang="en-US" sz="16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샘플 수가 다르면 </a:t>
            </a:r>
            <a:r>
              <a:rPr xmlns:mc="http://schemas.openxmlformats.org/markup-compatibility/2006" xmlns:hp="http://schemas.haansoft.com/office/presentation/8.0" lang="en-US" altLang="ko-KR" sz="16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Histogram </a:t>
            </a:r>
            <a:r>
              <a:rPr xmlns:mc="http://schemas.openxmlformats.org/markup-compatibility/2006" xmlns:hp="http://schemas.haansoft.com/office/presentation/8.0" lang="ko-KR" altLang="en-US" sz="16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비교가 왜곡됨</a:t>
            </a:r>
            <a:endParaRPr xmlns:mc="http://schemas.openxmlformats.org/markup-compatibility/2006" xmlns:hp="http://schemas.haansoft.com/office/presentation/8.0" lang="ko-KR" altLang="en-US" sz="160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28480" indent="-228480" algn="l">
              <a:lnSpc>
                <a:spcPct val="150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ko-KR" altLang="en-US" sz="16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막대그래프는 실제 데이터의 빈도</a:t>
            </a:r>
            <a:endParaRPr xmlns:mc="http://schemas.openxmlformats.org/markup-compatibility/2006" xmlns:hp="http://schemas.haansoft.com/office/presentation/8.0" lang="ko-KR" altLang="en-US" sz="160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28480" indent="-228480" algn="l">
              <a:lnSpc>
                <a:spcPct val="150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ko-KR" altLang="en-US" sz="16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Density는 “확률 분포의 형태”를 정상화해 비교 가능하게 해줌</a:t>
            </a:r>
            <a:endParaRPr xmlns:mc="http://schemas.openxmlformats.org/markup-compatibility/2006" xmlns:hp="http://schemas.haansoft.com/office/presentation/8.0" lang="ko-KR" altLang="en-US" sz="160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0" lvl="2" indent="0" algn="l">
              <a:lnSpc>
                <a:spcPct val="150000"/>
              </a:lnSpc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16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 </a:t>
            </a:r>
            <a:r>
              <a:rPr xmlns:mc="http://schemas.openxmlformats.org/markup-compatibility/2006" xmlns:hp="http://schemas.haansoft.com/office/presentation/8.0" lang="en-US" altLang="ko-KR" sz="14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&gt;</a:t>
            </a:r>
            <a:r>
              <a:rPr xmlns:mc="http://schemas.openxmlformats.org/markup-compatibility/2006" xmlns:hp="http://schemas.haansoft.com/office/presentation/8.0" lang="ko-KR" altLang="en-US" sz="14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면적 </a:t>
            </a:r>
            <a:r>
              <a:rPr xmlns:mc="http://schemas.openxmlformats.org/markup-compatibility/2006" xmlns:hp="http://schemas.haansoft.com/office/presentation/8.0" lang="en-US" altLang="ko-KR" sz="14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=</a:t>
            </a:r>
            <a:r>
              <a:rPr xmlns:mc="http://schemas.openxmlformats.org/markup-compatibility/2006" xmlns:hp="http://schemas.haansoft.com/office/presentation/8.0" lang="ko-KR" altLang="en-US" sz="14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lang="en-US" altLang="ko-KR" sz="14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1,</a:t>
            </a:r>
            <a:r>
              <a:rPr xmlns:mc="http://schemas.openxmlformats.org/markup-compatibility/2006" xmlns:hp="http://schemas.haansoft.com/office/presentation/8.0" lang="ko-KR" altLang="en-US" sz="14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샘플 수에 무관</a:t>
            </a:r>
            <a:r>
              <a:rPr xmlns:mc="http://schemas.openxmlformats.org/markup-compatibility/2006" xmlns:hp="http://schemas.haansoft.com/office/presentation/8.0" lang="en-US" altLang="ko-KR" sz="14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,</a:t>
            </a:r>
            <a:r>
              <a:rPr xmlns:mc="http://schemas.openxmlformats.org/markup-compatibility/2006" xmlns:hp="http://schemas.haansoft.com/office/presentation/8.0" lang="ko-KR" altLang="en-US" sz="14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분포의 중심</a:t>
            </a:r>
            <a:r>
              <a:rPr xmlns:mc="http://schemas.openxmlformats.org/markup-compatibility/2006" xmlns:hp="http://schemas.haansoft.com/office/presentation/8.0" lang="en-US" altLang="en-US" sz="14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·</a:t>
            </a:r>
            <a:r>
              <a:rPr xmlns:mc="http://schemas.openxmlformats.org/markup-compatibility/2006" xmlns:hp="http://schemas.haansoft.com/office/presentation/8.0" lang="ko-KR" altLang="en-US" sz="14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폭</a:t>
            </a:r>
            <a:r>
              <a:rPr xmlns:mc="http://schemas.openxmlformats.org/markup-compatibility/2006" xmlns:hp="http://schemas.haansoft.com/office/presentation/8.0" lang="en-US" altLang="en-US" sz="14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·</a:t>
            </a:r>
            <a:r>
              <a:rPr xmlns:mc="http://schemas.openxmlformats.org/markup-compatibility/2006" xmlns:hp="http://schemas.haansoft.com/office/presentation/8.0" lang="ko-KR" altLang="en-US" sz="14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꼬리 형태 비교 용이</a:t>
            </a:r>
            <a:endParaRPr xmlns:mc="http://schemas.openxmlformats.org/markup-compatibility/2006" xmlns:hp="http://schemas.haansoft.com/office/presentation/8.0" lang="ko-KR" altLang="en-US" sz="160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28480" lvl="2" indent="-228480" algn="l">
              <a:lnSpc>
                <a:spcPct val="150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ko-KR" altLang="en-US" sz="16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곡선 함수는 </a:t>
            </a:r>
            <a:r>
              <a:rPr xmlns:mc="http://schemas.openxmlformats.org/markup-compatibility/2006" xmlns:hp="http://schemas.haansoft.com/office/presentation/8.0" lang="en-US" altLang="ko-KR" sz="16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KDE(</a:t>
            </a:r>
            <a:r>
              <a:rPr xmlns:mc="http://schemas.openxmlformats.org/markup-compatibility/2006" xmlns:hp="http://schemas.haansoft.com/office/presentation/8.0" lang="ko-KR" altLang="en-US" sz="16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커널밀도추정</a:t>
            </a:r>
            <a:r>
              <a:rPr xmlns:mc="http://schemas.openxmlformats.org/markup-compatibility/2006" xmlns:hp="http://schemas.haansoft.com/office/presentation/8.0" lang="en-US" altLang="ko-KR" sz="16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)</a:t>
            </a:r>
            <a:r>
              <a:rPr xmlns:mc="http://schemas.openxmlformats.org/markup-compatibility/2006" xmlns:hp="http://schemas.haansoft.com/office/presentation/8.0" lang="ko-KR" altLang="en-US" sz="160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로 확률 밀도 함수를 통해 분포 확인</a:t>
            </a:r>
            <a:endParaRPr xmlns:mc="http://schemas.openxmlformats.org/markup-compatibility/2006" xmlns:hp="http://schemas.haansoft.com/office/presentation/8.0" lang="ko-KR" altLang="en-US" sz="160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grpSp>
        <p:nvGrpSpPr>
          <p:cNvPr id="38" name=""/>
          <p:cNvGrpSpPr/>
          <p:nvPr/>
        </p:nvGrpSpPr>
        <p:grpSpPr>
          <a:xfrm rot="0">
            <a:off x="695325" y="1219200"/>
            <a:ext cx="10801350" cy="2340292"/>
            <a:chOff x="214884" y="1268730"/>
            <a:chExt cx="11087100" cy="2340292"/>
          </a:xfrm>
        </p:grpSpPr>
        <p:pic>
          <p:nvPicPr>
            <p:cNvPr id="35" name="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214884" y="1268730"/>
              <a:ext cx="3744467" cy="2340292"/>
            </a:xfrm>
            <a:prstGeom prst="rect">
              <a:avLst/>
            </a:prstGeom>
          </p:spPr>
        </p:pic>
        <p:pic>
          <p:nvPicPr>
            <p:cNvPr id="36" name="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886200" y="1268730"/>
              <a:ext cx="3744468" cy="2340292"/>
            </a:xfrm>
            <a:prstGeom prst="rect">
              <a:avLst/>
            </a:prstGeom>
          </p:spPr>
        </p:pic>
        <p:pic>
          <p:nvPicPr>
            <p:cNvPr id="37" name="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7557516" y="1268730"/>
              <a:ext cx="3744468" cy="2340292"/>
            </a:xfrm>
            <a:prstGeom prst="rect">
              <a:avLst/>
            </a:prstGeom>
          </p:spPr>
        </p:pic>
      </p:grpSp>
      <p:graphicFrame>
        <p:nvGraphicFramePr>
          <p:cNvPr id="39" name=""/>
          <p:cNvGraphicFramePr/>
          <p:nvPr/>
        </p:nvGraphicFramePr>
        <p:xfrm>
          <a:off x="8534400" y="3678555"/>
          <a:ext cx="3048000" cy="817245"/>
        </p:xfrm>
        <a:graphic>
          <a:graphicData uri="http://schemas.openxmlformats.org/drawingml/2006/table">
            <a:tbl>
              <a:tblPr firstRow="1" bandRow="1">
                <a:tableStyleId>{BDF0A0EA-C916-463C-A3AD-4CCFBD9124EA}</a:tableStyleId>
              </a:tblPr>
              <a:tblGrid>
                <a:gridCol w="2267751"/>
                <a:gridCol w="780248"/>
              </a:tblGrid>
              <a:tr h="272415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200">
                          <a:latin typeface="맑은 고딕"/>
                          <a:ea typeface="맑은 고딕"/>
                        </a:rPr>
                        <a:t>그룹</a:t>
                      </a:r>
                      <a:endParaRPr lang="ko-KR" altLang="en-US" sz="1200">
                        <a:latin typeface="맑은 고딕"/>
                        <a:ea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200">
                          <a:latin typeface="맑은 고딕"/>
                          <a:ea typeface="맑은 고딕"/>
                        </a:rPr>
                        <a:t>표본 수</a:t>
                      </a:r>
                      <a:endParaRPr lang="ko-KR" altLang="en-US" sz="1200">
                        <a:latin typeface="맑은 고딕"/>
                        <a:ea typeface="맑은 고딕"/>
                      </a:endParaRPr>
                    </a:p>
                  </a:txBody>
                  <a:tcPr marL="91440" marR="91440"/>
                </a:tc>
              </a:tr>
              <a:tr h="27241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Osteoporosis = 0 (정상군)</a:t>
                      </a:r>
                      <a:endParaRPr xmlns:mc="http://schemas.openxmlformats.org/markup-compatibility/2006" xmlns:hp="http://schemas.haansoft.com/office/presentation/8.0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r"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3,475</a:t>
                      </a:r>
                      <a:endParaRPr xmlns:mc="http://schemas.openxmlformats.org/markup-compatibility/2006" xmlns:hp="http://schemas.haansoft.com/office/presentation/8.0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/>
                </a:tc>
              </a:tr>
              <a:tr h="272415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Osteoporosis = 1 (골다공증군)</a:t>
                      </a:r>
                      <a:endParaRPr xmlns:mc="http://schemas.openxmlformats.org/markup-compatibility/2006" xmlns:hp="http://schemas.haansoft.com/office/presentation/8.0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r"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486</a:t>
                      </a:r>
                      <a:endParaRPr xmlns:mc="http://schemas.openxmlformats.org/markup-compatibility/2006" xmlns:hp="http://schemas.haansoft.com/office/presentation/8.0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7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ko-KR" altLang="en-US"/>
              <a:t>주요 </a:t>
            </a:r>
            <a:r>
              <a:rPr lang="en-US" altLang="ko-KR"/>
              <a:t>Tabular Data Field Analysis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>
          <a:xfrm>
            <a:off x="11056619" y="6419409"/>
            <a:ext cx="256540" cy="171891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5</a:t>
            </a:fld>
            <a:endParaRPr lang="en-US" spc="-25"/>
          </a:p>
        </p:txBody>
      </p:sp>
      <p:grpSp>
        <p:nvGrpSpPr>
          <p:cNvPr id="38" name=""/>
          <p:cNvGrpSpPr/>
          <p:nvPr/>
        </p:nvGrpSpPr>
        <p:grpSpPr>
          <a:xfrm rot="0">
            <a:off x="695325" y="1219200"/>
            <a:ext cx="10801350" cy="2340292"/>
            <a:chOff x="214884" y="1268730"/>
            <a:chExt cx="11087100" cy="2340292"/>
          </a:xfrm>
        </p:grpSpPr>
        <p:pic>
          <p:nvPicPr>
            <p:cNvPr id="35" name="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214884" y="1268730"/>
              <a:ext cx="3744467" cy="2340292"/>
            </a:xfrm>
            <a:prstGeom prst="rect">
              <a:avLst/>
            </a:prstGeom>
          </p:spPr>
        </p:pic>
        <p:pic>
          <p:nvPicPr>
            <p:cNvPr id="36" name="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886200" y="1268730"/>
              <a:ext cx="3744468" cy="2340292"/>
            </a:xfrm>
            <a:prstGeom prst="rect">
              <a:avLst/>
            </a:prstGeom>
          </p:spPr>
        </p:pic>
        <p:pic>
          <p:nvPicPr>
            <p:cNvPr id="37" name="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7557516" y="1268730"/>
              <a:ext cx="3744468" cy="2340292"/>
            </a:xfrm>
            <a:prstGeom prst="rect">
              <a:avLst/>
            </a:prstGeom>
          </p:spPr>
        </p:pic>
      </p:grpSp>
      <p:grpSp>
        <p:nvGrpSpPr>
          <p:cNvPr id="43" name=""/>
          <p:cNvGrpSpPr/>
          <p:nvPr/>
        </p:nvGrpSpPr>
        <p:grpSpPr>
          <a:xfrm rot="0">
            <a:off x="695324" y="3962400"/>
            <a:ext cx="10801351" cy="2340293"/>
            <a:chOff x="695325" y="3679507"/>
            <a:chExt cx="10801351" cy="2340293"/>
          </a:xfrm>
        </p:grpSpPr>
        <p:pic>
          <p:nvPicPr>
            <p:cNvPr id="40" name="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695325" y="3679507"/>
              <a:ext cx="3744468" cy="2340292"/>
            </a:xfrm>
            <a:prstGeom prst="rect">
              <a:avLst/>
            </a:prstGeom>
          </p:spPr>
        </p:pic>
        <p:pic>
          <p:nvPicPr>
            <p:cNvPr id="41" name=""/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>
              <a:off x="4223766" y="3679508"/>
              <a:ext cx="3744468" cy="2340292"/>
            </a:xfrm>
            <a:prstGeom prst="rect">
              <a:avLst/>
            </a:prstGeom>
          </p:spPr>
        </p:pic>
        <p:pic>
          <p:nvPicPr>
            <p:cNvPr id="42" name=""/>
            <p:cNvPicPr>
              <a:picLocks noChangeAspect="1"/>
            </p:cNvPicPr>
            <p:nvPr/>
          </p:nvPicPr>
          <p:blipFill rotWithShape="1">
            <a:blip r:embed="rId7"/>
            <a:stretch>
              <a:fillRect/>
            </a:stretch>
          </p:blipFill>
          <p:spPr>
            <a:xfrm>
              <a:off x="7752207" y="3679507"/>
              <a:ext cx="3744468" cy="2340292"/>
            </a:xfrm>
            <a:prstGeom prst="rect">
              <a:avLst/>
            </a:prstGeom>
          </p:spPr>
        </p:pic>
      </p:grpSp>
      <p:sp>
        <p:nvSpPr>
          <p:cNvPr id="44" name=""/>
          <p:cNvSpPr/>
          <p:nvPr/>
        </p:nvSpPr>
        <p:spPr>
          <a:xfrm>
            <a:off x="685800" y="914400"/>
            <a:ext cx="9383078" cy="40386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marL="228480" indent="-228480" algn="l">
              <a:lnSpc>
                <a:spcPct val="130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altLang="ko-KR" sz="1600" b="1" i="0" strike="noStrike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Peak</a:t>
            </a:r>
            <a:endParaRPr xmlns:mc="http://schemas.openxmlformats.org/markup-compatibility/2006" xmlns:hp="http://schemas.haansoft.com/office/presentation/8.0" lang="en-US" altLang="ko-KR" sz="1600" b="1" i="0" strike="noStrike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5" name=""/>
          <p:cNvSpPr/>
          <p:nvPr/>
        </p:nvSpPr>
        <p:spPr>
          <a:xfrm>
            <a:off x="685800" y="3581400"/>
            <a:ext cx="9383078" cy="40386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marL="228480" indent="-228480" algn="l">
              <a:lnSpc>
                <a:spcPct val="130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altLang="ko-KR" sz="1600" b="1" i="0" strike="noStrike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Mean</a:t>
            </a:r>
            <a:endParaRPr xmlns:mc="http://schemas.openxmlformats.org/markup-compatibility/2006" xmlns:hp="http://schemas.haansoft.com/office/presentation/8.0" lang="en-US" altLang="ko-KR" sz="1600" b="1" i="0" strike="noStrike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7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ko-KR" altLang="en-US"/>
              <a:t>주요 </a:t>
            </a:r>
            <a:r>
              <a:rPr lang="en-US" altLang="ko-KR"/>
              <a:t>Tabular Data Field Analysis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>
          <a:xfrm>
            <a:off x="11056619" y="6419409"/>
            <a:ext cx="256540" cy="171891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6</a:t>
            </a:fld>
            <a:endParaRPr lang="en-US" spc="-25"/>
          </a:p>
        </p:txBody>
      </p:sp>
      <p:grpSp>
        <p:nvGrpSpPr>
          <p:cNvPr id="38" name=""/>
          <p:cNvGrpSpPr/>
          <p:nvPr/>
        </p:nvGrpSpPr>
        <p:grpSpPr>
          <a:xfrm rot="0">
            <a:off x="695325" y="1219200"/>
            <a:ext cx="10801350" cy="2340292"/>
            <a:chOff x="214884" y="1268730"/>
            <a:chExt cx="11087100" cy="2340292"/>
          </a:xfrm>
        </p:grpSpPr>
        <p:pic>
          <p:nvPicPr>
            <p:cNvPr id="35" name="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214884" y="1268730"/>
              <a:ext cx="3744467" cy="2340292"/>
            </a:xfrm>
            <a:prstGeom prst="rect">
              <a:avLst/>
            </a:prstGeom>
          </p:spPr>
        </p:pic>
        <p:pic>
          <p:nvPicPr>
            <p:cNvPr id="36" name="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886200" y="1268730"/>
              <a:ext cx="3744468" cy="2340292"/>
            </a:xfrm>
            <a:prstGeom prst="rect">
              <a:avLst/>
            </a:prstGeom>
          </p:spPr>
        </p:pic>
        <p:pic>
          <p:nvPicPr>
            <p:cNvPr id="37" name="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7557516" y="1268730"/>
              <a:ext cx="3744468" cy="2340292"/>
            </a:xfrm>
            <a:prstGeom prst="rect">
              <a:avLst/>
            </a:prstGeom>
          </p:spPr>
        </p:pic>
      </p:grpSp>
      <p:grpSp>
        <p:nvGrpSpPr>
          <p:cNvPr id="43" name=""/>
          <p:cNvGrpSpPr/>
          <p:nvPr/>
        </p:nvGrpSpPr>
        <p:grpSpPr>
          <a:xfrm rot="0">
            <a:off x="695324" y="3962400"/>
            <a:ext cx="10801351" cy="2340293"/>
            <a:chOff x="695325" y="3679507"/>
            <a:chExt cx="10801351" cy="2340293"/>
          </a:xfrm>
        </p:grpSpPr>
        <p:pic>
          <p:nvPicPr>
            <p:cNvPr id="40" name="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695325" y="3679507"/>
              <a:ext cx="3744468" cy="2340292"/>
            </a:xfrm>
            <a:prstGeom prst="rect">
              <a:avLst/>
            </a:prstGeom>
          </p:spPr>
        </p:pic>
        <p:pic>
          <p:nvPicPr>
            <p:cNvPr id="41" name=""/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>
              <a:off x="4223766" y="3679508"/>
              <a:ext cx="3744468" cy="2340292"/>
            </a:xfrm>
            <a:prstGeom prst="rect">
              <a:avLst/>
            </a:prstGeom>
          </p:spPr>
        </p:pic>
        <p:pic>
          <p:nvPicPr>
            <p:cNvPr id="42" name=""/>
            <p:cNvPicPr>
              <a:picLocks noChangeAspect="1"/>
            </p:cNvPicPr>
            <p:nvPr/>
          </p:nvPicPr>
          <p:blipFill rotWithShape="1">
            <a:blip r:embed="rId7"/>
            <a:stretch>
              <a:fillRect/>
            </a:stretch>
          </p:blipFill>
          <p:spPr>
            <a:xfrm>
              <a:off x="7752207" y="3679507"/>
              <a:ext cx="3744468" cy="2340292"/>
            </a:xfrm>
            <a:prstGeom prst="rect">
              <a:avLst/>
            </a:prstGeom>
          </p:spPr>
        </p:pic>
      </p:grpSp>
      <p:sp>
        <p:nvSpPr>
          <p:cNvPr id="44" name=""/>
          <p:cNvSpPr/>
          <p:nvPr/>
        </p:nvSpPr>
        <p:spPr>
          <a:xfrm>
            <a:off x="685800" y="914400"/>
            <a:ext cx="9383078" cy="40386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marL="228480" indent="-228480" algn="l">
              <a:lnSpc>
                <a:spcPct val="130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altLang="ko-KR" sz="1600" b="1" i="0" strike="noStrike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Peak</a:t>
            </a:r>
            <a:endParaRPr xmlns:mc="http://schemas.openxmlformats.org/markup-compatibility/2006" xmlns:hp="http://schemas.haansoft.com/office/presentation/8.0" lang="en-US" altLang="ko-KR" sz="1600" b="1" i="0" strike="noStrike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5" name=""/>
          <p:cNvSpPr/>
          <p:nvPr/>
        </p:nvSpPr>
        <p:spPr>
          <a:xfrm>
            <a:off x="685800" y="3581400"/>
            <a:ext cx="9383078" cy="40386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marL="228480" indent="-228480" algn="l">
              <a:lnSpc>
                <a:spcPct val="130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en-US" altLang="ko-KR" sz="1600" b="1" i="0" strike="noStrike" mc:Ignorable="hp" hp:hslEmbossed="0">
                <a:solidFill>
                  <a:srgbClr val="000000"/>
                </a:solidFill>
                <a:latin typeface="맑은 고딕"/>
                <a:ea typeface="맑은 고딕"/>
              </a:rPr>
              <a:t>Mean</a:t>
            </a:r>
            <a:endParaRPr xmlns:mc="http://schemas.openxmlformats.org/markup-compatibility/2006" xmlns:hp="http://schemas.haansoft.com/office/presentation/8.0" lang="en-US" altLang="ko-KR" sz="1600" b="1" i="0" strike="noStrike" mc:Ignorable="hp" hp:hslEmbossed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6" name=""/>
          <p:cNvSpPr/>
          <p:nvPr/>
        </p:nvSpPr>
        <p:spPr>
          <a:xfrm>
            <a:off x="7848600" y="990600"/>
            <a:ext cx="3733800" cy="5334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altLang="ko-KR"/>
          </a:p>
        </p:txBody>
      </p:sp>
      <p:sp>
        <p:nvSpPr>
          <p:cNvPr id="47" name=""/>
          <p:cNvSpPr/>
          <p:nvPr/>
        </p:nvSpPr>
        <p:spPr>
          <a:xfrm>
            <a:off x="3276600" y="2895600"/>
            <a:ext cx="4419600" cy="1447800"/>
          </a:xfrm>
          <a:prstGeom prst="rect">
            <a:avLst/>
          </a:prstGeom>
          <a:solidFill>
            <a:srgbClr val="eeeac9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lnSpc>
                <a:spcPct val="150000"/>
              </a:lnSpc>
              <a:defRPr/>
            </a:pPr>
            <a:r>
              <a:rPr lang="en-US" altLang="ko-KR">
                <a:solidFill>
                  <a:schemeClr val="tx1"/>
                </a:solidFill>
              </a:rPr>
              <a:t>BreastDensity</a:t>
            </a:r>
            <a:r>
              <a:rPr lang="ko-KR" altLang="en-US">
                <a:solidFill>
                  <a:schemeClr val="tx1"/>
                </a:solidFill>
              </a:rPr>
              <a:t> 분포를 확인할 때</a:t>
            </a:r>
            <a:r>
              <a:rPr lang="en-US" altLang="ko-KR">
                <a:solidFill>
                  <a:schemeClr val="tx1"/>
                </a:solidFill>
              </a:rPr>
              <a:t>,</a:t>
            </a:r>
            <a:endParaRPr lang="en-US" altLang="ko-KR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>
                <a:solidFill>
                  <a:schemeClr val="tx1"/>
                </a:solidFill>
              </a:rPr>
              <a:t>Peak</a:t>
            </a:r>
            <a:r>
              <a:rPr lang="ko-KR" altLang="en-US">
                <a:solidFill>
                  <a:schemeClr val="tx1"/>
                </a:solidFill>
              </a:rPr>
              <a:t>로 비교하면 정상군이 더 크고</a:t>
            </a:r>
            <a:r>
              <a:rPr lang="en-US" altLang="ko-KR">
                <a:solidFill>
                  <a:schemeClr val="tx1"/>
                </a:solidFill>
              </a:rPr>
              <a:t>,</a:t>
            </a:r>
            <a:endParaRPr lang="ko-KR" altLang="en-US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>
                <a:solidFill>
                  <a:schemeClr val="tx1"/>
                </a:solidFill>
              </a:rPr>
              <a:t>Mean</a:t>
            </a:r>
            <a:r>
              <a:rPr lang="ko-KR" altLang="en-US">
                <a:solidFill>
                  <a:schemeClr val="tx1"/>
                </a:solidFill>
              </a:rPr>
              <a:t>으로 비교하면 골다공증군이 더 큼</a:t>
            </a:r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 idx="0"/>
          </p:nvPr>
        </p:nvSpPr>
        <p:spPr>
          <a:xfrm>
            <a:off x="609701" y="446405"/>
            <a:ext cx="11353699" cy="42037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ko-KR" altLang="en-US"/>
              <a:t>주요 </a:t>
            </a:r>
            <a:r>
              <a:rPr lang="en-US" altLang="ko-KR"/>
              <a:t>Tabular Data Field Analysis</a:t>
            </a:r>
            <a:endParaRPr lang="en-US" altLang="ko-KR"/>
          </a:p>
        </p:txBody>
      </p:sp>
      <p:sp>
        <p:nvSpPr>
          <p:cNvPr id="12" name="Holder 6"/>
          <p:cNvSpPr>
            <a:spLocks noGrp="1"/>
          </p:cNvSpPr>
          <p:nvPr>
            <p:ph type="sldNum" sz="quarter" idx="7"/>
          </p:nvPr>
        </p:nvSpPr>
        <p:spPr>
          <a:xfrm>
            <a:off x="11056619" y="6419409"/>
            <a:ext cx="256540" cy="171891"/>
          </a:xfrm>
        </p:spPr>
        <p:txBody>
          <a:bodyPr/>
          <a:lstStyle/>
          <a:p>
            <a:pPr marL="38100">
              <a:lnSpc>
                <a:spcPct val="100000"/>
              </a:lnSpc>
              <a:spcBef>
                <a:spcPts val="204"/>
              </a:spcBef>
              <a:defRPr/>
            </a:pPr>
            <a:fld id="{81D60167-4931-47E6-BA6A-407CBD079E47}" type="slidenum">
              <a:rPr lang="en-US" spc="-25"/>
              <a:pPr marL="38100">
                <a:lnSpc>
                  <a:spcPct val="100000"/>
                </a:lnSpc>
                <a:spcBef>
                  <a:spcPts val="204"/>
                </a:spcBef>
                <a:defRPr/>
              </a:pPr>
              <a:t>7</a:t>
            </a:fld>
            <a:endParaRPr lang="en-US" spc="-25"/>
          </a:p>
        </p:txBody>
      </p:sp>
      <p:sp>
        <p:nvSpPr>
          <p:cNvPr id="32" name=""/>
          <p:cNvSpPr/>
          <p:nvPr/>
        </p:nvSpPr>
        <p:spPr>
          <a:xfrm>
            <a:off x="685800" y="2966084"/>
            <a:ext cx="9383078" cy="38995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marL="0" indent="0" algn="l">
              <a:lnSpc>
                <a:spcPct val="130000"/>
              </a:lnSpc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lang="en-US" altLang="ko-KR" sz="16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Age</a:t>
            </a:r>
            <a:endParaRPr xmlns:mc="http://schemas.openxmlformats.org/markup-compatibility/2006" xmlns:hp="http://schemas.haansoft.com/office/presentation/8.0" lang="en-US" altLang="ko-KR" sz="1600" b="1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28480" indent="-228480" algn="l">
              <a:lnSpc>
                <a:spcPct val="130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골다공증군의</a:t>
            </a:r>
            <a:r>
              <a:rPr xmlns:mc="http://schemas.openxmlformats.org/markup-compatibility/2006" xmlns:hp="http://schemas.haansoft.com/office/presentation/8.0" lang="en-US" altLang="ko-KR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lang="ko-KR" altLang="en-US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나이</a:t>
            </a: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가 유의하게 </a:t>
            </a:r>
            <a:r>
              <a:rPr xmlns:mc="http://schemas.openxmlformats.org/markup-compatibility/2006" xmlns:hp="http://schemas.haansoft.com/office/presentation/8.0" lang="ko-KR" altLang="en-US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높</a:t>
            </a: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음</a:t>
            </a:r>
            <a:r>
              <a:rPr xmlns:mc="http://schemas.openxmlformats.org/markup-compatibility/2006" xmlns:hp="http://schemas.haansoft.com/office/presentation/8.0" lang="ko-KR" altLang="en-US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(p&lt;0.001).</a:t>
            </a:r>
            <a:endParaRPr xmlns:mc="http://schemas.openxmlformats.org/markup-compatibility/2006" xmlns:hp="http://schemas.haansoft.com/office/presentation/8.0" sz="16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28480" indent="-228480" algn="l">
              <a:lnSpc>
                <a:spcPct val="130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ko-KR" altLang="en-US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높은 연령대일수록 골다공증 위험 높음</a:t>
            </a:r>
            <a:endParaRPr xmlns:mc="http://schemas.openxmlformats.org/markup-compatibility/2006" xmlns:hp="http://schemas.haansoft.com/office/presentation/8.0" lang="ko-KR" altLang="en-US" sz="16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0" indent="0" algn="l">
              <a:lnSpc>
                <a:spcPct val="130000"/>
              </a:lnSpc>
              <a:buFont typeface="Arial"/>
              <a:buNone/>
              <a:defRPr/>
            </a:pPr>
            <a:endParaRPr xmlns:mc="http://schemas.openxmlformats.org/markup-compatibility/2006" xmlns:hp="http://schemas.haansoft.com/office/presentation/8.0" sz="1600" b="1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0" indent="0" algn="l">
              <a:lnSpc>
                <a:spcPct val="130000"/>
              </a:lnSpc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sz="16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BMI</a:t>
            </a:r>
            <a:endParaRPr xmlns:mc="http://schemas.openxmlformats.org/markup-compatibility/2006" xmlns:hp="http://schemas.haansoft.com/office/presentation/8.0" sz="1600" b="1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28480" indent="-228480" algn="l">
              <a:lnSpc>
                <a:spcPct val="130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골다공증군의</a:t>
            </a:r>
            <a:r>
              <a:rPr xmlns:mc="http://schemas.openxmlformats.org/markup-compatibility/2006" xmlns:hp="http://schemas.haansoft.com/office/presentation/8.0" lang="en-US" altLang="ko-KR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</a:t>
            </a: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BMI가 유의하게 낮음(p&lt;0.001).</a:t>
            </a:r>
            <a:endParaRPr xmlns:mc="http://schemas.openxmlformats.org/markup-compatibility/2006" xmlns:hp="http://schemas.haansoft.com/office/presentation/8.0" sz="16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28480" indent="-228480" algn="l">
              <a:lnSpc>
                <a:spcPct val="130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저체중일수록 골다공증 위험이 높은 기존 연구 경향과 일치.</a:t>
            </a:r>
            <a:endParaRPr xmlns:mc="http://schemas.openxmlformats.org/markup-compatibility/2006" xmlns:hp="http://schemas.haansoft.com/office/presentation/8.0" sz="16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28480" indent="-228480" algn="l">
              <a:lnSpc>
                <a:spcPct val="130000"/>
              </a:lnSpc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sz="16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0" indent="0" algn="l">
              <a:lnSpc>
                <a:spcPct val="130000"/>
              </a:lnSpc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sz="16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xmlns:mc="http://schemas.openxmlformats.org/markup-compatibility/2006" xmlns:hp="http://schemas.haansoft.com/office/presentation/8.0" lang="en-US" altLang="ko-KR" sz="16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reastDensity(%)AVG</a:t>
            </a:r>
            <a:endParaRPr xmlns:mc="http://schemas.openxmlformats.org/markup-compatibility/2006" xmlns:hp="http://schemas.haansoft.com/office/presentation/8.0" lang="en-US" altLang="ko-KR" sz="1600" b="1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28480" indent="-228480" algn="l">
              <a:lnSpc>
                <a:spcPct val="130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ko-KR" altLang="en-US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통계적 유의성은 </a:t>
            </a: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골다공증군의</a:t>
            </a:r>
            <a:r>
              <a:rPr xmlns:mc="http://schemas.openxmlformats.org/markup-compatibility/2006" xmlns:hp="http://schemas.haansoft.com/office/presentation/8.0" lang="en-US" altLang="ko-KR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BreastDensityAVG</a:t>
            </a: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가 유의하게 </a:t>
            </a:r>
            <a:r>
              <a:rPr xmlns:mc="http://schemas.openxmlformats.org/markup-compatibility/2006" xmlns:hp="http://schemas.haansoft.com/office/presentation/8.0" lang="ko-KR" altLang="en-US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높</a:t>
            </a: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음(p&lt;0.0</a:t>
            </a:r>
            <a:r>
              <a:rPr xmlns:mc="http://schemas.openxmlformats.org/markup-compatibility/2006" xmlns:hp="http://schemas.haansoft.com/office/presentation/8.0" lang="en-US" altLang="ko-KR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5</a:t>
            </a:r>
            <a:r>
              <a:rPr xmlns:mc="http://schemas.openxmlformats.org/markup-compatibility/2006" xmlns:hp="http://schemas.haansoft.com/office/presentation/8.0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).</a:t>
            </a:r>
            <a:endParaRPr xmlns:mc="http://schemas.openxmlformats.org/markup-compatibility/2006" xmlns:hp="http://schemas.haansoft.com/office/presentation/8.0" sz="16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28480" indent="-228480" algn="l">
              <a:lnSpc>
                <a:spcPct val="130000"/>
              </a:lnSpc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lang="ko-KR" altLang="en-US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상관계수는 </a:t>
            </a:r>
            <a:r>
              <a:rPr xmlns:mc="http://schemas.openxmlformats.org/markup-compatibility/2006" xmlns:hp="http://schemas.haansoft.com/office/presentation/8.0" lang="en-US" altLang="ko-KR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0.04</a:t>
            </a:r>
            <a:r>
              <a:rPr xmlns:mc="http://schemas.openxmlformats.org/markup-compatibility/2006" xmlns:hp="http://schemas.haansoft.com/office/presentation/8.0" lang="ko-KR" altLang="en-US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으로 거의 </a:t>
            </a:r>
            <a:r>
              <a:rPr xmlns:mc="http://schemas.openxmlformats.org/markup-compatibility/2006" xmlns:hp="http://schemas.haansoft.com/office/presentation/8.0" lang="en-US" altLang="ko-KR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</a:t>
            </a:r>
            <a:r>
              <a:rPr xmlns:mc="http://schemas.openxmlformats.org/markup-compatibility/2006" xmlns:hp="http://schemas.haansoft.com/office/presentation/8.0" lang="ko-KR" altLang="en-US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에 가까워 실질적 상관관계가 없다고 판단</a:t>
            </a:r>
            <a:r>
              <a:rPr xmlns:mc="http://schemas.openxmlformats.org/markup-compatibility/2006" xmlns:hp="http://schemas.haansoft.com/office/presentation/8.0" lang="en-US" altLang="ko-KR" sz="16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(r&lt;0.1)</a:t>
            </a:r>
            <a:endParaRPr xmlns:mc="http://schemas.openxmlformats.org/markup-compatibility/2006" xmlns:hp="http://schemas.haansoft.com/office/presentation/8.0" lang="en-US" altLang="ko-KR" sz="16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  <a:p>
            <a:pPr marL="228480" indent="-228480" algn="l">
              <a:lnSpc>
                <a:spcPct val="130000"/>
              </a:lnSpc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lang="ko-KR" altLang="en-US" sz="1600" b="0" i="0" strike="noStrike" mc:Ignorable="hp" hp:hslEmbossed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33" name=""/>
          <p:cNvGraphicFramePr/>
          <p:nvPr/>
        </p:nvGraphicFramePr>
        <p:xfrm>
          <a:off x="716279" y="1142999"/>
          <a:ext cx="5760720" cy="1632585"/>
        </p:xfrm>
        <a:graphic>
          <a:graphicData uri="http://schemas.openxmlformats.org/drawingml/2006/table">
            <a:tbl>
              <a:tblPr firstRow="1" bandRow="1">
                <a:tableStyleId>{BDF0A0EA-C916-463C-A3AD-4CCFBD9124EA}</a:tableStyleId>
              </a:tblPr>
              <a:tblGrid>
                <a:gridCol w="1874520"/>
                <a:gridCol w="1005840"/>
                <a:gridCol w="1440180"/>
                <a:gridCol w="1440180"/>
              </a:tblGrid>
              <a:tr h="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200">
                          <a:latin typeface="맑은 고딕"/>
                        </a:rPr>
                        <a:t>변수</a:t>
                      </a:r>
                      <a:endParaRPr lang="ko-KR" altLang="en-US" sz="12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t-</a:t>
                      </a:r>
                      <a:r>
                        <a:rPr lang="ko-KR" altLang="en-US" sz="1200">
                          <a:latin typeface="맑은 고딕"/>
                        </a:rPr>
                        <a:t>통계량</a:t>
                      </a:r>
                      <a:endParaRPr lang="ko-KR" altLang="en-US" sz="12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en-US" altLang="ko-KR" sz="1200">
                          <a:latin typeface="맑은 고딕"/>
                        </a:rPr>
                        <a:t>p-value</a:t>
                      </a:r>
                      <a:endParaRPr lang="ko-KR" altLang="en-US" sz="1200"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/>
                      </a:pPr>
                      <a:r>
                        <a:rPr lang="ko-KR" altLang="en-US" sz="1200">
                          <a:latin typeface="맑은 고딕"/>
                        </a:rPr>
                        <a:t>통계적 유의성</a:t>
                      </a:r>
                      <a:endParaRPr lang="ko-KR" altLang="en-US" sz="1200"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Age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-</a:t>
                      </a:r>
                      <a:r>
                        <a:rPr xmlns:mc="http://schemas.openxmlformats.org/markup-compatibility/2006" xmlns:hp="http://schemas.haansoft.com/office/presentation/8.0" lang="ko-KR" altLang="en-US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</a:t>
                      </a: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10.18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1.51e-22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매우 유의함 (p≪0.001)</a:t>
                      </a:r>
                      <a:endParaRPr xmlns:mc="http://schemas.openxmlformats.org/markup-compatibility/2006" xmlns:hp="http://schemas.haansoft.com/office/presentation/8.0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BMI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+</a:t>
                      </a:r>
                      <a:r>
                        <a:rPr xmlns:mc="http://schemas.openxmlformats.org/markup-compatibility/2006" xmlns:hp="http://schemas.haansoft.com/office/presentation/8.0" lang="ko-KR" altLang="en-US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</a:t>
                      </a: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7.86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1.68e-14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매우 유의함 (p≪0.001)</a:t>
                      </a:r>
                      <a:endParaRPr xmlns:mc="http://schemas.openxmlformats.org/markup-compatibility/2006" xmlns:hp="http://schemas.haansoft.com/office/presentation/8.0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</a:tr>
              <a:tr h="0"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BreastDensity(%)AVG</a:t>
                      </a:r>
                      <a:endParaRPr xmlns:mc="http://schemas.openxmlformats.org/markup-compatibility/2006" xmlns:hp="http://schemas.haansoft.com/office/presentation/8.0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-</a:t>
                      </a:r>
                      <a:r>
                        <a:rPr xmlns:mc="http://schemas.openxmlformats.org/markup-compatibility/2006" xmlns:hp="http://schemas.haansoft.com/office/presentation/8.0" lang="ko-KR" altLang="en-US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</a:t>
                      </a: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2.09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0.037</a:t>
                      </a:r>
                      <a:endParaRPr xmlns:mc="http://schemas.openxmlformats.org/markup-compatibility/2006" xmlns:hp="http://schemas.haansoft.com/office/presentation/8.0" lang="en-US" altLang="ko-KR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  <a:tc>
                  <a:txBody>
                    <a:bodyPr vert="horz" lIns="91440" tIns="45720" rIns="91440" bIns="45720" anchor="t" anchorCtr="0"/>
                    <a:p>
                      <a:pPr algn="l">
                        <a:defRPr/>
                      </a:pPr>
                      <a:r>
                        <a:rPr xmlns:mc="http://schemas.openxmlformats.org/markup-compatibility/2006" xmlns:hp="http://schemas.haansoft.com/office/presentation/8.0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유의</a:t>
                      </a:r>
                      <a:r>
                        <a:rPr xmlns:mc="http://schemas.openxmlformats.org/markup-compatibility/2006" xmlns:hp="http://schemas.haansoft.com/office/presentation/8.0" lang="ko-KR" altLang="en-US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미한 차이</a:t>
                      </a:r>
                      <a:r>
                        <a:rPr xmlns:mc="http://schemas.openxmlformats.org/markup-compatibility/2006" xmlns:hp="http://schemas.haansoft.com/office/presentation/8.0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 (p≪0.0</a:t>
                      </a:r>
                      <a:r>
                        <a:rPr xmlns:mc="http://schemas.openxmlformats.org/markup-compatibility/2006" xmlns:hp="http://schemas.haansoft.com/office/presentation/8.0" lang="en-US" altLang="ko-KR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5</a:t>
                      </a:r>
                      <a:r>
                        <a:rPr xmlns:mc="http://schemas.openxmlformats.org/markup-compatibility/2006" xmlns:hp="http://schemas.haansoft.com/office/presentation/8.0" sz="1200" b="0" i="0" strike="noStrike" mc:Ignorable="hp" hp:hslEmbossed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</a:rPr>
                        <a:t>)</a:t>
                      </a:r>
                      <a:endParaRPr xmlns:mc="http://schemas.openxmlformats.org/markup-compatibility/2006" xmlns:hp="http://schemas.haansoft.com/office/presentation/8.0" sz="1200" b="0" i="0" strike="noStrike" mc:Ignorable="hp" hp:hslEmbossed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</a:endParaRPr>
                    </a:p>
                  </a:txBody>
                  <a:tcPr marL="91440" marR="91440"/>
                </a:tc>
              </a:tr>
            </a:tbl>
          </a:graphicData>
        </a:graphic>
      </p:graphicFrame>
      <p:pic>
        <p:nvPicPr>
          <p:cNvPr id="3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858000" y="990600"/>
            <a:ext cx="4389120" cy="3657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0" y="1262062"/>
            <a:ext cx="12192000" cy="5595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402</ep:Words>
  <ep:PresentationFormat>와이드스크린</ep:PresentationFormat>
  <ep:Paragraphs>43</ep:Paragraphs>
  <ep:Slides>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ep:HeadingPairs>
  <ep:TitlesOfParts>
    <vt:vector size="9" baseType="lpstr">
      <vt:lpstr>Office Theme</vt:lpstr>
      <vt:lpstr>Clinic Tabular Data Analysis</vt:lpstr>
      <vt:lpstr>주요 Tabular Data Field Analysis</vt:lpstr>
      <vt:lpstr>주요 Tabular Data Field Analysis</vt:lpstr>
      <vt:lpstr>주요 Tabular Data Field Analysis</vt:lpstr>
      <vt:lpstr>주요 Tabular Data Field Analysis</vt:lpstr>
      <vt:lpstr>주요 Tabular Data Field Analysis</vt:lpstr>
      <vt:lpstr>주요 Tabular Data Field Analysis</vt:lpstr>
      <vt:lpstr>슬라이드 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2023-07-18T06:54:54.000</dcterms:created>
  <dc:creator>이소영</dc:creator>
  <cp:lastModifiedBy>jhjun</cp:lastModifiedBy>
  <dcterms:modified xsi:type="dcterms:W3CDTF">2025-11-13T07:18:26.447</dcterms:modified>
  <cp:revision>354</cp:revision>
  <dc:title>PowerPoint 프레젠테이션</dc:title>
  <cp:version/>
</cp:coreProperties>
</file>