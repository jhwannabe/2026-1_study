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saveSubsetFonts="1">
  <p:sldMasterIdLst>
    <p:sldMasterId id="2147483648" r:id="rId1"/>
  </p:sldMasterIdLst>
  <p:notesMasterIdLst>
    <p:notesMasterId r:id="rId55"/>
  </p:notesMasterIdLst>
  <p:sldIdLst>
    <p:sldId id="256" r:id="rId2"/>
    <p:sldId id="258" r:id="rId3"/>
    <p:sldId id="524" r:id="rId4"/>
    <p:sldId id="548" r:id="rId5"/>
    <p:sldId id="346" r:id="rId6"/>
    <p:sldId id="350" r:id="rId7"/>
    <p:sldId id="351" r:id="rId8"/>
    <p:sldId id="352" r:id="rId9"/>
    <p:sldId id="469" r:id="rId10"/>
    <p:sldId id="470" r:id="rId11"/>
    <p:sldId id="488" r:id="rId12"/>
    <p:sldId id="528" r:id="rId13"/>
    <p:sldId id="549" r:id="rId14"/>
    <p:sldId id="542" r:id="rId15"/>
    <p:sldId id="525" r:id="rId16"/>
    <p:sldId id="404" r:id="rId17"/>
    <p:sldId id="543" r:id="rId18"/>
    <p:sldId id="526" r:id="rId19"/>
    <p:sldId id="571" r:id="rId20"/>
    <p:sldId id="550" r:id="rId21"/>
    <p:sldId id="551" r:id="rId22"/>
    <p:sldId id="554" r:id="rId23"/>
    <p:sldId id="552" r:id="rId24"/>
    <p:sldId id="555" r:id="rId25"/>
    <p:sldId id="556" r:id="rId26"/>
    <p:sldId id="557" r:id="rId27"/>
    <p:sldId id="561" r:id="rId28"/>
    <p:sldId id="562" r:id="rId29"/>
    <p:sldId id="559" r:id="rId30"/>
    <p:sldId id="563" r:id="rId31"/>
    <p:sldId id="564" r:id="rId32"/>
    <p:sldId id="567" r:id="rId33"/>
    <p:sldId id="568" r:id="rId34"/>
    <p:sldId id="565" r:id="rId35"/>
    <p:sldId id="566" r:id="rId36"/>
    <p:sldId id="573" r:id="rId37"/>
    <p:sldId id="572" r:id="rId38"/>
    <p:sldId id="574" r:id="rId39"/>
    <p:sldId id="575" r:id="rId40"/>
    <p:sldId id="569" r:id="rId41"/>
    <p:sldId id="570" r:id="rId42"/>
    <p:sldId id="589" r:id="rId43"/>
    <p:sldId id="579" r:id="rId44"/>
    <p:sldId id="580" r:id="rId45"/>
    <p:sldId id="581" r:id="rId46"/>
    <p:sldId id="582" r:id="rId47"/>
    <p:sldId id="583" r:id="rId48"/>
    <p:sldId id="584" r:id="rId49"/>
    <p:sldId id="585" r:id="rId50"/>
    <p:sldId id="586" r:id="rId51"/>
    <p:sldId id="587" r:id="rId52"/>
    <p:sldId id="588" r:id="rId53"/>
    <p:sldId id="479" r:id="rId54"/>
  </p:sldIdLst>
  <p:sldSz cx="12192000" cy="6858000"/>
  <p:notesSz cx="6858000" cy="9144000"/>
  <p:embeddedFontLst>
    <p:embeddedFont>
      <p:font typeface="KoPub돋움체 Bold" panose="00000800000000000000" pitchFamily="2" charset="-127"/>
      <p:bold r:id="rId56"/>
    </p:embeddedFont>
    <p:embeddedFont>
      <p:font typeface="KoPub돋움체 Medium" panose="00000600000000000000" pitchFamily="2" charset="-127"/>
      <p:regular r:id="rId57"/>
    </p:embeddedFont>
    <p:embeddedFont>
      <p:font typeface="맑은 고딕" panose="020B0503020000020004" pitchFamily="50" charset="-127"/>
      <p:regular r:id="rId58"/>
      <p:bold r:id="rId59"/>
    </p:embeddedFont>
  </p:embeddedFontLst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097B6DF2-66C3-4074-9053-F9AA00FED5D5}">
          <p14:sldIdLst>
            <p14:sldId id="256"/>
            <p14:sldId id="258"/>
            <p14:sldId id="524"/>
            <p14:sldId id="548"/>
            <p14:sldId id="346"/>
            <p14:sldId id="350"/>
            <p14:sldId id="351"/>
            <p14:sldId id="352"/>
            <p14:sldId id="469"/>
            <p14:sldId id="470"/>
            <p14:sldId id="488"/>
            <p14:sldId id="528"/>
            <p14:sldId id="549"/>
            <p14:sldId id="542"/>
            <p14:sldId id="525"/>
            <p14:sldId id="404"/>
            <p14:sldId id="543"/>
            <p14:sldId id="526"/>
            <p14:sldId id="571"/>
            <p14:sldId id="550"/>
            <p14:sldId id="551"/>
            <p14:sldId id="554"/>
            <p14:sldId id="552"/>
            <p14:sldId id="555"/>
            <p14:sldId id="556"/>
            <p14:sldId id="557"/>
            <p14:sldId id="561"/>
            <p14:sldId id="562"/>
            <p14:sldId id="559"/>
            <p14:sldId id="563"/>
            <p14:sldId id="564"/>
            <p14:sldId id="567"/>
            <p14:sldId id="568"/>
            <p14:sldId id="565"/>
            <p14:sldId id="566"/>
            <p14:sldId id="573"/>
            <p14:sldId id="572"/>
            <p14:sldId id="574"/>
            <p14:sldId id="575"/>
            <p14:sldId id="569"/>
            <p14:sldId id="570"/>
            <p14:sldId id="589"/>
            <p14:sldId id="579"/>
            <p14:sldId id="580"/>
            <p14:sldId id="581"/>
            <p14:sldId id="582"/>
            <p14:sldId id="583"/>
            <p14:sldId id="584"/>
            <p14:sldId id="585"/>
            <p14:sldId id="586"/>
            <p14:sldId id="587"/>
            <p14:sldId id="588"/>
            <p14:sldId id="47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전장훈" initials="전" lastIdx="19" clrIdx="0">
    <p:extLst>
      <p:ext uri="{19B8F6BF-5375-455C-9EA6-DF929625EA0E}">
        <p15:presenceInfo xmlns:p15="http://schemas.microsoft.com/office/powerpoint/2012/main" userId="전장훈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23670"/>
    <a:srgbClr val="17A5AA"/>
    <a:srgbClr val="1F346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BBB50F4-122B-41C8-8B97-E733E2DA839E}" v="104" dt="2026-04-30T01:48:13.387"/>
    <p1510:client id="{59280094-6966-4D40-B0D2-C3AF0E296DD5}" v="33" dt="2026-04-29T05:12:11.973"/>
    <p1510:client id="{F96BF643-3359-45F4-82D4-8AA1E0B6CADD}" v="30" dt="2026-04-29T10:17:24.925"/>
  </p1510:revLst>
</p1510:revInfo>
</file>

<file path=ppt/tableStyles.xml><?xml version="1.0" encoding="utf-8"?>
<a:tblStyleLst xmlns:a="http://schemas.openxmlformats.org/drawingml/2006/main" def="{5C22544A-7EE6-4342-B048-85BDC9FD1C3A}"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793D81CF-94F2-401A-BA57-92F5A7B2D0C5}" styleName="보통 스타일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82185" autoAdjust="0"/>
  </p:normalViewPr>
  <p:slideViewPr>
    <p:cSldViewPr snapToGrid="0">
      <p:cViewPr varScale="1">
        <p:scale>
          <a:sx n="91" d="100"/>
          <a:sy n="91" d="100"/>
        </p:scale>
        <p:origin x="1296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notesMaster" Target="notesMasters/notesMaster1.xml"/><Relationship Id="rId63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font" Target="fonts/font3.fntdata"/><Relationship Id="rId5" Type="http://schemas.openxmlformats.org/officeDocument/2006/relationships/slide" Target="slides/slide4.xml"/><Relationship Id="rId61" Type="http://schemas.openxmlformats.org/officeDocument/2006/relationships/presProps" Target="presProp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font" Target="fonts/font1.fntdata"/><Relationship Id="rId64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font" Target="fonts/font4.fntdata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font" Target="fonts/font2.fntdata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commentAuthors" Target="commentAuthors.xml"/><Relationship Id="rId65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fld id="{33074436-1BEA-4F09-AD5C-9DF87C96BF5A}" type="datetimeFigureOut">
              <a:rPr lang="ko-KR" altLang="en-US" smtClean="0"/>
              <a:pPr/>
              <a:t>2026-05-14</a:t>
            </a:fld>
            <a:endParaRPr lang="ko-KR" altLang="en-US" dirty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 dirty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fld id="{433C9518-700F-4811-95BB-24DAF3FA92F2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5776494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KoPub돋움체 Medium" panose="00000600000000000000" pitchFamily="2" charset="-127"/>
        <a:ea typeface="KoPub돋움체 Medium" panose="00000600000000000000" pitchFamily="2" charset="-127"/>
        <a:cs typeface="+mn-cs"/>
      </a:defRPr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발표 시작하겠습니다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이번주 진행한 연구 결과에 대해 </a:t>
            </a:r>
            <a:r>
              <a:rPr lang="ko-KR" altLang="en-US" sz="1200" b="0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공유드리겠습니다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8054903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지난 미팅에서 논의된 내용을 간략히 짚고 넘어가겠습니다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</a:br>
            <a:endParaRPr lang="en-US" altLang="ko-KR" sz="1200" b="0" kern="1200" dirty="0">
              <a:solidFill>
                <a:schemeClr val="tx1"/>
              </a:solidFill>
              <a:effectLst/>
              <a:latin typeface="KoPub돋움체 Medium" panose="00000600000000000000" pitchFamily="2" charset="-127"/>
              <a:ea typeface="KoPub돋움체 Medium" panose="00000600000000000000" pitchFamily="2" charset="-127"/>
              <a:cs typeface="+mn-cs"/>
            </a:endParaRPr>
          </a:p>
          <a:p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첫째로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,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**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SMI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데이터 확립**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기존에 분석 대상으로 삼던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TAMA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값을 그대로 쓰는 것이 아니라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, IMATA—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즉 근육 내 지방면적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—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를 제외한 순수 근육 면적을 신장의 제곱으로 나눈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SMI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값을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outcome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으로 재정의하였습니다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</a:t>
            </a:r>
          </a:p>
          <a:p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둘째로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,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**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AEC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데이터 </a:t>
            </a:r>
            <a:r>
              <a:rPr lang="ko-KR" altLang="en-US" sz="1200" b="1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리샘플링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**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스캐너마다 슬라이스 수가 달라 직접 비교가 어렵기 때문에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모든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AEC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시계열 신호를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256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포인트로 </a:t>
            </a:r>
            <a:r>
              <a:rPr lang="ko-KR" altLang="en-US" sz="1200" b="0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정규화하였습니다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</a:t>
            </a:r>
          </a:p>
          <a:p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셋째로 이렇게 </a:t>
            </a:r>
            <a:r>
              <a:rPr lang="ko-KR" altLang="en-US" sz="1200" b="0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정규화된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 신호에서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**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65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개의 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feature**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를 추출하였습니다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 mean, std, range, skewness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등 기본 통계량은 물론 형태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주파수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, </a:t>
            </a:r>
            <a:r>
              <a:rPr lang="ko-KR" altLang="en-US" sz="1200" b="0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웨이블릿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 기반 특징까지 포함됩니다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</a:t>
            </a:r>
          </a:p>
          <a:p>
            <a:endParaRPr lang="en-US" altLang="ko-KR" sz="1200" b="0" kern="1200" dirty="0">
              <a:solidFill>
                <a:schemeClr val="tx1"/>
              </a:solidFill>
              <a:effectLst/>
              <a:latin typeface="KoPub돋움체 Medium" panose="00000600000000000000" pitchFamily="2" charset="-127"/>
              <a:ea typeface="KoPub돋움체 Medium" panose="00000600000000000000" pitchFamily="2" charset="-127"/>
              <a:cs typeface="+mn-cs"/>
            </a:endParaRPr>
          </a:p>
          <a:p>
            <a:r>
              <a:rPr lang="ko-KR" altLang="en-US" sz="1200" b="0" i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*슬라이드 하단의 표*</a:t>
            </a:r>
            <a:r>
              <a:rPr lang="ko-KR" altLang="en-US" sz="1200" b="0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를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 보시면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이번 실험에서 비교한 총 다섯 가지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Feature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구성이 정리되어 있습니다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</a:t>
            </a:r>
          </a:p>
          <a:p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-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`</a:t>
            </a:r>
            <a:r>
              <a:rPr lang="en-US" altLang="ko-KR" sz="1200" b="0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clinic_only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`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는 나이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·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성별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·BMI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만 사용하는 기저모델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,</a:t>
            </a:r>
          </a:p>
          <a:p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-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`</a:t>
            </a:r>
            <a:r>
              <a:rPr lang="en-US" altLang="ko-KR" sz="1200" b="0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aec_only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`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는 원시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AEC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시계열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256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포인트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,</a:t>
            </a:r>
          </a:p>
          <a:p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-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`</a:t>
            </a:r>
            <a:r>
              <a:rPr lang="en-US" altLang="ko-KR" sz="1200" b="0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aec_feature_only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`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는 추출된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65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개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feature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전체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,</a:t>
            </a:r>
          </a:p>
          <a:p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-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`</a:t>
            </a:r>
            <a:r>
              <a:rPr lang="en-US" altLang="ko-KR" sz="1200" b="0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aec_feature_selected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`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는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VIF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및 상관계수 기준으로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fold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별 선택된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feature,</a:t>
            </a:r>
          </a:p>
          <a:p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-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`</a:t>
            </a:r>
            <a:r>
              <a:rPr lang="en-US" altLang="ko-KR" sz="1200" b="0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clinic_aec_feature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`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는 임상변수에 선별된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AEC feature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를 결합한 구성입니다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</a:t>
            </a:r>
          </a:p>
          <a:p>
            <a:endParaRPr lang="en-US" altLang="ko-KR" sz="1200" b="0" kern="1200" dirty="0">
              <a:solidFill>
                <a:schemeClr val="tx1"/>
              </a:solidFill>
              <a:effectLst/>
              <a:latin typeface="KoPub돋움체 Medium" panose="00000600000000000000" pitchFamily="2" charset="-127"/>
              <a:ea typeface="KoPub돋움체 Medium" panose="00000600000000000000" pitchFamily="2" charset="-127"/>
              <a:cs typeface="+mn-cs"/>
            </a:endParaRPr>
          </a:p>
          <a:p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이 다섯 가지 구성을 기반으로 모델을 설계하였고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오늘 발표에서 그 결과를 상세히 </a:t>
            </a:r>
            <a:r>
              <a:rPr lang="ko-KR" altLang="en-US" sz="1200" b="0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보고드리겠습니다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</a:t>
            </a:r>
          </a:p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0970617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7AAC64-4809-CFDB-DD82-8C411BF903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E00CA24-0109-6788-DE0D-8E930A4B7F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DDF5CE1-02A0-E30B-7E00-1067FDF0BD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이번주 연구 요약입니다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핵심은 세 가지 모델 구조의 비교입니다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</a:t>
            </a:r>
          </a:p>
          <a:p>
            <a:endParaRPr lang="en-US" altLang="ko-KR" sz="1200" b="0" kern="1200" dirty="0">
              <a:solidFill>
                <a:schemeClr val="tx1"/>
              </a:solidFill>
              <a:effectLst/>
              <a:latin typeface="KoPub돋움체 Medium" panose="00000600000000000000" pitchFamily="2" charset="-127"/>
              <a:ea typeface="KoPub돋움체 Medium" panose="00000600000000000000" pitchFamily="2" charset="-127"/>
              <a:cs typeface="+mn-cs"/>
            </a:endParaRPr>
          </a:p>
          <a:p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-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**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Clinic**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: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나이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성별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, BMI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만 사용하는 기저모델</a:t>
            </a:r>
          </a:p>
          <a:p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-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**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Clinic + AEC**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: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임상변수에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AEC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시계열 추가</a:t>
            </a:r>
          </a:p>
          <a:p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-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**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Clinic + AEC + Scanner**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: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여기에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CT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제조사 모델명을 </a:t>
            </a:r>
            <a:r>
              <a:rPr lang="ko-KR" altLang="en-US" sz="1200" b="0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임베딩으로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 추가</a:t>
            </a:r>
          </a:p>
          <a:p>
            <a:b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</a:br>
            <a:endParaRPr lang="ko-KR" altLang="en-US" sz="1200" b="0" kern="1200" dirty="0">
              <a:solidFill>
                <a:schemeClr val="tx1"/>
              </a:solidFill>
              <a:effectLst/>
              <a:latin typeface="KoPub돋움체 Medium" panose="00000600000000000000" pitchFamily="2" charset="-127"/>
              <a:ea typeface="KoPub돋움체 Medium" panose="00000600000000000000" pitchFamily="2" charset="-127"/>
              <a:cs typeface="+mn-cs"/>
            </a:endParaRPr>
          </a:p>
          <a:p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그리고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SMI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는 앞서 말씀드린 공식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—`SMI = (TAMA − IMATA) / Height²`—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으로 정의하고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한국인 기준 하위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5% threshold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로 이진 분류를 수행하였습니다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참조한 논문은 총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5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편으로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이 기준에 대해서는 데이터 섹션에서 자세히 </a:t>
            </a:r>
            <a:r>
              <a:rPr lang="ko-KR" altLang="en-US" sz="1200" b="0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설명드리겠습니다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21FB4E7-21AC-953F-57A3-5376A248A5D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8881639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3973E4-C933-DFB0-A81C-093C5ADA2B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A81BF77-46A0-3F97-E11F-B1CCBC0E2C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A2D131A-B82E-CF1E-2996-60F98D0CC5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200" b="0" i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*</a:t>
            </a:r>
            <a:r>
              <a:rPr lang="en-US" altLang="ko-KR" sz="1200" b="0" i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Slide 4</a:t>
            </a:r>
            <a:r>
              <a:rPr lang="ko-KR" altLang="en-US" sz="1200" b="0" i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의 </a:t>
            </a:r>
            <a:r>
              <a:rPr lang="en-US" altLang="ko-KR" sz="1200" b="0" i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Best Model Summary </a:t>
            </a:r>
            <a:r>
              <a:rPr lang="ko-KR" altLang="en-US" sz="1200" b="0" i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표*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를 보시면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세 가지 최상위 모델 성능이 요약되어 있습니다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</a:t>
            </a:r>
          </a:p>
          <a:p>
            <a:endParaRPr lang="en-US" altLang="ko-KR" sz="1200" b="0" kern="1200" dirty="0">
              <a:solidFill>
                <a:schemeClr val="tx1"/>
              </a:solidFill>
              <a:effectLst/>
              <a:latin typeface="KoPub돋움체 Medium" panose="00000600000000000000" pitchFamily="2" charset="-127"/>
              <a:ea typeface="KoPub돋움체 Medium" panose="00000600000000000000" pitchFamily="2" charset="-127"/>
              <a:cs typeface="+mn-cs"/>
            </a:endParaRPr>
          </a:p>
          <a:p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-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**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1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위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: Model 3**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(Clinic + AEC + Scanner, </a:t>
            </a:r>
            <a:r>
              <a:rPr lang="en-US" altLang="ko-KR" sz="1200" b="0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CrossAttn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) — Test AUC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**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0.8453**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, Sensitivity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**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82.1%**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, Specificity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**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69.2%**</a:t>
            </a:r>
            <a:endParaRPr lang="ko-KR" altLang="en-US" sz="1200" b="0" kern="1200" dirty="0">
              <a:solidFill>
                <a:schemeClr val="tx1"/>
              </a:solidFill>
              <a:effectLst/>
              <a:latin typeface="KoPub돋움체 Medium" panose="00000600000000000000" pitchFamily="2" charset="-127"/>
              <a:ea typeface="KoPub돋움체 Medium" panose="00000600000000000000" pitchFamily="2" charset="-127"/>
              <a:cs typeface="+mn-cs"/>
            </a:endParaRPr>
          </a:p>
          <a:p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-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**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2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위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: Model 2**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(Clinic + AEC, </a:t>
            </a:r>
            <a:r>
              <a:rPr lang="en-US" altLang="ko-KR" sz="1200" b="0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CrossAttn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) — Test AUC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**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0.8403**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, Sensitivity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**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89.3%**</a:t>
            </a:r>
            <a:endParaRPr lang="ko-KR" altLang="en-US" sz="1200" b="0" kern="1200" dirty="0">
              <a:solidFill>
                <a:schemeClr val="tx1"/>
              </a:solidFill>
              <a:effectLst/>
              <a:latin typeface="KoPub돋움체 Medium" panose="00000600000000000000" pitchFamily="2" charset="-127"/>
              <a:ea typeface="KoPub돋움체 Medium" panose="00000600000000000000" pitchFamily="2" charset="-127"/>
              <a:cs typeface="+mn-cs"/>
            </a:endParaRPr>
          </a:p>
          <a:p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-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**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3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위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: Model 1**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(Clinic only, LR) — Test AUC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**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0.8291**</a:t>
            </a:r>
            <a:endParaRPr lang="ko-KR" altLang="en-US" sz="1200" b="0" kern="1200" dirty="0">
              <a:solidFill>
                <a:schemeClr val="tx1"/>
              </a:solidFill>
              <a:effectLst/>
              <a:latin typeface="KoPub돋움체 Medium" panose="00000600000000000000" pitchFamily="2" charset="-127"/>
              <a:ea typeface="KoPub돋움체 Medium" panose="00000600000000000000" pitchFamily="2" charset="-127"/>
              <a:cs typeface="+mn-cs"/>
            </a:endParaRPr>
          </a:p>
          <a:p>
            <a:endParaRPr lang="ko-KR" altLang="en-US" sz="1200" b="0" kern="1200" dirty="0">
              <a:solidFill>
                <a:schemeClr val="tx1"/>
              </a:solidFill>
              <a:effectLst/>
              <a:latin typeface="KoPub돋움체 Medium" panose="00000600000000000000" pitchFamily="2" charset="-127"/>
              <a:ea typeface="KoPub돋움체 Medium" panose="00000600000000000000" pitchFamily="2" charset="-127"/>
              <a:cs typeface="+mn-cs"/>
            </a:endParaRPr>
          </a:p>
          <a:p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AEC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를 추가함으로써 기저모델 대비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AUC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가 최대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0.016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향상되었으며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제조사 정보를 추가로 </a:t>
            </a:r>
            <a:r>
              <a:rPr lang="ko-KR" altLang="en-US" sz="1200" b="0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임베딩하면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 추가적인 향상이 관찰되었습니다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또한 하단에는 </a:t>
            </a:r>
            <a:r>
              <a:rPr lang="en-US" altLang="ko-KR" sz="1200" b="0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CrossAttn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모델에서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AEC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환자 매칭 여부에 따른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AUC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차이도 정리되어 있는데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이 부분은 뒤에 별도로 </a:t>
            </a:r>
            <a:r>
              <a:rPr lang="ko-KR" altLang="en-US" sz="1200" b="0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설명드리겠습니다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</a:t>
            </a:r>
          </a:p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8E9BFFE-6DCB-C54D-A7A4-49A234420B5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0766529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101138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3733181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0345276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3789887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200" b="0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강남세브란스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 데이터 처리 과정입니다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</a:t>
            </a:r>
          </a:p>
          <a:p>
            <a:endParaRPr lang="en-US" altLang="ko-KR" sz="1200" b="0" kern="1200" dirty="0">
              <a:solidFill>
                <a:schemeClr val="tx1"/>
              </a:solidFill>
              <a:effectLst/>
              <a:latin typeface="KoPub돋움체 Medium" panose="00000600000000000000" pitchFamily="2" charset="-127"/>
              <a:ea typeface="KoPub돋움체 Medium" panose="00000600000000000000" pitchFamily="2" charset="-127"/>
              <a:cs typeface="+mn-cs"/>
            </a:endParaRPr>
          </a:p>
          <a:p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원래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Clinic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데이터는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3,672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건이었으나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중복 </a:t>
            </a:r>
            <a:r>
              <a:rPr lang="en-US" altLang="ko-KR" sz="1200" b="0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PatientID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를 제거하면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2,025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명으로 줄어들었고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, TAMA </a:t>
            </a:r>
            <a:r>
              <a:rPr lang="ko-KR" altLang="en-US" sz="1200" b="0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이상값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—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즉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0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이나 극단 값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—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과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BMI </a:t>
            </a:r>
            <a:r>
              <a:rPr lang="ko-KR" altLang="en-US" sz="1200" b="0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결측을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 제외하면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1,642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명이 남았습니다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</a:t>
            </a:r>
          </a:p>
          <a:p>
            <a:endParaRPr lang="en-US" altLang="ko-KR" sz="1200" b="0" kern="1200" dirty="0">
              <a:solidFill>
                <a:schemeClr val="tx1"/>
              </a:solidFill>
              <a:effectLst/>
              <a:latin typeface="KoPub돋움체 Medium" panose="00000600000000000000" pitchFamily="2" charset="-127"/>
              <a:ea typeface="KoPub돋움체 Medium" panose="00000600000000000000" pitchFamily="2" charset="-127"/>
              <a:cs typeface="+mn-cs"/>
            </a:endParaRPr>
          </a:p>
          <a:p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여기서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Axial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데이터를 추가로 필터링합니다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**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Fixed Tube Current**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—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즉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AEC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를 사용하지 않은 고정 전류 방식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—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를 제거하면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1,372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명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추가로 </a:t>
            </a:r>
            <a:r>
              <a:rPr lang="en-US" altLang="ko-KR" sz="1200" b="0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kVp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및 제조사 모델명 기준으로 필터링하면 최종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**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1,272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명**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이 분석 대상이 되었습니다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</a:t>
            </a:r>
          </a:p>
          <a:p>
            <a:endParaRPr lang="en-US" altLang="ko-KR" sz="1200" b="0" kern="1200" dirty="0">
              <a:solidFill>
                <a:schemeClr val="tx1"/>
              </a:solidFill>
              <a:effectLst/>
              <a:latin typeface="KoPub돋움체 Medium" panose="00000600000000000000" pitchFamily="2" charset="-127"/>
              <a:ea typeface="KoPub돋움체 Medium" panose="00000600000000000000" pitchFamily="2" charset="-127"/>
              <a:cs typeface="+mn-cs"/>
            </a:endParaRPr>
          </a:p>
          <a:p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성별 분포는 여성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816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명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(64.2%),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남성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456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명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(35.8%)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으로 여성이 많습니다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이는 이 연구 모집단의 특성을 반영한 것으로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성별에 따른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SMI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분포를 분리해서 살펴볼 필요가 있습니다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</a:t>
            </a:r>
          </a:p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1484703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9272A2-E462-977A-F33B-DC95CAE773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1D2872D-C56F-07BD-6FEF-BCB992682A8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8F74B49-A47E-0541-5CE4-E957FC855A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200" b="0" i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*</a:t>
            </a:r>
            <a:r>
              <a:rPr lang="en-US" altLang="ko-KR" sz="1200" b="0" i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Slide 11*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에는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AEC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시계열의 슬라이스 수 분포가 제시되어 있습니다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평균 슬라이스 수는 약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169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개이며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z range,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즉 스캔 범위는 평균 약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470mm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남녀 간 차이는 거의 없어 데이터 품질 측면에서 균형이 유지되어 있습니다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88A6B9E-8A61-DFF4-5EB2-1304E5138B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0898744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190042-F557-0E94-7C78-40205A1F0A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F170C6C-B9DF-BB92-BE01-1127AE8ABB4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89CB311-8A08-9B6E-E1E6-BE4865BFA3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200" b="0" i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*</a:t>
            </a:r>
            <a:r>
              <a:rPr lang="en-US" altLang="ko-KR" sz="1200" b="0" i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Slide 12</a:t>
            </a:r>
            <a:r>
              <a:rPr lang="ko-KR" altLang="en-US" sz="1200" b="0" i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의 </a:t>
            </a:r>
            <a:r>
              <a:rPr lang="en-US" altLang="ko-KR" sz="1200" b="0" i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Dataset Split </a:t>
            </a:r>
            <a:r>
              <a:rPr lang="ko-KR" altLang="en-US" sz="1200" b="0" i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표입니다</a:t>
            </a:r>
            <a:r>
              <a:rPr lang="en-US" altLang="ko-KR" sz="1200" b="0" i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.*</a:t>
            </a:r>
            <a:endParaRPr lang="ko-KR" altLang="en-US" sz="1200" b="0" kern="1200" dirty="0">
              <a:solidFill>
                <a:schemeClr val="tx1"/>
              </a:solidFill>
              <a:effectLst/>
              <a:latin typeface="KoPub돋움체 Medium" panose="00000600000000000000" pitchFamily="2" charset="-127"/>
              <a:ea typeface="KoPub돋움체 Medium" panose="00000600000000000000" pitchFamily="2" charset="-127"/>
              <a:cs typeface="+mn-cs"/>
            </a:endParaRPr>
          </a:p>
          <a:p>
            <a:b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</a:br>
            <a:endParaRPr lang="ko-KR" altLang="en-US" sz="1200" b="0" kern="1200" dirty="0">
              <a:solidFill>
                <a:schemeClr val="tx1"/>
              </a:solidFill>
              <a:effectLst/>
              <a:latin typeface="KoPub돋움체 Medium" panose="00000600000000000000" pitchFamily="2" charset="-127"/>
              <a:ea typeface="KoPub돋움체 Medium" panose="00000600000000000000" pitchFamily="2" charset="-127"/>
              <a:cs typeface="+mn-cs"/>
            </a:endParaRPr>
          </a:p>
          <a:p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전체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1,272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명을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Train 1,017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명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, Test 255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명으로 분할하였습니다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 Stratified split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을 적용하여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Train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과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Test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모두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Sarcopenia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비율이 약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11%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로 동일하게 유지되도록 하였습니다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클래스 불균형이 존재하기 때문에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이후 성능 평가 시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AUC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뿐만 아니라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**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AUPRC**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와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**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F1 score**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를 함께 보고합니다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</a:t>
            </a:r>
          </a:p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6A2932C-C555-3416-FC2C-C5443B8FA0C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3566383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7EBF19-EE3F-65A2-1162-FB04E83761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58D60B6-9609-66C7-4D66-C7EC8AED363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312049A-92CC-D1CB-0C49-4EF50B4D74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C4FF3FB-ACFF-4030-32EF-A08CEE96C5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5934106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15A912-E5DB-C050-E065-5828A5E4B2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4D11A81-CD75-D940-EF31-5078010806D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326D308-0A22-922A-98EF-A6F10C54779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이진 분류를 위한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SMI threshold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결정 과정입니다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sz="1200" b="0" kern="1200" dirty="0">
              <a:solidFill>
                <a:schemeClr val="tx1"/>
              </a:solidFill>
              <a:effectLst/>
              <a:latin typeface="KoPub돋움체 Medium" panose="00000600000000000000" pitchFamily="2" charset="-127"/>
              <a:ea typeface="KoPub돋움체 Medium" panose="00000600000000000000" pitchFamily="2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200" b="0" i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*</a:t>
            </a:r>
            <a:r>
              <a:rPr lang="en-US" altLang="ko-KR" sz="1200" b="0" i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Slide 15*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에는 참고한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5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편의 논문이 정리되어 있습니다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 Prado, Martin, Carey, JSH 2016, Yoon 2021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등인데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각기 다른 국가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다른 임상 집단을 대상으로 하여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threshold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값이 상당히 다릅니다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예를 들어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Prado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기준 남성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52.4,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여성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38.5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인 반면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, Yoon 2021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한국 기준은 남성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39.33,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여성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27.7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로 현저히 낮습니다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</a:t>
            </a:r>
          </a:p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CFA01C8-AD53-4B8F-0434-4748CB898FB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3114862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200" b="0" i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*</a:t>
            </a:r>
            <a:r>
              <a:rPr lang="en-US" altLang="ko-KR" sz="1200" b="0" i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Slide 16*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을 보시면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각 기준을 강남 데이터에 적용했을 때 양성 비율이 얼마나 달라지는지 알 수 있습니다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예를 들어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Prado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기준 적용 시 남성 </a:t>
            </a:r>
            <a:r>
              <a:rPr lang="ko-KR" altLang="en-US" sz="1200" b="0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양성률이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78.1%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로 매우 높아져 실용적이지 않습니다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반면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Yoon 2021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기준에서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**하위 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5%**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를 적용하면 남성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16.9%,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여성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7.6%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로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우리 집단 특성에 맞고 임상적으로도 의미 있는 비율이 됩니다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</a:t>
            </a:r>
          </a:p>
          <a:p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따라서 저희는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Yoon 2021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한국인 기준의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**하위 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5% threshold**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즉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**남성 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40.96,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여성 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30.6**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을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SMI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이진 분류 기준으로 최종 선택하였습니다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이를 통해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Train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기준 양성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(Sarcopenia)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비율이 약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10.9%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로 설정되었습니다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</a:t>
            </a:r>
          </a:p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8883083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B917A5-299C-0E89-CFC0-04FC1AC70C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8265D41-5613-90FC-CB71-156E242C14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E655DFF-5422-5676-A2DE-46681E04C9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모델 설계 전략입니다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</a:br>
            <a:endParaRPr lang="en-US" altLang="ko-KR" sz="1200" b="0" kern="1200" dirty="0">
              <a:solidFill>
                <a:schemeClr val="tx1"/>
              </a:solidFill>
              <a:effectLst/>
              <a:latin typeface="KoPub돋움체 Medium" panose="00000600000000000000" pitchFamily="2" charset="-127"/>
              <a:ea typeface="KoPub돋움체 Medium" panose="00000600000000000000" pitchFamily="2" charset="-127"/>
              <a:cs typeface="+mn-cs"/>
            </a:endParaRPr>
          </a:p>
          <a:p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총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4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개의 모델 구조를 비교하였습니다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</a:br>
            <a:endParaRPr lang="en-US" altLang="ko-KR" sz="1200" b="0" kern="1200" dirty="0">
              <a:solidFill>
                <a:schemeClr val="tx1"/>
              </a:solidFill>
              <a:effectLst/>
              <a:latin typeface="KoPub돋움체 Medium" panose="00000600000000000000" pitchFamily="2" charset="-127"/>
              <a:ea typeface="KoPub돋움체 Medium" panose="00000600000000000000" pitchFamily="2" charset="-127"/>
              <a:cs typeface="+mn-cs"/>
            </a:endParaRPr>
          </a:p>
          <a:p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-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**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M1**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: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임상 변수만 사용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(Age, Sex, BMI). Logistic Regression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과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ResNet1D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두 가지 서브모델</a:t>
            </a:r>
          </a:p>
          <a:p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-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**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M2**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: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임상 변수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+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환자 매칭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AEC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시계열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 LR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과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Cross Attention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두 가지</a:t>
            </a:r>
          </a:p>
          <a:p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-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**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M2_2**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: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임상 변수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+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**</a:t>
            </a:r>
            <a:r>
              <a:rPr lang="ko-KR" altLang="en-US" sz="1200" b="1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셔플된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**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AEC (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음성 대조군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).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임상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-AEC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매핑을 의도적으로 파괴하여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모델이 단순 분포 정보만 쓰는지 아니면 순서 정보를 학습하는지 검증</a:t>
            </a:r>
          </a:p>
          <a:p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-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**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M3**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: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임상 변수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+ AEC +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**제조사 </a:t>
            </a:r>
            <a:r>
              <a:rPr lang="ko-KR" altLang="en-US" sz="1200" b="1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임베딩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**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 CT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스캐너 모델명을 별도 </a:t>
            </a:r>
            <a:r>
              <a:rPr lang="ko-KR" altLang="en-US" sz="1200" b="0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임베딩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 벡터로 추가</a:t>
            </a:r>
          </a:p>
          <a:p>
            <a:b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</a:br>
            <a:endParaRPr lang="ko-KR" altLang="en-US" sz="1200" b="0" kern="1200" dirty="0">
              <a:solidFill>
                <a:schemeClr val="tx1"/>
              </a:solidFill>
              <a:effectLst/>
              <a:latin typeface="KoPub돋움체 Medium" panose="00000600000000000000" pitchFamily="2" charset="-127"/>
              <a:ea typeface="KoPub돋움체 Medium" panose="00000600000000000000" pitchFamily="2" charset="-127"/>
              <a:cs typeface="+mn-cs"/>
            </a:endParaRPr>
          </a:p>
          <a:p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AEC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길이는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[64, 128, 256]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포인트 세 가지를 실험하였고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, </a:t>
            </a:r>
            <a:r>
              <a:rPr lang="en-US" altLang="ko-KR" sz="1200" b="0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StandardScaler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적용 범위도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Clinic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만 표준화한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`</a:t>
            </a:r>
            <a:r>
              <a:rPr lang="en-US" altLang="ko-KR" sz="1200" b="0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scale_clinic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`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과 임상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+AEC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전체를 표준화한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`</a:t>
            </a:r>
            <a:r>
              <a:rPr lang="en-US" altLang="ko-KR" sz="1200" b="0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scale_both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`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 두 가지로 나누어 비교하였습니다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</a:br>
            <a:endParaRPr lang="en-US" altLang="ko-KR" sz="1200" b="0" kern="1200" dirty="0">
              <a:solidFill>
                <a:schemeClr val="tx1"/>
              </a:solidFill>
              <a:effectLst/>
              <a:latin typeface="KoPub돋움체 Medium" panose="00000600000000000000" pitchFamily="2" charset="-127"/>
              <a:ea typeface="KoPub돋움체 Medium" panose="00000600000000000000" pitchFamily="2" charset="-127"/>
              <a:cs typeface="+mn-cs"/>
            </a:endParaRPr>
          </a:p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174D810-BC5C-2B70-9544-E903A1A2013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0180904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BCC7E6-ACE6-C5E7-F5F1-55CA23C090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50C34DD-47D7-9350-BCFC-E4A5D011B9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5C58352-0586-8E54-94AB-9C01AD8650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200" b="0" i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*</a:t>
            </a:r>
            <a:r>
              <a:rPr lang="en-US" altLang="ko-KR" sz="1200" b="0" i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Slide 19*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에서는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**왜 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Cross Attention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인가**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를 설명합니다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</a:br>
            <a:endParaRPr lang="en-US" altLang="ko-KR" sz="1200" b="0" kern="1200" dirty="0">
              <a:solidFill>
                <a:schemeClr val="tx1"/>
              </a:solidFill>
              <a:effectLst/>
              <a:latin typeface="KoPub돋움체 Medium" panose="00000600000000000000" pitchFamily="2" charset="-127"/>
              <a:ea typeface="KoPub돋움체 Medium" panose="00000600000000000000" pitchFamily="2" charset="-127"/>
              <a:cs typeface="+mn-cs"/>
            </a:endParaRPr>
          </a:p>
          <a:p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단순히 임상 변수와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AEC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를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Concatenate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하여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ResNet1D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에 넣는 방식과 비교했을 때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, Cross Attention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은 다음 이유에서 적합합니다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임상 변수는 스칼라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3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개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, AEC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는 최대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256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포인트로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**차원 불균형**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이 심합니다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 Concatenation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은 이 두 </a:t>
            </a:r>
            <a:r>
              <a:rPr lang="ko-KR" altLang="en-US" sz="1200" b="0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모달리티를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 동등하게 취급하지만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, Cross Attention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은 임상 변수를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query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로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, AEC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를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key/value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로 설정하여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**임상 변수가 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AEC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의 어느 시간 구간에 주목할지 선택적으로 학습**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할 수 있습니다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또한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AEC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의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z-direction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순서 구조를 보존하면서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추후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Attention Map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을 통한 해석도 가능합니다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</a:t>
            </a:r>
          </a:p>
          <a:p>
            <a:endParaRPr lang="en-US" altLang="ko-KR" sz="1200" b="1" dirty="0">
              <a:solidFill>
                <a:srgbClr val="1F4E79"/>
              </a:solidFill>
            </a:endParaRPr>
          </a:p>
          <a:p>
            <a:endParaRPr lang="en-US" altLang="ko-KR" sz="1200" b="1" dirty="0">
              <a:solidFill>
                <a:srgbClr val="1F4E79"/>
              </a:solidFill>
            </a:endParaRPr>
          </a:p>
          <a:p>
            <a:endParaRPr lang="en-US" altLang="ko-KR" sz="1200" b="1" dirty="0">
              <a:solidFill>
                <a:srgbClr val="1F4E79"/>
              </a:solidFill>
            </a:endParaRPr>
          </a:p>
          <a:p>
            <a:r>
              <a:rPr lang="en-US" altLang="ko-KR" sz="1200" b="1" dirty="0">
                <a:solidFill>
                  <a:srgbClr val="1F4E79"/>
                </a:solidFill>
              </a:rPr>
              <a:t>Why Cross Attention? — Concat+ResNet1D </a:t>
            </a:r>
            <a:r>
              <a:rPr lang="ko-KR" altLang="en-US" sz="1200" b="1" dirty="0">
                <a:solidFill>
                  <a:srgbClr val="1F4E79"/>
                </a:solidFill>
              </a:rPr>
              <a:t>대비 </a:t>
            </a:r>
            <a:r>
              <a:rPr lang="en-US" altLang="ko-KR" sz="1200" b="1" dirty="0">
                <a:solidFill>
                  <a:srgbClr val="1F4E79"/>
                </a:solidFill>
              </a:rPr>
              <a:t>Cross Attention </a:t>
            </a:r>
            <a:r>
              <a:rPr lang="ko-KR" altLang="en-US" sz="1200" b="1" dirty="0">
                <a:solidFill>
                  <a:srgbClr val="1F4E79"/>
                </a:solidFill>
              </a:rPr>
              <a:t>사용 근거</a:t>
            </a:r>
          </a:p>
          <a:p>
            <a:endParaRPr lang="ko-KR" altLang="en-US" sz="1200" b="1" dirty="0">
              <a:solidFill>
                <a:srgbClr val="1F4E79"/>
              </a:solidFill>
            </a:endParaRPr>
          </a:p>
          <a:p>
            <a:r>
              <a:rPr lang="ko-KR" altLang="en-US" sz="1050" b="1" dirty="0">
                <a:solidFill>
                  <a:srgbClr val="1A5E91"/>
                </a:solidFill>
              </a:rPr>
              <a:t>① </a:t>
            </a:r>
            <a:r>
              <a:rPr lang="en-US" altLang="ko-KR" sz="1050" b="1" dirty="0">
                <a:solidFill>
                  <a:srgbClr val="1A5E91"/>
                </a:solidFill>
              </a:rPr>
              <a:t>Modal Heterogeneity (</a:t>
            </a:r>
            <a:r>
              <a:rPr lang="ko-KR" altLang="en-US" sz="1050" b="1" dirty="0" err="1">
                <a:solidFill>
                  <a:srgbClr val="1A5E91"/>
                </a:solidFill>
              </a:rPr>
              <a:t>모달</a:t>
            </a:r>
            <a:r>
              <a:rPr lang="ko-KR" altLang="en-US" sz="1050" b="1" dirty="0">
                <a:solidFill>
                  <a:srgbClr val="1A5E91"/>
                </a:solidFill>
              </a:rPr>
              <a:t> 이종성</a:t>
            </a:r>
            <a:r>
              <a:rPr lang="en-US" altLang="ko-KR" sz="1050" b="1" dirty="0">
                <a:solidFill>
                  <a:srgbClr val="1A5E91"/>
                </a:solidFill>
              </a:rPr>
              <a:t>)</a:t>
            </a:r>
          </a:p>
          <a:p>
            <a:r>
              <a:rPr lang="ko-KR" altLang="en-US" sz="900" b="0" dirty="0"/>
              <a:t>   임상변수 </a:t>
            </a:r>
            <a:r>
              <a:rPr lang="en-US" altLang="ko-KR" sz="900" b="0" dirty="0"/>
              <a:t>(Age, Sex, BMI): 3</a:t>
            </a:r>
            <a:r>
              <a:rPr lang="ko-KR" altLang="en-US" sz="900" b="0" dirty="0"/>
              <a:t>개 스칼라 </a:t>
            </a:r>
            <a:r>
              <a:rPr lang="en-US" altLang="ko-KR" sz="900" b="0" dirty="0"/>
              <a:t>/ AEC: 64~256</a:t>
            </a:r>
            <a:r>
              <a:rPr lang="ko-KR" altLang="en-US" sz="900" b="0" dirty="0"/>
              <a:t>개 시계열 포인트</a:t>
            </a:r>
            <a:r>
              <a:rPr lang="en-US" altLang="ko-KR" sz="900" b="0" dirty="0"/>
              <a:t>.</a:t>
            </a:r>
          </a:p>
          <a:p>
            <a:r>
              <a:rPr lang="en-US" altLang="ko-KR" sz="900" b="0" dirty="0"/>
              <a:t>   </a:t>
            </a:r>
            <a:r>
              <a:rPr lang="ko-KR" altLang="en-US" sz="900" b="0" dirty="0"/>
              <a:t>이질적 두 </a:t>
            </a:r>
            <a:r>
              <a:rPr lang="ko-KR" altLang="en-US" sz="900" b="0" dirty="0" err="1"/>
              <a:t>모달을</a:t>
            </a:r>
            <a:r>
              <a:rPr lang="ko-KR" altLang="en-US" sz="900" b="0" dirty="0"/>
              <a:t> 단순 </a:t>
            </a:r>
            <a:r>
              <a:rPr lang="en-US" altLang="ko-KR" sz="900" b="0" dirty="0" err="1"/>
              <a:t>concat</a:t>
            </a:r>
            <a:r>
              <a:rPr lang="ko-KR" altLang="en-US" sz="900" b="0" dirty="0"/>
              <a:t>하면 모델이 동질 피처로 처리 → 구조적 차이 소실</a:t>
            </a:r>
            <a:r>
              <a:rPr lang="en-US" altLang="ko-KR" sz="900" b="0" dirty="0"/>
              <a:t>.</a:t>
            </a:r>
          </a:p>
          <a:p>
            <a:endParaRPr lang="en-US" altLang="ko-KR" sz="900" b="0" dirty="0"/>
          </a:p>
          <a:p>
            <a:r>
              <a:rPr lang="ko-KR" altLang="en-US" sz="1050" b="1" dirty="0">
                <a:solidFill>
                  <a:srgbClr val="1A5E91"/>
                </a:solidFill>
              </a:rPr>
              <a:t>② </a:t>
            </a:r>
            <a:r>
              <a:rPr lang="en-US" altLang="ko-KR" sz="1050" b="1" dirty="0">
                <a:solidFill>
                  <a:srgbClr val="1A5E91"/>
                </a:solidFill>
              </a:rPr>
              <a:t>Dimension Imbalance (</a:t>
            </a:r>
            <a:r>
              <a:rPr lang="ko-KR" altLang="en-US" sz="1050" b="1" dirty="0">
                <a:solidFill>
                  <a:srgbClr val="1A5E91"/>
                </a:solidFill>
              </a:rPr>
              <a:t>차원 불균형</a:t>
            </a:r>
            <a:r>
              <a:rPr lang="en-US" altLang="ko-KR" sz="1050" b="1" dirty="0">
                <a:solidFill>
                  <a:srgbClr val="1A5E91"/>
                </a:solidFill>
              </a:rPr>
              <a:t>)</a:t>
            </a:r>
          </a:p>
          <a:p>
            <a:r>
              <a:rPr lang="ko-KR" altLang="en-US" sz="900" b="0" dirty="0"/>
              <a:t>   </a:t>
            </a:r>
            <a:r>
              <a:rPr lang="en-US" altLang="ko-KR" sz="900" b="0" dirty="0" err="1"/>
              <a:t>concat</a:t>
            </a:r>
            <a:r>
              <a:rPr lang="ko-KR" altLang="en-US" sz="900" b="0" dirty="0"/>
              <a:t> 시 </a:t>
            </a:r>
            <a:r>
              <a:rPr lang="en-US" altLang="ko-KR" sz="900" b="0" dirty="0"/>
              <a:t>AEC(64~256</a:t>
            </a:r>
            <a:r>
              <a:rPr lang="ko-KR" altLang="en-US" sz="900" b="0" dirty="0"/>
              <a:t>차원</a:t>
            </a:r>
            <a:r>
              <a:rPr lang="en-US" altLang="ko-KR" sz="900" b="0" dirty="0"/>
              <a:t>)</a:t>
            </a:r>
            <a:r>
              <a:rPr lang="ko-KR" altLang="en-US" sz="900" b="0" dirty="0"/>
              <a:t>가 임상</a:t>
            </a:r>
            <a:r>
              <a:rPr lang="en-US" altLang="ko-KR" sz="900" b="0" dirty="0"/>
              <a:t>(3</a:t>
            </a:r>
            <a:r>
              <a:rPr lang="ko-KR" altLang="en-US" sz="900" b="0" dirty="0"/>
              <a:t>차원</a:t>
            </a:r>
            <a:r>
              <a:rPr lang="en-US" altLang="ko-KR" sz="900" b="0" dirty="0"/>
              <a:t>)</a:t>
            </a:r>
            <a:r>
              <a:rPr lang="ko-KR" altLang="en-US" sz="900" b="0" dirty="0"/>
              <a:t>을 압도 → 임상 변수의 영향력 희석</a:t>
            </a:r>
            <a:r>
              <a:rPr lang="en-US" altLang="ko-KR" sz="900" b="0" dirty="0"/>
              <a:t>.</a:t>
            </a:r>
          </a:p>
          <a:p>
            <a:r>
              <a:rPr lang="en-US" altLang="ko-KR" sz="900" b="0" dirty="0"/>
              <a:t>   </a:t>
            </a:r>
            <a:r>
              <a:rPr lang="en-US" altLang="ko-KR" sz="900" b="0" dirty="0" err="1"/>
              <a:t>CrossAttn</a:t>
            </a:r>
            <a:r>
              <a:rPr lang="ko-KR" altLang="en-US" sz="900" b="0" dirty="0"/>
              <a:t>은 각 </a:t>
            </a:r>
            <a:r>
              <a:rPr lang="ko-KR" altLang="en-US" sz="900" b="0" dirty="0" err="1"/>
              <a:t>모달을</a:t>
            </a:r>
            <a:r>
              <a:rPr lang="ko-KR" altLang="en-US" sz="900" b="0" dirty="0"/>
              <a:t> 독립 토큰 공간</a:t>
            </a:r>
            <a:r>
              <a:rPr lang="en-US" altLang="ko-KR" sz="900" b="0" dirty="0"/>
              <a:t>(</a:t>
            </a:r>
            <a:r>
              <a:rPr lang="en-US" altLang="ko-KR" sz="900" b="0" dirty="0" err="1"/>
              <a:t>d_model</a:t>
            </a:r>
            <a:r>
              <a:rPr lang="en-US" altLang="ko-KR" sz="900" b="0" dirty="0"/>
              <a:t>)</a:t>
            </a:r>
            <a:r>
              <a:rPr lang="ko-KR" altLang="en-US" sz="900" b="0" dirty="0"/>
              <a:t>으로 투영해 균형 있게 학습</a:t>
            </a:r>
            <a:r>
              <a:rPr lang="en-US" altLang="ko-KR" sz="900" b="0" dirty="0"/>
              <a:t>.</a:t>
            </a:r>
          </a:p>
          <a:p>
            <a:endParaRPr lang="en-US" altLang="ko-KR" sz="900" b="0" dirty="0"/>
          </a:p>
          <a:p>
            <a:r>
              <a:rPr lang="ko-KR" altLang="en-US" sz="1050" b="1" dirty="0">
                <a:solidFill>
                  <a:srgbClr val="1A5E91"/>
                </a:solidFill>
              </a:rPr>
              <a:t>③ </a:t>
            </a:r>
            <a:r>
              <a:rPr lang="en-US" altLang="ko-KR" sz="1050" b="1" dirty="0">
                <a:solidFill>
                  <a:srgbClr val="1A5E91"/>
                </a:solidFill>
              </a:rPr>
              <a:t>Bidirectional Selective Interaction (</a:t>
            </a:r>
            <a:r>
              <a:rPr lang="ko-KR" altLang="en-US" sz="1050" b="1" dirty="0">
                <a:solidFill>
                  <a:srgbClr val="1A5E91"/>
                </a:solidFill>
              </a:rPr>
              <a:t>양방향 선택적 상호작용</a:t>
            </a:r>
            <a:r>
              <a:rPr lang="en-US" altLang="ko-KR" sz="1050" b="1" dirty="0">
                <a:solidFill>
                  <a:srgbClr val="1A5E91"/>
                </a:solidFill>
              </a:rPr>
              <a:t>)</a:t>
            </a:r>
          </a:p>
          <a:p>
            <a:r>
              <a:rPr lang="ko-KR" altLang="en-US" sz="900" b="0" dirty="0"/>
              <a:t>   </a:t>
            </a:r>
            <a:r>
              <a:rPr lang="en-US" altLang="ko-KR" sz="900" b="0" dirty="0" err="1"/>
              <a:t>Clinic→AEC</a:t>
            </a:r>
            <a:r>
              <a:rPr lang="en-US" altLang="ko-KR" sz="900" b="0" dirty="0"/>
              <a:t>: "</a:t>
            </a:r>
            <a:r>
              <a:rPr lang="ko-KR" altLang="en-US" sz="900" b="0" dirty="0"/>
              <a:t>이 환자에서 </a:t>
            </a:r>
            <a:r>
              <a:rPr lang="en-US" altLang="ko-KR" sz="900" b="0" dirty="0"/>
              <a:t>AEC </a:t>
            </a:r>
            <a:r>
              <a:rPr lang="ko-KR" altLang="en-US" sz="900" b="0" dirty="0"/>
              <a:t>커브의 어느 구간이 중요한가</a:t>
            </a:r>
            <a:r>
              <a:rPr lang="en-US" altLang="ko-KR" sz="900" b="0" dirty="0"/>
              <a:t>?" </a:t>
            </a:r>
            <a:r>
              <a:rPr lang="ko-KR" altLang="en-US" sz="900" b="0" dirty="0"/>
              <a:t>를 학습</a:t>
            </a:r>
            <a:r>
              <a:rPr lang="en-US" altLang="ko-KR" sz="900" b="0" dirty="0"/>
              <a:t>.</a:t>
            </a:r>
          </a:p>
          <a:p>
            <a:r>
              <a:rPr lang="en-US" altLang="ko-KR" sz="900" b="0" dirty="0"/>
              <a:t>   </a:t>
            </a:r>
            <a:r>
              <a:rPr lang="en-US" altLang="ko-KR" sz="900" b="0" dirty="0" err="1"/>
              <a:t>AEC→Clinic</a:t>
            </a:r>
            <a:r>
              <a:rPr lang="en-US" altLang="ko-KR" sz="900" b="0" dirty="0"/>
              <a:t>: "</a:t>
            </a:r>
            <a:r>
              <a:rPr lang="ko-KR" altLang="en-US" sz="900" b="0" dirty="0"/>
              <a:t>이 </a:t>
            </a:r>
            <a:r>
              <a:rPr lang="en-US" altLang="ko-KR" sz="900" b="0" dirty="0"/>
              <a:t>AEC </a:t>
            </a:r>
            <a:r>
              <a:rPr lang="ko-KR" altLang="en-US" sz="900" b="0" dirty="0"/>
              <a:t>패턴은 어떤 임상 변수와 연관되는가</a:t>
            </a:r>
            <a:r>
              <a:rPr lang="en-US" altLang="ko-KR" sz="900" b="0" dirty="0"/>
              <a:t>?" </a:t>
            </a:r>
            <a:r>
              <a:rPr lang="ko-KR" altLang="en-US" sz="900" b="0" dirty="0"/>
              <a:t>를 학습</a:t>
            </a:r>
            <a:r>
              <a:rPr lang="en-US" altLang="ko-KR" sz="900" b="0" dirty="0"/>
              <a:t>.</a:t>
            </a:r>
          </a:p>
          <a:p>
            <a:r>
              <a:rPr lang="en-US" altLang="ko-KR" sz="900" b="0" dirty="0"/>
              <a:t>   </a:t>
            </a:r>
            <a:r>
              <a:rPr lang="ko-KR" altLang="en-US" sz="900" b="0" dirty="0"/>
              <a:t>단순 </a:t>
            </a:r>
            <a:r>
              <a:rPr lang="en-US" altLang="ko-KR" sz="900" b="0" dirty="0" err="1"/>
              <a:t>concat</a:t>
            </a:r>
            <a:r>
              <a:rPr lang="ko-KR" altLang="en-US" sz="900" b="0" dirty="0"/>
              <a:t> 구조는 이 방향성을 명시적으로 모델링할 수 없음</a:t>
            </a:r>
            <a:r>
              <a:rPr lang="en-US" altLang="ko-KR" sz="900" b="0" dirty="0"/>
              <a:t>.</a:t>
            </a:r>
          </a:p>
          <a:p>
            <a:endParaRPr lang="en-US" altLang="ko-KR" sz="900" b="0" dirty="0"/>
          </a:p>
          <a:p>
            <a:r>
              <a:rPr lang="ko-KR" altLang="en-US" sz="1050" b="1" dirty="0">
                <a:solidFill>
                  <a:srgbClr val="1A5E91"/>
                </a:solidFill>
              </a:rPr>
              <a:t>④ </a:t>
            </a:r>
            <a:r>
              <a:rPr lang="en-US" altLang="ko-KR" sz="1050" b="1" dirty="0">
                <a:solidFill>
                  <a:srgbClr val="1A5E91"/>
                </a:solidFill>
              </a:rPr>
              <a:t>Temporal Structure Preservation (</a:t>
            </a:r>
            <a:r>
              <a:rPr lang="ko-KR" altLang="en-US" sz="1050" b="1" dirty="0">
                <a:solidFill>
                  <a:srgbClr val="1A5E91"/>
                </a:solidFill>
              </a:rPr>
              <a:t>시간 구조 보존</a:t>
            </a:r>
            <a:r>
              <a:rPr lang="en-US" altLang="ko-KR" sz="1050" b="1" dirty="0">
                <a:solidFill>
                  <a:srgbClr val="1A5E91"/>
                </a:solidFill>
              </a:rPr>
              <a:t>)</a:t>
            </a:r>
          </a:p>
          <a:p>
            <a:r>
              <a:rPr lang="ko-KR" altLang="en-US" sz="900" b="0" dirty="0"/>
              <a:t>   </a:t>
            </a:r>
            <a:r>
              <a:rPr lang="en-US" altLang="ko-KR" sz="900" b="0" dirty="0"/>
              <a:t>ResNet1DEncoder: AEC</a:t>
            </a:r>
            <a:r>
              <a:rPr lang="ko-KR" altLang="en-US" sz="900" b="0" dirty="0"/>
              <a:t>를 </a:t>
            </a:r>
            <a:r>
              <a:rPr lang="en-US" altLang="ko-KR" sz="900" b="0" dirty="0"/>
              <a:t>Conv1D</a:t>
            </a:r>
            <a:r>
              <a:rPr lang="ko-KR" altLang="en-US" sz="900" b="0" dirty="0"/>
              <a:t>로 인코딩 후 </a:t>
            </a:r>
            <a:r>
              <a:rPr lang="en-US" altLang="ko-KR" sz="900" b="0" dirty="0"/>
              <a:t>Attention</a:t>
            </a:r>
            <a:r>
              <a:rPr lang="ko-KR" altLang="en-US" sz="900" b="0" dirty="0"/>
              <a:t>에 공급 → 국소 패턴 학습</a:t>
            </a:r>
            <a:r>
              <a:rPr lang="en-US" altLang="ko-KR" sz="900" b="0" dirty="0"/>
              <a:t>.</a:t>
            </a:r>
          </a:p>
          <a:p>
            <a:r>
              <a:rPr lang="en-US" altLang="ko-KR" sz="900" b="0" dirty="0"/>
              <a:t>   </a:t>
            </a:r>
            <a:r>
              <a:rPr lang="ko-KR" altLang="en-US" sz="900" b="0" dirty="0"/>
              <a:t>단순 </a:t>
            </a:r>
            <a:r>
              <a:rPr lang="en-US" altLang="ko-KR" sz="900" b="0" dirty="0"/>
              <a:t>concat+ResNet1D: AEC </a:t>
            </a:r>
            <a:r>
              <a:rPr lang="ko-KR" altLang="en-US" sz="900" b="0" dirty="0"/>
              <a:t>포인트를 독립 피처로 처리</a:t>
            </a:r>
            <a:r>
              <a:rPr lang="en-US" altLang="ko-KR" sz="900" b="0" dirty="0"/>
              <a:t>, </a:t>
            </a:r>
            <a:r>
              <a:rPr lang="ko-KR" altLang="en-US" sz="900" b="0" dirty="0"/>
              <a:t>시계열 순서 무시</a:t>
            </a:r>
            <a:r>
              <a:rPr lang="en-US" altLang="ko-KR" sz="900" b="0" dirty="0"/>
              <a:t>.</a:t>
            </a:r>
          </a:p>
          <a:p>
            <a:endParaRPr lang="en-US" altLang="ko-KR" sz="900" b="0" dirty="0"/>
          </a:p>
          <a:p>
            <a:r>
              <a:rPr lang="ko-KR" altLang="en-US" sz="1050" b="1" dirty="0">
                <a:solidFill>
                  <a:srgbClr val="1A5E91"/>
                </a:solidFill>
              </a:rPr>
              <a:t>⑤ </a:t>
            </a:r>
            <a:r>
              <a:rPr lang="en-US" altLang="ko-KR" sz="1050" b="1" dirty="0">
                <a:solidFill>
                  <a:srgbClr val="1A5E91"/>
                </a:solidFill>
              </a:rPr>
              <a:t>Interpretability (</a:t>
            </a:r>
            <a:r>
              <a:rPr lang="ko-KR" altLang="en-US" sz="1050" b="1" dirty="0">
                <a:solidFill>
                  <a:srgbClr val="1A5E91"/>
                </a:solidFill>
              </a:rPr>
              <a:t>해석가능성</a:t>
            </a:r>
            <a:r>
              <a:rPr lang="en-US" altLang="ko-KR" sz="1050" b="1" dirty="0">
                <a:solidFill>
                  <a:srgbClr val="1A5E91"/>
                </a:solidFill>
              </a:rPr>
              <a:t>) — </a:t>
            </a:r>
            <a:r>
              <a:rPr lang="ko-KR" altLang="en-US" sz="1050" b="1" dirty="0">
                <a:solidFill>
                  <a:srgbClr val="1A5E91"/>
                </a:solidFill>
              </a:rPr>
              <a:t>논문 핵심 강점</a:t>
            </a:r>
          </a:p>
          <a:p>
            <a:r>
              <a:rPr lang="ko-KR" altLang="en-US" sz="900" b="0" dirty="0"/>
              <a:t>   </a:t>
            </a:r>
            <a:r>
              <a:rPr lang="en-US" altLang="ko-KR" sz="900" b="0" dirty="0"/>
              <a:t>Attention weight → AEC </a:t>
            </a:r>
            <a:r>
              <a:rPr lang="ko-KR" altLang="en-US" sz="900" b="0" dirty="0"/>
              <a:t>어느 시점이 예측에 기여하는지 </a:t>
            </a:r>
            <a:r>
              <a:rPr lang="en-US" altLang="ko-KR" sz="900" b="0" dirty="0"/>
              <a:t>Heatmap </a:t>
            </a:r>
            <a:r>
              <a:rPr lang="ko-KR" altLang="en-US" sz="900" b="0" dirty="0"/>
              <a:t>시각화 가능</a:t>
            </a:r>
            <a:r>
              <a:rPr lang="en-US" altLang="ko-KR" sz="900" b="0" dirty="0"/>
              <a:t>.</a:t>
            </a:r>
          </a:p>
          <a:p>
            <a:r>
              <a:rPr lang="en-US" altLang="ko-KR" sz="900" b="0" dirty="0"/>
              <a:t>   </a:t>
            </a:r>
            <a:r>
              <a:rPr lang="ko-KR" altLang="en-US" sz="900" b="0" dirty="0"/>
              <a:t>임상적 근거</a:t>
            </a:r>
            <a:r>
              <a:rPr lang="en-US" altLang="ko-KR" sz="900" b="0" dirty="0"/>
              <a:t>(clinical rationale) </a:t>
            </a:r>
            <a:r>
              <a:rPr lang="ko-KR" altLang="en-US" sz="900" b="0" dirty="0"/>
              <a:t>제시 → 논문 설명력 및 </a:t>
            </a:r>
            <a:r>
              <a:rPr lang="ko-KR" altLang="en-US" sz="900" b="0" dirty="0" err="1"/>
              <a:t>리뷰어</a:t>
            </a:r>
            <a:r>
              <a:rPr lang="ko-KR" altLang="en-US" sz="900" b="0" dirty="0"/>
              <a:t> 설득력</a:t>
            </a:r>
            <a:r>
              <a:rPr lang="en-US" altLang="ko-KR" sz="900" b="0" dirty="0"/>
              <a:t>.</a:t>
            </a:r>
          </a:p>
          <a:p>
            <a:endParaRPr lang="en-US" altLang="ko-KR" sz="900" b="0" dirty="0"/>
          </a:p>
          <a:p>
            <a:r>
              <a:rPr lang="ko-KR" altLang="en-US" sz="1050" b="1" dirty="0">
                <a:solidFill>
                  <a:srgbClr val="1A5E91"/>
                </a:solidFill>
              </a:rPr>
              <a:t>⑥ 실험적 검증 </a:t>
            </a:r>
            <a:r>
              <a:rPr lang="en-US" altLang="ko-KR" sz="1050" b="1" dirty="0">
                <a:solidFill>
                  <a:srgbClr val="1A5E91"/>
                </a:solidFill>
              </a:rPr>
              <a:t>(M2 Best: len064/</a:t>
            </a:r>
            <a:r>
              <a:rPr lang="en-US" altLang="ko-KR" sz="1050" b="1" dirty="0" err="1">
                <a:solidFill>
                  <a:srgbClr val="1A5E91"/>
                </a:solidFill>
              </a:rPr>
              <a:t>scale_both</a:t>
            </a:r>
            <a:r>
              <a:rPr lang="en-US" altLang="ko-KR" sz="1050" b="1" dirty="0">
                <a:solidFill>
                  <a:srgbClr val="1A5E91"/>
                </a:solidFill>
              </a:rPr>
              <a:t>)</a:t>
            </a:r>
          </a:p>
          <a:p>
            <a:r>
              <a:rPr lang="ko-KR" altLang="en-US" sz="900" b="0" dirty="0"/>
              <a:t>   </a:t>
            </a:r>
            <a:r>
              <a:rPr lang="en-US" altLang="ko-KR" sz="900" b="0" dirty="0"/>
              <a:t>LR (</a:t>
            </a:r>
            <a:r>
              <a:rPr lang="en-US" altLang="ko-KR" sz="900" b="0" dirty="0" err="1"/>
              <a:t>concat</a:t>
            </a:r>
            <a:r>
              <a:rPr lang="en-US" altLang="ko-KR" sz="900" b="0" dirty="0"/>
              <a:t>)       : Test AUC 0.8147, Sensitivity 78.6%</a:t>
            </a:r>
          </a:p>
          <a:p>
            <a:r>
              <a:rPr lang="en-US" altLang="ko-KR" sz="900" b="0" dirty="0"/>
              <a:t>   ResNet1D (</a:t>
            </a:r>
            <a:r>
              <a:rPr lang="en-US" altLang="ko-KR" sz="900" b="0" dirty="0" err="1"/>
              <a:t>concat</a:t>
            </a:r>
            <a:r>
              <a:rPr lang="en-US" altLang="ko-KR" sz="900" b="0" dirty="0"/>
              <a:t>) : Test AUC 0.8394, Sensitivity 82.1%</a:t>
            </a:r>
          </a:p>
          <a:p>
            <a:r>
              <a:rPr lang="en-US" altLang="ko-KR" sz="900" b="0" dirty="0"/>
              <a:t>   </a:t>
            </a:r>
            <a:r>
              <a:rPr lang="en-US" altLang="ko-KR" sz="900" b="0" dirty="0" err="1"/>
              <a:t>CrossAttn</a:t>
            </a:r>
            <a:r>
              <a:rPr lang="ko-KR" altLang="en-US" sz="900" b="0" dirty="0"/>
              <a:t>         </a:t>
            </a:r>
            <a:r>
              <a:rPr lang="en-US" altLang="ko-KR" sz="900" b="0" dirty="0"/>
              <a:t>: Test AUC 0.8403, Sensitivity 89.3%  &lt;- </a:t>
            </a:r>
            <a:r>
              <a:rPr lang="ko-KR" altLang="en-US" sz="900" b="0" dirty="0"/>
              <a:t>최고 민감도</a:t>
            </a:r>
          </a:p>
          <a:p>
            <a:r>
              <a:rPr lang="ko-KR" altLang="en-US" sz="900" b="0" dirty="0"/>
              <a:t>   근감소증 탐지</a:t>
            </a:r>
            <a:r>
              <a:rPr lang="en-US" altLang="ko-KR" sz="900" b="0" dirty="0"/>
              <a:t>(</a:t>
            </a:r>
            <a:r>
              <a:rPr lang="ko-KR" altLang="en-US" sz="900" b="0" dirty="0"/>
              <a:t>높은 </a:t>
            </a:r>
            <a:r>
              <a:rPr lang="en-US" altLang="ko-KR" sz="900" b="0" dirty="0"/>
              <a:t>Sensitivity)</a:t>
            </a:r>
            <a:r>
              <a:rPr lang="ko-KR" altLang="en-US" sz="900" b="0" dirty="0"/>
              <a:t>라는 임상 목적에서 </a:t>
            </a:r>
            <a:r>
              <a:rPr lang="en-US" altLang="ko-KR" sz="900" b="0" dirty="0" err="1"/>
              <a:t>CrossAttn</a:t>
            </a:r>
            <a:r>
              <a:rPr lang="ko-KR" altLang="en-US" sz="900" b="0" dirty="0"/>
              <a:t>이 명확히 우위</a:t>
            </a:r>
            <a:r>
              <a:rPr lang="en-US" altLang="ko-KR" sz="900" b="0" dirty="0"/>
              <a:t>.</a:t>
            </a:r>
          </a:p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EB098BF-A8EB-3750-0F50-33B7B62BA01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779169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94AA21-9CF8-678A-C0B8-5BEF83D90B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1EA69DB-1308-34E1-27D7-99625C5840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7556C2F-238D-8454-0A8F-4305E1785F3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Model 1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은 나이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·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성별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·BMI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만 사용한 베이스 모델입니다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</a:t>
            </a:r>
          </a:p>
          <a:p>
            <a:endParaRPr lang="en-US" altLang="ko-KR" sz="1200" b="0" kern="1200" dirty="0">
              <a:solidFill>
                <a:schemeClr val="tx1"/>
              </a:solidFill>
              <a:effectLst/>
              <a:latin typeface="KoPub돋움체 Medium" panose="00000600000000000000" pitchFamily="2" charset="-127"/>
              <a:ea typeface="KoPub돋움체 Medium" panose="00000600000000000000" pitchFamily="2" charset="-127"/>
              <a:cs typeface="+mn-cs"/>
            </a:endParaRPr>
          </a:p>
          <a:p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**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5-fold CV (Logistic Regression)**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: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평균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CV AUC 0.7912 ± 0.0704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 Fold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간 표준편차가 약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0.07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로 다소 큰 편인데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이는 근감소증 양성이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10%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대에 불과한 불균형 데이터에서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fold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마다 양성 샘플 구성이 달라지는 것이 주요 원인입니다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</a:t>
            </a:r>
          </a:p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1AD18F8-447A-78AA-5E93-0870CCD3855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3932337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B40FC4-9D77-11F3-B5D9-82690C7526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13F0887-E898-A16F-E2E8-7C04A844AB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CDC0F98-8A52-9A03-6E65-4DEE9B5E61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200" b="0" i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*</a:t>
            </a:r>
            <a:r>
              <a:rPr lang="en-US" altLang="ko-KR" sz="1200" b="0" i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Slide 22*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: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**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ResNet1D**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도 한번 진행해봤는데 임상 변수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3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개를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1D </a:t>
            </a:r>
            <a:r>
              <a:rPr lang="ko-KR" altLang="en-US" sz="1200" b="0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컨볼루션으로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 처리한 것으로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, CV AUC 0.8080 ± 0.0657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로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LR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대비 약간 높습니다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</a:t>
            </a:r>
          </a:p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9151879-C6F6-D4F2-2483-06B9EA61FC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3618485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6CD591-7CB6-3C40-5D37-755621D58B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3E02C8F-A516-AD55-EE1B-FB3538D1DE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4AF47CF-4C7D-D05E-AE94-26BD2B36C9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**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Test set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결과**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를 보시면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, LR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이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AUC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**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0.8291**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, ResNet1D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가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0.7955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 Test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에서는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LR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이 더 우세했습니다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성별 분리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AUC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를 보면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,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**여성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(0.8345)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이 남성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(0.7669)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보다 일관되게 높습니다**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이 성별 격차는 이후 모든 모델에서 지속적으로 나타나는 패턴이기도 합니다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</a:t>
            </a:r>
          </a:p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370E427-B9AE-2028-E013-CDE99CF9CB6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23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4137763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72B7C6-71EC-B1BC-C320-8924CBD72D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7E07F09-0F9C-3D8C-D900-DAAA5BB34E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2D317F1-3613-8D77-5EA2-22123DCA5D7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Model 2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는 임상 변수에 환자 본인의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AEC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시계열을 추가한 모델입니다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 Cross Attention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아키텍처를 사용합니다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</a:br>
            <a:endParaRPr lang="en-US" altLang="ko-KR" sz="1200" b="0" kern="1200" dirty="0">
              <a:solidFill>
                <a:schemeClr val="tx1"/>
              </a:solidFill>
              <a:effectLst/>
              <a:latin typeface="KoPub돋움체 Medium" panose="00000600000000000000" pitchFamily="2" charset="-127"/>
              <a:ea typeface="KoPub돋움체 Medium" panose="00000600000000000000" pitchFamily="2" charset="-127"/>
              <a:cs typeface="+mn-cs"/>
            </a:endParaRPr>
          </a:p>
          <a:p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CV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결과를 보시면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, len64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기준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`</a:t>
            </a:r>
            <a:r>
              <a:rPr lang="en-US" altLang="ko-KR" sz="1200" b="0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scale_clinic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`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 조건에서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CV AUC 0.8195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를 기록하며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M1 LR(0.7912)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보다 향상되었습니다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 AEC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길이가 길어진다고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CV AUC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가 선형적으로 증가하지는 않으며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, len64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와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len256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이 비슷한 성능을 보입니다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</a:t>
            </a:r>
          </a:p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A09C03B-59ED-189F-2914-C9092A443A2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24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2652031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48AD4F-EFA8-3809-B516-B567B8CBCB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A692349-75AC-0FC6-4807-14A738F873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3320D85-88E9-0DA2-0A97-35CC608C22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200" b="0" i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*</a:t>
            </a:r>
            <a:r>
              <a:rPr lang="en-US" altLang="ko-KR" sz="1200" b="0" i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Slide 25*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: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**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Test set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결과**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에서 가장 눈에 띄는 것은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**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len64 / </a:t>
            </a:r>
            <a:r>
              <a:rPr lang="en-US" altLang="ko-KR" sz="1200" b="1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scale_both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조건의 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AUC 0.8403**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 Sensitivity 89.3%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로 매우 높은 민감도를 달성하였는데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, Specificity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가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65.2%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로 다소 낮은 것은 임상적으로는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false negative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를 최소화하는 근감소증 선별 목적에 맞게 설명할 수 있습니다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전반적으로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M1 LR(0.8291)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대비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AUC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가 향상되어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, AEC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가 추가적인 예측 정보를 제공한다는 초기 근거가 됩니다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</a:t>
            </a:r>
          </a:p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BA80AC9-E096-F4E2-3DC0-07CD0C56055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25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1988956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4B2FEC-F77D-26D8-807D-BECE5D140A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3919064-8322-D797-BDC3-006E702284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F0CF700-84ED-DDF9-44E3-E0AF69B524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Model 2_2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는 이번 실험에서 방법론적으로 가장 중요한 설계 중 하나입니다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</a:br>
            <a:endParaRPr lang="en-US" altLang="ko-KR" sz="1200" b="0" kern="1200" dirty="0">
              <a:solidFill>
                <a:schemeClr val="tx1"/>
              </a:solidFill>
              <a:effectLst/>
              <a:latin typeface="KoPub돋움체 Medium" panose="00000600000000000000" pitchFamily="2" charset="-127"/>
              <a:ea typeface="KoPub돋움체 Medium" panose="00000600000000000000" pitchFamily="2" charset="-127"/>
              <a:cs typeface="+mn-cs"/>
            </a:endParaRPr>
          </a:p>
          <a:p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Cross Attention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이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AEC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신호의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**순서 정보**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—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즉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z-direction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에 따른 방사선 노출 변화 패턴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—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를 실제로 학습하는지 확인하기 위해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, AEC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행 순서를 무작위로 </a:t>
            </a:r>
            <a:r>
              <a:rPr lang="ko-KR" altLang="en-US" sz="1200" b="0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셔플하여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 임상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-AEC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매핑을 의도적으로 파괴한 음성 대조군입니다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</a:t>
            </a:r>
          </a:p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480D884-1107-D727-19A9-FE1A80DE6F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26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0899702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17C0C8-2C08-AAC6-45FF-6BAACFA2D5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F8BF691-5916-E24B-AB73-AC087BA5B19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0F36C0E-206B-01F5-6CC1-D7735B74CC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200" b="0" i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*</a:t>
            </a:r>
            <a:r>
              <a:rPr lang="en-US" altLang="ko-KR" sz="1200" b="0" i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Slide 27*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의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CV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결과를 보시면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, M2_2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의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CV AUC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는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M2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보다 전반적으로 낮습니다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특히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`</a:t>
            </a:r>
            <a:r>
              <a:rPr lang="en-US" altLang="ko-KR" sz="1200" b="0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scale_both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`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 조건에서 더 뚜렷한 차이가 관찰됩니다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</a:br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E8F50D2-4001-476D-5FBE-89BC6C4FE2A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27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6449546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F6CE54-7EC0-3146-EE4C-C8F19111C9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4827504-C6A6-C5CB-944B-8D92920110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B4439C1-326F-E4A3-A7E9-F29EFF2EA5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b="0" kern="1200" dirty="0">
              <a:solidFill>
                <a:schemeClr val="tx1"/>
              </a:solidFill>
              <a:effectLst/>
              <a:latin typeface="KoPub돋움체 Medium" panose="00000600000000000000" pitchFamily="2" charset="-127"/>
              <a:ea typeface="KoPub돋움체 Medium" panose="00000600000000000000" pitchFamily="2" charset="-127"/>
              <a:cs typeface="+mn-cs"/>
            </a:endParaRPr>
          </a:p>
          <a:p>
            <a:r>
              <a:rPr lang="ko-KR" altLang="en-US" sz="1200" b="0" i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*</a:t>
            </a:r>
            <a:r>
              <a:rPr lang="en-US" altLang="ko-KR" sz="1200" b="0" i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Slide 28*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의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Test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결과에서도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, M2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최고 성능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(0.8403)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대비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M2_2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최고 성능이 약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0.8151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로 낮습니다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이 결과는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Cross Attention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이 단순히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AEC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의 통계적 분포만 활용하는 것이 아니라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,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**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AEC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시계열의 순서 패턴을 의미 있게 학습하고 있음을 시사**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합니다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이 음성 대조군 결과는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AEC biomarker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의 순서 의존성을 논문에서 주장하는 핵심 근거가 될 수 있습니다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</a:t>
            </a:r>
          </a:p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E6F7FD5-6970-A482-755D-09C1E7136D5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28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3648887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B9BAF1-347D-B03F-5DF5-0190776A48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0FDFFF6-B0C8-0994-D4AD-3CAB24C0D1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33FDE85-37C4-ADF6-A645-3D983BF573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200" b="0" i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*</a:t>
            </a:r>
            <a:r>
              <a:rPr lang="en-US" altLang="ko-KR" sz="1200" b="0" i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Slide 29</a:t>
            </a:r>
            <a:r>
              <a:rPr lang="ko-KR" altLang="en-US" sz="1200" b="0" i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입니다</a:t>
            </a:r>
            <a:r>
              <a:rPr lang="en-US" altLang="ko-KR" sz="1200" b="0" i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.*</a:t>
            </a:r>
            <a:endParaRPr lang="ko-KR" altLang="en-US" sz="1200" b="0" kern="1200" dirty="0">
              <a:solidFill>
                <a:schemeClr val="tx1"/>
              </a:solidFill>
              <a:effectLst/>
              <a:latin typeface="KoPub돋움체 Medium" panose="00000600000000000000" pitchFamily="2" charset="-127"/>
              <a:ea typeface="KoPub돋움체 Medium" panose="00000600000000000000" pitchFamily="2" charset="-127"/>
              <a:cs typeface="+mn-cs"/>
            </a:endParaRPr>
          </a:p>
          <a:p>
            <a:b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</a:br>
            <a:endParaRPr lang="ko-KR" altLang="en-US" sz="1200" b="0" kern="1200" dirty="0">
              <a:solidFill>
                <a:schemeClr val="tx1"/>
              </a:solidFill>
              <a:effectLst/>
              <a:latin typeface="KoPub돋움체 Medium" panose="00000600000000000000" pitchFamily="2" charset="-127"/>
              <a:ea typeface="KoPub돋움체 Medium" panose="00000600000000000000" pitchFamily="2" charset="-127"/>
              <a:cs typeface="+mn-cs"/>
            </a:endParaRPr>
          </a:p>
          <a:p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Model 3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은 임상 변수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, AEC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에 더해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**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CT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제조사 모델명을 </a:t>
            </a:r>
            <a:r>
              <a:rPr lang="ko-KR" altLang="en-US" sz="1200" b="1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임베딩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**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으로 추가한 모델입니다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</a:br>
            <a:endParaRPr lang="en-US" altLang="ko-KR" sz="1200" b="0" kern="1200" dirty="0">
              <a:solidFill>
                <a:schemeClr val="tx1"/>
              </a:solidFill>
              <a:effectLst/>
              <a:latin typeface="KoPub돋움체 Medium" panose="00000600000000000000" pitchFamily="2" charset="-127"/>
              <a:ea typeface="KoPub돋움체 Medium" panose="00000600000000000000" pitchFamily="2" charset="-127"/>
              <a:cs typeface="+mn-cs"/>
            </a:endParaRPr>
          </a:p>
          <a:p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스캐너 종류마다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AEC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신호의 절대적 크기나 분포 특성이 다를 수 있기 때문에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제조사 정보를 모델에 명시적으로 제공하면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center effect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를 보정하는 효과를 기대할 수 있습니다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</a:br>
            <a:endParaRPr lang="en-US" altLang="ko-KR" sz="1200" b="0" kern="1200" dirty="0">
              <a:solidFill>
                <a:schemeClr val="tx1"/>
              </a:solidFill>
              <a:effectLst/>
              <a:latin typeface="KoPub돋움체 Medium" panose="00000600000000000000" pitchFamily="2" charset="-127"/>
              <a:ea typeface="KoPub돋움체 Medium" panose="00000600000000000000" pitchFamily="2" charset="-127"/>
              <a:cs typeface="+mn-cs"/>
            </a:endParaRPr>
          </a:p>
          <a:p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CV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결과는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M2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와 큰 차이 없이 유사한 수준입니다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</a:t>
            </a:r>
          </a:p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1093573-4B47-F737-DE1C-F6CB99B9748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29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198323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CFC2D6-6E88-EEDB-1B58-D8B259F268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18948FE-08F2-A5B0-48C2-77DC0EF4AC8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20D920B-EAA8-5703-C802-BF98878656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200" b="0" i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*</a:t>
            </a:r>
            <a:r>
              <a:rPr lang="en-US" altLang="ko-KR" sz="1200" b="0" i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Slide 30*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의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Test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결과를 보시면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,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**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len128 / </a:t>
            </a:r>
            <a:r>
              <a:rPr lang="en-US" altLang="ko-KR" sz="1200" b="1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scale_both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조건에서 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Test AUC 0.8453**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을 달성하며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이번 실험의 전체 모델 중 최고 성능입니다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 Sensitivity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도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82.1%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로 높게 유지됩니다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다만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Brier score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가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0.2036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으로 보정 측면에서는 다소 아쉬운 편이며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이는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Calibration Plot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에서 확인할 수 있습니다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</a:br>
            <a:endParaRPr lang="en-US" altLang="ko-KR" sz="1200" b="0" kern="1200" dirty="0">
              <a:solidFill>
                <a:schemeClr val="tx1"/>
              </a:solidFill>
              <a:effectLst/>
              <a:latin typeface="KoPub돋움체 Medium" panose="00000600000000000000" pitchFamily="2" charset="-127"/>
              <a:ea typeface="KoPub돋움체 Medium" panose="00000600000000000000" pitchFamily="2" charset="-127"/>
              <a:cs typeface="+mn-cs"/>
            </a:endParaRPr>
          </a:p>
          <a:p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제조사 </a:t>
            </a:r>
            <a:r>
              <a:rPr lang="ko-KR" altLang="en-US" sz="1200" b="0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임베딩이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len64/</a:t>
            </a:r>
            <a:r>
              <a:rPr lang="en-US" altLang="ko-KR" sz="1200" b="0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scale_both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보다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len128/</a:t>
            </a:r>
            <a:r>
              <a:rPr lang="en-US" altLang="ko-KR" sz="1200" b="0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scale_both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에서 더 효과적으로 작용한 것은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, AEC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시계열이 더 세밀할수록 스캐너별 특성을 </a:t>
            </a:r>
            <a:r>
              <a:rPr lang="ko-KR" altLang="en-US" sz="1200" b="0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임베딩과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 함께 더 잘 활용할 수 있기 때문으로 해석됩니다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</a:t>
            </a:r>
          </a:p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71ABD68-026D-90EF-7BA0-2D9A879B44D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30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0141945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115484-EB8C-0BA9-6AAC-C8F5942663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5124E01-9CF2-5CFF-E759-F0D8D6A9BAD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35404A2-50A2-B892-9139-EB6EDBA08F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200" b="0" i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*</a:t>
            </a:r>
            <a:r>
              <a:rPr lang="en-US" altLang="ko-KR" sz="1200" b="0" i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Slide 31</a:t>
            </a:r>
            <a:r>
              <a:rPr lang="ko-KR" altLang="en-US" sz="1200" b="0" i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입니다</a:t>
            </a:r>
            <a:r>
              <a:rPr lang="en-US" altLang="ko-KR" sz="1200" b="0" i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.*</a:t>
            </a:r>
            <a:endParaRPr lang="ko-KR" altLang="en-US" sz="1200" b="0" kern="1200" dirty="0">
              <a:solidFill>
                <a:schemeClr val="tx1"/>
              </a:solidFill>
              <a:effectLst/>
              <a:latin typeface="KoPub돋움체 Medium" panose="00000600000000000000" pitchFamily="2" charset="-127"/>
              <a:ea typeface="KoPub돋움체 Medium" panose="00000600000000000000" pitchFamily="2" charset="-127"/>
              <a:cs typeface="+mn-cs"/>
            </a:endParaRPr>
          </a:p>
          <a:p>
            <a:endParaRPr lang="en-US" altLang="ko-KR" sz="1200" b="0" kern="1200" dirty="0">
              <a:solidFill>
                <a:schemeClr val="tx1"/>
              </a:solidFill>
              <a:effectLst/>
              <a:latin typeface="KoPub돋움체 Medium" panose="00000600000000000000" pitchFamily="2" charset="-127"/>
              <a:ea typeface="KoPub돋움체 Medium" panose="00000600000000000000" pitchFamily="2" charset="-127"/>
              <a:cs typeface="+mn-cs"/>
            </a:endParaRPr>
          </a:p>
          <a:p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**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Dataset Crop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변형입니다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.**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AEC 256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포인트 기준으로 중앙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60%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구간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(153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포인트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)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과 중앙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80%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구간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(205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포인트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)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을 잘라내 사용하는 방식입니다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이 아이디어는 </a:t>
            </a:r>
            <a:r>
              <a:rPr lang="ko-KR" altLang="en-US" sz="1200" b="0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흉복부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CT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에서 양 끝부분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—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주로 폐 상부와 골반 하부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—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은 근육 정보가 적고 노이즈가 클 수 있다는 전제에서 출발합니다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</a:t>
            </a:r>
          </a:p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E027BAC-5E59-9F67-5DA1-A0597296F45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31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1820427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5BEEC4-909C-BD23-D013-1EAA847F22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E918E8A-38C9-AB57-D9D5-2A2ABA08912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71BAB61-AF87-35F5-34C3-DF0BE7B0085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Crop 80%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및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60%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결과를 보시면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전반적으로 원본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len128/len256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과 유사한 성능을 보입니다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특히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**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M3 + Crop80 + </a:t>
            </a:r>
            <a:r>
              <a:rPr lang="en-US" altLang="ko-KR" sz="1200" b="1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scale_clinic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조건에서 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Test AUC 0.8424**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로 높은 성능이 관찰되어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중앙 구간 집중이 효과적일 수 있음을 시사합니다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</a:t>
            </a:r>
          </a:p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6F1A874-396F-FDA9-5B17-63865F0AF5D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32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4374710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4ED62C-453A-7F14-2753-4FEDE845A8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925FA33-D273-F2E7-5D2E-7CCB421D46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D765F2A-E342-068E-B256-7B020BBDE52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Crop 80%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및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60%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결과를 보시면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전반적으로 원본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len128/len256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과 유사한 성능을 보입니다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특히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**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M3 + Crop80 + </a:t>
            </a:r>
            <a:r>
              <a:rPr lang="en-US" altLang="ko-KR" sz="1200" b="1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scale_clinic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조건에서 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Test AUC 0.8424**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로 높은 성능이 관찰되어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중앙 구간 집중이 효과적일 수 있음을 시사합니다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</a:t>
            </a:r>
          </a:p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E7F7113-A6D0-F2B8-5CAF-AB32D7551D2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33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82116423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F87339-BAAB-C522-2EEA-4662CA6F61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F424897-85DC-AB2D-BBD1-C97D3853F0C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B33F27D-6BC6-57BC-B97C-2382180C6DC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50546F3-5355-6512-60F7-D6AF738B709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34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37203420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ED5885-09D1-C571-177A-218A6B51C1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22E0AB3-67AE-2AFF-1DDB-3DF5F92D83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E69DA0E-EF96-258F-7531-03767BDED0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0EE7685-F4D3-4520-2DB9-28C2A10AB07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35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71066112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9C7C89-CCB2-9A47-1F34-FF8C79052E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77A4680-3946-FE18-476B-4C9FB5208E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CA9439E-191C-916E-5CBF-B6C8AA0524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**둘째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, Extreme Value Exclusion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입니다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.**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 </a:t>
            </a:r>
            <a:r>
              <a:rPr lang="ko-KR" altLang="en-US" sz="1200" b="0" i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*</a:t>
            </a:r>
            <a:r>
              <a:rPr lang="en-US" altLang="ko-KR" sz="1200" b="0" i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Slides 36–37*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: </a:t>
            </a:r>
            <a:r>
              <a:rPr lang="ko-KR" altLang="en-US" sz="1200" b="0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상하위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5%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극단 샘플을 제거하여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Train 915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명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, Test 229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명으로 분석하였습니다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기준 데이터 대비 큰 개선은 없었으며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샘플 수가 줄어드는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trade-off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를 고려해야 합니다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</a:t>
            </a:r>
          </a:p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F837120-574F-86F3-AC3B-DAD3BFC186D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36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11672736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1038FF-5CD0-23A5-C53E-0A2D02145E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3BFFB5C-1BE6-C131-7A66-32FEF884495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911FC5B-E936-CE9F-BBFE-C8D0AA40E5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84CD189-F1FB-C17C-22EA-4E1C983EFE3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37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62524343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8094B2-F445-1952-09FB-7253CAC705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B5579E6-661C-857B-8E9D-0685506B41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E4113E7-A1BC-2E91-B591-7867D5CDF2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200" b="0" i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*</a:t>
            </a:r>
            <a:r>
              <a:rPr lang="en-US" altLang="ko-KR" sz="1200" b="0" i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Slide 38</a:t>
            </a:r>
            <a:r>
              <a:rPr lang="ko-KR" altLang="en-US" sz="1200" b="0" i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입니다</a:t>
            </a:r>
            <a:r>
              <a:rPr lang="en-US" altLang="ko-KR" sz="1200" b="0" i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.*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 전체 모델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Best Case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를 한눈에 비교한 표입니다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</a:br>
            <a:endParaRPr lang="en-US" altLang="ko-KR" sz="1200" b="0" kern="1200" dirty="0">
              <a:solidFill>
                <a:schemeClr val="tx1"/>
              </a:solidFill>
              <a:effectLst/>
              <a:latin typeface="KoPub돋움체 Medium" panose="00000600000000000000" pitchFamily="2" charset="-127"/>
              <a:ea typeface="KoPub돋움체 Medium" panose="00000600000000000000" pitchFamily="2" charset="-127"/>
              <a:cs typeface="+mn-cs"/>
            </a:endParaRPr>
          </a:p>
          <a:p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몇 가지 패턴을 요약하면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:</a:t>
            </a:r>
          </a:p>
          <a:p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-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**</a:t>
            </a:r>
            <a:r>
              <a:rPr lang="en-US" altLang="ko-KR" sz="1200" b="1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CrossAttn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이 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LR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보다 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AEC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를 더 효과적으로 활용**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합니다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: M2 </a:t>
            </a:r>
            <a:r>
              <a:rPr lang="en-US" altLang="ko-KR" sz="1200" b="0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CrossAttn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(0.8403) vs M2 LR(0.8147)</a:t>
            </a:r>
          </a:p>
          <a:p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-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**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AEC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길이**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: len128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이 전반적으로 가장 안정적이며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, len256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은 추가 이득이 없습니다</a:t>
            </a:r>
          </a:p>
          <a:p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-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**스케일링**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: </a:t>
            </a:r>
            <a:r>
              <a:rPr lang="en-US" altLang="ko-KR" sz="1200" b="0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scale_both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가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LR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에서는 유리하지만 </a:t>
            </a:r>
            <a:r>
              <a:rPr lang="en-US" altLang="ko-KR" sz="1200" b="0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CrossAttn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에서는 조건마다 혼재</a:t>
            </a:r>
          </a:p>
          <a:p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-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**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ResNet1D**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는 </a:t>
            </a:r>
            <a:r>
              <a:rPr lang="en-US" altLang="ko-KR" sz="1200" b="0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CrossAttn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보다는 낮지만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단순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LR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보다 대체로 우수합니다</a:t>
            </a:r>
          </a:p>
          <a:p>
            <a:b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</a:br>
            <a:endParaRPr lang="ko-KR" altLang="en-US" sz="1200" b="0" kern="1200" dirty="0">
              <a:solidFill>
                <a:schemeClr val="tx1"/>
              </a:solidFill>
              <a:effectLst/>
              <a:latin typeface="KoPub돋움체 Medium" panose="00000600000000000000" pitchFamily="2" charset="-127"/>
              <a:ea typeface="KoPub돋움체 Medium" panose="00000600000000000000" pitchFamily="2" charset="-127"/>
              <a:cs typeface="+mn-cs"/>
            </a:endParaRPr>
          </a:p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BE16FB8-060D-4C7E-0DE4-204818384DD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38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06520768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54E58B-43FF-9731-5211-785618E032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B6C5B16-400A-336B-AA14-3B293420B9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482220E-7775-9DCC-4621-1B39A4451F9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200" b="0" i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*</a:t>
            </a:r>
            <a:r>
              <a:rPr lang="en-US" altLang="ko-KR" sz="1200" b="0" i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Slide 39*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: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**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AEC Patient Matching Effect**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</a:br>
            <a:endParaRPr lang="en-US" altLang="ko-KR" sz="1200" b="0" kern="1200" dirty="0">
              <a:solidFill>
                <a:schemeClr val="tx1"/>
              </a:solidFill>
              <a:effectLst/>
              <a:latin typeface="KoPub돋움체 Medium" panose="00000600000000000000" pitchFamily="2" charset="-127"/>
              <a:ea typeface="KoPub돋움체 Medium" panose="00000600000000000000" pitchFamily="2" charset="-127"/>
              <a:cs typeface="+mn-cs"/>
            </a:endParaRPr>
          </a:p>
          <a:p>
            <a:r>
              <a:rPr lang="en-US" altLang="ko-KR" sz="1200" b="0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CrossAttn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모델에서 올바르게 매칭된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AEC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와 다른 환자의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AEC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를 섞어 사용한 경우를 비교한 결과입니다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 `</a:t>
            </a:r>
            <a:r>
              <a:rPr lang="en-US" altLang="ko-KR" sz="1200" b="0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scale_both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`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 조건에서 </a:t>
            </a:r>
            <a:r>
              <a:rPr lang="ko-KR" altLang="en-US" sz="1200" b="0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셔플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 시 최대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**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AUC 0.072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하락**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이 관찰되었습니다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이는 표준화된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AEC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신호에서 환자 개인의 순서 정보가 핵심적 역할을 한다는 것을 의미하며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, AEC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를 단순 분포 통계가 아닌 개인화된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biomarker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로 볼 수 있는 근거입니다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</a:t>
            </a:r>
          </a:p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995E755-7272-4E5D-37A1-F77E346B48C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39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63874297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FBD418-83E2-9A01-872C-CA86AB60ED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693239B-B114-3BD9-F0CC-0873E13A23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EC93ED7-EC55-2CB5-2158-F786CC71B2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200" b="0" i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*</a:t>
            </a:r>
            <a:r>
              <a:rPr lang="en-US" altLang="ko-KR" sz="1200" b="0" i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Slide 40</a:t>
            </a:r>
            <a:r>
              <a:rPr lang="ko-KR" altLang="en-US" sz="1200" b="0" i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입니다</a:t>
            </a:r>
            <a:r>
              <a:rPr lang="en-US" altLang="ko-KR" sz="1200" b="0" i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.*</a:t>
            </a:r>
            <a:endParaRPr lang="ko-KR" altLang="en-US" sz="1200" b="0" kern="1200" dirty="0">
              <a:solidFill>
                <a:schemeClr val="tx1"/>
              </a:solidFill>
              <a:effectLst/>
              <a:latin typeface="KoPub돋움체 Medium" panose="00000600000000000000" pitchFamily="2" charset="-127"/>
              <a:ea typeface="KoPub돋움체 Medium" panose="00000600000000000000" pitchFamily="2" charset="-127"/>
              <a:cs typeface="+mn-cs"/>
            </a:endParaRPr>
          </a:p>
          <a:p>
            <a:b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</a:br>
            <a:endParaRPr lang="ko-KR" altLang="en-US" sz="1200" b="0" kern="1200" dirty="0">
              <a:solidFill>
                <a:schemeClr val="tx1"/>
              </a:solidFill>
              <a:effectLst/>
              <a:latin typeface="KoPub돋움체 Medium" panose="00000600000000000000" pitchFamily="2" charset="-127"/>
              <a:ea typeface="KoPub돋움체 Medium" panose="00000600000000000000" pitchFamily="2" charset="-127"/>
              <a:cs typeface="+mn-cs"/>
            </a:endParaRPr>
          </a:p>
          <a:p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결론을 </a:t>
            </a:r>
            <a:r>
              <a:rPr lang="ko-KR" altLang="en-US" sz="1200" b="0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정리드리겠습니다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</a:br>
            <a:endParaRPr lang="en-US" altLang="ko-KR" sz="1200" b="0" kern="1200" dirty="0">
              <a:solidFill>
                <a:schemeClr val="tx1"/>
              </a:solidFill>
              <a:effectLst/>
              <a:latin typeface="KoPub돋움체 Medium" panose="00000600000000000000" pitchFamily="2" charset="-127"/>
              <a:ea typeface="KoPub돋움체 Medium" panose="00000600000000000000" pitchFamily="2" charset="-127"/>
              <a:cs typeface="+mn-cs"/>
            </a:endParaRPr>
          </a:p>
          <a:p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**첫째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,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최고 성능**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: M3 </a:t>
            </a:r>
            <a:r>
              <a:rPr lang="en-US" altLang="ko-KR" sz="1200" b="0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CrossAttn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 (len128, </a:t>
            </a:r>
            <a:r>
              <a:rPr lang="en-US" altLang="ko-KR" sz="1200" b="0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scale_both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)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조건에서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Test AUC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**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0.8453**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, Sensitivity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**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82.1%**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를 달성하였습니다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이 성능은 임상적으로 의미 있는 수준으로 평가됩니다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</a:br>
            <a:endParaRPr lang="en-US" altLang="ko-KR" sz="1200" b="0" kern="1200" dirty="0">
              <a:solidFill>
                <a:schemeClr val="tx1"/>
              </a:solidFill>
              <a:effectLst/>
              <a:latin typeface="KoPub돋움체 Medium" panose="00000600000000000000" pitchFamily="2" charset="-127"/>
              <a:ea typeface="KoPub돋움체 Medium" panose="00000600000000000000" pitchFamily="2" charset="-127"/>
              <a:cs typeface="+mn-cs"/>
            </a:endParaRPr>
          </a:p>
          <a:p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**둘째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, AEC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의 유효성**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: </a:t>
            </a:r>
            <a:r>
              <a:rPr lang="en-US" altLang="ko-KR" sz="1200" b="0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CrossAttn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모델에서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AEC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를 추가했을 때 기저모델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M1 LR(0.8291)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대비 일관된 성능 향상이 관찰되었습니다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 AEC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가 나이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·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성별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·BMI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이상의 추가 정보를 포함하고 있다는 초기 근거입니다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</a:br>
            <a:endParaRPr lang="en-US" altLang="ko-KR" sz="1200" b="0" kern="1200" dirty="0">
              <a:solidFill>
                <a:schemeClr val="tx1"/>
              </a:solidFill>
              <a:effectLst/>
              <a:latin typeface="KoPub돋움체 Medium" panose="00000600000000000000" pitchFamily="2" charset="-127"/>
              <a:ea typeface="KoPub돋움체 Medium" panose="00000600000000000000" pitchFamily="2" charset="-127"/>
              <a:cs typeface="+mn-cs"/>
            </a:endParaRPr>
          </a:p>
          <a:p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**셋째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,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순서 정보 학습 확인**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: </a:t>
            </a:r>
            <a:r>
              <a:rPr lang="en-US" altLang="ko-KR" sz="1200" b="0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scale_both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조건에서 </a:t>
            </a:r>
            <a:r>
              <a:rPr lang="ko-KR" altLang="en-US" sz="1200" b="0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셔플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 시 성능 하락이 더 크게 나타나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, </a:t>
            </a:r>
            <a:r>
              <a:rPr lang="en-US" altLang="ko-KR" sz="1200" b="0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CrossAttn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이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AEC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의 통계적 분포뿐 아니라 시계열 순서 패턴을 실제로 학습하고 있음이 확인되었습니다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</a:br>
            <a:endParaRPr lang="en-US" altLang="ko-KR" sz="1200" b="0" kern="1200" dirty="0">
              <a:solidFill>
                <a:schemeClr val="tx1"/>
              </a:solidFill>
              <a:effectLst/>
              <a:latin typeface="KoPub돋움체 Medium" panose="00000600000000000000" pitchFamily="2" charset="-127"/>
              <a:ea typeface="KoPub돋움체 Medium" panose="00000600000000000000" pitchFamily="2" charset="-127"/>
              <a:cs typeface="+mn-cs"/>
            </a:endParaRPr>
          </a:p>
          <a:p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**넷째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,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제조사 </a:t>
            </a:r>
            <a:r>
              <a:rPr lang="ko-KR" altLang="en-US" sz="1200" b="1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임베딩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**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: crop80/</a:t>
            </a:r>
            <a:r>
              <a:rPr lang="en-US" altLang="ko-KR" sz="1200" b="0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scale_clinic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에서 가장 큰 효과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(+0.024)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가 관찰되었으며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일부 조건에서 유의미한 향상을 보였습니다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스캐너 종류에 따른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AEC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분포 차이를 보정하는 효과가 있는 것으로 판단됩니다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</a:br>
            <a:endParaRPr lang="en-US" altLang="ko-KR" sz="1200" b="0" kern="1200" dirty="0">
              <a:solidFill>
                <a:schemeClr val="tx1"/>
              </a:solidFill>
              <a:effectLst/>
              <a:latin typeface="KoPub돋움체 Medium" panose="00000600000000000000" pitchFamily="2" charset="-127"/>
              <a:ea typeface="KoPub돋움체 Medium" panose="00000600000000000000" pitchFamily="2" charset="-127"/>
              <a:cs typeface="+mn-cs"/>
            </a:endParaRPr>
          </a:p>
          <a:p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**다섯째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, AEC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길이**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: len128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이 전반적으로 가장 안정적이며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len256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은 추가적인 이득을 보이지 않았습니다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 Crop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변형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(60%, 80%)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은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len064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와 유사한 성능을 보여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중앙 구간 집중 전략이 효율적인 대안이 될 수 있습니다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</a:br>
            <a:endParaRPr lang="en-US" altLang="ko-KR" sz="1200" b="0" kern="1200" dirty="0">
              <a:solidFill>
                <a:schemeClr val="tx1"/>
              </a:solidFill>
              <a:effectLst/>
              <a:latin typeface="KoPub돋움체 Medium" panose="00000600000000000000" pitchFamily="2" charset="-127"/>
              <a:ea typeface="KoPub돋움체 Medium" panose="00000600000000000000" pitchFamily="2" charset="-127"/>
              <a:cs typeface="+mn-cs"/>
            </a:endParaRPr>
          </a:p>
          <a:p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**여섯째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,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성별 편차**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: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여성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AUC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가 지속적으로 남성보다 높은 패턴이 모든 모델에서 관찰되었습니다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 AEC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매칭 정보가 여성 탐지에 더 중요한 역할을 하는 것으로 해석되며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이는 성별 분리 모델의 필요성을 시사합니다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</a:br>
            <a:endParaRPr lang="en-US" altLang="ko-KR" sz="1200" b="0" kern="1200" dirty="0">
              <a:solidFill>
                <a:schemeClr val="tx1"/>
              </a:solidFill>
              <a:effectLst/>
              <a:latin typeface="KoPub돋움체 Medium" panose="00000600000000000000" pitchFamily="2" charset="-127"/>
              <a:ea typeface="KoPub돋움체 Medium" panose="00000600000000000000" pitchFamily="2" charset="-127"/>
              <a:cs typeface="+mn-cs"/>
            </a:endParaRPr>
          </a:p>
          <a:p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전체적으로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이번 파일럿 연구는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AEC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가 근감소증 분류에 있어 독립적인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biomarker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로서의 잠재력을 가지고 있음을 지지하는 결과를 보여줍니다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</a:t>
            </a:r>
          </a:p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88A9D6D-812B-B8F9-EFDF-BAE1EA184E4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40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92709843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ED22AB-A816-B523-7228-6A54714062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21C6991-5AC0-8BFE-B0DD-9A3BE510EB9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6C6E563-1688-A2D1-C83F-947E28F23E9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200" b="0" i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*마지막 </a:t>
            </a:r>
            <a:r>
              <a:rPr lang="en-US" altLang="ko-KR" sz="1200" b="0" i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Slide 41</a:t>
            </a:r>
            <a:r>
              <a:rPr lang="ko-KR" altLang="en-US" sz="1200" b="0" i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입니다</a:t>
            </a:r>
            <a:r>
              <a:rPr lang="en-US" altLang="ko-KR" sz="1200" b="0" i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.*</a:t>
            </a:r>
            <a:b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</a:br>
            <a:endParaRPr lang="ko-KR" altLang="en-US" sz="1200" b="0" kern="1200" dirty="0">
              <a:solidFill>
                <a:schemeClr val="tx1"/>
              </a:solidFill>
              <a:effectLst/>
              <a:latin typeface="KoPub돋움체 Medium" panose="00000600000000000000" pitchFamily="2" charset="-127"/>
              <a:ea typeface="KoPub돋움체 Medium" panose="00000600000000000000" pitchFamily="2" charset="-127"/>
              <a:cs typeface="+mn-cs"/>
            </a:endParaRPr>
          </a:p>
          <a:p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향후 계획을 말씀드리겠습니다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</a:t>
            </a:r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</a:br>
            <a:endParaRPr lang="en-US" altLang="ko-KR" sz="1200" b="0" kern="1200" dirty="0">
              <a:solidFill>
                <a:schemeClr val="tx1"/>
              </a:solidFill>
              <a:effectLst/>
              <a:latin typeface="KoPub돋움체 Medium" panose="00000600000000000000" pitchFamily="2" charset="-127"/>
              <a:ea typeface="KoPub돋움체 Medium" panose="00000600000000000000" pitchFamily="2" charset="-127"/>
              <a:cs typeface="+mn-cs"/>
            </a:endParaRPr>
          </a:p>
          <a:p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**첫째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, Attention Map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시각화**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 </a:t>
            </a:r>
            <a:r>
              <a:rPr lang="en-US" altLang="ko-KR" sz="1200" b="0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CrossAttn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모델이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AEC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커브의 어느 시간 구간에 주목하는지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그리고 어떤 임상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feature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가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AEC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와 강하게 상호작용하는지를 </a:t>
            </a:r>
            <a:r>
              <a:rPr lang="ko-KR" altLang="en-US" sz="1200" b="0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히트맵으로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 </a:t>
            </a:r>
            <a:r>
              <a:rPr lang="ko-KR" altLang="en-US" sz="1200" b="0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시각화하려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 합니다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이는 논문에서 모델의 설명 가능성을 뒷받침하는 가장 강력한 근거가 될 것입니다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 CAM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또는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Attention Score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시각화를 구현할 계획입니다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</a:br>
            <a:endParaRPr lang="en-US" altLang="ko-KR" sz="1200" b="0" kern="1200" dirty="0">
              <a:solidFill>
                <a:schemeClr val="tx1"/>
              </a:solidFill>
              <a:effectLst/>
              <a:latin typeface="KoPub돋움체 Medium" panose="00000600000000000000" pitchFamily="2" charset="-127"/>
              <a:ea typeface="KoPub돋움체 Medium" panose="00000600000000000000" pitchFamily="2" charset="-127"/>
              <a:cs typeface="+mn-cs"/>
            </a:endParaRPr>
          </a:p>
          <a:p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**둘째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,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성별 분리 모델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(Sex-Stratified)**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현재 결과에서 남성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/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여성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AUC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격차가 뚜렷하게 나타나고 있어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성별별 독립 모델을 학습시켜 성능 차이의 원인을 분석하고 더 균형 잡힌 예측을 추구하려 합니다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</a:br>
            <a:endParaRPr lang="en-US" altLang="ko-KR" sz="1200" b="0" kern="1200" dirty="0">
              <a:solidFill>
                <a:schemeClr val="tx1"/>
              </a:solidFill>
              <a:effectLst/>
              <a:latin typeface="KoPub돋움체 Medium" panose="00000600000000000000" pitchFamily="2" charset="-127"/>
              <a:ea typeface="KoPub돋움체 Medium" panose="00000600000000000000" pitchFamily="2" charset="-127"/>
              <a:cs typeface="+mn-cs"/>
            </a:endParaRPr>
          </a:p>
          <a:p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**셋째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,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외부 병원 데이터 검증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(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신촌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)**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강남 데이터로 학습한 모델을 </a:t>
            </a:r>
            <a:r>
              <a:rPr lang="ko-KR" altLang="en-US" sz="1200" b="0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신촌세브란스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 데이터셋에 적용해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generalizability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를 검증할 계획입니다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두 센터 간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AEC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분포 차이가 존재하므로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제조사 </a:t>
            </a:r>
            <a:r>
              <a:rPr lang="ko-KR" altLang="en-US" sz="1200" b="0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임베딩의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 도메인 적응 효과도 함께 검증하겠습니다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</a:br>
            <a:endParaRPr lang="en-US" altLang="ko-KR" sz="1200" b="0" kern="1200" dirty="0">
              <a:solidFill>
                <a:schemeClr val="tx1"/>
              </a:solidFill>
              <a:effectLst/>
              <a:latin typeface="KoPub돋움체 Medium" panose="00000600000000000000" pitchFamily="2" charset="-127"/>
              <a:ea typeface="KoPub돋움체 Medium" panose="00000600000000000000" pitchFamily="2" charset="-127"/>
              <a:cs typeface="+mn-cs"/>
            </a:endParaRPr>
          </a:p>
          <a:p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이상으로 발표를 마치겠습니다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질문 받겠습니다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</a:t>
            </a:r>
          </a:p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C6D6AB0-DD5F-2A9C-EBDE-29492F8D1D3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41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3456196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2" name="Google Shape;1172;g3d412ffb079_0_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40188" y="857250"/>
            <a:ext cx="4113212" cy="23145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3" name="Google Shape;1173;g3d412ffb079_0_61:notes"/>
          <p:cNvSpPr txBox="1">
            <a:spLocks noGrp="1"/>
          </p:cNvSpPr>
          <p:nvPr>
            <p:ph type="body" idx="1"/>
          </p:nvPr>
        </p:nvSpPr>
        <p:spPr>
          <a:xfrm>
            <a:off x="1219200" y="3300413"/>
            <a:ext cx="9753600" cy="27003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74" name="Google Shape;1174;g3d412ffb079_0_61:notes"/>
          <p:cNvSpPr txBox="1">
            <a:spLocks noGrp="1"/>
          </p:cNvSpPr>
          <p:nvPr>
            <p:ph type="sldNum" idx="12"/>
          </p:nvPr>
        </p:nvSpPr>
        <p:spPr>
          <a:xfrm>
            <a:off x="6905625" y="6513513"/>
            <a:ext cx="5283300" cy="3444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53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72239739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microsoft.com/office/2007/relationships/hdphoto" Target="../media/hdphoto1.wdp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object 2">
            <a:extLst>
              <a:ext uri="{FF2B5EF4-FFF2-40B4-BE49-F238E27FC236}">
                <a16:creationId xmlns:a16="http://schemas.microsoft.com/office/drawing/2014/main" id="{D279837B-A00B-4327-9AB8-97044CBDABA7}"/>
              </a:ext>
            </a:extLst>
          </p:cNvPr>
          <p:cNvPicPr/>
          <p:nvPr userDrawn="1"/>
        </p:nvPicPr>
        <p:blipFill rotWithShape="1">
          <a:blip r:embed="rId2"/>
          <a:stretch>
            <a:fillRect/>
          </a:stretch>
        </p:blipFill>
        <p:spPr>
          <a:xfrm>
            <a:off x="0" y="228731"/>
            <a:ext cx="12192000" cy="6400538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4B17CE84-3562-483D-8448-6A30899AF09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t="19699" b="22132"/>
          <a:stretch/>
        </p:blipFill>
        <p:spPr>
          <a:xfrm>
            <a:off x="3461866" y="5273477"/>
            <a:ext cx="4168803" cy="982769"/>
          </a:xfrm>
          <a:prstGeom prst="rect">
            <a:avLst/>
          </a:prstGeom>
        </p:spPr>
      </p:pic>
      <p:pic>
        <p:nvPicPr>
          <p:cNvPr id="8" name="object 4">
            <a:extLst>
              <a:ext uri="{FF2B5EF4-FFF2-40B4-BE49-F238E27FC236}">
                <a16:creationId xmlns:a16="http://schemas.microsoft.com/office/drawing/2014/main" id="{8EF8DD5B-0316-4193-BCC7-D6CFCAE8969D}"/>
              </a:ext>
            </a:extLst>
          </p:cNvPr>
          <p:cNvPicPr/>
          <p:nvPr userDrawn="1"/>
        </p:nvPicPr>
        <p:blipFill rotWithShape="1">
          <a:blip r:embed="rId4"/>
          <a:stretch>
            <a:fillRect/>
          </a:stretch>
        </p:blipFill>
        <p:spPr>
          <a:xfrm>
            <a:off x="-277376" y="5274173"/>
            <a:ext cx="4550839" cy="9927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85786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그룹 23">
            <a:extLst>
              <a:ext uri="{FF2B5EF4-FFF2-40B4-BE49-F238E27FC236}">
                <a16:creationId xmlns:a16="http://schemas.microsoft.com/office/drawing/2014/main" id="{5EC22856-02EF-4559-9B66-BD5C863FF254}"/>
              </a:ext>
            </a:extLst>
          </p:cNvPr>
          <p:cNvGrpSpPr/>
          <p:nvPr userDrawn="1"/>
        </p:nvGrpSpPr>
        <p:grpSpPr>
          <a:xfrm>
            <a:off x="-8467" y="6463089"/>
            <a:ext cx="12200467" cy="403574"/>
            <a:chOff x="-8467" y="6470661"/>
            <a:chExt cx="12200467" cy="390527"/>
          </a:xfrm>
        </p:grpSpPr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0DFE1C4B-A7EE-47E1-8AAE-3EF4E43D16F6}"/>
                </a:ext>
              </a:extLst>
            </p:cNvPr>
            <p:cNvSpPr/>
            <p:nvPr userDrawn="1"/>
          </p:nvSpPr>
          <p:spPr>
            <a:xfrm>
              <a:off x="0" y="6496062"/>
              <a:ext cx="12192000" cy="365126"/>
            </a:xfrm>
            <a:prstGeom prst="rect">
              <a:avLst/>
            </a:prstGeom>
            <a:solidFill>
              <a:srgbClr val="1F346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</p:txBody>
        </p:sp>
        <p:cxnSp>
          <p:nvCxnSpPr>
            <p:cNvPr id="15" name="직선 연결선 14">
              <a:extLst>
                <a:ext uri="{FF2B5EF4-FFF2-40B4-BE49-F238E27FC236}">
                  <a16:creationId xmlns:a16="http://schemas.microsoft.com/office/drawing/2014/main" id="{28C131E4-1CD9-49D8-B343-8379436586C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8467" y="6470661"/>
              <a:ext cx="12200467" cy="0"/>
            </a:xfrm>
            <a:prstGeom prst="line">
              <a:avLst/>
            </a:prstGeom>
            <a:ln w="57150"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제목 1">
            <a:extLst>
              <a:ext uri="{FF2B5EF4-FFF2-40B4-BE49-F238E27FC236}">
                <a16:creationId xmlns:a16="http://schemas.microsoft.com/office/drawing/2014/main" id="{FE4F955D-C3E9-4033-8442-9095377B06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8000" y="365126"/>
            <a:ext cx="11176000" cy="532342"/>
          </a:xfrm>
        </p:spPr>
        <p:txBody>
          <a:bodyPr>
            <a:normAutofit/>
          </a:bodyPr>
          <a:lstStyle>
            <a:lvl1pPr>
              <a:defRPr sz="2400" b="1">
                <a:solidFill>
                  <a:srgbClr val="02367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cs typeface="Arial" panose="020B0604020202020204" pitchFamily="34" charset="0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CA482F1-FC12-443E-892A-B48F9C50AA53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08000" y="897468"/>
            <a:ext cx="11176000" cy="5063066"/>
          </a:xfrm>
        </p:spPr>
        <p:txBody>
          <a:bodyPr/>
          <a:lstStyle>
            <a:lvl1pPr>
              <a:lnSpc>
                <a:spcPct val="200000"/>
              </a:lnSpc>
              <a:defRPr sz="2000" b="0">
                <a:latin typeface="KoPub돋움체 Bold" panose="02020603020101020101" pitchFamily="18" charset="-127"/>
                <a:ea typeface="KoPub돋움체 Bold" panose="02020603020101020101" pitchFamily="18" charset="-127"/>
              </a:defRPr>
            </a:lvl1pPr>
            <a:lvl2pPr>
              <a:lnSpc>
                <a:spcPct val="150000"/>
              </a:lnSpc>
              <a:defRPr sz="1800">
                <a:latin typeface="KoPub돋움체 Medium" panose="02020603020101020101" pitchFamily="18" charset="-127"/>
                <a:ea typeface="KoPub돋움체 Medium" panose="02020603020101020101" pitchFamily="18" charset="-127"/>
              </a:defRPr>
            </a:lvl2pPr>
            <a:lvl3pPr>
              <a:lnSpc>
                <a:spcPct val="150000"/>
              </a:lnSpc>
              <a:defRPr sz="1600">
                <a:latin typeface="KoPub돋움체 Medium" panose="02020603020101020101" pitchFamily="18" charset="-127"/>
                <a:ea typeface="KoPub돋움체 Medium" panose="02020603020101020101" pitchFamily="18" charset="-127"/>
              </a:defRPr>
            </a:lvl3pPr>
            <a:lvl4pPr>
              <a:lnSpc>
                <a:spcPct val="150000"/>
              </a:lnSpc>
              <a:defRPr sz="1600">
                <a:latin typeface="KoPub돋움체 Medium" panose="02020603020101020101" pitchFamily="18" charset="-127"/>
                <a:ea typeface="KoPub돋움체 Medium" panose="02020603020101020101" pitchFamily="18" charset="-127"/>
              </a:defRPr>
            </a:lvl4pPr>
            <a:lvl5pPr>
              <a:lnSpc>
                <a:spcPct val="150000"/>
              </a:lnSpc>
              <a:defRPr sz="1600">
                <a:latin typeface="KoPub돋움체 Medium" panose="02020603020101020101" pitchFamily="18" charset="-127"/>
                <a:ea typeface="KoPub돋움체 Medium" panose="02020603020101020101" pitchFamily="18" charset="-127"/>
              </a:defRPr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95A1225D-0BD8-42FD-A091-144615FF073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-583" b="3459"/>
          <a:stretch/>
        </p:blipFill>
        <p:spPr>
          <a:xfrm>
            <a:off x="5452198" y="6510701"/>
            <a:ext cx="1279135" cy="356658"/>
          </a:xfrm>
          <a:prstGeom prst="rect">
            <a:avLst/>
          </a:prstGeom>
          <a:solidFill>
            <a:srgbClr val="1F346B"/>
          </a:solidFill>
        </p:spPr>
      </p:pic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31EFF5A-1B85-42B1-95F5-C4213C5AD9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04600" y="6517302"/>
            <a:ext cx="558800" cy="321398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9F4AF89A-28FA-47FA-B28F-9A9C6913CB7A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DAEAB581-7B9E-4552-9BEC-BDB2FB36C0F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66482" b="96122" l="16219" r="85171">
                        <a14:foregroundMark x1="20111" y1="81440" x2="20111" y2="81440"/>
                        <a14:foregroundMark x1="16404" y1="81440" x2="16404" y2="81440"/>
                        <a14:foregroundMark x1="25950" y1="81717" x2="25950" y2="81717"/>
                        <a14:foregroundMark x1="35959" y1="86704" x2="35959" y2="86704"/>
                        <a14:foregroundMark x1="44300" y1="83657" x2="44300" y2="83657"/>
                        <a14:foregroundMark x1="53197" y1="73961" x2="53197" y2="73961"/>
                        <a14:foregroundMark x1="82947" y1="81717" x2="82947" y2="81717"/>
                        <a14:foregroundMark x1="85171" y1="87812" x2="85171" y2="87812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2517" t="63297" r="13176"/>
          <a:stretch/>
        </p:blipFill>
        <p:spPr>
          <a:xfrm>
            <a:off x="112017" y="6545265"/>
            <a:ext cx="1744133" cy="288231"/>
          </a:xfrm>
          <a:prstGeom prst="rect">
            <a:avLst/>
          </a:prstGeom>
        </p:spPr>
      </p:pic>
      <p:sp>
        <p:nvSpPr>
          <p:cNvPr id="16" name="날짜 개체 틀 3">
            <a:extLst>
              <a:ext uri="{FF2B5EF4-FFF2-40B4-BE49-F238E27FC236}">
                <a16:creationId xmlns:a16="http://schemas.microsoft.com/office/drawing/2014/main" id="{3920A115-BF94-4DB0-B759-905F580E6A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698025" y="6495439"/>
            <a:ext cx="1258711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17" name="바닥글 개체 틀 4">
            <a:extLst>
              <a:ext uri="{FF2B5EF4-FFF2-40B4-BE49-F238E27FC236}">
                <a16:creationId xmlns:a16="http://schemas.microsoft.com/office/drawing/2014/main" id="{CB761E04-ABC5-4F9B-B7F4-0370F3F02E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308348" y="6495439"/>
            <a:ext cx="1888067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764840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7D0B4DC-8072-4B8E-A822-FE3A08C0D6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D927B99-20C3-4D37-8275-EA6400E5C1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7C6CE84-6AD8-453A-AD6E-FEAF6049C1C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044141"/>
            <a:ext cx="2743200" cy="365125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49EF105-0337-4580-9111-FD2F527F97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044141"/>
            <a:ext cx="4114800" cy="365125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5">
            <a:extLst>
              <a:ext uri="{FF2B5EF4-FFF2-40B4-BE49-F238E27FC236}">
                <a16:creationId xmlns:a16="http://schemas.microsoft.com/office/drawing/2014/main" id="{AB31AF83-2C46-4BF6-B48E-DD76F99A3E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40800" y="6044141"/>
            <a:ext cx="2743200" cy="365125"/>
          </a:xfrm>
        </p:spPr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517793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88C8B6C-1DEF-4332-8A14-F6B6981FD9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078B35E-5C7A-4650-863C-461C8592BB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A0FC85E-DA01-4C94-8312-2EAB20EAB35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6ADE796-457C-4E05-BBB8-BC7FD13901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65A564A-D398-41C0-BEF2-5D2A53F370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BD0DB09-1DC7-4816-820B-2EDD19BADB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298322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D073845-DA08-4E02-89E5-279477CDC1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FA0F8E2-8F9C-4936-8D92-FA7FE49702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9C35784-8D42-4310-8640-07C1BEB330B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1B31B950-6CB7-42DB-A303-B407EF83D2A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0F35007-CA56-4CB7-8C5F-CF3E2924C58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290CD9AE-54AB-44CB-8910-A70F24EB3A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42AFA608-2F47-4FBC-8A45-AC037C64C0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FEA635AC-BD3D-4D4A-AB07-EAABF50137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76600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D27486-42F6-4B67-8DF8-769971D09A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9BBFFFA3-6C08-4D2B-B714-F2729D0D94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01B550E-4A2E-4405-8F29-A9633B7A92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40B985F-0B0F-472E-A18E-72C776E302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69097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35995497-1A46-4FDE-B4B1-CA2510A4E8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66BDDD35-FFDF-4936-8645-AC2A1F2AB0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A31037F-312F-4D9B-9119-F134F49B29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592111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8062E35-F23E-4CDC-9C00-11DCB7E970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765F35A-C1B0-4F2A-8536-7C9C4EF9C0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6B6DFEF-5929-42A1-B17A-6AD3F1AC5E0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B8A33CA-A779-4AE7-8BB3-0DF9C81A74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1539BD6-447C-4ABC-97CC-BCC453A389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6A96239-5406-4F31-95AA-C4BD1AB505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780733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EFCC7A7-4C8B-434F-9C38-C6E5AC9E37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97AD0D2C-AE0D-4BDF-B9E8-D91CD7556C1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9F58740-6BDA-46A2-A629-765E7E175B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92C1AD5-7F55-4125-8A2F-BC07A86DA4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AB58409-227F-4B89-B306-5E32E6E4F5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7C64012-3A7B-4999-BA77-06258A04A4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430372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154230E-387F-465D-9111-5F8ACFE1D2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C53B19F-7C90-4073-858B-0BD87654EFB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96123FE-787A-4904-AA9D-8ACC7B307B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F1EAC67-5F52-452E-9E50-F587C64817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50EEB5A-4207-4ADB-95D4-B87AA305BA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00714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4DACCBB6-C18F-485C-A53E-8683CFFE909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12DC10F-92E5-436B-9D63-2A68B11CB04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5DDDF8-BB20-4C9B-9571-A39BA7D6E9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354DDF5-9EDE-406E-BFC5-8359CD7084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B989F03-47B6-4B39-B0CA-2A216789CA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777190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A31B03D-0C42-48E6-948A-722C5EE3FD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95A6E46-0B48-4B44-9DA0-C7C1E05C33E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20D4B93-E437-4DCC-9E09-16EA88BBC51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4A7A77E-05D0-4203-B655-9A2A21B58D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C09CEAC-52D1-4D7C-99C4-13222A951ED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fld id="{9F4AF89A-28FA-47FA-B28F-9A9C6913CB7A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554859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KoPub돋움체 Medium" panose="00000600000000000000" pitchFamily="2" charset="-127"/>
          <a:ea typeface="KoPub돋움체 Medium" panose="00000600000000000000" pitchFamily="2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KoPub돋움체 Medium" panose="00000600000000000000" pitchFamily="2" charset="-127"/>
          <a:ea typeface="KoPub돋움체 Medium" panose="00000600000000000000" pitchFamily="2" charset="-127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KoPub돋움체 Medium" panose="00000600000000000000" pitchFamily="2" charset="-127"/>
          <a:ea typeface="KoPub돋움체 Medium" panose="00000600000000000000" pitchFamily="2" charset="-127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KoPub돋움체 Medium" panose="00000600000000000000" pitchFamily="2" charset="-127"/>
          <a:ea typeface="KoPub돋움체 Medium" panose="00000600000000000000" pitchFamily="2" charset="-127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KoPub돋움체 Medium" panose="00000600000000000000" pitchFamily="2" charset="-127"/>
          <a:ea typeface="KoPub돋움체 Medium" panose="00000600000000000000" pitchFamily="2" charset="-127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KoPub돋움체 Medium" panose="00000600000000000000" pitchFamily="2" charset="-127"/>
          <a:ea typeface="KoPub돋움체 Medium" panose="00000600000000000000" pitchFamily="2" charset="-127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7" Type="http://schemas.openxmlformats.org/officeDocument/2006/relationships/image" Target="../media/image22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7" Type="http://schemas.openxmlformats.org/officeDocument/2006/relationships/image" Target="../media/image28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7" Type="http://schemas.openxmlformats.org/officeDocument/2006/relationships/image" Target="../media/image34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7" Type="http://schemas.openxmlformats.org/officeDocument/2006/relationships/image" Target="../media/image40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9.png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7" Type="http://schemas.openxmlformats.org/officeDocument/2006/relationships/image" Target="../media/image46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5.png"/><Relationship Id="rId5" Type="http://schemas.openxmlformats.org/officeDocument/2006/relationships/image" Target="../media/image44.png"/><Relationship Id="rId4" Type="http://schemas.openxmlformats.org/officeDocument/2006/relationships/image" Target="../media/image43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7" Type="http://schemas.openxmlformats.org/officeDocument/2006/relationships/image" Target="../media/image52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1.png"/><Relationship Id="rId5" Type="http://schemas.openxmlformats.org/officeDocument/2006/relationships/image" Target="../media/image50.png"/><Relationship Id="rId4" Type="http://schemas.openxmlformats.org/officeDocument/2006/relationships/image" Target="../media/image49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5.png"/><Relationship Id="rId4" Type="http://schemas.openxmlformats.org/officeDocument/2006/relationships/image" Target="../media/image54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.png"/><Relationship Id="rId4" Type="http://schemas.openxmlformats.org/officeDocument/2006/relationships/image" Target="../media/image58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3">
            <a:extLst>
              <a:ext uri="{FF2B5EF4-FFF2-40B4-BE49-F238E27FC236}">
                <a16:creationId xmlns:a16="http://schemas.microsoft.com/office/drawing/2014/main" id="{4C14D9A0-1BB9-428F-B273-3CE24758593B}"/>
              </a:ext>
            </a:extLst>
          </p:cNvPr>
          <p:cNvSpPr txBox="1">
            <a:spLocks/>
          </p:cNvSpPr>
          <p:nvPr/>
        </p:nvSpPr>
        <p:spPr>
          <a:xfrm>
            <a:off x="417068" y="2062806"/>
            <a:ext cx="11387837" cy="398186"/>
          </a:xfrm>
          <a:prstGeom prst="rect">
            <a:avLst/>
          </a:prstGeom>
        </p:spPr>
        <p:txBody>
          <a:bodyPr vert="horz" wrap="square" lIns="0" tIns="13335" rIns="0" bIns="0">
            <a:sp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12700">
              <a:lnSpc>
                <a:spcPct val="100000"/>
              </a:lnSpc>
              <a:spcBef>
                <a:spcPts val="104"/>
              </a:spcBef>
              <a:defRPr/>
            </a:pPr>
            <a:r>
              <a:rPr lang="en-US" altLang="ko-KR" sz="2500" b="1" dirty="0">
                <a:solidFill>
                  <a:schemeClr val="lt1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  <a:cs typeface="Arial" panose="020B0604020202020204" pitchFamily="34" charset="0"/>
              </a:rPr>
              <a:t>Regression &amp; 1D CNN Result Comparison with AEC, SMI</a:t>
            </a:r>
          </a:p>
        </p:txBody>
      </p:sp>
      <p:sp>
        <p:nvSpPr>
          <p:cNvPr id="5" name="object 5">
            <a:extLst>
              <a:ext uri="{FF2B5EF4-FFF2-40B4-BE49-F238E27FC236}">
                <a16:creationId xmlns:a16="http://schemas.microsoft.com/office/drawing/2014/main" id="{94B21C1C-F3A0-440B-961E-968F2C77FB2A}"/>
              </a:ext>
            </a:extLst>
          </p:cNvPr>
          <p:cNvSpPr txBox="1"/>
          <p:nvPr/>
        </p:nvSpPr>
        <p:spPr>
          <a:xfrm>
            <a:off x="417068" y="3139177"/>
            <a:ext cx="7139940" cy="259045"/>
          </a:xfrm>
          <a:prstGeom prst="rect">
            <a:avLst/>
          </a:prstGeom>
        </p:spPr>
        <p:txBody>
          <a:bodyPr vert="horz" wrap="square" lIns="0" tIns="12700" rIns="0" bIns="0">
            <a:spAutoFit/>
          </a:bodyPr>
          <a:lstStyle/>
          <a:p>
            <a:pPr marL="94615">
              <a:lnSpc>
                <a:spcPct val="100000"/>
              </a:lnSpc>
              <a:spcBef>
                <a:spcPts val="100"/>
              </a:spcBef>
              <a:defRPr/>
            </a:pPr>
            <a:r>
              <a:rPr lang="en-US" altLang="ko-KR" sz="1600" dirty="0">
                <a:solidFill>
                  <a:schemeClr val="bg1">
                    <a:lumMod val="75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Arial" panose="020B0604020202020204" pitchFamily="34" charset="0"/>
              </a:rPr>
              <a:t>2026. 05. 14</a:t>
            </a:r>
          </a:p>
        </p:txBody>
      </p:sp>
      <p:sp>
        <p:nvSpPr>
          <p:cNvPr id="6" name="object 5">
            <a:extLst>
              <a:ext uri="{FF2B5EF4-FFF2-40B4-BE49-F238E27FC236}">
                <a16:creationId xmlns:a16="http://schemas.microsoft.com/office/drawing/2014/main" id="{63F70F93-076B-4BBC-B933-AC7768BB0AE5}"/>
              </a:ext>
            </a:extLst>
          </p:cNvPr>
          <p:cNvSpPr txBox="1"/>
          <p:nvPr/>
        </p:nvSpPr>
        <p:spPr>
          <a:xfrm>
            <a:off x="417068" y="3564777"/>
            <a:ext cx="7139940" cy="289823"/>
          </a:xfrm>
          <a:prstGeom prst="rect">
            <a:avLst/>
          </a:prstGeom>
        </p:spPr>
        <p:txBody>
          <a:bodyPr vert="horz" wrap="square" lIns="0" tIns="12700" rIns="0" bIns="0">
            <a:spAutoFit/>
          </a:bodyPr>
          <a:lstStyle/>
          <a:p>
            <a:pPr marL="94615">
              <a:lnSpc>
                <a:spcPct val="100000"/>
              </a:lnSpc>
              <a:spcBef>
                <a:spcPts val="100"/>
              </a:spcBef>
              <a:defRPr/>
            </a:pPr>
            <a:r>
              <a:rPr lang="en-US" altLang="ko-KR" sz="1800" b="1" dirty="0" err="1">
                <a:solidFill>
                  <a:srgbClr val="FFFFFF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Arial" panose="020B0604020202020204" pitchFamily="34" charset="0"/>
              </a:rPr>
              <a:t>JangHoon</a:t>
            </a:r>
            <a:r>
              <a:rPr lang="en-US" altLang="ko-KR" sz="1800" b="1" dirty="0">
                <a:solidFill>
                  <a:srgbClr val="FFFFFF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Arial" panose="020B0604020202020204" pitchFamily="34" charset="0"/>
              </a:rPr>
              <a:t> Chun</a:t>
            </a:r>
          </a:p>
        </p:txBody>
      </p:sp>
      <p:sp>
        <p:nvSpPr>
          <p:cNvPr id="7" name="object 5">
            <a:extLst>
              <a:ext uri="{FF2B5EF4-FFF2-40B4-BE49-F238E27FC236}">
                <a16:creationId xmlns:a16="http://schemas.microsoft.com/office/drawing/2014/main" id="{CEB5E8A0-083F-4B6E-AA66-93BFFD6A8E1A}"/>
              </a:ext>
            </a:extLst>
          </p:cNvPr>
          <p:cNvSpPr txBox="1"/>
          <p:nvPr/>
        </p:nvSpPr>
        <p:spPr>
          <a:xfrm>
            <a:off x="417068" y="3978214"/>
            <a:ext cx="7139940" cy="1213153"/>
          </a:xfrm>
          <a:prstGeom prst="rect">
            <a:avLst/>
          </a:prstGeom>
        </p:spPr>
        <p:txBody>
          <a:bodyPr vert="horz" wrap="square" lIns="0" tIns="12700" rIns="0" bIns="0">
            <a:spAutoFit/>
          </a:bodyPr>
          <a:lstStyle/>
          <a:p>
            <a:pPr marL="94615">
              <a:lnSpc>
                <a:spcPct val="100000"/>
              </a:lnSpc>
              <a:spcBef>
                <a:spcPts val="100"/>
              </a:spcBef>
              <a:defRPr/>
            </a:pPr>
            <a:r>
              <a:rPr lang="en-US" altLang="ko-KR" sz="1600" dirty="0">
                <a:solidFill>
                  <a:srgbClr val="FFFFFF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Arial" panose="020B0604020202020204" pitchFamily="34" charset="0"/>
              </a:rPr>
              <a:t>Department of, Medical Device Engineering &amp; Management</a:t>
            </a:r>
          </a:p>
          <a:p>
            <a:pPr marL="94615">
              <a:lnSpc>
                <a:spcPct val="100000"/>
              </a:lnSpc>
              <a:spcBef>
                <a:spcPts val="100"/>
              </a:spcBef>
              <a:defRPr/>
            </a:pPr>
            <a:r>
              <a:rPr lang="en-US" altLang="ko-KR" sz="1600" dirty="0">
                <a:solidFill>
                  <a:srgbClr val="FFFFFF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Arial" panose="020B0604020202020204" pitchFamily="34" charset="0"/>
              </a:rPr>
              <a:t>Gangnam Severance Hospital,</a:t>
            </a:r>
          </a:p>
          <a:p>
            <a:pPr marL="94615">
              <a:lnSpc>
                <a:spcPct val="100000"/>
              </a:lnSpc>
              <a:spcBef>
                <a:spcPts val="100"/>
              </a:spcBef>
              <a:defRPr/>
            </a:pPr>
            <a:r>
              <a:rPr lang="en-US" altLang="ko-KR" sz="1600" dirty="0">
                <a:solidFill>
                  <a:srgbClr val="FFFFFF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Arial" panose="020B0604020202020204" pitchFamily="34" charset="0"/>
              </a:rPr>
              <a:t>Yonsei University College of Medicine</a:t>
            </a:r>
          </a:p>
          <a:p>
            <a:pPr marL="94615">
              <a:lnSpc>
                <a:spcPct val="100000"/>
              </a:lnSpc>
              <a:spcBef>
                <a:spcPts val="100"/>
              </a:spcBef>
              <a:defRPr/>
            </a:pPr>
            <a:endParaRPr lang="en-US" altLang="ko-KR" sz="1600" b="1" dirty="0">
              <a:solidFill>
                <a:srgbClr val="FFFFFF"/>
              </a:solidFill>
              <a:latin typeface="KoPub돋움체 Medium" panose="02020603020101020101" pitchFamily="18" charset="-127"/>
              <a:ea typeface="KoPub돋움체 Medium" panose="02020603020101020101" pitchFamily="18" charset="-127"/>
              <a:cs typeface="Arial" panose="020B0604020202020204" pitchFamily="34" charset="0"/>
            </a:endParaRPr>
          </a:p>
          <a:p>
            <a:pPr marL="94615">
              <a:lnSpc>
                <a:spcPct val="100000"/>
              </a:lnSpc>
              <a:spcBef>
                <a:spcPts val="100"/>
              </a:spcBef>
              <a:defRPr/>
            </a:pPr>
            <a:endParaRPr sz="1600" b="1" baseline="25000" dirty="0">
              <a:latin typeface="KoPub돋움체 Medium" panose="02020603020101020101" pitchFamily="18" charset="-127"/>
              <a:ea typeface="KoPub돋움체 Medium" panose="02020603020101020101" pitchFamily="18" charset="-127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9885153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1. What’s discussed in the last meetings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84C152F-6AC6-4EBB-8679-327588602F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SMI </a:t>
            </a:r>
            <a:r>
              <a:rPr lang="ko-KR" altLang="en-US" dirty="0"/>
              <a:t>데이터 확립 → </a:t>
            </a:r>
            <a:r>
              <a:rPr lang="en-US" altLang="ko-KR" dirty="0"/>
              <a:t>TAMA, BMI, Height, Weight </a:t>
            </a:r>
            <a:r>
              <a:rPr lang="ko-KR" altLang="en-US" dirty="0"/>
              <a:t>등의 데이터로 확인 가능</a:t>
            </a:r>
            <a:endParaRPr lang="en-US" altLang="ko-KR" dirty="0"/>
          </a:p>
          <a:p>
            <a:r>
              <a:rPr lang="en-US" altLang="ko-KR" dirty="0"/>
              <a:t>AEC data Resampling </a:t>
            </a:r>
            <a:r>
              <a:rPr lang="ko-KR" altLang="en-US" dirty="0"/>
              <a:t>→ </a:t>
            </a:r>
            <a:r>
              <a:rPr lang="en-US" altLang="ko-KR" dirty="0"/>
              <a:t>256 point</a:t>
            </a:r>
            <a:r>
              <a:rPr lang="ko-KR" altLang="en-US" dirty="0"/>
              <a:t>로 정규화</a:t>
            </a:r>
            <a:endParaRPr lang="en-US" altLang="ko-KR" dirty="0"/>
          </a:p>
          <a:p>
            <a:pPr lvl="1"/>
            <a:r>
              <a:rPr lang="ko-KR" altLang="en-US" dirty="0"/>
              <a:t>이후 주요 </a:t>
            </a:r>
            <a:r>
              <a:rPr lang="en-US" altLang="ko-KR" dirty="0"/>
              <a:t>feature </a:t>
            </a:r>
            <a:r>
              <a:rPr lang="ko-KR" altLang="en-US" dirty="0"/>
              <a:t>추출 </a:t>
            </a:r>
            <a:r>
              <a:rPr lang="en-US" altLang="ko-KR" dirty="0"/>
              <a:t>(mean, std, range, skewness </a:t>
            </a:r>
            <a:r>
              <a:rPr lang="ko-KR" altLang="en-US" dirty="0"/>
              <a:t>등 </a:t>
            </a:r>
            <a:r>
              <a:rPr lang="en-US" altLang="ko-KR" dirty="0"/>
              <a:t>65</a:t>
            </a:r>
            <a:r>
              <a:rPr lang="ko-KR" altLang="en-US" dirty="0"/>
              <a:t>개 </a:t>
            </a:r>
            <a:r>
              <a:rPr lang="en-US" altLang="ko-KR" dirty="0"/>
              <a:t>feature)</a:t>
            </a:r>
          </a:p>
          <a:p>
            <a:r>
              <a:rPr lang="ko-KR" altLang="en-US" dirty="0"/>
              <a:t>이전 연구와 동일하게 비교 분석</a:t>
            </a:r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</a:t>
            </a:fld>
            <a:endParaRPr lang="ko-KR" altLang="en-US" dirty="0"/>
          </a:p>
        </p:txBody>
      </p:sp>
      <p:graphicFrame>
        <p:nvGraphicFramePr>
          <p:cNvPr id="5" name="Table 24">
            <a:extLst>
              <a:ext uri="{FF2B5EF4-FFF2-40B4-BE49-F238E27FC236}">
                <a16:creationId xmlns:a16="http://schemas.microsoft.com/office/drawing/2014/main" id="{699AB61B-AF1E-5771-ECD0-240405CE564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43367154"/>
              </p:ext>
            </p:extLst>
          </p:nvPr>
        </p:nvGraphicFramePr>
        <p:xfrm>
          <a:off x="832525" y="3491652"/>
          <a:ext cx="6648137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87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8313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0628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Model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Feature</a:t>
                      </a:r>
                      <a:r>
                        <a:rPr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 </a:t>
                      </a:r>
                      <a:r>
                        <a:rPr sz="1200" b="1" dirty="0" err="1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구성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 err="1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Feature_num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200" b="0" dirty="0" err="1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clinic_only</a:t>
                      </a:r>
                      <a:endParaRPr sz="1200" b="0" dirty="0">
                        <a:solidFill>
                          <a:srgbClr val="1A1A2E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 err="1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PatientAge</a:t>
                      </a:r>
                      <a:r>
                        <a:rPr sz="1200" b="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, </a:t>
                      </a:r>
                      <a:r>
                        <a:rPr sz="1200" b="0" dirty="0" err="1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PatientSex</a:t>
                      </a:r>
                      <a:r>
                        <a:rPr sz="1200" b="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, BMI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3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77252566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aec_only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aec1 ~ aec256 (</a:t>
                      </a:r>
                      <a:r>
                        <a:rPr sz="1200" b="0" dirty="0" err="1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원시</a:t>
                      </a:r>
                      <a:r>
                        <a:rPr sz="1200" b="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 AEC </a:t>
                      </a:r>
                      <a:r>
                        <a:rPr sz="1200" b="0" dirty="0" err="1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시계열</a:t>
                      </a:r>
                      <a:r>
                        <a:rPr sz="1200" b="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통계</a:t>
                      </a:r>
                      <a:r>
                        <a:rPr sz="1200" b="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)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256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44161486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aec_feature_only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 err="1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aec_feature_filtered</a:t>
                      </a:r>
                      <a:r>
                        <a:rPr sz="1200" b="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시트</a:t>
                      </a:r>
                      <a:r>
                        <a:rPr sz="1200" b="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전체</a:t>
                      </a:r>
                      <a:r>
                        <a:rPr sz="1200" b="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사용</a:t>
                      </a:r>
                      <a:endParaRPr sz="1200" b="0" dirty="0">
                        <a:solidFill>
                          <a:srgbClr val="1A1A2E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65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548336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aec_feature_selected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AEC </a:t>
                      </a:r>
                      <a:r>
                        <a:rPr sz="1200" b="0" dirty="0" err="1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피처</a:t>
                      </a:r>
                      <a:r>
                        <a:rPr sz="1200" b="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fold별</a:t>
                      </a:r>
                      <a:r>
                        <a:rPr sz="1200" b="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선택</a:t>
                      </a:r>
                      <a:r>
                        <a:rPr sz="1200" b="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 (|r|&lt;0.8, VIF&lt;10)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 err="1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가변</a:t>
                      </a:r>
                      <a:endParaRPr sz="1200" b="0" dirty="0">
                        <a:solidFill>
                          <a:srgbClr val="1A1A2E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0151568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clinic_aec_feature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Age/Sex/BMI (</a:t>
                      </a:r>
                      <a:r>
                        <a:rPr sz="1200" b="0" dirty="0" err="1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고정</a:t>
                      </a:r>
                      <a:r>
                        <a:rPr sz="1200" b="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) + AEC </a:t>
                      </a:r>
                      <a:r>
                        <a:rPr sz="1200" b="0" dirty="0" err="1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피처</a:t>
                      </a:r>
                      <a:r>
                        <a:rPr sz="1200" b="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fold별</a:t>
                      </a:r>
                      <a:r>
                        <a:rPr sz="1200" b="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선택</a:t>
                      </a:r>
                      <a:endParaRPr sz="1200" b="0" dirty="0">
                        <a:solidFill>
                          <a:srgbClr val="1A1A2E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 err="1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가변</a:t>
                      </a:r>
                      <a:endParaRPr sz="1200" b="0" dirty="0">
                        <a:solidFill>
                          <a:srgbClr val="1A1A2E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085115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8AA67D-2B66-3F85-5AE9-73AF22ED4D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5742438-A8A9-C072-F2AE-2206B24BF2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2. Research</a:t>
            </a:r>
            <a:r>
              <a:rPr lang="ko-KR" altLang="en-US" dirty="0"/>
              <a:t> </a:t>
            </a:r>
            <a:r>
              <a:rPr lang="en-US" altLang="ko-KR" dirty="0"/>
              <a:t>Summary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2A4B13E-D4FF-F6EF-0421-904F6E47B8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IMATA </a:t>
            </a:r>
            <a:r>
              <a:rPr lang="ko-KR" altLang="en-US" dirty="0"/>
              <a:t>값을 반영하여 </a:t>
            </a:r>
            <a:r>
              <a:rPr lang="en-US" altLang="ko-KR" dirty="0"/>
              <a:t>SMI </a:t>
            </a:r>
            <a:r>
              <a:rPr lang="ko-KR" altLang="en-US" dirty="0"/>
              <a:t>데이터 재확인</a:t>
            </a:r>
            <a:endParaRPr lang="en-US" altLang="ko-KR" dirty="0"/>
          </a:p>
          <a:p>
            <a:pPr lvl="1"/>
            <a:r>
              <a:rPr lang="en-US" altLang="ko-KR" dirty="0"/>
              <a:t>SMI = (TAMA − IMATA) / Height²</a:t>
            </a:r>
          </a:p>
          <a:p>
            <a:r>
              <a:rPr lang="en-US" altLang="ko-KR" dirty="0"/>
              <a:t>SMI </a:t>
            </a:r>
            <a:r>
              <a:rPr lang="ko-KR" altLang="en-US" dirty="0"/>
              <a:t>기준 논문 </a:t>
            </a:r>
            <a:r>
              <a:rPr lang="en-US" altLang="ko-KR" dirty="0"/>
              <a:t>5</a:t>
            </a:r>
            <a:r>
              <a:rPr lang="ko-KR" altLang="en-US" dirty="0"/>
              <a:t>개 확인 후 남녀 </a:t>
            </a:r>
            <a:r>
              <a:rPr lang="en-US" altLang="ko-KR" dirty="0"/>
              <a:t>SMI threshold </a:t>
            </a:r>
            <a:r>
              <a:rPr lang="ko-KR" altLang="en-US" dirty="0"/>
              <a:t>결정</a:t>
            </a:r>
            <a:endParaRPr lang="en-US" altLang="ko-KR" dirty="0"/>
          </a:p>
          <a:p>
            <a:pPr lvl="1"/>
            <a:r>
              <a:rPr lang="en-US" altLang="ko-KR" dirty="0"/>
              <a:t>‘</a:t>
            </a:r>
            <a:r>
              <a:rPr lang="ko-KR" altLang="en-US" dirty="0"/>
              <a:t>한국 기준 하위 </a:t>
            </a:r>
            <a:r>
              <a:rPr lang="en-US" altLang="ko-KR" dirty="0"/>
              <a:t>5%’</a:t>
            </a:r>
            <a:r>
              <a:rPr lang="ko-KR" altLang="en-US" dirty="0"/>
              <a:t>로 설정</a:t>
            </a:r>
            <a:endParaRPr lang="en-US" altLang="ko-KR" dirty="0"/>
          </a:p>
          <a:p>
            <a:r>
              <a:rPr lang="ko-KR" altLang="en-US" dirty="0"/>
              <a:t>모델은 </a:t>
            </a:r>
            <a:r>
              <a:rPr lang="en-US" altLang="ko-KR" dirty="0"/>
              <a:t>Logistic Regression</a:t>
            </a:r>
            <a:r>
              <a:rPr lang="ko-KR" altLang="en-US" dirty="0"/>
              <a:t>과 </a:t>
            </a:r>
            <a:r>
              <a:rPr lang="en-US" altLang="ko-KR" dirty="0"/>
              <a:t>Multimodal (Cross Attention)</a:t>
            </a:r>
            <a:r>
              <a:rPr lang="ko-KR" altLang="en-US" dirty="0"/>
              <a:t> 사용</a:t>
            </a:r>
            <a:endParaRPr lang="en-US" altLang="ko-KR" dirty="0"/>
          </a:p>
          <a:p>
            <a:r>
              <a:rPr lang="en-US" altLang="ko-KR" dirty="0"/>
              <a:t>Clinic [Age, Sex, BMI] vs Clinic + AEC vs Clinic + AEC + Scanner [</a:t>
            </a:r>
            <a:r>
              <a:rPr lang="ko-KR" altLang="en-US" dirty="0"/>
              <a:t>모델명</a:t>
            </a:r>
            <a:r>
              <a:rPr lang="en-US" altLang="ko-KR" dirty="0"/>
              <a:t>]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33A8356-A9FE-00F5-FFBF-D1A2F9D6DC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2710079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C4419C-94C1-0072-6BC7-99231F1815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8B87E29-ECD2-C1AB-F064-B9899724F8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2. Research</a:t>
            </a:r>
            <a:r>
              <a:rPr lang="ko-KR" altLang="en-US" dirty="0"/>
              <a:t> </a:t>
            </a:r>
            <a:r>
              <a:rPr lang="en-US" altLang="ko-KR" dirty="0"/>
              <a:t>Summary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BAEBF44-283B-F2F4-6E93-B97D83EE2D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4</a:t>
            </a:fld>
            <a:endParaRPr lang="ko-KR" altLang="en-US" dirty="0"/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46B1940-76D7-EF5C-4BDC-815E2CBB84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Best Model Summary</a:t>
            </a:r>
            <a:endParaRPr lang="ko-KR" altLang="en-US" dirty="0"/>
          </a:p>
        </p:txBody>
      </p:sp>
      <p:graphicFrame>
        <p:nvGraphicFramePr>
          <p:cNvPr id="7" name="Table 24">
            <a:extLst>
              <a:ext uri="{FF2B5EF4-FFF2-40B4-BE49-F238E27FC236}">
                <a16:creationId xmlns:a16="http://schemas.microsoft.com/office/drawing/2014/main" id="{9D213DDB-0128-112A-A576-93C1261EEA1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62686247"/>
              </p:ext>
            </p:extLst>
          </p:nvPr>
        </p:nvGraphicFramePr>
        <p:xfrm>
          <a:off x="1398856" y="1714954"/>
          <a:ext cx="9394288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7428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74286">
                  <a:extLst>
                    <a:ext uri="{9D8B030D-6E8A-4147-A177-3AD203B41FA5}">
                      <a16:colId xmlns:a16="http://schemas.microsoft.com/office/drawing/2014/main" val="2550189988"/>
                    </a:ext>
                  </a:extLst>
                </a:gridCol>
                <a:gridCol w="117428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7428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7428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74286">
                  <a:extLst>
                    <a:ext uri="{9D8B030D-6E8A-4147-A177-3AD203B41FA5}">
                      <a16:colId xmlns:a16="http://schemas.microsoft.com/office/drawing/2014/main" val="3153164272"/>
                    </a:ext>
                  </a:extLst>
                </a:gridCol>
                <a:gridCol w="1174286">
                  <a:extLst>
                    <a:ext uri="{9D8B030D-6E8A-4147-A177-3AD203B41FA5}">
                      <a16:colId xmlns:a16="http://schemas.microsoft.com/office/drawing/2014/main" val="493313760"/>
                    </a:ext>
                  </a:extLst>
                </a:gridCol>
                <a:gridCol w="1174286">
                  <a:extLst>
                    <a:ext uri="{9D8B030D-6E8A-4147-A177-3AD203B41FA5}">
                      <a16:colId xmlns:a16="http://schemas.microsoft.com/office/drawing/2014/main" val="3407204693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1" dirty="0">
                          <a:effectLst/>
                        </a:rPr>
                        <a:t>순위</a:t>
                      </a:r>
                    </a:p>
                  </a:txBody>
                  <a:tcPr marL="123825" marR="123825" marT="57150" marB="57150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400" b="1" dirty="0">
                          <a:effectLst/>
                        </a:rPr>
                        <a:t>모델</a:t>
                      </a:r>
                    </a:p>
                  </a:txBody>
                  <a:tcPr marL="123825" marR="123825" marT="57150" marB="57150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>
                          <a:effectLst/>
                        </a:rPr>
                        <a:t>Test AUC</a:t>
                      </a:r>
                    </a:p>
                  </a:txBody>
                  <a:tcPr marL="123825" marR="123825" marT="57150" marB="57150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AUPRC</a:t>
                      </a:r>
                    </a:p>
                  </a:txBody>
                  <a:tcPr marL="123825" marR="123825" marT="57150" marB="57150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Brier</a:t>
                      </a:r>
                    </a:p>
                  </a:txBody>
                  <a:tcPr marL="123825" marR="123825" marT="57150" marB="57150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F1</a:t>
                      </a:r>
                    </a:p>
                  </a:txBody>
                  <a:tcPr marL="123825" marR="123825" marT="57150" marB="57150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Sensitivity</a:t>
                      </a:r>
                    </a:p>
                  </a:txBody>
                  <a:tcPr marL="123825" marR="123825" marT="57150" marB="57150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Specificity</a:t>
                      </a:r>
                    </a:p>
                  </a:txBody>
                  <a:tcPr marL="123825" marR="123825" marT="57150" marB="57150" anchor="ctr"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1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effectLst/>
                        </a:rPr>
                        <a:t>Model 3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>
                          <a:effectLst/>
                        </a:rPr>
                        <a:t>0.8453</a:t>
                      </a:r>
                      <a:endParaRPr lang="ko-KR" altLang="en-US" sz="1400">
                        <a:effectLst/>
                      </a:endParaRP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0.3993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0.2036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0.3802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82.1%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69.2%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96269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2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effectLst/>
                        </a:rPr>
                        <a:t>Model 2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0.8403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0.3367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0.2253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0.3788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>
                          <a:effectLst/>
                        </a:rPr>
                        <a:t>89.3%</a:t>
                      </a:r>
                      <a:endParaRPr lang="ko-KR" altLang="en-US" sz="1400">
                        <a:effectLst/>
                      </a:endParaRP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65.2%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03654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3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0" dirty="0">
                          <a:effectLst/>
                        </a:rPr>
                        <a:t>Model 1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0.8291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0.3249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0.1931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0.3636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78.6%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68.7%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60003389"/>
                  </a:ext>
                </a:extLst>
              </a:tr>
            </a:tbl>
          </a:graphicData>
        </a:graphic>
      </p:graphicFrame>
      <p:graphicFrame>
        <p:nvGraphicFramePr>
          <p:cNvPr id="8" name="Table 24">
            <a:extLst>
              <a:ext uri="{FF2B5EF4-FFF2-40B4-BE49-F238E27FC236}">
                <a16:creationId xmlns:a16="http://schemas.microsoft.com/office/drawing/2014/main" id="{BE15D723-D86F-BA75-8899-E4D00AE065A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83317348"/>
              </p:ext>
            </p:extLst>
          </p:nvPr>
        </p:nvGraphicFramePr>
        <p:xfrm>
          <a:off x="2771931" y="3773592"/>
          <a:ext cx="6648138" cy="21869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905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30835">
                  <a:extLst>
                    <a:ext uri="{9D8B030D-6E8A-4147-A177-3AD203B41FA5}">
                      <a16:colId xmlns:a16="http://schemas.microsoft.com/office/drawing/2014/main" val="3397596428"/>
                    </a:ext>
                  </a:extLst>
                </a:gridCol>
                <a:gridCol w="183083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9741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1" dirty="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조건</a:t>
                      </a:r>
                    </a:p>
                  </a:txBody>
                  <a:tcPr marL="123825" marR="123825" marT="57150" marB="57150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Clinic + AEC</a:t>
                      </a:r>
                    </a:p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Matching</a:t>
                      </a:r>
                    </a:p>
                  </a:txBody>
                  <a:tcPr marL="123825" marR="123825" marT="57150" marB="57150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Clinic + AEC</a:t>
                      </a:r>
                    </a:p>
                    <a:p>
                      <a:pPr algn="ctr">
                        <a:buNone/>
                      </a:pPr>
                      <a:r>
                        <a:rPr lang="en-US" altLang="ko-KR" sz="1400" b="1" dirty="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Unmatching</a:t>
                      </a:r>
                    </a:p>
                  </a:txBody>
                  <a:tcPr marL="123825" marR="123825" marT="57150" marB="57150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1" dirty="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차이</a:t>
                      </a:r>
                    </a:p>
                  </a:txBody>
                  <a:tcPr marL="123825" marR="123825" marT="57150" marB="57150" anchor="ctr"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len064 / scale_clinic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0.8140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0.8037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dirty="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−</a:t>
                      </a:r>
                      <a:r>
                        <a:rPr lang="en-US" altLang="ko-KR" sz="1400" dirty="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0.010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44161486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len064 / scale_both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0.8403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0.7683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−</a:t>
                      </a:r>
                      <a:r>
                        <a:rPr lang="en-US" altLang="ko-KR" sz="140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0.072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548336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len128 / scale_clinic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0.8287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0.7989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−</a:t>
                      </a:r>
                      <a:r>
                        <a:rPr lang="en-US" altLang="ko-KR" sz="140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0.030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0151568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len128 / scale_both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0.8310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0.8151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dirty="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−</a:t>
                      </a:r>
                      <a:r>
                        <a:rPr lang="en-US" altLang="ko-KR" sz="1400" dirty="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0.016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187186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000" y="2896658"/>
            <a:ext cx="11176000" cy="532342"/>
          </a:xfrm>
        </p:spPr>
        <p:txBody>
          <a:bodyPr>
            <a:noAutofit/>
          </a:bodyPr>
          <a:lstStyle/>
          <a:p>
            <a:r>
              <a:rPr lang="ko-KR" altLang="en-US" sz="4000" dirty="0"/>
              <a:t>연구 프로토타입 정의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2100065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Research Overview – Main Study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84C152F-6AC6-4EBB-8679-327588602F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ko-KR" altLang="en-US" dirty="0"/>
              <a:t>연구 목적</a:t>
            </a:r>
            <a:endParaRPr lang="en-US" altLang="ko-KR" dirty="0"/>
          </a:p>
          <a:p>
            <a:pPr lvl="1"/>
            <a:r>
              <a:rPr lang="en-US" altLang="ko-KR" dirty="0"/>
              <a:t>Opportunistic CT Biomarker </a:t>
            </a:r>
            <a:r>
              <a:rPr lang="ko-KR" altLang="en-US" dirty="0"/>
              <a:t>기반 → </a:t>
            </a:r>
            <a:r>
              <a:rPr lang="en-US" altLang="ko-KR" dirty="0"/>
              <a:t>5</a:t>
            </a:r>
            <a:r>
              <a:rPr lang="ko-KR" altLang="en-US" dirty="0"/>
              <a:t>년 내 </a:t>
            </a:r>
            <a:r>
              <a:rPr lang="en-US" altLang="ko-KR" dirty="0"/>
              <a:t>vertebral compression fracture </a:t>
            </a:r>
            <a:r>
              <a:rPr lang="ko-KR" altLang="en-US" dirty="0"/>
              <a:t>예측</a:t>
            </a:r>
            <a:endParaRPr lang="en-US" altLang="ko-KR" dirty="0"/>
          </a:p>
          <a:p>
            <a:pPr lvl="1"/>
            <a:r>
              <a:rPr lang="en-US" altLang="ko-KR" dirty="0"/>
              <a:t>AEC</a:t>
            </a:r>
            <a:r>
              <a:rPr lang="ko-KR" altLang="en-US" dirty="0"/>
              <a:t>의 </a:t>
            </a:r>
            <a:r>
              <a:rPr lang="en-US" altLang="ko-KR" dirty="0"/>
              <a:t>incremental value </a:t>
            </a:r>
            <a:r>
              <a:rPr lang="ko-KR" altLang="en-US" dirty="0"/>
              <a:t>검증</a:t>
            </a:r>
            <a:endParaRPr lang="en-US" altLang="ko-KR" dirty="0"/>
          </a:p>
          <a:p>
            <a:r>
              <a:rPr lang="ko-KR" altLang="en-US" dirty="0"/>
              <a:t>데이터</a:t>
            </a:r>
            <a:endParaRPr lang="en-US" altLang="ko-KR" dirty="0"/>
          </a:p>
          <a:p>
            <a:pPr lvl="1"/>
            <a:r>
              <a:rPr lang="en-US" altLang="ko-KR" dirty="0"/>
              <a:t>Baseline APCT + follow-up imaging </a:t>
            </a:r>
            <a:r>
              <a:rPr lang="ko-KR" altLang="en-US" dirty="0"/>
              <a:t>보유 환자</a:t>
            </a:r>
            <a:endParaRPr lang="en-US" altLang="ko-KR" dirty="0"/>
          </a:p>
          <a:p>
            <a:pPr lvl="1"/>
            <a:r>
              <a:rPr lang="ko-KR" altLang="en-US" dirty="0"/>
              <a:t>주요 변수</a:t>
            </a:r>
            <a:r>
              <a:rPr lang="en-US" altLang="ko-KR" dirty="0"/>
              <a:t>: Age, Sex, AEC, Muscle, Bone Density </a:t>
            </a:r>
            <a:r>
              <a:rPr lang="ko-KR" altLang="en-US" dirty="0"/>
              <a:t>등</a:t>
            </a:r>
            <a:endParaRPr lang="en-US" altLang="ko-KR" dirty="0"/>
          </a:p>
          <a:p>
            <a:r>
              <a:rPr lang="ko-KR" altLang="en-US" dirty="0"/>
              <a:t>모델 구조</a:t>
            </a:r>
            <a:endParaRPr lang="en-US" altLang="ko-KR" dirty="0"/>
          </a:p>
          <a:p>
            <a:pPr lvl="1"/>
            <a:r>
              <a:rPr lang="en-US" altLang="ko-KR" dirty="0"/>
              <a:t>Model A: Age + Sex</a:t>
            </a:r>
          </a:p>
          <a:p>
            <a:pPr lvl="1"/>
            <a:r>
              <a:rPr lang="en-US" altLang="ko-KR" dirty="0"/>
              <a:t>Model B: + Bone</a:t>
            </a:r>
          </a:p>
          <a:p>
            <a:pPr lvl="1"/>
            <a:r>
              <a:rPr lang="en-US" altLang="ko-KR" dirty="0"/>
              <a:t>Model C: + Muscle</a:t>
            </a:r>
          </a:p>
          <a:p>
            <a:pPr lvl="1"/>
            <a:r>
              <a:rPr lang="en-US" altLang="ko-KR" dirty="0"/>
              <a:t>Model D: + AEC (</a:t>
            </a:r>
            <a:r>
              <a:rPr lang="ko-KR" altLang="en-US" dirty="0"/>
              <a:t>핵심 비교</a:t>
            </a:r>
            <a:r>
              <a:rPr lang="en-US" altLang="ko-KR" dirty="0"/>
              <a:t>)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4652996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Research Overview – Pilot Feasibility Study (</a:t>
            </a:r>
            <a:r>
              <a:rPr lang="ko-KR" altLang="en-US" dirty="0"/>
              <a:t>현재 진행 연구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84C152F-6AC6-4EBB-8679-327588602F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연구 목적</a:t>
            </a:r>
            <a:endParaRPr lang="en-US" altLang="ko-KR" dirty="0"/>
          </a:p>
          <a:p>
            <a:pPr lvl="1"/>
            <a:r>
              <a:rPr lang="en-US" altLang="ko-KR" dirty="0"/>
              <a:t>AEC</a:t>
            </a:r>
            <a:r>
              <a:rPr lang="ko-KR" altLang="en-US" dirty="0"/>
              <a:t>가 단순 보조 변수인지 </a:t>
            </a:r>
            <a:r>
              <a:rPr lang="en-US" altLang="ko-KR" dirty="0"/>
              <a:t>vs </a:t>
            </a:r>
            <a:r>
              <a:rPr lang="ko-KR" altLang="en-US" dirty="0"/>
              <a:t>독립적인 </a:t>
            </a:r>
            <a:r>
              <a:rPr lang="en-US" altLang="ko-KR" dirty="0"/>
              <a:t>biomarker</a:t>
            </a:r>
            <a:r>
              <a:rPr lang="ko-KR" altLang="en-US" dirty="0"/>
              <a:t>인지 검증</a:t>
            </a:r>
            <a:endParaRPr lang="en-US" altLang="ko-KR" dirty="0"/>
          </a:p>
          <a:p>
            <a:pPr marL="457200" lvl="1" indent="0">
              <a:buNone/>
            </a:pPr>
            <a:r>
              <a:rPr lang="ko-KR" altLang="en-US" dirty="0"/>
              <a:t>→ 본 연구 모델 포함 가능성 평가</a:t>
            </a:r>
            <a:endParaRPr lang="en-US" altLang="ko-KR" dirty="0"/>
          </a:p>
          <a:p>
            <a:r>
              <a:rPr lang="ko-KR" altLang="en-US" dirty="0"/>
              <a:t>핵심 질문</a:t>
            </a:r>
            <a:endParaRPr lang="en-US" altLang="ko-KR" dirty="0"/>
          </a:p>
          <a:p>
            <a:pPr lvl="1"/>
            <a:r>
              <a:rPr lang="en-US" altLang="ko-KR" dirty="0"/>
              <a:t>AEC</a:t>
            </a:r>
            <a:r>
              <a:rPr lang="ko-KR" altLang="en-US" dirty="0"/>
              <a:t>는 </a:t>
            </a:r>
            <a:r>
              <a:rPr lang="en-US" altLang="ko-KR" dirty="0"/>
              <a:t>age/sex </a:t>
            </a:r>
            <a:r>
              <a:rPr lang="ko-KR" altLang="en-US" dirty="0"/>
              <a:t>이상 정보를 가지는가</a:t>
            </a:r>
            <a:r>
              <a:rPr lang="en-US" altLang="ko-KR" dirty="0"/>
              <a:t>?</a:t>
            </a:r>
          </a:p>
          <a:p>
            <a:pPr lvl="1"/>
            <a:r>
              <a:rPr lang="en-US" altLang="ko-KR" dirty="0"/>
              <a:t>Muscle/Bone</a:t>
            </a:r>
            <a:r>
              <a:rPr lang="ko-KR" altLang="en-US" dirty="0"/>
              <a:t>과 독립적 연관성이 존재하는가</a:t>
            </a:r>
            <a:r>
              <a:rPr lang="en-US" altLang="ko-KR" dirty="0"/>
              <a:t>?</a:t>
            </a:r>
          </a:p>
          <a:p>
            <a:pPr lvl="1"/>
            <a:r>
              <a:rPr lang="en-US" altLang="ko-KR" dirty="0"/>
              <a:t>Scanner/Center </a:t>
            </a:r>
            <a:r>
              <a:rPr lang="ko-KR" altLang="en-US" dirty="0"/>
              <a:t>보정 후에도 유지되는가</a:t>
            </a:r>
            <a:r>
              <a:rPr lang="en-US" altLang="ko-KR" dirty="0"/>
              <a:t>?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1043735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Research Overview – Pilot Feasibility Study (</a:t>
            </a:r>
            <a:r>
              <a:rPr lang="ko-KR" altLang="en-US" dirty="0"/>
              <a:t>현재 진행 연구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84C152F-6AC6-4EBB-8679-327588602F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ko-KR" altLang="en-US" dirty="0"/>
              <a:t>분석 전략</a:t>
            </a:r>
            <a:endParaRPr lang="en-US" altLang="ko-KR" dirty="0"/>
          </a:p>
          <a:p>
            <a:pPr lvl="1"/>
            <a:r>
              <a:rPr lang="ko-KR" altLang="en-US" dirty="0"/>
              <a:t>분포 분석 </a:t>
            </a:r>
            <a:r>
              <a:rPr lang="en-US" altLang="ko-KR" dirty="0"/>
              <a:t>(AEC by </a:t>
            </a:r>
            <a:r>
              <a:rPr lang="ko-KR" altLang="en-US" dirty="0"/>
              <a:t>센터</a:t>
            </a:r>
            <a:r>
              <a:rPr lang="en-US" altLang="ko-KR" dirty="0"/>
              <a:t>, </a:t>
            </a:r>
            <a:r>
              <a:rPr lang="ko-KR" altLang="en-US" dirty="0"/>
              <a:t>성별</a:t>
            </a:r>
            <a:r>
              <a:rPr lang="en-US" altLang="ko-KR" dirty="0"/>
              <a:t>, </a:t>
            </a:r>
            <a:r>
              <a:rPr lang="ko-KR" altLang="en-US" dirty="0"/>
              <a:t>연령</a:t>
            </a:r>
            <a:r>
              <a:rPr lang="en-US" altLang="ko-KR" dirty="0"/>
              <a:t>) – Complete</a:t>
            </a:r>
          </a:p>
          <a:p>
            <a:pPr lvl="1"/>
            <a:r>
              <a:rPr lang="ko-KR" altLang="en-US" b="1" dirty="0"/>
              <a:t>회귀 분석 </a:t>
            </a:r>
            <a:r>
              <a:rPr lang="en-US" altLang="ko-KR" b="1" dirty="0"/>
              <a:t>(muscle area / attenuation / bone density ~ AEC + age + sex)</a:t>
            </a:r>
          </a:p>
          <a:p>
            <a:pPr lvl="1"/>
            <a:r>
              <a:rPr lang="ko-KR" altLang="en-US" b="1" dirty="0"/>
              <a:t>고급 분석</a:t>
            </a:r>
            <a:endParaRPr lang="en-US" altLang="ko-KR" b="1" dirty="0"/>
          </a:p>
          <a:p>
            <a:pPr lvl="2"/>
            <a:r>
              <a:rPr lang="en-US" altLang="ko-KR" b="1" dirty="0"/>
              <a:t>Multivariable (center, scanner </a:t>
            </a:r>
            <a:r>
              <a:rPr lang="ko-KR" altLang="en-US" b="1" dirty="0"/>
              <a:t>보정</a:t>
            </a:r>
            <a:r>
              <a:rPr lang="en-US" altLang="ko-KR" b="1" dirty="0"/>
              <a:t>)</a:t>
            </a:r>
          </a:p>
          <a:p>
            <a:pPr lvl="2"/>
            <a:r>
              <a:rPr lang="en-US" altLang="ko-KR" dirty="0"/>
              <a:t>Spline </a:t>
            </a:r>
            <a:r>
              <a:rPr lang="ko-KR" altLang="en-US" dirty="0"/>
              <a:t>분석 →</a:t>
            </a:r>
            <a:r>
              <a:rPr lang="en-US" altLang="ko-KR" dirty="0"/>
              <a:t> </a:t>
            </a:r>
            <a:r>
              <a:rPr lang="ko-KR" altLang="en-US" dirty="0"/>
              <a:t>비선형 관계 확인</a:t>
            </a:r>
            <a:endParaRPr lang="en-US" altLang="ko-KR" dirty="0"/>
          </a:p>
          <a:p>
            <a:pPr lvl="2"/>
            <a:r>
              <a:rPr lang="en-US" altLang="ko-KR" dirty="0"/>
              <a:t>Center-stratified </a:t>
            </a:r>
            <a:r>
              <a:rPr lang="ko-KR" altLang="en-US" dirty="0"/>
              <a:t>분석</a:t>
            </a:r>
            <a:endParaRPr lang="en-US" altLang="ko-KR" dirty="0"/>
          </a:p>
          <a:p>
            <a:r>
              <a:rPr lang="ko-KR" altLang="en-US" dirty="0"/>
              <a:t>결과물</a:t>
            </a:r>
            <a:endParaRPr lang="en-US" altLang="ko-KR" dirty="0"/>
          </a:p>
          <a:p>
            <a:pPr lvl="1"/>
            <a:r>
              <a:rPr lang="en-US" altLang="ko-KR" dirty="0"/>
              <a:t>AEC distribution plot</a:t>
            </a:r>
          </a:p>
          <a:p>
            <a:pPr lvl="1"/>
            <a:r>
              <a:rPr lang="en-US" altLang="ko-KR" dirty="0"/>
              <a:t>AEC vs biomarker scatter</a:t>
            </a:r>
          </a:p>
          <a:p>
            <a:pPr lvl="1"/>
            <a:r>
              <a:rPr lang="en-US" altLang="ko-KR" dirty="0"/>
              <a:t>Regression Table</a:t>
            </a:r>
          </a:p>
          <a:p>
            <a:pPr lvl="1"/>
            <a:r>
              <a:rPr lang="en-US" altLang="ko-KR" dirty="0"/>
              <a:t>Stratified Result Figure </a:t>
            </a:r>
            <a:r>
              <a:rPr lang="ko-KR" altLang="en-US" dirty="0"/>
              <a:t>등</a:t>
            </a:r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790177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000" y="2896658"/>
            <a:ext cx="11176000" cy="532342"/>
          </a:xfrm>
        </p:spPr>
        <p:txBody>
          <a:bodyPr>
            <a:noAutofit/>
          </a:bodyPr>
          <a:lstStyle/>
          <a:p>
            <a:r>
              <a:rPr lang="ko-KR" altLang="en-US" sz="4000" dirty="0">
                <a:latin typeface="KoPub돋움체 Bold" panose="00000800000000000000" pitchFamily="2" charset="-127"/>
                <a:ea typeface="KoPub돋움체 Bold" panose="00000800000000000000" pitchFamily="2" charset="-127"/>
                <a:cs typeface="KoPubWorld돋움체 Bold" panose="00000800000000000000" pitchFamily="2" charset="-127"/>
              </a:rPr>
              <a:t>데이터 정리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637765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10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2F49DB3D-7569-41CE-98E6-0D040C938E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Data – </a:t>
            </a:r>
            <a:r>
              <a:rPr lang="ko-KR" altLang="en-US" dirty="0"/>
              <a:t>강남</a:t>
            </a:r>
            <a:endParaRPr lang="en-US" altLang="ko-KR" dirty="0"/>
          </a:p>
          <a:p>
            <a:pPr lvl="1"/>
            <a:r>
              <a:rPr lang="en-US" altLang="ko-KR" dirty="0"/>
              <a:t>Clinic Data </a:t>
            </a:r>
            <a:r>
              <a:rPr lang="ko-KR" altLang="en-US" dirty="0"/>
              <a:t>수 </a:t>
            </a:r>
            <a:r>
              <a:rPr lang="en-US" altLang="ko-KR" dirty="0"/>
              <a:t>: 3,672 </a:t>
            </a:r>
            <a:r>
              <a:rPr lang="ko-KR" altLang="en-US" dirty="0"/>
              <a:t>→ 중복 </a:t>
            </a:r>
            <a:r>
              <a:rPr lang="en-US" altLang="ko-KR" dirty="0" err="1"/>
              <a:t>PatientID</a:t>
            </a:r>
            <a:r>
              <a:rPr lang="en-US" altLang="ko-KR" dirty="0"/>
              <a:t> </a:t>
            </a:r>
            <a:r>
              <a:rPr lang="ko-KR" altLang="en-US" dirty="0"/>
              <a:t>제거 </a:t>
            </a:r>
            <a:r>
              <a:rPr lang="en-US" altLang="ko-KR" dirty="0"/>
              <a:t>: 2,025 </a:t>
            </a:r>
            <a:r>
              <a:rPr lang="ko-KR" altLang="en-US" dirty="0"/>
              <a:t>→ </a:t>
            </a:r>
            <a:r>
              <a:rPr lang="en-US" altLang="ko-KR" dirty="0"/>
              <a:t>TAMA outlier(0, 1), BMI</a:t>
            </a:r>
            <a:r>
              <a:rPr lang="ko-KR" altLang="en-US" dirty="0"/>
              <a:t> 제거 </a:t>
            </a:r>
            <a:r>
              <a:rPr lang="en-US" altLang="ko-KR" dirty="0"/>
              <a:t>: 1,642</a:t>
            </a:r>
          </a:p>
          <a:p>
            <a:pPr lvl="1"/>
            <a:r>
              <a:rPr lang="en-US" altLang="ko-KR" dirty="0"/>
              <a:t>Axial Data </a:t>
            </a:r>
            <a:r>
              <a:rPr lang="ko-KR" altLang="en-US" dirty="0"/>
              <a:t>수 </a:t>
            </a:r>
            <a:r>
              <a:rPr lang="en-US" altLang="ko-KR" dirty="0"/>
              <a:t>: 1,642 </a:t>
            </a:r>
            <a:r>
              <a:rPr lang="ko-KR" altLang="en-US" dirty="0"/>
              <a:t>→ </a:t>
            </a:r>
            <a:r>
              <a:rPr lang="en-US" altLang="ko-KR" dirty="0"/>
              <a:t>Fixed Tube Current Value </a:t>
            </a:r>
            <a:r>
              <a:rPr lang="ko-KR" altLang="en-US" dirty="0"/>
              <a:t>제거 </a:t>
            </a:r>
            <a:r>
              <a:rPr lang="en-US" altLang="ko-KR" dirty="0"/>
              <a:t>: 1,372 </a:t>
            </a:r>
            <a:r>
              <a:rPr lang="ko-KR" altLang="en-US" dirty="0"/>
              <a:t>→ </a:t>
            </a:r>
            <a:r>
              <a:rPr lang="en-US" altLang="ko-KR" dirty="0" err="1"/>
              <a:t>kVp</a:t>
            </a:r>
            <a:r>
              <a:rPr lang="ko-KR" altLang="en-US" dirty="0"/>
              <a:t> 및 모델명 </a:t>
            </a:r>
            <a:r>
              <a:rPr lang="en-US" altLang="ko-KR" dirty="0"/>
              <a:t>Filtering : 1,272</a:t>
            </a:r>
          </a:p>
          <a:p>
            <a:endParaRPr lang="ko-KR" altLang="en-US" b="1" dirty="0"/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134B4283-B221-6F97-DFAF-C89D8539DEF5}"/>
              </a:ext>
            </a:extLst>
          </p:cNvPr>
          <p:cNvGrpSpPr/>
          <p:nvPr/>
        </p:nvGrpSpPr>
        <p:grpSpPr>
          <a:xfrm>
            <a:off x="769620" y="2750656"/>
            <a:ext cx="10652760" cy="868680"/>
            <a:chOff x="769620" y="1727033"/>
            <a:chExt cx="10652760" cy="868680"/>
          </a:xfrm>
        </p:grpSpPr>
        <p:sp>
          <p:nvSpPr>
            <p:cNvPr id="39" name="Rectangle 5">
              <a:extLst>
                <a:ext uri="{FF2B5EF4-FFF2-40B4-BE49-F238E27FC236}">
                  <a16:creationId xmlns:a16="http://schemas.microsoft.com/office/drawing/2014/main" id="{BE12C57E-DDA6-448D-86BC-F1DC21EC5D54}"/>
                </a:ext>
              </a:extLst>
            </p:cNvPr>
            <p:cNvSpPr/>
            <p:nvPr/>
          </p:nvSpPr>
          <p:spPr>
            <a:xfrm>
              <a:off x="769620" y="1727033"/>
              <a:ext cx="3377704" cy="8686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2E75B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dirty="0">
                <a:latin typeface="KoPub돋움체 Bold" panose="00000800000000000000" pitchFamily="2" charset="-127"/>
                <a:ea typeface="KoPub돋움체 Bold" panose="000008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9341836B-E0D9-4AAE-A183-22EFDBEB5A9F}"/>
                </a:ext>
              </a:extLst>
            </p:cNvPr>
            <p:cNvSpPr txBox="1"/>
            <p:nvPr/>
          </p:nvSpPr>
          <p:spPr>
            <a:xfrm>
              <a:off x="873549" y="1772753"/>
              <a:ext cx="3204489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400" b="0" i="0" dirty="0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총 </a:t>
              </a:r>
              <a:r>
                <a:rPr sz="1400" b="0" i="0" dirty="0" err="1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환자</a:t>
              </a:r>
              <a:r>
                <a:rPr sz="1400" b="0" i="0" dirty="0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 수</a:t>
              </a: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FA0E5E16-BED6-4786-BA12-4B9DA00E5C69}"/>
                </a:ext>
              </a:extLst>
            </p:cNvPr>
            <p:cNvSpPr txBox="1"/>
            <p:nvPr/>
          </p:nvSpPr>
          <p:spPr>
            <a:xfrm>
              <a:off x="873549" y="2111081"/>
              <a:ext cx="3204489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1,</a:t>
              </a:r>
              <a:r>
                <a:rPr lang="en-US" sz="1600" b="1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2</a:t>
              </a:r>
              <a:r>
                <a:rPr lang="en-US"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72</a:t>
              </a:r>
              <a:r>
                <a:rPr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명</a:t>
              </a:r>
            </a:p>
          </p:txBody>
        </p:sp>
        <p:sp>
          <p:nvSpPr>
            <p:cNvPr id="42" name="Rectangle 8">
              <a:extLst>
                <a:ext uri="{FF2B5EF4-FFF2-40B4-BE49-F238E27FC236}">
                  <a16:creationId xmlns:a16="http://schemas.microsoft.com/office/drawing/2014/main" id="{2BDD2FD2-D736-4432-A9D6-16A0A1C7E0A0}"/>
                </a:ext>
              </a:extLst>
            </p:cNvPr>
            <p:cNvSpPr/>
            <p:nvPr/>
          </p:nvSpPr>
          <p:spPr>
            <a:xfrm>
              <a:off x="4407148" y="1727033"/>
              <a:ext cx="3377704" cy="8686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2E75B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dirty="0">
                <a:latin typeface="KoPub돋움체 Bold" panose="00000800000000000000" pitchFamily="2" charset="-127"/>
                <a:ea typeface="KoPub돋움체 Bold" panose="000008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393F3D5B-8095-49E6-98D3-E24267C25BDA}"/>
                </a:ext>
              </a:extLst>
            </p:cNvPr>
            <p:cNvSpPr txBox="1"/>
            <p:nvPr/>
          </p:nvSpPr>
          <p:spPr>
            <a:xfrm>
              <a:off x="4511077" y="1772753"/>
              <a:ext cx="3204489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400" b="0" i="0" dirty="0" err="1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남성</a:t>
              </a:r>
              <a:endParaRPr sz="1400" b="0" i="0" dirty="0">
                <a:solidFill>
                  <a:srgbClr val="2E75B6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43CA52CD-5E1B-4300-A6A1-8E0FB8D87ABE}"/>
                </a:ext>
              </a:extLst>
            </p:cNvPr>
            <p:cNvSpPr txBox="1"/>
            <p:nvPr/>
          </p:nvSpPr>
          <p:spPr>
            <a:xfrm>
              <a:off x="4511077" y="2111081"/>
              <a:ext cx="3204489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lang="en-US"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456</a:t>
              </a:r>
              <a:r>
                <a:rPr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명 (3</a:t>
              </a:r>
              <a:r>
                <a:rPr lang="en-US"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5</a:t>
              </a:r>
              <a:r>
                <a:rPr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.</a:t>
              </a:r>
              <a:r>
                <a:rPr lang="en-US"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8</a:t>
              </a:r>
              <a:r>
                <a:rPr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%)</a:t>
              </a:r>
            </a:p>
          </p:txBody>
        </p:sp>
        <p:sp>
          <p:nvSpPr>
            <p:cNvPr id="45" name="Rectangle 11">
              <a:extLst>
                <a:ext uri="{FF2B5EF4-FFF2-40B4-BE49-F238E27FC236}">
                  <a16:creationId xmlns:a16="http://schemas.microsoft.com/office/drawing/2014/main" id="{20A8A9A3-5B0C-4B19-B70F-63963F3E6EDA}"/>
                </a:ext>
              </a:extLst>
            </p:cNvPr>
            <p:cNvSpPr/>
            <p:nvPr/>
          </p:nvSpPr>
          <p:spPr>
            <a:xfrm>
              <a:off x="8044676" y="1727033"/>
              <a:ext cx="3377704" cy="8686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2E75B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dirty="0">
                <a:latin typeface="KoPub돋움체 Bold" panose="00000800000000000000" pitchFamily="2" charset="-127"/>
                <a:ea typeface="KoPub돋움체 Bold" panose="000008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40535323-FE78-4A6C-BA8C-0B802F73AE17}"/>
                </a:ext>
              </a:extLst>
            </p:cNvPr>
            <p:cNvSpPr txBox="1"/>
            <p:nvPr/>
          </p:nvSpPr>
          <p:spPr>
            <a:xfrm>
              <a:off x="8148604" y="1772753"/>
              <a:ext cx="3204489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400" b="0" i="0" dirty="0" err="1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여성</a:t>
              </a:r>
              <a:endParaRPr sz="1400" b="0" i="0" dirty="0">
                <a:solidFill>
                  <a:srgbClr val="2E75B6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DD5D9754-A87E-43AF-A4C5-5CF4B1571F89}"/>
                </a:ext>
              </a:extLst>
            </p:cNvPr>
            <p:cNvSpPr txBox="1"/>
            <p:nvPr/>
          </p:nvSpPr>
          <p:spPr>
            <a:xfrm>
              <a:off x="8148604" y="2111081"/>
              <a:ext cx="3204489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lang="en-US"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816</a:t>
              </a:r>
              <a:r>
                <a:rPr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명 (6</a:t>
              </a:r>
              <a:r>
                <a:rPr lang="en-US"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4</a:t>
              </a:r>
              <a:r>
                <a:rPr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.</a:t>
              </a:r>
              <a:r>
                <a:rPr lang="en-US"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2</a:t>
              </a:r>
              <a:r>
                <a:rPr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%)</a:t>
              </a:r>
            </a:p>
          </p:txBody>
        </p:sp>
      </p:grpSp>
      <p:graphicFrame>
        <p:nvGraphicFramePr>
          <p:cNvPr id="58" name="Table 24">
            <a:extLst>
              <a:ext uri="{FF2B5EF4-FFF2-40B4-BE49-F238E27FC236}">
                <a16:creationId xmlns:a16="http://schemas.microsoft.com/office/drawing/2014/main" id="{482DE016-3F1C-4650-8969-98555872D4F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81180901"/>
              </p:ext>
            </p:extLst>
          </p:nvPr>
        </p:nvGraphicFramePr>
        <p:xfrm>
          <a:off x="769620" y="4387258"/>
          <a:ext cx="4680000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8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23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6769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8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80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80000">
                  <a:extLst>
                    <a:ext uri="{9D8B030D-6E8A-4147-A177-3AD203B41FA5}">
                      <a16:colId xmlns:a16="http://schemas.microsoft.com/office/drawing/2014/main" val="315316427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200" b="1" dirty="0" err="1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성별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N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mean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std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P25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median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F</a:t>
                      </a:r>
                      <a:r>
                        <a:rPr lang="en-US"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emale</a:t>
                      </a:r>
                      <a:endParaRPr sz="1200" dirty="0">
                        <a:solidFill>
                          <a:srgbClr val="1A1A2E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816</a:t>
                      </a:r>
                    </a:p>
                  </a:txBody>
                  <a:tcPr marL="6350" marR="6350" marT="6350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38.21</a:t>
                      </a:r>
                    </a:p>
                  </a:txBody>
                  <a:tcPr marL="6350" marR="6350" marT="6350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5.93</a:t>
                      </a:r>
                    </a:p>
                  </a:txBody>
                  <a:tcPr marL="6350" marR="6350" marT="6350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34.53</a:t>
                      </a:r>
                    </a:p>
                  </a:txBody>
                  <a:tcPr marL="6350" marR="6350" marT="6350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37.68</a:t>
                      </a:r>
                    </a:p>
                  </a:txBody>
                  <a:tcPr marL="6350" marR="6350" marT="6350" marB="0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Male</a:t>
                      </a:r>
                      <a:endParaRPr sz="1200" dirty="0">
                        <a:solidFill>
                          <a:srgbClr val="1A1A2E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456</a:t>
                      </a:r>
                    </a:p>
                  </a:txBody>
                  <a:tcPr marL="6350" marR="6350" marT="635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48.32</a:t>
                      </a:r>
                    </a:p>
                  </a:txBody>
                  <a:tcPr marL="6350" marR="6350" marT="635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8.33</a:t>
                      </a:r>
                    </a:p>
                  </a:txBody>
                  <a:tcPr marL="6350" marR="6350" marT="635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43.27</a:t>
                      </a:r>
                    </a:p>
                  </a:txBody>
                  <a:tcPr marL="6350" marR="6350" marT="635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48.37</a:t>
                      </a:r>
                    </a:p>
                  </a:txBody>
                  <a:tcPr marL="6350" marR="6350" marT="635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9C8DB5B3-795B-26DD-A8F5-FEF28B1D9D8C}"/>
              </a:ext>
            </a:extLst>
          </p:cNvPr>
          <p:cNvSpPr txBox="1"/>
          <p:nvPr/>
        </p:nvSpPr>
        <p:spPr>
          <a:xfrm>
            <a:off x="769620" y="3967012"/>
            <a:ext cx="4680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SMI </a:t>
            </a:r>
            <a:r>
              <a:rPr lang="ko-KR" altLang="en-US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분포 </a:t>
            </a:r>
            <a:r>
              <a:rPr lang="en-US" altLang="ko-KR" sz="1600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SMI = (TAMA-IMATA)/Height(m)</a:t>
            </a:r>
            <a:r>
              <a:rPr lang="en-US" altLang="ko-KR" sz="1600" baseline="30000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2</a:t>
            </a:r>
            <a:endParaRPr lang="ko-KR" altLang="en-US" dirty="0"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0060454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62FC86-F543-9581-71C1-BF189CB1DD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CC4B5E9-74EF-8901-0650-693B96D3BE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2A16211-D92D-0336-D03C-7CA64F67D6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11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B4F50E98-7D81-AFAE-EE6B-2D6A9A9DFA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데이터 분포 확인</a:t>
            </a:r>
            <a:endParaRPr lang="en-US" altLang="ko-KR" dirty="0"/>
          </a:p>
        </p:txBody>
      </p:sp>
      <p:graphicFrame>
        <p:nvGraphicFramePr>
          <p:cNvPr id="5" name="Table 24">
            <a:extLst>
              <a:ext uri="{FF2B5EF4-FFF2-40B4-BE49-F238E27FC236}">
                <a16:creationId xmlns:a16="http://schemas.microsoft.com/office/drawing/2014/main" id="{E9A2D41F-ED01-5DAE-3C00-38248A040ED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3146795"/>
              </p:ext>
            </p:extLst>
          </p:nvPr>
        </p:nvGraphicFramePr>
        <p:xfrm>
          <a:off x="811713" y="1688828"/>
          <a:ext cx="10568576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210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210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2107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2107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321072">
                  <a:extLst>
                    <a:ext uri="{9D8B030D-6E8A-4147-A177-3AD203B41FA5}">
                      <a16:colId xmlns:a16="http://schemas.microsoft.com/office/drawing/2014/main" val="3153164272"/>
                    </a:ext>
                  </a:extLst>
                </a:gridCol>
                <a:gridCol w="1321072">
                  <a:extLst>
                    <a:ext uri="{9D8B030D-6E8A-4147-A177-3AD203B41FA5}">
                      <a16:colId xmlns:a16="http://schemas.microsoft.com/office/drawing/2014/main" val="493313760"/>
                    </a:ext>
                  </a:extLst>
                </a:gridCol>
                <a:gridCol w="1321072">
                  <a:extLst>
                    <a:ext uri="{9D8B030D-6E8A-4147-A177-3AD203B41FA5}">
                      <a16:colId xmlns:a16="http://schemas.microsoft.com/office/drawing/2014/main" val="3407204693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구분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Mean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Std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Min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p25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Median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p75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max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n slices</a:t>
                      </a:r>
                      <a:endParaRPr sz="1200" dirty="0">
                        <a:solidFill>
                          <a:srgbClr val="1A1A2E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168.6</a:t>
                      </a:r>
                    </a:p>
                  </a:txBody>
                  <a:tcPr marL="6350" marR="6350" marT="6350" marB="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32.0</a:t>
                      </a:r>
                    </a:p>
                  </a:txBody>
                  <a:tcPr marL="6350" marR="6350" marT="6350" marB="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44</a:t>
                      </a:r>
                    </a:p>
                  </a:txBody>
                  <a:tcPr marL="6350" marR="6350" marT="6350" marB="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151</a:t>
                      </a:r>
                    </a:p>
                  </a:txBody>
                  <a:tcPr marL="6350" marR="6350" marT="6350" marB="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165</a:t>
                      </a:r>
                    </a:p>
                  </a:txBody>
                  <a:tcPr marL="6350" marR="6350" marT="6350" marB="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184</a:t>
                      </a:r>
                    </a:p>
                  </a:txBody>
                  <a:tcPr marL="6350" marR="6350" marT="6350" marB="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460</a:t>
                      </a:r>
                    </a:p>
                  </a:txBody>
                  <a:tcPr marL="6350" marR="6350" marT="6350" marB="0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z range (mm)</a:t>
                      </a:r>
                      <a:endParaRPr sz="1200" dirty="0">
                        <a:solidFill>
                          <a:srgbClr val="1A1A2E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469.6</a:t>
                      </a:r>
                    </a:p>
                  </a:txBody>
                  <a:tcPr marL="6350" marR="6350" marT="635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52.6</a:t>
                      </a:r>
                    </a:p>
                  </a:txBody>
                  <a:tcPr marL="6350" marR="6350" marT="635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215.0</a:t>
                      </a:r>
                    </a:p>
                  </a:txBody>
                  <a:tcPr marL="6350" marR="6350" marT="635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441.0</a:t>
                      </a:r>
                    </a:p>
                  </a:txBody>
                  <a:tcPr marL="6350" marR="6350" marT="635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467.5</a:t>
                      </a:r>
                    </a:p>
                  </a:txBody>
                  <a:tcPr marL="6350" marR="6350" marT="635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497.5</a:t>
                      </a:r>
                    </a:p>
                  </a:txBody>
                  <a:tcPr marL="6350" marR="6350" marT="635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918.0</a:t>
                      </a:r>
                    </a:p>
                  </a:txBody>
                  <a:tcPr marL="6350" marR="6350" marT="635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7" name="Table 24">
            <a:extLst>
              <a:ext uri="{FF2B5EF4-FFF2-40B4-BE49-F238E27FC236}">
                <a16:creationId xmlns:a16="http://schemas.microsoft.com/office/drawing/2014/main" id="{A2CEBF2B-754B-3834-73CF-27C354810DA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5726096"/>
              </p:ext>
            </p:extLst>
          </p:nvPr>
        </p:nvGraphicFramePr>
        <p:xfrm>
          <a:off x="811712" y="3317513"/>
          <a:ext cx="10568572" cy="2438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979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0979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0979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09796">
                  <a:extLst>
                    <a:ext uri="{9D8B030D-6E8A-4147-A177-3AD203B41FA5}">
                      <a16:colId xmlns:a16="http://schemas.microsoft.com/office/drawing/2014/main" val="526300428"/>
                    </a:ext>
                  </a:extLst>
                </a:gridCol>
                <a:gridCol w="1509796">
                  <a:extLst>
                    <a:ext uri="{9D8B030D-6E8A-4147-A177-3AD203B41FA5}">
                      <a16:colId xmlns:a16="http://schemas.microsoft.com/office/drawing/2014/main" val="2895696751"/>
                    </a:ext>
                  </a:extLst>
                </a:gridCol>
                <a:gridCol w="150979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09796">
                  <a:extLst>
                    <a:ext uri="{9D8B030D-6E8A-4147-A177-3AD203B41FA5}">
                      <a16:colId xmlns:a16="http://schemas.microsoft.com/office/drawing/2014/main" val="493313760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chemeClr val="bg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구분</a:t>
                      </a:r>
                      <a:endParaRPr lang="ko-KR" altLang="en-US" sz="1200" dirty="0">
                        <a:solidFill>
                          <a:schemeClr val="bg1"/>
                        </a:solidFill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marR="114300" marT="152400" marB="152400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chemeClr val="bg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성별</a:t>
                      </a:r>
                      <a:endParaRPr lang="ko-KR" altLang="en-US" sz="1200" dirty="0">
                        <a:solidFill>
                          <a:schemeClr val="bg1"/>
                        </a:solidFill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marR="114300" marT="152400" marB="152400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Mean</a:t>
                      </a:r>
                      <a:endParaRPr lang="en-US" sz="1200" dirty="0">
                        <a:solidFill>
                          <a:schemeClr val="bg1"/>
                        </a:solidFill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marR="114300" marT="152400" marB="152400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chemeClr val="bg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Std</a:t>
                      </a:r>
                      <a:endParaRPr lang="en-US" sz="1200" dirty="0">
                        <a:solidFill>
                          <a:schemeClr val="bg1"/>
                        </a:solidFill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marR="114300" marT="152400" marB="152400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chemeClr val="bg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Min</a:t>
                      </a:r>
                      <a:endParaRPr lang="ko-KR" altLang="en-US" sz="1200" dirty="0">
                        <a:solidFill>
                          <a:schemeClr val="bg1"/>
                        </a:solidFill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marR="114300" marT="152400" marB="152400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chemeClr val="bg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Median</a:t>
                      </a:r>
                      <a:endParaRPr lang="ko-KR" altLang="en-US" sz="1200" dirty="0">
                        <a:solidFill>
                          <a:schemeClr val="bg1"/>
                        </a:solidFill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marR="114300" marT="152400" marB="152400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chemeClr val="bg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Max</a:t>
                      </a:r>
                      <a:endParaRPr lang="ko-KR" altLang="en-US" sz="1200" dirty="0">
                        <a:solidFill>
                          <a:schemeClr val="bg1"/>
                        </a:solidFill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marT="152400" marB="152400" anchor="ctr"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 rowSpan="2"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n slices</a:t>
                      </a:r>
                    </a:p>
                    <a:p>
                      <a:pPr algn="ctr" rtl="0">
                        <a:buNone/>
                      </a:pPr>
                      <a:r>
                        <a:rPr lang="en-US" altLang="ko-KR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(</a:t>
                      </a: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개수</a:t>
                      </a:r>
                      <a:r>
                        <a:rPr lang="en-US" altLang="ko-KR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)</a:t>
                      </a:r>
                    </a:p>
                  </a:txBody>
                  <a:tcPr marR="114300" marT="152400" marB="15240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F</a:t>
                      </a:r>
                    </a:p>
                  </a:txBody>
                  <a:tcPr marR="114300" marT="152400" marB="15240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168.61</a:t>
                      </a:r>
                    </a:p>
                  </a:txBody>
                  <a:tcPr marR="114300" marT="152400" marB="15240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32.05</a:t>
                      </a:r>
                    </a:p>
                  </a:txBody>
                  <a:tcPr marR="114300" marT="152400" marB="15240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50.0</a:t>
                      </a:r>
                    </a:p>
                  </a:txBody>
                  <a:tcPr marR="114300" marT="152400" marB="15240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165.0</a:t>
                      </a:r>
                    </a:p>
                  </a:txBody>
                  <a:tcPr marR="114300" marT="152400" marB="15240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460.0</a:t>
                      </a:r>
                    </a:p>
                  </a:txBody>
                  <a:tcPr marT="152400" marB="152400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R="114300" marT="152400" marB="152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M</a:t>
                      </a:r>
                    </a:p>
                  </a:txBody>
                  <a:tcPr marR="114300" marT="152400" marB="15240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168.65</a:t>
                      </a:r>
                    </a:p>
                  </a:txBody>
                  <a:tcPr marR="114300" marT="152400" marB="15240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32.04</a:t>
                      </a:r>
                    </a:p>
                  </a:txBody>
                  <a:tcPr marR="114300" marT="152400" marB="15240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44.0</a:t>
                      </a:r>
                    </a:p>
                  </a:txBody>
                  <a:tcPr marR="114300" marT="152400" marB="15240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166.0</a:t>
                      </a:r>
                    </a:p>
                  </a:txBody>
                  <a:tcPr marR="114300" marT="152400" marB="15240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405.0</a:t>
                      </a:r>
                    </a:p>
                  </a:txBody>
                  <a:tcPr marT="152400" marB="15240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 rowSpan="2"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z range (mm)</a:t>
                      </a:r>
                    </a:p>
                    <a:p>
                      <a:pPr algn="ctr" rtl="0">
                        <a:buNone/>
                      </a:pPr>
                      <a:r>
                        <a:rPr lang="en-US" altLang="ko-KR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(</a:t>
                      </a: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범위</a:t>
                      </a:r>
                      <a:r>
                        <a:rPr lang="en-US" altLang="ko-KR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)</a:t>
                      </a:r>
                    </a:p>
                  </a:txBody>
                  <a:tcPr marR="114300" marT="152400" marB="1524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F</a:t>
                      </a:r>
                    </a:p>
                  </a:txBody>
                  <a:tcPr marR="114300" marT="152400" marB="1524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470.97</a:t>
                      </a:r>
                    </a:p>
                  </a:txBody>
                  <a:tcPr marR="114300" marT="152400" marB="1524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51.47</a:t>
                      </a:r>
                    </a:p>
                  </a:txBody>
                  <a:tcPr marR="114300" marT="152400" marB="1524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234.0</a:t>
                      </a:r>
                    </a:p>
                  </a:txBody>
                  <a:tcPr marR="114300" marT="152400" marB="1524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468.0</a:t>
                      </a:r>
                    </a:p>
                  </a:txBody>
                  <a:tcPr marR="114300" marT="152400" marB="1524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918.0</a:t>
                      </a:r>
                    </a:p>
                  </a:txBody>
                  <a:tcPr marT="152400" marB="1524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76871011"/>
                  </a:ext>
                </a:extLst>
              </a:tr>
              <a:tr h="411480"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R="114300" marT="152400" marB="152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M</a:t>
                      </a:r>
                    </a:p>
                  </a:txBody>
                  <a:tcPr marR="114300" marT="152400" marB="15240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467.58</a:t>
                      </a:r>
                    </a:p>
                  </a:txBody>
                  <a:tcPr marR="114300" marT="152400" marB="15240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54.34</a:t>
                      </a:r>
                    </a:p>
                  </a:txBody>
                  <a:tcPr marR="114300" marT="152400" marB="15240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215.0</a:t>
                      </a:r>
                    </a:p>
                  </a:txBody>
                  <a:tcPr marR="114300" marT="152400" marB="15240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465.0</a:t>
                      </a:r>
                    </a:p>
                  </a:txBody>
                  <a:tcPr marR="114300" marT="152400" marB="15240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808.0</a:t>
                      </a:r>
                    </a:p>
                  </a:txBody>
                  <a:tcPr marT="152400" marB="152400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9298428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8551388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D9164C-0341-8A87-1C72-A7829557F8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2FA1261-B2A2-80CF-1A62-0928B875AD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9B677DC-2134-E89C-2C49-37A5610C9D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12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A937AEF3-9A49-E70D-9D01-C4D8829C75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Train / Test Dataset Split &amp;</a:t>
            </a:r>
            <a:r>
              <a:rPr lang="ko-KR" altLang="en-US" dirty="0"/>
              <a:t> </a:t>
            </a:r>
            <a:r>
              <a:rPr lang="en-US" altLang="ko-KR" dirty="0"/>
              <a:t>Distribution</a:t>
            </a:r>
          </a:p>
          <a:p>
            <a:endParaRPr lang="en-US" altLang="ko-KR" dirty="0"/>
          </a:p>
        </p:txBody>
      </p:sp>
      <p:graphicFrame>
        <p:nvGraphicFramePr>
          <p:cNvPr id="5" name="Table 24">
            <a:extLst>
              <a:ext uri="{FF2B5EF4-FFF2-40B4-BE49-F238E27FC236}">
                <a16:creationId xmlns:a16="http://schemas.microsoft.com/office/drawing/2014/main" id="{9642AD93-3DBA-B1E1-EF1C-A32E15C5D9E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59860501"/>
              </p:ext>
            </p:extLst>
          </p:nvPr>
        </p:nvGraphicFramePr>
        <p:xfrm>
          <a:off x="1180920" y="1828348"/>
          <a:ext cx="983016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7428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8332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731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526300428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895696751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493313760"/>
                    </a:ext>
                  </a:extLst>
                </a:gridCol>
                <a:gridCol w="1362617">
                  <a:extLst>
                    <a:ext uri="{9D8B030D-6E8A-4147-A177-3AD203B41FA5}">
                      <a16:colId xmlns:a16="http://schemas.microsoft.com/office/drawing/2014/main" val="815128434"/>
                    </a:ext>
                  </a:extLst>
                </a:gridCol>
                <a:gridCol w="1362617">
                  <a:extLst>
                    <a:ext uri="{9D8B030D-6E8A-4147-A177-3AD203B41FA5}">
                      <a16:colId xmlns:a16="http://schemas.microsoft.com/office/drawing/2014/main" val="1963462520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Split</a:t>
                      </a:r>
                    </a:p>
                  </a:txBody>
                  <a:tcPr marL="123825" marR="123825" marT="57150" marB="57150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Sex</a:t>
                      </a:r>
                    </a:p>
                  </a:txBody>
                  <a:tcPr marL="123825" marR="123825" marT="57150" marB="57150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n</a:t>
                      </a:r>
                    </a:p>
                  </a:txBody>
                  <a:tcPr marL="123825" marR="123825" marT="57150" marB="57150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Normal</a:t>
                      </a:r>
                    </a:p>
                  </a:txBody>
                  <a:tcPr marL="123825" marR="123825" marT="57150" marB="57150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Normal %</a:t>
                      </a:r>
                    </a:p>
                  </a:txBody>
                  <a:tcPr marL="123825" marR="123825" marT="57150" marB="57150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Sarco</a:t>
                      </a:r>
                    </a:p>
                  </a:txBody>
                  <a:tcPr marL="123825" marR="123825" marT="57150" marB="57150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Sarco %</a:t>
                      </a:r>
                    </a:p>
                  </a:txBody>
                  <a:tcPr marL="123825" marR="123825" marT="57150" marB="57150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Age</a:t>
                      </a:r>
                    </a:p>
                  </a:txBody>
                  <a:tcPr marL="123825" marR="123825" marT="57150" marB="57150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BMI</a:t>
                      </a:r>
                    </a:p>
                  </a:txBody>
                  <a:tcPr marL="123825" marR="123825" marT="57150" marB="57150" anchor="ctr"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 rowSpan="3"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dirty="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Train</a:t>
                      </a:r>
                    </a:p>
                  </a:txBody>
                  <a:tcPr marL="123825" marR="123825" marT="57150" marB="5715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dirty="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M</a:t>
                      </a:r>
                    </a:p>
                  </a:txBody>
                  <a:tcPr marL="123825" marR="123825" marT="57150" marB="5715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357</a:t>
                      </a:r>
                    </a:p>
                  </a:txBody>
                  <a:tcPr marL="123825" marR="123825" marT="57150" marB="5715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297</a:t>
                      </a:r>
                    </a:p>
                  </a:txBody>
                  <a:tcPr marL="123825" marR="123825" marT="57150" marB="5715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83.2%</a:t>
                      </a:r>
                    </a:p>
                  </a:txBody>
                  <a:tcPr marL="123825" marR="123825" marT="57150" marB="5715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60</a:t>
                      </a:r>
                    </a:p>
                  </a:txBody>
                  <a:tcPr marL="123825" marR="123825" marT="57150" marB="5715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16.8%</a:t>
                      </a:r>
                    </a:p>
                  </a:txBody>
                  <a:tcPr marL="123825" marR="123825" marT="57150" marB="5715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59.35 ± 12.80</a:t>
                      </a:r>
                    </a:p>
                  </a:txBody>
                  <a:tcPr marL="123825" marR="123825" marT="57150" marB="5715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24.17 ± 3.31</a:t>
                      </a:r>
                    </a:p>
                  </a:txBody>
                  <a:tcPr marL="123825" marR="123825" marT="57150" marB="5715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123825" marR="123825" marT="57150" marB="5715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F</a:t>
                      </a:r>
                    </a:p>
                  </a:txBody>
                  <a:tcPr marL="123825" marR="123825" marT="57150" marB="5715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660</a:t>
                      </a:r>
                    </a:p>
                  </a:txBody>
                  <a:tcPr marL="123825" marR="123825" marT="57150" marB="5715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609</a:t>
                      </a:r>
                    </a:p>
                  </a:txBody>
                  <a:tcPr marL="123825" marR="123825" marT="57150" marB="5715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92.3%</a:t>
                      </a:r>
                    </a:p>
                  </a:txBody>
                  <a:tcPr marL="123825" marR="123825" marT="57150" marB="5715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51</a:t>
                      </a:r>
                    </a:p>
                  </a:txBody>
                  <a:tcPr marL="123825" marR="123825" marT="57150" marB="5715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7.7%</a:t>
                      </a:r>
                    </a:p>
                  </a:txBody>
                  <a:tcPr marL="123825" marR="123825" marT="57150" marB="5715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55.60 ± 11.74</a:t>
                      </a:r>
                    </a:p>
                  </a:txBody>
                  <a:tcPr marL="123825" marR="123825" marT="57150" marB="5715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23.01 ± 3.24</a:t>
                      </a:r>
                    </a:p>
                  </a:txBody>
                  <a:tcPr marL="123825" marR="123825" marT="57150" marB="5715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47497381"/>
                  </a:ext>
                </a:extLst>
              </a:tr>
              <a:tr h="411480"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123825" marR="123825" marT="57150" marB="5715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All</a:t>
                      </a:r>
                      <a:endParaRPr lang="en-US" sz="1400"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marL="123825" marR="123825" marT="57150" marB="5715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 dirty="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1017</a:t>
                      </a:r>
                      <a:endParaRPr lang="ko-KR" altLang="en-US" sz="1400" dirty="0"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marL="123825" marR="123825" marT="57150" marB="5715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 dirty="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906</a:t>
                      </a:r>
                      <a:endParaRPr lang="ko-KR" altLang="en-US" sz="1400" dirty="0"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marL="123825" marR="123825" marT="57150" marB="5715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89.1%</a:t>
                      </a:r>
                      <a:endParaRPr lang="ko-KR" altLang="en-US" sz="1400"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marL="123825" marR="123825" marT="57150" marB="5715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111</a:t>
                      </a:r>
                      <a:endParaRPr lang="ko-KR" altLang="en-US" sz="1400"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marL="123825" marR="123825" marT="57150" marB="5715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10.9%</a:t>
                      </a:r>
                      <a:endParaRPr lang="ko-KR" altLang="en-US" sz="1400"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marL="123825" marR="123825" marT="57150" marB="5715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56.92 ± 12.25</a:t>
                      </a:r>
                    </a:p>
                  </a:txBody>
                  <a:tcPr marL="123825" marR="123825" marT="57150" marB="5715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23.42 ± 3.31</a:t>
                      </a:r>
                    </a:p>
                  </a:txBody>
                  <a:tcPr marL="123825" marR="123825" marT="57150" marB="5715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32731768"/>
                  </a:ext>
                </a:extLst>
              </a:tr>
              <a:tr h="411480">
                <a:tc rowSpan="3"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dirty="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Test</a:t>
                      </a:r>
                    </a:p>
                  </a:txBody>
                  <a:tcPr marL="123825" marR="123825" marT="57150" marB="5715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M</a:t>
                      </a:r>
                    </a:p>
                  </a:txBody>
                  <a:tcPr marL="123825" marR="123825" marT="57150" marB="5715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99</a:t>
                      </a:r>
                    </a:p>
                  </a:txBody>
                  <a:tcPr marL="123825" marR="123825" marT="57150" marB="5715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82</a:t>
                      </a:r>
                    </a:p>
                  </a:txBody>
                  <a:tcPr marL="123825" marR="123825" marT="57150" marB="5715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82.8%</a:t>
                      </a:r>
                    </a:p>
                  </a:txBody>
                  <a:tcPr marL="123825" marR="123825" marT="57150" marB="5715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17</a:t>
                      </a:r>
                    </a:p>
                  </a:txBody>
                  <a:tcPr marL="123825" marR="123825" marT="57150" marB="5715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17.2%</a:t>
                      </a:r>
                    </a:p>
                  </a:txBody>
                  <a:tcPr marL="123825" marR="123825" marT="57150" marB="5715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61.58 ± 10.97</a:t>
                      </a:r>
                    </a:p>
                  </a:txBody>
                  <a:tcPr marL="123825" marR="123825" marT="57150" marB="5715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24.03 ± 3.22</a:t>
                      </a:r>
                    </a:p>
                  </a:txBody>
                  <a:tcPr marL="123825" marR="123825" marT="57150" marB="5715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863122"/>
                  </a:ext>
                </a:extLst>
              </a:tr>
              <a:tr h="411480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123825" marR="123825" marT="57150" marB="5715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dirty="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F</a:t>
                      </a:r>
                    </a:p>
                  </a:txBody>
                  <a:tcPr marL="123825" marR="123825" marT="57150" marB="5715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156</a:t>
                      </a:r>
                    </a:p>
                  </a:txBody>
                  <a:tcPr marL="123825" marR="123825" marT="57150" marB="5715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145</a:t>
                      </a:r>
                    </a:p>
                  </a:txBody>
                  <a:tcPr marL="123825" marR="123825" marT="57150" marB="5715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92.9%</a:t>
                      </a:r>
                    </a:p>
                  </a:txBody>
                  <a:tcPr marL="123825" marR="123825" marT="57150" marB="5715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11</a:t>
                      </a:r>
                    </a:p>
                  </a:txBody>
                  <a:tcPr marL="123825" marR="123825" marT="57150" marB="5715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7.1%</a:t>
                      </a:r>
                    </a:p>
                  </a:txBody>
                  <a:tcPr marL="123825" marR="123825" marT="57150" marB="5715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55.71 ± 13.31</a:t>
                      </a:r>
                    </a:p>
                  </a:txBody>
                  <a:tcPr marL="123825" marR="123825" marT="57150" marB="5715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23.22 ± 3.52</a:t>
                      </a:r>
                    </a:p>
                  </a:txBody>
                  <a:tcPr marL="123825" marR="123825" marT="57150" marB="5715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76871011"/>
                  </a:ext>
                </a:extLst>
              </a:tr>
              <a:tr h="411480"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123825" marR="123825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All</a:t>
                      </a:r>
                      <a:endParaRPr lang="en-US" sz="1400" dirty="0"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marL="123825" marR="123825" marT="57150" marB="5715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 dirty="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255</a:t>
                      </a:r>
                      <a:endParaRPr lang="ko-KR" altLang="en-US" sz="1400" dirty="0"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marL="123825" marR="123825" marT="57150" marB="5715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 dirty="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227</a:t>
                      </a:r>
                      <a:endParaRPr lang="ko-KR" altLang="en-US" sz="1400" dirty="0"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marL="123825" marR="123825" marT="57150" marB="5715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 dirty="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89.0%</a:t>
                      </a:r>
                      <a:endParaRPr lang="ko-KR" altLang="en-US" sz="1400" dirty="0"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marL="123825" marR="123825" marT="57150" marB="5715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 dirty="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28</a:t>
                      </a:r>
                      <a:endParaRPr lang="ko-KR" altLang="en-US" sz="1400" dirty="0"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marL="123825" marR="123825" marT="57150" marB="5715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 dirty="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11.0%</a:t>
                      </a:r>
                      <a:endParaRPr lang="ko-KR" altLang="en-US" sz="1400" dirty="0"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marL="123825" marR="123825" marT="57150" marB="5715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57.98 ± 12.78</a:t>
                      </a:r>
                    </a:p>
                  </a:txBody>
                  <a:tcPr marL="123825" marR="123825" marT="57150" marB="5715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23.54 ± 3.43</a:t>
                      </a:r>
                    </a:p>
                  </a:txBody>
                  <a:tcPr marL="123825" marR="123825" marT="57150" marB="5715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9298428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7209769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ABDFCF-C338-3132-BA10-4462AEB57D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2" name="Picture 4">
            <a:extLst>
              <a:ext uri="{FF2B5EF4-FFF2-40B4-BE49-F238E27FC236}">
                <a16:creationId xmlns:a16="http://schemas.microsoft.com/office/drawing/2014/main" id="{15A61F64-D8D3-8D35-4846-895558AA0A2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46130" y="757643"/>
            <a:ext cx="8499739" cy="56213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B9373744-C5D2-1AC4-CA74-A253751F4C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23DC634-1B31-FB52-2479-E5F13C2302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971502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FDDAD5-9D6C-6EC7-5990-893B8275EA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00758E8-AA34-8F76-DD33-10F28B80D9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000" y="2896658"/>
            <a:ext cx="11176000" cy="532342"/>
          </a:xfrm>
        </p:spPr>
        <p:txBody>
          <a:bodyPr>
            <a:noAutofit/>
          </a:bodyPr>
          <a:lstStyle/>
          <a:p>
            <a:r>
              <a:rPr lang="en-US" altLang="ko-KR" sz="4000" dirty="0">
                <a:latin typeface="KoPub돋움체 Bold" panose="00000800000000000000" pitchFamily="2" charset="-127"/>
                <a:ea typeface="KoPub돋움체 Bold" panose="00000800000000000000" pitchFamily="2" charset="-127"/>
                <a:cs typeface="KoPubWorld돋움체 Bold" panose="00000800000000000000" pitchFamily="2" charset="-127"/>
              </a:rPr>
              <a:t>SMI Cutoff Setting</a:t>
            </a:r>
            <a:endParaRPr lang="ko-KR" altLang="en-US" sz="4000" dirty="0">
              <a:latin typeface="KoPub돋움체 Bold" panose="00000800000000000000" pitchFamily="2" charset="-127"/>
              <a:ea typeface="KoPub돋움체 Bold" panose="00000800000000000000" pitchFamily="2" charset="-127"/>
              <a:cs typeface="KoPubWorld돋움체 Bold" panose="00000800000000000000" pitchFamily="2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28B72B6-EEF1-15E0-344B-A95E37C6BC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3112211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EBD5158-50E0-52B3-29CB-5B07C0DDBF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3DBA23B-101E-8452-0205-F8D06B1824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4B94B7A-09AD-CA01-AE12-3AB46EEBD2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15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520C8321-88FC-8692-CF5E-487903F7B8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성별에 따른 </a:t>
            </a:r>
            <a:r>
              <a:rPr lang="en-US" altLang="ko-KR" dirty="0"/>
              <a:t>SMI Cutoff Value </a:t>
            </a:r>
            <a:r>
              <a:rPr lang="ko-KR" altLang="en-US" dirty="0"/>
              <a:t>분석</a:t>
            </a:r>
            <a:endParaRPr lang="en-US" altLang="ko-KR" dirty="0"/>
          </a:p>
        </p:txBody>
      </p:sp>
      <p:graphicFrame>
        <p:nvGraphicFramePr>
          <p:cNvPr id="5" name="Table 24">
            <a:extLst>
              <a:ext uri="{FF2B5EF4-FFF2-40B4-BE49-F238E27FC236}">
                <a16:creationId xmlns:a16="http://schemas.microsoft.com/office/drawing/2014/main" id="{ED51D99C-9475-56D3-1EB5-5EE50C156FA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9042707"/>
              </p:ext>
            </p:extLst>
          </p:nvPr>
        </p:nvGraphicFramePr>
        <p:xfrm>
          <a:off x="813162" y="1722435"/>
          <a:ext cx="10591438" cy="375253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82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8012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5644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182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11828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chemeClr val="bg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연구 논문 </a:t>
                      </a:r>
                      <a:r>
                        <a:rPr lang="en-US" altLang="ko-KR" sz="1200" b="1" dirty="0">
                          <a:solidFill>
                            <a:schemeClr val="bg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(</a:t>
                      </a:r>
                      <a:r>
                        <a:rPr lang="ko-KR" altLang="en-US" sz="1200" b="1" dirty="0">
                          <a:solidFill>
                            <a:schemeClr val="bg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저자</a:t>
                      </a:r>
                      <a:r>
                        <a:rPr lang="en-US" altLang="ko-KR" sz="1200" b="1" dirty="0">
                          <a:solidFill>
                            <a:schemeClr val="bg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)</a:t>
                      </a:r>
                      <a:endParaRPr lang="ko-KR" altLang="en-US" sz="1200" dirty="0">
                        <a:solidFill>
                          <a:schemeClr val="bg1"/>
                        </a:solidFill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marR="114300" marT="152400" marB="1524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chemeClr val="bg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대상 국가</a:t>
                      </a:r>
                      <a:endParaRPr lang="ko-KR" altLang="en-US" sz="1200" dirty="0">
                        <a:solidFill>
                          <a:schemeClr val="bg1"/>
                        </a:solidFill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marR="114300" marT="152400" marB="1524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 err="1">
                          <a:solidFill>
                            <a:schemeClr val="bg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대상군</a:t>
                      </a:r>
                      <a:r>
                        <a:rPr lang="ko-KR" altLang="en-US" sz="1200" b="1" dirty="0">
                          <a:solidFill>
                            <a:schemeClr val="bg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 특성</a:t>
                      </a:r>
                      <a:endParaRPr lang="ko-KR" altLang="en-US" sz="1200" dirty="0">
                        <a:solidFill>
                          <a:schemeClr val="bg1"/>
                        </a:solidFill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marR="114300" marT="152400" marB="1524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chemeClr val="bg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평균 나이 </a:t>
                      </a:r>
                      <a:r>
                        <a:rPr lang="en-US" altLang="ko-KR" sz="1200" b="1" dirty="0">
                          <a:solidFill>
                            <a:schemeClr val="bg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(</a:t>
                      </a:r>
                      <a:r>
                        <a:rPr lang="en-US" sz="1200" b="1" dirty="0" err="1">
                          <a:solidFill>
                            <a:schemeClr val="bg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Mean±SD</a:t>
                      </a:r>
                      <a:r>
                        <a:rPr lang="en-US" sz="1200" b="1" dirty="0">
                          <a:solidFill>
                            <a:schemeClr val="bg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)</a:t>
                      </a:r>
                      <a:endParaRPr lang="en-US" sz="1200" dirty="0">
                        <a:solidFill>
                          <a:schemeClr val="bg1"/>
                        </a:solidFill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marR="114300" marT="152400" marB="1524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chemeClr val="bg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나이 범위 </a:t>
                      </a:r>
                      <a:r>
                        <a:rPr lang="en-US" altLang="ko-KR" sz="1200" b="1" dirty="0">
                          <a:solidFill>
                            <a:schemeClr val="bg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(</a:t>
                      </a:r>
                      <a:r>
                        <a:rPr lang="en-US" sz="1200" b="1" dirty="0">
                          <a:solidFill>
                            <a:schemeClr val="bg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Range)</a:t>
                      </a:r>
                      <a:endParaRPr lang="en-US" sz="1200" dirty="0">
                        <a:solidFill>
                          <a:schemeClr val="bg1"/>
                        </a:solidFill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marT="152400" marB="1524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Prado et al. (2009)</a:t>
                      </a:r>
                    </a:p>
                  </a:txBody>
                  <a:tcPr marR="114300" marT="152400" marB="1524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캐나다</a:t>
                      </a:r>
                    </a:p>
                  </a:txBody>
                  <a:tcPr marR="114300" marT="152400" marB="1524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0" dirty="0" err="1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전이성</a:t>
                      </a: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 유방암 환자</a:t>
                      </a:r>
                    </a:p>
                  </a:txBody>
                  <a:tcPr marR="114300" marT="152400" marB="1524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54.8 </a:t>
                      </a:r>
                      <a:r>
                        <a:rPr lang="en-US" altLang="ko-KR" sz="1200" b="0" dirty="0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±</a:t>
                      </a:r>
                      <a:r>
                        <a:rPr 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 10.4</a:t>
                      </a: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세 </a:t>
                      </a:r>
                    </a:p>
                  </a:txBody>
                  <a:tcPr marR="114300" marT="152400" marB="1524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37~80</a:t>
                      </a: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세 </a:t>
                      </a:r>
                    </a:p>
                  </a:txBody>
                  <a:tcPr marT="152400" marB="1524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Yoon et al. (2021)</a:t>
                      </a:r>
                    </a:p>
                  </a:txBody>
                  <a:tcPr marR="114300" marT="152400" marB="1524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한국</a:t>
                      </a:r>
                    </a:p>
                  </a:txBody>
                  <a:tcPr marR="114300" marT="152400" marB="1524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건강한 간 기증자</a:t>
                      </a:r>
                    </a:p>
                  </a:txBody>
                  <a:tcPr marR="114300" marT="152400" marB="1524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31.5 </a:t>
                      </a:r>
                      <a:r>
                        <a:rPr lang="en-US" altLang="ko-KR" sz="1200" b="0" dirty="0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± </a:t>
                      </a:r>
                      <a:r>
                        <a:rPr 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8.3</a:t>
                      </a: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세 </a:t>
                      </a:r>
                    </a:p>
                  </a:txBody>
                  <a:tcPr marR="114300" marT="152400" marB="1524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20~59</a:t>
                      </a: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세 </a:t>
                      </a:r>
                    </a:p>
                  </a:txBody>
                  <a:tcPr marT="152400" marB="1524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JSH (2016)</a:t>
                      </a:r>
                    </a:p>
                  </a:txBody>
                  <a:tcPr marR="114300" marT="152400" marB="1524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일본</a:t>
                      </a:r>
                    </a:p>
                  </a:txBody>
                  <a:tcPr marR="114300" marT="152400" marB="1524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만성 간 질환 환자</a:t>
                      </a:r>
                    </a:p>
                  </a:txBody>
                  <a:tcPr marR="114300" marT="152400" marB="1524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71</a:t>
                      </a: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세 </a:t>
                      </a:r>
                      <a:r>
                        <a:rPr lang="en-US" altLang="ko-KR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(</a:t>
                      </a: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중앙값</a:t>
                      </a:r>
                      <a:r>
                        <a:rPr lang="en-US" altLang="ko-KR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)</a:t>
                      </a: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 </a:t>
                      </a:r>
                    </a:p>
                  </a:txBody>
                  <a:tcPr marR="114300" marT="152400" marB="1524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19~89</a:t>
                      </a: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세 </a:t>
                      </a:r>
                    </a:p>
                  </a:txBody>
                  <a:tcPr marT="152400" marB="1524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615808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Carey et al. (2017)</a:t>
                      </a:r>
                    </a:p>
                  </a:txBody>
                  <a:tcPr marR="114300" marT="152400" marB="1524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북미</a:t>
                      </a:r>
                    </a:p>
                  </a:txBody>
                  <a:tcPr marR="114300" marT="152400" marB="1524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간 이식 대기 환자</a:t>
                      </a:r>
                    </a:p>
                  </a:txBody>
                  <a:tcPr marR="114300" marT="152400" marB="1524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58</a:t>
                      </a: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세 </a:t>
                      </a:r>
                      <a:r>
                        <a:rPr lang="en-US" altLang="ko-KR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(</a:t>
                      </a: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중앙값</a:t>
                      </a:r>
                      <a:r>
                        <a:rPr lang="en-US" altLang="ko-KR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)</a:t>
                      </a: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 </a:t>
                      </a:r>
                    </a:p>
                  </a:txBody>
                  <a:tcPr marR="114300" marT="152400" marB="1524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(IQR: 51~62</a:t>
                      </a: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세</a:t>
                      </a:r>
                      <a:r>
                        <a:rPr lang="en-US" altLang="ko-KR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) </a:t>
                      </a:r>
                    </a:p>
                  </a:txBody>
                  <a:tcPr marT="152400" marB="1524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6050706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Martin et al. (2013)</a:t>
                      </a:r>
                    </a:p>
                  </a:txBody>
                  <a:tcPr marR="114300" marT="152400" marB="1524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캐나다</a:t>
                      </a:r>
                    </a:p>
                  </a:txBody>
                  <a:tcPr marR="114300" marT="152400" marB="1524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폐암 및 소화기암 환자</a:t>
                      </a:r>
                    </a:p>
                  </a:txBody>
                  <a:tcPr marR="114300" marT="152400" marB="1524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남성</a:t>
                      </a:r>
                      <a:r>
                        <a:rPr lang="en-US" altLang="ko-KR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: 64.7</a:t>
                      </a: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세 </a:t>
                      </a:r>
                      <a:r>
                        <a:rPr lang="en-US" altLang="ko-KR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/ </a:t>
                      </a: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여성</a:t>
                      </a:r>
                      <a:r>
                        <a:rPr lang="en-US" altLang="ko-KR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: 64.8</a:t>
                      </a: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세 </a:t>
                      </a:r>
                    </a:p>
                  </a:txBody>
                  <a:tcPr marR="114300" marT="152400" marB="1524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(</a:t>
                      </a: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기술되지 않음</a:t>
                      </a:r>
                      <a:r>
                        <a:rPr lang="en-US" altLang="ko-KR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)</a:t>
                      </a:r>
                    </a:p>
                  </a:txBody>
                  <a:tcPr marT="152400" marB="1524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237924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현재 연구 데이터</a:t>
                      </a:r>
                      <a:endParaRPr lang="en-US" sz="1200" b="0" dirty="0">
                        <a:solidFill>
                          <a:srgbClr val="1F1F1F"/>
                        </a:solidFill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marR="114300" marT="152400" marB="1524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endParaRPr lang="ko-KR" altLang="en-US" sz="1200" b="0" dirty="0">
                        <a:solidFill>
                          <a:srgbClr val="1F1F1F"/>
                        </a:solidFill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marR="114300" marT="152400" marB="1524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endParaRPr lang="ko-KR" altLang="en-US" sz="1200" b="0" dirty="0">
                        <a:solidFill>
                          <a:srgbClr val="1F1F1F"/>
                        </a:solidFill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marR="114300" marT="152400" marB="1524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남성 </a:t>
                      </a:r>
                      <a:r>
                        <a:rPr lang="en-US" altLang="ko-KR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59.7 </a:t>
                      </a:r>
                      <a:r>
                        <a:rPr lang="en-US" altLang="ko-KR" sz="1200" b="0" dirty="0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± 12.5</a:t>
                      </a:r>
                      <a:r>
                        <a:rPr lang="ko-KR" altLang="en-US" sz="1200" b="0" dirty="0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세</a:t>
                      </a:r>
                      <a:endParaRPr lang="en-US" altLang="ko-KR" sz="1200" b="0" dirty="0"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  <a:p>
                      <a:pPr algn="ctr" rtl="0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여성 </a:t>
                      </a:r>
                      <a:r>
                        <a:rPr lang="en-US" altLang="ko-KR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55.6 </a:t>
                      </a:r>
                      <a:r>
                        <a:rPr lang="en-US" altLang="ko-KR" sz="1200" b="0" dirty="0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± 12.2</a:t>
                      </a:r>
                      <a:r>
                        <a:rPr lang="ko-KR" altLang="en-US" sz="1200" b="0" dirty="0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세</a:t>
                      </a:r>
                      <a:endParaRPr lang="ko-KR" altLang="en-US" sz="1200" b="0" dirty="0">
                        <a:solidFill>
                          <a:srgbClr val="1F1F1F"/>
                        </a:solidFill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marR="114300" marT="152400" marB="1524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11~91</a:t>
                      </a: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세</a:t>
                      </a:r>
                      <a:endParaRPr lang="en-US" altLang="ko-KR" sz="1200" b="0" dirty="0">
                        <a:solidFill>
                          <a:srgbClr val="1F1F1F"/>
                        </a:solidFill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marT="152400" marB="1524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736037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0659984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16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2F49DB3D-7569-41CE-98E6-0D040C938E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성별에 따른 </a:t>
            </a:r>
            <a:r>
              <a:rPr lang="en-US" altLang="ko-KR" dirty="0"/>
              <a:t>SMI Cutoff Value </a:t>
            </a:r>
            <a:r>
              <a:rPr lang="ko-KR" altLang="en-US" dirty="0"/>
              <a:t>분석</a:t>
            </a:r>
            <a:endParaRPr lang="en-US" altLang="ko-KR" dirty="0"/>
          </a:p>
        </p:txBody>
      </p:sp>
      <p:graphicFrame>
        <p:nvGraphicFramePr>
          <p:cNvPr id="5" name="Table 24">
            <a:extLst>
              <a:ext uri="{FF2B5EF4-FFF2-40B4-BE49-F238E27FC236}">
                <a16:creationId xmlns:a16="http://schemas.microsoft.com/office/drawing/2014/main" id="{9B39C32D-90A5-3994-A392-8DDD3A8B961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11657878"/>
              </p:ext>
            </p:extLst>
          </p:nvPr>
        </p:nvGraphicFramePr>
        <p:xfrm>
          <a:off x="813162" y="1722435"/>
          <a:ext cx="10591439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65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667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637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652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652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765240">
                  <a:extLst>
                    <a:ext uri="{9D8B030D-6E8A-4147-A177-3AD203B41FA5}">
                      <a16:colId xmlns:a16="http://schemas.microsoft.com/office/drawing/2014/main" val="315316427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연구 논문 </a:t>
                      </a:r>
                      <a:r>
                        <a:rPr lang="en-US" altLang="ko-KR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(</a:t>
                      </a:r>
                      <a:r>
                        <a:rPr lang="ko-KR" altLang="en-US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연도</a:t>
                      </a:r>
                      <a:r>
                        <a:rPr lang="en-US" altLang="ko-KR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)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대상 국가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남성 </a:t>
                      </a:r>
                      <a:r>
                        <a:rPr lang="en-US" altLang="ko-KR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Cutoff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여성 </a:t>
                      </a:r>
                      <a:r>
                        <a:rPr lang="en-US" altLang="ko-KR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Cutoff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남성 비율 </a:t>
                      </a:r>
                      <a:r>
                        <a:rPr lang="en-US" altLang="ko-KR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(</a:t>
                      </a:r>
                      <a:r>
                        <a:rPr lang="ko-KR" altLang="en-US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강남</a:t>
                      </a:r>
                      <a:r>
                        <a:rPr lang="en-US" altLang="ko-KR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여성 비율 </a:t>
                      </a:r>
                      <a:r>
                        <a:rPr lang="en-US" altLang="ko-KR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(</a:t>
                      </a:r>
                      <a:r>
                        <a:rPr lang="ko-KR" altLang="en-US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강남</a:t>
                      </a:r>
                      <a:r>
                        <a:rPr lang="en-US" altLang="ko-KR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)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/>
                        <a:t>Prado et al. (2009)</a:t>
                      </a:r>
                      <a:endParaRPr sz="1200" dirty="0">
                        <a:solidFill>
                          <a:srgbClr val="1A1A2E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ko-KR" altLang="en-US" sz="1200" dirty="0"/>
                        <a:t>캐나다</a:t>
                      </a:r>
                      <a:endParaRPr lang="en-US" altLang="ko-KR" sz="1200" b="0" i="0" u="none" strike="noStrike" dirty="0">
                        <a:solidFill>
                          <a:srgbClr val="000000"/>
                        </a:solidFill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52.4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38.5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78.1% (356/456)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59.7% (487/816)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/>
                        <a:t>Martin et al. (2013)</a:t>
                      </a:r>
                      <a:endParaRPr sz="1200" dirty="0">
                        <a:solidFill>
                          <a:srgbClr val="1A1A2E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ko-KR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캐나다</a:t>
                      </a:r>
                      <a:endParaRPr lang="en-US" altLang="ko-KR" sz="1200" b="0" i="0" u="none" strike="noStrike" dirty="0">
                        <a:solidFill>
                          <a:srgbClr val="000000"/>
                        </a:solidFill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53.0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41.0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80.9% (369/456)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76.8% (627/816)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/>
                        <a:t>Carey et al. (2017)</a:t>
                      </a:r>
                      <a:endParaRPr sz="1200" dirty="0">
                        <a:solidFill>
                          <a:srgbClr val="1A1A2E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ko-KR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미국</a:t>
                      </a: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/</a:t>
                      </a:r>
                      <a:r>
                        <a:rPr lang="ko-KR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캐나다</a:t>
                      </a:r>
                      <a:endParaRPr lang="en-US" altLang="ko-KR" sz="1200" b="0" i="0" u="none" strike="noStrike" dirty="0">
                        <a:solidFill>
                          <a:srgbClr val="000000"/>
                        </a:solidFill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50.0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39.0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65.6% (299/456)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63.5% (518/816)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615808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/>
                        <a:t>JSH (2016)</a:t>
                      </a:r>
                      <a:endParaRPr sz="1200" dirty="0">
                        <a:solidFill>
                          <a:srgbClr val="1A1A2E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ko-KR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일본</a:t>
                      </a:r>
                      <a:endParaRPr lang="en-US" altLang="ko-KR" sz="1200" b="0" i="0" u="none" strike="noStrike" dirty="0">
                        <a:solidFill>
                          <a:srgbClr val="000000"/>
                        </a:solidFill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42.0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38.0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22.6% (103/456)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55.0% (449/816)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6050706"/>
                  </a:ext>
                </a:extLst>
              </a:tr>
              <a:tr h="411480">
                <a:tc rowSpan="2">
                  <a:txBody>
                    <a:bodyPr/>
                    <a:lstStyle/>
                    <a:p>
                      <a:pPr algn="ctr"/>
                      <a:r>
                        <a:rPr lang="en-US" altLang="ko-KR" sz="1200" dirty="0"/>
                        <a:t>Yoon et al. (2021)</a:t>
                      </a:r>
                      <a:endParaRPr sz="1200" dirty="0">
                        <a:solidFill>
                          <a:srgbClr val="1A1A2E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ko-KR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한국</a:t>
                      </a:r>
                      <a:endParaRPr lang="en-US" altLang="ko-KR" sz="1200" b="0" i="0" u="none" strike="noStrike" dirty="0">
                        <a:solidFill>
                          <a:srgbClr val="000000"/>
                        </a:solidFill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39.33 (-2 STD)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27.7 (-2 STD)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13.8% (63/456)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2.7% (22/816)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2379242"/>
                  </a:ext>
                </a:extLst>
              </a:tr>
              <a:tr h="411480">
                <a:tc vMerge="1">
                  <a:txBody>
                    <a:bodyPr/>
                    <a:lstStyle/>
                    <a:p>
                      <a:pPr algn="ctr"/>
                      <a:endParaRPr sz="1200" dirty="0">
                        <a:solidFill>
                          <a:srgbClr val="1A1A2E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altLang="ko-KR" sz="1200" b="0" i="0" u="none" strike="noStrike" dirty="0">
                        <a:solidFill>
                          <a:srgbClr val="000000"/>
                        </a:solidFill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40.96 (</a:t>
                      </a:r>
                      <a:r>
                        <a:rPr lang="ko-KR" alt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하위 </a:t>
                      </a:r>
                      <a:r>
                        <a:rPr lang="en-US" altLang="ko-KR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5%)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30.6 (</a:t>
                      </a:r>
                      <a:r>
                        <a:rPr lang="ko-KR" alt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하위 </a:t>
                      </a:r>
                      <a:r>
                        <a:rPr lang="en-US" altLang="ko-KR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5%)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16.9% (77/456)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 7.6% (62/816)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688516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955979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2C735D-9C80-0BA1-2640-30BD8ECA7D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0BFC9B4-F6C4-1DD2-1EF2-E299BAD4B8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000" y="2896658"/>
            <a:ext cx="11176000" cy="532342"/>
          </a:xfrm>
        </p:spPr>
        <p:txBody>
          <a:bodyPr>
            <a:noAutofit/>
          </a:bodyPr>
          <a:lstStyle/>
          <a:p>
            <a:r>
              <a:rPr lang="ko-KR" altLang="en-US" sz="4000" dirty="0">
                <a:latin typeface="KoPub돋움체 Bold" panose="00000800000000000000" pitchFamily="2" charset="-127"/>
                <a:ea typeface="KoPub돋움체 Bold" panose="00000800000000000000" pitchFamily="2" charset="-127"/>
                <a:cs typeface="KoPubWorld돋움체 Bold" panose="00000800000000000000" pitchFamily="2" charset="-127"/>
              </a:rPr>
              <a:t>모델 구성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CD1DDEF-C57D-CCEF-000B-2FF9BE05F6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8466187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C1ADAF-4EEE-EC7B-DA6B-1DC91DB7A8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157E9B4-6ADD-4241-4DFC-115ED07BD3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C2CD9A8-8807-F1DE-3F1F-996F2C7228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18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F44AAF05-2CE7-0403-088D-F047E10A8C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SMI Binary threshold: </a:t>
            </a:r>
            <a:r>
              <a:rPr lang="ko-KR" altLang="en-US" dirty="0"/>
              <a:t>남성</a:t>
            </a:r>
            <a:r>
              <a:rPr lang="en-US" altLang="ko-KR" dirty="0"/>
              <a:t> – 40.96, </a:t>
            </a:r>
            <a:r>
              <a:rPr lang="ko-KR" altLang="en-US" dirty="0"/>
              <a:t>여성 </a:t>
            </a:r>
            <a:r>
              <a:rPr lang="en-US" altLang="ko-KR" dirty="0"/>
              <a:t>– 30.6</a:t>
            </a:r>
          </a:p>
          <a:p>
            <a:pPr>
              <a:lnSpc>
                <a:spcPct val="150000"/>
              </a:lnSpc>
            </a:pPr>
            <a:r>
              <a:rPr lang="en-US" altLang="ko-KR" dirty="0"/>
              <a:t>AEC points</a:t>
            </a:r>
            <a:r>
              <a:rPr lang="ko-KR" altLang="en-US" dirty="0"/>
              <a:t> 변환</a:t>
            </a:r>
            <a:r>
              <a:rPr lang="en-US" altLang="ko-KR" dirty="0"/>
              <a:t>: [64, 128, 256] points</a:t>
            </a:r>
            <a:r>
              <a:rPr lang="ko-KR" altLang="en-US" dirty="0"/>
              <a:t>로 세분화</a:t>
            </a:r>
            <a:endParaRPr lang="en-US" altLang="ko-KR" dirty="0"/>
          </a:p>
          <a:p>
            <a:pPr>
              <a:lnSpc>
                <a:spcPct val="150000"/>
              </a:lnSpc>
            </a:pPr>
            <a:r>
              <a:rPr lang="en-US" altLang="ko-KR" dirty="0" err="1"/>
              <a:t>StandardScaler</a:t>
            </a:r>
            <a:r>
              <a:rPr lang="en-US" altLang="ko-KR" dirty="0"/>
              <a:t> </a:t>
            </a:r>
            <a:r>
              <a:rPr lang="ko-KR" altLang="en-US" dirty="0"/>
              <a:t>적용</a:t>
            </a:r>
            <a:r>
              <a:rPr lang="en-US" altLang="ko-KR" dirty="0"/>
              <a:t>: Clinic (</a:t>
            </a:r>
            <a:r>
              <a:rPr lang="ko-KR" altLang="en-US" dirty="0"/>
              <a:t>임상변수만 표준화</a:t>
            </a:r>
            <a:r>
              <a:rPr lang="en-US" altLang="ko-KR" dirty="0"/>
              <a:t>), Both (</a:t>
            </a:r>
            <a:r>
              <a:rPr lang="ko-KR" altLang="en-US" dirty="0"/>
              <a:t>임상</a:t>
            </a:r>
            <a:r>
              <a:rPr lang="en-US" altLang="ko-KR" dirty="0"/>
              <a:t>+AEC </a:t>
            </a:r>
            <a:r>
              <a:rPr lang="ko-KR" altLang="en-US" dirty="0"/>
              <a:t>모두 표준화</a:t>
            </a:r>
            <a:r>
              <a:rPr lang="en-US" altLang="ko-KR" dirty="0"/>
              <a:t>)</a:t>
            </a:r>
          </a:p>
          <a:p>
            <a:pPr>
              <a:lnSpc>
                <a:spcPct val="150000"/>
              </a:lnSpc>
            </a:pPr>
            <a:r>
              <a:rPr lang="en-US" altLang="ko-KR" dirty="0"/>
              <a:t>Test </a:t>
            </a:r>
            <a:r>
              <a:rPr lang="ko-KR" altLang="en-US" dirty="0"/>
              <a:t>전략</a:t>
            </a:r>
            <a:r>
              <a:rPr lang="en-US" altLang="ko-KR" dirty="0"/>
              <a:t>: CV fold best epoch</a:t>
            </a:r>
            <a:r>
              <a:rPr lang="ko-KR" altLang="en-US" dirty="0"/>
              <a:t>의 </a:t>
            </a:r>
            <a:r>
              <a:rPr lang="en-US" altLang="ko-KR" dirty="0"/>
              <a:t>median</a:t>
            </a:r>
            <a:r>
              <a:rPr lang="ko-KR" altLang="en-US" dirty="0"/>
              <a:t>으로 전체 </a:t>
            </a:r>
            <a:r>
              <a:rPr lang="en-US" altLang="ko-KR" dirty="0"/>
              <a:t>train set </a:t>
            </a:r>
            <a:r>
              <a:rPr lang="ko-KR" altLang="en-US" dirty="0" err="1"/>
              <a:t>재학습</a:t>
            </a:r>
            <a:r>
              <a:rPr lang="ko-KR" altLang="en-US" dirty="0"/>
              <a:t> 후 </a:t>
            </a:r>
            <a:r>
              <a:rPr lang="en-US" altLang="ko-KR" dirty="0"/>
              <a:t>test </a:t>
            </a:r>
            <a:r>
              <a:rPr lang="ko-KR" altLang="en-US" dirty="0"/>
              <a:t>예측</a:t>
            </a:r>
            <a:r>
              <a:rPr lang="en-US" altLang="ko-KR" dirty="0"/>
              <a:t> </a:t>
            </a:r>
          </a:p>
        </p:txBody>
      </p:sp>
      <p:graphicFrame>
        <p:nvGraphicFramePr>
          <p:cNvPr id="7" name="Table 24">
            <a:extLst>
              <a:ext uri="{FF2B5EF4-FFF2-40B4-BE49-F238E27FC236}">
                <a16:creationId xmlns:a16="http://schemas.microsoft.com/office/drawing/2014/main" id="{C8978DFC-E5CC-E84B-52D2-3439F6487D1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75915376"/>
              </p:ext>
            </p:extLst>
          </p:nvPr>
        </p:nvGraphicFramePr>
        <p:xfrm>
          <a:off x="1306217" y="1064394"/>
          <a:ext cx="9579566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00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52652">
                  <a:extLst>
                    <a:ext uri="{9D8B030D-6E8A-4147-A177-3AD203B41FA5}">
                      <a16:colId xmlns:a16="http://schemas.microsoft.com/office/drawing/2014/main" val="2797321821"/>
                    </a:ext>
                  </a:extLst>
                </a:gridCol>
                <a:gridCol w="2356963">
                  <a:extLst>
                    <a:ext uri="{9D8B030D-6E8A-4147-A177-3AD203B41FA5}">
                      <a16:colId xmlns:a16="http://schemas.microsoft.com/office/drawing/2014/main" val="2812402965"/>
                    </a:ext>
                  </a:extLst>
                </a:gridCol>
                <a:gridCol w="202987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400" b="1" dirty="0">
                          <a:effectLst/>
                        </a:rPr>
                        <a:t>모델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400" b="1" dirty="0">
                          <a:effectLst/>
                        </a:rPr>
                        <a:t>입력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400" b="1" dirty="0">
                          <a:effectLst/>
                        </a:rPr>
                        <a:t>학습 방식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400" b="1" dirty="0">
                          <a:effectLst/>
                        </a:rPr>
                        <a:t>서브모델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dirty="0">
                          <a:effectLst/>
                        </a:rPr>
                        <a:t>M1</a:t>
                      </a:r>
                      <a:endParaRPr lang="en-US" sz="1400" dirty="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400">
                          <a:effectLst/>
                        </a:rPr>
                        <a:t>임상 </a:t>
                      </a:r>
                      <a:r>
                        <a:rPr lang="en-US" altLang="ko-KR" sz="1400">
                          <a:effectLst/>
                        </a:rPr>
                        <a:t>(</a:t>
                      </a:r>
                      <a:r>
                        <a:rPr lang="en-US" sz="1400">
                          <a:effectLst/>
                        </a:rPr>
                        <a:t>Age, Sex, BMI)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effectLst/>
                        </a:rPr>
                        <a:t>5-Fold CV / Hold-Out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effectLst/>
                        </a:rPr>
                        <a:t>LR, ResNet1D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80890247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>
                          <a:effectLst/>
                        </a:rPr>
                        <a:t>M2</a:t>
                      </a:r>
                      <a:endParaRPr lang="en-US" sz="140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400">
                          <a:effectLst/>
                        </a:rPr>
                        <a:t>임상 </a:t>
                      </a:r>
                      <a:r>
                        <a:rPr lang="en-US" altLang="ko-KR" sz="1400">
                          <a:effectLst/>
                        </a:rPr>
                        <a:t>+ </a:t>
                      </a:r>
                      <a:r>
                        <a:rPr lang="en-US" sz="1400">
                          <a:effectLst/>
                        </a:rPr>
                        <a:t>AEC (</a:t>
                      </a:r>
                      <a:r>
                        <a:rPr lang="ko-KR" altLang="en-US" sz="1400">
                          <a:effectLst/>
                        </a:rPr>
                        <a:t>매칭</a:t>
                      </a:r>
                      <a:r>
                        <a:rPr lang="en-US" altLang="ko-KR" sz="1400">
                          <a:effectLst/>
                        </a:rPr>
                        <a:t>)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5-Fold CV / Hold-Out</a:t>
                      </a:r>
                      <a:endParaRPr kumimoji="0" lang="en-US" altLang="ko-KR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F0502020204030204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effectLst/>
                        </a:rPr>
                        <a:t>LR, CrossAttn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193842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>
                          <a:effectLst/>
                        </a:rPr>
                        <a:t>M2_2</a:t>
                      </a:r>
                      <a:endParaRPr lang="en-US" sz="140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400">
                          <a:effectLst/>
                        </a:rPr>
                        <a:t>임상 </a:t>
                      </a:r>
                      <a:r>
                        <a:rPr lang="en-US" altLang="ko-KR" sz="1400">
                          <a:effectLst/>
                        </a:rPr>
                        <a:t>+ AEC (</a:t>
                      </a:r>
                      <a:r>
                        <a:rPr lang="ko-KR" altLang="en-US" sz="1400" b="1">
                          <a:effectLst/>
                        </a:rPr>
                        <a:t>셔플</a:t>
                      </a:r>
                      <a:r>
                        <a:rPr lang="en-US" altLang="ko-KR" sz="1400" b="1">
                          <a:effectLst/>
                        </a:rPr>
                        <a:t>, </a:t>
                      </a:r>
                      <a:r>
                        <a:rPr lang="ko-KR" altLang="en-US" sz="1400" b="1">
                          <a:effectLst/>
                        </a:rPr>
                        <a:t>음성 대조군</a:t>
                      </a:r>
                      <a:r>
                        <a:rPr lang="en-US" altLang="ko-KR" sz="1400">
                          <a:effectLst/>
                        </a:rPr>
                        <a:t>)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5-Fold CV / Hold-Out</a:t>
                      </a:r>
                      <a:endParaRPr kumimoji="0" lang="en-US" altLang="ko-KR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F0502020204030204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effectLst/>
                        </a:rPr>
                        <a:t>LR, CrossAttn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1128166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>
                          <a:effectLst/>
                        </a:rPr>
                        <a:t>M3</a:t>
                      </a:r>
                      <a:endParaRPr lang="en-US" sz="140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400">
                          <a:effectLst/>
                        </a:rPr>
                        <a:t>임상 </a:t>
                      </a:r>
                      <a:r>
                        <a:rPr lang="en-US" altLang="ko-KR" sz="1400">
                          <a:effectLst/>
                        </a:rPr>
                        <a:t>+ </a:t>
                      </a:r>
                      <a:r>
                        <a:rPr lang="ko-KR" altLang="en-US" sz="1400">
                          <a:effectLst/>
                        </a:rPr>
                        <a:t>제조사 임베딩 </a:t>
                      </a:r>
                      <a:r>
                        <a:rPr lang="en-US" altLang="ko-KR" sz="1400">
                          <a:effectLst/>
                        </a:rPr>
                        <a:t>+ AEC (</a:t>
                      </a:r>
                      <a:r>
                        <a:rPr lang="ko-KR" altLang="en-US" sz="1400">
                          <a:effectLst/>
                        </a:rPr>
                        <a:t>매칭</a:t>
                      </a:r>
                      <a:r>
                        <a:rPr lang="en-US" altLang="ko-KR" sz="1400">
                          <a:effectLst/>
                        </a:rPr>
                        <a:t>)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5-Fold CV / Hold-Out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effectLst/>
                        </a:rPr>
                        <a:t>LR, </a:t>
                      </a:r>
                      <a:r>
                        <a:rPr lang="en-US" sz="1400" dirty="0" err="1">
                          <a:effectLst/>
                        </a:rPr>
                        <a:t>CrossAttn</a:t>
                      </a:r>
                      <a:endParaRPr lang="en-US" sz="1400" dirty="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092861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7630389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2D9E43-FEE5-2598-AB79-77151AFE27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63C94D6-D7AA-BD32-0DC1-F5E8CAFB7B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F83163-D5BD-2BB0-4F81-C57CE9E2B1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19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D99E292B-0D1B-BB2F-820B-E4EE9ED952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Why Cross Attention? – </a:t>
            </a:r>
            <a:r>
              <a:rPr lang="en-US" altLang="ko-KR" dirty="0" err="1"/>
              <a:t>Concat</a:t>
            </a:r>
            <a:r>
              <a:rPr lang="en-US" altLang="ko-KR" dirty="0"/>
              <a:t> + ResNet1D </a:t>
            </a:r>
            <a:r>
              <a:rPr lang="ko-KR" altLang="en-US" dirty="0"/>
              <a:t>대비 </a:t>
            </a:r>
            <a:r>
              <a:rPr lang="en-US" altLang="ko-KR" dirty="0"/>
              <a:t>Cross Attention </a:t>
            </a:r>
            <a:r>
              <a:rPr lang="ko-KR" altLang="en-US" dirty="0"/>
              <a:t>사용 근거</a:t>
            </a:r>
            <a:endParaRPr lang="en-US" altLang="ko-KR" dirty="0"/>
          </a:p>
          <a:p>
            <a:pPr lvl="1"/>
            <a:r>
              <a:rPr lang="en-US" altLang="ko-KR" dirty="0"/>
              <a:t>Model Heterogeneity</a:t>
            </a:r>
          </a:p>
          <a:p>
            <a:pPr lvl="1"/>
            <a:r>
              <a:rPr lang="en-US" altLang="ko-KR" dirty="0"/>
              <a:t>Dimension Imbalance</a:t>
            </a:r>
          </a:p>
          <a:p>
            <a:pPr lvl="1"/>
            <a:r>
              <a:rPr lang="en-US" altLang="ko-KR" dirty="0"/>
              <a:t>Bidirectional Selective Interaction</a:t>
            </a:r>
          </a:p>
          <a:p>
            <a:pPr lvl="1"/>
            <a:r>
              <a:rPr lang="en-US" altLang="ko-KR" dirty="0"/>
              <a:t>Temporal</a:t>
            </a:r>
            <a:r>
              <a:rPr lang="ko-KR" altLang="en-US" dirty="0"/>
              <a:t> </a:t>
            </a:r>
            <a:r>
              <a:rPr lang="en-US" altLang="ko-KR" dirty="0"/>
              <a:t>Structure</a:t>
            </a:r>
            <a:r>
              <a:rPr lang="ko-KR" altLang="en-US" dirty="0"/>
              <a:t> </a:t>
            </a:r>
            <a:r>
              <a:rPr lang="en-US" altLang="ko-KR" dirty="0"/>
              <a:t>Preservation</a:t>
            </a:r>
          </a:p>
          <a:p>
            <a:pPr lvl="1"/>
            <a:r>
              <a:rPr lang="en-US" altLang="ko-KR" dirty="0"/>
              <a:t>Interpretability</a:t>
            </a:r>
          </a:p>
          <a:p>
            <a:pPr lvl="1"/>
            <a:r>
              <a:rPr lang="ko-KR" altLang="en-US" dirty="0"/>
              <a:t>실험적 검증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85852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0FA073-558E-6C46-845B-1795E9A587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CAB5B1F-F644-F178-AB17-E296382ED0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000" y="2896658"/>
            <a:ext cx="11176000" cy="532342"/>
          </a:xfrm>
        </p:spPr>
        <p:txBody>
          <a:bodyPr>
            <a:noAutofit/>
          </a:bodyPr>
          <a:lstStyle/>
          <a:p>
            <a:r>
              <a:rPr lang="ko-KR" altLang="en-US" sz="4000" dirty="0">
                <a:latin typeface="KoPub돋움체 Bold" panose="00000800000000000000" pitchFamily="2" charset="-127"/>
                <a:ea typeface="KoPub돋움체 Bold" panose="00000800000000000000" pitchFamily="2" charset="-127"/>
                <a:cs typeface="KoPubWorld돋움체 Bold" panose="00000800000000000000" pitchFamily="2" charset="-127"/>
              </a:rPr>
              <a:t>연구 결과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3B75760-3118-EFBC-F61E-FC177DD363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6727012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F8CAC6-5AAE-071D-A20C-3363A9415B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FC34E84-7F24-BDDE-EA03-702E9D9E13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B60B46D-A414-4C6A-6877-8F8F9387CB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21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44036FA1-4DD4-783C-1DCB-104CFAD3FF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Model 1 – Clinic [Age, Sex, BMI]</a:t>
            </a:r>
          </a:p>
          <a:p>
            <a:pPr lvl="1"/>
            <a:r>
              <a:rPr lang="en-US" altLang="ko-KR" dirty="0"/>
              <a:t>5-fold CV (Logistic Regression)</a:t>
            </a:r>
          </a:p>
        </p:txBody>
      </p:sp>
      <p:graphicFrame>
        <p:nvGraphicFramePr>
          <p:cNvPr id="3" name="Table 24">
            <a:extLst>
              <a:ext uri="{FF2B5EF4-FFF2-40B4-BE49-F238E27FC236}">
                <a16:creationId xmlns:a16="http://schemas.microsoft.com/office/drawing/2014/main" id="{9EE54B7A-58D5-A265-CBE5-3B9A9BD8C0D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00836795"/>
              </p:ext>
            </p:extLst>
          </p:nvPr>
        </p:nvGraphicFramePr>
        <p:xfrm>
          <a:off x="1306217" y="2100714"/>
          <a:ext cx="9579564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9659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96594">
                  <a:extLst>
                    <a:ext uri="{9D8B030D-6E8A-4147-A177-3AD203B41FA5}">
                      <a16:colId xmlns:a16="http://schemas.microsoft.com/office/drawing/2014/main" val="198448097"/>
                    </a:ext>
                  </a:extLst>
                </a:gridCol>
                <a:gridCol w="1596594">
                  <a:extLst>
                    <a:ext uri="{9D8B030D-6E8A-4147-A177-3AD203B41FA5}">
                      <a16:colId xmlns:a16="http://schemas.microsoft.com/office/drawing/2014/main" val="3203679715"/>
                    </a:ext>
                  </a:extLst>
                </a:gridCol>
                <a:gridCol w="1596594">
                  <a:extLst>
                    <a:ext uri="{9D8B030D-6E8A-4147-A177-3AD203B41FA5}">
                      <a16:colId xmlns:a16="http://schemas.microsoft.com/office/drawing/2014/main" val="2797321821"/>
                    </a:ext>
                  </a:extLst>
                </a:gridCol>
                <a:gridCol w="1596594">
                  <a:extLst>
                    <a:ext uri="{9D8B030D-6E8A-4147-A177-3AD203B41FA5}">
                      <a16:colId xmlns:a16="http://schemas.microsoft.com/office/drawing/2014/main" val="2812402965"/>
                    </a:ext>
                  </a:extLst>
                </a:gridCol>
                <a:gridCol w="15965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Fold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AUC-ROC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>
                          <a:effectLst/>
                        </a:rPr>
                        <a:t>AUPRC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Brier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Accuracy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F1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1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0.8137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0.3911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0.1828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0.7598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0.3951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9961138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2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0.6623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0.2318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0.2013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0.7157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0.2750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52768488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3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0.7931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0.3106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0.1959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0.6995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0.3441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0302118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4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0.8101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0.4131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0.1716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0.7192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0.3448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9751546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5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0.8767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0.5216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0.1872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0.7143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0.3958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193842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Mean</a:t>
                      </a:r>
                      <a:endParaRPr lang="en-US" sz="1400" dirty="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>
                          <a:effectLst/>
                        </a:rPr>
                        <a:t>0.7912</a:t>
                      </a:r>
                      <a:endParaRPr lang="ko-KR" altLang="en-US" sz="140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>
                          <a:effectLst/>
                        </a:rPr>
                        <a:t>0.3737</a:t>
                      </a:r>
                      <a:endParaRPr lang="ko-KR" altLang="en-US" sz="140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>
                          <a:effectLst/>
                        </a:rPr>
                        <a:t>0.1877</a:t>
                      </a:r>
                      <a:endParaRPr lang="ko-KR" altLang="en-US" sz="140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>
                          <a:effectLst/>
                        </a:rPr>
                        <a:t>0.7217</a:t>
                      </a:r>
                      <a:endParaRPr lang="ko-KR" altLang="en-US" sz="140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>
                          <a:effectLst/>
                        </a:rPr>
                        <a:t>0.3510</a:t>
                      </a:r>
                      <a:endParaRPr lang="ko-KR" altLang="en-US" sz="140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1128166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 dirty="0">
                          <a:effectLst/>
                        </a:rPr>
                        <a:t>±Std</a:t>
                      </a:r>
                      <a:endParaRPr lang="en-US" altLang="ko-KR" sz="1400" dirty="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0.0704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0.0978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0.0104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0.0202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0.0443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092861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796696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B139B0-493C-F65F-132C-5C7E37C1DC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F95B2C1-480C-A431-9D66-D1AB63DBA5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BB6C0A1-BD1A-6B5C-82D1-1C441D1DA7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22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0DF026D0-66DA-3524-3A84-0B8D4589D3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Model 1 – Clinic [Age, Sex, BMI]</a:t>
            </a:r>
          </a:p>
          <a:p>
            <a:pPr lvl="1"/>
            <a:r>
              <a:rPr lang="en-US" altLang="ko-KR" dirty="0"/>
              <a:t>5-fold CV (ResNet1D)</a:t>
            </a:r>
          </a:p>
        </p:txBody>
      </p:sp>
      <p:graphicFrame>
        <p:nvGraphicFramePr>
          <p:cNvPr id="3" name="Table 24">
            <a:extLst>
              <a:ext uri="{FF2B5EF4-FFF2-40B4-BE49-F238E27FC236}">
                <a16:creationId xmlns:a16="http://schemas.microsoft.com/office/drawing/2014/main" id="{7649F697-16F3-66DC-8FC1-7F97796BE50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57279299"/>
              </p:ext>
            </p:extLst>
          </p:nvPr>
        </p:nvGraphicFramePr>
        <p:xfrm>
          <a:off x="1306217" y="2100714"/>
          <a:ext cx="9579564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9659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96594">
                  <a:extLst>
                    <a:ext uri="{9D8B030D-6E8A-4147-A177-3AD203B41FA5}">
                      <a16:colId xmlns:a16="http://schemas.microsoft.com/office/drawing/2014/main" val="198448097"/>
                    </a:ext>
                  </a:extLst>
                </a:gridCol>
                <a:gridCol w="1596594">
                  <a:extLst>
                    <a:ext uri="{9D8B030D-6E8A-4147-A177-3AD203B41FA5}">
                      <a16:colId xmlns:a16="http://schemas.microsoft.com/office/drawing/2014/main" val="3203679715"/>
                    </a:ext>
                  </a:extLst>
                </a:gridCol>
                <a:gridCol w="1596594">
                  <a:extLst>
                    <a:ext uri="{9D8B030D-6E8A-4147-A177-3AD203B41FA5}">
                      <a16:colId xmlns:a16="http://schemas.microsoft.com/office/drawing/2014/main" val="2797321821"/>
                    </a:ext>
                  </a:extLst>
                </a:gridCol>
                <a:gridCol w="1596594">
                  <a:extLst>
                    <a:ext uri="{9D8B030D-6E8A-4147-A177-3AD203B41FA5}">
                      <a16:colId xmlns:a16="http://schemas.microsoft.com/office/drawing/2014/main" val="2812402965"/>
                    </a:ext>
                  </a:extLst>
                </a:gridCol>
                <a:gridCol w="15965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Fold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AUC-ROC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>
                          <a:effectLst/>
                        </a:rPr>
                        <a:t>AUPRC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Brier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Accuracy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F1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1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0.8247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0.3706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0.1920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0.7745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0.4103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9961138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2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0.7122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0.2745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0.1916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0.6618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0.3301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52768488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3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0.7918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0.3117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0.1949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0.6650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0.3462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0302118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4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0.7951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0.4184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0.1691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0.7931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0.4324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9751546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5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0.9161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0.5300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0.1910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0.7389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0.4301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193842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>
                          <a:effectLst/>
                        </a:rPr>
                        <a:t>Mean</a:t>
                      </a:r>
                      <a:endParaRPr lang="en-US" sz="140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>
                          <a:effectLst/>
                        </a:rPr>
                        <a:t>0.8080</a:t>
                      </a:r>
                      <a:endParaRPr lang="ko-KR" altLang="en-US" sz="140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>
                          <a:effectLst/>
                        </a:rPr>
                        <a:t>0.3811</a:t>
                      </a:r>
                      <a:endParaRPr lang="ko-KR" altLang="en-US" sz="140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>
                          <a:effectLst/>
                        </a:rPr>
                        <a:t>0.1877</a:t>
                      </a:r>
                      <a:endParaRPr lang="ko-KR" altLang="en-US" sz="140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>
                          <a:effectLst/>
                        </a:rPr>
                        <a:t>0.7267</a:t>
                      </a:r>
                      <a:endParaRPr lang="ko-KR" altLang="en-US" sz="140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>
                          <a:effectLst/>
                        </a:rPr>
                        <a:t>0.3898</a:t>
                      </a:r>
                      <a:endParaRPr lang="ko-KR" altLang="en-US" sz="140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1128166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±Std</a:t>
                      </a:r>
                      <a:endParaRPr lang="en-US" sz="1400" dirty="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0.0657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0.0893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0.0094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0.0545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0.0432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092861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6880672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717C09-5606-1902-9964-277BD9ACA9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AF770EC-FC89-8D5D-C355-5EF3F13C96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FA91ED0-2FBE-BB16-994D-B68593D28F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23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D6193819-33A5-6699-21F4-469F5D8B0C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Model 1 – Clinic [Age, Sex, BMI]</a:t>
            </a:r>
          </a:p>
          <a:p>
            <a:pPr lvl="1"/>
            <a:r>
              <a:rPr lang="en-US" altLang="ko-KR" dirty="0"/>
              <a:t>Test Set Performance</a:t>
            </a:r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pPr lvl="1"/>
            <a:r>
              <a:rPr lang="ko-KR" altLang="en-US" dirty="0"/>
              <a:t>성별 </a:t>
            </a:r>
            <a:r>
              <a:rPr lang="en-US" altLang="ko-KR" dirty="0"/>
              <a:t>Test AUC</a:t>
            </a:r>
          </a:p>
        </p:txBody>
      </p:sp>
      <p:graphicFrame>
        <p:nvGraphicFramePr>
          <p:cNvPr id="8" name="Table 24">
            <a:extLst>
              <a:ext uri="{FF2B5EF4-FFF2-40B4-BE49-F238E27FC236}">
                <a16:creationId xmlns:a16="http://schemas.microsoft.com/office/drawing/2014/main" id="{38154346-FB3D-08D2-DC74-C72D8CBB42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90176161"/>
              </p:ext>
            </p:extLst>
          </p:nvPr>
        </p:nvGraphicFramePr>
        <p:xfrm>
          <a:off x="1306217" y="2100714"/>
          <a:ext cx="9579564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9659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96594">
                  <a:extLst>
                    <a:ext uri="{9D8B030D-6E8A-4147-A177-3AD203B41FA5}">
                      <a16:colId xmlns:a16="http://schemas.microsoft.com/office/drawing/2014/main" val="198448097"/>
                    </a:ext>
                  </a:extLst>
                </a:gridCol>
                <a:gridCol w="1596594">
                  <a:extLst>
                    <a:ext uri="{9D8B030D-6E8A-4147-A177-3AD203B41FA5}">
                      <a16:colId xmlns:a16="http://schemas.microsoft.com/office/drawing/2014/main" val="3203679715"/>
                    </a:ext>
                  </a:extLst>
                </a:gridCol>
                <a:gridCol w="1596594">
                  <a:extLst>
                    <a:ext uri="{9D8B030D-6E8A-4147-A177-3AD203B41FA5}">
                      <a16:colId xmlns:a16="http://schemas.microsoft.com/office/drawing/2014/main" val="2797321821"/>
                    </a:ext>
                  </a:extLst>
                </a:gridCol>
                <a:gridCol w="1596594">
                  <a:extLst>
                    <a:ext uri="{9D8B030D-6E8A-4147-A177-3AD203B41FA5}">
                      <a16:colId xmlns:a16="http://schemas.microsoft.com/office/drawing/2014/main" val="2812402965"/>
                    </a:ext>
                  </a:extLst>
                </a:gridCol>
                <a:gridCol w="15965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Fold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AUC-ROC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>
                          <a:effectLst/>
                        </a:rPr>
                        <a:t>AUPRC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Brier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Accuracy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F1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dirty="0">
                          <a:effectLst/>
                        </a:rPr>
                        <a:t>Log. Reg.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>
                          <a:effectLst/>
                        </a:rPr>
                        <a:t>0.8291</a:t>
                      </a:r>
                      <a:endParaRPr lang="ko-KR" altLang="en-US" sz="140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0.3249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0.1931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0.6980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0.3636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9961138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ResNet1D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0.7955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0.3471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0.1848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0.7529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0.3883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6416027"/>
                  </a:ext>
                </a:extLst>
              </a:tr>
            </a:tbl>
          </a:graphicData>
        </a:graphic>
      </p:graphicFrame>
      <p:graphicFrame>
        <p:nvGraphicFramePr>
          <p:cNvPr id="9" name="Table 24">
            <a:extLst>
              <a:ext uri="{FF2B5EF4-FFF2-40B4-BE49-F238E27FC236}">
                <a16:creationId xmlns:a16="http://schemas.microsoft.com/office/drawing/2014/main" id="{9F901696-7F52-5EA6-6A7E-3E3C7CB7279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58311566"/>
              </p:ext>
            </p:extLst>
          </p:nvPr>
        </p:nvGraphicFramePr>
        <p:xfrm>
          <a:off x="1306217" y="4030624"/>
          <a:ext cx="6888550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76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97612">
                  <a:extLst>
                    <a:ext uri="{9D8B030D-6E8A-4147-A177-3AD203B41FA5}">
                      <a16:colId xmlns:a16="http://schemas.microsoft.com/office/drawing/2014/main" val="198448097"/>
                    </a:ext>
                  </a:extLst>
                </a:gridCol>
                <a:gridCol w="2146663">
                  <a:extLst>
                    <a:ext uri="{9D8B030D-6E8A-4147-A177-3AD203B41FA5}">
                      <a16:colId xmlns:a16="http://schemas.microsoft.com/office/drawing/2014/main" val="3203679715"/>
                    </a:ext>
                  </a:extLst>
                </a:gridCol>
                <a:gridCol w="2146663">
                  <a:extLst>
                    <a:ext uri="{9D8B030D-6E8A-4147-A177-3AD203B41FA5}">
                      <a16:colId xmlns:a16="http://schemas.microsoft.com/office/drawing/2014/main" val="2797321821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1" dirty="0">
                          <a:effectLst/>
                        </a:rPr>
                        <a:t>서브모델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1" dirty="0">
                          <a:effectLst/>
                        </a:rPr>
                        <a:t>전체 </a:t>
                      </a:r>
                      <a:r>
                        <a:rPr lang="en-US" sz="1400" b="1" dirty="0">
                          <a:effectLst/>
                        </a:rPr>
                        <a:t>AUC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1" dirty="0">
                          <a:effectLst/>
                        </a:rPr>
                        <a:t>남성 </a:t>
                      </a:r>
                      <a:r>
                        <a:rPr lang="en-US" sz="1400" b="1" dirty="0">
                          <a:effectLst/>
                        </a:rPr>
                        <a:t>AUC (n=99)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1" dirty="0">
                          <a:effectLst/>
                        </a:rPr>
                        <a:t>여성 </a:t>
                      </a:r>
                      <a:r>
                        <a:rPr lang="en-US" sz="1400" b="1" dirty="0">
                          <a:effectLst/>
                        </a:rPr>
                        <a:t>AUC (n=156)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dirty="0">
                          <a:effectLst/>
                        </a:rPr>
                        <a:t>Log. Reg.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0.8291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0.7669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0.8345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1323518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dirty="0">
                          <a:effectLst/>
                        </a:rPr>
                        <a:t>ResNet1D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0.7955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0.7245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0.8376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641602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4630102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80485B-967B-3BC2-7E54-E443694AE1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C30A3E7-8D6F-EA63-9FC1-C9D756B8B4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C0378B2-255A-6243-535A-6EE9C3E06D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24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AF6560D1-47A2-CAE7-F71F-5AC6FFDD44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Model 2 – Clinic [Age, Sex, BMI] + AEC</a:t>
            </a:r>
          </a:p>
          <a:p>
            <a:pPr lvl="1"/>
            <a:r>
              <a:rPr lang="en-US" altLang="ko-KR" dirty="0"/>
              <a:t>5-fold CV (Cross Attention – </a:t>
            </a:r>
            <a:r>
              <a:rPr lang="en-US" altLang="ko-KR" dirty="0" err="1"/>
              <a:t>ScalarFeatureTokenizer</a:t>
            </a:r>
            <a:r>
              <a:rPr lang="en-US" altLang="ko-KR" dirty="0"/>
              <a:t>, ResNet1DEncoder)</a:t>
            </a:r>
          </a:p>
        </p:txBody>
      </p:sp>
      <p:graphicFrame>
        <p:nvGraphicFramePr>
          <p:cNvPr id="3" name="Table 24">
            <a:extLst>
              <a:ext uri="{FF2B5EF4-FFF2-40B4-BE49-F238E27FC236}">
                <a16:creationId xmlns:a16="http://schemas.microsoft.com/office/drawing/2014/main" id="{972EE0C4-535E-F0BA-C29C-22D20CA022B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35682461"/>
              </p:ext>
            </p:extLst>
          </p:nvPr>
        </p:nvGraphicFramePr>
        <p:xfrm>
          <a:off x="1188685" y="2118131"/>
          <a:ext cx="981463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292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62926">
                  <a:extLst>
                    <a:ext uri="{9D8B030D-6E8A-4147-A177-3AD203B41FA5}">
                      <a16:colId xmlns:a16="http://schemas.microsoft.com/office/drawing/2014/main" val="3203679715"/>
                    </a:ext>
                  </a:extLst>
                </a:gridCol>
                <a:gridCol w="1962926">
                  <a:extLst>
                    <a:ext uri="{9D8B030D-6E8A-4147-A177-3AD203B41FA5}">
                      <a16:colId xmlns:a16="http://schemas.microsoft.com/office/drawing/2014/main" val="2797321821"/>
                    </a:ext>
                  </a:extLst>
                </a:gridCol>
                <a:gridCol w="1962926">
                  <a:extLst>
                    <a:ext uri="{9D8B030D-6E8A-4147-A177-3AD203B41FA5}">
                      <a16:colId xmlns:a16="http://schemas.microsoft.com/office/drawing/2014/main" val="2812402965"/>
                    </a:ext>
                  </a:extLst>
                </a:gridCol>
                <a:gridCol w="196292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1" dirty="0">
                          <a:effectLst/>
                        </a:rPr>
                        <a:t>조건</a:t>
                      </a:r>
                      <a:endParaRPr lang="en-US" sz="1400" b="1" dirty="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CV AUC (</a:t>
                      </a:r>
                      <a:r>
                        <a:rPr lang="en-US" sz="1400" b="1" dirty="0" err="1">
                          <a:effectLst/>
                        </a:rPr>
                        <a:t>mean±std</a:t>
                      </a:r>
                      <a:r>
                        <a:rPr lang="en-US" sz="1400" b="1" dirty="0">
                          <a:effectLst/>
                        </a:rPr>
                        <a:t>)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CV AUPRC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CV Brier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CV F1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Len64 | Clinic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0.8195 ± 0.0709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0.4083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0.2055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0.3707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9961138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Len64 | Both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0.8062 ± 0.0733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0.3810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0.1889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0.3546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52768488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Len128 | Clinic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0.8105 ± 0.0629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0.3838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0.2004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0.3475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0302118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Len128 | Both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0.8068 ± 0.0644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0.4012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0.1776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0.3607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9751546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Len256 | Clinic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 dirty="0">
                          <a:effectLst/>
                        </a:rPr>
                        <a:t>0.8200 ± 0.0577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0.4050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0.2109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0.3540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193842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0" dirty="0">
                          <a:effectLst/>
                        </a:rPr>
                        <a:t>Len256 | Both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0.8197 ± 0.0662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 dirty="0">
                          <a:effectLst/>
                        </a:rPr>
                        <a:t>0.4092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0.1768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0.3706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112816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7478726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9C806E-B41E-B105-D94A-62A360DC44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89C81A0-DB0B-40F0-7783-8EA8E8770D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59DA2A2-514E-83E0-CF1E-25F1455E31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25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0AA79EC0-4153-D468-5B34-DF36874173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Model 2 – Clinic [Age, Sex, BMI] + AEC</a:t>
            </a:r>
          </a:p>
          <a:p>
            <a:pPr lvl="1"/>
            <a:r>
              <a:rPr lang="en-US" altLang="ko-KR" dirty="0"/>
              <a:t>Test Set Performance</a:t>
            </a:r>
          </a:p>
        </p:txBody>
      </p:sp>
      <p:graphicFrame>
        <p:nvGraphicFramePr>
          <p:cNvPr id="5" name="Table 24">
            <a:extLst>
              <a:ext uri="{FF2B5EF4-FFF2-40B4-BE49-F238E27FC236}">
                <a16:creationId xmlns:a16="http://schemas.microsoft.com/office/drawing/2014/main" id="{592779E3-A125-5941-4FCC-CC34634BD84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50244339"/>
              </p:ext>
            </p:extLst>
          </p:nvPr>
        </p:nvGraphicFramePr>
        <p:xfrm>
          <a:off x="848338" y="2189383"/>
          <a:ext cx="10495323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872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55228">
                  <a:extLst>
                    <a:ext uri="{9D8B030D-6E8A-4147-A177-3AD203B41FA5}">
                      <a16:colId xmlns:a16="http://schemas.microsoft.com/office/drawing/2014/main" val="3203679715"/>
                    </a:ext>
                  </a:extLst>
                </a:gridCol>
                <a:gridCol w="1255228">
                  <a:extLst>
                    <a:ext uri="{9D8B030D-6E8A-4147-A177-3AD203B41FA5}">
                      <a16:colId xmlns:a16="http://schemas.microsoft.com/office/drawing/2014/main" val="2222684169"/>
                    </a:ext>
                  </a:extLst>
                </a:gridCol>
                <a:gridCol w="1255228">
                  <a:extLst>
                    <a:ext uri="{9D8B030D-6E8A-4147-A177-3AD203B41FA5}">
                      <a16:colId xmlns:a16="http://schemas.microsoft.com/office/drawing/2014/main" val="2226386632"/>
                    </a:ext>
                  </a:extLst>
                </a:gridCol>
                <a:gridCol w="1255228">
                  <a:extLst>
                    <a:ext uri="{9D8B030D-6E8A-4147-A177-3AD203B41FA5}">
                      <a16:colId xmlns:a16="http://schemas.microsoft.com/office/drawing/2014/main" val="3155598539"/>
                    </a:ext>
                  </a:extLst>
                </a:gridCol>
                <a:gridCol w="1255228">
                  <a:extLst>
                    <a:ext uri="{9D8B030D-6E8A-4147-A177-3AD203B41FA5}">
                      <a16:colId xmlns:a16="http://schemas.microsoft.com/office/drawing/2014/main" val="2797321821"/>
                    </a:ext>
                  </a:extLst>
                </a:gridCol>
                <a:gridCol w="1255228">
                  <a:extLst>
                    <a:ext uri="{9D8B030D-6E8A-4147-A177-3AD203B41FA5}">
                      <a16:colId xmlns:a16="http://schemas.microsoft.com/office/drawing/2014/main" val="2812402965"/>
                    </a:ext>
                  </a:extLst>
                </a:gridCol>
                <a:gridCol w="12552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1" dirty="0">
                          <a:effectLst/>
                        </a:rPr>
                        <a:t>조건</a:t>
                      </a:r>
                      <a:endParaRPr lang="en-US" sz="1400" b="1" dirty="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effectLst/>
                        </a:rPr>
                        <a:t>AUC-ROC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effectLst/>
                        </a:rPr>
                        <a:t>AUPRC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>
                          <a:solidFill>
                            <a:schemeClr val="bg1"/>
                          </a:solidFill>
                          <a:effectLst/>
                        </a:rPr>
                        <a:t>Brier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effectLst/>
                        </a:rPr>
                        <a:t>Accuracy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effectLst/>
                        </a:rPr>
                        <a:t>F1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>
                          <a:solidFill>
                            <a:schemeClr val="bg1"/>
                          </a:solidFill>
                          <a:effectLst/>
                        </a:rPr>
                        <a:t>Sensitivity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effectLst/>
                        </a:rPr>
                        <a:t>Specificity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Len64 | Clinic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0.8140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0.3591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0.1656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0.7608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0.4078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0.750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0.762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9961138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Len64 | Both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 dirty="0">
                          <a:solidFill>
                            <a:srgbClr val="000000"/>
                          </a:solidFill>
                          <a:effectLst/>
                        </a:rPr>
                        <a:t>0.8403</a:t>
                      </a:r>
                      <a:endParaRPr lang="ko-KR" altLang="en-US" sz="1400" dirty="0">
                        <a:effectLst/>
                      </a:endParaRP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0.3367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0.2253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0.6784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0.3788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 dirty="0">
                          <a:solidFill>
                            <a:srgbClr val="000000"/>
                          </a:solidFill>
                          <a:effectLst/>
                        </a:rPr>
                        <a:t>0.893</a:t>
                      </a:r>
                      <a:endParaRPr lang="ko-KR" altLang="en-US" sz="1400" dirty="0">
                        <a:effectLst/>
                      </a:endParaRP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0.652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52768488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Len128 | Clinic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0.8287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0.3891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0.1799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0.7216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0.3604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0.714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0.722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0302118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Len128 | Both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0.8310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0.3850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0.1737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0.7412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0.4000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0.786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0.736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9751546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Len256 | Clinic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0.8269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0.4135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0.1920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0.6863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0.3333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0.714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0.683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193842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0" dirty="0">
                          <a:effectLst/>
                        </a:rPr>
                        <a:t>Len256 | Both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0.8334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0.3480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0.2174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0.6510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0.3597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0.893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0.621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112816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998632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90AE1B-CC0B-53E6-217E-DD0A2F3C89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A07C863-A3A6-1050-EACD-B87F29F08B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C95929C-1793-2686-D6B3-EC5B5C9D6C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26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EEF0CA71-767C-5E24-1880-D4139F32C4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Model 2_2 – Clinic [Age, Sex, BMI] + AEC (Shuffle, </a:t>
            </a:r>
            <a:r>
              <a:rPr lang="ko-KR" altLang="en-US" dirty="0"/>
              <a:t>음성 대조군</a:t>
            </a:r>
            <a:r>
              <a:rPr lang="en-US" altLang="ko-KR" dirty="0"/>
              <a:t>)</a:t>
            </a:r>
          </a:p>
          <a:p>
            <a:pPr lvl="1"/>
            <a:r>
              <a:rPr lang="en-US" altLang="ko-KR" dirty="0"/>
              <a:t>AEC </a:t>
            </a:r>
            <a:r>
              <a:rPr lang="ko-KR" altLang="en-US" dirty="0"/>
              <a:t>행 순서를 무작위 </a:t>
            </a:r>
            <a:r>
              <a:rPr lang="en-US" altLang="ko-KR" dirty="0"/>
              <a:t>Shuffle</a:t>
            </a:r>
            <a:r>
              <a:rPr lang="ko-KR" altLang="en-US" dirty="0"/>
              <a:t>하여 임상</a:t>
            </a:r>
            <a:r>
              <a:rPr lang="en-US" altLang="ko-KR" dirty="0"/>
              <a:t>-AEC </a:t>
            </a:r>
            <a:r>
              <a:rPr lang="ko-KR" altLang="en-US" dirty="0"/>
              <a:t>매핑을 제거한 음성 대조 실험</a:t>
            </a:r>
            <a:r>
              <a:rPr lang="en-US" altLang="ko-KR" dirty="0"/>
              <a:t>. Cross </a:t>
            </a:r>
            <a:r>
              <a:rPr lang="en-US" altLang="ko-KR" dirty="0" err="1"/>
              <a:t>Attentionn</a:t>
            </a:r>
            <a:r>
              <a:rPr lang="ko-KR" altLang="en-US" dirty="0"/>
              <a:t>이 </a:t>
            </a:r>
            <a:r>
              <a:rPr lang="en-US" altLang="ko-KR" dirty="0"/>
              <a:t>AEC</a:t>
            </a:r>
            <a:r>
              <a:rPr lang="ko-KR" altLang="en-US" dirty="0"/>
              <a:t>의 </a:t>
            </a:r>
            <a:r>
              <a:rPr lang="ko-KR" altLang="en-US" dirty="0" err="1"/>
              <a:t>순서적</a:t>
            </a:r>
            <a:r>
              <a:rPr lang="ko-KR" altLang="en-US" dirty="0"/>
              <a:t> 패턴을 학습하는지 </a:t>
            </a:r>
            <a:r>
              <a:rPr lang="en-US" altLang="ko-KR" dirty="0"/>
              <a:t>vs </a:t>
            </a:r>
            <a:r>
              <a:rPr lang="ko-KR" altLang="en-US" dirty="0"/>
              <a:t>단순 분포 정보만 활용하는지 검증</a:t>
            </a:r>
            <a:r>
              <a:rPr lang="en-US" altLang="ko-K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67711597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8849D4-DFAC-4C7B-0788-AC6FBC9B97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3D06527-97DE-BC2F-0525-08657350C2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0B03BBC-EB6A-4254-79BD-815B8B9F3E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27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9245228D-E187-43F9-0495-C5DA2201F7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Model 2_2 – Clinic [Age, Sex, BMI] + AEC</a:t>
            </a:r>
          </a:p>
          <a:p>
            <a:pPr lvl="1"/>
            <a:r>
              <a:rPr lang="en-US" altLang="ko-KR" dirty="0"/>
              <a:t>5-fold CV (Cross Attention – </a:t>
            </a:r>
            <a:r>
              <a:rPr lang="en-US" altLang="ko-KR" dirty="0" err="1"/>
              <a:t>ScalarFeatureTokenizer</a:t>
            </a:r>
            <a:r>
              <a:rPr lang="en-US" altLang="ko-KR" dirty="0"/>
              <a:t>, ResNet1DEncoder)</a:t>
            </a:r>
          </a:p>
        </p:txBody>
      </p:sp>
      <p:graphicFrame>
        <p:nvGraphicFramePr>
          <p:cNvPr id="3" name="Table 24">
            <a:extLst>
              <a:ext uri="{FF2B5EF4-FFF2-40B4-BE49-F238E27FC236}">
                <a16:creationId xmlns:a16="http://schemas.microsoft.com/office/drawing/2014/main" id="{487A2253-69BD-F29B-FF21-12E417EE83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62305840"/>
              </p:ext>
            </p:extLst>
          </p:nvPr>
        </p:nvGraphicFramePr>
        <p:xfrm>
          <a:off x="1188685" y="2118131"/>
          <a:ext cx="981463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292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62926">
                  <a:extLst>
                    <a:ext uri="{9D8B030D-6E8A-4147-A177-3AD203B41FA5}">
                      <a16:colId xmlns:a16="http://schemas.microsoft.com/office/drawing/2014/main" val="3203679715"/>
                    </a:ext>
                  </a:extLst>
                </a:gridCol>
                <a:gridCol w="1962926">
                  <a:extLst>
                    <a:ext uri="{9D8B030D-6E8A-4147-A177-3AD203B41FA5}">
                      <a16:colId xmlns:a16="http://schemas.microsoft.com/office/drawing/2014/main" val="2797321821"/>
                    </a:ext>
                  </a:extLst>
                </a:gridCol>
                <a:gridCol w="1962926">
                  <a:extLst>
                    <a:ext uri="{9D8B030D-6E8A-4147-A177-3AD203B41FA5}">
                      <a16:colId xmlns:a16="http://schemas.microsoft.com/office/drawing/2014/main" val="2812402965"/>
                    </a:ext>
                  </a:extLst>
                </a:gridCol>
                <a:gridCol w="196292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1" dirty="0">
                          <a:effectLst/>
                        </a:rPr>
                        <a:t>조건</a:t>
                      </a:r>
                      <a:endParaRPr lang="en-US" sz="1400" b="1" dirty="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CV AUC (</a:t>
                      </a:r>
                      <a:r>
                        <a:rPr lang="en-US" sz="1400" b="1" dirty="0" err="1">
                          <a:effectLst/>
                        </a:rPr>
                        <a:t>mean±std</a:t>
                      </a:r>
                      <a:r>
                        <a:rPr lang="en-US" sz="1400" b="1" dirty="0">
                          <a:effectLst/>
                        </a:rPr>
                        <a:t>)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CV AUPRC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CV Brier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CV F1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Len64 | Clinic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0.7952 ± 0.0658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0.3698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0.2006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0.3542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9961138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Len64 | Both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0.7887 ± 0.0639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0.3701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0.2176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0.3067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52768488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Len128 | Clinic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0.7973 ± 0.0679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0.3498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0.1680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0.3784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0302118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Len128 | Both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0.7916 ± 0.0630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0.3676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0.2331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0.3329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9751546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Len256 | Clinic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0.7922 ± 0.0702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0.3541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0.2078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0.3490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193842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0" dirty="0">
                          <a:effectLst/>
                        </a:rPr>
                        <a:t>Len256 | Both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0.7976 ± 0.0650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0.3924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0.2068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0.3417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112816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6114712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1A0CF8-3648-5152-0CBB-5379E7CC01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E0CEC94-F872-D64A-A460-B6E78C78FB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8A6D5C9-8684-4C41-B53E-59ACB6F740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28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9304A33D-A921-6DFE-F02D-DBE5DA3729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Model 2_2 – Clinic [Age, Sex, BMI] + AEC</a:t>
            </a:r>
          </a:p>
          <a:p>
            <a:pPr lvl="1"/>
            <a:r>
              <a:rPr lang="en-US" altLang="ko-KR" dirty="0"/>
              <a:t>Test Set Performance</a:t>
            </a:r>
          </a:p>
        </p:txBody>
      </p:sp>
      <p:graphicFrame>
        <p:nvGraphicFramePr>
          <p:cNvPr id="5" name="Table 24">
            <a:extLst>
              <a:ext uri="{FF2B5EF4-FFF2-40B4-BE49-F238E27FC236}">
                <a16:creationId xmlns:a16="http://schemas.microsoft.com/office/drawing/2014/main" id="{C955F2E8-B369-4F7E-3C09-60E41EB4B76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03278403"/>
              </p:ext>
            </p:extLst>
          </p:nvPr>
        </p:nvGraphicFramePr>
        <p:xfrm>
          <a:off x="848338" y="2189383"/>
          <a:ext cx="10495323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872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55228">
                  <a:extLst>
                    <a:ext uri="{9D8B030D-6E8A-4147-A177-3AD203B41FA5}">
                      <a16:colId xmlns:a16="http://schemas.microsoft.com/office/drawing/2014/main" val="3203679715"/>
                    </a:ext>
                  </a:extLst>
                </a:gridCol>
                <a:gridCol w="1255228">
                  <a:extLst>
                    <a:ext uri="{9D8B030D-6E8A-4147-A177-3AD203B41FA5}">
                      <a16:colId xmlns:a16="http://schemas.microsoft.com/office/drawing/2014/main" val="2222684169"/>
                    </a:ext>
                  </a:extLst>
                </a:gridCol>
                <a:gridCol w="1255228">
                  <a:extLst>
                    <a:ext uri="{9D8B030D-6E8A-4147-A177-3AD203B41FA5}">
                      <a16:colId xmlns:a16="http://schemas.microsoft.com/office/drawing/2014/main" val="2226386632"/>
                    </a:ext>
                  </a:extLst>
                </a:gridCol>
                <a:gridCol w="1255228">
                  <a:extLst>
                    <a:ext uri="{9D8B030D-6E8A-4147-A177-3AD203B41FA5}">
                      <a16:colId xmlns:a16="http://schemas.microsoft.com/office/drawing/2014/main" val="3155598539"/>
                    </a:ext>
                  </a:extLst>
                </a:gridCol>
                <a:gridCol w="1255228">
                  <a:extLst>
                    <a:ext uri="{9D8B030D-6E8A-4147-A177-3AD203B41FA5}">
                      <a16:colId xmlns:a16="http://schemas.microsoft.com/office/drawing/2014/main" val="2797321821"/>
                    </a:ext>
                  </a:extLst>
                </a:gridCol>
                <a:gridCol w="1255228">
                  <a:extLst>
                    <a:ext uri="{9D8B030D-6E8A-4147-A177-3AD203B41FA5}">
                      <a16:colId xmlns:a16="http://schemas.microsoft.com/office/drawing/2014/main" val="2812402965"/>
                    </a:ext>
                  </a:extLst>
                </a:gridCol>
                <a:gridCol w="12552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1" dirty="0">
                          <a:effectLst/>
                        </a:rPr>
                        <a:t>조건</a:t>
                      </a:r>
                      <a:endParaRPr lang="en-US" sz="1400" b="1" dirty="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effectLst/>
                        </a:rPr>
                        <a:t>AUC-ROC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effectLst/>
                        </a:rPr>
                        <a:t>AUPRC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>
                          <a:solidFill>
                            <a:schemeClr val="bg1"/>
                          </a:solidFill>
                          <a:effectLst/>
                        </a:rPr>
                        <a:t>Brier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effectLst/>
                        </a:rPr>
                        <a:t>Accuracy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effectLst/>
                        </a:rPr>
                        <a:t>F1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>
                          <a:solidFill>
                            <a:schemeClr val="bg1"/>
                          </a:solidFill>
                          <a:effectLst/>
                        </a:rPr>
                        <a:t>Sensitivity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effectLst/>
                        </a:rPr>
                        <a:t>Specificity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Len64 | Clinic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0.8037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0.3088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0.1858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0.6980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0.3529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0.750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0.692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9961138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Len64 | Both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0.7683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0.3231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0.1669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0.7294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0.3429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0.643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0.740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52768488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Len128 | Clinic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0.7989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0.3570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0.2357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0.5961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0.3087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0.821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0.568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0302118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Len128 | Both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0.8151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0.3455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0.1941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0.6902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0.3680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0.821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0.674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9751546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Len256 | Clinic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0.8093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0.3370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0.2003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0.6510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0.3308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0.786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0.634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193842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0" dirty="0">
                          <a:effectLst/>
                        </a:rPr>
                        <a:t>Len256 | Both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0.7873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0.2822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0.1801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0.6784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0.3492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0.786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0.665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112816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1603506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F80BAB-0F20-AF9B-3D30-A973A1E2EE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248D932-AF9C-2841-F717-EAF9ABEDC6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1748486-8342-BA40-BA00-BCDD3B0638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29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897FCFE1-6D3F-08EA-968E-D374E648B7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Model 3 – Clinic [Age, Sex, BMI] + AEC + Scanner</a:t>
            </a:r>
          </a:p>
          <a:p>
            <a:pPr lvl="1"/>
            <a:r>
              <a:rPr lang="en-US" altLang="ko-KR" dirty="0"/>
              <a:t>5-fold CV (Cross Attention – </a:t>
            </a:r>
            <a:r>
              <a:rPr lang="en-US" altLang="ko-KR" dirty="0" err="1"/>
              <a:t>ScalarFeatureTokenizer</a:t>
            </a:r>
            <a:r>
              <a:rPr lang="en-US" altLang="ko-KR" dirty="0"/>
              <a:t>, ResNet1DEncoder)</a:t>
            </a:r>
          </a:p>
        </p:txBody>
      </p:sp>
      <p:graphicFrame>
        <p:nvGraphicFramePr>
          <p:cNvPr id="3" name="Table 24">
            <a:extLst>
              <a:ext uri="{FF2B5EF4-FFF2-40B4-BE49-F238E27FC236}">
                <a16:creationId xmlns:a16="http://schemas.microsoft.com/office/drawing/2014/main" id="{4D768800-0343-9E1F-CFAB-AAE49BBE2AD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62383921"/>
              </p:ext>
            </p:extLst>
          </p:nvPr>
        </p:nvGraphicFramePr>
        <p:xfrm>
          <a:off x="1188685" y="2118131"/>
          <a:ext cx="981463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292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62926">
                  <a:extLst>
                    <a:ext uri="{9D8B030D-6E8A-4147-A177-3AD203B41FA5}">
                      <a16:colId xmlns:a16="http://schemas.microsoft.com/office/drawing/2014/main" val="3203679715"/>
                    </a:ext>
                  </a:extLst>
                </a:gridCol>
                <a:gridCol w="1962926">
                  <a:extLst>
                    <a:ext uri="{9D8B030D-6E8A-4147-A177-3AD203B41FA5}">
                      <a16:colId xmlns:a16="http://schemas.microsoft.com/office/drawing/2014/main" val="2797321821"/>
                    </a:ext>
                  </a:extLst>
                </a:gridCol>
                <a:gridCol w="1962926">
                  <a:extLst>
                    <a:ext uri="{9D8B030D-6E8A-4147-A177-3AD203B41FA5}">
                      <a16:colId xmlns:a16="http://schemas.microsoft.com/office/drawing/2014/main" val="2812402965"/>
                    </a:ext>
                  </a:extLst>
                </a:gridCol>
                <a:gridCol w="196292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1" dirty="0">
                          <a:effectLst/>
                        </a:rPr>
                        <a:t>조건</a:t>
                      </a:r>
                      <a:endParaRPr lang="en-US" sz="1400" b="1" dirty="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CV AUC (</a:t>
                      </a:r>
                      <a:r>
                        <a:rPr lang="en-US" sz="1400" b="1" dirty="0" err="1">
                          <a:effectLst/>
                        </a:rPr>
                        <a:t>mean±std</a:t>
                      </a:r>
                      <a:r>
                        <a:rPr lang="en-US" sz="1400" b="1" dirty="0">
                          <a:effectLst/>
                        </a:rPr>
                        <a:t>)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CV AUPRC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CV Brier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CV F1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Len64 | Clinic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0.8041 ± 0.0782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0.4051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0.1827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0.3780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9961138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Len64 | Both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0.8086 ± 0.0619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0.3833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0.1672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0.3520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52768488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Len128 | Clinic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0.8052 ± 0.0675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0.3892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0.1864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0.3584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0302118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Len128 | Both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0.8070 ± 0.0705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0.4238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0.2022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0.3447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9751546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Len256 | Clinic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0.8059 ± 0.0652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0.4050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0.1806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0.3848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193842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0" dirty="0">
                          <a:effectLst/>
                        </a:rPr>
                        <a:t>Len256 | Both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0.7977 ± 0.0698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0.3963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0.1793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0.3712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112816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2682814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5926D0-CCB6-B073-7202-79BFB2412E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72DEF26-D365-863F-90D5-EC0F26925A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96ED845-9205-6C12-8C00-E220D41097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30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3A334CB2-8EAE-92EE-D5D1-87CD347E77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Model 3 – Clinic [Age, Sex, BMI] + AEC + Scanner</a:t>
            </a:r>
          </a:p>
          <a:p>
            <a:pPr lvl="1"/>
            <a:r>
              <a:rPr lang="en-US" altLang="ko-KR" dirty="0"/>
              <a:t>Test Set Performance</a:t>
            </a:r>
          </a:p>
        </p:txBody>
      </p:sp>
      <p:graphicFrame>
        <p:nvGraphicFramePr>
          <p:cNvPr id="5" name="Table 24">
            <a:extLst>
              <a:ext uri="{FF2B5EF4-FFF2-40B4-BE49-F238E27FC236}">
                <a16:creationId xmlns:a16="http://schemas.microsoft.com/office/drawing/2014/main" id="{254F1CC1-42EE-5E98-9873-12F6540D245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85290480"/>
              </p:ext>
            </p:extLst>
          </p:nvPr>
        </p:nvGraphicFramePr>
        <p:xfrm>
          <a:off x="848338" y="2189383"/>
          <a:ext cx="10495323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872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55228">
                  <a:extLst>
                    <a:ext uri="{9D8B030D-6E8A-4147-A177-3AD203B41FA5}">
                      <a16:colId xmlns:a16="http://schemas.microsoft.com/office/drawing/2014/main" val="3203679715"/>
                    </a:ext>
                  </a:extLst>
                </a:gridCol>
                <a:gridCol w="1255228">
                  <a:extLst>
                    <a:ext uri="{9D8B030D-6E8A-4147-A177-3AD203B41FA5}">
                      <a16:colId xmlns:a16="http://schemas.microsoft.com/office/drawing/2014/main" val="2222684169"/>
                    </a:ext>
                  </a:extLst>
                </a:gridCol>
                <a:gridCol w="1255228">
                  <a:extLst>
                    <a:ext uri="{9D8B030D-6E8A-4147-A177-3AD203B41FA5}">
                      <a16:colId xmlns:a16="http://schemas.microsoft.com/office/drawing/2014/main" val="2226386632"/>
                    </a:ext>
                  </a:extLst>
                </a:gridCol>
                <a:gridCol w="1255228">
                  <a:extLst>
                    <a:ext uri="{9D8B030D-6E8A-4147-A177-3AD203B41FA5}">
                      <a16:colId xmlns:a16="http://schemas.microsoft.com/office/drawing/2014/main" val="3155598539"/>
                    </a:ext>
                  </a:extLst>
                </a:gridCol>
                <a:gridCol w="1255228">
                  <a:extLst>
                    <a:ext uri="{9D8B030D-6E8A-4147-A177-3AD203B41FA5}">
                      <a16:colId xmlns:a16="http://schemas.microsoft.com/office/drawing/2014/main" val="2797321821"/>
                    </a:ext>
                  </a:extLst>
                </a:gridCol>
                <a:gridCol w="1255228">
                  <a:extLst>
                    <a:ext uri="{9D8B030D-6E8A-4147-A177-3AD203B41FA5}">
                      <a16:colId xmlns:a16="http://schemas.microsoft.com/office/drawing/2014/main" val="2812402965"/>
                    </a:ext>
                  </a:extLst>
                </a:gridCol>
                <a:gridCol w="12552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1" dirty="0">
                          <a:effectLst/>
                        </a:rPr>
                        <a:t>조건</a:t>
                      </a:r>
                      <a:endParaRPr lang="en-US" sz="1400" b="1" dirty="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effectLst/>
                        </a:rPr>
                        <a:t>AUC-ROC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effectLst/>
                        </a:rPr>
                        <a:t>AUPRC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>
                          <a:solidFill>
                            <a:schemeClr val="bg1"/>
                          </a:solidFill>
                          <a:effectLst/>
                        </a:rPr>
                        <a:t>Brier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effectLst/>
                        </a:rPr>
                        <a:t>Accuracy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effectLst/>
                        </a:rPr>
                        <a:t>F1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>
                          <a:solidFill>
                            <a:schemeClr val="bg1"/>
                          </a:solidFill>
                          <a:effectLst/>
                        </a:rPr>
                        <a:t>Sensitivity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effectLst/>
                        </a:rPr>
                        <a:t>Specificity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Len64 | Clinic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0.8313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0.3689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>
                          <a:solidFill>
                            <a:srgbClr val="000000"/>
                          </a:solidFill>
                          <a:effectLst/>
                        </a:rPr>
                        <a:t>0.1542</a:t>
                      </a:r>
                      <a:endParaRPr lang="ko-KR" altLang="en-US" sz="1400">
                        <a:effectLst/>
                      </a:endParaRP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>
                          <a:solidFill>
                            <a:srgbClr val="000000"/>
                          </a:solidFill>
                          <a:effectLst/>
                        </a:rPr>
                        <a:t>0.7765</a:t>
                      </a:r>
                      <a:endParaRPr lang="ko-KR" altLang="en-US" sz="1400">
                        <a:effectLst/>
                      </a:endParaRP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>
                          <a:solidFill>
                            <a:srgbClr val="000000"/>
                          </a:solidFill>
                          <a:effectLst/>
                        </a:rPr>
                        <a:t>0.4242</a:t>
                      </a:r>
                      <a:endParaRPr lang="ko-KR" altLang="en-US" sz="1400">
                        <a:effectLst/>
                      </a:endParaRP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0.750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0.780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9961138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Len64 | Both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0.8310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0.3837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0.1693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0.7608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0.4299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0.821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0.753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52768488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Len128 | Clinic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0.8059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0.3626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0.1943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0.6902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0.3471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0.750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0.683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0302118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Len128 | Both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 dirty="0">
                          <a:solidFill>
                            <a:srgbClr val="000000"/>
                          </a:solidFill>
                          <a:effectLst/>
                        </a:rPr>
                        <a:t>0.8453</a:t>
                      </a:r>
                      <a:endParaRPr lang="ko-KR" altLang="en-US" sz="1400" dirty="0">
                        <a:effectLst/>
                      </a:endParaRP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>
                          <a:solidFill>
                            <a:srgbClr val="000000"/>
                          </a:solidFill>
                          <a:effectLst/>
                        </a:rPr>
                        <a:t>0.3993</a:t>
                      </a:r>
                      <a:endParaRPr lang="ko-KR" altLang="en-US" sz="1400">
                        <a:effectLst/>
                      </a:endParaRP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0.2036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0.7059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0.3802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0.821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0.692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9751546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Len256 | Clinic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0.8087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0.3404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0.1988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0.7294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0.3670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0.714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0.731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193842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0" dirty="0">
                          <a:effectLst/>
                        </a:rPr>
                        <a:t>Len256 | Both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0.8257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0.3686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0.1726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0.7412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0.3889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0.750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0.740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112816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0382189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D47487-4311-2E97-CCEB-F213DF6D17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09347E-B472-9B5A-D4B2-0F3E0B9376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F6C8E10-A94D-96B5-1E20-3F2930D903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31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10E1C353-D1CC-9D88-B8D9-FEB71345B3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Dataset Crop </a:t>
            </a:r>
            <a:r>
              <a:rPr lang="ko-KR" altLang="en-US" dirty="0"/>
              <a:t>변형</a:t>
            </a:r>
            <a:endParaRPr lang="en-US" altLang="ko-KR" dirty="0"/>
          </a:p>
          <a:p>
            <a:pPr lvl="1"/>
            <a:r>
              <a:rPr lang="ko-KR" altLang="en-US" dirty="0"/>
              <a:t>중앙 </a:t>
            </a:r>
            <a:r>
              <a:rPr lang="en-US" altLang="ko-KR" dirty="0"/>
              <a:t>60%, </a:t>
            </a:r>
            <a:r>
              <a:rPr lang="ko-KR" altLang="en-US" dirty="0"/>
              <a:t>중앙 </a:t>
            </a:r>
            <a:r>
              <a:rPr lang="en-US" altLang="ko-KR" dirty="0"/>
              <a:t>80% </a:t>
            </a:r>
            <a:r>
              <a:rPr lang="ko-KR" altLang="en-US" dirty="0"/>
              <a:t>구간 </a:t>
            </a:r>
            <a:r>
              <a:rPr lang="en-US" altLang="ko-KR" dirty="0"/>
              <a:t>Crop</a:t>
            </a:r>
          </a:p>
          <a:p>
            <a:pPr lvl="1"/>
            <a:r>
              <a:rPr lang="en-US" altLang="ko-KR" dirty="0"/>
              <a:t>AEC Length 256 </a:t>
            </a:r>
            <a:r>
              <a:rPr lang="ko-KR" altLang="en-US" dirty="0"/>
              <a:t>기준 </a:t>
            </a:r>
            <a:endParaRPr lang="en-US" altLang="ko-KR" dirty="0"/>
          </a:p>
          <a:p>
            <a:pPr lvl="2"/>
            <a:r>
              <a:rPr lang="en-US" altLang="ko-KR" dirty="0"/>
              <a:t>Crop60 – 153, Crop80 - 205</a:t>
            </a:r>
          </a:p>
          <a:p>
            <a:pPr lvl="1"/>
            <a:endParaRPr lang="en-US" altLang="ko-KR" dirty="0"/>
          </a:p>
          <a:p>
            <a:pPr lvl="1"/>
            <a:r>
              <a:rPr lang="en-US" altLang="ko-KR" dirty="0"/>
              <a:t>Extreme value (</a:t>
            </a:r>
            <a:r>
              <a:rPr lang="ko-KR" altLang="en-US" dirty="0" err="1"/>
              <a:t>상하위</a:t>
            </a:r>
            <a:r>
              <a:rPr lang="ko-KR" altLang="en-US" dirty="0"/>
              <a:t> </a:t>
            </a:r>
            <a:r>
              <a:rPr lang="en-US" altLang="ko-KR" dirty="0"/>
              <a:t>5% </a:t>
            </a:r>
            <a:r>
              <a:rPr lang="ko-KR" altLang="en-US" dirty="0"/>
              <a:t>극단 샘플</a:t>
            </a:r>
            <a:r>
              <a:rPr lang="en-US" altLang="ko-KR" dirty="0"/>
              <a:t>) </a:t>
            </a:r>
            <a:r>
              <a:rPr lang="ko-KR" altLang="en-US" dirty="0"/>
              <a:t>제거</a:t>
            </a:r>
            <a:endParaRPr lang="en-US" altLang="ko-KR" dirty="0"/>
          </a:p>
          <a:p>
            <a:pPr lvl="1"/>
            <a:r>
              <a:rPr lang="en-US" altLang="ko-KR" dirty="0"/>
              <a:t>AEC Length</a:t>
            </a:r>
            <a:r>
              <a:rPr lang="ko-KR" altLang="en-US" dirty="0"/>
              <a:t> </a:t>
            </a:r>
            <a:r>
              <a:rPr lang="en-US" altLang="ko-KR" dirty="0"/>
              <a:t>256</a:t>
            </a:r>
          </a:p>
          <a:p>
            <a:pPr lvl="1"/>
            <a:r>
              <a:rPr lang="en-US" altLang="ko-KR" dirty="0"/>
              <a:t>Train = 1,017, Test = 255  </a:t>
            </a:r>
            <a:r>
              <a:rPr lang="ko-KR" altLang="en-US" dirty="0"/>
              <a:t>→  </a:t>
            </a:r>
            <a:r>
              <a:rPr lang="en-US" altLang="ko-KR" dirty="0"/>
              <a:t>Train = 915, Test = 229</a:t>
            </a:r>
          </a:p>
        </p:txBody>
      </p:sp>
    </p:spTree>
    <p:extLst>
      <p:ext uri="{BB962C8B-B14F-4D97-AF65-F5344CB8AC3E}">
        <p14:creationId xmlns:p14="http://schemas.microsoft.com/office/powerpoint/2010/main" val="140328919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22EBD4-1853-8C69-9E2B-98C046A1F6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38A51B0-69E4-4C95-9775-4FAE8F7092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208B9FF-E973-716A-6F6F-B7DDB7D424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32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1466BF90-A88C-0775-AB20-27E02470BE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Data Crop 80%</a:t>
            </a:r>
          </a:p>
          <a:p>
            <a:pPr lvl="1"/>
            <a:r>
              <a:rPr lang="en-US" altLang="ko-KR" dirty="0"/>
              <a:t>5-fold CV (Cross Attention – </a:t>
            </a:r>
            <a:r>
              <a:rPr lang="en-US" altLang="ko-KR" dirty="0" err="1"/>
              <a:t>ScalarFeatureTokenizer</a:t>
            </a:r>
            <a:r>
              <a:rPr lang="en-US" altLang="ko-KR" dirty="0"/>
              <a:t>, ResNet1DEncoder)</a:t>
            </a:r>
          </a:p>
        </p:txBody>
      </p:sp>
      <p:graphicFrame>
        <p:nvGraphicFramePr>
          <p:cNvPr id="3" name="Table 24">
            <a:extLst>
              <a:ext uri="{FF2B5EF4-FFF2-40B4-BE49-F238E27FC236}">
                <a16:creationId xmlns:a16="http://schemas.microsoft.com/office/drawing/2014/main" id="{12FBA517-EFE9-9F8E-D78E-270FA8DBBFB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94642055"/>
              </p:ext>
            </p:extLst>
          </p:nvPr>
        </p:nvGraphicFramePr>
        <p:xfrm>
          <a:off x="1188685" y="2118131"/>
          <a:ext cx="981463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292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62926">
                  <a:extLst>
                    <a:ext uri="{9D8B030D-6E8A-4147-A177-3AD203B41FA5}">
                      <a16:colId xmlns:a16="http://schemas.microsoft.com/office/drawing/2014/main" val="3203679715"/>
                    </a:ext>
                  </a:extLst>
                </a:gridCol>
                <a:gridCol w="1962926">
                  <a:extLst>
                    <a:ext uri="{9D8B030D-6E8A-4147-A177-3AD203B41FA5}">
                      <a16:colId xmlns:a16="http://schemas.microsoft.com/office/drawing/2014/main" val="2797321821"/>
                    </a:ext>
                  </a:extLst>
                </a:gridCol>
                <a:gridCol w="1962926">
                  <a:extLst>
                    <a:ext uri="{9D8B030D-6E8A-4147-A177-3AD203B41FA5}">
                      <a16:colId xmlns:a16="http://schemas.microsoft.com/office/drawing/2014/main" val="2812402965"/>
                    </a:ext>
                  </a:extLst>
                </a:gridCol>
                <a:gridCol w="196292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1" dirty="0">
                          <a:effectLst/>
                        </a:rPr>
                        <a:t>조건</a:t>
                      </a:r>
                      <a:endParaRPr lang="en-US" sz="1400" b="1" dirty="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CV AUC (</a:t>
                      </a:r>
                      <a:r>
                        <a:rPr lang="en-US" sz="1400" b="1" dirty="0" err="1">
                          <a:effectLst/>
                        </a:rPr>
                        <a:t>mean±std</a:t>
                      </a:r>
                      <a:r>
                        <a:rPr lang="en-US" sz="1400" b="1" dirty="0">
                          <a:effectLst/>
                        </a:rPr>
                        <a:t>)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CV AUPRC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CV Brier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CV F1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Model 2 | Clinic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0.8010 ± 0.0584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0.3910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0.2081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0.3313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9961138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Model 2 | Both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0.8057 ± 0.0591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0.3742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0.2036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0.3619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52768488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Model 2_2 | Clinic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0.7942 ± 0.0630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0.3841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0.1958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0.3229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0302118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Model 2_2 | Both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0.7907 ± 0.0610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0.3870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0.1978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0.3174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9751546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Model 3 | Clinic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0.7938 ± 0.0772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0.3913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0.1715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0.3701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193842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Model 3 | Both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0.8082 ± 0.0666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0.3991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0.1887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0.3716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112816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005247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6AA3C8-09DE-5CA6-B325-DE70F6EC10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1249CB7-CEBB-6331-8F03-703E8C08DA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E086278-726F-B0DA-1EF4-C3FEBA4383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33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1BAB50F5-CEDE-2F09-E14D-AF36071749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Data Crop 80%</a:t>
            </a:r>
          </a:p>
          <a:p>
            <a:pPr lvl="1"/>
            <a:r>
              <a:rPr lang="en-US" altLang="ko-KR" dirty="0"/>
              <a:t>Test Set Performance</a:t>
            </a:r>
          </a:p>
        </p:txBody>
      </p:sp>
      <p:graphicFrame>
        <p:nvGraphicFramePr>
          <p:cNvPr id="5" name="Table 24">
            <a:extLst>
              <a:ext uri="{FF2B5EF4-FFF2-40B4-BE49-F238E27FC236}">
                <a16:creationId xmlns:a16="http://schemas.microsoft.com/office/drawing/2014/main" id="{FC3B776E-3762-A09F-85FF-A9E86B3EE7E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30598574"/>
              </p:ext>
            </p:extLst>
          </p:nvPr>
        </p:nvGraphicFramePr>
        <p:xfrm>
          <a:off x="848338" y="2189383"/>
          <a:ext cx="10680095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872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55228">
                  <a:extLst>
                    <a:ext uri="{9D8B030D-6E8A-4147-A177-3AD203B41FA5}">
                      <a16:colId xmlns:a16="http://schemas.microsoft.com/office/drawing/2014/main" val="3203679715"/>
                    </a:ext>
                  </a:extLst>
                </a:gridCol>
                <a:gridCol w="1255228">
                  <a:extLst>
                    <a:ext uri="{9D8B030D-6E8A-4147-A177-3AD203B41FA5}">
                      <a16:colId xmlns:a16="http://schemas.microsoft.com/office/drawing/2014/main" val="2222684169"/>
                    </a:ext>
                  </a:extLst>
                </a:gridCol>
                <a:gridCol w="1255228">
                  <a:extLst>
                    <a:ext uri="{9D8B030D-6E8A-4147-A177-3AD203B41FA5}">
                      <a16:colId xmlns:a16="http://schemas.microsoft.com/office/drawing/2014/main" val="2226386632"/>
                    </a:ext>
                  </a:extLst>
                </a:gridCol>
                <a:gridCol w="1255228">
                  <a:extLst>
                    <a:ext uri="{9D8B030D-6E8A-4147-A177-3AD203B41FA5}">
                      <a16:colId xmlns:a16="http://schemas.microsoft.com/office/drawing/2014/main" val="3155598539"/>
                    </a:ext>
                  </a:extLst>
                </a:gridCol>
                <a:gridCol w="1255228">
                  <a:extLst>
                    <a:ext uri="{9D8B030D-6E8A-4147-A177-3AD203B41FA5}">
                      <a16:colId xmlns:a16="http://schemas.microsoft.com/office/drawing/2014/main" val="2797321821"/>
                    </a:ext>
                  </a:extLst>
                </a:gridCol>
                <a:gridCol w="1255228">
                  <a:extLst>
                    <a:ext uri="{9D8B030D-6E8A-4147-A177-3AD203B41FA5}">
                      <a16:colId xmlns:a16="http://schemas.microsoft.com/office/drawing/2014/main" val="2812402965"/>
                    </a:ext>
                  </a:extLst>
                </a:gridCol>
                <a:gridCol w="144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1" dirty="0">
                          <a:effectLst/>
                        </a:rPr>
                        <a:t>조건</a:t>
                      </a:r>
                      <a:endParaRPr lang="en-US" sz="1400" b="1" dirty="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effectLst/>
                        </a:rPr>
                        <a:t>AUC-ROC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effectLst/>
                        </a:rPr>
                        <a:t>AUPRC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>
                          <a:solidFill>
                            <a:schemeClr val="bg1"/>
                          </a:solidFill>
                          <a:effectLst/>
                        </a:rPr>
                        <a:t>Brier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effectLst/>
                        </a:rPr>
                        <a:t>Accuracy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effectLst/>
                        </a:rPr>
                        <a:t>F1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>
                          <a:solidFill>
                            <a:schemeClr val="bg1"/>
                          </a:solidFill>
                          <a:effectLst/>
                        </a:rPr>
                        <a:t>Sensitivity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effectLst/>
                        </a:rPr>
                        <a:t>Specificity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Model 2 | Clinic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0.8180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0.3154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0.2035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0.6745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0.3360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0.750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0.665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9961138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Model 2 | Both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0.8162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0.3890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0.1867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0.6627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0.3175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0.714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0.656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52768488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Model 2_2 | Clinic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0.7934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0.3553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0.2045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0.6314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0.2985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0.714</a:t>
                      </a:r>
                      <a:endParaRPr kumimoji="0" lang="en-US" altLang="ko-KR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F0502020204030204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0.621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0302118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Model 2_2 | Both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0.8120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0.3295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0.1759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0.7294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0.3670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0.714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0.731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9751546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Model 3 | Clinic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 dirty="0">
                          <a:solidFill>
                            <a:srgbClr val="000000"/>
                          </a:solidFill>
                          <a:effectLst/>
                        </a:rPr>
                        <a:t>0.8424</a:t>
                      </a:r>
                      <a:endParaRPr lang="ko-KR" altLang="en-US" sz="1400" dirty="0">
                        <a:effectLst/>
                      </a:endParaRP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0.3681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0.2103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0.6745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0.3566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0.821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0.656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193842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Model 3 | Both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0.7967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0.3201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0.2046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0.6902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0.3471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0.750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0.683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112816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3678393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E418E8-C9F3-83BE-78EB-9FF175C13F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0AE8834-92E2-6A38-EC6C-126DAD7E79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D296FF-537D-CB1E-B915-3274004820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34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1877A28F-6D63-D355-43C3-D5D948D057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Data Crop 60%</a:t>
            </a:r>
          </a:p>
          <a:p>
            <a:pPr lvl="1"/>
            <a:r>
              <a:rPr lang="en-US" altLang="ko-KR" dirty="0"/>
              <a:t>5-fold CV (Cross Attention – </a:t>
            </a:r>
            <a:r>
              <a:rPr lang="en-US" altLang="ko-KR" dirty="0" err="1"/>
              <a:t>ScalarFeatureTokenizer</a:t>
            </a:r>
            <a:r>
              <a:rPr lang="en-US" altLang="ko-KR" dirty="0"/>
              <a:t>, ResNet1DEncoder)</a:t>
            </a:r>
          </a:p>
        </p:txBody>
      </p:sp>
      <p:graphicFrame>
        <p:nvGraphicFramePr>
          <p:cNvPr id="3" name="Table 24">
            <a:extLst>
              <a:ext uri="{FF2B5EF4-FFF2-40B4-BE49-F238E27FC236}">
                <a16:creationId xmlns:a16="http://schemas.microsoft.com/office/drawing/2014/main" id="{437F9EE6-78FF-6420-E713-602C813EB9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38924215"/>
              </p:ext>
            </p:extLst>
          </p:nvPr>
        </p:nvGraphicFramePr>
        <p:xfrm>
          <a:off x="1188685" y="2118131"/>
          <a:ext cx="981463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292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62926">
                  <a:extLst>
                    <a:ext uri="{9D8B030D-6E8A-4147-A177-3AD203B41FA5}">
                      <a16:colId xmlns:a16="http://schemas.microsoft.com/office/drawing/2014/main" val="3203679715"/>
                    </a:ext>
                  </a:extLst>
                </a:gridCol>
                <a:gridCol w="1962926">
                  <a:extLst>
                    <a:ext uri="{9D8B030D-6E8A-4147-A177-3AD203B41FA5}">
                      <a16:colId xmlns:a16="http://schemas.microsoft.com/office/drawing/2014/main" val="2797321821"/>
                    </a:ext>
                  </a:extLst>
                </a:gridCol>
                <a:gridCol w="1962926">
                  <a:extLst>
                    <a:ext uri="{9D8B030D-6E8A-4147-A177-3AD203B41FA5}">
                      <a16:colId xmlns:a16="http://schemas.microsoft.com/office/drawing/2014/main" val="2812402965"/>
                    </a:ext>
                  </a:extLst>
                </a:gridCol>
                <a:gridCol w="196292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1" dirty="0">
                          <a:effectLst/>
                        </a:rPr>
                        <a:t>조건</a:t>
                      </a:r>
                      <a:endParaRPr lang="en-US" sz="1400" b="1" dirty="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CV AUC (</a:t>
                      </a:r>
                      <a:r>
                        <a:rPr lang="en-US" sz="1400" b="1" dirty="0" err="1">
                          <a:effectLst/>
                        </a:rPr>
                        <a:t>mean±std</a:t>
                      </a:r>
                      <a:r>
                        <a:rPr lang="en-US" sz="1400" b="1" dirty="0">
                          <a:effectLst/>
                        </a:rPr>
                        <a:t>)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CV AUPRC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CV Brier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CV F1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Model 2 | Clinic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0.8031 ± 0.0662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0.3843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0.1929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0.3724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9961138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Model 2 | Both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0.8139 ± 0.0577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0.3923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0.1887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0.3520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52768488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Model 2_2 | Clinic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0.7912 ± 0.0701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0.3719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0.1878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0.3470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0302118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Model 2_2 | Both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0.7892 ± 0.0620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0.3689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0.1927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0.3523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9751546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Model 3 | Clinic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0.7996 ± 0.0691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0.4188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0.1851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0.3622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193842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Model 3 | Both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0.7998 ± 0.0675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0.3743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0.2195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0.3352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112816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2324544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96B5EB-1362-909B-5100-33944945EE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69DA2E9-ECCD-C261-0214-AA7AF49936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83E59F7-E5DA-F315-CEFA-80B4D00661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35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69C8BAA7-D3B4-8F45-E06E-2775901F08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Data Crop 60%</a:t>
            </a:r>
          </a:p>
          <a:p>
            <a:pPr lvl="1"/>
            <a:r>
              <a:rPr lang="en-US" altLang="ko-KR" dirty="0"/>
              <a:t>Test Set Performance</a:t>
            </a:r>
          </a:p>
        </p:txBody>
      </p:sp>
      <p:graphicFrame>
        <p:nvGraphicFramePr>
          <p:cNvPr id="5" name="Table 24">
            <a:extLst>
              <a:ext uri="{FF2B5EF4-FFF2-40B4-BE49-F238E27FC236}">
                <a16:creationId xmlns:a16="http://schemas.microsoft.com/office/drawing/2014/main" id="{E1B6C297-94F7-23E7-256E-CD11A96DF6A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88656440"/>
              </p:ext>
            </p:extLst>
          </p:nvPr>
        </p:nvGraphicFramePr>
        <p:xfrm>
          <a:off x="848338" y="2189383"/>
          <a:ext cx="10680095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872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55228">
                  <a:extLst>
                    <a:ext uri="{9D8B030D-6E8A-4147-A177-3AD203B41FA5}">
                      <a16:colId xmlns:a16="http://schemas.microsoft.com/office/drawing/2014/main" val="3203679715"/>
                    </a:ext>
                  </a:extLst>
                </a:gridCol>
                <a:gridCol w="1255228">
                  <a:extLst>
                    <a:ext uri="{9D8B030D-6E8A-4147-A177-3AD203B41FA5}">
                      <a16:colId xmlns:a16="http://schemas.microsoft.com/office/drawing/2014/main" val="2222684169"/>
                    </a:ext>
                  </a:extLst>
                </a:gridCol>
                <a:gridCol w="1255228">
                  <a:extLst>
                    <a:ext uri="{9D8B030D-6E8A-4147-A177-3AD203B41FA5}">
                      <a16:colId xmlns:a16="http://schemas.microsoft.com/office/drawing/2014/main" val="2226386632"/>
                    </a:ext>
                  </a:extLst>
                </a:gridCol>
                <a:gridCol w="1255228">
                  <a:extLst>
                    <a:ext uri="{9D8B030D-6E8A-4147-A177-3AD203B41FA5}">
                      <a16:colId xmlns:a16="http://schemas.microsoft.com/office/drawing/2014/main" val="3155598539"/>
                    </a:ext>
                  </a:extLst>
                </a:gridCol>
                <a:gridCol w="1255228">
                  <a:extLst>
                    <a:ext uri="{9D8B030D-6E8A-4147-A177-3AD203B41FA5}">
                      <a16:colId xmlns:a16="http://schemas.microsoft.com/office/drawing/2014/main" val="2797321821"/>
                    </a:ext>
                  </a:extLst>
                </a:gridCol>
                <a:gridCol w="1255228">
                  <a:extLst>
                    <a:ext uri="{9D8B030D-6E8A-4147-A177-3AD203B41FA5}">
                      <a16:colId xmlns:a16="http://schemas.microsoft.com/office/drawing/2014/main" val="2812402965"/>
                    </a:ext>
                  </a:extLst>
                </a:gridCol>
                <a:gridCol w="144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1" dirty="0">
                          <a:effectLst/>
                        </a:rPr>
                        <a:t>조건</a:t>
                      </a:r>
                      <a:endParaRPr lang="en-US" sz="1400" b="1" dirty="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effectLst/>
                        </a:rPr>
                        <a:t>AUC-ROC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effectLst/>
                        </a:rPr>
                        <a:t>AUPRC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>
                          <a:solidFill>
                            <a:schemeClr val="bg1"/>
                          </a:solidFill>
                          <a:effectLst/>
                        </a:rPr>
                        <a:t>Brier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effectLst/>
                        </a:rPr>
                        <a:t>Accuracy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effectLst/>
                        </a:rPr>
                        <a:t>F1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effectLst/>
                        </a:rPr>
                        <a:t>Sensitivity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effectLst/>
                        </a:rPr>
                        <a:t>Specificity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Model 2 | Clinic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0.8195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0.3400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0.2390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0.6275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0.3448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0.893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0.595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9961138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Model 2 | Both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0.8315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0.3683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0.1957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0.7020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0.3871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0.857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0.683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52768488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Model 2_2 | Clinic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0.8082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0.3225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0.1746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0.7216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0.3826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0.786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0.714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0302118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Model 2_2 | Both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0.7859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0.3067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0.1409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0.8118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0.4146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0.607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0.837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9751546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Model 3 | Clinic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0.8263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0.3723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0.1720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0.7451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0.3810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0.714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0.749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193842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Model 3 | Both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0.8205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0.3154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0.2149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0.6627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0.3485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0.821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0.643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112816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414169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FEC5B4-7F25-1629-70E6-72907EC398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038836F-EE47-9F83-1C77-657CA689E3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ED6E4A9-4E36-8A2B-1EFD-803EE6600C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36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8B45E64B-8067-D0B6-6E59-43C6DDE41B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Extreme</a:t>
            </a:r>
            <a:r>
              <a:rPr lang="ko-KR" altLang="en-US" dirty="0"/>
              <a:t> </a:t>
            </a:r>
            <a:r>
              <a:rPr lang="en-US" altLang="ko-KR" dirty="0"/>
              <a:t>Value</a:t>
            </a:r>
            <a:r>
              <a:rPr lang="ko-KR" altLang="en-US" dirty="0"/>
              <a:t> </a:t>
            </a:r>
            <a:r>
              <a:rPr lang="en-US" altLang="ko-KR" dirty="0"/>
              <a:t>Exclusion</a:t>
            </a:r>
            <a:r>
              <a:rPr lang="ko-KR" altLang="en-US" dirty="0"/>
              <a:t> </a:t>
            </a:r>
            <a:r>
              <a:rPr lang="en-US" altLang="ko-KR" dirty="0"/>
              <a:t>(</a:t>
            </a:r>
            <a:r>
              <a:rPr lang="ko-KR" altLang="en-US" dirty="0" err="1"/>
              <a:t>상하위</a:t>
            </a:r>
            <a:r>
              <a:rPr lang="ko-KR" altLang="en-US" dirty="0"/>
              <a:t> </a:t>
            </a:r>
            <a:r>
              <a:rPr lang="en-US" altLang="ko-KR" dirty="0"/>
              <a:t>5%) – Train:915, Test:229</a:t>
            </a:r>
          </a:p>
          <a:p>
            <a:pPr lvl="1"/>
            <a:r>
              <a:rPr lang="en-US" altLang="ko-KR" dirty="0"/>
              <a:t>5-fold CV (Cross Attention – </a:t>
            </a:r>
            <a:r>
              <a:rPr lang="en-US" altLang="ko-KR" dirty="0" err="1"/>
              <a:t>ScalarFeatureTokenizer</a:t>
            </a:r>
            <a:r>
              <a:rPr lang="en-US" altLang="ko-KR" dirty="0"/>
              <a:t>, ResNet1DEncoder)</a:t>
            </a:r>
          </a:p>
        </p:txBody>
      </p:sp>
      <p:graphicFrame>
        <p:nvGraphicFramePr>
          <p:cNvPr id="3" name="Table 24">
            <a:extLst>
              <a:ext uri="{FF2B5EF4-FFF2-40B4-BE49-F238E27FC236}">
                <a16:creationId xmlns:a16="http://schemas.microsoft.com/office/drawing/2014/main" id="{A073D1A2-5403-6CD6-0A17-BBB7B923645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54181829"/>
              </p:ext>
            </p:extLst>
          </p:nvPr>
        </p:nvGraphicFramePr>
        <p:xfrm>
          <a:off x="1188685" y="2118131"/>
          <a:ext cx="981463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292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62926">
                  <a:extLst>
                    <a:ext uri="{9D8B030D-6E8A-4147-A177-3AD203B41FA5}">
                      <a16:colId xmlns:a16="http://schemas.microsoft.com/office/drawing/2014/main" val="3203679715"/>
                    </a:ext>
                  </a:extLst>
                </a:gridCol>
                <a:gridCol w="1962926">
                  <a:extLst>
                    <a:ext uri="{9D8B030D-6E8A-4147-A177-3AD203B41FA5}">
                      <a16:colId xmlns:a16="http://schemas.microsoft.com/office/drawing/2014/main" val="2797321821"/>
                    </a:ext>
                  </a:extLst>
                </a:gridCol>
                <a:gridCol w="1962926">
                  <a:extLst>
                    <a:ext uri="{9D8B030D-6E8A-4147-A177-3AD203B41FA5}">
                      <a16:colId xmlns:a16="http://schemas.microsoft.com/office/drawing/2014/main" val="2812402965"/>
                    </a:ext>
                  </a:extLst>
                </a:gridCol>
                <a:gridCol w="196292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1" dirty="0">
                          <a:effectLst/>
                        </a:rPr>
                        <a:t>조건</a:t>
                      </a:r>
                      <a:endParaRPr lang="en-US" sz="1400" b="1" dirty="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CV AUC (</a:t>
                      </a:r>
                      <a:r>
                        <a:rPr lang="en-US" sz="1400" b="1" dirty="0" err="1">
                          <a:effectLst/>
                        </a:rPr>
                        <a:t>mean±std</a:t>
                      </a:r>
                      <a:r>
                        <a:rPr lang="en-US" sz="1400" b="1" dirty="0">
                          <a:effectLst/>
                        </a:rPr>
                        <a:t>)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CV AUPRC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CV Brier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CV F1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400" b="0" dirty="0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M</a:t>
                      </a:r>
                      <a:r>
                        <a:rPr lang="en-US" sz="1400" b="0" dirty="0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odel </a:t>
                      </a:r>
                      <a:r>
                        <a:rPr sz="1400" b="0" dirty="0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2 | Clinic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dirty="0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0.8122 ± 0.0445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0.4011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0.1876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0.3655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9961138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400" b="0" dirty="0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M</a:t>
                      </a:r>
                      <a:r>
                        <a:rPr lang="en-US" sz="1400" b="0" dirty="0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odel </a:t>
                      </a:r>
                      <a:r>
                        <a:rPr sz="1400" b="0" dirty="0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2 | Both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dirty="0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0.8098 ± 0.0500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0.3296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0.2402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0.3030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52768488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400" b="0" dirty="0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M</a:t>
                      </a:r>
                      <a:r>
                        <a:rPr lang="en-US" sz="1400" b="0" dirty="0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odel </a:t>
                      </a:r>
                      <a:r>
                        <a:rPr sz="1400" b="0" dirty="0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2_2 | Clinic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0.7850 ± 0.0375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dirty="0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0.3575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0.1833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0.3378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0302118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400" b="0" dirty="0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M</a:t>
                      </a:r>
                      <a:r>
                        <a:rPr lang="en-US" sz="1400" b="0" dirty="0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odel </a:t>
                      </a:r>
                      <a:r>
                        <a:rPr sz="1400" b="0" dirty="0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2_2 | Both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0.7783 ± 0.0450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dirty="0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0.3129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dirty="0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0.2252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0.3361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9751546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400" b="0" dirty="0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M</a:t>
                      </a:r>
                      <a:r>
                        <a:rPr lang="en-US" sz="1400" b="0" dirty="0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odel </a:t>
                      </a:r>
                      <a:r>
                        <a:rPr sz="1400" b="0" dirty="0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3 | Clinic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0.7988 ± 0.0503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0.3897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dirty="0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0.1821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dirty="0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0.3867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193842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400" b="0" dirty="0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M</a:t>
                      </a:r>
                      <a:r>
                        <a:rPr lang="en-US" sz="1400" b="0" dirty="0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odel </a:t>
                      </a:r>
                      <a:r>
                        <a:rPr sz="1400" b="0" dirty="0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3 | Both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0.7990 ± 0.0480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0.3125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0.1678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dirty="0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0.4086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112816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8896649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BF227E-ED72-9C42-C954-21005A45E0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E13883-6781-0B21-DF28-AD9374823D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0B7C221-3DE2-EDBB-3653-888D3B72F6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37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C062F80A-6FF3-6745-696F-97B219F608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Extreme</a:t>
            </a:r>
            <a:r>
              <a:rPr lang="ko-KR" altLang="en-US" dirty="0"/>
              <a:t> </a:t>
            </a:r>
            <a:r>
              <a:rPr lang="en-US" altLang="ko-KR" dirty="0"/>
              <a:t>Value</a:t>
            </a:r>
            <a:r>
              <a:rPr lang="ko-KR" altLang="en-US" dirty="0"/>
              <a:t> </a:t>
            </a:r>
            <a:r>
              <a:rPr lang="en-US" altLang="ko-KR" dirty="0"/>
              <a:t>Exclusion</a:t>
            </a:r>
            <a:r>
              <a:rPr lang="ko-KR" altLang="en-US" dirty="0"/>
              <a:t> </a:t>
            </a:r>
            <a:r>
              <a:rPr lang="en-US" altLang="ko-KR" dirty="0"/>
              <a:t>(</a:t>
            </a:r>
            <a:r>
              <a:rPr lang="ko-KR" altLang="en-US" dirty="0" err="1"/>
              <a:t>상하위</a:t>
            </a:r>
            <a:r>
              <a:rPr lang="ko-KR" altLang="en-US" dirty="0"/>
              <a:t> </a:t>
            </a:r>
            <a:r>
              <a:rPr lang="en-US" altLang="ko-KR" dirty="0"/>
              <a:t>5%) – Train:915, Test:229</a:t>
            </a:r>
          </a:p>
          <a:p>
            <a:pPr lvl="1"/>
            <a:r>
              <a:rPr lang="en-US" altLang="ko-KR" dirty="0"/>
              <a:t>Test Set Performance</a:t>
            </a:r>
          </a:p>
        </p:txBody>
      </p:sp>
      <p:graphicFrame>
        <p:nvGraphicFramePr>
          <p:cNvPr id="5" name="Table 24">
            <a:extLst>
              <a:ext uri="{FF2B5EF4-FFF2-40B4-BE49-F238E27FC236}">
                <a16:creationId xmlns:a16="http://schemas.microsoft.com/office/drawing/2014/main" id="{FDF98192-047B-329F-B0D3-A40F6CBE725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36826959"/>
              </p:ext>
            </p:extLst>
          </p:nvPr>
        </p:nvGraphicFramePr>
        <p:xfrm>
          <a:off x="848338" y="2189383"/>
          <a:ext cx="10680095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872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55228">
                  <a:extLst>
                    <a:ext uri="{9D8B030D-6E8A-4147-A177-3AD203B41FA5}">
                      <a16:colId xmlns:a16="http://schemas.microsoft.com/office/drawing/2014/main" val="3203679715"/>
                    </a:ext>
                  </a:extLst>
                </a:gridCol>
                <a:gridCol w="1255228">
                  <a:extLst>
                    <a:ext uri="{9D8B030D-6E8A-4147-A177-3AD203B41FA5}">
                      <a16:colId xmlns:a16="http://schemas.microsoft.com/office/drawing/2014/main" val="2222684169"/>
                    </a:ext>
                  </a:extLst>
                </a:gridCol>
                <a:gridCol w="1255228">
                  <a:extLst>
                    <a:ext uri="{9D8B030D-6E8A-4147-A177-3AD203B41FA5}">
                      <a16:colId xmlns:a16="http://schemas.microsoft.com/office/drawing/2014/main" val="2226386632"/>
                    </a:ext>
                  </a:extLst>
                </a:gridCol>
                <a:gridCol w="1255228">
                  <a:extLst>
                    <a:ext uri="{9D8B030D-6E8A-4147-A177-3AD203B41FA5}">
                      <a16:colId xmlns:a16="http://schemas.microsoft.com/office/drawing/2014/main" val="3155598539"/>
                    </a:ext>
                  </a:extLst>
                </a:gridCol>
                <a:gridCol w="1255228">
                  <a:extLst>
                    <a:ext uri="{9D8B030D-6E8A-4147-A177-3AD203B41FA5}">
                      <a16:colId xmlns:a16="http://schemas.microsoft.com/office/drawing/2014/main" val="2797321821"/>
                    </a:ext>
                  </a:extLst>
                </a:gridCol>
                <a:gridCol w="1255228">
                  <a:extLst>
                    <a:ext uri="{9D8B030D-6E8A-4147-A177-3AD203B41FA5}">
                      <a16:colId xmlns:a16="http://schemas.microsoft.com/office/drawing/2014/main" val="2812402965"/>
                    </a:ext>
                  </a:extLst>
                </a:gridCol>
                <a:gridCol w="144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1" dirty="0">
                          <a:effectLst/>
                        </a:rPr>
                        <a:t>조건</a:t>
                      </a:r>
                      <a:endParaRPr lang="en-US" sz="1400" b="1" dirty="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effectLst/>
                        </a:rPr>
                        <a:t>AUC-ROC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effectLst/>
                        </a:rPr>
                        <a:t>AUPRC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>
                          <a:solidFill>
                            <a:schemeClr val="bg1"/>
                          </a:solidFill>
                          <a:effectLst/>
                        </a:rPr>
                        <a:t>Brier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effectLst/>
                        </a:rPr>
                        <a:t>Accuracy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effectLst/>
                        </a:rPr>
                        <a:t>F1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effectLst/>
                        </a:rPr>
                        <a:t>Sensitivity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effectLst/>
                        </a:rPr>
                        <a:t>Specificity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400" b="0" dirty="0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M2 | Clinic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0.8325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0.4029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0.1696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0.7293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0.3673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0.750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0.727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9961138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M2 | Both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dirty="0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0.8098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0.3296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0.2402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0.5983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0.3030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0.750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0.587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52768488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M2_2 | Clinic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0.8213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dirty="0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0.3113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0.1838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0.7249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0.4112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0.846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0.709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0302118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M2_2 | Both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0.7783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0.3129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dirty="0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0.2252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dirty="0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0.6550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0.3361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0.692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0.655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9751546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M3 | Clinic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0.8089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0.3427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0.1719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0.7555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dirty="0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0.4043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dirty="0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0.792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0.751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193842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M3 | Both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0.7990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0.3125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0.1678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0.7598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0.4086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dirty="0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0.833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dirty="0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0.747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112816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0190106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C151E0-B2A7-58EB-4933-725A4901FB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BAAA97F-1A16-0F49-1017-3C48DBB751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1B09021-3E5B-7E3F-CD6F-7457802252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38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707AC791-0FC1-8345-0999-EB13E7185B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전체 모델 </a:t>
            </a:r>
            <a:r>
              <a:rPr lang="en-US" altLang="ko-KR" dirty="0"/>
              <a:t>Best Case </a:t>
            </a:r>
            <a:r>
              <a:rPr lang="ko-KR" altLang="en-US" dirty="0"/>
              <a:t>종합 비교 </a:t>
            </a:r>
            <a:r>
              <a:rPr lang="en-US" altLang="ko-KR" dirty="0"/>
              <a:t>(Test AUC </a:t>
            </a:r>
            <a:r>
              <a:rPr lang="ko-KR" altLang="en-US" dirty="0"/>
              <a:t>기준</a:t>
            </a:r>
            <a:r>
              <a:rPr lang="en-US" altLang="ko-KR" dirty="0"/>
              <a:t>)</a:t>
            </a:r>
          </a:p>
        </p:txBody>
      </p:sp>
      <p:graphicFrame>
        <p:nvGraphicFramePr>
          <p:cNvPr id="5" name="Table 24">
            <a:extLst>
              <a:ext uri="{FF2B5EF4-FFF2-40B4-BE49-F238E27FC236}">
                <a16:creationId xmlns:a16="http://schemas.microsoft.com/office/drawing/2014/main" id="{4EFD3FEA-FFC7-AEAD-A9A9-9C7085CCF9A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9829817"/>
              </p:ext>
            </p:extLst>
          </p:nvPr>
        </p:nvGraphicFramePr>
        <p:xfrm>
          <a:off x="755952" y="1611086"/>
          <a:ext cx="10680095" cy="45665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910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14697">
                  <a:extLst>
                    <a:ext uri="{9D8B030D-6E8A-4147-A177-3AD203B41FA5}">
                      <a16:colId xmlns:a16="http://schemas.microsoft.com/office/drawing/2014/main" val="3203679715"/>
                    </a:ext>
                  </a:extLst>
                </a:gridCol>
                <a:gridCol w="2113402">
                  <a:extLst>
                    <a:ext uri="{9D8B030D-6E8A-4147-A177-3AD203B41FA5}">
                      <a16:colId xmlns:a16="http://schemas.microsoft.com/office/drawing/2014/main" val="2222684169"/>
                    </a:ext>
                  </a:extLst>
                </a:gridCol>
                <a:gridCol w="1255228">
                  <a:extLst>
                    <a:ext uri="{9D8B030D-6E8A-4147-A177-3AD203B41FA5}">
                      <a16:colId xmlns:a16="http://schemas.microsoft.com/office/drawing/2014/main" val="2226386632"/>
                    </a:ext>
                  </a:extLst>
                </a:gridCol>
                <a:gridCol w="1255228">
                  <a:extLst>
                    <a:ext uri="{9D8B030D-6E8A-4147-A177-3AD203B41FA5}">
                      <a16:colId xmlns:a16="http://schemas.microsoft.com/office/drawing/2014/main" val="3155598539"/>
                    </a:ext>
                  </a:extLst>
                </a:gridCol>
                <a:gridCol w="1255228">
                  <a:extLst>
                    <a:ext uri="{9D8B030D-6E8A-4147-A177-3AD203B41FA5}">
                      <a16:colId xmlns:a16="http://schemas.microsoft.com/office/drawing/2014/main" val="2797321821"/>
                    </a:ext>
                  </a:extLst>
                </a:gridCol>
                <a:gridCol w="1255228">
                  <a:extLst>
                    <a:ext uri="{9D8B030D-6E8A-4147-A177-3AD203B41FA5}">
                      <a16:colId xmlns:a16="http://schemas.microsoft.com/office/drawing/2014/main" val="2812402965"/>
                    </a:ext>
                  </a:extLst>
                </a:gridCol>
                <a:gridCol w="144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0549">
                <a:tc>
                  <a:txBody>
                    <a:bodyPr/>
                    <a:lstStyle/>
                    <a:p>
                      <a:pPr algn="ctr"/>
                      <a:r>
                        <a:rPr sz="1400" b="1" dirty="0" err="1">
                          <a:solidFill>
                            <a:srgbClr val="FFFFFF"/>
                          </a:solidFill>
                        </a:rPr>
                        <a:t>모델</a:t>
                      </a:r>
                      <a:endParaRPr sz="1400" b="1" dirty="0">
                        <a:solidFill>
                          <a:srgbClr val="FFFFFF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dirty="0" err="1">
                          <a:solidFill>
                            <a:srgbClr val="FFFFFF"/>
                          </a:solidFill>
                        </a:rPr>
                        <a:t>서브모델</a:t>
                      </a:r>
                      <a:endParaRPr sz="1400" b="1" dirty="0">
                        <a:solidFill>
                          <a:srgbClr val="FFFFFF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Best Case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dirty="0">
                          <a:solidFill>
                            <a:srgbClr val="FFFFFF"/>
                          </a:solidFill>
                        </a:rPr>
                        <a:t>AUC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AUPRC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dirty="0">
                          <a:solidFill>
                            <a:srgbClr val="FFFFFF"/>
                          </a:solidFill>
                        </a:rPr>
                        <a:t>Brier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dirty="0">
                          <a:solidFill>
                            <a:srgbClr val="FFFFFF"/>
                          </a:solidFill>
                        </a:rPr>
                        <a:t>Acc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dirty="0">
                          <a:solidFill>
                            <a:srgbClr val="FFFFFF"/>
                          </a:solidFill>
                        </a:rPr>
                        <a:t>F1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0549">
                <a:tc>
                  <a:txBody>
                    <a:bodyPr/>
                    <a:lstStyle/>
                    <a:p>
                      <a:pPr algn="ctr"/>
                      <a:r>
                        <a:rPr sz="1400" b="1"/>
                        <a:t>M1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dirty="0"/>
                        <a:t>LR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dirty="0" err="1"/>
                        <a:t>scale_clinic</a:t>
                      </a:r>
                      <a:endParaRPr sz="1400" b="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dirty="0"/>
                        <a:t>0.8291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dirty="0"/>
                        <a:t>0.3249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/>
                        <a:t>0.1931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dirty="0"/>
                        <a:t>0.698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dirty="0"/>
                        <a:t>0.364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96556407"/>
                  </a:ext>
                </a:extLst>
              </a:tr>
              <a:tr h="380549">
                <a:tc>
                  <a:txBody>
                    <a:bodyPr/>
                    <a:lstStyle/>
                    <a:p>
                      <a:pPr algn="ctr"/>
                      <a:r>
                        <a:rPr sz="1400" b="1" dirty="0"/>
                        <a:t>M1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dirty="0"/>
                        <a:t>ResNet1D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dirty="0" err="1"/>
                        <a:t>scale_clinic</a:t>
                      </a:r>
                      <a:endParaRPr sz="1400" b="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dirty="0"/>
                        <a:t>0.7955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/>
                        <a:t>0.3471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/>
                        <a:t>0.1848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/>
                        <a:t>0.753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dirty="0"/>
                        <a:t>0.388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4269648"/>
                  </a:ext>
                </a:extLst>
              </a:tr>
              <a:tr h="380549">
                <a:tc>
                  <a:txBody>
                    <a:bodyPr/>
                    <a:lstStyle/>
                    <a:p>
                      <a:pPr algn="ctr"/>
                      <a:r>
                        <a:rPr sz="1400" b="1"/>
                        <a:t>M2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/>
                        <a:t>LR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dirty="0"/>
                        <a:t>len064/</a:t>
                      </a:r>
                      <a:r>
                        <a:rPr sz="1400" b="0" dirty="0" err="1"/>
                        <a:t>scale_both</a:t>
                      </a:r>
                      <a:endParaRPr sz="1400" b="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/>
                        <a:t>0.8147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/>
                        <a:t>0.3195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/>
                        <a:t>0.1846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/>
                        <a:t>0.741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/>
                        <a:t>0.400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9002352"/>
                  </a:ext>
                </a:extLst>
              </a:tr>
              <a:tr h="380549">
                <a:tc>
                  <a:txBody>
                    <a:bodyPr/>
                    <a:lstStyle/>
                    <a:p>
                      <a:pPr algn="ctr"/>
                      <a:r>
                        <a:rPr sz="1400" b="1"/>
                        <a:t>M2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dirty="0" err="1"/>
                        <a:t>CrossAttn</a:t>
                      </a:r>
                      <a:endParaRPr sz="1400" b="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dirty="0"/>
                        <a:t>len064/</a:t>
                      </a:r>
                      <a:r>
                        <a:rPr sz="1400" b="0" dirty="0" err="1"/>
                        <a:t>scale_both</a:t>
                      </a:r>
                      <a:endParaRPr sz="1400" b="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dirty="0"/>
                        <a:t>0.8403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dirty="0"/>
                        <a:t>0.3367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dirty="0"/>
                        <a:t>0.2253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dirty="0"/>
                        <a:t>0.678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dirty="0"/>
                        <a:t>0.379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10425487"/>
                  </a:ext>
                </a:extLst>
              </a:tr>
              <a:tr h="380549">
                <a:tc>
                  <a:txBody>
                    <a:bodyPr/>
                    <a:lstStyle/>
                    <a:p>
                      <a:pPr algn="ctr"/>
                      <a:r>
                        <a:rPr sz="1400" b="1" dirty="0"/>
                        <a:t>M2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/>
                        <a:t>ResNet1D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/>
                        <a:t>len064/scale_both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/>
                        <a:t>0.8394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/>
                        <a:t>0.3445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/>
                        <a:t>0.1869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/>
                        <a:t>0.682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/>
                        <a:t>0.352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5584221"/>
                  </a:ext>
                </a:extLst>
              </a:tr>
              <a:tr h="380549">
                <a:tc>
                  <a:txBody>
                    <a:bodyPr/>
                    <a:lstStyle/>
                    <a:p>
                      <a:pPr algn="ctr"/>
                      <a:r>
                        <a:rPr sz="1400" b="1" dirty="0"/>
                        <a:t>M2_2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/>
                        <a:t>LR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/>
                        <a:t>norm/scale_clinic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/>
                        <a:t>0.8357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dirty="0"/>
                        <a:t>0.3122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/>
                        <a:t>0.1885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/>
                        <a:t>0.718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/>
                        <a:t>0.390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98726426"/>
                  </a:ext>
                </a:extLst>
              </a:tr>
              <a:tr h="380549">
                <a:tc>
                  <a:txBody>
                    <a:bodyPr/>
                    <a:lstStyle/>
                    <a:p>
                      <a:pPr algn="ctr"/>
                      <a:r>
                        <a:rPr sz="1400" b="1"/>
                        <a:t>M2_2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dirty="0" err="1"/>
                        <a:t>CrossAttn</a:t>
                      </a:r>
                      <a:endParaRPr sz="1400" b="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dirty="0"/>
                        <a:t>excl/</a:t>
                      </a:r>
                      <a:r>
                        <a:rPr sz="1400" b="0" dirty="0" err="1"/>
                        <a:t>scale_clinic</a:t>
                      </a:r>
                      <a:endParaRPr sz="1400" b="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/>
                        <a:t>0.8213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/>
                        <a:t>0.3113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/>
                        <a:t>0.1838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/>
                        <a:t>0.725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/>
                        <a:t>0.411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52768488"/>
                  </a:ext>
                </a:extLst>
              </a:tr>
              <a:tr h="380549">
                <a:tc>
                  <a:txBody>
                    <a:bodyPr/>
                    <a:lstStyle/>
                    <a:p>
                      <a:pPr algn="ctr"/>
                      <a:r>
                        <a:rPr sz="1400" b="1" dirty="0"/>
                        <a:t>M2_2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/>
                        <a:t>ResNet1D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/>
                        <a:t>norm/scale_both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dirty="0"/>
                        <a:t>0.8219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dirty="0"/>
                        <a:t>0.3356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dirty="0"/>
                        <a:t>0.1806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dirty="0"/>
                        <a:t>0.718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dirty="0"/>
                        <a:t>0.390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03021181"/>
                  </a:ext>
                </a:extLst>
              </a:tr>
              <a:tr h="380549">
                <a:tc>
                  <a:txBody>
                    <a:bodyPr/>
                    <a:lstStyle/>
                    <a:p>
                      <a:pPr algn="ctr"/>
                      <a:r>
                        <a:rPr sz="1400" b="1"/>
                        <a:t>M3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/>
                        <a:t>LR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/>
                        <a:t>len064/scale_both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/>
                        <a:t>0.8164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/>
                        <a:t>0.3305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/>
                        <a:t>0.1856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dirty="0"/>
                        <a:t>0.737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dirty="0"/>
                        <a:t>0.396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9751546"/>
                  </a:ext>
                </a:extLst>
              </a:tr>
              <a:tr h="380549">
                <a:tc>
                  <a:txBody>
                    <a:bodyPr/>
                    <a:lstStyle/>
                    <a:p>
                      <a:pPr algn="ctr"/>
                      <a:r>
                        <a:rPr sz="1400" b="1" dirty="0"/>
                        <a:t>M3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dirty="0" err="1"/>
                        <a:t>CrossAttn</a:t>
                      </a:r>
                      <a:endParaRPr sz="1400" b="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dirty="0"/>
                        <a:t>len128/</a:t>
                      </a:r>
                      <a:r>
                        <a:rPr sz="1400" b="0" dirty="0" err="1"/>
                        <a:t>scale_both</a:t>
                      </a:r>
                      <a:endParaRPr sz="1400" b="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dirty="0"/>
                        <a:t>0.8453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dirty="0"/>
                        <a:t>0.3993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dirty="0"/>
                        <a:t>0.2036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dirty="0"/>
                        <a:t>0.706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dirty="0"/>
                        <a:t>0.380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1938424"/>
                  </a:ext>
                </a:extLst>
              </a:tr>
              <a:tr h="380549">
                <a:tc>
                  <a:txBody>
                    <a:bodyPr/>
                    <a:lstStyle/>
                    <a:p>
                      <a:pPr algn="ctr"/>
                      <a:r>
                        <a:rPr sz="1400" b="1"/>
                        <a:t>M3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/>
                        <a:t>ResNet1D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/>
                        <a:t>len128/scale_both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/>
                        <a:t>0.8302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/>
                        <a:t>0.3600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/>
                        <a:t>0.1421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/>
                        <a:t>0.792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dirty="0"/>
                        <a:t>0.391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112816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6665592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E043BB-D96A-280F-BF82-F626A91206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4B1AAB5-1DFF-AD5C-0CF7-4EB134E242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9CF3EB1-010E-6AF4-25FF-8D9C164CDC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39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753DDAB2-4CFA-1CE3-EB8B-B50C60F2ED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AEC</a:t>
            </a:r>
            <a:r>
              <a:rPr lang="ko-KR" altLang="en-US" dirty="0"/>
              <a:t> </a:t>
            </a:r>
            <a:r>
              <a:rPr lang="en-US" altLang="ko-KR" dirty="0"/>
              <a:t>Patient</a:t>
            </a:r>
            <a:r>
              <a:rPr lang="ko-KR" altLang="en-US" dirty="0"/>
              <a:t> </a:t>
            </a:r>
            <a:r>
              <a:rPr lang="en-US" altLang="ko-KR" dirty="0"/>
              <a:t>Matching Effect</a:t>
            </a:r>
          </a:p>
        </p:txBody>
      </p:sp>
      <p:graphicFrame>
        <p:nvGraphicFramePr>
          <p:cNvPr id="3" name="Table 24">
            <a:extLst>
              <a:ext uri="{FF2B5EF4-FFF2-40B4-BE49-F238E27FC236}">
                <a16:creationId xmlns:a16="http://schemas.microsoft.com/office/drawing/2014/main" id="{F2F4F7A7-5A4F-062B-E30B-15ED1ACDB9C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71644032"/>
              </p:ext>
            </p:extLst>
          </p:nvPr>
        </p:nvGraphicFramePr>
        <p:xfrm>
          <a:off x="2076959" y="1988821"/>
          <a:ext cx="7851704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292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62926">
                  <a:extLst>
                    <a:ext uri="{9D8B030D-6E8A-4147-A177-3AD203B41FA5}">
                      <a16:colId xmlns:a16="http://schemas.microsoft.com/office/drawing/2014/main" val="3203679715"/>
                    </a:ext>
                  </a:extLst>
                </a:gridCol>
                <a:gridCol w="1962926">
                  <a:extLst>
                    <a:ext uri="{9D8B030D-6E8A-4147-A177-3AD203B41FA5}">
                      <a16:colId xmlns:a16="http://schemas.microsoft.com/office/drawing/2014/main" val="2797321821"/>
                    </a:ext>
                  </a:extLst>
                </a:gridCol>
                <a:gridCol w="1962926">
                  <a:extLst>
                    <a:ext uri="{9D8B030D-6E8A-4147-A177-3AD203B41FA5}">
                      <a16:colId xmlns:a16="http://schemas.microsoft.com/office/drawing/2014/main" val="2812402965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400" b="1" dirty="0" err="1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조건</a:t>
                      </a:r>
                      <a:r>
                        <a:rPr sz="14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 (</a:t>
                      </a:r>
                      <a:r>
                        <a:rPr sz="1400" b="1" dirty="0" err="1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CrossAttn</a:t>
                      </a:r>
                      <a:r>
                        <a:rPr sz="14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Matched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Unmatched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AUC </a:t>
                      </a:r>
                      <a:r>
                        <a:rPr sz="1400" b="1" dirty="0" err="1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차이</a:t>
                      </a:r>
                      <a:endParaRPr sz="14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len064 / scale_clinic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dirty="0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0.8140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0.8037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dirty="0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-0.010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85726359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400" b="1" dirty="0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len064 / </a:t>
                      </a:r>
                      <a:r>
                        <a:rPr sz="1400" b="1" dirty="0" err="1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scale_both</a:t>
                      </a:r>
                      <a:endParaRPr sz="1400" b="1" dirty="0"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dirty="0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0.8403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dirty="0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0.7683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dirty="0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-0.072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52768488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len128 / scale_clinic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0.8287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0.7989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-0.030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0302118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len128 / scale_both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0.8310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0.8151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dirty="0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-0.016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9751546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norm / scale_clinic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0.8290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0.8038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dirty="0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-0.025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193842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norm / scale_both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0.8021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0.8150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dirty="0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+0.013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112816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0298249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6E536A-4803-21C6-031C-C926001086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296B68E-8D00-4B85-E463-2EF9A164B3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 Conclusion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B47E471-CF92-A257-36E6-B4391981BD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40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F4DB6865-7EF4-26B0-2BA2-B39CE4FDE6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ko-KR" altLang="en-US" b="1" dirty="0"/>
              <a:t>최고 성능</a:t>
            </a:r>
            <a:r>
              <a:rPr lang="en-US" altLang="ko-KR" dirty="0"/>
              <a:t>: M3 </a:t>
            </a:r>
            <a:r>
              <a:rPr lang="en-US" altLang="ko-KR" dirty="0" err="1"/>
              <a:t>CrossAttn</a:t>
            </a:r>
            <a:r>
              <a:rPr lang="en-US" altLang="ko-KR" dirty="0"/>
              <a:t> (len128, </a:t>
            </a:r>
            <a:r>
              <a:rPr lang="en-US" altLang="ko-KR" dirty="0" err="1"/>
              <a:t>scale_both</a:t>
            </a:r>
            <a:r>
              <a:rPr lang="en-US" altLang="ko-KR" dirty="0"/>
              <a:t>) — Test AUC </a:t>
            </a:r>
            <a:r>
              <a:rPr lang="en-US" altLang="ko-KR" b="1" dirty="0"/>
              <a:t>0.8453</a:t>
            </a:r>
            <a:r>
              <a:rPr lang="en-US" altLang="ko-KR" dirty="0"/>
              <a:t>, Sensitivity </a:t>
            </a:r>
            <a:r>
              <a:rPr lang="en-US" altLang="ko-KR" b="1" dirty="0"/>
              <a:t>82.1%</a:t>
            </a:r>
          </a:p>
          <a:p>
            <a:r>
              <a:rPr lang="en-US" altLang="ko-KR" b="1" dirty="0"/>
              <a:t>AEC </a:t>
            </a:r>
            <a:r>
              <a:rPr lang="ko-KR" altLang="en-US" b="1" dirty="0"/>
              <a:t>유효성 확인</a:t>
            </a:r>
            <a:r>
              <a:rPr lang="en-US" altLang="ko-KR" dirty="0"/>
              <a:t>: </a:t>
            </a:r>
            <a:r>
              <a:rPr lang="en-US" altLang="ko-KR" dirty="0" err="1"/>
              <a:t>CrossAttn</a:t>
            </a:r>
            <a:r>
              <a:rPr lang="en-US" altLang="ko-KR" dirty="0"/>
              <a:t> </a:t>
            </a:r>
            <a:r>
              <a:rPr lang="ko-KR" altLang="en-US" dirty="0"/>
              <a:t>모델에 </a:t>
            </a:r>
            <a:r>
              <a:rPr lang="en-US" altLang="ko-KR" dirty="0"/>
              <a:t>AEC </a:t>
            </a:r>
            <a:r>
              <a:rPr lang="ko-KR" altLang="en-US" dirty="0"/>
              <a:t>추가 시 </a:t>
            </a:r>
            <a:r>
              <a:rPr lang="en-US" altLang="ko-KR" dirty="0"/>
              <a:t>M1 LR(0.8291) </a:t>
            </a:r>
            <a:r>
              <a:rPr lang="ko-KR" altLang="en-US" dirty="0"/>
              <a:t>대비 일관된 성능 향상</a:t>
            </a:r>
          </a:p>
          <a:p>
            <a:r>
              <a:rPr lang="ko-KR" altLang="en-US" b="1" dirty="0"/>
              <a:t>음성 대조군 시사점</a:t>
            </a:r>
            <a:r>
              <a:rPr lang="en-US" altLang="ko-KR" dirty="0"/>
              <a:t>: </a:t>
            </a:r>
            <a:r>
              <a:rPr lang="en-US" altLang="ko-KR" dirty="0" err="1"/>
              <a:t>scale_both</a:t>
            </a:r>
            <a:r>
              <a:rPr lang="en-US" altLang="ko-KR" dirty="0"/>
              <a:t> </a:t>
            </a:r>
            <a:r>
              <a:rPr lang="ko-KR" altLang="en-US" dirty="0"/>
              <a:t>조건에서 </a:t>
            </a:r>
            <a:r>
              <a:rPr lang="ko-KR" altLang="en-US" dirty="0" err="1"/>
              <a:t>셔플</a:t>
            </a:r>
            <a:r>
              <a:rPr lang="ko-KR" altLang="en-US" dirty="0"/>
              <a:t> 시 성능 하락이 더 크게 나타남 → 표준화된 </a:t>
            </a:r>
            <a:r>
              <a:rPr lang="en-US" altLang="ko-KR" dirty="0"/>
              <a:t>AEC</a:t>
            </a:r>
            <a:r>
              <a:rPr lang="ko-KR" altLang="en-US" dirty="0"/>
              <a:t>에서 순서 정보 학습 확인</a:t>
            </a:r>
          </a:p>
          <a:p>
            <a:r>
              <a:rPr lang="ko-KR" altLang="en-US" b="1" dirty="0"/>
              <a:t>제조사 </a:t>
            </a:r>
            <a:r>
              <a:rPr lang="ko-KR" altLang="en-US" b="1" dirty="0" err="1"/>
              <a:t>임베딩</a:t>
            </a:r>
            <a:r>
              <a:rPr lang="en-US" altLang="ko-KR" dirty="0"/>
              <a:t>: crop80/</a:t>
            </a:r>
            <a:r>
              <a:rPr lang="en-US" altLang="ko-KR" dirty="0" err="1"/>
              <a:t>scale_clinic</a:t>
            </a:r>
            <a:r>
              <a:rPr lang="ko-KR" altLang="en-US" dirty="0"/>
              <a:t>에서 가장 큰 효과</a:t>
            </a:r>
            <a:r>
              <a:rPr lang="en-US" altLang="ko-KR" dirty="0"/>
              <a:t>(+0.024), </a:t>
            </a:r>
            <a:r>
              <a:rPr lang="ko-KR" altLang="en-US" dirty="0"/>
              <a:t>일부 조건에서 유의미한 향상</a:t>
            </a:r>
          </a:p>
          <a:p>
            <a:r>
              <a:rPr lang="en-US" altLang="ko-KR" b="1" dirty="0"/>
              <a:t>AEC </a:t>
            </a:r>
            <a:r>
              <a:rPr lang="ko-KR" altLang="en-US" b="1" dirty="0"/>
              <a:t>길이</a:t>
            </a:r>
            <a:r>
              <a:rPr lang="en-US" altLang="ko-KR" dirty="0"/>
              <a:t>: len128</a:t>
            </a:r>
            <a:r>
              <a:rPr lang="ko-KR" altLang="en-US" dirty="0"/>
              <a:t>이 전반적으로 가장 안정적</a:t>
            </a:r>
            <a:r>
              <a:rPr lang="en-US" altLang="ko-KR" dirty="0"/>
              <a:t>, len256</a:t>
            </a:r>
            <a:r>
              <a:rPr lang="ko-KR" altLang="en-US" dirty="0"/>
              <a:t>은 추가 이득 없음</a:t>
            </a:r>
          </a:p>
          <a:p>
            <a:r>
              <a:rPr lang="en-US" altLang="ko-KR" b="1" dirty="0"/>
              <a:t>Crop </a:t>
            </a:r>
            <a:r>
              <a:rPr lang="ko-KR" altLang="en-US" b="1" dirty="0"/>
              <a:t>변형</a:t>
            </a:r>
            <a:r>
              <a:rPr lang="en-US" altLang="ko-KR" dirty="0"/>
              <a:t>: crop60/crop80</a:t>
            </a:r>
            <a:r>
              <a:rPr lang="ko-KR" altLang="en-US" dirty="0"/>
              <a:t>이 </a:t>
            </a:r>
            <a:r>
              <a:rPr lang="en-US" altLang="ko-KR" dirty="0"/>
              <a:t>len064</a:t>
            </a:r>
            <a:r>
              <a:rPr lang="ko-KR" altLang="en-US" dirty="0"/>
              <a:t>와 유사한 성능</a:t>
            </a:r>
            <a:r>
              <a:rPr lang="en-US" altLang="ko-KR" dirty="0"/>
              <a:t>, M3+crop80+clinic </a:t>
            </a:r>
            <a:r>
              <a:rPr lang="ko-KR" altLang="en-US" dirty="0"/>
              <a:t>조합이 특히 우수</a:t>
            </a:r>
          </a:p>
          <a:p>
            <a:r>
              <a:rPr lang="ko-KR" altLang="en-US" b="1" dirty="0"/>
              <a:t>스케일링</a:t>
            </a:r>
            <a:r>
              <a:rPr lang="en-US" altLang="ko-KR" dirty="0"/>
              <a:t>: </a:t>
            </a:r>
            <a:r>
              <a:rPr lang="en-US" altLang="ko-KR" dirty="0" err="1"/>
              <a:t>scale_both</a:t>
            </a:r>
            <a:r>
              <a:rPr lang="ko-KR" altLang="en-US" dirty="0"/>
              <a:t>가 </a:t>
            </a:r>
            <a:r>
              <a:rPr lang="en-US" altLang="ko-KR" dirty="0"/>
              <a:t>LR</a:t>
            </a:r>
            <a:r>
              <a:rPr lang="ko-KR" altLang="en-US" dirty="0"/>
              <a:t>에서 극명히 유리</a:t>
            </a:r>
            <a:r>
              <a:rPr lang="en-US" altLang="ko-KR" dirty="0"/>
              <a:t>; </a:t>
            </a:r>
            <a:r>
              <a:rPr lang="en-US" altLang="ko-KR" dirty="0" err="1"/>
              <a:t>CrossAttn</a:t>
            </a:r>
            <a:r>
              <a:rPr lang="ko-KR" altLang="en-US" dirty="0"/>
              <a:t>은 조건에 따라 혼재</a:t>
            </a:r>
          </a:p>
          <a:p>
            <a:r>
              <a:rPr lang="ko-KR" altLang="en-US" b="1" dirty="0"/>
              <a:t>성별 편차</a:t>
            </a:r>
            <a:r>
              <a:rPr lang="en-US" altLang="ko-KR" dirty="0"/>
              <a:t>: </a:t>
            </a:r>
            <a:r>
              <a:rPr lang="ko-KR" altLang="en-US" dirty="0"/>
              <a:t>여성 </a:t>
            </a:r>
            <a:r>
              <a:rPr lang="en-US" altLang="ko-KR" dirty="0"/>
              <a:t>AUC</a:t>
            </a:r>
            <a:r>
              <a:rPr lang="ko-KR" altLang="en-US" dirty="0"/>
              <a:t>가 지속적으로 남성보다 높음</a:t>
            </a:r>
            <a:r>
              <a:rPr lang="en-US" altLang="ko-KR" dirty="0"/>
              <a:t>; AEC </a:t>
            </a:r>
            <a:r>
              <a:rPr lang="ko-KR" altLang="en-US" dirty="0"/>
              <a:t>매칭 정보가 여성 탐지에 더 중요</a:t>
            </a:r>
          </a:p>
          <a:p>
            <a:r>
              <a:rPr lang="ko-KR" altLang="en-US" b="1" dirty="0" err="1"/>
              <a:t>극단값</a:t>
            </a:r>
            <a:r>
              <a:rPr lang="ko-KR" altLang="en-US" b="1" dirty="0"/>
              <a:t> 제외</a:t>
            </a:r>
            <a:r>
              <a:rPr lang="en-US" altLang="ko-KR" dirty="0"/>
              <a:t>: </a:t>
            </a:r>
            <a:r>
              <a:rPr lang="ko-KR" altLang="en-US" dirty="0"/>
              <a:t>표준 데이터 대비 큰 개선 없음</a:t>
            </a:r>
            <a:r>
              <a:rPr lang="en-US" altLang="ko-KR" dirty="0"/>
              <a:t>; </a:t>
            </a:r>
            <a:r>
              <a:rPr lang="ko-KR" altLang="en-US" dirty="0"/>
              <a:t>비교 시 샘플 수 차이 고려 필요</a:t>
            </a:r>
          </a:p>
        </p:txBody>
      </p:sp>
    </p:spTree>
    <p:extLst>
      <p:ext uri="{BB962C8B-B14F-4D97-AF65-F5344CB8AC3E}">
        <p14:creationId xmlns:p14="http://schemas.microsoft.com/office/powerpoint/2010/main" val="408009602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61971B-A411-510B-AAF7-A06FAF3BF3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E6906A4-DAB0-32FE-7139-718F9DA35C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5. Next Plans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9AA2BF5-4EB1-AB01-ED19-B578CCA066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41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79DFC51D-B196-0F05-C6A1-5326E06A2A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en-US" altLang="ko-KR" dirty="0"/>
              <a:t>CAM (Class Activation Map) </a:t>
            </a:r>
            <a:r>
              <a:rPr lang="ko-KR" altLang="en-US" dirty="0"/>
              <a:t>또는 </a:t>
            </a:r>
            <a:r>
              <a:rPr lang="en-US" altLang="ko-KR" b="1" dirty="0"/>
              <a:t>Attention Map </a:t>
            </a:r>
            <a:r>
              <a:rPr lang="ko-KR" altLang="en-US" b="1" dirty="0"/>
              <a:t>시각화 </a:t>
            </a:r>
            <a:r>
              <a:rPr lang="en-US" altLang="ko-KR" b="1" dirty="0"/>
              <a:t>(</a:t>
            </a:r>
            <a:r>
              <a:rPr lang="ko-KR" altLang="en-US" b="1" dirty="0"/>
              <a:t>해석가능성</a:t>
            </a:r>
            <a:r>
              <a:rPr lang="en-US" altLang="ko-KR" b="1" dirty="0"/>
              <a:t>)</a:t>
            </a:r>
          </a:p>
          <a:p>
            <a:pPr lvl="1"/>
            <a:r>
              <a:rPr lang="en-US" altLang="ko-KR" dirty="0" err="1"/>
              <a:t>CrossAttn</a:t>
            </a:r>
            <a:r>
              <a:rPr lang="ko-KR" altLang="en-US" dirty="0"/>
              <a:t>이 </a:t>
            </a:r>
            <a:r>
              <a:rPr lang="en-US" altLang="ko-KR" dirty="0"/>
              <a:t>AEC </a:t>
            </a:r>
            <a:r>
              <a:rPr lang="ko-KR" altLang="en-US" dirty="0"/>
              <a:t>커브의 어느 구간</a:t>
            </a:r>
            <a:r>
              <a:rPr lang="en-US" altLang="ko-KR" dirty="0"/>
              <a:t>(time point)</a:t>
            </a:r>
            <a:r>
              <a:rPr lang="ko-KR" altLang="en-US" dirty="0"/>
              <a:t>에 주목하는지</a:t>
            </a:r>
            <a:r>
              <a:rPr lang="en-US" altLang="ko-KR" dirty="0"/>
              <a:t>, </a:t>
            </a:r>
            <a:r>
              <a:rPr lang="ko-KR" altLang="en-US" dirty="0"/>
              <a:t>어떤 </a:t>
            </a:r>
            <a:r>
              <a:rPr lang="en-US" altLang="ko-KR" dirty="0"/>
              <a:t>clinical feature</a:t>
            </a:r>
            <a:r>
              <a:rPr lang="ko-KR" altLang="en-US" dirty="0"/>
              <a:t>가 </a:t>
            </a:r>
            <a:r>
              <a:rPr lang="en-US" altLang="ko-KR" dirty="0"/>
              <a:t>AEC</a:t>
            </a:r>
            <a:r>
              <a:rPr lang="ko-KR" altLang="en-US" dirty="0"/>
              <a:t>와 강하게 </a:t>
            </a:r>
            <a:r>
              <a:rPr lang="en-US" altLang="ko-KR" dirty="0"/>
              <a:t>interact</a:t>
            </a:r>
            <a:r>
              <a:rPr lang="ko-KR" altLang="en-US" dirty="0"/>
              <a:t>하는지 </a:t>
            </a:r>
            <a:r>
              <a:rPr lang="ko-KR" altLang="en-US" dirty="0" err="1"/>
              <a:t>히트맵으로</a:t>
            </a:r>
            <a:r>
              <a:rPr lang="ko-KR" altLang="en-US" dirty="0"/>
              <a:t> 시각화</a:t>
            </a:r>
            <a:r>
              <a:rPr lang="en-US" altLang="ko-KR" dirty="0"/>
              <a:t>. </a:t>
            </a:r>
            <a:r>
              <a:rPr lang="ko-KR" altLang="en-US" dirty="0"/>
              <a:t>논문에서 가장 강한 설명력 근거가 됨</a:t>
            </a:r>
            <a:r>
              <a:rPr lang="en-US" altLang="ko-KR" dirty="0"/>
              <a:t>.</a:t>
            </a:r>
            <a:endParaRPr lang="ko-KR" altLang="en-US" dirty="0"/>
          </a:p>
          <a:p>
            <a:pPr marL="457200" indent="-457200">
              <a:buFont typeface="+mj-lt"/>
              <a:buAutoNum type="arabicPeriod"/>
            </a:pPr>
            <a:r>
              <a:rPr lang="ko-KR" altLang="en-US" b="1" dirty="0"/>
              <a:t>성별 분리 모델 </a:t>
            </a:r>
            <a:r>
              <a:rPr lang="en-US" altLang="ko-KR" b="1" dirty="0"/>
              <a:t>(Sex-Stratified)</a:t>
            </a:r>
          </a:p>
          <a:p>
            <a:pPr lvl="1"/>
            <a:r>
              <a:rPr lang="ko-KR" altLang="en-US" dirty="0"/>
              <a:t>현재 결과에서 남성</a:t>
            </a:r>
            <a:r>
              <a:rPr lang="en-US" altLang="ko-KR" dirty="0"/>
              <a:t>/</a:t>
            </a:r>
            <a:r>
              <a:rPr lang="ko-KR" altLang="en-US" dirty="0"/>
              <a:t>여성 </a:t>
            </a:r>
            <a:r>
              <a:rPr lang="en-US" altLang="ko-KR" dirty="0"/>
              <a:t>AUC </a:t>
            </a:r>
            <a:r>
              <a:rPr lang="ko-KR" altLang="en-US"/>
              <a:t>격차가 뚜렷함</a:t>
            </a:r>
            <a:endParaRPr lang="en-US" altLang="ko-KR" b="1" dirty="0"/>
          </a:p>
          <a:p>
            <a:pPr marL="457200" indent="-457200">
              <a:buFont typeface="+mj-lt"/>
              <a:buAutoNum type="arabicPeriod"/>
            </a:pPr>
            <a:r>
              <a:rPr lang="ko-KR" altLang="en-US" b="1" dirty="0"/>
              <a:t>외부 병원 데이터 검증 </a:t>
            </a:r>
            <a:r>
              <a:rPr lang="en-US" altLang="ko-KR" b="1" dirty="0"/>
              <a:t>(</a:t>
            </a:r>
            <a:r>
              <a:rPr lang="ko-KR" altLang="en-US" b="1" dirty="0"/>
              <a:t>신촌</a:t>
            </a:r>
            <a:r>
              <a:rPr lang="en-US" altLang="ko-KR" b="1" dirty="0"/>
              <a:t>)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82399069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7CF411-B8E3-4358-7C03-05B3D7D9CB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A1CA780-1AFE-4D5C-C649-F16BD7540A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000" y="2896658"/>
            <a:ext cx="11176000" cy="532342"/>
          </a:xfrm>
        </p:spPr>
        <p:txBody>
          <a:bodyPr>
            <a:noAutofit/>
          </a:bodyPr>
          <a:lstStyle/>
          <a:p>
            <a:r>
              <a:rPr lang="en-US" altLang="ko-KR" sz="4000" dirty="0">
                <a:latin typeface="KoPub돋움체 Bold" panose="00000800000000000000" pitchFamily="2" charset="-127"/>
                <a:ea typeface="KoPub돋움체 Bold" panose="00000800000000000000" pitchFamily="2" charset="-127"/>
                <a:cs typeface="KoPubWorld돋움체 Bold" panose="00000800000000000000" pitchFamily="2" charset="-127"/>
              </a:rPr>
              <a:t>Appendix</a:t>
            </a:r>
            <a:endParaRPr lang="ko-KR" altLang="en-US" sz="4000" dirty="0">
              <a:latin typeface="KoPub돋움체 Bold" panose="00000800000000000000" pitchFamily="2" charset="-127"/>
              <a:ea typeface="KoPub돋움체 Bold" panose="00000800000000000000" pitchFamily="2" charset="-127"/>
              <a:cs typeface="KoPubWorld돋움체 Bold" panose="00000800000000000000" pitchFamily="2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50DECB5-9110-F218-7F26-36CDDADB28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42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41425246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365760" y="246888"/>
            <a:ext cx="114604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64F78"/>
                </a:solidFill>
              </a:rPr>
              <a:t>Model 1 — Clinic Only (Age, Sex, BMI) | scale_clinic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68908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7F7F7F"/>
                </a:solidFill>
              </a:rPr>
              <a:t>43</a:t>
            </a:r>
          </a:p>
        </p:txBody>
      </p:sp>
      <p:pic>
        <p:nvPicPr>
          <p:cNvPr id="5" name="Picture 4" descr="test_roc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4536" y="795527"/>
            <a:ext cx="3624164" cy="278576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20038" y="594359"/>
            <a:ext cx="5730241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1F4E79"/>
                </a:solidFill>
              </a:rPr>
              <a:t>M1 | Test ROC</a:t>
            </a:r>
          </a:p>
        </p:txBody>
      </p:sp>
      <p:pic>
        <p:nvPicPr>
          <p:cNvPr id="7" name="Picture 6" descr="test_roc_by_se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92302" y="795527"/>
            <a:ext cx="6279658" cy="278576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592302" y="594359"/>
            <a:ext cx="627965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1F4E79"/>
                </a:solidFill>
              </a:rPr>
              <a:t>M1 | ROC by Sex</a:t>
            </a:r>
          </a:p>
        </p:txBody>
      </p:sp>
      <p:pic>
        <p:nvPicPr>
          <p:cNvPr id="9" name="Picture 8" descr="confusion_matric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931" y="3782457"/>
            <a:ext cx="4864826" cy="278576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20040" y="3581289"/>
            <a:ext cx="573024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1F4E79"/>
                </a:solidFill>
              </a:rPr>
              <a:t>M1 | Confusion</a:t>
            </a:r>
          </a:p>
        </p:txBody>
      </p:sp>
      <p:pic>
        <p:nvPicPr>
          <p:cNvPr id="11" name="Picture 10" descr="calibrati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92302" y="3782457"/>
            <a:ext cx="6279658" cy="2785763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592302" y="3581289"/>
            <a:ext cx="627965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1F4E79"/>
                </a:solidFill>
              </a:rPr>
              <a:t>M1 | Calibration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365760" y="246888"/>
            <a:ext cx="114604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 dirty="0">
                <a:solidFill>
                  <a:srgbClr val="264F78"/>
                </a:solidFill>
              </a:rPr>
              <a:t>AEC Variant: </a:t>
            </a:r>
            <a:r>
              <a:rPr sz="1300" b="1" dirty="0" err="1">
                <a:solidFill>
                  <a:srgbClr val="264F78"/>
                </a:solidFill>
              </a:rPr>
              <a:t>len</a:t>
            </a:r>
            <a:r>
              <a:rPr sz="1300" b="1" dirty="0">
                <a:solidFill>
                  <a:srgbClr val="264F78"/>
                </a:solidFill>
              </a:rPr>
              <a:t>=64 — Test ROC &amp; Confusion (M2 / M2_2 / M3, </a:t>
            </a:r>
            <a:r>
              <a:rPr sz="1300" b="1" dirty="0" err="1">
                <a:solidFill>
                  <a:srgbClr val="264F78"/>
                </a:solidFill>
              </a:rPr>
              <a:t>scale_both</a:t>
            </a:r>
            <a:r>
              <a:rPr sz="1300" b="1" dirty="0">
                <a:solidFill>
                  <a:srgbClr val="264F78"/>
                </a:solidFill>
              </a:rPr>
              <a:t>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68908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7F7F7F"/>
                </a:solidFill>
              </a:rPr>
              <a:t>44</a:t>
            </a:r>
          </a:p>
        </p:txBody>
      </p: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EBD10521-BE85-2B27-FB8C-D4020181E63B}"/>
              </a:ext>
            </a:extLst>
          </p:cNvPr>
          <p:cNvGrpSpPr/>
          <p:nvPr/>
        </p:nvGrpSpPr>
        <p:grpSpPr>
          <a:xfrm>
            <a:off x="1297578" y="594359"/>
            <a:ext cx="3341914" cy="6190489"/>
            <a:chOff x="1297578" y="594359"/>
            <a:chExt cx="3341914" cy="6190489"/>
          </a:xfrm>
        </p:grpSpPr>
        <p:pic>
          <p:nvPicPr>
            <p:cNvPr id="5" name="Picture 4" descr="test_roc_curves.pn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600745" y="796153"/>
              <a:ext cx="2735581" cy="1881061"/>
            </a:xfrm>
            <a:prstGeom prst="rect">
              <a:avLst/>
            </a:prstGeom>
          </p:spPr>
        </p:pic>
        <p:sp>
          <p:nvSpPr>
            <p:cNvPr id="6" name="TextBox 5"/>
            <p:cNvSpPr txBox="1"/>
            <p:nvPr/>
          </p:nvSpPr>
          <p:spPr>
            <a:xfrm>
              <a:off x="1297578" y="594359"/>
              <a:ext cx="3341914" cy="2308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900" b="1">
                  <a:solidFill>
                    <a:srgbClr val="1F4E79"/>
                  </a:solidFill>
                </a:rPr>
                <a:t>M2 | ROC (scale_both)</a:t>
              </a:r>
            </a:p>
          </p:txBody>
        </p:sp>
        <p:pic>
          <p:nvPicPr>
            <p:cNvPr id="9" name="Picture 8" descr="test_roc_curves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600745" y="2849970"/>
              <a:ext cx="2735580" cy="1881061"/>
            </a:xfrm>
            <a:prstGeom prst="rect">
              <a:avLst/>
            </a:prstGeom>
          </p:spPr>
        </p:pic>
        <p:sp>
          <p:nvSpPr>
            <p:cNvPr id="10" name="TextBox 9"/>
            <p:cNvSpPr txBox="1"/>
            <p:nvPr/>
          </p:nvSpPr>
          <p:spPr>
            <a:xfrm>
              <a:off x="1297578" y="2648176"/>
              <a:ext cx="3341914" cy="2308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900" b="1">
                  <a:solidFill>
                    <a:srgbClr val="1F4E79"/>
                  </a:solidFill>
                </a:rPr>
                <a:t>M2_2 | ROC (scale_both)</a:t>
              </a:r>
            </a:p>
          </p:txBody>
        </p:sp>
        <p:pic>
          <p:nvPicPr>
            <p:cNvPr id="13" name="Picture 12" descr="test_roc_curves.pn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600745" y="4903787"/>
              <a:ext cx="2735580" cy="1881061"/>
            </a:xfrm>
            <a:prstGeom prst="rect">
              <a:avLst/>
            </a:prstGeom>
          </p:spPr>
        </p:pic>
        <p:sp>
          <p:nvSpPr>
            <p:cNvPr id="14" name="TextBox 13"/>
            <p:cNvSpPr txBox="1"/>
            <p:nvPr/>
          </p:nvSpPr>
          <p:spPr>
            <a:xfrm>
              <a:off x="1297578" y="4701993"/>
              <a:ext cx="3341914" cy="2308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900" b="1">
                  <a:solidFill>
                    <a:srgbClr val="1F4E79"/>
                  </a:solidFill>
                </a:rPr>
                <a:t>M3 | ROC (scale_both)</a:t>
              </a:r>
            </a:p>
          </p:txBody>
        </p:sp>
      </p:grp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88D133C3-A2EC-07F0-EFB6-18E3C94E078E}"/>
              </a:ext>
            </a:extLst>
          </p:cNvPr>
          <p:cNvGrpSpPr/>
          <p:nvPr/>
        </p:nvGrpSpPr>
        <p:grpSpPr>
          <a:xfrm>
            <a:off x="6815330" y="590449"/>
            <a:ext cx="3829811" cy="6194399"/>
            <a:chOff x="6815330" y="590449"/>
            <a:chExt cx="3829811" cy="6194399"/>
          </a:xfrm>
        </p:grpSpPr>
        <p:pic>
          <p:nvPicPr>
            <p:cNvPr id="7" name="Picture 6" descr="confusion_matrices.png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815330" y="795527"/>
              <a:ext cx="3829811" cy="1881061"/>
            </a:xfrm>
            <a:prstGeom prst="rect">
              <a:avLst/>
            </a:prstGeom>
          </p:spPr>
        </p:pic>
        <p:sp>
          <p:nvSpPr>
            <p:cNvPr id="8" name="TextBox 7"/>
            <p:cNvSpPr txBox="1"/>
            <p:nvPr/>
          </p:nvSpPr>
          <p:spPr>
            <a:xfrm>
              <a:off x="7498648" y="590449"/>
              <a:ext cx="2463174" cy="2308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900" b="1" dirty="0">
                  <a:solidFill>
                    <a:srgbClr val="1F4E79"/>
                  </a:solidFill>
                </a:rPr>
                <a:t>M2 | Conf (</a:t>
              </a:r>
              <a:r>
                <a:rPr sz="900" b="1" dirty="0" err="1">
                  <a:solidFill>
                    <a:srgbClr val="1F4E79"/>
                  </a:solidFill>
                </a:rPr>
                <a:t>scale_both</a:t>
              </a:r>
              <a:r>
                <a:rPr sz="900" b="1" dirty="0">
                  <a:solidFill>
                    <a:srgbClr val="1F4E79"/>
                  </a:solidFill>
                </a:rPr>
                <a:t>)</a:t>
              </a:r>
            </a:p>
          </p:txBody>
        </p:sp>
        <p:pic>
          <p:nvPicPr>
            <p:cNvPr id="11" name="Picture 10" descr="confusion_matrices.png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815330" y="2849970"/>
              <a:ext cx="3829811" cy="1881061"/>
            </a:xfrm>
            <a:prstGeom prst="rect">
              <a:avLst/>
            </a:prstGeom>
          </p:spPr>
        </p:pic>
        <p:sp>
          <p:nvSpPr>
            <p:cNvPr id="12" name="TextBox 11"/>
            <p:cNvSpPr txBox="1"/>
            <p:nvPr/>
          </p:nvSpPr>
          <p:spPr>
            <a:xfrm>
              <a:off x="7498648" y="2648176"/>
              <a:ext cx="2463174" cy="2308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900" b="1" dirty="0">
                  <a:solidFill>
                    <a:srgbClr val="1F4E79"/>
                  </a:solidFill>
                </a:rPr>
                <a:t>M2_2 | Conf (</a:t>
              </a:r>
              <a:r>
                <a:rPr sz="900" b="1" dirty="0" err="1">
                  <a:solidFill>
                    <a:srgbClr val="1F4E79"/>
                  </a:solidFill>
                </a:rPr>
                <a:t>scale_both</a:t>
              </a:r>
              <a:r>
                <a:rPr sz="900" b="1" dirty="0">
                  <a:solidFill>
                    <a:srgbClr val="1F4E79"/>
                  </a:solidFill>
                </a:rPr>
                <a:t>)</a:t>
              </a:r>
            </a:p>
          </p:txBody>
        </p:sp>
        <p:pic>
          <p:nvPicPr>
            <p:cNvPr id="15" name="Picture 14" descr="confusion_matrices.png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815330" y="4903787"/>
              <a:ext cx="3829811" cy="1881061"/>
            </a:xfrm>
            <a:prstGeom prst="rect">
              <a:avLst/>
            </a:prstGeom>
          </p:spPr>
        </p:pic>
        <p:sp>
          <p:nvSpPr>
            <p:cNvPr id="16" name="TextBox 15"/>
            <p:cNvSpPr txBox="1"/>
            <p:nvPr/>
          </p:nvSpPr>
          <p:spPr>
            <a:xfrm>
              <a:off x="7498648" y="4701993"/>
              <a:ext cx="2463174" cy="2308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900" b="1" dirty="0">
                  <a:solidFill>
                    <a:srgbClr val="1F4E79"/>
                  </a:solidFill>
                </a:rPr>
                <a:t>M3 | Conf (</a:t>
              </a:r>
              <a:r>
                <a:rPr sz="900" b="1" dirty="0" err="1">
                  <a:solidFill>
                    <a:srgbClr val="1F4E79"/>
                  </a:solidFill>
                </a:rPr>
                <a:t>scale_both</a:t>
              </a:r>
              <a:r>
                <a:rPr sz="900" b="1" dirty="0">
                  <a:solidFill>
                    <a:srgbClr val="1F4E79"/>
                  </a:solidFill>
                </a:rPr>
                <a:t>)</a:t>
              </a:r>
            </a:p>
          </p:txBody>
        </p:sp>
      </p:grp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164592"/>
            <a:ext cx="11460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1F4E79"/>
                </a:solidFill>
              </a:rPr>
              <a:t>3. Detailed progress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530352"/>
            <a:ext cx="114604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64F78"/>
                </a:solidFill>
              </a:rPr>
              <a:t>AEC Variant: len=128 — Test ROC &amp; Confusion (M2 / M2_2 / M3, scale_both)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68908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7F7F7F"/>
                </a:solidFill>
              </a:rPr>
              <a:t>45</a:t>
            </a:r>
          </a:p>
        </p:txBody>
      </p:sp>
      <p:pic>
        <p:nvPicPr>
          <p:cNvPr id="5" name="Picture 4" descr="test_roc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7711" y="1097280"/>
            <a:ext cx="2807450" cy="16642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20040" y="896112"/>
            <a:ext cx="57302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1F4E79"/>
                </a:solidFill>
              </a:rPr>
              <a:t>M2 | ROC (scale_both)</a:t>
            </a:r>
          </a:p>
        </p:txBody>
      </p:sp>
      <p:pic>
        <p:nvPicPr>
          <p:cNvPr id="7" name="Picture 6" descr="confusion_matric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76802" y="1124712"/>
            <a:ext cx="3860075" cy="160934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141720" y="896112"/>
            <a:ext cx="57302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1F4E79"/>
                </a:solidFill>
              </a:rPr>
              <a:t>M2 | Conf (scale_both)</a:t>
            </a:r>
          </a:p>
        </p:txBody>
      </p:sp>
      <p:pic>
        <p:nvPicPr>
          <p:cNvPr id="9" name="Picture 8" descr="test_roc_curv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7711" y="3079351"/>
            <a:ext cx="2808015" cy="174868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20040" y="2850751"/>
            <a:ext cx="57302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 dirty="0">
                <a:solidFill>
                  <a:srgbClr val="1F4E79"/>
                </a:solidFill>
              </a:rPr>
              <a:t>M2_2 | ROC (</a:t>
            </a:r>
            <a:r>
              <a:rPr sz="900" b="1" dirty="0" err="1">
                <a:solidFill>
                  <a:srgbClr val="1F4E79"/>
                </a:solidFill>
              </a:rPr>
              <a:t>scale_both</a:t>
            </a:r>
            <a:r>
              <a:rPr sz="900" b="1" dirty="0">
                <a:solidFill>
                  <a:srgbClr val="1F4E79"/>
                </a:solidFill>
              </a:rPr>
              <a:t>)</a:t>
            </a:r>
          </a:p>
        </p:txBody>
      </p:sp>
      <p:pic>
        <p:nvPicPr>
          <p:cNvPr id="11" name="Picture 10" descr="confusion_matric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76802" y="3149019"/>
            <a:ext cx="3860075" cy="16093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141720" y="2848791"/>
            <a:ext cx="57302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1F4E79"/>
                </a:solidFill>
              </a:rPr>
              <a:t>M2_2 | Conf (scale_both)</a:t>
            </a:r>
          </a:p>
        </p:txBody>
      </p:sp>
      <p:pic>
        <p:nvPicPr>
          <p:cNvPr id="13" name="Picture 12" descr="test_roc_curve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7710" y="5084064"/>
            <a:ext cx="2807451" cy="160934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20040" y="4809744"/>
            <a:ext cx="57302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 dirty="0">
                <a:solidFill>
                  <a:srgbClr val="1F4E79"/>
                </a:solidFill>
              </a:rPr>
              <a:t>M3 | ROC (</a:t>
            </a:r>
            <a:r>
              <a:rPr sz="900" b="1" dirty="0" err="1">
                <a:solidFill>
                  <a:srgbClr val="1F4E79"/>
                </a:solidFill>
              </a:rPr>
              <a:t>scale_both</a:t>
            </a:r>
            <a:r>
              <a:rPr sz="900" b="1" dirty="0">
                <a:solidFill>
                  <a:srgbClr val="1F4E79"/>
                </a:solidFill>
              </a:rPr>
              <a:t>)</a:t>
            </a:r>
          </a:p>
        </p:txBody>
      </p:sp>
      <p:pic>
        <p:nvPicPr>
          <p:cNvPr id="15" name="Picture 14" descr="confusion_matrice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76803" y="5084064"/>
            <a:ext cx="3860074" cy="160934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141720" y="4809744"/>
            <a:ext cx="57302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1F4E79"/>
                </a:solidFill>
              </a:rPr>
              <a:t>M3 | Conf (scale_both)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164592"/>
            <a:ext cx="11460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1F4E79"/>
                </a:solidFill>
              </a:rPr>
              <a:t>3. Detailed progress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530352"/>
            <a:ext cx="114604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64F78"/>
                </a:solidFill>
              </a:rPr>
              <a:t>AEC Variant: len=256 — Test ROC &amp; Confusion (M2 / M2_2 / M3, scale_both)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68908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7F7F7F"/>
                </a:solidFill>
              </a:rPr>
              <a:t>46</a:t>
            </a:r>
          </a:p>
        </p:txBody>
      </p:sp>
      <p:pic>
        <p:nvPicPr>
          <p:cNvPr id="5" name="Picture 4" descr="test_roc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9003" y="1097280"/>
            <a:ext cx="2732314" cy="160934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20040" y="896112"/>
            <a:ext cx="57302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1F4E79"/>
                </a:solidFill>
              </a:rPr>
              <a:t>M2 | ROC (scale_both)</a:t>
            </a:r>
          </a:p>
        </p:txBody>
      </p:sp>
      <p:pic>
        <p:nvPicPr>
          <p:cNvPr id="7" name="Picture 6" descr="confusion_matric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88530" y="1097280"/>
            <a:ext cx="3436619" cy="160934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141720" y="896112"/>
            <a:ext cx="57302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1F4E79"/>
                </a:solidFill>
              </a:rPr>
              <a:t>M2 | Conf (scale_both)</a:t>
            </a:r>
          </a:p>
        </p:txBody>
      </p:sp>
      <p:pic>
        <p:nvPicPr>
          <p:cNvPr id="9" name="Picture 8" descr="test_roc_curv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19003" y="2962656"/>
            <a:ext cx="2732314" cy="16093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20040" y="2761488"/>
            <a:ext cx="57302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1F4E79"/>
                </a:solidFill>
              </a:rPr>
              <a:t>M2_2 | ROC (scale_both)</a:t>
            </a:r>
          </a:p>
        </p:txBody>
      </p:sp>
      <p:pic>
        <p:nvPicPr>
          <p:cNvPr id="11" name="Picture 10" descr="confusion_matric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88530" y="2962656"/>
            <a:ext cx="3436619" cy="16093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141720" y="2761488"/>
            <a:ext cx="57302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1F4E79"/>
                </a:solidFill>
              </a:rPr>
              <a:t>M2_2 | Conf (scale_both)</a:t>
            </a:r>
          </a:p>
        </p:txBody>
      </p:sp>
      <p:pic>
        <p:nvPicPr>
          <p:cNvPr id="13" name="Picture 12" descr="test_roc_curve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19002" y="4828032"/>
            <a:ext cx="2732315" cy="160934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20040" y="4626864"/>
            <a:ext cx="57302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1F4E79"/>
                </a:solidFill>
              </a:rPr>
              <a:t>M3 | ROC (scale_both)</a:t>
            </a:r>
          </a:p>
        </p:txBody>
      </p:sp>
      <p:pic>
        <p:nvPicPr>
          <p:cNvPr id="15" name="Picture 14" descr="confusion_matrice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88530" y="4828032"/>
            <a:ext cx="3436619" cy="160934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141720" y="4626864"/>
            <a:ext cx="57302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1F4E79"/>
                </a:solidFill>
              </a:rPr>
              <a:t>M3 | Conf (scale_both)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164592"/>
            <a:ext cx="11460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1F4E79"/>
                </a:solidFill>
              </a:rPr>
              <a:t>3. Detailed progress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530352"/>
            <a:ext cx="114604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64F78"/>
                </a:solidFill>
              </a:rPr>
              <a:t>AEC Variant: Crop 60% — Test ROC &amp; Confusion (M2 / M2_2 / M3, scale_both)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68908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7F7F7F"/>
                </a:solidFill>
              </a:rPr>
              <a:t>47</a:t>
            </a:r>
          </a:p>
        </p:txBody>
      </p:sp>
      <p:pic>
        <p:nvPicPr>
          <p:cNvPr id="5" name="Picture 4" descr="test_roc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2545" y="1097280"/>
            <a:ext cx="2645229" cy="160934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20040" y="896112"/>
            <a:ext cx="57302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1F4E79"/>
                </a:solidFill>
              </a:rPr>
              <a:t>M2 | ROC (scale_both)</a:t>
            </a:r>
          </a:p>
        </p:txBody>
      </p:sp>
      <p:pic>
        <p:nvPicPr>
          <p:cNvPr id="7" name="Picture 6" descr="confusion_matric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56416" y="1097280"/>
            <a:ext cx="3500847" cy="160934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141720" y="896112"/>
            <a:ext cx="57302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1F4E79"/>
                </a:solidFill>
              </a:rPr>
              <a:t>M2 | Conf (scale_both)</a:t>
            </a:r>
          </a:p>
        </p:txBody>
      </p:sp>
      <p:pic>
        <p:nvPicPr>
          <p:cNvPr id="9" name="Picture 8" descr="test_roc_curv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62545" y="2962656"/>
            <a:ext cx="2645229" cy="16093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20040" y="2761488"/>
            <a:ext cx="57302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1F4E79"/>
                </a:solidFill>
              </a:rPr>
              <a:t>M2_2 | ROC (scale_both)</a:t>
            </a:r>
          </a:p>
        </p:txBody>
      </p:sp>
      <p:pic>
        <p:nvPicPr>
          <p:cNvPr id="11" name="Picture 10" descr="confusion_matric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56416" y="2962656"/>
            <a:ext cx="3500847" cy="16093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141720" y="2761488"/>
            <a:ext cx="57302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1F4E79"/>
                </a:solidFill>
              </a:rPr>
              <a:t>M2_2 | Conf (scale_both)</a:t>
            </a:r>
          </a:p>
        </p:txBody>
      </p:sp>
      <p:pic>
        <p:nvPicPr>
          <p:cNvPr id="13" name="Picture 12" descr="test_roc_curve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62545" y="4828032"/>
            <a:ext cx="2645230" cy="160934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20040" y="4626864"/>
            <a:ext cx="57302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1F4E79"/>
                </a:solidFill>
              </a:rPr>
              <a:t>M3 | ROC (scale_both)</a:t>
            </a:r>
          </a:p>
        </p:txBody>
      </p:sp>
      <p:pic>
        <p:nvPicPr>
          <p:cNvPr id="15" name="Picture 14" descr="confusion_matrice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56416" y="4828032"/>
            <a:ext cx="3500847" cy="160934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141720" y="4626864"/>
            <a:ext cx="57302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1F4E79"/>
                </a:solidFill>
              </a:rPr>
              <a:t>M3 | Conf (scale_both)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164592"/>
            <a:ext cx="11460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1F4E79"/>
                </a:solidFill>
              </a:rPr>
              <a:t>3. Detailed progress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530352"/>
            <a:ext cx="114604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64F78"/>
                </a:solidFill>
              </a:rPr>
              <a:t>AEC Variant: Crop 80% — Test ROC &amp; Confusion (M2 / M2_2 / M3, scale_both)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68908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7F7F7F"/>
                </a:solidFill>
              </a:rPr>
              <a:t>48</a:t>
            </a:r>
          </a:p>
        </p:txBody>
      </p:sp>
      <p:pic>
        <p:nvPicPr>
          <p:cNvPr id="5" name="Picture 4" descr="test_roc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5608" y="1097280"/>
            <a:ext cx="2619103" cy="160934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20040" y="896112"/>
            <a:ext cx="57302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1F4E79"/>
                </a:solidFill>
              </a:rPr>
              <a:t>M2 | ROC (scale_both)</a:t>
            </a:r>
          </a:p>
        </p:txBody>
      </p:sp>
      <p:pic>
        <p:nvPicPr>
          <p:cNvPr id="7" name="Picture 6" descr="confusion_matric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4848" y="1097280"/>
            <a:ext cx="3563983" cy="160934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141720" y="896112"/>
            <a:ext cx="57302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1F4E79"/>
                </a:solidFill>
              </a:rPr>
              <a:t>M2 | Conf (scale_both)</a:t>
            </a:r>
          </a:p>
        </p:txBody>
      </p:sp>
      <p:pic>
        <p:nvPicPr>
          <p:cNvPr id="9" name="Picture 8" descr="test_roc_curv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75608" y="2962656"/>
            <a:ext cx="2619103" cy="16093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20040" y="2761488"/>
            <a:ext cx="57302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1F4E79"/>
                </a:solidFill>
              </a:rPr>
              <a:t>M2_2 | ROC (scale_both)</a:t>
            </a:r>
          </a:p>
        </p:txBody>
      </p:sp>
      <p:pic>
        <p:nvPicPr>
          <p:cNvPr id="11" name="Picture 10" descr="confusion_matric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24848" y="2962656"/>
            <a:ext cx="3563983" cy="16093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141720" y="2761488"/>
            <a:ext cx="57302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1F4E79"/>
                </a:solidFill>
              </a:rPr>
              <a:t>M2_2 | Conf (scale_both)</a:t>
            </a:r>
          </a:p>
        </p:txBody>
      </p:sp>
      <p:pic>
        <p:nvPicPr>
          <p:cNvPr id="13" name="Picture 12" descr="test_roc_curve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75608" y="4828032"/>
            <a:ext cx="2619103" cy="160934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20040" y="4626864"/>
            <a:ext cx="57302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1F4E79"/>
                </a:solidFill>
              </a:rPr>
              <a:t>M3 | ROC (scale_both)</a:t>
            </a:r>
          </a:p>
        </p:txBody>
      </p:sp>
      <p:pic>
        <p:nvPicPr>
          <p:cNvPr id="15" name="Picture 14" descr="confusion_matrice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24848" y="4828032"/>
            <a:ext cx="3563983" cy="160934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141720" y="4626864"/>
            <a:ext cx="57302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1F4E79"/>
                </a:solidFill>
              </a:rPr>
              <a:t>M3 | Conf (scale_both)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164592"/>
            <a:ext cx="11460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1F4E79"/>
                </a:solidFill>
              </a:rPr>
              <a:t>3. Detailed progress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530352"/>
            <a:ext cx="114604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64F78"/>
                </a:solidFill>
              </a:rPr>
              <a:t>AEC Variant: Z-Score Norm — Test ROC &amp; Confusion (M2 / M2_2 / M3, scale_both)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68908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7F7F7F"/>
                </a:solidFill>
              </a:rPr>
              <a:t>49</a:t>
            </a:r>
          </a:p>
        </p:txBody>
      </p:sp>
      <p:pic>
        <p:nvPicPr>
          <p:cNvPr id="5" name="Picture 4" descr="test_roc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5608" y="1097280"/>
            <a:ext cx="2619103" cy="160934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20040" y="896112"/>
            <a:ext cx="57302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1F4E79"/>
                </a:solidFill>
              </a:rPr>
              <a:t>M2 | ROC (scale_both)</a:t>
            </a:r>
          </a:p>
        </p:txBody>
      </p:sp>
      <p:pic>
        <p:nvPicPr>
          <p:cNvPr id="7" name="Picture 6" descr="confusion_matric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59534" y="1097280"/>
            <a:ext cx="3694611" cy="160934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141720" y="896112"/>
            <a:ext cx="57302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1F4E79"/>
                </a:solidFill>
              </a:rPr>
              <a:t>M2 | Conf (scale_both)</a:t>
            </a:r>
          </a:p>
        </p:txBody>
      </p:sp>
      <p:pic>
        <p:nvPicPr>
          <p:cNvPr id="9" name="Picture 8" descr="test_roc_curv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75608" y="2962656"/>
            <a:ext cx="2619103" cy="16093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20040" y="2761488"/>
            <a:ext cx="57302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1F4E79"/>
                </a:solidFill>
              </a:rPr>
              <a:t>M2_2 | ROC (scale_both)</a:t>
            </a:r>
          </a:p>
        </p:txBody>
      </p:sp>
      <p:pic>
        <p:nvPicPr>
          <p:cNvPr id="11" name="Picture 10" descr="confusion_matric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59534" y="2962656"/>
            <a:ext cx="3694611" cy="16093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141720" y="2761488"/>
            <a:ext cx="57302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1F4E79"/>
                </a:solidFill>
              </a:rPr>
              <a:t>M2_2 | Conf (scale_both)</a:t>
            </a:r>
          </a:p>
        </p:txBody>
      </p:sp>
      <p:pic>
        <p:nvPicPr>
          <p:cNvPr id="13" name="Picture 12" descr="test_roc_curve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75608" y="4828032"/>
            <a:ext cx="2619103" cy="160934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20040" y="4626864"/>
            <a:ext cx="57302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1F4E79"/>
                </a:solidFill>
              </a:rPr>
              <a:t>M3 | ROC (scale_both)</a:t>
            </a:r>
          </a:p>
        </p:txBody>
      </p:sp>
      <p:pic>
        <p:nvPicPr>
          <p:cNvPr id="15" name="Picture 14" descr="confusion_matrice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59534" y="4828032"/>
            <a:ext cx="3694611" cy="160934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141720" y="4626864"/>
            <a:ext cx="57302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1F4E79"/>
                </a:solidFill>
              </a:rPr>
              <a:t>M3 | Conf (scale_both)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164592"/>
            <a:ext cx="11460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1F4E79"/>
                </a:solidFill>
              </a:rPr>
              <a:t>3. Detailed progress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530352"/>
            <a:ext cx="114604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64F78"/>
                </a:solidFill>
              </a:rPr>
              <a:t>AEC Variant: Excl. Extreme — Test ROC &amp; Confusion (M2 / M2_2 / M3, scale_both)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68908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7F7F7F"/>
                </a:solidFill>
              </a:rPr>
              <a:t>50</a:t>
            </a:r>
          </a:p>
        </p:txBody>
      </p:sp>
      <p:pic>
        <p:nvPicPr>
          <p:cNvPr id="5" name="Picture 4" descr="test_roc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6271" y="1097280"/>
            <a:ext cx="2897777" cy="160934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20040" y="896112"/>
            <a:ext cx="57302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1F4E79"/>
                </a:solidFill>
              </a:rPr>
              <a:t>M2 | ROC (scale_both)</a:t>
            </a:r>
          </a:p>
        </p:txBody>
      </p:sp>
      <p:pic>
        <p:nvPicPr>
          <p:cNvPr id="7" name="Picture 6" descr="confusion_matric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90162" y="1097280"/>
            <a:ext cx="3433355" cy="160934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141720" y="896112"/>
            <a:ext cx="57302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1F4E79"/>
                </a:solidFill>
              </a:rPr>
              <a:t>M2 | Conf (scale_both)</a:t>
            </a:r>
          </a:p>
        </p:txBody>
      </p:sp>
      <p:pic>
        <p:nvPicPr>
          <p:cNvPr id="9" name="Picture 8" descr="test_roc_curv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36271" y="2962656"/>
            <a:ext cx="2897778" cy="16093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20040" y="2761488"/>
            <a:ext cx="57302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1F4E79"/>
                </a:solidFill>
              </a:rPr>
              <a:t>M2_2 | ROC (scale_both)</a:t>
            </a:r>
          </a:p>
        </p:txBody>
      </p:sp>
      <p:pic>
        <p:nvPicPr>
          <p:cNvPr id="11" name="Picture 10" descr="confusion_matric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90162" y="2962656"/>
            <a:ext cx="3433355" cy="16093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141720" y="2761488"/>
            <a:ext cx="57302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1F4E79"/>
                </a:solidFill>
              </a:rPr>
              <a:t>M2_2 | Conf (scale_both)</a:t>
            </a:r>
          </a:p>
        </p:txBody>
      </p:sp>
      <p:pic>
        <p:nvPicPr>
          <p:cNvPr id="13" name="Picture 12" descr="test_roc_curve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736271" y="4828032"/>
            <a:ext cx="2897778" cy="160934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20040" y="4626864"/>
            <a:ext cx="57302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1F4E79"/>
                </a:solidFill>
              </a:rPr>
              <a:t>M3 | ROC (scale_both)</a:t>
            </a:r>
          </a:p>
        </p:txBody>
      </p:sp>
      <p:pic>
        <p:nvPicPr>
          <p:cNvPr id="15" name="Picture 14" descr="confusion_matrice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90163" y="4828032"/>
            <a:ext cx="3433354" cy="160934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141720" y="4626864"/>
            <a:ext cx="57302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1F4E79"/>
                </a:solidFill>
              </a:rPr>
              <a:t>M3 | Conf (scale_both)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164592"/>
            <a:ext cx="11460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1F4E79"/>
                </a:solidFill>
              </a:rPr>
              <a:t>3. Detailed progress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530352"/>
            <a:ext cx="114604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64F78"/>
                </a:solidFill>
              </a:rPr>
              <a:t>Best Models — ROC by Sex &amp; Calibration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68908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7F7F7F"/>
                </a:solidFill>
              </a:rPr>
              <a:t>51</a:t>
            </a:r>
          </a:p>
        </p:txBody>
      </p:sp>
      <p:pic>
        <p:nvPicPr>
          <p:cNvPr id="5" name="Picture 4" descr="test_roc_by_se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97280"/>
            <a:ext cx="5730240" cy="25420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20040" y="896112"/>
            <a:ext cx="57302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1F4E79"/>
                </a:solidFill>
              </a:rPr>
              <a:t>M1 baseline | by Sex</a:t>
            </a:r>
          </a:p>
        </p:txBody>
      </p:sp>
      <p:pic>
        <p:nvPicPr>
          <p:cNvPr id="7" name="Picture 6" descr="test_roc_by_se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41720" y="1097280"/>
            <a:ext cx="5730240" cy="254203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141720" y="896112"/>
            <a:ext cx="57302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1F4E79"/>
                </a:solidFill>
              </a:rPr>
              <a:t>M2 len064 | by Sex</a:t>
            </a:r>
          </a:p>
        </p:txBody>
      </p:sp>
      <p:pic>
        <p:nvPicPr>
          <p:cNvPr id="9" name="Picture 8" descr="test_roc_by_se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40" y="3895344"/>
            <a:ext cx="5730240" cy="25420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20040" y="3694176"/>
            <a:ext cx="57302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1F4E79"/>
                </a:solidFill>
              </a:rPr>
              <a:t>M3 len128 [Best] | by Sex</a:t>
            </a:r>
          </a:p>
        </p:txBody>
      </p:sp>
      <p:pic>
        <p:nvPicPr>
          <p:cNvPr id="11" name="Picture 10" descr="calibrati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41720" y="3895344"/>
            <a:ext cx="5730240" cy="254203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141720" y="3694176"/>
            <a:ext cx="57302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1F4E79"/>
                </a:solidFill>
              </a:rPr>
              <a:t>M3 len128 | Calibration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164592"/>
            <a:ext cx="11460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1F4E79"/>
                </a:solidFill>
              </a:rPr>
              <a:t>3. Detailed progress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530352"/>
            <a:ext cx="114604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64F78"/>
                </a:solidFill>
              </a:rPr>
              <a:t>Training Curves (Best Models) &amp; Data Distribution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68908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7F7F7F"/>
                </a:solidFill>
              </a:rPr>
              <a:t>52</a:t>
            </a:r>
          </a:p>
        </p:txBody>
      </p:sp>
      <p:pic>
        <p:nvPicPr>
          <p:cNvPr id="5" name="Picture 4" descr="training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97280"/>
            <a:ext cx="5730240" cy="25420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20040" y="896112"/>
            <a:ext cx="57302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1F4E79"/>
                </a:solidFill>
              </a:rPr>
              <a:t>M1 | Training</a:t>
            </a:r>
          </a:p>
        </p:txBody>
      </p:sp>
      <p:pic>
        <p:nvPicPr>
          <p:cNvPr id="7" name="Picture 6" descr="training_curv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41720" y="1097280"/>
            <a:ext cx="5730240" cy="254203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141720" y="896112"/>
            <a:ext cx="57302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1F4E79"/>
                </a:solidFill>
              </a:rPr>
              <a:t>M2 | Training</a:t>
            </a:r>
          </a:p>
        </p:txBody>
      </p:sp>
      <p:pic>
        <p:nvPicPr>
          <p:cNvPr id="9" name="Picture 8" descr="training_curv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40" y="3895344"/>
            <a:ext cx="5730240" cy="25420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20040" y="3694176"/>
            <a:ext cx="57302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1F4E79"/>
                </a:solidFill>
              </a:rPr>
              <a:t>M3 | Training</a:t>
            </a:r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41720" y="3895344"/>
            <a:ext cx="5730240" cy="254203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141720" y="3694176"/>
            <a:ext cx="57302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1F4E79"/>
                </a:solidFill>
              </a:rPr>
              <a:t>Data Distribution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76" name="Google Shape;1176;g3d412ffb079_0_6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69281387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2381</TotalTime>
  <Words>6675</Words>
  <Application>Microsoft Office PowerPoint</Application>
  <PresentationFormat>와이드스크린</PresentationFormat>
  <Paragraphs>1595</Paragraphs>
  <Slides>53</Slides>
  <Notes>38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53</vt:i4>
      </vt:variant>
    </vt:vector>
  </HeadingPairs>
  <TitlesOfParts>
    <vt:vector size="58" baseType="lpstr">
      <vt:lpstr>KoPub돋움체 Medium</vt:lpstr>
      <vt:lpstr>맑은 고딕</vt:lpstr>
      <vt:lpstr>Arial</vt:lpstr>
      <vt:lpstr>KoPub돋움체 Bold</vt:lpstr>
      <vt:lpstr>Office 테마</vt:lpstr>
      <vt:lpstr>PowerPoint 프레젠테이션</vt:lpstr>
      <vt:lpstr>1. What’s discussed in the last meetings</vt:lpstr>
      <vt:lpstr>2. Research Summary</vt:lpstr>
      <vt:lpstr>2. Research Summary</vt:lpstr>
      <vt:lpstr>연구 프로토타입 정의</vt:lpstr>
      <vt:lpstr>Research Overview – Main Study</vt:lpstr>
      <vt:lpstr>Research Overview – Pilot Feasibility Study (현재 진행 연구)</vt:lpstr>
      <vt:lpstr>Research Overview – Pilot Feasibility Study (현재 진행 연구)</vt:lpstr>
      <vt:lpstr>데이터 정리</vt:lpstr>
      <vt:lpstr>3. Detailed progress</vt:lpstr>
      <vt:lpstr>3. Detailed progress</vt:lpstr>
      <vt:lpstr>3. Detailed progress</vt:lpstr>
      <vt:lpstr>3. Detailed progress</vt:lpstr>
      <vt:lpstr>SMI Cutoff Setting</vt:lpstr>
      <vt:lpstr>3. Detailed progress</vt:lpstr>
      <vt:lpstr>3. Detailed progress</vt:lpstr>
      <vt:lpstr>모델 구성</vt:lpstr>
      <vt:lpstr>3. Detailed progress</vt:lpstr>
      <vt:lpstr>3. Detailed progress</vt:lpstr>
      <vt:lpstr>연구 결과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4. Conclusion</vt:lpstr>
      <vt:lpstr>5. Next Plans</vt:lpstr>
      <vt:lpstr>Appendix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전장훈</dc:creator>
  <cp:lastModifiedBy>전장훈</cp:lastModifiedBy>
  <cp:revision>232</cp:revision>
  <dcterms:created xsi:type="dcterms:W3CDTF">2026-04-09T07:05:16Z</dcterms:created>
  <dcterms:modified xsi:type="dcterms:W3CDTF">2026-05-14T02:15:44Z</dcterms:modified>
</cp:coreProperties>
</file>