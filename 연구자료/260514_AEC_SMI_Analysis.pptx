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524" r:id="rId4"/>
    <p:sldId id="548" r:id="rId5"/>
    <p:sldId id="346" r:id="rId6"/>
    <p:sldId id="350" r:id="rId7"/>
    <p:sldId id="351" r:id="rId8"/>
    <p:sldId id="352" r:id="rId9"/>
    <p:sldId id="469" r:id="rId10"/>
    <p:sldId id="470" r:id="rId11"/>
    <p:sldId id="488" r:id="rId12"/>
    <p:sldId id="528" r:id="rId13"/>
    <p:sldId id="549" r:id="rId14"/>
    <p:sldId id="542" r:id="rId15"/>
    <p:sldId id="525" r:id="rId16"/>
    <p:sldId id="404" r:id="rId17"/>
    <p:sldId id="543" r:id="rId18"/>
    <p:sldId id="526" r:id="rId19"/>
    <p:sldId id="550" r:id="rId20"/>
    <p:sldId id="551" r:id="rId21"/>
    <p:sldId id="554" r:id="rId22"/>
    <p:sldId id="552" r:id="rId23"/>
    <p:sldId id="555" r:id="rId24"/>
    <p:sldId id="556" r:id="rId25"/>
    <p:sldId id="557" r:id="rId26"/>
    <p:sldId id="561" r:id="rId27"/>
    <p:sldId id="558" r:id="rId28"/>
    <p:sldId id="559" r:id="rId29"/>
    <p:sldId id="560" r:id="rId30"/>
    <p:sldId id="479" r:id="rId31"/>
  </p:sldIdLst>
  <p:sldSz cx="12192000" cy="6858000"/>
  <p:notesSz cx="6858000" cy="9144000"/>
  <p:embeddedFontLst>
    <p:embeddedFont>
      <p:font typeface="맑은 고딕" panose="020B0503020000020004" pitchFamily="50" charset="-127"/>
      <p:regular r:id="rId33"/>
      <p:bold r:id="rId34"/>
    </p:embeddedFont>
    <p:embeddedFont>
      <p:font typeface="KoPub돋움체 Bold" panose="00000800000000000000" pitchFamily="2" charset="-127"/>
      <p:bold r:id="rId35"/>
    </p:embeddedFont>
    <p:embeddedFont>
      <p:font typeface="KoPub돋움체 Medium" panose="00000600000000000000" pitchFamily="2" charset="-127"/>
      <p:regular r:id="rId3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8"/>
            <p14:sldId id="524"/>
            <p14:sldId id="548"/>
            <p14:sldId id="346"/>
            <p14:sldId id="350"/>
            <p14:sldId id="351"/>
            <p14:sldId id="352"/>
            <p14:sldId id="469"/>
            <p14:sldId id="470"/>
            <p14:sldId id="488"/>
            <p14:sldId id="528"/>
            <p14:sldId id="549"/>
            <p14:sldId id="542"/>
            <p14:sldId id="525"/>
            <p14:sldId id="404"/>
            <p14:sldId id="543"/>
            <p14:sldId id="526"/>
            <p14:sldId id="550"/>
            <p14:sldId id="551"/>
            <p14:sldId id="554"/>
            <p14:sldId id="552"/>
            <p14:sldId id="555"/>
            <p14:sldId id="556"/>
            <p14:sldId id="557"/>
            <p14:sldId id="561"/>
            <p14:sldId id="558"/>
            <p14:sldId id="559"/>
            <p14:sldId id="560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82185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973E4-C933-DFB0-A81C-093C5ADA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1BF77-46A0-3F97-E11F-B1CCBC0E2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2D131A-B82E-CF1E-2996-60F98D0CC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9BFFE-6DCB-C54D-A7A4-49A23442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76652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90042-F557-0E94-7C78-40205A1F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170C6C-B9DF-BB92-BE01-1127AE8ABB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9CB311-8A08-9B6E-E1E6-BE4865BFA3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A2932C-C555-3416-FC2C-C5443B8FA0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56638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EBF19-EE3F-65A2-1162-FB04E8376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8D60B6-9609-66C7-4D66-C7EC8AED3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12049A-92CC-D1CB-0C49-4EF50B4D7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4FF3FB-ACFF-4030-32EF-A08CEE96C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9341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5A912-E5DB-C050-E065-5828A5E4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4D11A81-CD75-D940-EF31-5078010806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26D308-0A22-922A-98EF-A6F10C5477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FA01C8-AD53-4B8F-0434-4748CB898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14862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917A5-299C-0E89-CFC0-04FC1AC7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265D41-5613-90FC-CB71-156E242C1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655DFF-5422-5676-A2DE-46681E04C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74D810-BC5C-2B70-9544-E903A1A20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18090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40FC4-9D77-11F3-B5D9-82690C75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3F0887-E898-A16F-E2E8-7C04A844AB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C0F98-8A52-9A03-6E65-4DEE9B5E61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51879-C6F6-D4F2-2483-06B9EA61F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61848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CD591-7CB6-3C40-5D37-755621D58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3E02C8F-A516-AD55-EE1B-FB3538D1DE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AF47CF-4C7D-D05E-AE94-26BD2B36C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70E427-B9AE-2028-E013-CDE99CF9CB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377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2B7C6-71EC-B1BC-C320-8924CBD72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E07F09-0F9C-3D8C-D900-DAAA5BB34E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317F1-3613-8D77-5EA2-22123DCA5D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9C03B-59ED-189F-2914-C9092A443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65203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8AD4F-EFA8-3809-B516-B567B8CB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692349-75AC-0FC6-4807-14A738F87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320D85-88E9-0DA2-0A97-35CC608C22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A80AC9-E096-F4E2-3DC0-07CD0C5605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988956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B2FEC-F77D-26D8-807D-BECE5D140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919064-8322-D797-BDC3-006E70228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0CF700-84ED-DDF9-44E3-E0AF69B52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80D884-1107-D727-19A9-FE1A80DE6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89970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7C0C8-2C08-AAC6-45FF-6BAACFA2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BF691-5916-E24B-AB73-AC087BA5B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F36C0E-206B-01F5-6CC1-D7735B74CC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F50D2-4001-476D-5FBE-89BC6C4FE2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4954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86789-6094-4023-749A-A0EFE0D8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41084A-BD94-8BA2-9A66-546018B01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893E93-1090-A7D7-7F84-7F199A96AF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00E7FA-916A-01A1-55FF-97DD8FD9BA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5167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BAF1-347D-B03F-5DF5-0190776A4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0FDFFF6-B0C8-0994-D4AD-3CAB24C0D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3FDE85-37C4-ADF6-A645-3D983BF573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093573-4B47-F737-DE1C-F6CB99B974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9832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69142-DB5F-943B-1716-4C7340EE3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6B007F-1932-3576-D70F-D35280540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026168-EF24-DD0B-702A-EC35C9300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39879B-3175-57AA-2D58-3C0EFA1213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815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Regression &amp; 1D CNN Result Comparison with AEC, SMI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2026. 05. 14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SMI </a:t>
            </a:r>
            <a:r>
              <a:rPr lang="ko-KR" altLang="en-US" dirty="0"/>
              <a:t>데이터 확립 → </a:t>
            </a:r>
            <a:r>
              <a:rPr lang="en-US" altLang="ko-KR" dirty="0"/>
              <a:t>TAMA, BMI, Height, Weight </a:t>
            </a:r>
            <a:r>
              <a:rPr lang="ko-KR" altLang="en-US" dirty="0"/>
              <a:t>등의 데이터로 확인 가능</a:t>
            </a:r>
            <a:endParaRPr lang="en-US" altLang="ko-KR" dirty="0"/>
          </a:p>
          <a:p>
            <a:r>
              <a:rPr lang="en-US" altLang="ko-KR" dirty="0"/>
              <a:t>AEC data Resampling </a:t>
            </a:r>
            <a:r>
              <a:rPr lang="ko-KR" altLang="en-US" dirty="0"/>
              <a:t>→ </a:t>
            </a:r>
            <a:r>
              <a:rPr lang="en-US" altLang="ko-KR" dirty="0"/>
              <a:t>256 point</a:t>
            </a:r>
            <a:r>
              <a:rPr lang="ko-KR" altLang="en-US" dirty="0"/>
              <a:t>로 정규화</a:t>
            </a:r>
            <a:endParaRPr lang="en-US" altLang="ko-KR" dirty="0"/>
          </a:p>
          <a:p>
            <a:pPr lvl="1"/>
            <a:r>
              <a:rPr lang="ko-KR" altLang="en-US" dirty="0"/>
              <a:t>이후 주요 </a:t>
            </a:r>
            <a:r>
              <a:rPr lang="en-US" altLang="ko-KR" dirty="0"/>
              <a:t>feature </a:t>
            </a:r>
            <a:r>
              <a:rPr lang="ko-KR" altLang="en-US" dirty="0"/>
              <a:t>추출 </a:t>
            </a:r>
            <a:r>
              <a:rPr lang="en-US" altLang="ko-KR" dirty="0"/>
              <a:t>(mean, std, range, skewness </a:t>
            </a:r>
            <a:r>
              <a:rPr lang="ko-KR" altLang="en-US" dirty="0"/>
              <a:t>등 </a:t>
            </a:r>
            <a:r>
              <a:rPr lang="en-US" altLang="ko-KR" dirty="0"/>
              <a:t>65</a:t>
            </a:r>
            <a:r>
              <a:rPr lang="ko-KR" altLang="en-US" dirty="0"/>
              <a:t>개 </a:t>
            </a:r>
            <a:r>
              <a:rPr lang="en-US" altLang="ko-KR" dirty="0"/>
              <a:t>feature)</a:t>
            </a:r>
          </a:p>
          <a:p>
            <a:r>
              <a:rPr lang="ko-KR" altLang="en-US" dirty="0"/>
              <a:t>이전 연구와 동일하게 비교 분석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699AB61B-AF1E-5771-ECD0-240405CE5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367154"/>
              </p:ext>
            </p:extLst>
          </p:nvPr>
        </p:nvGraphicFramePr>
        <p:xfrm>
          <a:off x="832525" y="3491652"/>
          <a:ext cx="6648137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31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6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Model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Feature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구성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Feature_num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clinic_only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PatientAge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PatientSex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, BMI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72525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aec1 ~ aec256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원시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시계열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통계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256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aec_feature_only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aec_feature_filtered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시트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전체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사용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65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aec_feature_selected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선택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(|r|&lt;0.8, VIF&lt;10)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clinic_aec_feature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Age/Sex/BMI (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고정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 + AEC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피처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fold별</a:t>
                      </a:r>
                      <a:r>
                        <a:rPr sz="1200" b="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선택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dirty="0" err="1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가변</a:t>
                      </a:r>
                      <a:endParaRPr sz="1200" b="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Multimodal (Cross Attention)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4419C-94C1-0072-6BC7-99231F18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87E29-ECD2-C1AB-F064-B9899724F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AEBF44-283B-F2F4-6E93-B97D83EE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6B1940-76D7-EF5C-4BDC-815E2CBB8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Best Model Summary</a:t>
            </a:r>
            <a:endParaRPr lang="ko-KR" altLang="en-US" dirty="0"/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9D213DDB-0128-112A-A576-93C1261EE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268650"/>
              </p:ext>
            </p:extLst>
          </p:nvPr>
        </p:nvGraphicFramePr>
        <p:xfrm>
          <a:off x="811713" y="1714954"/>
          <a:ext cx="10568574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550189988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순위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effectLst/>
                        </a:rPr>
                        <a:t>모델</a:t>
                      </a:r>
                      <a:r>
                        <a:rPr lang="en-US" altLang="ko-KR" sz="1400" b="1">
                          <a:effectLst/>
                        </a:rPr>
                        <a:t>/</a:t>
                      </a:r>
                      <a:r>
                        <a:rPr lang="ko-KR" altLang="en-US" sz="1400" b="1">
                          <a:effectLst/>
                        </a:rPr>
                        <a:t>조건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서브모델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Test AUC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Sensitivity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Specificity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CrossAttn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0.8453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0.3993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0.3802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82.1%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69.2%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269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CrossAttn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89.3%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65.2%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654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Model 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LR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78.6%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68.7%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003389"/>
                  </a:ext>
                </a:extLst>
              </a:tr>
            </a:tbl>
          </a:graphicData>
        </a:graphic>
      </p:graphicFrame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BE15D723-D86F-BA75-8899-E4D00AE06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3317348"/>
              </p:ext>
            </p:extLst>
          </p:nvPr>
        </p:nvGraphicFramePr>
        <p:xfrm>
          <a:off x="2771931" y="3773592"/>
          <a:ext cx="6648138" cy="218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3397596428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조건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Unmatching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0.8140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0.7683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0.072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0.8287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0.030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718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– </a:t>
            </a:r>
            <a:r>
              <a:rPr lang="ko-KR" altLang="en-US" dirty="0"/>
              <a:t>강남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1), BMI</a:t>
            </a:r>
            <a:r>
              <a:rPr lang="ko-KR" altLang="en-US" dirty="0"/>
              <a:t> 제거 </a:t>
            </a:r>
            <a:r>
              <a:rPr lang="en-US" altLang="ko-KR" dirty="0"/>
              <a:t>: 1,642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1,642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1,372 </a:t>
            </a:r>
            <a:r>
              <a:rPr lang="ko-KR" altLang="en-US" dirty="0"/>
              <a:t>→ </a:t>
            </a:r>
            <a:r>
              <a:rPr lang="en-US" altLang="ko-KR" dirty="0" err="1"/>
              <a:t>kVp</a:t>
            </a:r>
            <a:r>
              <a:rPr lang="ko-KR" altLang="en-US" dirty="0"/>
              <a:t> 및 모델명 </a:t>
            </a:r>
            <a:r>
              <a:rPr lang="en-US" altLang="ko-KR" dirty="0"/>
              <a:t>Filtering : 1,272</a:t>
            </a:r>
          </a:p>
          <a:p>
            <a:endParaRPr lang="ko-KR" altLang="en-US" b="1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34B4283-B221-6F97-DFAF-C89D8539DEF5}"/>
              </a:ext>
            </a:extLst>
          </p:cNvPr>
          <p:cNvGrpSpPr/>
          <p:nvPr/>
        </p:nvGrpSpPr>
        <p:grpSpPr>
          <a:xfrm>
            <a:off x="769620" y="2750656"/>
            <a:ext cx="10652760" cy="868680"/>
            <a:chOff x="769620" y="1727033"/>
            <a:chExt cx="10652760" cy="868680"/>
          </a:xfrm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769620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873549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873549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407148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511077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511077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456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(3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5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44676" y="1727033"/>
              <a:ext cx="3377704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48604" y="1772753"/>
              <a:ext cx="320448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48604" y="2111081"/>
              <a:ext cx="320448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816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4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80901"/>
              </p:ext>
            </p:extLst>
          </p:nvPr>
        </p:nvGraphicFramePr>
        <p:xfrm>
          <a:off x="769620" y="4387258"/>
          <a:ext cx="468000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2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6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8000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816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38.21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5.93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34.53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37.68</a:t>
                      </a:r>
                    </a:p>
                  </a:txBody>
                  <a:tcPr marL="6350" marR="6350" marT="6350" marB="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456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48.32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8.33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43.27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48.37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8DB5B3-795B-26DD-A8F5-FEF28B1D9D8C}"/>
              </a:ext>
            </a:extLst>
          </p:cNvPr>
          <p:cNvSpPr txBox="1"/>
          <p:nvPr/>
        </p:nvSpPr>
        <p:spPr>
          <a:xfrm>
            <a:off x="769620" y="3967012"/>
            <a:ext cx="468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분포 </a:t>
            </a:r>
            <a:r>
              <a:rPr lang="en-US" altLang="ko-KR" sz="16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SMI = (TAMA-IMATA)/Height(m)</a:t>
            </a:r>
            <a:r>
              <a:rPr lang="en-US" altLang="ko-KR" sz="1600" baseline="30000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2</a:t>
            </a:r>
            <a:endParaRPr lang="ko-KR" altLang="en-US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006045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146795"/>
              </p:ext>
            </p:extLst>
          </p:nvPr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726096"/>
              </p:ext>
            </p:extLst>
          </p:nvPr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9164C-0341-8A87-1C72-A7829557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FA1261-B2A2-80CF-1A62-0928B875A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677DC-2134-E89C-2C49-37A5610C9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937AEF3-9A49-E70D-9D01-C4D8829C7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Train / Test Dataset Split &amp;</a:t>
            </a:r>
            <a:r>
              <a:rPr lang="ko-KR" altLang="en-US" dirty="0"/>
              <a:t> </a:t>
            </a:r>
            <a:r>
              <a:rPr lang="en-US" altLang="ko-KR" dirty="0"/>
              <a:t>Distribution</a:t>
            </a:r>
          </a:p>
          <a:p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642AD93-3DBA-B1E1-EF1C-A32E15C5D9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860501"/>
              </p:ext>
            </p:extLst>
          </p:nvPr>
        </p:nvGraphicFramePr>
        <p:xfrm>
          <a:off x="1180920" y="1828348"/>
          <a:ext cx="9830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3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62617">
                  <a:extLst>
                    <a:ext uri="{9D8B030D-6E8A-4147-A177-3AD203B41FA5}">
                      <a16:colId xmlns:a16="http://schemas.microsoft.com/office/drawing/2014/main" val="815128434"/>
                    </a:ext>
                  </a:extLst>
                </a:gridCol>
                <a:gridCol w="1362617">
                  <a:extLst>
                    <a:ext uri="{9D8B030D-6E8A-4147-A177-3AD203B41FA5}">
                      <a16:colId xmlns:a16="http://schemas.microsoft.com/office/drawing/2014/main" val="196346252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Split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Sex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Normal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Normal %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Sarco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Sarco %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Age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BMI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Train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357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297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83.2%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60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16.8%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59.35 ± 12.80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24.17 ± 3.31</a:t>
                      </a:r>
                    </a:p>
                  </a:txBody>
                  <a:tcPr marL="123825" marR="123825" marT="57150" marB="5715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660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609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92.3%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7.7%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55.60 ± 11.74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23.01 ± 3.24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49738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All</a:t>
                      </a:r>
                      <a:endParaRPr 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1017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906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89.1%</a:t>
                      </a:r>
                      <a:endParaRPr lang="ko-KR" alt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111</a:t>
                      </a:r>
                      <a:endParaRPr lang="ko-KR" alt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10.9%</a:t>
                      </a:r>
                      <a:endParaRPr lang="ko-KR" altLang="en-US" sz="140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56.92 ± 12.25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23.42 ± 3.31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731768"/>
                  </a:ext>
                </a:extLst>
              </a:tr>
              <a:tr h="411480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Test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99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82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82.8%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17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17.2%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61.58 ± 10.97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24.03 ± 3.22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86312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156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145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92.9%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7.1%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55.71 ± 13.31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23.22 ± 3.52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23825" marR="12382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All</a:t>
                      </a:r>
                      <a:endParaRPr 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255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227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89.0%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28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11.0%</a:t>
                      </a:r>
                      <a:endParaRPr lang="ko-KR" altLang="en-US" sz="1400" dirty="0"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57.98 ± 12.78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23.54 ± 3.43</a:t>
                      </a:r>
                    </a:p>
                  </a:txBody>
                  <a:tcPr marL="123825" marR="123825" marT="57150" marB="5715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20976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BDFCF-C338-3132-BA10-4462AEB57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15A61F64-D8D3-8D35-4846-895558AA0A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6130" y="757643"/>
            <a:ext cx="8499739" cy="562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373744-C5D2-1AC4-CA74-A253751F4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3DC634-1B31-FB52-2479-E5F13C230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71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DDAD5-9D6C-6EC7-5990-893B8275E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0758E8-AA34-8F76-DD33-10F28B80D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SMI Cutoff Setting</a:t>
            </a:r>
            <a:endParaRPr lang="ko-KR" altLang="en-US" sz="4000" dirty="0">
              <a:latin typeface="KoPub돋움체 Bold" panose="00000800000000000000" pitchFamily="2" charset="-127"/>
              <a:ea typeface="KoPub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8B72B6-EEF1-15E0-344B-A95E37C6B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1122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BD5158-50E0-52B3-29CB-5B07C0DDB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DBA23B-101E-8452-0205-F8D06B182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B94B7A-09AD-CA01-AE12-3AB46EEBD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20C8321-88FC-8692-CF5E-487903F7B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D51D99C-9475-56D3-1EB5-5EE50C156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042707"/>
              </p:ext>
            </p:extLst>
          </p:nvPr>
        </p:nvGraphicFramePr>
        <p:xfrm>
          <a:off x="813162" y="1722435"/>
          <a:ext cx="10591438" cy="3752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01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56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8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저자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대상 국가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대상군</a:t>
                      </a: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특성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평균 나이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 err="1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Mean±SD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나이 범위 </a:t>
                      </a: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Range)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Prado et al. (2009)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 err="1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전이성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유방암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54.8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10.4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37~80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Yoon et al. (2021)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한국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건강한 간 기증자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31.5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 </a:t>
                      </a: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8.3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20~59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JSH (2016)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만성 간 질환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19~89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Carey et al. (2017)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북미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간 이식 대기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중앙값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(IQR: 51~62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 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Martin et al. (2013)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폐암 및 소화기암 환자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남성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: 64.7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 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여성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: 64.8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 </a:t>
                      </a: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기술되지 않음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현재 연구 데이터</a:t>
                      </a:r>
                      <a:endParaRPr 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59.7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 12.5</a:t>
                      </a:r>
                      <a:r>
                        <a:rPr lang="ko-KR" altLang="en-US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endParaRPr lang="en-US" altLang="ko-KR" sz="1200" b="0" dirty="0"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  <a:p>
                      <a:pPr algn="ctr" rtl="0"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55.6 </a:t>
                      </a:r>
                      <a:r>
                        <a:rPr lang="en-US" altLang="ko-KR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± 12.2</a:t>
                      </a:r>
                      <a:r>
                        <a:rPr lang="ko-KR" altLang="en-US" sz="1200" b="0" dirty="0"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endParaRPr lang="ko-KR" altLang="en-US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11~91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세</a:t>
                      </a:r>
                      <a:endParaRPr lang="en-US" altLang="ko-KR" sz="1200" b="0" dirty="0">
                        <a:solidFill>
                          <a:srgbClr val="1F1F1F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36037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65998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성별에 따른 </a:t>
            </a:r>
            <a:r>
              <a:rPr lang="en-US" altLang="ko-KR" dirty="0"/>
              <a:t>SMI Cutoff Value </a:t>
            </a:r>
            <a:r>
              <a:rPr lang="ko-KR" altLang="en-US" dirty="0"/>
              <a:t>분석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9B39C32D-90A5-3994-A392-8DDD3A8B96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657878"/>
              </p:ext>
            </p:extLst>
          </p:nvPr>
        </p:nvGraphicFramePr>
        <p:xfrm>
          <a:off x="813162" y="1722435"/>
          <a:ext cx="10591439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5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7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37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65240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연구 논문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연도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대상 국가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Cutoff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남성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여성 비율 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강남</a:t>
                      </a:r>
                      <a:r>
                        <a:rPr lang="en-US" altLang="ko-KR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)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Prado et al. (2009)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dirty="0"/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52.4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78.1% (356/456)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59.7% (487/816)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Martin et al. (2013)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53.0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41.0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80.9% (369/456)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76.8% (627/816)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Carey et al. (2017)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미국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캐나다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65.6% (299/456)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63.5% (518/816)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58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JSH (2016)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일본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42.0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38.0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22.6% (103/456)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55.0% (449/816)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6050706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ko-KR" sz="1200" dirty="0"/>
                        <a:t>Yoon et al. (2021)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한국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39.33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27.7 (-2 STD)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13.8% (63/456)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2.7% (22/816)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2379242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pPr algn="ctr"/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40.96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30.6 (</a:t>
                      </a:r>
                      <a:r>
                        <a:rPr lang="ko-KR" alt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하위 </a:t>
                      </a: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5%)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16.9% (77/456)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7.6% (62/816)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851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C735D-9C80-0BA1-2640-30BD8ECA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BFC9B4-F6C4-1DD2-1EF2-E299BAD4B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모델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D1DDEF-C57D-CCEF-000B-2FF9BE05F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4661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1ADAF-4EEE-EC7B-DA6B-1DC91DB7A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7E9B4-6ADD-4241-4DFC-115ED07B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2CD9A8-8807-F1DE-3F1F-996F2C722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F44AAF05-2CE7-0403-088D-F047E10A8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SMI Binary threshold: </a:t>
            </a:r>
            <a:r>
              <a:rPr lang="ko-KR" altLang="en-US" dirty="0"/>
              <a:t>남성</a:t>
            </a:r>
            <a:r>
              <a:rPr lang="en-US" altLang="ko-KR" dirty="0"/>
              <a:t> – 40.96, </a:t>
            </a:r>
            <a:r>
              <a:rPr lang="ko-KR" altLang="en-US" dirty="0"/>
              <a:t>여성 </a:t>
            </a:r>
            <a:r>
              <a:rPr lang="en-US" altLang="ko-KR" dirty="0"/>
              <a:t>– 30.6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AEC points</a:t>
            </a:r>
            <a:r>
              <a:rPr lang="ko-KR" altLang="en-US" dirty="0"/>
              <a:t> 변환</a:t>
            </a:r>
            <a:r>
              <a:rPr lang="en-US" altLang="ko-KR" dirty="0"/>
              <a:t>: [64, 128, 256] points</a:t>
            </a:r>
            <a:r>
              <a:rPr lang="ko-KR" altLang="en-US" dirty="0"/>
              <a:t>로 세분화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StandardScaler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r>
              <a:rPr lang="en-US" altLang="ko-KR" dirty="0"/>
              <a:t>: Clinic (</a:t>
            </a:r>
            <a:r>
              <a:rPr lang="ko-KR" altLang="en-US" dirty="0"/>
              <a:t>임상변수만 표준화</a:t>
            </a:r>
            <a:r>
              <a:rPr lang="en-US" altLang="ko-KR" dirty="0"/>
              <a:t>), Both (</a:t>
            </a:r>
            <a:r>
              <a:rPr lang="ko-KR" altLang="en-US" dirty="0"/>
              <a:t>임상</a:t>
            </a:r>
            <a:r>
              <a:rPr lang="en-US" altLang="ko-KR" dirty="0"/>
              <a:t>+AEC </a:t>
            </a:r>
            <a:r>
              <a:rPr lang="ko-KR" altLang="en-US" dirty="0"/>
              <a:t>모두 표준화</a:t>
            </a:r>
            <a:r>
              <a:rPr lang="en-US" altLang="ko-KR" dirty="0"/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Test </a:t>
            </a:r>
            <a:r>
              <a:rPr lang="ko-KR" altLang="en-US" dirty="0"/>
              <a:t>전략</a:t>
            </a:r>
            <a:r>
              <a:rPr lang="en-US" altLang="ko-KR" dirty="0"/>
              <a:t>: CV fold best epoch</a:t>
            </a:r>
            <a:r>
              <a:rPr lang="ko-KR" altLang="en-US" dirty="0"/>
              <a:t>의 </a:t>
            </a:r>
            <a:r>
              <a:rPr lang="en-US" altLang="ko-KR" dirty="0"/>
              <a:t>median</a:t>
            </a:r>
            <a:r>
              <a:rPr lang="ko-KR" altLang="en-US" dirty="0"/>
              <a:t>으로 전체 </a:t>
            </a:r>
            <a:r>
              <a:rPr lang="en-US" altLang="ko-KR" dirty="0"/>
              <a:t>train set </a:t>
            </a:r>
            <a:r>
              <a:rPr lang="ko-KR" altLang="en-US" dirty="0" err="1"/>
              <a:t>재학습</a:t>
            </a:r>
            <a:r>
              <a:rPr lang="ko-KR" altLang="en-US" dirty="0"/>
              <a:t> 후 </a:t>
            </a:r>
            <a:r>
              <a:rPr lang="en-US" altLang="ko-KR" dirty="0"/>
              <a:t>test </a:t>
            </a:r>
            <a:r>
              <a:rPr lang="ko-KR" altLang="en-US" dirty="0"/>
              <a:t>예측</a:t>
            </a:r>
            <a:r>
              <a:rPr lang="en-US" altLang="ko-KR" dirty="0"/>
              <a:t> </a:t>
            </a:r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C8978DFC-E5CC-E84B-52D2-3439F6487D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5915376"/>
              </p:ext>
            </p:extLst>
          </p:nvPr>
        </p:nvGraphicFramePr>
        <p:xfrm>
          <a:off x="1306217" y="1064394"/>
          <a:ext cx="9579566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0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52652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2356963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2029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입력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학습 방식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서브모델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effectLst/>
                        </a:rPr>
                        <a:t>M1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(</a:t>
                      </a:r>
                      <a:r>
                        <a:rPr lang="en-US" sz="1400">
                          <a:effectLst/>
                        </a:rPr>
                        <a:t>Age, Sex, BMI)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5-Fold CV / Hold-Out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LR, 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089024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M2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+ </a:t>
                      </a:r>
                      <a:r>
                        <a:rPr lang="en-US" sz="1400">
                          <a:effectLst/>
                        </a:rPr>
                        <a:t>AEC (</a:t>
                      </a:r>
                      <a:r>
                        <a:rPr lang="ko-KR" altLang="en-US" sz="1400">
                          <a:effectLst/>
                        </a:rPr>
                        <a:t>매칭</a:t>
                      </a:r>
                      <a:r>
                        <a:rPr lang="en-US" altLang="ko-KR" sz="140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5-Fold CV / Hold-Out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LR, CrossAttn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M2_2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+ AEC (</a:t>
                      </a:r>
                      <a:r>
                        <a:rPr lang="ko-KR" altLang="en-US" sz="1400" b="1">
                          <a:effectLst/>
                        </a:rPr>
                        <a:t>셔플</a:t>
                      </a:r>
                      <a:r>
                        <a:rPr lang="en-US" altLang="ko-KR" sz="1400" b="1">
                          <a:effectLst/>
                        </a:rPr>
                        <a:t>, </a:t>
                      </a:r>
                      <a:r>
                        <a:rPr lang="ko-KR" altLang="en-US" sz="1400" b="1">
                          <a:effectLst/>
                        </a:rPr>
                        <a:t>음성 대조군</a:t>
                      </a:r>
                      <a:r>
                        <a:rPr lang="en-US" altLang="ko-KR" sz="140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5-Fold CV / Hold-Out</a:t>
                      </a:r>
                      <a:endParaRPr kumimoji="0" lang="en-US" altLang="ko-KR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effectLst/>
                        </a:rPr>
                        <a:t>LR, CrossAttn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>
                          <a:effectLst/>
                        </a:rPr>
                        <a:t>M3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effectLst/>
                        </a:rPr>
                        <a:t>임상 </a:t>
                      </a:r>
                      <a:r>
                        <a:rPr lang="en-US" altLang="ko-KR" sz="1400">
                          <a:effectLst/>
                        </a:rPr>
                        <a:t>+ </a:t>
                      </a:r>
                      <a:r>
                        <a:rPr lang="ko-KR" altLang="en-US" sz="1400">
                          <a:effectLst/>
                        </a:rPr>
                        <a:t>제조사 임베딩 </a:t>
                      </a:r>
                      <a:r>
                        <a:rPr lang="en-US" altLang="ko-KR" sz="1400">
                          <a:effectLst/>
                        </a:rPr>
                        <a:t>+ AEC (</a:t>
                      </a:r>
                      <a:r>
                        <a:rPr lang="ko-KR" altLang="en-US" sz="1400">
                          <a:effectLst/>
                        </a:rPr>
                        <a:t>매칭</a:t>
                      </a:r>
                      <a:r>
                        <a:rPr lang="en-US" altLang="ko-KR" sz="140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5-Fold CV / Hold-Out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LR, </a:t>
                      </a:r>
                      <a:r>
                        <a:rPr lang="en-US" sz="1400" dirty="0" err="1">
                          <a:effectLst/>
                        </a:rPr>
                        <a:t>CrossAttn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30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FA073-558E-6C46-845B-1795E9A58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AB5B1F-F644-F178-AB17-E296382ED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연구 결과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B75760-3118-EFBC-F61E-FC177DD36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72701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4036FA1-4DD4-783C-1DCB-104CFAD3FF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– Clinic [Age, Sex, BMI]</a:t>
            </a:r>
          </a:p>
          <a:p>
            <a:pPr lvl="1"/>
            <a:r>
              <a:rPr lang="en-US" altLang="ko-KR" dirty="0"/>
              <a:t>5-fold CV (Logistic Regression)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EE54B7A-58D5-A265-CBE5-3B9A9BD8C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836795"/>
              </p:ext>
            </p:extLst>
          </p:nvPr>
        </p:nvGraphicFramePr>
        <p:xfrm>
          <a:off x="1306217" y="2100714"/>
          <a:ext cx="957956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0.8137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0.3911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0.1828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0.7598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0.3951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0.6623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0.2318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0.2013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0.1959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0.6995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0.3441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0.8101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0.1716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0.7192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0.3448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0.8767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0.5216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0.1872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0.3958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Mean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0.7912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0.3737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0.1877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0.7217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0.3510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</a:rPr>
                        <a:t>±Std</a:t>
                      </a: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0.0704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0.0978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0.0104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0.0202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0.0443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139B0-493C-F65F-132C-5C7E37C1D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95B2C1-480C-A431-9D66-D1AB63DBA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B6C0A1-BD1A-6B5C-82D1-1C441D1D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DF026D0-66DA-3524-3A84-0B8D4589D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– Clinic [Age, Sex, BMI]</a:t>
            </a:r>
          </a:p>
          <a:p>
            <a:pPr lvl="1"/>
            <a:r>
              <a:rPr lang="en-US" altLang="ko-KR" dirty="0"/>
              <a:t>5-fold CV (ResNet1D)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7649F697-16F3-66DC-8FC1-7F97796BE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279299"/>
              </p:ext>
            </p:extLst>
          </p:nvPr>
        </p:nvGraphicFramePr>
        <p:xfrm>
          <a:off x="1306217" y="2100714"/>
          <a:ext cx="957956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0.4324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0.9161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0.8080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0.3811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0.1877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0.7267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0.3898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±Std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0.0893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0.0094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8067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17C09-5606-1902-9964-277BD9ACA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F770EC-FC89-8D5D-C355-5EF3F13C9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A91ED0-2FBE-BB16-994D-B68593D28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D6193819-33A5-6699-21F4-469F5D8B0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– Clinic [Age, Sex, BMI]</a:t>
            </a:r>
          </a:p>
          <a:p>
            <a:pPr lvl="1"/>
            <a:r>
              <a:rPr lang="en-US" altLang="ko-KR" dirty="0"/>
              <a:t>Test Set Performance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성별 </a:t>
            </a:r>
            <a:r>
              <a:rPr lang="en-US" altLang="ko-KR" dirty="0"/>
              <a:t>Test AUC</a:t>
            </a:r>
          </a:p>
        </p:txBody>
      </p:sp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38154346-FB3D-08D2-DC74-C72D8CBB42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176161"/>
              </p:ext>
            </p:extLst>
          </p:nvPr>
        </p:nvGraphicFramePr>
        <p:xfrm>
          <a:off x="1306217" y="2100714"/>
          <a:ext cx="9579564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0.8291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0.6980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0.3471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0.1848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0.7529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0.3883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416027"/>
                  </a:ext>
                </a:extLst>
              </a:tr>
            </a:tbl>
          </a:graphicData>
        </a:graphic>
      </p:graphicFrame>
      <p:graphicFrame>
        <p:nvGraphicFramePr>
          <p:cNvPr id="9" name="Table 24">
            <a:extLst>
              <a:ext uri="{FF2B5EF4-FFF2-40B4-BE49-F238E27FC236}">
                <a16:creationId xmlns:a16="http://schemas.microsoft.com/office/drawing/2014/main" id="{9F901696-7F52-5EA6-6A7E-3E3C7CB72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8311566"/>
              </p:ext>
            </p:extLst>
          </p:nvPr>
        </p:nvGraphicFramePr>
        <p:xfrm>
          <a:off x="1306217" y="4030624"/>
          <a:ext cx="688855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7612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2146663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2146663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서브모델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전체 </a:t>
                      </a:r>
                      <a:r>
                        <a:rPr lang="en-US" sz="1400" b="1" dirty="0">
                          <a:effectLst/>
                        </a:rPr>
                        <a:t>AUC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남성 </a:t>
                      </a:r>
                      <a:r>
                        <a:rPr lang="en-US" sz="1400" b="1" dirty="0">
                          <a:effectLst/>
                        </a:rPr>
                        <a:t>AUC (n=99)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여성 </a:t>
                      </a:r>
                      <a:r>
                        <a:rPr lang="en-US" sz="1400" b="1" dirty="0">
                          <a:effectLst/>
                        </a:rPr>
                        <a:t>AUC (n=156)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Log. Reg.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0.7669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0.8345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3235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effectLst/>
                        </a:rPr>
                        <a:t>ResNet1D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0.7245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0.8376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4160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6301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0485B-967B-3BC2-7E54-E443694AE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30A3E7-8D6F-EA63-9FC1-C9D756B8B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0378B2-255A-6243-535A-6EE9C3E06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AF6560D1-47A2-CAE7-F71F-5AC6FFDD4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– Clinic [Age, Sex, BMI] + AEC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972EE0C4-535E-F0BA-C29C-22D20CA02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8916708"/>
              </p:ext>
            </p:extLst>
          </p:nvPr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0.8195 ± 0.0709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0.4083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0.8062 ± 0.0733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0.8105 ± 0.0629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0.2004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0.3475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0.8068 ± 0.0644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0.1776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4787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C806E-B41E-B105-D94A-62A360DC4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9C81A0-DB0B-40F0-7783-8EA8E8770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DA2A2-514E-83E0-CF1E-25F1455E3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0AA79EC0-4153-D468-5B34-DF3687417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– Clinic [Age, Sex, BMI] + AEC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F6EDC4AE-2182-DECC-A4C9-671EAE06769A}"/>
              </a:ext>
            </a:extLst>
          </p:cNvPr>
          <p:cNvGraphicFramePr>
            <a:graphicFrameLocks noGrp="1"/>
          </p:cNvGraphicFramePr>
          <p:nvPr/>
        </p:nvGraphicFramePr>
        <p:xfrm>
          <a:off x="1306217" y="2100714"/>
          <a:ext cx="957956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0.4324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0.9161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0.8080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0.3811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0.1877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0.7267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0.3898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±Std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0.0893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0.0094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9863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0AE1B-CC0B-53E6-217E-DD0A2F3C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07C863-A3A6-1050-EACD-B87F29F0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95929C-1793-2686-D6B3-EC5B5C9D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EF0CA71-767C-5E24-1880-D4139F32C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2_2 – Clinic [Age, Sex, BMI] + AEC (Shuffle, </a:t>
            </a:r>
            <a:r>
              <a:rPr lang="ko-KR" altLang="en-US" dirty="0"/>
              <a:t>음성 대조군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AEC </a:t>
            </a:r>
            <a:r>
              <a:rPr lang="ko-KR" altLang="en-US" dirty="0"/>
              <a:t>행 순서를 무작위 </a:t>
            </a:r>
            <a:r>
              <a:rPr lang="en-US" altLang="ko-KR" dirty="0"/>
              <a:t>Shuffle</a:t>
            </a:r>
            <a:r>
              <a:rPr lang="ko-KR" altLang="en-US" dirty="0"/>
              <a:t>하여 임상</a:t>
            </a:r>
            <a:r>
              <a:rPr lang="en-US" altLang="ko-KR" dirty="0"/>
              <a:t>-AEC </a:t>
            </a:r>
            <a:r>
              <a:rPr lang="ko-KR" altLang="en-US" dirty="0"/>
              <a:t>매핑을 제거한 음성 대조 실험</a:t>
            </a:r>
            <a:r>
              <a:rPr lang="en-US" altLang="ko-KR" dirty="0"/>
              <a:t>. Cross </a:t>
            </a:r>
            <a:r>
              <a:rPr lang="en-US" altLang="ko-KR" dirty="0" err="1"/>
              <a:t>Attentionn</a:t>
            </a:r>
            <a:r>
              <a:rPr lang="ko-KR" altLang="en-US" dirty="0"/>
              <a:t>이 </a:t>
            </a:r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ko-KR" altLang="en-US" dirty="0" err="1"/>
              <a:t>순서적</a:t>
            </a:r>
            <a:r>
              <a:rPr lang="ko-KR" altLang="en-US" dirty="0"/>
              <a:t> 패턴을 학습하는지 </a:t>
            </a:r>
            <a:r>
              <a:rPr lang="en-US" altLang="ko-KR" dirty="0"/>
              <a:t>vs </a:t>
            </a:r>
            <a:r>
              <a:rPr lang="ko-KR" altLang="en-US" dirty="0"/>
              <a:t>단순 분포 정보만 활용하는지 검증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71159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49D4-DFAC-4C7B-0788-AC6FBC9B9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D06527-97DE-BC2F-0525-08657350C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B03BBC-EB6A-4254-79BD-815B8B9F3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9245228D-E187-43F9-0495-C5DA2201F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2_2 – Clinic [Age, Sex, BMI] + AEC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87A2253-69BD-F29B-FF21-12E417EE83EF}"/>
              </a:ext>
            </a:extLst>
          </p:cNvPr>
          <p:cNvGraphicFramePr>
            <a:graphicFrameLocks noGrp="1"/>
          </p:cNvGraphicFramePr>
          <p:nvPr/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0.8195 ± 0.0709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0.4083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0.8062 ± 0.0733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0.8105 ± 0.0629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0.2004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0.3475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0.8068 ± 0.0644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0.1776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1471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AD670-8C8E-4410-3DF6-67C9E1F90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92B10B-5436-C564-EDD2-66DDAA0D4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F51801-EDD1-D0F1-AF4B-6E87AB4A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2A2C7EA-71F6-DB21-9559-3A756C07A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2_2 – Clinic [Age, Sex, BMI] + AEC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707B20FA-FF11-815A-CF94-7340F6C3AA6C}"/>
              </a:ext>
            </a:extLst>
          </p:cNvPr>
          <p:cNvGraphicFramePr>
            <a:graphicFrameLocks noGrp="1"/>
          </p:cNvGraphicFramePr>
          <p:nvPr/>
        </p:nvGraphicFramePr>
        <p:xfrm>
          <a:off x="1306217" y="2100714"/>
          <a:ext cx="957956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0.4324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0.9161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0.8080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0.3811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0.1877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0.7267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0.3898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±Std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0.0893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0.0094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1575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80BAB-0F20-AF9B-3D30-A973A1E2E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8D932-AF9C-2841-F717-EAF9ABEDC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748486-8342-BA40-BA00-BCDD3B06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897FCFE1-6D3F-08EA-968E-D374E648B7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3 – Clinic [Age, Sex, BMI] + AEC + Scanner</a:t>
            </a:r>
          </a:p>
          <a:p>
            <a:pPr lvl="1"/>
            <a:r>
              <a:rPr lang="en-US" altLang="ko-KR" dirty="0"/>
              <a:t>5-fold CV (Cross Attention – </a:t>
            </a:r>
            <a:r>
              <a:rPr lang="en-US" altLang="ko-KR" dirty="0" err="1"/>
              <a:t>ScalarFeatureTokenizer</a:t>
            </a:r>
            <a:r>
              <a:rPr lang="en-US" altLang="ko-KR" dirty="0"/>
              <a:t>, ResNet1DEncoder)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D768800-0343-9E1F-CFAB-AAE49BBE2ADE}"/>
              </a:ext>
            </a:extLst>
          </p:cNvPr>
          <p:cNvGraphicFramePr>
            <a:graphicFrameLocks noGrp="1"/>
          </p:cNvGraphicFramePr>
          <p:nvPr/>
        </p:nvGraphicFramePr>
        <p:xfrm>
          <a:off x="1188685" y="2118131"/>
          <a:ext cx="981463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2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9629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조건</a:t>
                      </a:r>
                      <a:endParaRPr lang="en-US" sz="1400" b="1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AUC (</a:t>
                      </a:r>
                      <a:r>
                        <a:rPr lang="en-US" sz="1400" b="1" dirty="0" err="1">
                          <a:effectLst/>
                        </a:rPr>
                        <a:t>mean±std</a:t>
                      </a:r>
                      <a:r>
                        <a:rPr lang="en-US" sz="1400" b="1" dirty="0">
                          <a:effectLst/>
                        </a:rPr>
                        <a:t>)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CV 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0.8195 ± 0.0709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0.4083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0.2055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0.3707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Len64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0.8062 ± 0.0733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0.3810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0.1889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0.3546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0.8105 ± 0.0629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0.3838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0.2004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0.3475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Len128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0.8068 ± 0.0644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0.4012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0.1776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0.3607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Len256 | Clinic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0" dirty="0">
                          <a:effectLst/>
                        </a:rPr>
                        <a:t>Len256 | Both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ko-KR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68281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EC80B-10B7-CDA2-F197-46556B3C0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04E662-8448-6BBC-DD98-8D53EFE75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9F928-EA0D-5C50-3FB7-689F2A83A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6E858980-9707-9F0E-3B26-5D5AADC04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3 – Clinic [Age, Sex, BMI] + AEC + Scanner</a:t>
            </a:r>
          </a:p>
          <a:p>
            <a:pPr lvl="1"/>
            <a:r>
              <a:rPr lang="en-US" altLang="ko-KR" dirty="0"/>
              <a:t>Test Set Performance</a:t>
            </a:r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888909B3-538E-2E52-DA24-C4E39CB3C56D}"/>
              </a:ext>
            </a:extLst>
          </p:cNvPr>
          <p:cNvGraphicFramePr>
            <a:graphicFrameLocks noGrp="1"/>
          </p:cNvGraphicFramePr>
          <p:nvPr/>
        </p:nvGraphicFramePr>
        <p:xfrm>
          <a:off x="1306217" y="2100714"/>
          <a:ext cx="957956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5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Fold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AUC-ROC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Accuracy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0.8247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0.3706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0.1920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0.4103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96113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0.7122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0.2745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0.1916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76848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0.7918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0.3117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0.1949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0.6650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0.3462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302118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0.7951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0.4184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0.1691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0.7931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0.4324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75154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0.9161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0.5300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0.1910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0.7389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0.4301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93842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Mean</a:t>
                      </a:r>
                      <a:endParaRPr 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0.8080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0.3811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0.1877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0.7267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0.3898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12816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±Std</a:t>
                      </a:r>
                      <a:endParaRPr lang="en-US" sz="1400" dirty="0">
                        <a:effectLst/>
                      </a:endParaRP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0.0657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0.0893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0.0094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0.0545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0.0432</a:t>
                      </a:r>
                    </a:p>
                  </a:txBody>
                  <a:tcPr marL="123825" marR="123825" marT="57150" marB="571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09286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1974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2203</TotalTime>
  <Words>2061</Words>
  <Application>Microsoft Office PowerPoint</Application>
  <PresentationFormat>와이드스크린</PresentationFormat>
  <Paragraphs>831</Paragraphs>
  <Slides>30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맑은 고딕</vt:lpstr>
      <vt:lpstr>Arial</vt:lpstr>
      <vt:lpstr>KoPub돋움체 Bold</vt:lpstr>
      <vt:lpstr>KoPub돋움체 Medium</vt:lpstr>
      <vt:lpstr>Office 테마</vt:lpstr>
      <vt:lpstr>PowerPoint 프레젠테이션</vt:lpstr>
      <vt:lpstr>1. What’s discussed in the last meetings</vt:lpstr>
      <vt:lpstr>2. Research Summary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SMI Cutoff Setting</vt:lpstr>
      <vt:lpstr>3. Detailed progress</vt:lpstr>
      <vt:lpstr>3. Detailed progress</vt:lpstr>
      <vt:lpstr>모델 구성</vt:lpstr>
      <vt:lpstr>3. Detailed progress</vt:lpstr>
      <vt:lpstr>연구 결과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202</cp:revision>
  <dcterms:created xsi:type="dcterms:W3CDTF">2026-04-09T07:05:16Z</dcterms:created>
  <dcterms:modified xsi:type="dcterms:W3CDTF">2026-05-13T12:03:59Z</dcterms:modified>
</cp:coreProperties>
</file>