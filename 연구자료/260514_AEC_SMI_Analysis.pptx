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9"/>
  </p:notesMasterIdLst>
  <p:sldIdLst>
    <p:sldId id="256" r:id="rId2"/>
    <p:sldId id="258" r:id="rId3"/>
    <p:sldId id="524" r:id="rId4"/>
    <p:sldId id="548" r:id="rId5"/>
    <p:sldId id="346" r:id="rId6"/>
    <p:sldId id="350" r:id="rId7"/>
    <p:sldId id="351" r:id="rId8"/>
    <p:sldId id="352" r:id="rId9"/>
    <p:sldId id="469" r:id="rId10"/>
    <p:sldId id="470" r:id="rId11"/>
    <p:sldId id="488" r:id="rId12"/>
    <p:sldId id="528" r:id="rId13"/>
    <p:sldId id="549" r:id="rId14"/>
    <p:sldId id="542" r:id="rId15"/>
    <p:sldId id="525" r:id="rId16"/>
    <p:sldId id="404" r:id="rId17"/>
    <p:sldId id="543" r:id="rId18"/>
    <p:sldId id="526" r:id="rId19"/>
    <p:sldId id="550" r:id="rId20"/>
    <p:sldId id="551" r:id="rId21"/>
    <p:sldId id="554" r:id="rId22"/>
    <p:sldId id="552" r:id="rId23"/>
    <p:sldId id="555" r:id="rId24"/>
    <p:sldId id="556" r:id="rId25"/>
    <p:sldId id="557" r:id="rId26"/>
    <p:sldId id="561" r:id="rId27"/>
    <p:sldId id="562" r:id="rId28"/>
    <p:sldId id="559" r:id="rId29"/>
    <p:sldId id="563" r:id="rId30"/>
    <p:sldId id="564" r:id="rId31"/>
    <p:sldId id="567" r:id="rId32"/>
    <p:sldId id="568" r:id="rId33"/>
    <p:sldId id="565" r:id="rId34"/>
    <p:sldId id="566" r:id="rId35"/>
    <p:sldId id="569" r:id="rId36"/>
    <p:sldId id="570" r:id="rId37"/>
    <p:sldId id="479" r:id="rId38"/>
  </p:sldIdLst>
  <p:sldSz cx="12192000" cy="6858000"/>
  <p:notesSz cx="6858000" cy="9144000"/>
  <p:embeddedFontLst>
    <p:embeddedFont>
      <p:font typeface="KoPub돋움체 Bold" panose="00000800000000000000" pitchFamily="2" charset="-127"/>
      <p:bold r:id="rId40"/>
    </p:embeddedFont>
    <p:embeddedFont>
      <p:font typeface="KoPub돋움체 Medium" panose="00000600000000000000" pitchFamily="2" charset="-127"/>
      <p:regular r:id="rId41"/>
    </p:embeddedFont>
    <p:embeddedFont>
      <p:font typeface="맑은 고딕" panose="020B0503020000020004" pitchFamily="50" charset="-127"/>
      <p:regular r:id="rId42"/>
      <p:bold r:id="rId4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8"/>
            <p14:sldId id="524"/>
            <p14:sldId id="548"/>
            <p14:sldId id="346"/>
            <p14:sldId id="350"/>
            <p14:sldId id="351"/>
            <p14:sldId id="352"/>
            <p14:sldId id="469"/>
            <p14:sldId id="470"/>
            <p14:sldId id="488"/>
            <p14:sldId id="528"/>
            <p14:sldId id="549"/>
            <p14:sldId id="542"/>
            <p14:sldId id="525"/>
            <p14:sldId id="404"/>
            <p14:sldId id="543"/>
            <p14:sldId id="526"/>
            <p14:sldId id="550"/>
            <p14:sldId id="551"/>
            <p14:sldId id="554"/>
            <p14:sldId id="552"/>
            <p14:sldId id="555"/>
            <p14:sldId id="556"/>
            <p14:sldId id="557"/>
            <p14:sldId id="561"/>
            <p14:sldId id="562"/>
            <p14:sldId id="559"/>
            <p14:sldId id="563"/>
            <p14:sldId id="564"/>
            <p14:sldId id="567"/>
            <p14:sldId id="568"/>
            <p14:sldId id="565"/>
            <p14:sldId id="566"/>
            <p14:sldId id="569"/>
            <p14:sldId id="570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82185" autoAdjust="0"/>
  </p:normalViewPr>
  <p:slideViewPr>
    <p:cSldViewPr snapToGrid="0">
      <p:cViewPr varScale="1">
        <p:scale>
          <a:sx n="161" d="100"/>
          <a:sy n="161" d="100"/>
        </p:scale>
        <p:origin x="2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0042-F557-0E94-7C78-40205A1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170C6C-B9DF-BB92-BE01-1127AE8AB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9CB311-8A08-9B6E-E1E6-BE4865BFA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2932C-C555-3416-FC2C-C5443B8FA0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663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EBF19-EE3F-65A2-1162-FB04E8376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8D60B6-9609-66C7-4D66-C7EC8AED3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12049A-92CC-D1CB-0C49-4EF50B4D7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FF3FB-ACFF-4030-32EF-A08CEE96C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9341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5A912-E5DB-C050-E065-5828A5E4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D11A81-CD75-D940-EF31-507801080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6D308-0A22-922A-98EF-A6F10C547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FA01C8-AD53-4B8F-0434-4748CB898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148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17A5-299C-0E89-CFC0-04FC1AC7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265D41-5613-90FC-CB71-156E242C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655DFF-5422-5676-A2DE-46681E04C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4D810-BC5C-2B70-9544-E903A1A2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1809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40FC4-9D77-11F3-B5D9-82690C75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3F0887-E898-A16F-E2E8-7C04A844A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C0F98-8A52-9A03-6E65-4DEE9B5E6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51879-C6F6-D4F2-2483-06B9EA61F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61848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CD591-7CB6-3C40-5D37-755621D58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02C8F-A516-AD55-EE1B-FB3538D1DE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AF47CF-4C7D-D05E-AE94-26BD2B36C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70E427-B9AE-2028-E013-CDE99CF9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377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2B7C6-71EC-B1BC-C320-8924CBD72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E07F09-0F9C-3D8C-D900-DAAA5BB34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317F1-3613-8D77-5EA2-22123DCA5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9C03B-59ED-189F-2914-C9092A443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5203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8AD4F-EFA8-3809-B516-B567B8CB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692349-75AC-0FC6-4807-14A738F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320D85-88E9-0DA2-0A97-35CC608C22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80AC9-E096-F4E2-3DC0-07CD0C560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8895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2FEC-F77D-26D8-807D-BECE5D140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919064-8322-D797-BDC3-006E70228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0CF700-84ED-DDF9-44E3-E0AF69B52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80D884-1107-D727-19A9-FE1A80DE6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970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7C0C8-2C08-AAC6-45FF-6BAACFA2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BF691-5916-E24B-AB73-AC087BA5B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F36C0E-206B-01F5-6CC1-D7735B74C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F50D2-4001-476D-5FBE-89BC6C4FE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4954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6CE54-7EC0-3146-EE4C-C8F19111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827504-C6A6-C5CB-944B-8D9292011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4439C1-326F-E4A3-A7E9-F29EFF2EA5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F7FD5-6970-A482-755D-09C1E713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48887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BAF1-347D-B03F-5DF5-0190776A4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FDFFF6-B0C8-0994-D4AD-3CAB24C0D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3FDE85-37C4-ADF6-A645-3D983BF57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93573-4B47-F737-DE1C-F6CB99B97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9832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FC2D6-6E88-EEDB-1B58-D8B259F2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48FE-08F2-A5B0-48C2-77DC0EF4A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0D920B-EAA8-5703-C802-BF9887865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1ABD68-026D-90EF-7BA0-2D9A879B44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141945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15484-EB8C-0BA9-6AAC-C8F594266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124E01-9CF2-5CFF-E759-F0D8D6A9B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5404A2-50A2-B892-9139-EB6EDBA08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027BAC-5E59-9F67-5DA1-A0597296F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8204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BEEC4-909C-BD23-D013-1EAA847F2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918E8A-38C9-AB57-D9D5-2A2ABA089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1BAB61-AF87-35F5-34C3-DF0BE7B00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F1A874-396F-FDA9-5B17-63865F0AF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7471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ED62C-453A-7F14-2753-4FEDE845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25FA33-D273-F2E7-5D2E-7CCB421D4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765F2A-E342-068E-B256-7B020BBDE5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7F7113-A6D0-F2B8-5CAF-AB32D7551D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116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87339-BAAB-C522-2EEA-4662CA6F6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424897-85DC-AB2D-BBD1-C97D3853F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33F27D-6BC6-57BC-B97C-2382180C6D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0546F3-5355-6512-60F7-D6AF738B7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72034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5885-09D1-C571-177A-218A6B51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E0AB3-67AE-2AFF-1DDB-3DF5F92D8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69DA0E-EF96-258F-7531-03767BDED0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E7685-F4D3-4520-2DB9-28C2A10AB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0661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BD418-83E2-9A01-872C-CA86AB60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93239B-B114-3BD9-F0CC-0873E13A2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C93ED7-EC55-2CB5-2158-F786CC71B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8A9D6D-812B-B8F9-EFDF-BAE1EA184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7098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D22AB-A816-B523-7228-6A5471406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1C6991-5AC0-8BFE-B0DD-9A3BE510E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C6E563-1688-A2D1-C83F-947E28F23E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6D6AB0-DD5F-2A9C-EBDE-29492F8D1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4561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Regression &amp; 1D CNN Result Comparison with AEC, SMI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2026. 05. 14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동일하게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36715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Model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591876"/>
              </p:ext>
            </p:extLst>
          </p:nvPr>
        </p:nvGraphicFramePr>
        <p:xfrm>
          <a:off x="811713" y="1714954"/>
          <a:ext cx="1056857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CrossAttn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CrossAttn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LR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317348"/>
              </p:ext>
            </p:extLst>
          </p:nvPr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1,372 </a:t>
            </a:r>
            <a:r>
              <a:rPr lang="ko-KR" altLang="en-US" dirty="0"/>
              <a:t>→ </a:t>
            </a:r>
            <a:r>
              <a:rPr lang="en-US" altLang="ko-KR" dirty="0" err="1"/>
              <a:t>kVp</a:t>
            </a:r>
            <a:r>
              <a:rPr lang="ko-KR" altLang="en-US" dirty="0"/>
              <a:t> 및 모델명 </a:t>
            </a:r>
            <a:r>
              <a:rPr lang="en-US" altLang="ko-KR" dirty="0"/>
              <a:t>Filtering : 1,272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456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816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80901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816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38.21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5.93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34.53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37.68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456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43.27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 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= (TAMA-IMATA)/Height(m)</a:t>
            </a:r>
            <a:r>
              <a:rPr lang="en-US" altLang="ko-KR" sz="1600" baseline="30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</a:t>
            </a:r>
            <a:endParaRPr lang="ko-KR" alt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164C-0341-8A87-1C72-A7829557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FA1261-B2A2-80CF-1A62-0928B875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677DC-2134-E89C-2C49-37A5610C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37AEF3-9A49-E70D-9D01-C4D8829C7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</a:t>
            </a:r>
          </a:p>
          <a:p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642AD93-3DBA-B1E1-EF1C-A32E15C5D9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860501"/>
              </p:ext>
            </p:extLst>
          </p:nvPr>
        </p:nvGraphicFramePr>
        <p:xfrm>
          <a:off x="1180920" y="1828348"/>
          <a:ext cx="9830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62617">
                  <a:extLst>
                    <a:ext uri="{9D8B030D-6E8A-4147-A177-3AD203B41FA5}">
                      <a16:colId xmlns:a16="http://schemas.microsoft.com/office/drawing/2014/main" val="815128434"/>
                    </a:ext>
                  </a:extLst>
                </a:gridCol>
                <a:gridCol w="1362617">
                  <a:extLst>
                    <a:ext uri="{9D8B030D-6E8A-4147-A177-3AD203B41FA5}">
                      <a16:colId xmlns:a16="http://schemas.microsoft.com/office/drawing/2014/main" val="196346252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Split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Sex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Normal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Normal %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Sarco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Sarco %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Age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BMI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Train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357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297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83.2%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16.8%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59.35 ± 12.80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24.17 ± 3.31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660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609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92.3%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7.7%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55.60 ± 11.74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23.01 ± 3.24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49738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All</a:t>
                      </a:r>
                      <a:endParaRPr 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1017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906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89.1%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10.9%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56.92 ± 12.25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23.42 ± 3.31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731768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Test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99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82.8%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17.2%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61.58 ± 10.97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24.03 ± 3.22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6312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156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145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92.9%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7.1%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55.71 ± 13.31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23.22 ± 3.52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23825" marR="1238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All</a:t>
                      </a:r>
                      <a:endParaRPr 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255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227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89.0%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28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11.0%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57.98 ± 12.78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23.54 ± 3.43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2097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BDFCF-C338-3132-BA10-4462AEB5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15A61F64-D8D3-8D35-4846-895558AA0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6130" y="757643"/>
            <a:ext cx="8499739" cy="562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373744-C5D2-1AC4-CA74-A253751F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DC634-1B31-FB52-2479-E5F13C23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71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DDAD5-9D6C-6EC7-5990-893B8275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758E8-AA34-8F76-DD33-10F28B80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SMI Cutoff Setting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8B72B6-EEF1-15E0-344B-A95E37C6B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122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BD5158-50E0-52B3-29CB-5B07C0DD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BA23B-101E-8452-0205-F8D06B18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B94B7A-09AD-CA01-AE12-3AB46EEB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20C8321-88FC-8692-CF5E-487903F7B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D51D99C-9475-56D3-1EB5-5EE50C156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42707"/>
              </p:ext>
            </p:extLst>
          </p:nvPr>
        </p:nvGraphicFramePr>
        <p:xfrm>
          <a:off x="813162" y="1722435"/>
          <a:ext cx="10591438" cy="3752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6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저자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대상 국가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대상군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특성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평균 나이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Mean±SD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나이 범위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Range)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Prado et al. (2009)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 err="1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전이성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유방암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54.8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10.4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37~80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Yoon et al. (2021)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건강한 간 기증자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31.5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20~59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JSH (2016)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만성 간 질환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19~89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Carey et al. (2017)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북미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간 이식 대기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(IQR: 51~62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Martin et al. (2013)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폐암 및 소화기암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남성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: 64.7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여성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: 64.8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기술되지 않음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현재 연구 데이터</a:t>
                      </a:r>
                      <a:endParaRPr 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12.5</a:t>
                      </a:r>
                      <a:r>
                        <a:rPr lang="ko-KR" altLang="en-US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55.6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12.2</a:t>
                      </a:r>
                      <a:r>
                        <a:rPr lang="ko-KR" altLang="en-US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11~91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60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59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B39C32D-90A5-3994-A392-8DDD3A8B9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57878"/>
              </p:ext>
            </p:extLst>
          </p:nvPr>
        </p:nvGraphicFramePr>
        <p:xfrm>
          <a:off x="813162" y="1722435"/>
          <a:ext cx="105914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연도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대상 국가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Prado et al. (2009)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dirty="0"/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78.1% (356/456)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59.7% (487/816)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Martin et al. (2013)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53.0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80.9% (369/456)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76.8% (627/816)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Carey et al. (2017)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미국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65.6% (299/456)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63.5% (518/816)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JSH (2016)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22.6% (103/456)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55.0% (449/816)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Yoon et al. (2021)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39.33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27.7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13.8% (63/456)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2.7% (22/816)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40.96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30.6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16.9% (77/456)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7.6% (62/816)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C735D-9C80-0BA1-2640-30BD8ECA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FC9B4-F6C4-1DD2-1EF2-E299BAD4B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모델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D1DDEF-C57D-CCEF-000B-2FF9BE05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4661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ADAF-4EEE-EC7B-DA6B-1DC91DB7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7E9B4-6ADD-4241-4DFC-115ED07B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2CD9A8-8807-F1DE-3F1F-996F2C722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4AAF05-2CE7-0403-088D-F047E10A8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SMI Binary threshold: </a:t>
            </a:r>
            <a:r>
              <a:rPr lang="ko-KR" altLang="en-US" dirty="0"/>
              <a:t>남성</a:t>
            </a:r>
            <a:r>
              <a:rPr lang="en-US" altLang="ko-KR" dirty="0"/>
              <a:t> – 40.96, </a:t>
            </a:r>
            <a:r>
              <a:rPr lang="ko-KR" altLang="en-US" dirty="0"/>
              <a:t>여성 </a:t>
            </a:r>
            <a:r>
              <a:rPr lang="en-US" altLang="ko-KR" dirty="0"/>
              <a:t>– 30.6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AEC points</a:t>
            </a:r>
            <a:r>
              <a:rPr lang="ko-KR" altLang="en-US" dirty="0"/>
              <a:t> 변환</a:t>
            </a:r>
            <a:r>
              <a:rPr lang="en-US" altLang="ko-KR" dirty="0"/>
              <a:t>: [64, 128, 256] points</a:t>
            </a:r>
            <a:r>
              <a:rPr lang="ko-KR" altLang="en-US" dirty="0"/>
              <a:t>로 세분화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StandardScaler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: Clinic (</a:t>
            </a:r>
            <a:r>
              <a:rPr lang="ko-KR" altLang="en-US" dirty="0"/>
              <a:t>임상변수만 표준화</a:t>
            </a:r>
            <a:r>
              <a:rPr lang="en-US" altLang="ko-KR" dirty="0"/>
              <a:t>), Both (</a:t>
            </a:r>
            <a:r>
              <a:rPr lang="ko-KR" altLang="en-US" dirty="0"/>
              <a:t>임상</a:t>
            </a:r>
            <a:r>
              <a:rPr lang="en-US" altLang="ko-KR" dirty="0"/>
              <a:t>+AEC </a:t>
            </a:r>
            <a:r>
              <a:rPr lang="ko-KR" altLang="en-US" dirty="0"/>
              <a:t>모두 표준화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Test </a:t>
            </a:r>
            <a:r>
              <a:rPr lang="ko-KR" altLang="en-US" dirty="0"/>
              <a:t>전략</a:t>
            </a:r>
            <a:r>
              <a:rPr lang="en-US" altLang="ko-KR" dirty="0"/>
              <a:t>: CV fold best epoch</a:t>
            </a:r>
            <a:r>
              <a:rPr lang="ko-KR" altLang="en-US" dirty="0"/>
              <a:t>의 </a:t>
            </a:r>
            <a:r>
              <a:rPr lang="en-US" altLang="ko-KR" dirty="0"/>
              <a:t>median</a:t>
            </a:r>
            <a:r>
              <a:rPr lang="ko-KR" altLang="en-US" dirty="0"/>
              <a:t>으로 전체 </a:t>
            </a:r>
            <a:r>
              <a:rPr lang="en-US" altLang="ko-KR" dirty="0"/>
              <a:t>train set </a:t>
            </a:r>
            <a:r>
              <a:rPr lang="ko-KR" altLang="en-US" dirty="0" err="1"/>
              <a:t>재학습</a:t>
            </a:r>
            <a:r>
              <a:rPr lang="ko-KR" altLang="en-US" dirty="0"/>
              <a:t> 후 </a:t>
            </a:r>
            <a:r>
              <a:rPr lang="en-US" altLang="ko-KR" dirty="0"/>
              <a:t>test </a:t>
            </a:r>
            <a:r>
              <a:rPr lang="ko-KR" altLang="en-US" dirty="0"/>
              <a:t>예측</a:t>
            </a:r>
            <a:r>
              <a:rPr lang="en-US" altLang="ko-KR" dirty="0"/>
              <a:t> </a:t>
            </a: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8978DFC-E5CC-E84B-52D2-3439F6487D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915376"/>
              </p:ext>
            </p:extLst>
          </p:nvPr>
        </p:nvGraphicFramePr>
        <p:xfrm>
          <a:off x="1306217" y="1064394"/>
          <a:ext cx="957956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265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2356963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2029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입력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학습 방식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M1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(</a:t>
                      </a:r>
                      <a:r>
                        <a:rPr lang="en-US" sz="1400">
                          <a:effectLst/>
                        </a:rPr>
                        <a:t>Age, Sex, BMI)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5-Fold CV / Hold-Out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89024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M2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</a:t>
                      </a:r>
                      <a:r>
                        <a:rPr lang="en-US" sz="1400">
                          <a:effectLst/>
                        </a:rPr>
                        <a:t>AEC (</a:t>
                      </a:r>
                      <a:r>
                        <a:rPr lang="ko-KR" altLang="en-US" sz="1400">
                          <a:effectLst/>
                        </a:rPr>
                        <a:t>매칭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M2_2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AEC (</a:t>
                      </a:r>
                      <a:r>
                        <a:rPr lang="ko-KR" altLang="en-US" sz="1400" b="1">
                          <a:effectLst/>
                        </a:rPr>
                        <a:t>셔플</a:t>
                      </a:r>
                      <a:r>
                        <a:rPr lang="en-US" altLang="ko-KR" sz="1400" b="1">
                          <a:effectLst/>
                        </a:rPr>
                        <a:t>, </a:t>
                      </a:r>
                      <a:r>
                        <a:rPr lang="ko-KR" altLang="en-US" sz="1400" b="1">
                          <a:effectLst/>
                        </a:rPr>
                        <a:t>음성 대조군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M3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</a:t>
                      </a:r>
                      <a:r>
                        <a:rPr lang="ko-KR" altLang="en-US" sz="1400">
                          <a:effectLst/>
                        </a:rPr>
                        <a:t>제조사 임베딩 </a:t>
                      </a:r>
                      <a:r>
                        <a:rPr lang="en-US" altLang="ko-KR" sz="1400">
                          <a:effectLst/>
                        </a:rPr>
                        <a:t>+ AEC (</a:t>
                      </a:r>
                      <a:r>
                        <a:rPr lang="ko-KR" altLang="en-US" sz="1400">
                          <a:effectLst/>
                        </a:rPr>
                        <a:t>매칭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LR, </a:t>
                      </a: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30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FA073-558E-6C46-845B-1795E9A5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B5B1F-F644-F178-AB17-E296382ED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연구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75760-3118-EFBC-F61E-FC177DD36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72701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4036FA1-4DD4-783C-1DCB-104CFAD3F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5-fold CV (Logistic Regression)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EE54B7A-58D5-A265-CBE5-3B9A9BD8C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836795"/>
              </p:ext>
            </p:extLst>
          </p:nvPr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0.8767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Mean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0.7912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0.3737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0.7217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0.3510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±Std</a:t>
                      </a: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0.0202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139B0-493C-F65F-132C-5C7E37C1D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95B2C1-480C-A431-9D66-D1AB63DBA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B6C0A1-BD1A-6B5C-82D1-1C441D1D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DF026D0-66DA-3524-3A84-0B8D4589D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5-fold CV (ResNet1D)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649F697-16F3-66DC-8FC1-7F97796BE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279299"/>
              </p:ext>
            </p:extLst>
          </p:nvPr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0.4324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0.9161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0.8080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0.7267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0.3898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±Std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806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17C09-5606-1902-9964-277BD9ACA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F770EC-FC89-8D5D-C355-5EF3F13C9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A91ED0-2FBE-BB16-994D-B68593D28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6193819-33A5-6699-21F4-469F5D8B0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Test Set Performance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성별 </a:t>
            </a:r>
            <a:r>
              <a:rPr lang="en-US" altLang="ko-KR" dirty="0"/>
              <a:t>Test AUC</a:t>
            </a:r>
          </a:p>
        </p:txBody>
      </p:sp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38154346-FB3D-08D2-DC74-C72D8CBB4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176161"/>
              </p:ext>
            </p:extLst>
          </p:nvPr>
        </p:nvGraphicFramePr>
        <p:xfrm>
          <a:off x="1306217" y="2100714"/>
          <a:ext cx="9579564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0.8291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416027"/>
                  </a:ext>
                </a:extLst>
              </a:tr>
            </a:tbl>
          </a:graphicData>
        </a:graphic>
      </p:graphicFrame>
      <p:graphicFrame>
        <p:nvGraphicFramePr>
          <p:cNvPr id="9" name="Table 24">
            <a:extLst>
              <a:ext uri="{FF2B5EF4-FFF2-40B4-BE49-F238E27FC236}">
                <a16:creationId xmlns:a16="http://schemas.microsoft.com/office/drawing/2014/main" id="{9F901696-7F52-5EA6-6A7E-3E3C7CB72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8311566"/>
              </p:ext>
            </p:extLst>
          </p:nvPr>
        </p:nvGraphicFramePr>
        <p:xfrm>
          <a:off x="1306217" y="4030624"/>
          <a:ext cx="688855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7612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2146663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214666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전체 </a:t>
                      </a:r>
                      <a:r>
                        <a:rPr lang="en-US" sz="1400" b="1" dirty="0">
                          <a:effectLst/>
                        </a:rPr>
                        <a:t>AUC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남성 </a:t>
                      </a:r>
                      <a:r>
                        <a:rPr lang="en-US" sz="1400" b="1" dirty="0">
                          <a:effectLst/>
                        </a:rPr>
                        <a:t>AUC (n=99)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여성 </a:t>
                      </a:r>
                      <a:r>
                        <a:rPr lang="en-US" sz="1400" b="1" dirty="0">
                          <a:effectLst/>
                        </a:rPr>
                        <a:t>AUC (n=156)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3235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41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6301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0485B-967B-3BC2-7E54-E443694AE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30A3E7-8D6F-EA63-9FC1-C9D756B8B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0378B2-255A-6243-535A-6EE9C3E0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F6560D1-47A2-CAE7-F71F-5AC6FFDD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– Clinic [Age, Sex, BMI] + AEC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72EE0C4-535E-F0BA-C29C-22D20CA02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682461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 ± 0.0709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0.8062 ± 0.0733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0.8105 ± 0.0629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0.8068 ± 0.0644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0.1776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0.8200 ± 0.0577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0.4050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0.2109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0.8197 ± 0.0662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0.4092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0.1768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4787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C806E-B41E-B105-D94A-62A360DC4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C81A0-DB0B-40F0-7783-8EA8E8770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DA2A2-514E-83E0-CF1E-25F1455E3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AA79EC0-4153-D468-5B34-DF3687417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– Clinic [Age, Sex, BMI] + AEC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592779E3-A125-5941-4FCC-CC34634BD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244339"/>
              </p:ext>
            </p:extLst>
          </p:nvPr>
        </p:nvGraphicFramePr>
        <p:xfrm>
          <a:off x="848338" y="2189383"/>
          <a:ext cx="10495323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0.1656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0.7608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0.8403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0.893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0.1799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0.7216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0.3604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0.7412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0.4000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0.736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0.8269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0.4135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0.6863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0.8334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0.2174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986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0AE1B-CC0B-53E6-217E-DD0A2F3C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07C863-A3A6-1050-EACD-B87F29F0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95929C-1793-2686-D6B3-EC5B5C9D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EF0CA71-767C-5E24-1880-D4139F32C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 (Shuffle, </a:t>
            </a:r>
            <a:r>
              <a:rPr lang="ko-KR" altLang="en-US" dirty="0"/>
              <a:t>음성 대조군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AEC </a:t>
            </a:r>
            <a:r>
              <a:rPr lang="ko-KR" altLang="en-US" dirty="0"/>
              <a:t>행 순서를 무작위 </a:t>
            </a:r>
            <a:r>
              <a:rPr lang="en-US" altLang="ko-KR" dirty="0"/>
              <a:t>Shuffle</a:t>
            </a:r>
            <a:r>
              <a:rPr lang="ko-KR" altLang="en-US" dirty="0"/>
              <a:t>하여 임상</a:t>
            </a:r>
            <a:r>
              <a:rPr lang="en-US" altLang="ko-KR" dirty="0"/>
              <a:t>-AEC </a:t>
            </a:r>
            <a:r>
              <a:rPr lang="ko-KR" altLang="en-US" dirty="0"/>
              <a:t>매핑을 제거한 음성 대조 실험</a:t>
            </a:r>
            <a:r>
              <a:rPr lang="en-US" altLang="ko-KR" dirty="0"/>
              <a:t>. Cross </a:t>
            </a:r>
            <a:r>
              <a:rPr lang="en-US" altLang="ko-KR" dirty="0" err="1"/>
              <a:t>Attentionn</a:t>
            </a:r>
            <a:r>
              <a:rPr lang="ko-KR" altLang="en-US" dirty="0"/>
              <a:t>이 </a:t>
            </a:r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ko-KR" altLang="en-US" dirty="0" err="1"/>
              <a:t>순서적</a:t>
            </a:r>
            <a:r>
              <a:rPr lang="ko-KR" altLang="en-US" dirty="0"/>
              <a:t> 패턴을 학습하는지 </a:t>
            </a:r>
            <a:r>
              <a:rPr lang="en-US" altLang="ko-KR" dirty="0"/>
              <a:t>vs </a:t>
            </a:r>
            <a:r>
              <a:rPr lang="ko-KR" altLang="en-US" dirty="0"/>
              <a:t>단순 분포 정보만 활용하는지 검증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7115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49D4-DFAC-4C7B-0788-AC6FBC9B9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D06527-97DE-BC2F-0525-08657350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B03BBC-EB6A-4254-79BD-815B8B9F3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245228D-E187-43F9-0495-C5DA2201F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87A2253-69BD-F29B-FF21-12E417EE8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305840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0.7952 ± 0.0658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0.3698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0.2006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0.7887 ± 0.0639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0.2176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0.3067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0.7973 ± 0.0679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0.3498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0.7916 ± 0.0630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0.3676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0.7922 ± 0.0702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0.3541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0.3490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0.7976 ± 0.0650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0.3924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0.2068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0.3417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1471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0CF8-3648-5152-0CBB-5379E7CC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CEC94-F872-D64A-A460-B6E78C78F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A6D5C9-8684-4C41-B53E-59ACB6F7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304A33D-A921-6DFE-F02D-DBE5DA372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C955F2E8-B369-4F7E-3C09-60E41EB4B7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278403"/>
              </p:ext>
            </p:extLst>
          </p:nvPr>
        </p:nvGraphicFramePr>
        <p:xfrm>
          <a:off x="848338" y="2189383"/>
          <a:ext cx="10495323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0.1858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0.1669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0.7294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0.5961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0.568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0.3455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0.674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0.2003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0.7873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0.2822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035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80BAB-0F20-AF9B-3D30-A973A1E2E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8D932-AF9C-2841-F717-EAF9ABEDC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748486-8342-BA40-BA00-BCDD3B06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97FCFE1-6D3F-08EA-968E-D374E648B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3 – Clinic [Age, Sex, BMI] + AEC + Scanner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D768800-0343-9E1F-CFAB-AAE49BBE2A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383921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0.8041 ± 0.0782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0.8086 ± 0.0619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0.1672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0.8052 ± 0.0675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0.1864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0.8070 ± 0.0705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0.4238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0.3447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0.8059 ± 0.0652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0.3848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0.7977 ± 0.0698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0.3963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0.3712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68281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926D0-CCB6-B073-7202-79BFB2412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DEF26-D365-863F-90D5-EC0F26925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6ED845-9205-6C12-8C00-E220D410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A334CB2-8EAE-92EE-D5D1-87CD347E7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3 – Clinic [Age, Sex, BMI] + AEC + Scanner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254F1CC1-42EE-5E98-9873-12F6540D24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290480"/>
              </p:ext>
            </p:extLst>
          </p:nvPr>
        </p:nvGraphicFramePr>
        <p:xfrm>
          <a:off x="848338" y="2189383"/>
          <a:ext cx="10495323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0.1542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0.7765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0.4242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0.7608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0.4299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0.3626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0.8453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0.3993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0.3404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0.7294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0.1726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0.7412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38218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7487-4311-2E97-CCEB-F213DF6D1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09347E-B472-9B5A-D4B2-0F3E0B937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C8E10-A94D-96B5-1E20-3F2930D90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0E1C353-D1CC-9D88-B8D9-FEB71345B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Dataset Crop </a:t>
            </a:r>
            <a:r>
              <a:rPr lang="ko-KR" altLang="en-US" dirty="0"/>
              <a:t>변형</a:t>
            </a:r>
            <a:endParaRPr lang="en-US" altLang="ko-KR" dirty="0"/>
          </a:p>
          <a:p>
            <a:pPr lvl="1"/>
            <a:r>
              <a:rPr lang="ko-KR" altLang="en-US" dirty="0"/>
              <a:t>중앙 </a:t>
            </a:r>
            <a:r>
              <a:rPr lang="en-US" altLang="ko-KR" dirty="0"/>
              <a:t>60%, </a:t>
            </a:r>
            <a:r>
              <a:rPr lang="ko-KR" altLang="en-US" dirty="0"/>
              <a:t>중앙 </a:t>
            </a:r>
            <a:r>
              <a:rPr lang="en-US" altLang="ko-KR" dirty="0"/>
              <a:t>80% </a:t>
            </a:r>
            <a:r>
              <a:rPr lang="ko-KR" altLang="en-US" dirty="0"/>
              <a:t>구간 </a:t>
            </a:r>
            <a:r>
              <a:rPr lang="en-US" altLang="ko-KR" dirty="0"/>
              <a:t>Crop</a:t>
            </a:r>
          </a:p>
          <a:p>
            <a:pPr lvl="1"/>
            <a:r>
              <a:rPr lang="en-US" altLang="ko-KR" dirty="0"/>
              <a:t>AEC Length 256 </a:t>
            </a:r>
            <a:r>
              <a:rPr lang="ko-KR" altLang="en-US" dirty="0"/>
              <a:t>기준 </a:t>
            </a:r>
            <a:endParaRPr lang="en-US" altLang="ko-KR" dirty="0"/>
          </a:p>
          <a:p>
            <a:pPr lvl="2"/>
            <a:r>
              <a:rPr lang="en-US" altLang="ko-KR" dirty="0"/>
              <a:t>Crop60 – 153, Crop80 - 205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Extreme value (</a:t>
            </a:r>
            <a:r>
              <a:rPr lang="ko-KR" altLang="en-US" dirty="0" err="1"/>
              <a:t>상하위</a:t>
            </a:r>
            <a:r>
              <a:rPr lang="ko-KR" altLang="en-US" dirty="0"/>
              <a:t> </a:t>
            </a:r>
            <a:r>
              <a:rPr lang="en-US" altLang="ko-KR" dirty="0"/>
              <a:t>5% </a:t>
            </a:r>
            <a:r>
              <a:rPr lang="ko-KR" altLang="en-US" dirty="0"/>
              <a:t>극단 샘플</a:t>
            </a:r>
            <a:r>
              <a:rPr lang="en-US" altLang="ko-KR" dirty="0"/>
              <a:t>) </a:t>
            </a:r>
            <a:r>
              <a:rPr lang="ko-KR" altLang="en-US" dirty="0"/>
              <a:t>제거</a:t>
            </a:r>
            <a:endParaRPr lang="en-US" altLang="ko-KR" dirty="0"/>
          </a:p>
          <a:p>
            <a:pPr lvl="1"/>
            <a:r>
              <a:rPr lang="en-US" altLang="ko-KR" dirty="0"/>
              <a:t>AEC Length</a:t>
            </a:r>
            <a:r>
              <a:rPr lang="ko-KR" altLang="en-US" dirty="0"/>
              <a:t> </a:t>
            </a:r>
            <a:r>
              <a:rPr lang="en-US" altLang="ko-KR" dirty="0"/>
              <a:t>256</a:t>
            </a:r>
          </a:p>
          <a:p>
            <a:pPr lvl="1"/>
            <a:r>
              <a:rPr lang="en-US" altLang="ko-KR" dirty="0"/>
              <a:t>Train = 1,017, Test = 255  </a:t>
            </a:r>
            <a:r>
              <a:rPr lang="ko-KR" altLang="en-US" dirty="0"/>
              <a:t>→  </a:t>
            </a:r>
            <a:r>
              <a:rPr lang="en-US" altLang="ko-KR" dirty="0"/>
              <a:t>Train = 915, Test = 229</a:t>
            </a:r>
          </a:p>
        </p:txBody>
      </p:sp>
    </p:spTree>
    <p:extLst>
      <p:ext uri="{BB962C8B-B14F-4D97-AF65-F5344CB8AC3E}">
        <p14:creationId xmlns:p14="http://schemas.microsoft.com/office/powerpoint/2010/main" val="14032891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2EBD4-1853-8C69-9E2B-98C046A1F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8A51B0-69E4-4C95-9775-4FAE8F709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8B9FF-E973-716A-6F6F-B7DDB7D4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466BF90-A88C-0775-AB20-27E02470B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80%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12FBA517-EFE9-9F8E-D78E-270FA8DBB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642055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0.8010 ± 0.0584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0.2081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0.3313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0.8057 ± 0.0591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0.3742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0.3619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0.7942 ± 0.0630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0.3841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0.7907 ± 0.0610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0.3174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0.7938 ± 0.0772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0.8082 ± 0.0666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0.3716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0524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A3C8-09DE-5CA6-B325-DE70F6EC1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49CB7-CEBB-6331-8F03-703E8C08D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086278-726F-B0DA-1EF4-C3FEBA438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BAB50F5-CEDE-2F09-E14D-AF3607174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80%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FC3B776E-3762-A09F-85FF-A9E86B3EE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598574"/>
              </p:ext>
            </p:extLst>
          </p:nvPr>
        </p:nvGraphicFramePr>
        <p:xfrm>
          <a:off x="848338" y="2189383"/>
          <a:ext cx="1068009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0.3154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0.6745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0.3890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0.7934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0.3553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0.2045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0.2985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0.714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0.7294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0.8424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0.2103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0.6745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0.3566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0.2046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67839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18E8-C9F3-83BE-78EB-9FF175C1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AE8834-92E2-6A38-EC6C-126DAD7E7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D296FF-537D-CB1E-B915-327400482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877A28F-6D63-D355-43C3-D5D948D05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60%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37F9EE6-78FF-6420-E713-602C813EB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24215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0.8031 ± 0.0662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0.3724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0.8139 ± 0.0577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0.3923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0.7912 ± 0.0701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0.3719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0.7892 ± 0.0620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0.3523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0.7996 ± 0.0691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0.7998 ± 0.0675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0.3352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2454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B5EB-1362-909B-5100-33944945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DA2E9-ECCD-C261-0214-AA7AF4993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3E59F7-E5DA-F315-CEFA-80B4D0066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9C8BAA7-D3B4-8F45-E06E-2775901F0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60%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1B6C297-94F7-23E7-256E-CD11A96DF6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56440"/>
              </p:ext>
            </p:extLst>
          </p:nvPr>
        </p:nvGraphicFramePr>
        <p:xfrm>
          <a:off x="848338" y="2189383"/>
          <a:ext cx="1068009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0.3400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0.2390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0.6275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0.3871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0.3225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0.1746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0.7216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0.3826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0.1409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0.8118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0.4146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0.607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0.8263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0.3723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0.749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0.8205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0.3154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0.2149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0.3485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1416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E536A-4803-21C6-031C-C92600108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96B68E-8D00-4B85-E463-2EF9A164B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47E471-CF92-A257-36E6-B4391981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DB6865-7EF4-26B0-2BA2-B39CE4FDE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b="1" dirty="0"/>
              <a:t>최고 성능</a:t>
            </a:r>
            <a:r>
              <a:rPr lang="en-US" altLang="ko-KR" dirty="0"/>
              <a:t>: M3 </a:t>
            </a:r>
            <a:r>
              <a:rPr lang="en-US" altLang="ko-KR" dirty="0" err="1"/>
              <a:t>CrossAttn</a:t>
            </a:r>
            <a:r>
              <a:rPr lang="en-US" altLang="ko-KR" dirty="0"/>
              <a:t> (len128, </a:t>
            </a:r>
            <a:r>
              <a:rPr lang="en-US" altLang="ko-KR" dirty="0" err="1"/>
              <a:t>scale_both</a:t>
            </a:r>
            <a:r>
              <a:rPr lang="en-US" altLang="ko-KR" dirty="0"/>
              <a:t>) — Test AUC </a:t>
            </a:r>
            <a:r>
              <a:rPr lang="en-US" altLang="ko-KR" b="1" dirty="0"/>
              <a:t>0.8453</a:t>
            </a:r>
            <a:r>
              <a:rPr lang="en-US" altLang="ko-KR" dirty="0"/>
              <a:t>, Sensitivity </a:t>
            </a:r>
            <a:r>
              <a:rPr lang="en-US" altLang="ko-KR" b="1" dirty="0"/>
              <a:t>82.1%</a:t>
            </a:r>
          </a:p>
          <a:p>
            <a:r>
              <a:rPr lang="en-US" altLang="ko-KR" b="1" dirty="0"/>
              <a:t>AEC </a:t>
            </a:r>
            <a:r>
              <a:rPr lang="ko-KR" altLang="en-US" b="1" dirty="0"/>
              <a:t>유효성 확인</a:t>
            </a:r>
            <a:r>
              <a:rPr lang="en-US" altLang="ko-KR" dirty="0"/>
              <a:t>: </a:t>
            </a:r>
            <a:r>
              <a:rPr lang="en-US" altLang="ko-KR" dirty="0" err="1"/>
              <a:t>CrossAttn</a:t>
            </a:r>
            <a:r>
              <a:rPr lang="en-US" altLang="ko-KR" dirty="0"/>
              <a:t> </a:t>
            </a:r>
            <a:r>
              <a:rPr lang="ko-KR" altLang="en-US" dirty="0"/>
              <a:t>모델에 </a:t>
            </a:r>
            <a:r>
              <a:rPr lang="en-US" altLang="ko-KR" dirty="0"/>
              <a:t>AEC </a:t>
            </a:r>
            <a:r>
              <a:rPr lang="ko-KR" altLang="en-US" dirty="0"/>
              <a:t>추가 시 </a:t>
            </a:r>
            <a:r>
              <a:rPr lang="en-US" altLang="ko-KR" dirty="0"/>
              <a:t>M1 LR(0.8291) </a:t>
            </a:r>
            <a:r>
              <a:rPr lang="ko-KR" altLang="en-US" dirty="0"/>
              <a:t>대비 일관된 성능 향상</a:t>
            </a:r>
          </a:p>
          <a:p>
            <a:r>
              <a:rPr lang="ko-KR" altLang="en-US" b="1" dirty="0"/>
              <a:t>음성 대조군 시사점</a:t>
            </a:r>
            <a:r>
              <a:rPr lang="en-US" altLang="ko-KR" dirty="0"/>
              <a:t>: </a:t>
            </a:r>
            <a:r>
              <a:rPr lang="en-US" altLang="ko-KR" dirty="0" err="1"/>
              <a:t>scale_both</a:t>
            </a:r>
            <a:r>
              <a:rPr lang="en-US" altLang="ko-KR" dirty="0"/>
              <a:t> </a:t>
            </a:r>
            <a:r>
              <a:rPr lang="ko-KR" altLang="en-US" dirty="0"/>
              <a:t>조건에서 </a:t>
            </a:r>
            <a:r>
              <a:rPr lang="ko-KR" altLang="en-US" dirty="0" err="1"/>
              <a:t>셔플</a:t>
            </a:r>
            <a:r>
              <a:rPr lang="ko-KR" altLang="en-US" dirty="0"/>
              <a:t> 시 성능 하락이 더 크게 나타남 → 표준화된 </a:t>
            </a:r>
            <a:r>
              <a:rPr lang="en-US" altLang="ko-KR" dirty="0"/>
              <a:t>AEC</a:t>
            </a:r>
            <a:r>
              <a:rPr lang="ko-KR" altLang="en-US" dirty="0"/>
              <a:t>에서 순서 정보 학습 확인</a:t>
            </a:r>
          </a:p>
          <a:p>
            <a:r>
              <a:rPr lang="ko-KR" altLang="en-US" b="1" dirty="0"/>
              <a:t>제조사 </a:t>
            </a:r>
            <a:r>
              <a:rPr lang="ko-KR" altLang="en-US" b="1" dirty="0" err="1"/>
              <a:t>임베딩</a:t>
            </a:r>
            <a:r>
              <a:rPr lang="en-US" altLang="ko-KR" dirty="0"/>
              <a:t>: crop80/</a:t>
            </a:r>
            <a:r>
              <a:rPr lang="en-US" altLang="ko-KR" dirty="0" err="1"/>
              <a:t>scale_clinic</a:t>
            </a:r>
            <a:r>
              <a:rPr lang="ko-KR" altLang="en-US" dirty="0"/>
              <a:t>에서 가장 큰 효과</a:t>
            </a:r>
            <a:r>
              <a:rPr lang="en-US" altLang="ko-KR" dirty="0"/>
              <a:t>(+0.024), </a:t>
            </a:r>
            <a:r>
              <a:rPr lang="ko-KR" altLang="en-US" dirty="0"/>
              <a:t>일부 조건에서 유의미한 향상</a:t>
            </a:r>
          </a:p>
          <a:p>
            <a:r>
              <a:rPr lang="en-US" altLang="ko-KR" b="1" dirty="0"/>
              <a:t>AEC </a:t>
            </a:r>
            <a:r>
              <a:rPr lang="ko-KR" altLang="en-US" b="1" dirty="0"/>
              <a:t>길이</a:t>
            </a:r>
            <a:r>
              <a:rPr lang="en-US" altLang="ko-KR" dirty="0"/>
              <a:t>: len128</a:t>
            </a:r>
            <a:r>
              <a:rPr lang="ko-KR" altLang="en-US" dirty="0"/>
              <a:t>이 전반적으로 가장 안정적</a:t>
            </a:r>
            <a:r>
              <a:rPr lang="en-US" altLang="ko-KR" dirty="0"/>
              <a:t>, len256</a:t>
            </a:r>
            <a:r>
              <a:rPr lang="ko-KR" altLang="en-US" dirty="0"/>
              <a:t>은 추가 이득 없음</a:t>
            </a:r>
          </a:p>
          <a:p>
            <a:r>
              <a:rPr lang="en-US" altLang="ko-KR" b="1" dirty="0"/>
              <a:t>Crop </a:t>
            </a:r>
            <a:r>
              <a:rPr lang="ko-KR" altLang="en-US" b="1" dirty="0"/>
              <a:t>변형</a:t>
            </a:r>
            <a:r>
              <a:rPr lang="en-US" altLang="ko-KR" dirty="0"/>
              <a:t>: crop60/crop80</a:t>
            </a:r>
            <a:r>
              <a:rPr lang="ko-KR" altLang="en-US" dirty="0"/>
              <a:t>이 </a:t>
            </a:r>
            <a:r>
              <a:rPr lang="en-US" altLang="ko-KR" dirty="0"/>
              <a:t>len064</a:t>
            </a:r>
            <a:r>
              <a:rPr lang="ko-KR" altLang="en-US" dirty="0"/>
              <a:t>와 유사한 성능</a:t>
            </a:r>
            <a:r>
              <a:rPr lang="en-US" altLang="ko-KR" dirty="0"/>
              <a:t>, M3+crop80+clinic </a:t>
            </a:r>
            <a:r>
              <a:rPr lang="ko-KR" altLang="en-US" dirty="0"/>
              <a:t>조합이 특히 우수</a:t>
            </a:r>
          </a:p>
          <a:p>
            <a:r>
              <a:rPr lang="ko-KR" altLang="en-US" b="1" dirty="0"/>
              <a:t>스케일링</a:t>
            </a:r>
            <a:r>
              <a:rPr lang="en-US" altLang="ko-KR" dirty="0"/>
              <a:t>: </a:t>
            </a:r>
            <a:r>
              <a:rPr lang="en-US" altLang="ko-KR" dirty="0" err="1"/>
              <a:t>scale_both</a:t>
            </a:r>
            <a:r>
              <a:rPr lang="ko-KR" altLang="en-US" dirty="0"/>
              <a:t>가 </a:t>
            </a:r>
            <a:r>
              <a:rPr lang="en-US" altLang="ko-KR" dirty="0"/>
              <a:t>LR</a:t>
            </a:r>
            <a:r>
              <a:rPr lang="ko-KR" altLang="en-US" dirty="0"/>
              <a:t>에서 극명히 유리</a:t>
            </a:r>
            <a:r>
              <a:rPr lang="en-US" altLang="ko-KR" dirty="0"/>
              <a:t>; </a:t>
            </a:r>
            <a:r>
              <a:rPr lang="en-US" altLang="ko-KR" dirty="0" err="1"/>
              <a:t>CrossAttn</a:t>
            </a:r>
            <a:r>
              <a:rPr lang="ko-KR" altLang="en-US" dirty="0"/>
              <a:t>은 조건에 따라 혼재</a:t>
            </a:r>
          </a:p>
          <a:p>
            <a:r>
              <a:rPr lang="ko-KR" altLang="en-US" b="1" dirty="0"/>
              <a:t>성별 편차</a:t>
            </a:r>
            <a:r>
              <a:rPr lang="en-US" altLang="ko-KR" dirty="0"/>
              <a:t>: </a:t>
            </a:r>
            <a:r>
              <a:rPr lang="ko-KR" altLang="en-US" dirty="0"/>
              <a:t>여성 </a:t>
            </a:r>
            <a:r>
              <a:rPr lang="en-US" altLang="ko-KR" dirty="0"/>
              <a:t>AUC</a:t>
            </a:r>
            <a:r>
              <a:rPr lang="ko-KR" altLang="en-US" dirty="0"/>
              <a:t>가 지속적으로 남성보다 높음</a:t>
            </a:r>
            <a:r>
              <a:rPr lang="en-US" altLang="ko-KR" dirty="0"/>
              <a:t>; AEC </a:t>
            </a:r>
            <a:r>
              <a:rPr lang="ko-KR" altLang="en-US" dirty="0"/>
              <a:t>매칭 정보가 여성 탐지에 더 중요</a:t>
            </a:r>
          </a:p>
          <a:p>
            <a:r>
              <a:rPr lang="ko-KR" altLang="en-US" b="1" dirty="0" err="1"/>
              <a:t>극단값</a:t>
            </a:r>
            <a:r>
              <a:rPr lang="ko-KR" altLang="en-US" b="1" dirty="0"/>
              <a:t> 제외</a:t>
            </a:r>
            <a:r>
              <a:rPr lang="en-US" altLang="ko-KR" dirty="0"/>
              <a:t>: </a:t>
            </a:r>
            <a:r>
              <a:rPr lang="ko-KR" altLang="en-US" dirty="0"/>
              <a:t>표준 데이터 대비 큰 개선 없음</a:t>
            </a:r>
            <a:r>
              <a:rPr lang="en-US" altLang="ko-KR" dirty="0"/>
              <a:t>; </a:t>
            </a:r>
            <a:r>
              <a:rPr lang="ko-KR" altLang="en-US" dirty="0"/>
              <a:t>비교 시 샘플 수 차이 고려 필요</a:t>
            </a:r>
          </a:p>
        </p:txBody>
      </p:sp>
    </p:spTree>
    <p:extLst>
      <p:ext uri="{BB962C8B-B14F-4D97-AF65-F5344CB8AC3E}">
        <p14:creationId xmlns:p14="http://schemas.microsoft.com/office/powerpoint/2010/main" val="40800960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1971B-A411-510B-AAF7-A06FAF3B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6906A4-DAB0-32FE-7139-718F9DA3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A2BF5-4EB1-AB01-ED19-B578CCA06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9DFC51D-B196-0F05-C6A1-5326E06A2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ko-KR" b="1" dirty="0"/>
              <a:t>Attention Map </a:t>
            </a:r>
            <a:r>
              <a:rPr lang="ko-KR" altLang="en-US" b="1" dirty="0"/>
              <a:t>시각화 </a:t>
            </a:r>
            <a:r>
              <a:rPr lang="en-US" altLang="ko-KR" b="1" dirty="0"/>
              <a:t>(</a:t>
            </a:r>
            <a:r>
              <a:rPr lang="ko-KR" altLang="en-US" b="1" dirty="0"/>
              <a:t>해석가능성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 err="1"/>
              <a:t>CrossAttn</a:t>
            </a:r>
            <a:r>
              <a:rPr lang="ko-KR" altLang="en-US" dirty="0"/>
              <a:t>이 </a:t>
            </a:r>
            <a:r>
              <a:rPr lang="en-US" altLang="ko-KR" dirty="0"/>
              <a:t>AEC </a:t>
            </a:r>
            <a:r>
              <a:rPr lang="ko-KR" altLang="en-US" dirty="0"/>
              <a:t>커브의 어느 구간</a:t>
            </a:r>
            <a:r>
              <a:rPr lang="en-US" altLang="ko-KR" dirty="0"/>
              <a:t>(time point)</a:t>
            </a:r>
            <a:r>
              <a:rPr lang="ko-KR" altLang="en-US" dirty="0"/>
              <a:t>에 주목하는지</a:t>
            </a:r>
            <a:r>
              <a:rPr lang="en-US" altLang="ko-KR" dirty="0"/>
              <a:t>, </a:t>
            </a:r>
            <a:r>
              <a:rPr lang="ko-KR" altLang="en-US" dirty="0"/>
              <a:t>어떤 </a:t>
            </a:r>
            <a:r>
              <a:rPr lang="en-US" altLang="ko-KR" dirty="0"/>
              <a:t>clinical feature</a:t>
            </a:r>
            <a:r>
              <a:rPr lang="ko-KR" altLang="en-US" dirty="0"/>
              <a:t>가 </a:t>
            </a:r>
            <a:r>
              <a:rPr lang="en-US" altLang="ko-KR" dirty="0"/>
              <a:t>AEC</a:t>
            </a:r>
            <a:r>
              <a:rPr lang="ko-KR" altLang="en-US" dirty="0"/>
              <a:t>와 강하게 </a:t>
            </a:r>
            <a:r>
              <a:rPr lang="en-US" altLang="ko-KR" dirty="0"/>
              <a:t>interact</a:t>
            </a:r>
            <a:r>
              <a:rPr lang="ko-KR" altLang="en-US" dirty="0"/>
              <a:t>하는지 </a:t>
            </a:r>
            <a:r>
              <a:rPr lang="ko-KR" altLang="en-US" dirty="0" err="1"/>
              <a:t>히트맵으로</a:t>
            </a:r>
            <a:r>
              <a:rPr lang="ko-KR" altLang="en-US" dirty="0"/>
              <a:t> 시각화</a:t>
            </a:r>
            <a:r>
              <a:rPr lang="en-US" altLang="ko-KR" dirty="0"/>
              <a:t>. </a:t>
            </a:r>
            <a:r>
              <a:rPr lang="ko-KR" altLang="en-US" dirty="0"/>
              <a:t>논문에서 가장 강한 설명력 근거가 됨</a:t>
            </a:r>
            <a:r>
              <a:rPr lang="en-US" altLang="ko-KR" dirty="0"/>
              <a:t>.</a:t>
            </a:r>
            <a:endParaRPr lang="ko-KR" altLang="en-US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b="1" dirty="0"/>
              <a:t>성별 분리 모델 </a:t>
            </a:r>
            <a:r>
              <a:rPr lang="en-US" altLang="ko-KR" b="1" dirty="0"/>
              <a:t>(Sex-Stratified)</a:t>
            </a:r>
          </a:p>
          <a:p>
            <a:pPr lvl="1"/>
            <a:r>
              <a:rPr lang="ko-KR" altLang="en-US" dirty="0"/>
              <a:t>현재 결과에서 남성</a:t>
            </a:r>
            <a:r>
              <a:rPr lang="en-US" altLang="ko-KR" dirty="0"/>
              <a:t>/</a:t>
            </a:r>
            <a:r>
              <a:rPr lang="ko-KR" altLang="en-US" dirty="0"/>
              <a:t>여성 </a:t>
            </a:r>
            <a:r>
              <a:rPr lang="en-US" altLang="ko-KR" dirty="0"/>
              <a:t>AUC </a:t>
            </a:r>
            <a:r>
              <a:rPr lang="ko-KR" altLang="en-US" dirty="0"/>
              <a:t>격차가 뚜렷함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en-US" altLang="ko-KR" b="1" dirty="0"/>
              <a:t>Calibration </a:t>
            </a:r>
            <a:r>
              <a:rPr lang="ko-KR" altLang="en-US" b="1" dirty="0"/>
              <a:t>개선</a:t>
            </a:r>
            <a:endParaRPr lang="en-US" altLang="ko-KR" b="1" dirty="0"/>
          </a:p>
          <a:p>
            <a:pPr lvl="1"/>
            <a:r>
              <a:rPr lang="en-US" altLang="ko-KR" b="1" dirty="0"/>
              <a:t>Temperature Scaling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en-US" altLang="ko-KR" b="1" dirty="0"/>
              <a:t>Platt Scaling</a:t>
            </a:r>
            <a:r>
              <a:rPr lang="en-US" altLang="ko-KR" dirty="0"/>
              <a:t> post-hoc </a:t>
            </a:r>
            <a:r>
              <a:rPr lang="ko-KR" altLang="en-US" dirty="0"/>
              <a:t>적용으로 </a:t>
            </a:r>
            <a:r>
              <a:rPr lang="en-US" altLang="ko-KR" dirty="0"/>
              <a:t>ECE(Expected Calibration Error) </a:t>
            </a:r>
            <a:r>
              <a:rPr lang="ko-KR" altLang="en-US" dirty="0"/>
              <a:t>줄이기</a:t>
            </a:r>
            <a:endParaRPr lang="en-US" altLang="ko-KR" b="1" dirty="0"/>
          </a:p>
          <a:p>
            <a:pPr marL="457200" indent="-457200">
              <a:buFont typeface="+mj-lt"/>
              <a:buAutoNum type="arabicPeriod"/>
            </a:pPr>
            <a:r>
              <a:rPr lang="en-US" altLang="ko-KR" b="1" dirty="0"/>
              <a:t>AEC </a:t>
            </a:r>
            <a:r>
              <a:rPr lang="ko-KR" altLang="en-US" b="1" dirty="0"/>
              <a:t>커브 명시적 특징 추출 </a:t>
            </a:r>
            <a:r>
              <a:rPr lang="en-US" altLang="ko-KR" b="1" dirty="0"/>
              <a:t>(</a:t>
            </a:r>
            <a:r>
              <a:rPr lang="ko-KR" altLang="en-US" b="1" dirty="0"/>
              <a:t>해석가능 피처</a:t>
            </a:r>
            <a:r>
              <a:rPr lang="en-US" altLang="ko-KR" b="1" dirty="0"/>
              <a:t>) </a:t>
            </a:r>
          </a:p>
          <a:p>
            <a:pPr lvl="1"/>
            <a:r>
              <a:rPr lang="ko-KR" altLang="en-US" dirty="0" err="1"/>
              <a:t>피크값</a:t>
            </a:r>
            <a:r>
              <a:rPr lang="en-US" altLang="ko-KR" dirty="0"/>
              <a:t>, </a:t>
            </a:r>
            <a:r>
              <a:rPr lang="ko-KR" altLang="en-US" dirty="0"/>
              <a:t>곡선 아래 면적</a:t>
            </a:r>
            <a:r>
              <a:rPr lang="en-US" altLang="ko-KR" dirty="0"/>
              <a:t>, </a:t>
            </a:r>
            <a:r>
              <a:rPr lang="ko-KR" altLang="en-US" dirty="0"/>
              <a:t>기울기 변화</a:t>
            </a:r>
            <a:r>
              <a:rPr lang="en-US" altLang="ko-KR" dirty="0"/>
              <a:t>, </a:t>
            </a:r>
            <a:r>
              <a:rPr lang="ko-KR" altLang="en-US" dirty="0"/>
              <a:t>주기성 등</a:t>
            </a:r>
            <a:endParaRPr lang="en-US" altLang="ko-KR" b="1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b="1" dirty="0"/>
              <a:t>외부 병원 데이터 검증 </a:t>
            </a:r>
            <a:r>
              <a:rPr lang="en-US" altLang="ko-KR" b="1" dirty="0"/>
              <a:t>(</a:t>
            </a:r>
            <a:r>
              <a:rPr lang="ko-KR" altLang="en-US" b="1" dirty="0"/>
              <a:t>신촌</a:t>
            </a:r>
            <a:r>
              <a:rPr lang="en-US" altLang="ko-KR" b="1" dirty="0"/>
              <a:t>)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23990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2330</TotalTime>
  <Words>2840</Words>
  <Application>Microsoft Office PowerPoint</Application>
  <PresentationFormat>와이드스크린</PresentationFormat>
  <Paragraphs>1116</Paragraphs>
  <Slides>37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2" baseType="lpstr">
      <vt:lpstr>KoPub돋움체 Bold</vt:lpstr>
      <vt:lpstr>KoPub돋움체 Medium</vt:lpstr>
      <vt:lpstr>Arial</vt:lpstr>
      <vt:lpstr>맑은 고딕</vt:lpstr>
      <vt:lpstr>Office 테마</vt:lpstr>
      <vt:lpstr>PowerPoint 프레젠테이션</vt:lpstr>
      <vt:lpstr>1. What’s discussed in the last meetings</vt:lpstr>
      <vt:lpstr>2. Research Summary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SMI Cutoff Setting</vt:lpstr>
      <vt:lpstr>3. Detailed progress</vt:lpstr>
      <vt:lpstr>3. Detailed progress</vt:lpstr>
      <vt:lpstr>모델 구성</vt:lpstr>
      <vt:lpstr>3. Detailed progress</vt:lpstr>
      <vt:lpstr>연구 결과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209</cp:revision>
  <dcterms:created xsi:type="dcterms:W3CDTF">2026-04-09T07:05:16Z</dcterms:created>
  <dcterms:modified xsi:type="dcterms:W3CDTF">2026-05-13T14:59:40Z</dcterms:modified>
</cp:coreProperties>
</file>