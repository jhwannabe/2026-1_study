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 saveSubsetFonts="1">
  <p:sldMasterIdLst>
    <p:sldMasterId id="2147483648" r:id="rId1"/>
  </p:sldMasterIdLst>
  <p:notesMasterIdLst>
    <p:notesMasterId r:id="rId34"/>
  </p:notesMasterIdLst>
  <p:sldIdLst>
    <p:sldId id="256" r:id="rId2"/>
    <p:sldId id="258" r:id="rId3"/>
    <p:sldId id="524" r:id="rId4"/>
    <p:sldId id="346" r:id="rId5"/>
    <p:sldId id="350" r:id="rId6"/>
    <p:sldId id="351" r:id="rId7"/>
    <p:sldId id="352" r:id="rId8"/>
    <p:sldId id="469" r:id="rId9"/>
    <p:sldId id="470" r:id="rId10"/>
    <p:sldId id="488" r:id="rId11"/>
    <p:sldId id="528" r:id="rId12"/>
    <p:sldId id="542" r:id="rId13"/>
    <p:sldId id="525" r:id="rId14"/>
    <p:sldId id="404" r:id="rId15"/>
    <p:sldId id="543" r:id="rId16"/>
    <p:sldId id="526" r:id="rId17"/>
    <p:sldId id="546" r:id="rId18"/>
    <p:sldId id="547" r:id="rId19"/>
    <p:sldId id="545" r:id="rId20"/>
    <p:sldId id="544" r:id="rId21"/>
    <p:sldId id="531" r:id="rId22"/>
    <p:sldId id="532" r:id="rId23"/>
    <p:sldId id="533" r:id="rId24"/>
    <p:sldId id="534" r:id="rId25"/>
    <p:sldId id="535" r:id="rId26"/>
    <p:sldId id="539" r:id="rId27"/>
    <p:sldId id="540" r:id="rId28"/>
    <p:sldId id="541" r:id="rId29"/>
    <p:sldId id="536" r:id="rId30"/>
    <p:sldId id="537" r:id="rId31"/>
    <p:sldId id="538" r:id="rId32"/>
    <p:sldId id="479" r:id="rId33"/>
  </p:sldIdLst>
  <p:sldSz cx="12192000" cy="6858000"/>
  <p:notesSz cx="6858000" cy="9144000"/>
  <p:embeddedFontLst>
    <p:embeddedFont>
      <p:font typeface="KoPub돋움체 Bold" panose="020B0600000101010101" charset="-127"/>
      <p:bold r:id="rId35"/>
    </p:embeddedFont>
    <p:embeddedFont>
      <p:font typeface="KoPub돋움체 Medium" panose="020B0600000101010101" charset="-127"/>
      <p:regular r:id="rId36"/>
    </p:embeddedFont>
  </p:embeddedFontLst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기본 구역" id="{097B6DF2-66C3-4074-9053-F9AA00FED5D5}">
          <p14:sldIdLst>
            <p14:sldId id="256"/>
            <p14:sldId id="258"/>
            <p14:sldId id="524"/>
            <p14:sldId id="346"/>
            <p14:sldId id="350"/>
            <p14:sldId id="351"/>
            <p14:sldId id="352"/>
            <p14:sldId id="469"/>
            <p14:sldId id="470"/>
            <p14:sldId id="488"/>
            <p14:sldId id="528"/>
            <p14:sldId id="542"/>
            <p14:sldId id="525"/>
            <p14:sldId id="404"/>
            <p14:sldId id="543"/>
            <p14:sldId id="526"/>
            <p14:sldId id="546"/>
            <p14:sldId id="547"/>
            <p14:sldId id="545"/>
            <p14:sldId id="544"/>
            <p14:sldId id="531"/>
            <p14:sldId id="532"/>
            <p14:sldId id="533"/>
            <p14:sldId id="534"/>
            <p14:sldId id="535"/>
            <p14:sldId id="539"/>
            <p14:sldId id="540"/>
            <p14:sldId id="541"/>
            <p14:sldId id="536"/>
            <p14:sldId id="537"/>
            <p14:sldId id="538"/>
            <p14:sldId id="47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전장훈" initials="전" lastIdx="19" clrIdx="0">
    <p:extLst>
      <p:ext uri="{19B8F6BF-5375-455C-9EA6-DF929625EA0E}">
        <p15:presenceInfo xmlns:p15="http://schemas.microsoft.com/office/powerpoint/2012/main" userId="전장훈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23670"/>
    <a:srgbClr val="17A5AA"/>
    <a:srgbClr val="1F346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BBB50F4-122B-41C8-8B97-E733E2DA839E}" v="104" dt="2026-04-30T01:48:13.387"/>
    <p1510:client id="{59280094-6966-4D40-B0D2-C3AF0E296DD5}" v="33" dt="2026-04-29T05:12:11.973"/>
    <p1510:client id="{F96BF643-3359-45F4-82D4-8AA1E0B6CADD}" v="30" dt="2026-04-29T10:17:24.925"/>
  </p1510:revLst>
</p1510:revInfo>
</file>

<file path=ppt/tableStyles.xml><?xml version="1.0" encoding="utf-8"?>
<a:tblStyleLst xmlns:a="http://schemas.openxmlformats.org/drawingml/2006/main" def="{5C22544A-7EE6-4342-B048-85BDC9FD1C3A}"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793D81CF-94F2-401A-BA57-92F5A7B2D0C5}" styleName="보통 스타일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82185" autoAdjust="0"/>
  </p:normalViewPr>
  <p:slideViewPr>
    <p:cSldViewPr snapToGrid="0">
      <p:cViewPr varScale="1">
        <p:scale>
          <a:sx n="91" d="100"/>
          <a:sy n="91" d="100"/>
        </p:scale>
        <p:origin x="322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viewProps" Target="viewProps.xml"/><Relationship Id="rId21" Type="http://schemas.openxmlformats.org/officeDocument/2006/relationships/slide" Target="slides/slide20.xml"/><Relationship Id="rId34" Type="http://schemas.openxmlformats.org/officeDocument/2006/relationships/notesMaster" Target="notesMasters/notesMaster1.xml"/><Relationship Id="rId42" Type="http://schemas.microsoft.com/office/2015/10/relationships/revisionInfo" Target="revisionInfo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commentAuthors" Target="commentAuthors.xml"/><Relationship Id="rId40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font" Target="fonts/font2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font" Target="fonts/font1.fntdata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KoPub돋움체 Medium" panose="00000600000000000000" pitchFamily="2" charset="-127"/>
                <a:ea typeface="KoPub돋움체 Medium" panose="00000600000000000000" pitchFamily="2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KoPub돋움체 Medium" panose="00000600000000000000" pitchFamily="2" charset="-127"/>
                <a:ea typeface="KoPub돋움체 Medium" panose="00000600000000000000" pitchFamily="2" charset="-127"/>
              </a:defRPr>
            </a:lvl1pPr>
          </a:lstStyle>
          <a:p>
            <a:fld id="{33074436-1BEA-4F09-AD5C-9DF87C96BF5A}" type="datetimeFigureOut">
              <a:rPr lang="ko-KR" altLang="en-US" smtClean="0"/>
              <a:pPr/>
              <a:t>2026-05-13</a:t>
            </a:fld>
            <a:endParaRPr lang="ko-KR" altLang="en-US" dirty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 dirty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KoPub돋움체 Medium" panose="00000600000000000000" pitchFamily="2" charset="-127"/>
                <a:ea typeface="KoPub돋움체 Medium" panose="00000600000000000000" pitchFamily="2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KoPub돋움체 Medium" panose="00000600000000000000" pitchFamily="2" charset="-127"/>
                <a:ea typeface="KoPub돋움체 Medium" panose="00000600000000000000" pitchFamily="2" charset="-127"/>
              </a:defRPr>
            </a:lvl1pPr>
          </a:lstStyle>
          <a:p>
            <a:fld id="{433C9518-700F-4811-95BB-24DAF3FA92F2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5776494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KoPub돋움체 Medium" panose="00000600000000000000" pitchFamily="2" charset="-127"/>
        <a:ea typeface="KoPub돋움체 Medium" panose="00000600000000000000" pitchFamily="2" charset="-127"/>
        <a:cs typeface="+mn-cs"/>
      </a:defRPr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8054903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0970617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7AAC64-4809-CFDB-DD82-8C411BF903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E00CA24-0109-6788-DE0D-8E930A4B7F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DDF5CE1-02A0-E30B-7E00-1067FDF0BD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21FB4E7-21AC-953F-57A3-5376A248A5D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8881639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101138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3733181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0345276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3789887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1484703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9272A2-E462-977A-F33B-DC95CAE773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1D2872D-C56F-07BD-6FEF-BCB992682A8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8F74B49-A47E-0541-5CE4-E957FC855AE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88A6B9E-8A61-DFF4-5EB2-1304E5138B0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0898744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190042-F557-0E94-7C78-40205A1F0A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F170C6C-B9DF-BB92-BE01-1127AE8ABB4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89CB311-8A08-9B6E-E1E6-BE4865BFA32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6A2932C-C555-3416-FC2C-C5443B8FA0C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3566383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15A912-E5DB-C050-E065-5828A5E4B2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4D11A81-CD75-D940-EF31-5078010806D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326D308-0A22-922A-98EF-A6F10C54779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CFA01C8-AD53-4B8F-0434-4748CB898FB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3114862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8883083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B917A5-299C-0E89-CFC0-04FC1AC70C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8265D41-5613-90FC-CB71-156E242C149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E655DFF-5422-5676-A2DE-46681E04C99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174D810-BC5C-2B70-9544-E903A1A2013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0180904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21BBFB-0465-64BF-2E06-A167A27834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8A16FEB-AA76-ECF3-886C-82D4AF3D738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D1C4454-105C-B5C3-9F5A-134D07605B8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F010EE7-621B-073A-8881-706ECEB19B9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17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262211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DDD801-27CE-031C-D6B0-C7DC224F06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52C6808-69D4-1847-5E64-57150DB79A3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9F501B3-AECF-B5DC-D3BD-DA288455803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9046CF3-9A5B-4A55-18D9-14DB675B42C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18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6701986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CA316E-D589-EBC6-DDE8-2EF2E5075C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43F33A1-8E11-921A-7CEF-1BDC137EE5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62CD14D-CE55-DAAD-3606-0BDE456F23D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3AF2427-1F03-1D5F-846D-481FE793414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19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378070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538455-2FB5-81C2-7B7B-CF15E217FC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1AC0D95-1F82-AF97-6922-E2581F2F4BD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4457B91-B303-0456-1988-8EA7B2C152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7DB23A9-60C4-EC6C-09A9-F8E4FEAE332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20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8268121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AADA11-9886-C166-5A59-0576EFA0AA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2426E70-5DCC-2496-4387-F2F6F4DF0F1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4F0BB0E-B7DC-F3C8-CBC9-2482309D744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966BCC2-EA69-33E7-729C-36DA9D36603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21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5290958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6C5C26-5FFD-D767-4DB0-8EDE611881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A74C45B-1CD3-2C0B-DA74-0BBD7E98054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3B24AA3-AB34-B819-3341-FC20E9C863A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0B2A766-51CB-917E-EF90-688B0112055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22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62319818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C40913-C940-A7B4-8F7B-83DDEAB34B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55580BF-CDC6-567C-DB40-FF2E2B93BF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A590AC4-A60E-6ADB-8954-8B6A52063E3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080CAA0-F3C8-1FB1-7400-461A0CA38CA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23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6871374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D08FBB-BE3F-F252-AEDB-5CC3DF1232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D75B8F8-497F-134B-5FE7-0FD6151859A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244AEAD-F28C-B25D-E811-F2D0CB7146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BC29A38-C62B-4FC7-CA3A-266D92AACEA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24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3699645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507075-FE81-BA82-7127-80EA6A0B56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BAA2FF9-ECEC-74E9-DD55-A2307DEC10A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DC96926-CF47-77E9-F640-0EC570C8888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4F74C66-EB3C-9323-48C8-F2F9D9C0C14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25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34751446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D51EE3-15BC-F136-EBCD-1AFE5FF354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D9B4EC9-3031-BD00-83F2-53021127C6C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C0FAE39-1024-6C8F-8AB0-465BB486D52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1E7C3DF-1C73-E8FF-E987-1DA7A566051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26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63583818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AF9E96-A777-8409-9E62-7FE9784665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57D76ED-1F74-0FDE-872D-3F436C59E0E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03D4FF8-47A4-AE13-2BF9-E48BCE72703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672F38F-A65E-0693-A9D0-2A563FB7472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27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30956843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BB55C0-F4A4-DC1E-24E5-EAA1723EBF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9CEBF23-7546-1F28-DCF2-53F89D22FB2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BCBF1C2-560D-DFDE-0524-F4005EAAA2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4E1CCD8-2A75-ADB7-9327-4844116772A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28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64211786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4200C7-7708-A1F5-4432-61AB10E5BB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31DA811-4062-7200-7D18-EA27F34636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0F435CF-1437-BE7C-62E9-8C797F5ADEF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E95D0BD-533D-4D03-DF12-CA573C8709B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29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21952362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4D81D3-BE8B-FCF5-9492-7ECA471714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31B57E9-39CB-57F2-7831-7ACA4BE6D95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C20A767-CB22-BE2A-E67F-2FAE279B1E8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D13BDCF-638B-9615-B592-6DF8EE3F6B2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30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9558330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08C318-29B3-39B6-8BE9-C9CA746C00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FBE7FC1-23CF-FD86-86FD-A13C6FDD980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40C49BC-4297-14D8-B51C-E983F55D81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6A75E16-85E1-C30A-E880-17DBAFAF860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31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88924407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2" name="Google Shape;1172;g3d412ffb079_0_61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40188" y="857250"/>
            <a:ext cx="4113212" cy="23145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73" name="Google Shape;1173;g3d412ffb079_0_61:notes"/>
          <p:cNvSpPr txBox="1">
            <a:spLocks noGrp="1"/>
          </p:cNvSpPr>
          <p:nvPr>
            <p:ph type="body" idx="1"/>
          </p:nvPr>
        </p:nvSpPr>
        <p:spPr>
          <a:xfrm>
            <a:off x="1219200" y="3300413"/>
            <a:ext cx="9753600" cy="27003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74" name="Google Shape;1174;g3d412ffb079_0_61:notes"/>
          <p:cNvSpPr txBox="1">
            <a:spLocks noGrp="1"/>
          </p:cNvSpPr>
          <p:nvPr>
            <p:ph type="sldNum" idx="12"/>
          </p:nvPr>
        </p:nvSpPr>
        <p:spPr>
          <a:xfrm>
            <a:off x="6905625" y="6513513"/>
            <a:ext cx="5283300" cy="3444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32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4" Type="http://schemas.microsoft.com/office/2007/relationships/hdphoto" Target="../media/hdphoto1.wdp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object 2">
            <a:extLst>
              <a:ext uri="{FF2B5EF4-FFF2-40B4-BE49-F238E27FC236}">
                <a16:creationId xmlns:a16="http://schemas.microsoft.com/office/drawing/2014/main" id="{D279837B-A00B-4327-9AB8-97044CBDABA7}"/>
              </a:ext>
            </a:extLst>
          </p:cNvPr>
          <p:cNvPicPr/>
          <p:nvPr userDrawn="1"/>
        </p:nvPicPr>
        <p:blipFill rotWithShape="1">
          <a:blip r:embed="rId2"/>
          <a:stretch>
            <a:fillRect/>
          </a:stretch>
        </p:blipFill>
        <p:spPr>
          <a:xfrm>
            <a:off x="0" y="228731"/>
            <a:ext cx="12192000" cy="6400538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4B17CE84-3562-483D-8448-6A30899AF09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t="19699" b="22132"/>
          <a:stretch/>
        </p:blipFill>
        <p:spPr>
          <a:xfrm>
            <a:off x="3461866" y="5273477"/>
            <a:ext cx="4168803" cy="982769"/>
          </a:xfrm>
          <a:prstGeom prst="rect">
            <a:avLst/>
          </a:prstGeom>
        </p:spPr>
      </p:pic>
      <p:pic>
        <p:nvPicPr>
          <p:cNvPr id="8" name="object 4">
            <a:extLst>
              <a:ext uri="{FF2B5EF4-FFF2-40B4-BE49-F238E27FC236}">
                <a16:creationId xmlns:a16="http://schemas.microsoft.com/office/drawing/2014/main" id="{8EF8DD5B-0316-4193-BCC7-D6CFCAE8969D}"/>
              </a:ext>
            </a:extLst>
          </p:cNvPr>
          <p:cNvPicPr/>
          <p:nvPr userDrawn="1"/>
        </p:nvPicPr>
        <p:blipFill rotWithShape="1">
          <a:blip r:embed="rId4"/>
          <a:stretch>
            <a:fillRect/>
          </a:stretch>
        </p:blipFill>
        <p:spPr>
          <a:xfrm>
            <a:off x="-277376" y="5274173"/>
            <a:ext cx="4550839" cy="9927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85786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그룹 23">
            <a:extLst>
              <a:ext uri="{FF2B5EF4-FFF2-40B4-BE49-F238E27FC236}">
                <a16:creationId xmlns:a16="http://schemas.microsoft.com/office/drawing/2014/main" id="{5EC22856-02EF-4559-9B66-BD5C863FF254}"/>
              </a:ext>
            </a:extLst>
          </p:cNvPr>
          <p:cNvGrpSpPr/>
          <p:nvPr userDrawn="1"/>
        </p:nvGrpSpPr>
        <p:grpSpPr>
          <a:xfrm>
            <a:off x="-8467" y="6463089"/>
            <a:ext cx="12200467" cy="403574"/>
            <a:chOff x="-8467" y="6470661"/>
            <a:chExt cx="12200467" cy="390527"/>
          </a:xfrm>
        </p:grpSpPr>
        <p:sp>
          <p:nvSpPr>
            <p:cNvPr id="9" name="직사각형 8">
              <a:extLst>
                <a:ext uri="{FF2B5EF4-FFF2-40B4-BE49-F238E27FC236}">
                  <a16:creationId xmlns:a16="http://schemas.microsoft.com/office/drawing/2014/main" id="{0DFE1C4B-A7EE-47E1-8AAE-3EF4E43D16F6}"/>
                </a:ext>
              </a:extLst>
            </p:cNvPr>
            <p:cNvSpPr/>
            <p:nvPr userDrawn="1"/>
          </p:nvSpPr>
          <p:spPr>
            <a:xfrm>
              <a:off x="0" y="6496062"/>
              <a:ext cx="12192000" cy="365126"/>
            </a:xfrm>
            <a:prstGeom prst="rect">
              <a:avLst/>
            </a:prstGeom>
            <a:solidFill>
              <a:srgbClr val="1F346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KoPub돋움체 Medium" panose="00000600000000000000" pitchFamily="2" charset="-127"/>
                <a:ea typeface="KoPub돋움체 Medium" panose="00000600000000000000" pitchFamily="2" charset="-127"/>
              </a:endParaRPr>
            </a:p>
          </p:txBody>
        </p:sp>
        <p:cxnSp>
          <p:nvCxnSpPr>
            <p:cNvPr id="15" name="직선 연결선 14">
              <a:extLst>
                <a:ext uri="{FF2B5EF4-FFF2-40B4-BE49-F238E27FC236}">
                  <a16:creationId xmlns:a16="http://schemas.microsoft.com/office/drawing/2014/main" id="{28C131E4-1CD9-49D8-B343-8379436586CB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8467" y="6470661"/>
              <a:ext cx="12200467" cy="0"/>
            </a:xfrm>
            <a:prstGeom prst="line">
              <a:avLst/>
            </a:prstGeom>
            <a:ln w="57150"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제목 1">
            <a:extLst>
              <a:ext uri="{FF2B5EF4-FFF2-40B4-BE49-F238E27FC236}">
                <a16:creationId xmlns:a16="http://schemas.microsoft.com/office/drawing/2014/main" id="{FE4F955D-C3E9-4033-8442-9095377B06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8000" y="365126"/>
            <a:ext cx="11176000" cy="532342"/>
          </a:xfrm>
        </p:spPr>
        <p:txBody>
          <a:bodyPr>
            <a:normAutofit/>
          </a:bodyPr>
          <a:lstStyle>
            <a:lvl1pPr>
              <a:defRPr sz="2400" b="1">
                <a:solidFill>
                  <a:srgbClr val="023670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cs typeface="Arial" panose="020B0604020202020204" pitchFamily="34" charset="0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CA482F1-FC12-443E-892A-B48F9C50AA53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08000" y="897468"/>
            <a:ext cx="11176000" cy="5063066"/>
          </a:xfrm>
        </p:spPr>
        <p:txBody>
          <a:bodyPr/>
          <a:lstStyle>
            <a:lvl1pPr>
              <a:lnSpc>
                <a:spcPct val="200000"/>
              </a:lnSpc>
              <a:defRPr sz="2000" b="0">
                <a:latin typeface="KoPub돋움체 Bold" panose="02020603020101020101" pitchFamily="18" charset="-127"/>
                <a:ea typeface="KoPub돋움체 Bold" panose="02020603020101020101" pitchFamily="18" charset="-127"/>
              </a:defRPr>
            </a:lvl1pPr>
            <a:lvl2pPr>
              <a:lnSpc>
                <a:spcPct val="150000"/>
              </a:lnSpc>
              <a:defRPr sz="1800">
                <a:latin typeface="KoPub돋움체 Medium" panose="02020603020101020101" pitchFamily="18" charset="-127"/>
                <a:ea typeface="KoPub돋움체 Medium" panose="02020603020101020101" pitchFamily="18" charset="-127"/>
              </a:defRPr>
            </a:lvl2pPr>
            <a:lvl3pPr>
              <a:lnSpc>
                <a:spcPct val="150000"/>
              </a:lnSpc>
              <a:defRPr sz="1600">
                <a:latin typeface="KoPub돋움체 Medium" panose="02020603020101020101" pitchFamily="18" charset="-127"/>
                <a:ea typeface="KoPub돋움체 Medium" panose="02020603020101020101" pitchFamily="18" charset="-127"/>
              </a:defRPr>
            </a:lvl3pPr>
            <a:lvl4pPr>
              <a:lnSpc>
                <a:spcPct val="150000"/>
              </a:lnSpc>
              <a:defRPr sz="1600">
                <a:latin typeface="KoPub돋움체 Medium" panose="02020603020101020101" pitchFamily="18" charset="-127"/>
                <a:ea typeface="KoPub돋움체 Medium" panose="02020603020101020101" pitchFamily="18" charset="-127"/>
              </a:defRPr>
            </a:lvl4pPr>
            <a:lvl5pPr>
              <a:lnSpc>
                <a:spcPct val="150000"/>
              </a:lnSpc>
              <a:defRPr sz="1600">
                <a:latin typeface="KoPub돋움체 Medium" panose="02020603020101020101" pitchFamily="18" charset="-127"/>
                <a:ea typeface="KoPub돋움체 Medium" panose="02020603020101020101" pitchFamily="18" charset="-127"/>
              </a:defRPr>
            </a:lvl5pPr>
          </a:lstStyle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95A1225D-0BD8-42FD-A091-144615FF073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-583" b="3459"/>
          <a:stretch/>
        </p:blipFill>
        <p:spPr>
          <a:xfrm>
            <a:off x="5452198" y="6510701"/>
            <a:ext cx="1279135" cy="356658"/>
          </a:xfrm>
          <a:prstGeom prst="rect">
            <a:avLst/>
          </a:prstGeom>
          <a:solidFill>
            <a:srgbClr val="1F346B"/>
          </a:solidFill>
        </p:spPr>
      </p:pic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31EFF5A-1B85-42B1-95F5-C4213C5AD9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04600" y="6517302"/>
            <a:ext cx="558800" cy="321398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9F4AF89A-28FA-47FA-B28F-9A9C6913CB7A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DAEAB581-7B9E-4552-9BEC-BDB2FB36C0F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66482" b="96122" l="16219" r="85171">
                        <a14:foregroundMark x1="20111" y1="81440" x2="20111" y2="81440"/>
                        <a14:foregroundMark x1="16404" y1="81440" x2="16404" y2="81440"/>
                        <a14:foregroundMark x1="25950" y1="81717" x2="25950" y2="81717"/>
                        <a14:foregroundMark x1="35959" y1="86704" x2="35959" y2="86704"/>
                        <a14:foregroundMark x1="44300" y1="83657" x2="44300" y2="83657"/>
                        <a14:foregroundMark x1="53197" y1="73961" x2="53197" y2="73961"/>
                        <a14:foregroundMark x1="82947" y1="81717" x2="82947" y2="81717"/>
                        <a14:foregroundMark x1="85171" y1="87812" x2="85171" y2="87812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2517" t="63297" r="13176"/>
          <a:stretch/>
        </p:blipFill>
        <p:spPr>
          <a:xfrm>
            <a:off x="112017" y="6545265"/>
            <a:ext cx="1744133" cy="288231"/>
          </a:xfrm>
          <a:prstGeom prst="rect">
            <a:avLst/>
          </a:prstGeom>
        </p:spPr>
      </p:pic>
      <p:sp>
        <p:nvSpPr>
          <p:cNvPr id="16" name="날짜 개체 틀 3">
            <a:extLst>
              <a:ext uri="{FF2B5EF4-FFF2-40B4-BE49-F238E27FC236}">
                <a16:creationId xmlns:a16="http://schemas.microsoft.com/office/drawing/2014/main" id="{3920A115-BF94-4DB0-B759-905F580E6A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698025" y="6495439"/>
            <a:ext cx="1258711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ko-KR" altLang="en-US" dirty="0"/>
          </a:p>
        </p:txBody>
      </p:sp>
      <p:sp>
        <p:nvSpPr>
          <p:cNvPr id="17" name="바닥글 개체 틀 4">
            <a:extLst>
              <a:ext uri="{FF2B5EF4-FFF2-40B4-BE49-F238E27FC236}">
                <a16:creationId xmlns:a16="http://schemas.microsoft.com/office/drawing/2014/main" id="{CB761E04-ABC5-4F9B-B7F4-0370F3F02E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308348" y="6495439"/>
            <a:ext cx="1888067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17648406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7D0B4DC-8072-4B8E-A822-FE3A08C0D6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D927B99-20C3-4D37-8275-EA6400E5C1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7C6CE84-6AD8-453A-AD6E-FEAF6049C1C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044141"/>
            <a:ext cx="2743200" cy="365125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49EF105-0337-4580-9111-FD2F527F97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044141"/>
            <a:ext cx="4114800" cy="365125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5">
            <a:extLst>
              <a:ext uri="{FF2B5EF4-FFF2-40B4-BE49-F238E27FC236}">
                <a16:creationId xmlns:a16="http://schemas.microsoft.com/office/drawing/2014/main" id="{AB31AF83-2C46-4BF6-B48E-DD76F99A3E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40800" y="6044141"/>
            <a:ext cx="2743200" cy="365125"/>
          </a:xfrm>
        </p:spPr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517793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88C8B6C-1DEF-4332-8A14-F6B6981FD9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078B35E-5C7A-4650-863C-461C8592BB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FA0FC85E-DA01-4C94-8312-2EAB20EAB35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6ADE796-457C-4E05-BBB8-BC7FD13901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65A564A-D398-41C0-BEF2-5D2A53F370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BD0DB09-1DC7-4816-820B-2EDD19BADB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298322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D073845-DA08-4E02-89E5-279477CDC1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FA0F8E2-8F9C-4936-8D92-FA7FE49702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59C35784-8D42-4310-8640-07C1BEB330B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1B31B950-6CB7-42DB-A303-B407EF83D2A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0F35007-CA56-4CB7-8C5F-CF3E2924C58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290CD9AE-54AB-44CB-8910-A70F24EB3A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42AFA608-2F47-4FBC-8A45-AC037C64C0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FEA635AC-BD3D-4D4A-AB07-EAABF50137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076600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D27486-42F6-4B67-8DF8-769971D09A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9BBFFFA3-6C08-4D2B-B714-F2729D0D94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001B550E-4A2E-4405-8F29-A9633B7A92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840B985F-0B0F-472E-A18E-72C776E302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69097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35995497-1A46-4FDE-B4B1-CA2510A4E8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66BDDD35-FFDF-4936-8645-AC2A1F2AB0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A31037F-312F-4D9B-9119-F134F49B29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5921114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8062E35-F23E-4CDC-9C00-11DCB7E970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765F35A-C1B0-4F2A-8536-7C9C4EF9C0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6B6DFEF-5929-42A1-B17A-6AD3F1AC5E0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B8A33CA-A779-4AE7-8BB3-0DF9C81A74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1539BD6-447C-4ABC-97CC-BCC453A389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6A96239-5406-4F31-95AA-C4BD1AB505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780733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EFCC7A7-4C8B-434F-9C38-C6E5AC9E37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97AD0D2C-AE0D-4BDF-B9E8-D91CD7556C1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A9F58740-6BDA-46A2-A629-765E7E175B4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92C1AD5-7F55-4125-8A2F-BC07A86DA4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AB58409-227F-4B89-B306-5E32E6E4F5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47C64012-3A7B-4999-BA77-06258A04A4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4303726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154230E-387F-465D-9111-5F8ACFE1D2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CC53B19F-7C90-4073-858B-0BD87654EFB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96123FE-787A-4904-AA9D-8ACC7B307B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F1EAC67-5F52-452E-9E50-F587C64817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50EEB5A-4207-4ADB-95D4-B87AA305BA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00714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4DACCBB6-C18F-485C-A53E-8683CFFE909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12DC10F-92E5-436B-9D63-2A68B11CB04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B5DDDF8-BB20-4C9B-9571-A39BA7D6E9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354DDF5-9EDE-406E-BFC5-8359CD7084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B989F03-47B6-4B39-B0CA-2A216789CA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7771909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DA31B03D-0C42-48E6-948A-722C5EE3FD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95A6E46-0B48-4B44-9DA0-C7C1E05C33E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20D4B93-E437-4DCC-9E09-16EA88BBC51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4A7A77E-05D0-4203-B655-9A2A21B58D0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C09CEAC-52D1-4D7C-99C4-13222A951ED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defRPr>
            </a:lvl1pPr>
          </a:lstStyle>
          <a:p>
            <a:fld id="{9F4AF89A-28FA-47FA-B28F-9A9C6913CB7A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554859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KoPub돋움체 Medium" panose="00000600000000000000" pitchFamily="2" charset="-127"/>
          <a:ea typeface="KoPub돋움체 Medium" panose="00000600000000000000" pitchFamily="2" charset="-127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KoPub돋움체 Medium" panose="00000600000000000000" pitchFamily="2" charset="-127"/>
          <a:ea typeface="KoPub돋움체 Medium" panose="00000600000000000000" pitchFamily="2" charset="-127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KoPub돋움체 Medium" panose="00000600000000000000" pitchFamily="2" charset="-127"/>
          <a:ea typeface="KoPub돋움체 Medium" panose="00000600000000000000" pitchFamily="2" charset="-127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KoPub돋움체 Medium" panose="00000600000000000000" pitchFamily="2" charset="-127"/>
          <a:ea typeface="KoPub돋움체 Medium" panose="00000600000000000000" pitchFamily="2" charset="-127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KoPub돋움체 Medium" panose="00000600000000000000" pitchFamily="2" charset="-127"/>
          <a:ea typeface="KoPub돋움체 Medium" panose="00000600000000000000" pitchFamily="2" charset="-127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KoPub돋움체 Medium" panose="00000600000000000000" pitchFamily="2" charset="-127"/>
          <a:ea typeface="KoPub돋움체 Medium" panose="00000600000000000000" pitchFamily="2" charset="-127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3">
            <a:extLst>
              <a:ext uri="{FF2B5EF4-FFF2-40B4-BE49-F238E27FC236}">
                <a16:creationId xmlns:a16="http://schemas.microsoft.com/office/drawing/2014/main" id="{4C14D9A0-1BB9-428F-B273-3CE24758593B}"/>
              </a:ext>
            </a:extLst>
          </p:cNvPr>
          <p:cNvSpPr txBox="1">
            <a:spLocks/>
          </p:cNvSpPr>
          <p:nvPr/>
        </p:nvSpPr>
        <p:spPr>
          <a:xfrm>
            <a:off x="417068" y="2062806"/>
            <a:ext cx="11387837" cy="398186"/>
          </a:xfrm>
          <a:prstGeom prst="rect">
            <a:avLst/>
          </a:prstGeom>
        </p:spPr>
        <p:txBody>
          <a:bodyPr vert="horz" wrap="square" lIns="0" tIns="13335" rIns="0" bIns="0">
            <a:sp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12700">
              <a:lnSpc>
                <a:spcPct val="100000"/>
              </a:lnSpc>
              <a:spcBef>
                <a:spcPts val="104"/>
              </a:spcBef>
              <a:defRPr/>
            </a:pPr>
            <a:r>
              <a:rPr lang="en-US" altLang="ko-KR" sz="2500" b="1" dirty="0">
                <a:solidFill>
                  <a:schemeClr val="lt1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  <a:cs typeface="Arial" panose="020B0604020202020204" pitchFamily="34" charset="0"/>
              </a:rPr>
              <a:t>Regression &amp; 1D CNN Result Comparison with AEC, SMI</a:t>
            </a:r>
          </a:p>
        </p:txBody>
      </p:sp>
      <p:sp>
        <p:nvSpPr>
          <p:cNvPr id="5" name="object 5">
            <a:extLst>
              <a:ext uri="{FF2B5EF4-FFF2-40B4-BE49-F238E27FC236}">
                <a16:creationId xmlns:a16="http://schemas.microsoft.com/office/drawing/2014/main" id="{94B21C1C-F3A0-440B-961E-968F2C77FB2A}"/>
              </a:ext>
            </a:extLst>
          </p:cNvPr>
          <p:cNvSpPr txBox="1"/>
          <p:nvPr/>
        </p:nvSpPr>
        <p:spPr>
          <a:xfrm>
            <a:off x="417068" y="3139177"/>
            <a:ext cx="7139940" cy="259045"/>
          </a:xfrm>
          <a:prstGeom prst="rect">
            <a:avLst/>
          </a:prstGeom>
        </p:spPr>
        <p:txBody>
          <a:bodyPr vert="horz" wrap="square" lIns="0" tIns="12700" rIns="0" bIns="0">
            <a:spAutoFit/>
          </a:bodyPr>
          <a:lstStyle/>
          <a:p>
            <a:pPr marL="94615">
              <a:lnSpc>
                <a:spcPct val="100000"/>
              </a:lnSpc>
              <a:spcBef>
                <a:spcPts val="100"/>
              </a:spcBef>
              <a:defRPr/>
            </a:pPr>
            <a:r>
              <a:rPr lang="en-US" altLang="ko-KR" sz="1600" dirty="0">
                <a:solidFill>
                  <a:schemeClr val="bg1">
                    <a:lumMod val="75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  <a:cs typeface="Arial" panose="020B0604020202020204" pitchFamily="34" charset="0"/>
              </a:rPr>
              <a:t>2026. 05. 14</a:t>
            </a:r>
          </a:p>
        </p:txBody>
      </p:sp>
      <p:sp>
        <p:nvSpPr>
          <p:cNvPr id="6" name="object 5">
            <a:extLst>
              <a:ext uri="{FF2B5EF4-FFF2-40B4-BE49-F238E27FC236}">
                <a16:creationId xmlns:a16="http://schemas.microsoft.com/office/drawing/2014/main" id="{63F70F93-076B-4BBC-B933-AC7768BB0AE5}"/>
              </a:ext>
            </a:extLst>
          </p:cNvPr>
          <p:cNvSpPr txBox="1"/>
          <p:nvPr/>
        </p:nvSpPr>
        <p:spPr>
          <a:xfrm>
            <a:off x="417068" y="3564777"/>
            <a:ext cx="7139940" cy="289823"/>
          </a:xfrm>
          <a:prstGeom prst="rect">
            <a:avLst/>
          </a:prstGeom>
        </p:spPr>
        <p:txBody>
          <a:bodyPr vert="horz" wrap="square" lIns="0" tIns="12700" rIns="0" bIns="0">
            <a:spAutoFit/>
          </a:bodyPr>
          <a:lstStyle/>
          <a:p>
            <a:pPr marL="94615">
              <a:lnSpc>
                <a:spcPct val="100000"/>
              </a:lnSpc>
              <a:spcBef>
                <a:spcPts val="100"/>
              </a:spcBef>
              <a:defRPr/>
            </a:pPr>
            <a:r>
              <a:rPr lang="en-US" altLang="ko-KR" sz="1800" b="1" dirty="0" err="1">
                <a:solidFill>
                  <a:srgbClr val="FFFFFF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  <a:cs typeface="Arial" panose="020B0604020202020204" pitchFamily="34" charset="0"/>
              </a:rPr>
              <a:t>JangHoon</a:t>
            </a:r>
            <a:r>
              <a:rPr lang="en-US" altLang="ko-KR" sz="1800" b="1" dirty="0">
                <a:solidFill>
                  <a:srgbClr val="FFFFFF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  <a:cs typeface="Arial" panose="020B0604020202020204" pitchFamily="34" charset="0"/>
              </a:rPr>
              <a:t> Chun</a:t>
            </a:r>
          </a:p>
        </p:txBody>
      </p:sp>
      <p:sp>
        <p:nvSpPr>
          <p:cNvPr id="7" name="object 5">
            <a:extLst>
              <a:ext uri="{FF2B5EF4-FFF2-40B4-BE49-F238E27FC236}">
                <a16:creationId xmlns:a16="http://schemas.microsoft.com/office/drawing/2014/main" id="{CEB5E8A0-083F-4B6E-AA66-93BFFD6A8E1A}"/>
              </a:ext>
            </a:extLst>
          </p:cNvPr>
          <p:cNvSpPr txBox="1"/>
          <p:nvPr/>
        </p:nvSpPr>
        <p:spPr>
          <a:xfrm>
            <a:off x="417068" y="3978214"/>
            <a:ext cx="7139940" cy="1213153"/>
          </a:xfrm>
          <a:prstGeom prst="rect">
            <a:avLst/>
          </a:prstGeom>
        </p:spPr>
        <p:txBody>
          <a:bodyPr vert="horz" wrap="square" lIns="0" tIns="12700" rIns="0" bIns="0">
            <a:spAutoFit/>
          </a:bodyPr>
          <a:lstStyle/>
          <a:p>
            <a:pPr marL="94615">
              <a:lnSpc>
                <a:spcPct val="100000"/>
              </a:lnSpc>
              <a:spcBef>
                <a:spcPts val="100"/>
              </a:spcBef>
              <a:defRPr/>
            </a:pPr>
            <a:r>
              <a:rPr lang="en-US" altLang="ko-KR" sz="1600" dirty="0">
                <a:solidFill>
                  <a:srgbClr val="FFFFFF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  <a:cs typeface="Arial" panose="020B0604020202020204" pitchFamily="34" charset="0"/>
              </a:rPr>
              <a:t>Department of, Medical Device Engineering &amp; Management</a:t>
            </a:r>
          </a:p>
          <a:p>
            <a:pPr marL="94615">
              <a:lnSpc>
                <a:spcPct val="100000"/>
              </a:lnSpc>
              <a:spcBef>
                <a:spcPts val="100"/>
              </a:spcBef>
              <a:defRPr/>
            </a:pPr>
            <a:r>
              <a:rPr lang="en-US" altLang="ko-KR" sz="1600" dirty="0">
                <a:solidFill>
                  <a:srgbClr val="FFFFFF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  <a:cs typeface="Arial" panose="020B0604020202020204" pitchFamily="34" charset="0"/>
              </a:rPr>
              <a:t>Gangnam Severance Hospital,</a:t>
            </a:r>
          </a:p>
          <a:p>
            <a:pPr marL="94615">
              <a:lnSpc>
                <a:spcPct val="100000"/>
              </a:lnSpc>
              <a:spcBef>
                <a:spcPts val="100"/>
              </a:spcBef>
              <a:defRPr/>
            </a:pPr>
            <a:r>
              <a:rPr lang="en-US" altLang="ko-KR" sz="1600" dirty="0">
                <a:solidFill>
                  <a:srgbClr val="FFFFFF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  <a:cs typeface="Arial" panose="020B0604020202020204" pitchFamily="34" charset="0"/>
              </a:rPr>
              <a:t>Yonsei University College of Medicine</a:t>
            </a:r>
          </a:p>
          <a:p>
            <a:pPr marL="94615">
              <a:lnSpc>
                <a:spcPct val="100000"/>
              </a:lnSpc>
              <a:spcBef>
                <a:spcPts val="100"/>
              </a:spcBef>
              <a:defRPr/>
            </a:pPr>
            <a:endParaRPr lang="en-US" altLang="ko-KR" sz="1600" b="1" dirty="0">
              <a:solidFill>
                <a:srgbClr val="FFFFFF"/>
              </a:solidFill>
              <a:latin typeface="KoPub돋움체 Medium" panose="02020603020101020101" pitchFamily="18" charset="-127"/>
              <a:ea typeface="KoPub돋움체 Medium" panose="02020603020101020101" pitchFamily="18" charset="-127"/>
              <a:cs typeface="Arial" panose="020B0604020202020204" pitchFamily="34" charset="0"/>
            </a:endParaRPr>
          </a:p>
          <a:p>
            <a:pPr marL="94615">
              <a:lnSpc>
                <a:spcPct val="100000"/>
              </a:lnSpc>
              <a:spcBef>
                <a:spcPts val="100"/>
              </a:spcBef>
              <a:defRPr/>
            </a:pPr>
            <a:endParaRPr sz="1600" b="1" baseline="25000" dirty="0">
              <a:latin typeface="KoPub돋움체 Medium" panose="02020603020101020101" pitchFamily="18" charset="-127"/>
              <a:ea typeface="KoPub돋움체 Medium" panose="02020603020101020101" pitchFamily="18" charset="-127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9885153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F0C8C8-C4B1-4336-9468-E6803A5952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1. What’s discussed in the last meetings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84C152F-6AC6-4EBB-8679-327588602F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SMI </a:t>
            </a:r>
            <a:r>
              <a:rPr lang="ko-KR" altLang="en-US" dirty="0"/>
              <a:t>데이터 확립 → </a:t>
            </a:r>
            <a:r>
              <a:rPr lang="en-US" altLang="ko-KR" dirty="0"/>
              <a:t>TAMA, BMI, Height, Weight </a:t>
            </a:r>
            <a:r>
              <a:rPr lang="ko-KR" altLang="en-US" dirty="0"/>
              <a:t>등의 데이터로 확인 가능</a:t>
            </a:r>
            <a:endParaRPr lang="en-US" altLang="ko-KR" dirty="0"/>
          </a:p>
          <a:p>
            <a:r>
              <a:rPr lang="en-US" altLang="ko-KR" dirty="0"/>
              <a:t>AEC data Resampling </a:t>
            </a:r>
            <a:r>
              <a:rPr lang="ko-KR" altLang="en-US" dirty="0"/>
              <a:t>→ </a:t>
            </a:r>
            <a:r>
              <a:rPr lang="en-US" altLang="ko-KR" dirty="0"/>
              <a:t>256 point</a:t>
            </a:r>
            <a:r>
              <a:rPr lang="ko-KR" altLang="en-US" dirty="0"/>
              <a:t>로 정규화</a:t>
            </a:r>
            <a:endParaRPr lang="en-US" altLang="ko-KR" dirty="0"/>
          </a:p>
          <a:p>
            <a:pPr lvl="1"/>
            <a:r>
              <a:rPr lang="ko-KR" altLang="en-US" dirty="0"/>
              <a:t>이후 주요 </a:t>
            </a:r>
            <a:r>
              <a:rPr lang="en-US" altLang="ko-KR" dirty="0"/>
              <a:t>feature </a:t>
            </a:r>
            <a:r>
              <a:rPr lang="ko-KR" altLang="en-US" dirty="0"/>
              <a:t>추출 </a:t>
            </a:r>
            <a:r>
              <a:rPr lang="en-US" altLang="ko-KR" dirty="0"/>
              <a:t>(mean, std, range, skewness </a:t>
            </a:r>
            <a:r>
              <a:rPr lang="ko-KR" altLang="en-US" dirty="0"/>
              <a:t>등 </a:t>
            </a:r>
            <a:r>
              <a:rPr lang="en-US" altLang="ko-KR" dirty="0"/>
              <a:t>65</a:t>
            </a:r>
            <a:r>
              <a:rPr lang="ko-KR" altLang="en-US" dirty="0"/>
              <a:t>개 </a:t>
            </a:r>
            <a:r>
              <a:rPr lang="en-US" altLang="ko-KR" dirty="0"/>
              <a:t>feature)</a:t>
            </a:r>
          </a:p>
          <a:p>
            <a:r>
              <a:rPr lang="ko-KR" altLang="en-US" dirty="0"/>
              <a:t>이전 연구와 동일하게 비교 분석</a:t>
            </a:r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67768F2-76AD-4898-ABAE-26C158880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2</a:t>
            </a:fld>
            <a:endParaRPr lang="ko-KR" altLang="en-US" dirty="0"/>
          </a:p>
        </p:txBody>
      </p:sp>
      <p:graphicFrame>
        <p:nvGraphicFramePr>
          <p:cNvPr id="5" name="Table 24">
            <a:extLst>
              <a:ext uri="{FF2B5EF4-FFF2-40B4-BE49-F238E27FC236}">
                <a16:creationId xmlns:a16="http://schemas.microsoft.com/office/drawing/2014/main" id="{699AB61B-AF1E-5771-ECD0-240405CE564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63995864"/>
              </p:ext>
            </p:extLst>
          </p:nvPr>
        </p:nvGraphicFramePr>
        <p:xfrm>
          <a:off x="832525" y="3491652"/>
          <a:ext cx="6648137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872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8313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0628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Model</a:t>
                      </a:r>
                      <a:endParaRPr sz="1200" b="1" dirty="0">
                        <a:solidFill>
                          <a:srgbClr val="FFFFFF"/>
                        </a:solidFill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Feature</a:t>
                      </a:r>
                      <a:r>
                        <a:rPr sz="1200" b="1" dirty="0">
                          <a:solidFill>
                            <a:srgbClr val="FFFFFF"/>
                          </a:solidFill>
                        </a:rPr>
                        <a:t> </a:t>
                      </a:r>
                      <a:r>
                        <a:rPr sz="1200" b="1" dirty="0" err="1">
                          <a:solidFill>
                            <a:srgbClr val="FFFFFF"/>
                          </a:solidFill>
                        </a:rPr>
                        <a:t>구성</a:t>
                      </a:r>
                      <a:endParaRPr sz="1200" b="1" dirty="0">
                        <a:solidFill>
                          <a:srgbClr val="FFFFFF"/>
                        </a:solidFill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 err="1">
                          <a:solidFill>
                            <a:srgbClr val="FFFFFF"/>
                          </a:solidFill>
                        </a:rPr>
                        <a:t>Feature_num</a:t>
                      </a:r>
                      <a:endParaRPr sz="1200" b="1" dirty="0">
                        <a:solidFill>
                          <a:srgbClr val="FFFFFF"/>
                        </a:solidFill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200" b="0" dirty="0" err="1">
                          <a:solidFill>
                            <a:srgbClr val="1A1A2E"/>
                          </a:solidFill>
                        </a:rPr>
                        <a:t>clinic_only</a:t>
                      </a:r>
                      <a:endParaRPr sz="1200" b="0" dirty="0">
                        <a:solidFill>
                          <a:srgbClr val="1A1A2E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 err="1">
                          <a:solidFill>
                            <a:srgbClr val="1A1A2E"/>
                          </a:solidFill>
                        </a:rPr>
                        <a:t>PatientAge</a:t>
                      </a:r>
                      <a:r>
                        <a:rPr sz="1200" b="0" dirty="0">
                          <a:solidFill>
                            <a:srgbClr val="1A1A2E"/>
                          </a:solidFill>
                        </a:rPr>
                        <a:t>, </a:t>
                      </a:r>
                      <a:r>
                        <a:rPr sz="1200" b="0" dirty="0" err="1">
                          <a:solidFill>
                            <a:srgbClr val="1A1A2E"/>
                          </a:solidFill>
                        </a:rPr>
                        <a:t>PatientSex</a:t>
                      </a:r>
                      <a:r>
                        <a:rPr sz="1200" b="0" dirty="0">
                          <a:solidFill>
                            <a:srgbClr val="1A1A2E"/>
                          </a:solidFill>
                        </a:rPr>
                        <a:t>, BMI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>
                          <a:solidFill>
                            <a:srgbClr val="1A1A2E"/>
                          </a:solidFill>
                        </a:rPr>
                        <a:t>3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77252566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2E"/>
                          </a:solidFill>
                        </a:rPr>
                        <a:t>aec_only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>
                          <a:solidFill>
                            <a:srgbClr val="1A1A2E"/>
                          </a:solidFill>
                        </a:rPr>
                        <a:t>aec1 ~ aec256 (</a:t>
                      </a:r>
                      <a:r>
                        <a:rPr sz="1200" b="0" dirty="0" err="1">
                          <a:solidFill>
                            <a:srgbClr val="1A1A2E"/>
                          </a:solidFill>
                        </a:rPr>
                        <a:t>원시</a:t>
                      </a:r>
                      <a:r>
                        <a:rPr sz="1200" b="0" dirty="0">
                          <a:solidFill>
                            <a:srgbClr val="1A1A2E"/>
                          </a:solidFill>
                        </a:rPr>
                        <a:t> AEC </a:t>
                      </a:r>
                      <a:r>
                        <a:rPr sz="1200" b="0" dirty="0" err="1">
                          <a:solidFill>
                            <a:srgbClr val="1A1A2E"/>
                          </a:solidFill>
                        </a:rPr>
                        <a:t>시계열</a:t>
                      </a:r>
                      <a:r>
                        <a:rPr sz="1200" b="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sz="1200" b="0" dirty="0" err="1">
                          <a:solidFill>
                            <a:srgbClr val="1A1A2E"/>
                          </a:solidFill>
                        </a:rPr>
                        <a:t>통계</a:t>
                      </a:r>
                      <a:r>
                        <a:rPr sz="1200" b="0" dirty="0">
                          <a:solidFill>
                            <a:srgbClr val="1A1A2E"/>
                          </a:solidFill>
                        </a:rPr>
                        <a:t>)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2E"/>
                          </a:solidFill>
                        </a:rPr>
                        <a:t>256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44161486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2E"/>
                          </a:solidFill>
                        </a:rPr>
                        <a:t>aec_feature_only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 err="1">
                          <a:solidFill>
                            <a:srgbClr val="1A1A2E"/>
                          </a:solidFill>
                        </a:rPr>
                        <a:t>aec_feature_filtered</a:t>
                      </a:r>
                      <a:r>
                        <a:rPr sz="1200" b="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sz="1200" b="0" dirty="0" err="1">
                          <a:solidFill>
                            <a:srgbClr val="1A1A2E"/>
                          </a:solidFill>
                        </a:rPr>
                        <a:t>시트</a:t>
                      </a:r>
                      <a:r>
                        <a:rPr sz="1200" b="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sz="1200" b="0" dirty="0" err="1">
                          <a:solidFill>
                            <a:srgbClr val="1A1A2E"/>
                          </a:solidFill>
                        </a:rPr>
                        <a:t>전체</a:t>
                      </a:r>
                      <a:r>
                        <a:rPr sz="1200" b="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sz="1200" b="0" dirty="0" err="1">
                          <a:solidFill>
                            <a:srgbClr val="1A1A2E"/>
                          </a:solidFill>
                        </a:rPr>
                        <a:t>사용</a:t>
                      </a:r>
                      <a:endParaRPr sz="1200" b="0" dirty="0">
                        <a:solidFill>
                          <a:srgbClr val="1A1A2E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>
                          <a:solidFill>
                            <a:srgbClr val="1A1A2E"/>
                          </a:solidFill>
                        </a:rPr>
                        <a:t>65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5483364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2E"/>
                          </a:solidFill>
                        </a:rPr>
                        <a:t>aec_feature_selected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>
                          <a:solidFill>
                            <a:srgbClr val="1A1A2E"/>
                          </a:solidFill>
                        </a:rPr>
                        <a:t>AEC </a:t>
                      </a:r>
                      <a:r>
                        <a:rPr sz="1200" b="0" dirty="0" err="1">
                          <a:solidFill>
                            <a:srgbClr val="1A1A2E"/>
                          </a:solidFill>
                        </a:rPr>
                        <a:t>피처</a:t>
                      </a:r>
                      <a:r>
                        <a:rPr sz="1200" b="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sz="1200" b="0" dirty="0" err="1">
                          <a:solidFill>
                            <a:srgbClr val="1A1A2E"/>
                          </a:solidFill>
                        </a:rPr>
                        <a:t>fold별</a:t>
                      </a:r>
                      <a:r>
                        <a:rPr sz="1200" b="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sz="1200" b="0" dirty="0" err="1">
                          <a:solidFill>
                            <a:srgbClr val="1A1A2E"/>
                          </a:solidFill>
                        </a:rPr>
                        <a:t>선택</a:t>
                      </a:r>
                      <a:r>
                        <a:rPr sz="1200" b="0" dirty="0">
                          <a:solidFill>
                            <a:srgbClr val="1A1A2E"/>
                          </a:solidFill>
                        </a:rPr>
                        <a:t> (|r|&lt;0.8, VIF&lt;10)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 err="1">
                          <a:solidFill>
                            <a:srgbClr val="1A1A2E"/>
                          </a:solidFill>
                        </a:rPr>
                        <a:t>가변</a:t>
                      </a:r>
                      <a:endParaRPr sz="1200" b="0" dirty="0">
                        <a:solidFill>
                          <a:srgbClr val="1A1A2E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00151568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2E"/>
                          </a:solidFill>
                        </a:rPr>
                        <a:t>clinic_aec_feature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>
                          <a:solidFill>
                            <a:srgbClr val="1A1A2E"/>
                          </a:solidFill>
                        </a:rPr>
                        <a:t>Age/Sex/BMI (</a:t>
                      </a:r>
                      <a:r>
                        <a:rPr sz="1200" b="0" dirty="0" err="1">
                          <a:solidFill>
                            <a:srgbClr val="1A1A2E"/>
                          </a:solidFill>
                        </a:rPr>
                        <a:t>고정</a:t>
                      </a:r>
                      <a:r>
                        <a:rPr sz="1200" b="0" dirty="0">
                          <a:solidFill>
                            <a:srgbClr val="1A1A2E"/>
                          </a:solidFill>
                        </a:rPr>
                        <a:t>) + AEC </a:t>
                      </a:r>
                      <a:r>
                        <a:rPr sz="1200" b="0" dirty="0" err="1">
                          <a:solidFill>
                            <a:srgbClr val="1A1A2E"/>
                          </a:solidFill>
                        </a:rPr>
                        <a:t>피처</a:t>
                      </a:r>
                      <a:r>
                        <a:rPr sz="1200" b="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sz="1200" b="0" dirty="0" err="1">
                          <a:solidFill>
                            <a:srgbClr val="1A1A2E"/>
                          </a:solidFill>
                        </a:rPr>
                        <a:t>fold별</a:t>
                      </a:r>
                      <a:r>
                        <a:rPr sz="1200" b="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sz="1200" b="0" dirty="0" err="1">
                          <a:solidFill>
                            <a:srgbClr val="1A1A2E"/>
                          </a:solidFill>
                        </a:rPr>
                        <a:t>선택</a:t>
                      </a:r>
                      <a:endParaRPr sz="1200" b="0" dirty="0">
                        <a:solidFill>
                          <a:srgbClr val="1A1A2E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 err="1">
                          <a:solidFill>
                            <a:srgbClr val="1A1A2E"/>
                          </a:solidFill>
                        </a:rPr>
                        <a:t>가변</a:t>
                      </a:r>
                      <a:endParaRPr sz="1200" b="0" dirty="0">
                        <a:solidFill>
                          <a:srgbClr val="1A1A2E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0851155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8AA67D-2B66-3F85-5AE9-73AF22ED4D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5742438-A8A9-C072-F2AE-2206B24BF2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2. Research</a:t>
            </a:r>
            <a:r>
              <a:rPr lang="ko-KR" altLang="en-US" dirty="0"/>
              <a:t> </a:t>
            </a:r>
            <a:r>
              <a:rPr lang="en-US" altLang="ko-KR" dirty="0"/>
              <a:t>Summary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2A4B13E-D4FF-F6EF-0421-904F6E47B81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IMATA </a:t>
            </a:r>
            <a:r>
              <a:rPr lang="ko-KR" altLang="en-US" dirty="0"/>
              <a:t>값을 반영하여 </a:t>
            </a:r>
            <a:r>
              <a:rPr lang="en-US" altLang="ko-KR" dirty="0"/>
              <a:t>SMI </a:t>
            </a:r>
            <a:r>
              <a:rPr lang="ko-KR" altLang="en-US" dirty="0"/>
              <a:t>데이터 재확인</a:t>
            </a:r>
            <a:endParaRPr lang="en-US" altLang="ko-KR" dirty="0"/>
          </a:p>
          <a:p>
            <a:pPr lvl="1"/>
            <a:r>
              <a:rPr lang="en-US" altLang="ko-KR" dirty="0"/>
              <a:t>SMI = (TAMA − IMATA) / Height²</a:t>
            </a:r>
          </a:p>
          <a:p>
            <a:r>
              <a:rPr lang="en-US" altLang="ko-KR" dirty="0"/>
              <a:t>SMI </a:t>
            </a:r>
            <a:r>
              <a:rPr lang="ko-KR" altLang="en-US" dirty="0"/>
              <a:t>기준 논문 </a:t>
            </a:r>
            <a:r>
              <a:rPr lang="en-US" altLang="ko-KR" dirty="0"/>
              <a:t>5</a:t>
            </a:r>
            <a:r>
              <a:rPr lang="ko-KR" altLang="en-US" dirty="0"/>
              <a:t>개 확인 후 남녀 </a:t>
            </a:r>
            <a:r>
              <a:rPr lang="en-US" altLang="ko-KR" dirty="0"/>
              <a:t>SMI threshold </a:t>
            </a:r>
            <a:r>
              <a:rPr lang="ko-KR" altLang="en-US" dirty="0"/>
              <a:t>결정</a:t>
            </a:r>
            <a:endParaRPr lang="en-US" altLang="ko-KR" dirty="0"/>
          </a:p>
          <a:p>
            <a:pPr lvl="1"/>
            <a:r>
              <a:rPr lang="en-US" altLang="ko-KR" dirty="0"/>
              <a:t>‘</a:t>
            </a:r>
            <a:r>
              <a:rPr lang="ko-KR" altLang="en-US" dirty="0"/>
              <a:t>한국 기준 하위 </a:t>
            </a:r>
            <a:r>
              <a:rPr lang="en-US" altLang="ko-KR" dirty="0"/>
              <a:t>5%’</a:t>
            </a:r>
            <a:r>
              <a:rPr lang="ko-KR" altLang="en-US" dirty="0"/>
              <a:t>로 설정</a:t>
            </a:r>
            <a:endParaRPr lang="en-US" altLang="ko-KR" dirty="0"/>
          </a:p>
          <a:p>
            <a:r>
              <a:rPr lang="ko-KR" altLang="en-US" dirty="0"/>
              <a:t>모델은 </a:t>
            </a:r>
            <a:r>
              <a:rPr lang="en-US" altLang="ko-KR" dirty="0"/>
              <a:t>Logistic Regression</a:t>
            </a:r>
            <a:r>
              <a:rPr lang="ko-KR" altLang="en-US" dirty="0"/>
              <a:t>과 </a:t>
            </a:r>
            <a:r>
              <a:rPr lang="en-US" altLang="ko-KR" dirty="0"/>
              <a:t>ResNet1D</a:t>
            </a:r>
            <a:r>
              <a:rPr lang="ko-KR" altLang="en-US" dirty="0"/>
              <a:t>만 사용 </a:t>
            </a:r>
            <a:r>
              <a:rPr lang="en-US" altLang="ko-KR" dirty="0"/>
              <a:t>(Linear </a:t>
            </a:r>
            <a:r>
              <a:rPr lang="ko-KR" altLang="en-US" dirty="0"/>
              <a:t>제외</a:t>
            </a:r>
            <a:r>
              <a:rPr lang="en-US" altLang="ko-KR" dirty="0"/>
              <a:t>)</a:t>
            </a:r>
          </a:p>
          <a:p>
            <a:r>
              <a:rPr lang="en-US" altLang="ko-KR" dirty="0"/>
              <a:t>Clinic [Age, Sex, BMI] vs Clinic + AEC vs Clinic + AEC + Scanner [</a:t>
            </a:r>
            <a:r>
              <a:rPr lang="ko-KR" altLang="en-US" dirty="0"/>
              <a:t>모델명</a:t>
            </a:r>
            <a:r>
              <a:rPr lang="en-US" altLang="ko-KR" dirty="0"/>
              <a:t>]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33A8356-A9FE-00F5-FFBF-D1A2F9D6DC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27100798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F0C8C8-C4B1-4336-9468-E6803A5952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8000" y="2896658"/>
            <a:ext cx="11176000" cy="532342"/>
          </a:xfrm>
        </p:spPr>
        <p:txBody>
          <a:bodyPr>
            <a:noAutofit/>
          </a:bodyPr>
          <a:lstStyle/>
          <a:p>
            <a:r>
              <a:rPr lang="ko-KR" altLang="en-US" sz="4000" dirty="0"/>
              <a:t>연구 프로토타입 정의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67768F2-76AD-4898-ABAE-26C158880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210006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F0C8C8-C4B1-4336-9468-E6803A5952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Research Overview – Main Study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84C152F-6AC6-4EBB-8679-327588602F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r>
              <a:rPr lang="ko-KR" altLang="en-US" dirty="0"/>
              <a:t>연구 목적</a:t>
            </a:r>
            <a:endParaRPr lang="en-US" altLang="ko-KR" dirty="0"/>
          </a:p>
          <a:p>
            <a:pPr lvl="1"/>
            <a:r>
              <a:rPr lang="en-US" altLang="ko-KR" dirty="0"/>
              <a:t>Opportunistic CT Biomarker </a:t>
            </a:r>
            <a:r>
              <a:rPr lang="ko-KR" altLang="en-US" dirty="0"/>
              <a:t>기반 → </a:t>
            </a:r>
            <a:r>
              <a:rPr lang="en-US" altLang="ko-KR" dirty="0"/>
              <a:t>5</a:t>
            </a:r>
            <a:r>
              <a:rPr lang="ko-KR" altLang="en-US" dirty="0"/>
              <a:t>년 내 </a:t>
            </a:r>
            <a:r>
              <a:rPr lang="en-US" altLang="ko-KR" dirty="0"/>
              <a:t>vertebral compression fracture </a:t>
            </a:r>
            <a:r>
              <a:rPr lang="ko-KR" altLang="en-US" dirty="0"/>
              <a:t>예측</a:t>
            </a:r>
            <a:endParaRPr lang="en-US" altLang="ko-KR" dirty="0"/>
          </a:p>
          <a:p>
            <a:pPr lvl="1"/>
            <a:r>
              <a:rPr lang="en-US" altLang="ko-KR" dirty="0"/>
              <a:t>AEC</a:t>
            </a:r>
            <a:r>
              <a:rPr lang="ko-KR" altLang="en-US" dirty="0"/>
              <a:t>의 </a:t>
            </a:r>
            <a:r>
              <a:rPr lang="en-US" altLang="ko-KR" dirty="0"/>
              <a:t>incremental value </a:t>
            </a:r>
            <a:r>
              <a:rPr lang="ko-KR" altLang="en-US" dirty="0"/>
              <a:t>검증</a:t>
            </a:r>
            <a:endParaRPr lang="en-US" altLang="ko-KR" dirty="0"/>
          </a:p>
          <a:p>
            <a:r>
              <a:rPr lang="ko-KR" altLang="en-US" dirty="0"/>
              <a:t>데이터</a:t>
            </a:r>
            <a:endParaRPr lang="en-US" altLang="ko-KR" dirty="0"/>
          </a:p>
          <a:p>
            <a:pPr lvl="1"/>
            <a:r>
              <a:rPr lang="en-US" altLang="ko-KR" dirty="0"/>
              <a:t>Baseline APCT + follow-up imaging </a:t>
            </a:r>
            <a:r>
              <a:rPr lang="ko-KR" altLang="en-US" dirty="0"/>
              <a:t>보유 환자</a:t>
            </a:r>
            <a:endParaRPr lang="en-US" altLang="ko-KR" dirty="0"/>
          </a:p>
          <a:p>
            <a:pPr lvl="1"/>
            <a:r>
              <a:rPr lang="ko-KR" altLang="en-US" dirty="0"/>
              <a:t>주요 변수</a:t>
            </a:r>
            <a:r>
              <a:rPr lang="en-US" altLang="ko-KR" dirty="0"/>
              <a:t>: Age, Sex, AEC, Muscle, Bone Density </a:t>
            </a:r>
            <a:r>
              <a:rPr lang="ko-KR" altLang="en-US" dirty="0"/>
              <a:t>등</a:t>
            </a:r>
            <a:endParaRPr lang="en-US" altLang="ko-KR" dirty="0"/>
          </a:p>
          <a:p>
            <a:r>
              <a:rPr lang="ko-KR" altLang="en-US" dirty="0"/>
              <a:t>모델 구조</a:t>
            </a:r>
            <a:endParaRPr lang="en-US" altLang="ko-KR" dirty="0"/>
          </a:p>
          <a:p>
            <a:pPr lvl="1"/>
            <a:r>
              <a:rPr lang="en-US" altLang="ko-KR" dirty="0"/>
              <a:t>Model A: Age + Sex</a:t>
            </a:r>
          </a:p>
          <a:p>
            <a:pPr lvl="1"/>
            <a:r>
              <a:rPr lang="en-US" altLang="ko-KR" dirty="0"/>
              <a:t>Model B: + Bone</a:t>
            </a:r>
          </a:p>
          <a:p>
            <a:pPr lvl="1"/>
            <a:r>
              <a:rPr lang="en-US" altLang="ko-KR" dirty="0"/>
              <a:t>Model C: + Muscle</a:t>
            </a:r>
          </a:p>
          <a:p>
            <a:pPr lvl="1"/>
            <a:r>
              <a:rPr lang="en-US" altLang="ko-KR" dirty="0"/>
              <a:t>Model D: + AEC (</a:t>
            </a:r>
            <a:r>
              <a:rPr lang="ko-KR" altLang="en-US" dirty="0"/>
              <a:t>핵심 비교</a:t>
            </a:r>
            <a:r>
              <a:rPr lang="en-US" altLang="ko-KR" dirty="0"/>
              <a:t>)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67768F2-76AD-4898-ABAE-26C158880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46529968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F0C8C8-C4B1-4336-9468-E6803A5952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Research Overview – Pilot Feasibility Study (</a:t>
            </a:r>
            <a:r>
              <a:rPr lang="ko-KR" altLang="en-US" dirty="0"/>
              <a:t>현재 진행 연구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84C152F-6AC6-4EBB-8679-327588602F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ko-KR" altLang="en-US" dirty="0"/>
              <a:t>연구 목적</a:t>
            </a:r>
            <a:endParaRPr lang="en-US" altLang="ko-KR" dirty="0"/>
          </a:p>
          <a:p>
            <a:pPr lvl="1"/>
            <a:r>
              <a:rPr lang="en-US" altLang="ko-KR" dirty="0"/>
              <a:t>AEC</a:t>
            </a:r>
            <a:r>
              <a:rPr lang="ko-KR" altLang="en-US" dirty="0"/>
              <a:t>가 단순 보조 변수인지 </a:t>
            </a:r>
            <a:r>
              <a:rPr lang="en-US" altLang="ko-KR" dirty="0"/>
              <a:t>vs </a:t>
            </a:r>
            <a:r>
              <a:rPr lang="ko-KR" altLang="en-US" dirty="0"/>
              <a:t>독립적인 </a:t>
            </a:r>
            <a:r>
              <a:rPr lang="en-US" altLang="ko-KR" dirty="0"/>
              <a:t>biomarker</a:t>
            </a:r>
            <a:r>
              <a:rPr lang="ko-KR" altLang="en-US" dirty="0"/>
              <a:t>인지 검증</a:t>
            </a:r>
            <a:endParaRPr lang="en-US" altLang="ko-KR" dirty="0"/>
          </a:p>
          <a:p>
            <a:pPr marL="457200" lvl="1" indent="0">
              <a:buNone/>
            </a:pPr>
            <a:r>
              <a:rPr lang="ko-KR" altLang="en-US" dirty="0"/>
              <a:t>→ 본 연구 모델 포함 가능성 평가</a:t>
            </a:r>
            <a:endParaRPr lang="en-US" altLang="ko-KR" dirty="0"/>
          </a:p>
          <a:p>
            <a:r>
              <a:rPr lang="ko-KR" altLang="en-US" dirty="0"/>
              <a:t>핵심 질문</a:t>
            </a:r>
            <a:endParaRPr lang="en-US" altLang="ko-KR" dirty="0"/>
          </a:p>
          <a:p>
            <a:pPr lvl="1"/>
            <a:r>
              <a:rPr lang="en-US" altLang="ko-KR" dirty="0"/>
              <a:t>AEC</a:t>
            </a:r>
            <a:r>
              <a:rPr lang="ko-KR" altLang="en-US" dirty="0"/>
              <a:t>는 </a:t>
            </a:r>
            <a:r>
              <a:rPr lang="en-US" altLang="ko-KR" dirty="0"/>
              <a:t>age/sex </a:t>
            </a:r>
            <a:r>
              <a:rPr lang="ko-KR" altLang="en-US" dirty="0"/>
              <a:t>이상 정보를 가지는가</a:t>
            </a:r>
            <a:r>
              <a:rPr lang="en-US" altLang="ko-KR" dirty="0"/>
              <a:t>?</a:t>
            </a:r>
          </a:p>
          <a:p>
            <a:pPr lvl="1"/>
            <a:r>
              <a:rPr lang="en-US" altLang="ko-KR" dirty="0"/>
              <a:t>Muscle/Bone</a:t>
            </a:r>
            <a:r>
              <a:rPr lang="ko-KR" altLang="en-US" dirty="0"/>
              <a:t>과 독립적 연관성이 존재하는가</a:t>
            </a:r>
            <a:r>
              <a:rPr lang="en-US" altLang="ko-KR" dirty="0"/>
              <a:t>?</a:t>
            </a:r>
          </a:p>
          <a:p>
            <a:pPr lvl="1"/>
            <a:r>
              <a:rPr lang="en-US" altLang="ko-KR" dirty="0"/>
              <a:t>Scanner/Center </a:t>
            </a:r>
            <a:r>
              <a:rPr lang="ko-KR" altLang="en-US" dirty="0"/>
              <a:t>보정 후에도 유지되는가</a:t>
            </a:r>
            <a:r>
              <a:rPr lang="en-US" altLang="ko-KR" dirty="0"/>
              <a:t>?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67768F2-76AD-4898-ABAE-26C158880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1043735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F0C8C8-C4B1-4336-9468-E6803A5952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Research Overview – Pilot Feasibility Study (</a:t>
            </a:r>
            <a:r>
              <a:rPr lang="ko-KR" altLang="en-US" dirty="0"/>
              <a:t>현재 진행 연구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84C152F-6AC6-4EBB-8679-327588602F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r>
              <a:rPr lang="ko-KR" altLang="en-US" dirty="0"/>
              <a:t>분석 전략</a:t>
            </a:r>
            <a:endParaRPr lang="en-US" altLang="ko-KR" dirty="0"/>
          </a:p>
          <a:p>
            <a:pPr lvl="1"/>
            <a:r>
              <a:rPr lang="ko-KR" altLang="en-US" dirty="0"/>
              <a:t>분포 분석 </a:t>
            </a:r>
            <a:r>
              <a:rPr lang="en-US" altLang="ko-KR" dirty="0"/>
              <a:t>(AEC by </a:t>
            </a:r>
            <a:r>
              <a:rPr lang="ko-KR" altLang="en-US" dirty="0"/>
              <a:t>센터</a:t>
            </a:r>
            <a:r>
              <a:rPr lang="en-US" altLang="ko-KR" dirty="0"/>
              <a:t>, </a:t>
            </a:r>
            <a:r>
              <a:rPr lang="ko-KR" altLang="en-US" dirty="0"/>
              <a:t>성별</a:t>
            </a:r>
            <a:r>
              <a:rPr lang="en-US" altLang="ko-KR" dirty="0"/>
              <a:t>, </a:t>
            </a:r>
            <a:r>
              <a:rPr lang="ko-KR" altLang="en-US" dirty="0"/>
              <a:t>연령</a:t>
            </a:r>
            <a:r>
              <a:rPr lang="en-US" altLang="ko-KR" dirty="0"/>
              <a:t>) – Complete</a:t>
            </a:r>
          </a:p>
          <a:p>
            <a:pPr lvl="1"/>
            <a:r>
              <a:rPr lang="ko-KR" altLang="en-US" b="1" dirty="0"/>
              <a:t>회귀 분석 </a:t>
            </a:r>
            <a:r>
              <a:rPr lang="en-US" altLang="ko-KR" b="1" dirty="0"/>
              <a:t>(muscle area / attenuation / bone density ~ AEC + age + sex)</a:t>
            </a:r>
          </a:p>
          <a:p>
            <a:pPr lvl="1"/>
            <a:r>
              <a:rPr lang="ko-KR" altLang="en-US" b="1" dirty="0"/>
              <a:t>고급 분석</a:t>
            </a:r>
            <a:endParaRPr lang="en-US" altLang="ko-KR" b="1" dirty="0"/>
          </a:p>
          <a:p>
            <a:pPr lvl="2"/>
            <a:r>
              <a:rPr lang="en-US" altLang="ko-KR" b="1" dirty="0"/>
              <a:t>Multivariable (center, scanner </a:t>
            </a:r>
            <a:r>
              <a:rPr lang="ko-KR" altLang="en-US" b="1" dirty="0"/>
              <a:t>보정</a:t>
            </a:r>
            <a:r>
              <a:rPr lang="en-US" altLang="ko-KR" b="1" dirty="0"/>
              <a:t>)</a:t>
            </a:r>
          </a:p>
          <a:p>
            <a:pPr lvl="2"/>
            <a:r>
              <a:rPr lang="en-US" altLang="ko-KR" dirty="0"/>
              <a:t>Spline </a:t>
            </a:r>
            <a:r>
              <a:rPr lang="ko-KR" altLang="en-US" dirty="0"/>
              <a:t>분석 →</a:t>
            </a:r>
            <a:r>
              <a:rPr lang="en-US" altLang="ko-KR" dirty="0"/>
              <a:t> </a:t>
            </a:r>
            <a:r>
              <a:rPr lang="ko-KR" altLang="en-US" dirty="0"/>
              <a:t>비선형 관계 확인</a:t>
            </a:r>
            <a:endParaRPr lang="en-US" altLang="ko-KR" dirty="0"/>
          </a:p>
          <a:p>
            <a:pPr lvl="2"/>
            <a:r>
              <a:rPr lang="en-US" altLang="ko-KR" dirty="0"/>
              <a:t>Center-stratified </a:t>
            </a:r>
            <a:r>
              <a:rPr lang="ko-KR" altLang="en-US" dirty="0"/>
              <a:t>분석</a:t>
            </a:r>
            <a:endParaRPr lang="en-US" altLang="ko-KR" dirty="0"/>
          </a:p>
          <a:p>
            <a:r>
              <a:rPr lang="ko-KR" altLang="en-US" dirty="0"/>
              <a:t>결과물</a:t>
            </a:r>
            <a:endParaRPr lang="en-US" altLang="ko-KR" dirty="0"/>
          </a:p>
          <a:p>
            <a:pPr lvl="1"/>
            <a:r>
              <a:rPr lang="en-US" altLang="ko-KR" dirty="0"/>
              <a:t>AEC distribution plot</a:t>
            </a:r>
          </a:p>
          <a:p>
            <a:pPr lvl="1"/>
            <a:r>
              <a:rPr lang="en-US" altLang="ko-KR" dirty="0"/>
              <a:t>AEC vs biomarker scatter</a:t>
            </a:r>
          </a:p>
          <a:p>
            <a:pPr lvl="1"/>
            <a:r>
              <a:rPr lang="en-US" altLang="ko-KR" dirty="0"/>
              <a:t>Regression Table</a:t>
            </a:r>
          </a:p>
          <a:p>
            <a:pPr lvl="1"/>
            <a:r>
              <a:rPr lang="en-US" altLang="ko-KR" dirty="0"/>
              <a:t>Stratified Result Figure </a:t>
            </a:r>
            <a:r>
              <a:rPr lang="ko-KR" altLang="en-US" dirty="0"/>
              <a:t>등</a:t>
            </a:r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67768F2-76AD-4898-ABAE-26C158880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0790177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F0C8C8-C4B1-4336-9468-E6803A5952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8000" y="2896658"/>
            <a:ext cx="11176000" cy="532342"/>
          </a:xfrm>
        </p:spPr>
        <p:txBody>
          <a:bodyPr>
            <a:noAutofit/>
          </a:bodyPr>
          <a:lstStyle/>
          <a:p>
            <a:r>
              <a:rPr lang="ko-KR" altLang="en-US" sz="4000" dirty="0">
                <a:latin typeface="KoPub돋움체 Bold" panose="00000800000000000000" pitchFamily="2" charset="-127"/>
                <a:ea typeface="KoPub돋움체 Bold" panose="00000800000000000000" pitchFamily="2" charset="-127"/>
                <a:cs typeface="KoPubWorld돋움체 Bold" panose="00000800000000000000" pitchFamily="2" charset="-127"/>
              </a:rPr>
              <a:t>데이터 정리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67768F2-76AD-4898-ABAE-26C158880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96377656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F0C8C8-C4B1-4336-9468-E6803A5952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67768F2-76AD-4898-ABAE-26C158880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9</a:t>
            </a:fld>
            <a:endParaRPr lang="ko-KR" altLang="en-US" dirty="0"/>
          </a:p>
        </p:txBody>
      </p:sp>
      <p:sp>
        <p:nvSpPr>
          <p:cNvPr id="11" name="내용 개체 틀 10">
            <a:extLst>
              <a:ext uri="{FF2B5EF4-FFF2-40B4-BE49-F238E27FC236}">
                <a16:creationId xmlns:a16="http://schemas.microsoft.com/office/drawing/2014/main" id="{2F49DB3D-7569-41CE-98E6-0D040C938E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Data – </a:t>
            </a:r>
            <a:r>
              <a:rPr lang="ko-KR" altLang="en-US" dirty="0"/>
              <a:t>강남</a:t>
            </a:r>
            <a:endParaRPr lang="en-US" altLang="ko-KR" dirty="0"/>
          </a:p>
          <a:p>
            <a:pPr lvl="1"/>
            <a:r>
              <a:rPr lang="en-US" altLang="ko-KR" dirty="0"/>
              <a:t>Clinic Data </a:t>
            </a:r>
            <a:r>
              <a:rPr lang="ko-KR" altLang="en-US" dirty="0"/>
              <a:t>수 </a:t>
            </a:r>
            <a:r>
              <a:rPr lang="en-US" altLang="ko-KR" dirty="0"/>
              <a:t>: 3,672 </a:t>
            </a:r>
            <a:r>
              <a:rPr lang="ko-KR" altLang="en-US" dirty="0"/>
              <a:t>→ 중복 </a:t>
            </a:r>
            <a:r>
              <a:rPr lang="en-US" altLang="ko-KR" dirty="0" err="1"/>
              <a:t>PatientID</a:t>
            </a:r>
            <a:r>
              <a:rPr lang="en-US" altLang="ko-KR" dirty="0"/>
              <a:t> </a:t>
            </a:r>
            <a:r>
              <a:rPr lang="ko-KR" altLang="en-US" dirty="0"/>
              <a:t>제거 </a:t>
            </a:r>
            <a:r>
              <a:rPr lang="en-US" altLang="ko-KR" dirty="0"/>
              <a:t>: 2,025 </a:t>
            </a:r>
            <a:r>
              <a:rPr lang="ko-KR" altLang="en-US" dirty="0"/>
              <a:t>→ </a:t>
            </a:r>
            <a:r>
              <a:rPr lang="en-US" altLang="ko-KR" dirty="0"/>
              <a:t>TAMA outlier(0, 1), BMI</a:t>
            </a:r>
            <a:r>
              <a:rPr lang="ko-KR" altLang="en-US" dirty="0"/>
              <a:t> 제거 </a:t>
            </a:r>
            <a:r>
              <a:rPr lang="en-US" altLang="ko-KR" dirty="0"/>
              <a:t>: 1,642</a:t>
            </a:r>
          </a:p>
          <a:p>
            <a:pPr lvl="1"/>
            <a:r>
              <a:rPr lang="en-US" altLang="ko-KR" dirty="0"/>
              <a:t>Axial Data </a:t>
            </a:r>
            <a:r>
              <a:rPr lang="ko-KR" altLang="en-US" dirty="0"/>
              <a:t>수 </a:t>
            </a:r>
            <a:r>
              <a:rPr lang="en-US" altLang="ko-KR" dirty="0"/>
              <a:t>: 1,642 </a:t>
            </a:r>
            <a:r>
              <a:rPr lang="ko-KR" altLang="en-US" dirty="0"/>
              <a:t>→ </a:t>
            </a:r>
            <a:r>
              <a:rPr lang="en-US" altLang="ko-KR" dirty="0"/>
              <a:t>Fixed Tube Current Value </a:t>
            </a:r>
            <a:r>
              <a:rPr lang="ko-KR" altLang="en-US" dirty="0"/>
              <a:t>제거 </a:t>
            </a:r>
            <a:r>
              <a:rPr lang="en-US" altLang="ko-KR" dirty="0"/>
              <a:t>: 1,372 </a:t>
            </a:r>
            <a:r>
              <a:rPr lang="ko-KR" altLang="en-US" dirty="0"/>
              <a:t>→ </a:t>
            </a:r>
            <a:r>
              <a:rPr lang="en-US" altLang="ko-KR" dirty="0" err="1"/>
              <a:t>kVp</a:t>
            </a:r>
            <a:r>
              <a:rPr lang="ko-KR" altLang="en-US" dirty="0"/>
              <a:t> 및 모델명 </a:t>
            </a:r>
            <a:r>
              <a:rPr lang="en-US" altLang="ko-KR" dirty="0"/>
              <a:t>Filtering : 1,272</a:t>
            </a:r>
          </a:p>
          <a:p>
            <a:endParaRPr lang="ko-KR" altLang="en-US" b="1" dirty="0"/>
          </a:p>
        </p:txBody>
      </p:sp>
      <p:grpSp>
        <p:nvGrpSpPr>
          <p:cNvPr id="6" name="그룹 5">
            <a:extLst>
              <a:ext uri="{FF2B5EF4-FFF2-40B4-BE49-F238E27FC236}">
                <a16:creationId xmlns:a16="http://schemas.microsoft.com/office/drawing/2014/main" id="{134B4283-B221-6F97-DFAF-C89D8539DEF5}"/>
              </a:ext>
            </a:extLst>
          </p:cNvPr>
          <p:cNvGrpSpPr/>
          <p:nvPr/>
        </p:nvGrpSpPr>
        <p:grpSpPr>
          <a:xfrm>
            <a:off x="769620" y="2750656"/>
            <a:ext cx="10652760" cy="868680"/>
            <a:chOff x="769620" y="1727033"/>
            <a:chExt cx="10652760" cy="868680"/>
          </a:xfrm>
        </p:grpSpPr>
        <p:sp>
          <p:nvSpPr>
            <p:cNvPr id="39" name="Rectangle 5">
              <a:extLst>
                <a:ext uri="{FF2B5EF4-FFF2-40B4-BE49-F238E27FC236}">
                  <a16:creationId xmlns:a16="http://schemas.microsoft.com/office/drawing/2014/main" id="{BE12C57E-DDA6-448D-86BC-F1DC21EC5D54}"/>
                </a:ext>
              </a:extLst>
            </p:cNvPr>
            <p:cNvSpPr/>
            <p:nvPr/>
          </p:nvSpPr>
          <p:spPr>
            <a:xfrm>
              <a:off x="769620" y="1727033"/>
              <a:ext cx="3377704" cy="8686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2E75B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dirty="0">
                <a:latin typeface="KoPub돋움체 Bold" panose="00000800000000000000" pitchFamily="2" charset="-127"/>
                <a:ea typeface="KoPub돋움체 Bold" panose="00000800000000000000" pitchFamily="2" charset="-127"/>
                <a:cs typeface="KoPubWorld돋움체 Medium" panose="00000600000000000000" pitchFamily="2" charset="-127"/>
              </a:endParaRP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9341836B-E0D9-4AAE-A183-22EFDBEB5A9F}"/>
                </a:ext>
              </a:extLst>
            </p:cNvPr>
            <p:cNvSpPr txBox="1"/>
            <p:nvPr/>
          </p:nvSpPr>
          <p:spPr>
            <a:xfrm>
              <a:off x="873549" y="1772753"/>
              <a:ext cx="3204489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400" b="0" i="0" dirty="0">
                  <a:solidFill>
                    <a:srgbClr val="2E75B6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총 </a:t>
              </a:r>
              <a:r>
                <a:rPr sz="1400" b="0" i="0" dirty="0" err="1">
                  <a:solidFill>
                    <a:srgbClr val="2E75B6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환자</a:t>
              </a:r>
              <a:r>
                <a:rPr sz="1400" b="0" i="0" dirty="0">
                  <a:solidFill>
                    <a:srgbClr val="2E75B6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 수</a:t>
              </a:r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FA0E5E16-BED6-4786-BA12-4B9DA00E5C69}"/>
                </a:ext>
              </a:extLst>
            </p:cNvPr>
            <p:cNvSpPr txBox="1"/>
            <p:nvPr/>
          </p:nvSpPr>
          <p:spPr>
            <a:xfrm>
              <a:off x="873549" y="2111081"/>
              <a:ext cx="3204489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1,</a:t>
              </a:r>
              <a:r>
                <a:rPr lang="en-US" sz="1600" b="1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2</a:t>
              </a:r>
              <a:r>
                <a:rPr lang="en-US"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72</a:t>
              </a:r>
              <a:r>
                <a:rPr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명</a:t>
              </a:r>
            </a:p>
          </p:txBody>
        </p:sp>
        <p:sp>
          <p:nvSpPr>
            <p:cNvPr id="42" name="Rectangle 8">
              <a:extLst>
                <a:ext uri="{FF2B5EF4-FFF2-40B4-BE49-F238E27FC236}">
                  <a16:creationId xmlns:a16="http://schemas.microsoft.com/office/drawing/2014/main" id="{2BDD2FD2-D736-4432-A9D6-16A0A1C7E0A0}"/>
                </a:ext>
              </a:extLst>
            </p:cNvPr>
            <p:cNvSpPr/>
            <p:nvPr/>
          </p:nvSpPr>
          <p:spPr>
            <a:xfrm>
              <a:off x="4407148" y="1727033"/>
              <a:ext cx="3377704" cy="8686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2E75B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dirty="0">
                <a:latin typeface="KoPub돋움체 Bold" panose="00000800000000000000" pitchFamily="2" charset="-127"/>
                <a:ea typeface="KoPub돋움체 Bold" panose="00000800000000000000" pitchFamily="2" charset="-127"/>
                <a:cs typeface="KoPubWorld돋움체 Medium" panose="00000600000000000000" pitchFamily="2" charset="-127"/>
              </a:endParaRP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393F3D5B-8095-49E6-98D3-E24267C25BDA}"/>
                </a:ext>
              </a:extLst>
            </p:cNvPr>
            <p:cNvSpPr txBox="1"/>
            <p:nvPr/>
          </p:nvSpPr>
          <p:spPr>
            <a:xfrm>
              <a:off x="4511077" y="1772753"/>
              <a:ext cx="3204489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400" b="0" i="0" dirty="0" err="1">
                  <a:solidFill>
                    <a:srgbClr val="2E75B6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남성</a:t>
              </a:r>
              <a:endParaRPr sz="1400" b="0" i="0" dirty="0">
                <a:solidFill>
                  <a:srgbClr val="2E75B6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  <a:cs typeface="KoPubWorld돋움체 Medium" panose="00000600000000000000" pitchFamily="2" charset="-127"/>
              </a:endParaRPr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43CA52CD-5E1B-4300-A6A1-8E0FB8D87ABE}"/>
                </a:ext>
              </a:extLst>
            </p:cNvPr>
            <p:cNvSpPr txBox="1"/>
            <p:nvPr/>
          </p:nvSpPr>
          <p:spPr>
            <a:xfrm>
              <a:off x="4511077" y="2111081"/>
              <a:ext cx="3204489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lang="en-US"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456</a:t>
              </a:r>
              <a:r>
                <a:rPr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명 (3</a:t>
              </a:r>
              <a:r>
                <a:rPr lang="en-US"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5</a:t>
              </a:r>
              <a:r>
                <a:rPr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.</a:t>
              </a:r>
              <a:r>
                <a:rPr lang="en-US"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8</a:t>
              </a:r>
              <a:r>
                <a:rPr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%)</a:t>
              </a:r>
            </a:p>
          </p:txBody>
        </p:sp>
        <p:sp>
          <p:nvSpPr>
            <p:cNvPr id="45" name="Rectangle 11">
              <a:extLst>
                <a:ext uri="{FF2B5EF4-FFF2-40B4-BE49-F238E27FC236}">
                  <a16:creationId xmlns:a16="http://schemas.microsoft.com/office/drawing/2014/main" id="{20A8A9A3-5B0C-4B19-B70F-63963F3E6EDA}"/>
                </a:ext>
              </a:extLst>
            </p:cNvPr>
            <p:cNvSpPr/>
            <p:nvPr/>
          </p:nvSpPr>
          <p:spPr>
            <a:xfrm>
              <a:off x="8044676" y="1727033"/>
              <a:ext cx="3377704" cy="8686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2E75B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dirty="0">
                <a:latin typeface="KoPub돋움체 Bold" panose="00000800000000000000" pitchFamily="2" charset="-127"/>
                <a:ea typeface="KoPub돋움체 Bold" panose="00000800000000000000" pitchFamily="2" charset="-127"/>
                <a:cs typeface="KoPubWorld돋움체 Medium" panose="00000600000000000000" pitchFamily="2" charset="-127"/>
              </a:endParaRP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40535323-FE78-4A6C-BA8C-0B802F73AE17}"/>
                </a:ext>
              </a:extLst>
            </p:cNvPr>
            <p:cNvSpPr txBox="1"/>
            <p:nvPr/>
          </p:nvSpPr>
          <p:spPr>
            <a:xfrm>
              <a:off x="8148604" y="1772753"/>
              <a:ext cx="3204489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400" b="0" i="0" dirty="0" err="1">
                  <a:solidFill>
                    <a:srgbClr val="2E75B6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여성</a:t>
              </a:r>
              <a:endParaRPr sz="1400" b="0" i="0" dirty="0">
                <a:solidFill>
                  <a:srgbClr val="2E75B6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  <a:cs typeface="KoPubWorld돋움체 Medium" panose="00000600000000000000" pitchFamily="2" charset="-127"/>
              </a:endParaRP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DD5D9754-A87E-43AF-A4C5-5CF4B1571F89}"/>
                </a:ext>
              </a:extLst>
            </p:cNvPr>
            <p:cNvSpPr txBox="1"/>
            <p:nvPr/>
          </p:nvSpPr>
          <p:spPr>
            <a:xfrm>
              <a:off x="8148604" y="2111081"/>
              <a:ext cx="3204489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lang="en-US"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816</a:t>
              </a:r>
              <a:r>
                <a:rPr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명 (6</a:t>
              </a:r>
              <a:r>
                <a:rPr lang="en-US"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4</a:t>
              </a:r>
              <a:r>
                <a:rPr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.</a:t>
              </a:r>
              <a:r>
                <a:rPr lang="en-US"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2</a:t>
              </a:r>
              <a:r>
                <a:rPr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%)</a:t>
              </a:r>
            </a:p>
          </p:txBody>
        </p:sp>
      </p:grpSp>
      <p:graphicFrame>
        <p:nvGraphicFramePr>
          <p:cNvPr id="58" name="Table 24">
            <a:extLst>
              <a:ext uri="{FF2B5EF4-FFF2-40B4-BE49-F238E27FC236}">
                <a16:creationId xmlns:a16="http://schemas.microsoft.com/office/drawing/2014/main" id="{482DE016-3F1C-4650-8969-98555872D4F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81180901"/>
              </p:ext>
            </p:extLst>
          </p:nvPr>
        </p:nvGraphicFramePr>
        <p:xfrm>
          <a:off x="769620" y="4387258"/>
          <a:ext cx="4680000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8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23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6769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8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80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80000">
                  <a:extLst>
                    <a:ext uri="{9D8B030D-6E8A-4147-A177-3AD203B41FA5}">
                      <a16:colId xmlns:a16="http://schemas.microsoft.com/office/drawing/2014/main" val="3153164272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200" b="1" dirty="0" err="1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성별</a:t>
                      </a:r>
                      <a:endParaRPr sz="1200" b="1" dirty="0">
                        <a:solidFill>
                          <a:srgbClr val="FFFFFF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N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mean</a:t>
                      </a:r>
                      <a:endParaRPr sz="1200" b="1" dirty="0">
                        <a:solidFill>
                          <a:srgbClr val="FFFFFF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std</a:t>
                      </a:r>
                      <a:endParaRPr sz="1200" b="1" dirty="0">
                        <a:solidFill>
                          <a:srgbClr val="FFFFFF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P25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median</a:t>
                      </a:r>
                      <a:endParaRPr sz="1200" b="1" dirty="0">
                        <a:solidFill>
                          <a:srgbClr val="FFFFFF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F</a:t>
                      </a:r>
                      <a:r>
                        <a:rPr lang="en-US" sz="120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emale</a:t>
                      </a:r>
                      <a:endParaRPr sz="1200" dirty="0">
                        <a:solidFill>
                          <a:srgbClr val="1A1A2E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816</a:t>
                      </a:r>
                    </a:p>
                  </a:txBody>
                  <a:tcPr marL="6350" marR="6350" marT="6350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38.21</a:t>
                      </a:r>
                    </a:p>
                  </a:txBody>
                  <a:tcPr marL="6350" marR="6350" marT="6350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5.93</a:t>
                      </a:r>
                    </a:p>
                  </a:txBody>
                  <a:tcPr marL="6350" marR="6350" marT="6350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34.53</a:t>
                      </a:r>
                    </a:p>
                  </a:txBody>
                  <a:tcPr marL="6350" marR="6350" marT="6350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37.68</a:t>
                      </a:r>
                    </a:p>
                  </a:txBody>
                  <a:tcPr marL="6350" marR="6350" marT="6350" marB="0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Male</a:t>
                      </a:r>
                      <a:endParaRPr sz="1200" dirty="0">
                        <a:solidFill>
                          <a:srgbClr val="1A1A2E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456</a:t>
                      </a:r>
                    </a:p>
                  </a:txBody>
                  <a:tcPr marL="6350" marR="6350" marT="635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48.32</a:t>
                      </a:r>
                    </a:p>
                  </a:txBody>
                  <a:tcPr marL="6350" marR="6350" marT="635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8.33</a:t>
                      </a:r>
                    </a:p>
                  </a:txBody>
                  <a:tcPr marL="6350" marR="6350" marT="635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43.27</a:t>
                      </a:r>
                    </a:p>
                  </a:txBody>
                  <a:tcPr marL="6350" marR="6350" marT="635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48.37</a:t>
                      </a:r>
                    </a:p>
                  </a:txBody>
                  <a:tcPr marL="6350" marR="6350" marT="6350" marB="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9C8DB5B3-795B-26DD-A8F5-FEF28B1D9D8C}"/>
              </a:ext>
            </a:extLst>
          </p:cNvPr>
          <p:cNvSpPr txBox="1"/>
          <p:nvPr/>
        </p:nvSpPr>
        <p:spPr>
          <a:xfrm>
            <a:off x="769620" y="3967012"/>
            <a:ext cx="4680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SMI </a:t>
            </a:r>
            <a:r>
              <a:rPr lang="ko-KR" altLang="en-US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분포 </a:t>
            </a:r>
            <a:r>
              <a:rPr lang="en-US" altLang="ko-KR" sz="1600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SMI = (TAMA-IMATA)/Height(m)</a:t>
            </a:r>
            <a:r>
              <a:rPr lang="en-US" altLang="ko-KR" sz="1600" baseline="30000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2</a:t>
            </a:r>
            <a:endParaRPr lang="ko-KR" altLang="en-US" dirty="0">
              <a:latin typeface="KoPub돋움체 Medium" panose="00000600000000000000" pitchFamily="2" charset="-127"/>
              <a:ea typeface="KoPub돋움체 Medium" panose="000006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80060454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62FC86-F543-9581-71C1-BF189CB1DD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CC4B5E9-74EF-8901-0650-693B96D3BE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2A16211-D92D-0336-D03C-7CA64F67D6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10</a:t>
            </a:fld>
            <a:endParaRPr lang="ko-KR" altLang="en-US" dirty="0"/>
          </a:p>
        </p:txBody>
      </p:sp>
      <p:sp>
        <p:nvSpPr>
          <p:cNvPr id="11" name="내용 개체 틀 10">
            <a:extLst>
              <a:ext uri="{FF2B5EF4-FFF2-40B4-BE49-F238E27FC236}">
                <a16:creationId xmlns:a16="http://schemas.microsoft.com/office/drawing/2014/main" id="{B4F50E98-7D81-AFAE-EE6B-2D6A9A9DFA9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데이터 분포 확인</a:t>
            </a:r>
            <a:endParaRPr lang="en-US" altLang="ko-KR" dirty="0"/>
          </a:p>
        </p:txBody>
      </p:sp>
      <p:graphicFrame>
        <p:nvGraphicFramePr>
          <p:cNvPr id="5" name="Table 24">
            <a:extLst>
              <a:ext uri="{FF2B5EF4-FFF2-40B4-BE49-F238E27FC236}">
                <a16:creationId xmlns:a16="http://schemas.microsoft.com/office/drawing/2014/main" id="{E9A2D41F-ED01-5DAE-3C00-38248A040ED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3146795"/>
              </p:ext>
            </p:extLst>
          </p:nvPr>
        </p:nvGraphicFramePr>
        <p:xfrm>
          <a:off x="811713" y="1688828"/>
          <a:ext cx="10568576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107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2107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210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2107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2107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321072">
                  <a:extLst>
                    <a:ext uri="{9D8B030D-6E8A-4147-A177-3AD203B41FA5}">
                      <a16:colId xmlns:a16="http://schemas.microsoft.com/office/drawing/2014/main" val="3153164272"/>
                    </a:ext>
                  </a:extLst>
                </a:gridCol>
                <a:gridCol w="1321072">
                  <a:extLst>
                    <a:ext uri="{9D8B030D-6E8A-4147-A177-3AD203B41FA5}">
                      <a16:colId xmlns:a16="http://schemas.microsoft.com/office/drawing/2014/main" val="493313760"/>
                    </a:ext>
                  </a:extLst>
                </a:gridCol>
                <a:gridCol w="1321072">
                  <a:extLst>
                    <a:ext uri="{9D8B030D-6E8A-4147-A177-3AD203B41FA5}">
                      <a16:colId xmlns:a16="http://schemas.microsoft.com/office/drawing/2014/main" val="3407204693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구분</a:t>
                      </a:r>
                      <a:endParaRPr sz="1200" b="1" dirty="0">
                        <a:solidFill>
                          <a:srgbClr val="FFFFFF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Mean</a:t>
                      </a:r>
                      <a:endParaRPr sz="1200" b="1" dirty="0">
                        <a:solidFill>
                          <a:srgbClr val="FFFFFF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Std</a:t>
                      </a:r>
                      <a:endParaRPr sz="1200" b="1" dirty="0">
                        <a:solidFill>
                          <a:srgbClr val="FFFFFF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Min</a:t>
                      </a:r>
                      <a:endParaRPr sz="1200" b="1" dirty="0">
                        <a:solidFill>
                          <a:srgbClr val="FFFFFF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p25</a:t>
                      </a:r>
                      <a:endParaRPr sz="1200" b="1" dirty="0">
                        <a:solidFill>
                          <a:srgbClr val="FFFFFF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Median</a:t>
                      </a:r>
                      <a:endParaRPr sz="1200" b="1" dirty="0">
                        <a:solidFill>
                          <a:srgbClr val="FFFFFF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p75</a:t>
                      </a:r>
                      <a:endParaRPr sz="1200" b="1" dirty="0">
                        <a:solidFill>
                          <a:srgbClr val="FFFFFF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max</a:t>
                      </a:r>
                      <a:endParaRPr sz="1200" b="1" dirty="0">
                        <a:solidFill>
                          <a:srgbClr val="FFFFFF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n slices</a:t>
                      </a:r>
                      <a:endParaRPr sz="1200" dirty="0">
                        <a:solidFill>
                          <a:srgbClr val="1A1A2E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168.6</a:t>
                      </a:r>
                    </a:p>
                  </a:txBody>
                  <a:tcPr marL="6350" marR="6350" marT="6350" marB="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32.0</a:t>
                      </a:r>
                    </a:p>
                  </a:txBody>
                  <a:tcPr marL="6350" marR="6350" marT="6350" marB="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44</a:t>
                      </a:r>
                    </a:p>
                  </a:txBody>
                  <a:tcPr marL="6350" marR="6350" marT="6350" marB="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151</a:t>
                      </a:r>
                    </a:p>
                  </a:txBody>
                  <a:tcPr marL="6350" marR="6350" marT="6350" marB="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165</a:t>
                      </a:r>
                    </a:p>
                  </a:txBody>
                  <a:tcPr marL="6350" marR="6350" marT="6350" marB="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184</a:t>
                      </a:r>
                    </a:p>
                  </a:txBody>
                  <a:tcPr marL="6350" marR="6350" marT="6350" marB="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460</a:t>
                      </a:r>
                    </a:p>
                  </a:txBody>
                  <a:tcPr marL="6350" marR="6350" marT="6350" marB="0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z range (mm)</a:t>
                      </a:r>
                      <a:endParaRPr sz="1200" dirty="0">
                        <a:solidFill>
                          <a:srgbClr val="1A1A2E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469.6</a:t>
                      </a:r>
                    </a:p>
                  </a:txBody>
                  <a:tcPr marL="6350" marR="6350" marT="635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52.6</a:t>
                      </a:r>
                    </a:p>
                  </a:txBody>
                  <a:tcPr marL="6350" marR="6350" marT="635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215.0</a:t>
                      </a:r>
                    </a:p>
                  </a:txBody>
                  <a:tcPr marL="6350" marR="6350" marT="635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441.0</a:t>
                      </a:r>
                    </a:p>
                  </a:txBody>
                  <a:tcPr marL="6350" marR="6350" marT="635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467.5</a:t>
                      </a:r>
                    </a:p>
                  </a:txBody>
                  <a:tcPr marL="6350" marR="6350" marT="635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497.5</a:t>
                      </a:r>
                    </a:p>
                  </a:txBody>
                  <a:tcPr marL="6350" marR="6350" marT="635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918.0</a:t>
                      </a:r>
                    </a:p>
                  </a:txBody>
                  <a:tcPr marL="6350" marR="6350" marT="6350" marB="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7" name="Table 24">
            <a:extLst>
              <a:ext uri="{FF2B5EF4-FFF2-40B4-BE49-F238E27FC236}">
                <a16:creationId xmlns:a16="http://schemas.microsoft.com/office/drawing/2014/main" id="{A2CEBF2B-754B-3834-73CF-27C354810DA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5726096"/>
              </p:ext>
            </p:extLst>
          </p:nvPr>
        </p:nvGraphicFramePr>
        <p:xfrm>
          <a:off x="811712" y="3317513"/>
          <a:ext cx="10568572" cy="2438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0979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0979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0979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09796">
                  <a:extLst>
                    <a:ext uri="{9D8B030D-6E8A-4147-A177-3AD203B41FA5}">
                      <a16:colId xmlns:a16="http://schemas.microsoft.com/office/drawing/2014/main" val="526300428"/>
                    </a:ext>
                  </a:extLst>
                </a:gridCol>
                <a:gridCol w="1509796">
                  <a:extLst>
                    <a:ext uri="{9D8B030D-6E8A-4147-A177-3AD203B41FA5}">
                      <a16:colId xmlns:a16="http://schemas.microsoft.com/office/drawing/2014/main" val="2895696751"/>
                    </a:ext>
                  </a:extLst>
                </a:gridCol>
                <a:gridCol w="150979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09796">
                  <a:extLst>
                    <a:ext uri="{9D8B030D-6E8A-4147-A177-3AD203B41FA5}">
                      <a16:colId xmlns:a16="http://schemas.microsoft.com/office/drawing/2014/main" val="493313760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 dirty="0">
                          <a:solidFill>
                            <a:schemeClr val="bg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구분</a:t>
                      </a:r>
                      <a:endParaRPr lang="ko-KR" altLang="en-US" sz="1200" dirty="0">
                        <a:solidFill>
                          <a:schemeClr val="bg1"/>
                        </a:solidFill>
                        <a:effectLst/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</a:txBody>
                  <a:tcPr marR="114300" marT="152400" marB="152400"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 dirty="0">
                          <a:solidFill>
                            <a:schemeClr val="bg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성별</a:t>
                      </a:r>
                      <a:endParaRPr lang="ko-KR" altLang="en-US" sz="1200" dirty="0">
                        <a:solidFill>
                          <a:schemeClr val="bg1"/>
                        </a:solidFill>
                        <a:effectLst/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</a:txBody>
                  <a:tcPr marR="114300" marT="152400" marB="152400"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Mean</a:t>
                      </a:r>
                      <a:endParaRPr lang="en-US" sz="1200" dirty="0">
                        <a:solidFill>
                          <a:schemeClr val="bg1"/>
                        </a:solidFill>
                        <a:effectLst/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</a:txBody>
                  <a:tcPr marR="114300" marT="152400" marB="152400"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chemeClr val="bg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Std</a:t>
                      </a:r>
                      <a:endParaRPr lang="en-US" sz="1200" dirty="0">
                        <a:solidFill>
                          <a:schemeClr val="bg1"/>
                        </a:solidFill>
                        <a:effectLst/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</a:txBody>
                  <a:tcPr marR="114300" marT="152400" marB="152400"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chemeClr val="bg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Min</a:t>
                      </a:r>
                      <a:endParaRPr lang="ko-KR" altLang="en-US" sz="1200" dirty="0">
                        <a:solidFill>
                          <a:schemeClr val="bg1"/>
                        </a:solidFill>
                        <a:effectLst/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</a:txBody>
                  <a:tcPr marR="114300" marT="152400" marB="152400"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chemeClr val="bg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Median</a:t>
                      </a:r>
                      <a:endParaRPr lang="ko-KR" altLang="en-US" sz="1200" dirty="0">
                        <a:solidFill>
                          <a:schemeClr val="bg1"/>
                        </a:solidFill>
                        <a:effectLst/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</a:txBody>
                  <a:tcPr marR="114300" marT="152400" marB="152400"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chemeClr val="bg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Max</a:t>
                      </a:r>
                      <a:endParaRPr lang="ko-KR" altLang="en-US" sz="1200" dirty="0">
                        <a:solidFill>
                          <a:schemeClr val="bg1"/>
                        </a:solidFill>
                        <a:effectLst/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</a:txBody>
                  <a:tcPr marT="152400" marB="152400" anchor="ctr"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 rowSpan="2"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n slices</a:t>
                      </a:r>
                    </a:p>
                    <a:p>
                      <a:pPr algn="ctr" rtl="0">
                        <a:buNone/>
                      </a:pPr>
                      <a:r>
                        <a:rPr lang="en-US" altLang="ko-KR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(</a:t>
                      </a:r>
                      <a:r>
                        <a:rPr lang="ko-KR" altLang="en-US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개수</a:t>
                      </a:r>
                      <a:r>
                        <a:rPr lang="en-US" altLang="ko-KR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)</a:t>
                      </a:r>
                    </a:p>
                  </a:txBody>
                  <a:tcPr marR="114300" marT="152400" marB="15240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F</a:t>
                      </a:r>
                    </a:p>
                  </a:txBody>
                  <a:tcPr marR="114300" marT="152400" marB="15240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168.61</a:t>
                      </a:r>
                    </a:p>
                  </a:txBody>
                  <a:tcPr marR="114300" marT="152400" marB="15240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32.05</a:t>
                      </a:r>
                    </a:p>
                  </a:txBody>
                  <a:tcPr marR="114300" marT="152400" marB="15240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50.0</a:t>
                      </a:r>
                    </a:p>
                  </a:txBody>
                  <a:tcPr marR="114300" marT="152400" marB="15240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165.0</a:t>
                      </a:r>
                    </a:p>
                  </a:txBody>
                  <a:tcPr marR="114300" marT="152400" marB="15240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460.0</a:t>
                      </a:r>
                    </a:p>
                  </a:txBody>
                  <a:tcPr marT="152400" marB="152400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marR="114300" marT="152400" marB="152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M</a:t>
                      </a:r>
                    </a:p>
                  </a:txBody>
                  <a:tcPr marR="114300" marT="152400" marB="15240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168.65</a:t>
                      </a:r>
                    </a:p>
                  </a:txBody>
                  <a:tcPr marR="114300" marT="152400" marB="15240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32.04</a:t>
                      </a:r>
                    </a:p>
                  </a:txBody>
                  <a:tcPr marR="114300" marT="152400" marB="15240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44.0</a:t>
                      </a:r>
                    </a:p>
                  </a:txBody>
                  <a:tcPr marR="114300" marT="152400" marB="15240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166.0</a:t>
                      </a:r>
                    </a:p>
                  </a:txBody>
                  <a:tcPr marR="114300" marT="152400" marB="15240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405.0</a:t>
                      </a:r>
                    </a:p>
                  </a:txBody>
                  <a:tcPr marT="152400" marB="15240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 rowSpan="2"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z range (mm)</a:t>
                      </a:r>
                    </a:p>
                    <a:p>
                      <a:pPr algn="ctr" rtl="0">
                        <a:buNone/>
                      </a:pPr>
                      <a:r>
                        <a:rPr lang="en-US" altLang="ko-KR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(</a:t>
                      </a:r>
                      <a:r>
                        <a:rPr lang="ko-KR" altLang="en-US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범위</a:t>
                      </a:r>
                      <a:r>
                        <a:rPr lang="en-US" altLang="ko-KR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)</a:t>
                      </a:r>
                    </a:p>
                  </a:txBody>
                  <a:tcPr marR="114300" marT="152400" marB="15240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F</a:t>
                      </a:r>
                    </a:p>
                  </a:txBody>
                  <a:tcPr marR="114300" marT="152400" marB="15240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470.97</a:t>
                      </a:r>
                    </a:p>
                  </a:txBody>
                  <a:tcPr marR="114300" marT="152400" marB="15240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51.47</a:t>
                      </a:r>
                    </a:p>
                  </a:txBody>
                  <a:tcPr marR="114300" marT="152400" marB="15240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234.0</a:t>
                      </a:r>
                    </a:p>
                  </a:txBody>
                  <a:tcPr marR="114300" marT="152400" marB="15240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468.0</a:t>
                      </a:r>
                    </a:p>
                  </a:txBody>
                  <a:tcPr marR="114300" marT="152400" marB="15240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918.0</a:t>
                      </a:r>
                    </a:p>
                  </a:txBody>
                  <a:tcPr marT="152400" marB="15240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76871011"/>
                  </a:ext>
                </a:extLst>
              </a:tr>
              <a:tr h="411480"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marR="114300" marT="152400" marB="152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M</a:t>
                      </a:r>
                    </a:p>
                  </a:txBody>
                  <a:tcPr marR="114300" marT="152400" marB="15240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467.58</a:t>
                      </a:r>
                    </a:p>
                  </a:txBody>
                  <a:tcPr marR="114300" marT="152400" marB="15240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54.34</a:t>
                      </a:r>
                    </a:p>
                  </a:txBody>
                  <a:tcPr marR="114300" marT="152400" marB="15240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215.0</a:t>
                      </a:r>
                    </a:p>
                  </a:txBody>
                  <a:tcPr marR="114300" marT="152400" marB="15240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465.0</a:t>
                      </a:r>
                    </a:p>
                  </a:txBody>
                  <a:tcPr marR="114300" marT="152400" marB="15240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808.0</a:t>
                      </a:r>
                    </a:p>
                  </a:txBody>
                  <a:tcPr marT="152400" marB="152400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9298428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8551388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D9164C-0341-8A87-1C72-A7829557F8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>
            <a:extLst>
              <a:ext uri="{FF2B5EF4-FFF2-40B4-BE49-F238E27FC236}">
                <a16:creationId xmlns:a16="http://schemas.microsoft.com/office/drawing/2014/main" id="{E5ADEFD3-389B-B32E-5FE2-9CF62A56546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86551" y="1429810"/>
            <a:ext cx="7418897" cy="4906522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12FA1261-B2A2-80CF-1A62-0928B875AD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9B677DC-2134-E89C-2C49-37A5610C9D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11</a:t>
            </a:fld>
            <a:endParaRPr lang="ko-KR" altLang="en-US" dirty="0"/>
          </a:p>
        </p:txBody>
      </p:sp>
      <p:sp>
        <p:nvSpPr>
          <p:cNvPr id="11" name="내용 개체 틀 10">
            <a:extLst>
              <a:ext uri="{FF2B5EF4-FFF2-40B4-BE49-F238E27FC236}">
                <a16:creationId xmlns:a16="http://schemas.microsoft.com/office/drawing/2014/main" id="{A937AEF3-9A49-E70D-9D01-C4D8829C75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Train / Test Dataset Split &amp;</a:t>
            </a:r>
            <a:r>
              <a:rPr lang="ko-KR" altLang="en-US" dirty="0"/>
              <a:t> </a:t>
            </a:r>
            <a:r>
              <a:rPr lang="en-US" altLang="ko-KR" dirty="0"/>
              <a:t>Distribution</a:t>
            </a:r>
          </a:p>
        </p:txBody>
      </p:sp>
    </p:spTree>
    <p:extLst>
      <p:ext uri="{BB962C8B-B14F-4D97-AF65-F5344CB8AC3E}">
        <p14:creationId xmlns:p14="http://schemas.microsoft.com/office/powerpoint/2010/main" val="197209769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FDDAD5-9D6C-6EC7-5990-893B8275EA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00758E8-AA34-8F76-DD33-10F28B80D9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8000" y="2896658"/>
            <a:ext cx="11176000" cy="532342"/>
          </a:xfrm>
        </p:spPr>
        <p:txBody>
          <a:bodyPr>
            <a:noAutofit/>
          </a:bodyPr>
          <a:lstStyle/>
          <a:p>
            <a:r>
              <a:rPr lang="en-US" altLang="ko-KR" sz="4000" dirty="0">
                <a:latin typeface="KoPub돋움체 Bold" panose="00000800000000000000" pitchFamily="2" charset="-127"/>
                <a:ea typeface="KoPub돋움체 Bold" panose="00000800000000000000" pitchFamily="2" charset="-127"/>
                <a:cs typeface="KoPubWorld돋움체 Bold" panose="00000800000000000000" pitchFamily="2" charset="-127"/>
              </a:rPr>
              <a:t>SMI Cutoff Setting</a:t>
            </a:r>
            <a:endParaRPr lang="ko-KR" altLang="en-US" sz="4000" dirty="0">
              <a:latin typeface="KoPub돋움체 Bold" panose="00000800000000000000" pitchFamily="2" charset="-127"/>
              <a:ea typeface="KoPub돋움체 Bold" panose="00000800000000000000" pitchFamily="2" charset="-127"/>
              <a:cs typeface="KoPubWorld돋움체 Bold" panose="00000800000000000000" pitchFamily="2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28B72B6-EEF1-15E0-344B-A95E37C6BC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12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3112211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EBD5158-50E0-52B3-29CB-5B07C0DDBF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3DBA23B-101E-8452-0205-F8D06B1824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4B94B7A-09AD-CA01-AE12-3AB46EEBD2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13</a:t>
            </a:fld>
            <a:endParaRPr lang="ko-KR" altLang="en-US" dirty="0"/>
          </a:p>
        </p:txBody>
      </p:sp>
      <p:sp>
        <p:nvSpPr>
          <p:cNvPr id="11" name="내용 개체 틀 10">
            <a:extLst>
              <a:ext uri="{FF2B5EF4-FFF2-40B4-BE49-F238E27FC236}">
                <a16:creationId xmlns:a16="http://schemas.microsoft.com/office/drawing/2014/main" id="{520C8321-88FC-8692-CF5E-487903F7B8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성별에 따른 </a:t>
            </a:r>
            <a:r>
              <a:rPr lang="en-US" altLang="ko-KR" dirty="0"/>
              <a:t>SMI Cutoff Value </a:t>
            </a:r>
            <a:r>
              <a:rPr lang="ko-KR" altLang="en-US" dirty="0"/>
              <a:t>분석</a:t>
            </a:r>
            <a:endParaRPr lang="en-US" altLang="ko-KR" dirty="0"/>
          </a:p>
        </p:txBody>
      </p:sp>
      <p:graphicFrame>
        <p:nvGraphicFramePr>
          <p:cNvPr id="5" name="Table 24">
            <a:extLst>
              <a:ext uri="{FF2B5EF4-FFF2-40B4-BE49-F238E27FC236}">
                <a16:creationId xmlns:a16="http://schemas.microsoft.com/office/drawing/2014/main" id="{ED51D99C-9475-56D3-1EB5-5EE50C156FA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70571704"/>
              </p:ext>
            </p:extLst>
          </p:nvPr>
        </p:nvGraphicFramePr>
        <p:xfrm>
          <a:off x="813162" y="1722435"/>
          <a:ext cx="10591438" cy="37506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82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8012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5644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1828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11828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 dirty="0">
                          <a:solidFill>
                            <a:schemeClr val="bg1"/>
                          </a:solidFill>
                          <a:effectLst/>
                          <a:latin typeface="KoPub돋움체 Medium" panose="00000600000000000000" pitchFamily="2" charset="-127"/>
                        </a:rPr>
                        <a:t>연구 논문 </a:t>
                      </a:r>
                      <a:r>
                        <a:rPr lang="en-US" altLang="ko-KR" sz="1200" b="1" dirty="0">
                          <a:solidFill>
                            <a:schemeClr val="bg1"/>
                          </a:solidFill>
                          <a:effectLst/>
                          <a:latin typeface="KoPub돋움체 Medium" panose="00000600000000000000" pitchFamily="2" charset="-127"/>
                        </a:rPr>
                        <a:t>(</a:t>
                      </a:r>
                      <a:r>
                        <a:rPr lang="ko-KR" altLang="en-US" sz="1200" b="1" dirty="0">
                          <a:solidFill>
                            <a:schemeClr val="bg1"/>
                          </a:solidFill>
                          <a:effectLst/>
                          <a:latin typeface="KoPub돋움체 Medium" panose="00000600000000000000" pitchFamily="2" charset="-127"/>
                        </a:rPr>
                        <a:t>저자</a:t>
                      </a:r>
                      <a:r>
                        <a:rPr lang="en-US" altLang="ko-KR" sz="1200" b="1" dirty="0">
                          <a:solidFill>
                            <a:schemeClr val="bg1"/>
                          </a:solidFill>
                          <a:effectLst/>
                          <a:latin typeface="KoPub돋움체 Medium" panose="00000600000000000000" pitchFamily="2" charset="-127"/>
                        </a:rPr>
                        <a:t>)</a:t>
                      </a:r>
                      <a:endParaRPr lang="ko-KR" altLang="en-US" sz="1200" dirty="0">
                        <a:solidFill>
                          <a:schemeClr val="bg1"/>
                        </a:solidFill>
                        <a:effectLst/>
                        <a:latin typeface="KoPub돋움체 Medium" panose="00000600000000000000" pitchFamily="2" charset="-127"/>
                      </a:endParaRPr>
                    </a:p>
                  </a:txBody>
                  <a:tcPr marR="114300" marT="152400" marB="1524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 dirty="0">
                          <a:solidFill>
                            <a:schemeClr val="bg1"/>
                          </a:solidFill>
                          <a:effectLst/>
                          <a:latin typeface="KoPub돋움체 Medium" panose="00000600000000000000" pitchFamily="2" charset="-127"/>
                        </a:rPr>
                        <a:t>대상 국가</a:t>
                      </a:r>
                      <a:endParaRPr lang="ko-KR" altLang="en-US" sz="1200" dirty="0">
                        <a:solidFill>
                          <a:schemeClr val="bg1"/>
                        </a:solidFill>
                        <a:effectLst/>
                        <a:latin typeface="KoPub돋움체 Medium" panose="00000600000000000000" pitchFamily="2" charset="-127"/>
                      </a:endParaRPr>
                    </a:p>
                  </a:txBody>
                  <a:tcPr marR="114300" marT="152400" marB="1524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 dirty="0" err="1">
                          <a:solidFill>
                            <a:schemeClr val="bg1"/>
                          </a:solidFill>
                          <a:effectLst/>
                          <a:latin typeface="KoPub돋움체 Medium" panose="00000600000000000000" pitchFamily="2" charset="-127"/>
                        </a:rPr>
                        <a:t>대상군</a:t>
                      </a:r>
                      <a:r>
                        <a:rPr lang="ko-KR" altLang="en-US" sz="1200" b="1" dirty="0">
                          <a:solidFill>
                            <a:schemeClr val="bg1"/>
                          </a:solidFill>
                          <a:effectLst/>
                          <a:latin typeface="KoPub돋움체 Medium" panose="00000600000000000000" pitchFamily="2" charset="-127"/>
                        </a:rPr>
                        <a:t> 특성</a:t>
                      </a:r>
                      <a:endParaRPr lang="ko-KR" altLang="en-US" sz="1200" dirty="0">
                        <a:solidFill>
                          <a:schemeClr val="bg1"/>
                        </a:solidFill>
                        <a:effectLst/>
                        <a:latin typeface="KoPub돋움체 Medium" panose="00000600000000000000" pitchFamily="2" charset="-127"/>
                      </a:endParaRPr>
                    </a:p>
                  </a:txBody>
                  <a:tcPr marR="114300" marT="152400" marB="1524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 dirty="0">
                          <a:solidFill>
                            <a:schemeClr val="bg1"/>
                          </a:solidFill>
                          <a:effectLst/>
                          <a:latin typeface="KoPub돋움체 Medium" panose="00000600000000000000" pitchFamily="2" charset="-127"/>
                        </a:rPr>
                        <a:t>평균 나이 </a:t>
                      </a:r>
                      <a:r>
                        <a:rPr lang="en-US" altLang="ko-KR" sz="1200" b="1" dirty="0">
                          <a:solidFill>
                            <a:schemeClr val="bg1"/>
                          </a:solidFill>
                          <a:effectLst/>
                          <a:latin typeface="KoPub돋움체 Medium" panose="00000600000000000000" pitchFamily="2" charset="-127"/>
                        </a:rPr>
                        <a:t>(</a:t>
                      </a:r>
                      <a:r>
                        <a:rPr lang="en-US" sz="1200" b="1" dirty="0" err="1">
                          <a:solidFill>
                            <a:schemeClr val="bg1"/>
                          </a:solidFill>
                          <a:effectLst/>
                          <a:latin typeface="KoPub돋움체 Medium" panose="00000600000000000000" pitchFamily="2" charset="-127"/>
                        </a:rPr>
                        <a:t>Mean±SD</a:t>
                      </a:r>
                      <a:r>
                        <a:rPr lang="en-US" sz="1200" b="1" dirty="0">
                          <a:solidFill>
                            <a:schemeClr val="bg1"/>
                          </a:solidFill>
                          <a:effectLst/>
                          <a:latin typeface="KoPub돋움체 Medium" panose="00000600000000000000" pitchFamily="2" charset="-127"/>
                        </a:rPr>
                        <a:t>)</a:t>
                      </a:r>
                      <a:endParaRPr lang="en-US" sz="1200" dirty="0">
                        <a:solidFill>
                          <a:schemeClr val="bg1"/>
                        </a:solidFill>
                        <a:effectLst/>
                        <a:latin typeface="KoPub돋움체 Medium" panose="00000600000000000000" pitchFamily="2" charset="-127"/>
                      </a:endParaRPr>
                    </a:p>
                  </a:txBody>
                  <a:tcPr marR="114300" marT="152400" marB="1524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 dirty="0">
                          <a:solidFill>
                            <a:schemeClr val="bg1"/>
                          </a:solidFill>
                          <a:effectLst/>
                          <a:latin typeface="KoPub돋움체 Medium" panose="00000600000000000000" pitchFamily="2" charset="-127"/>
                        </a:rPr>
                        <a:t>나이 범위 </a:t>
                      </a:r>
                      <a:r>
                        <a:rPr lang="en-US" altLang="ko-KR" sz="1200" b="1" dirty="0">
                          <a:solidFill>
                            <a:schemeClr val="bg1"/>
                          </a:solidFill>
                          <a:effectLst/>
                          <a:latin typeface="KoPub돋움체 Medium" panose="00000600000000000000" pitchFamily="2" charset="-127"/>
                        </a:rPr>
                        <a:t>(</a:t>
                      </a:r>
                      <a:r>
                        <a:rPr lang="en-US" sz="1200" b="1" dirty="0">
                          <a:solidFill>
                            <a:schemeClr val="bg1"/>
                          </a:solidFill>
                          <a:effectLst/>
                          <a:latin typeface="KoPub돋움체 Medium" panose="00000600000000000000" pitchFamily="2" charset="-127"/>
                        </a:rPr>
                        <a:t>Range)</a:t>
                      </a:r>
                      <a:endParaRPr lang="en-US" sz="1200" dirty="0">
                        <a:solidFill>
                          <a:schemeClr val="bg1"/>
                        </a:solidFill>
                        <a:effectLst/>
                        <a:latin typeface="KoPub돋움체 Medium" panose="00000600000000000000" pitchFamily="2" charset="-127"/>
                      </a:endParaRPr>
                    </a:p>
                  </a:txBody>
                  <a:tcPr marT="152400" marB="1524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</a:rPr>
                        <a:t>Prado et al. (2009)</a:t>
                      </a:r>
                    </a:p>
                  </a:txBody>
                  <a:tcPr marR="114300" marT="152400" marB="1524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</a:rPr>
                        <a:t>캐나다</a:t>
                      </a:r>
                    </a:p>
                  </a:txBody>
                  <a:tcPr marR="114300" marT="152400" marB="1524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0" dirty="0" err="1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</a:rPr>
                        <a:t>전이성</a:t>
                      </a:r>
                      <a:r>
                        <a:rPr lang="ko-KR" altLang="en-US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</a:rPr>
                        <a:t> 유방암 환자</a:t>
                      </a:r>
                    </a:p>
                  </a:txBody>
                  <a:tcPr marR="114300" marT="152400" marB="1524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</a:rPr>
                        <a:t>54.8 </a:t>
                      </a:r>
                      <a:r>
                        <a:rPr lang="en-US" altLang="ko-KR" sz="1200" b="0" dirty="0"/>
                        <a:t>±</a:t>
                      </a:r>
                      <a:r>
                        <a:rPr lang="en-US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</a:rPr>
                        <a:t> 10.4</a:t>
                      </a:r>
                      <a:r>
                        <a:rPr lang="ko-KR" altLang="en-US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</a:rPr>
                        <a:t>세 </a:t>
                      </a:r>
                    </a:p>
                  </a:txBody>
                  <a:tcPr marR="114300" marT="152400" marB="1524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</a:rPr>
                        <a:t>37~80</a:t>
                      </a:r>
                      <a:r>
                        <a:rPr lang="ko-KR" altLang="en-US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</a:rPr>
                        <a:t>세 </a:t>
                      </a:r>
                    </a:p>
                  </a:txBody>
                  <a:tcPr marT="152400" marB="1524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</a:rPr>
                        <a:t>Yoon et al. (2021)</a:t>
                      </a:r>
                    </a:p>
                  </a:txBody>
                  <a:tcPr marR="114300" marT="152400" marB="1524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</a:rPr>
                        <a:t>한국</a:t>
                      </a:r>
                    </a:p>
                  </a:txBody>
                  <a:tcPr marR="114300" marT="152400" marB="1524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</a:rPr>
                        <a:t>건강한 간 기증자</a:t>
                      </a:r>
                    </a:p>
                  </a:txBody>
                  <a:tcPr marR="114300" marT="152400" marB="1524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</a:rPr>
                        <a:t>31.5 </a:t>
                      </a:r>
                      <a:r>
                        <a:rPr lang="en-US" altLang="ko-KR" sz="1200" b="0" dirty="0"/>
                        <a:t>± </a:t>
                      </a:r>
                      <a:r>
                        <a:rPr lang="en-US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</a:rPr>
                        <a:t>8.3</a:t>
                      </a:r>
                      <a:r>
                        <a:rPr lang="ko-KR" altLang="en-US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</a:rPr>
                        <a:t>세 </a:t>
                      </a:r>
                    </a:p>
                  </a:txBody>
                  <a:tcPr marR="114300" marT="152400" marB="1524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</a:rPr>
                        <a:t>20~59</a:t>
                      </a:r>
                      <a:r>
                        <a:rPr lang="ko-KR" altLang="en-US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</a:rPr>
                        <a:t>세 </a:t>
                      </a:r>
                    </a:p>
                  </a:txBody>
                  <a:tcPr marT="152400" marB="1524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</a:rPr>
                        <a:t>JSH (2016)</a:t>
                      </a:r>
                    </a:p>
                  </a:txBody>
                  <a:tcPr marR="114300" marT="152400" marB="1524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</a:rPr>
                        <a:t>일본</a:t>
                      </a:r>
                    </a:p>
                  </a:txBody>
                  <a:tcPr marR="114300" marT="152400" marB="1524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</a:rPr>
                        <a:t>만성 간 질환 환자</a:t>
                      </a:r>
                    </a:p>
                  </a:txBody>
                  <a:tcPr marR="114300" marT="152400" marB="1524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</a:rPr>
                        <a:t>71</a:t>
                      </a:r>
                      <a:r>
                        <a:rPr lang="ko-KR" altLang="en-US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</a:rPr>
                        <a:t>세 </a:t>
                      </a:r>
                      <a:r>
                        <a:rPr lang="en-US" altLang="ko-KR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</a:rPr>
                        <a:t>(</a:t>
                      </a:r>
                      <a:r>
                        <a:rPr lang="ko-KR" altLang="en-US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</a:rPr>
                        <a:t>중앙값</a:t>
                      </a:r>
                      <a:r>
                        <a:rPr lang="en-US" altLang="ko-KR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</a:rPr>
                        <a:t>)</a:t>
                      </a:r>
                      <a:r>
                        <a:rPr lang="ko-KR" altLang="en-US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</a:rPr>
                        <a:t> </a:t>
                      </a:r>
                    </a:p>
                  </a:txBody>
                  <a:tcPr marR="114300" marT="152400" marB="1524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</a:rPr>
                        <a:t>19~89</a:t>
                      </a:r>
                      <a:r>
                        <a:rPr lang="ko-KR" altLang="en-US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</a:rPr>
                        <a:t>세 </a:t>
                      </a:r>
                    </a:p>
                  </a:txBody>
                  <a:tcPr marT="152400" marB="1524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9615808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</a:rPr>
                        <a:t>Carey et al. (2017)</a:t>
                      </a:r>
                    </a:p>
                  </a:txBody>
                  <a:tcPr marR="114300" marT="152400" marB="1524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</a:rPr>
                        <a:t>북미</a:t>
                      </a:r>
                    </a:p>
                  </a:txBody>
                  <a:tcPr marR="114300" marT="152400" marB="1524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</a:rPr>
                        <a:t>간 이식 대기 환자</a:t>
                      </a:r>
                    </a:p>
                  </a:txBody>
                  <a:tcPr marR="114300" marT="152400" marB="1524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</a:rPr>
                        <a:t>58</a:t>
                      </a:r>
                      <a:r>
                        <a:rPr lang="ko-KR" altLang="en-US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</a:rPr>
                        <a:t>세 </a:t>
                      </a:r>
                      <a:r>
                        <a:rPr lang="en-US" altLang="ko-KR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</a:rPr>
                        <a:t>(</a:t>
                      </a:r>
                      <a:r>
                        <a:rPr lang="ko-KR" altLang="en-US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</a:rPr>
                        <a:t>중앙값</a:t>
                      </a:r>
                      <a:r>
                        <a:rPr lang="en-US" altLang="ko-KR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</a:rPr>
                        <a:t>)</a:t>
                      </a:r>
                      <a:r>
                        <a:rPr lang="ko-KR" altLang="en-US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</a:rPr>
                        <a:t> </a:t>
                      </a:r>
                    </a:p>
                  </a:txBody>
                  <a:tcPr marR="114300" marT="152400" marB="1524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</a:rPr>
                        <a:t>(IQR: 51~62</a:t>
                      </a:r>
                      <a:r>
                        <a:rPr lang="ko-KR" altLang="en-US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</a:rPr>
                        <a:t>세</a:t>
                      </a:r>
                      <a:r>
                        <a:rPr lang="en-US" altLang="ko-KR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</a:rPr>
                        <a:t>) </a:t>
                      </a:r>
                    </a:p>
                  </a:txBody>
                  <a:tcPr marT="152400" marB="1524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96050706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</a:rPr>
                        <a:t>Martin et al. (2013)</a:t>
                      </a:r>
                    </a:p>
                  </a:txBody>
                  <a:tcPr marR="114300" marT="152400" marB="1524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</a:rPr>
                        <a:t>캐나다</a:t>
                      </a:r>
                    </a:p>
                  </a:txBody>
                  <a:tcPr marR="114300" marT="152400" marB="1524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</a:rPr>
                        <a:t>폐암 및 소화기암 환자</a:t>
                      </a:r>
                    </a:p>
                  </a:txBody>
                  <a:tcPr marR="114300" marT="152400" marB="1524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</a:rPr>
                        <a:t>남성</a:t>
                      </a:r>
                      <a:r>
                        <a:rPr lang="en-US" altLang="ko-KR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</a:rPr>
                        <a:t>: 64.7</a:t>
                      </a:r>
                      <a:r>
                        <a:rPr lang="ko-KR" altLang="en-US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</a:rPr>
                        <a:t>세 </a:t>
                      </a:r>
                      <a:r>
                        <a:rPr lang="en-US" altLang="ko-KR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</a:rPr>
                        <a:t>/ </a:t>
                      </a:r>
                      <a:r>
                        <a:rPr lang="ko-KR" altLang="en-US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</a:rPr>
                        <a:t>여성</a:t>
                      </a:r>
                      <a:r>
                        <a:rPr lang="en-US" altLang="ko-KR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</a:rPr>
                        <a:t>: 64.8</a:t>
                      </a:r>
                      <a:r>
                        <a:rPr lang="ko-KR" altLang="en-US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</a:rPr>
                        <a:t>세 </a:t>
                      </a:r>
                    </a:p>
                  </a:txBody>
                  <a:tcPr marR="114300" marT="152400" marB="1524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</a:rPr>
                        <a:t>(</a:t>
                      </a:r>
                      <a:r>
                        <a:rPr lang="ko-KR" altLang="en-US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</a:rPr>
                        <a:t>기술되지 않음</a:t>
                      </a:r>
                      <a:r>
                        <a:rPr lang="en-US" altLang="ko-KR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</a:rPr>
                        <a:t>)</a:t>
                      </a:r>
                    </a:p>
                  </a:txBody>
                  <a:tcPr marT="152400" marB="1524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237924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</a:rPr>
                        <a:t>현재 연구 데이터</a:t>
                      </a:r>
                      <a:endParaRPr lang="en-US" sz="1200" b="0" dirty="0">
                        <a:solidFill>
                          <a:srgbClr val="1F1F1F"/>
                        </a:solidFill>
                        <a:effectLst/>
                        <a:latin typeface="KoPub돋움체 Medium" panose="00000600000000000000" pitchFamily="2" charset="-127"/>
                      </a:endParaRPr>
                    </a:p>
                  </a:txBody>
                  <a:tcPr marR="114300" marT="152400" marB="1524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endParaRPr lang="ko-KR" altLang="en-US" sz="1200" b="0" dirty="0">
                        <a:solidFill>
                          <a:srgbClr val="1F1F1F"/>
                        </a:solidFill>
                        <a:effectLst/>
                        <a:latin typeface="KoPub돋움체 Medium" panose="00000600000000000000" pitchFamily="2" charset="-127"/>
                      </a:endParaRPr>
                    </a:p>
                  </a:txBody>
                  <a:tcPr marR="114300" marT="152400" marB="1524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endParaRPr lang="ko-KR" altLang="en-US" sz="1200" b="0" dirty="0">
                        <a:solidFill>
                          <a:srgbClr val="1F1F1F"/>
                        </a:solidFill>
                        <a:effectLst/>
                        <a:latin typeface="KoPub돋움체 Medium" panose="00000600000000000000" pitchFamily="2" charset="-127"/>
                      </a:endParaRPr>
                    </a:p>
                  </a:txBody>
                  <a:tcPr marR="114300" marT="152400" marB="1524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</a:rPr>
                        <a:t>남성 </a:t>
                      </a:r>
                      <a:r>
                        <a:rPr lang="en-US" altLang="ko-KR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</a:rPr>
                        <a:t>59.7 </a:t>
                      </a:r>
                      <a:r>
                        <a:rPr lang="en-US" altLang="ko-KR" sz="1200" b="0" dirty="0"/>
                        <a:t>± 12.5</a:t>
                      </a:r>
                      <a:r>
                        <a:rPr lang="ko-KR" altLang="en-US" sz="1200" b="0" dirty="0"/>
                        <a:t>세</a:t>
                      </a:r>
                      <a:endParaRPr lang="en-US" altLang="ko-KR" sz="1200" b="0" dirty="0"/>
                    </a:p>
                    <a:p>
                      <a:pPr algn="ctr" rtl="0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</a:rPr>
                        <a:t>여성 </a:t>
                      </a:r>
                      <a:r>
                        <a:rPr lang="en-US" altLang="ko-KR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</a:rPr>
                        <a:t>55.6 </a:t>
                      </a:r>
                      <a:r>
                        <a:rPr lang="en-US" altLang="ko-KR" sz="1200" b="0" dirty="0"/>
                        <a:t>± 12.2</a:t>
                      </a:r>
                      <a:r>
                        <a:rPr lang="ko-KR" altLang="en-US" sz="1200" b="0" dirty="0"/>
                        <a:t>세</a:t>
                      </a:r>
                      <a:endParaRPr lang="ko-KR" altLang="en-US" sz="1200" b="0" dirty="0">
                        <a:solidFill>
                          <a:srgbClr val="1F1F1F"/>
                        </a:solidFill>
                        <a:effectLst/>
                        <a:latin typeface="KoPub돋움체 Medium" panose="00000600000000000000" pitchFamily="2" charset="-127"/>
                      </a:endParaRPr>
                    </a:p>
                  </a:txBody>
                  <a:tcPr marR="114300" marT="152400" marB="1524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</a:rPr>
                        <a:t>11~91</a:t>
                      </a:r>
                      <a:r>
                        <a:rPr lang="ko-KR" altLang="en-US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</a:rPr>
                        <a:t>세</a:t>
                      </a:r>
                      <a:endParaRPr lang="en-US" altLang="ko-KR" sz="1200" b="0" dirty="0">
                        <a:solidFill>
                          <a:srgbClr val="1F1F1F"/>
                        </a:solidFill>
                        <a:effectLst/>
                        <a:latin typeface="KoPub돋움체 Medium" panose="00000600000000000000" pitchFamily="2" charset="-127"/>
                      </a:endParaRPr>
                    </a:p>
                  </a:txBody>
                  <a:tcPr marT="152400" marB="1524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7360372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0659984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F0C8C8-C4B1-4336-9468-E6803A5952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67768F2-76AD-4898-ABAE-26C158880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14</a:t>
            </a:fld>
            <a:endParaRPr lang="ko-KR" altLang="en-US" dirty="0"/>
          </a:p>
        </p:txBody>
      </p:sp>
      <p:sp>
        <p:nvSpPr>
          <p:cNvPr id="11" name="내용 개체 틀 10">
            <a:extLst>
              <a:ext uri="{FF2B5EF4-FFF2-40B4-BE49-F238E27FC236}">
                <a16:creationId xmlns:a16="http://schemas.microsoft.com/office/drawing/2014/main" id="{2F49DB3D-7569-41CE-98E6-0D040C938E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성별에 따른 </a:t>
            </a:r>
            <a:r>
              <a:rPr lang="en-US" altLang="ko-KR" dirty="0"/>
              <a:t>SMI Cutoff Value </a:t>
            </a:r>
            <a:r>
              <a:rPr lang="ko-KR" altLang="en-US" dirty="0"/>
              <a:t>분석</a:t>
            </a:r>
            <a:endParaRPr lang="en-US" altLang="ko-KR" dirty="0"/>
          </a:p>
        </p:txBody>
      </p:sp>
      <p:graphicFrame>
        <p:nvGraphicFramePr>
          <p:cNvPr id="5" name="Table 24">
            <a:extLst>
              <a:ext uri="{FF2B5EF4-FFF2-40B4-BE49-F238E27FC236}">
                <a16:creationId xmlns:a16="http://schemas.microsoft.com/office/drawing/2014/main" id="{9B39C32D-90A5-3994-A392-8DDD3A8B961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11657878"/>
              </p:ext>
            </p:extLst>
          </p:nvPr>
        </p:nvGraphicFramePr>
        <p:xfrm>
          <a:off x="813162" y="1722435"/>
          <a:ext cx="10591439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65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6677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637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652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7652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765240">
                  <a:extLst>
                    <a:ext uri="{9D8B030D-6E8A-4147-A177-3AD203B41FA5}">
                      <a16:colId xmlns:a16="http://schemas.microsoft.com/office/drawing/2014/main" val="3153164272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연구 논문 </a:t>
                      </a:r>
                      <a:r>
                        <a:rPr lang="en-US" altLang="ko-KR"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(</a:t>
                      </a:r>
                      <a:r>
                        <a:rPr lang="ko-KR" altLang="en-US"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연도</a:t>
                      </a:r>
                      <a:r>
                        <a:rPr lang="en-US" altLang="ko-KR"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)</a:t>
                      </a:r>
                      <a:endParaRPr sz="1200" b="1" dirty="0">
                        <a:solidFill>
                          <a:srgbClr val="FFFFFF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대상 국가</a:t>
                      </a:r>
                      <a:endParaRPr sz="1200" b="1" dirty="0">
                        <a:solidFill>
                          <a:srgbClr val="FFFFFF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남성 </a:t>
                      </a:r>
                      <a:r>
                        <a:rPr lang="en-US" altLang="ko-KR"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Cutoff</a:t>
                      </a:r>
                      <a:endParaRPr sz="1200" b="1" dirty="0">
                        <a:solidFill>
                          <a:srgbClr val="FFFFFF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여성 </a:t>
                      </a:r>
                      <a:r>
                        <a:rPr lang="en-US" altLang="ko-KR"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Cutoff</a:t>
                      </a:r>
                      <a:endParaRPr sz="1200" b="1" dirty="0">
                        <a:solidFill>
                          <a:srgbClr val="FFFFFF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남성 비율 </a:t>
                      </a:r>
                      <a:r>
                        <a:rPr lang="en-US" altLang="ko-KR"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(</a:t>
                      </a:r>
                      <a:r>
                        <a:rPr lang="ko-KR" altLang="en-US"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강남</a:t>
                      </a:r>
                      <a:r>
                        <a:rPr lang="en-US" altLang="ko-KR"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여성 비율 </a:t>
                      </a:r>
                      <a:r>
                        <a:rPr lang="en-US" altLang="ko-KR"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(</a:t>
                      </a:r>
                      <a:r>
                        <a:rPr lang="ko-KR" altLang="en-US"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강남</a:t>
                      </a:r>
                      <a:r>
                        <a:rPr lang="en-US" altLang="ko-KR"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)</a:t>
                      </a:r>
                      <a:endParaRPr sz="1200" b="1" dirty="0">
                        <a:solidFill>
                          <a:srgbClr val="FFFFFF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dirty="0"/>
                        <a:t>Prado et al. (2009)</a:t>
                      </a:r>
                      <a:endParaRPr sz="1200" dirty="0">
                        <a:solidFill>
                          <a:srgbClr val="1A1A2E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ko-KR" altLang="en-US" sz="1200" dirty="0"/>
                        <a:t>캐나다</a:t>
                      </a:r>
                      <a:endParaRPr lang="en-US" altLang="ko-KR" sz="1200" b="0" i="0" u="none" strike="noStrike" dirty="0">
                        <a:solidFill>
                          <a:srgbClr val="000000"/>
                        </a:solidFill>
                        <a:effectLst/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52.4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38.5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78.1% (356/456)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59.7% (487/816)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dirty="0"/>
                        <a:t>Martin et al. (2013)</a:t>
                      </a:r>
                      <a:endParaRPr sz="1200" dirty="0">
                        <a:solidFill>
                          <a:srgbClr val="1A1A2E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ko-KR" alt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캐나다</a:t>
                      </a:r>
                      <a:endParaRPr lang="en-US" altLang="ko-KR" sz="1200" b="0" i="0" u="none" strike="noStrike" dirty="0">
                        <a:solidFill>
                          <a:srgbClr val="000000"/>
                        </a:solidFill>
                        <a:effectLst/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53.0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41.0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80.9% (369/456)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76.8% (627/816)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dirty="0"/>
                        <a:t>Carey et al. (2017)</a:t>
                      </a:r>
                      <a:endParaRPr sz="1200" dirty="0">
                        <a:solidFill>
                          <a:srgbClr val="1A1A2E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ko-KR" alt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미국</a:t>
                      </a: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/</a:t>
                      </a:r>
                      <a:r>
                        <a:rPr lang="ko-KR" alt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캐나다</a:t>
                      </a:r>
                      <a:endParaRPr lang="en-US" altLang="ko-KR" sz="1200" b="0" i="0" u="none" strike="noStrike" dirty="0">
                        <a:solidFill>
                          <a:srgbClr val="000000"/>
                        </a:solidFill>
                        <a:effectLst/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50.0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39.0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65.6% (299/456)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63.5% (518/816)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9615808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dirty="0"/>
                        <a:t>JSH (2016)</a:t>
                      </a:r>
                      <a:endParaRPr sz="1200" dirty="0">
                        <a:solidFill>
                          <a:srgbClr val="1A1A2E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ko-KR" alt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일본</a:t>
                      </a:r>
                      <a:endParaRPr lang="en-US" altLang="ko-KR" sz="1200" b="0" i="0" u="none" strike="noStrike" dirty="0">
                        <a:solidFill>
                          <a:srgbClr val="000000"/>
                        </a:solidFill>
                        <a:effectLst/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42.0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38.0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22.6% (103/456)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55.0% (449/816)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96050706"/>
                  </a:ext>
                </a:extLst>
              </a:tr>
              <a:tr h="411480">
                <a:tc rowSpan="2">
                  <a:txBody>
                    <a:bodyPr/>
                    <a:lstStyle/>
                    <a:p>
                      <a:pPr algn="ctr"/>
                      <a:r>
                        <a:rPr lang="en-US" altLang="ko-KR" sz="1200" dirty="0"/>
                        <a:t>Yoon et al. (2021)</a:t>
                      </a:r>
                      <a:endParaRPr sz="1200" dirty="0">
                        <a:solidFill>
                          <a:srgbClr val="1A1A2E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ko-KR" alt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한국</a:t>
                      </a:r>
                      <a:endParaRPr lang="en-US" altLang="ko-KR" sz="1200" b="0" i="0" u="none" strike="noStrike" dirty="0">
                        <a:solidFill>
                          <a:srgbClr val="000000"/>
                        </a:solidFill>
                        <a:effectLst/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39.33 (-2 STD)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27.7 (-2 STD)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13.8% (63/456)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2.7% (22/816)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2379242"/>
                  </a:ext>
                </a:extLst>
              </a:tr>
              <a:tr h="411480">
                <a:tc vMerge="1">
                  <a:txBody>
                    <a:bodyPr/>
                    <a:lstStyle/>
                    <a:p>
                      <a:pPr algn="ctr"/>
                      <a:endParaRPr sz="1200" dirty="0">
                        <a:solidFill>
                          <a:srgbClr val="1A1A2E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vMerge="1"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altLang="ko-KR" sz="1200" b="0" i="0" u="none" strike="noStrike" dirty="0">
                        <a:solidFill>
                          <a:srgbClr val="000000"/>
                        </a:solidFill>
                        <a:effectLst/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40.96 (</a:t>
                      </a:r>
                      <a:r>
                        <a:rPr lang="ko-KR" alt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하위 </a:t>
                      </a:r>
                      <a:r>
                        <a:rPr lang="en-US" altLang="ko-KR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5%)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30.6 (</a:t>
                      </a:r>
                      <a:r>
                        <a:rPr lang="ko-KR" alt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하위 </a:t>
                      </a:r>
                      <a:r>
                        <a:rPr lang="en-US" altLang="ko-KR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5%)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16.9% (77/456)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 7.6% (62/816)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6885169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955979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2C735D-9C80-0BA1-2640-30BD8ECA7D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0BFC9B4-F6C4-1DD2-1EF2-E299BAD4B8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8000" y="2896658"/>
            <a:ext cx="11176000" cy="532342"/>
          </a:xfrm>
        </p:spPr>
        <p:txBody>
          <a:bodyPr>
            <a:noAutofit/>
          </a:bodyPr>
          <a:lstStyle/>
          <a:p>
            <a:r>
              <a:rPr lang="ko-KR" altLang="en-US" sz="4000" dirty="0">
                <a:latin typeface="KoPub돋움체 Bold" panose="00000800000000000000" pitchFamily="2" charset="-127"/>
                <a:ea typeface="KoPub돋움체 Bold" panose="00000800000000000000" pitchFamily="2" charset="-127"/>
                <a:cs typeface="KoPubWorld돋움체 Bold" panose="00000800000000000000" pitchFamily="2" charset="-127"/>
              </a:rPr>
              <a:t>연구 결과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CD1DDEF-C57D-CCEF-000B-2FF9BE05F6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15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8466187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C1ADAF-4EEE-EC7B-DA6B-1DC91DB7A8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157E9B4-6ADD-4241-4DFC-115ED07BD3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C2CD9A8-8807-F1DE-3F1F-996F2C7228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16</a:t>
            </a:fld>
            <a:endParaRPr lang="ko-KR" altLang="en-US" dirty="0"/>
          </a:p>
        </p:txBody>
      </p:sp>
      <p:sp>
        <p:nvSpPr>
          <p:cNvPr id="11" name="내용 개체 틀 10">
            <a:extLst>
              <a:ext uri="{FF2B5EF4-FFF2-40B4-BE49-F238E27FC236}">
                <a16:creationId xmlns:a16="http://schemas.microsoft.com/office/drawing/2014/main" id="{F44AAF05-2CE7-0403-088D-F047E10A8C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Total</a:t>
            </a:r>
            <a:r>
              <a:rPr lang="ko-KR" altLang="en-US" dirty="0"/>
              <a:t> </a:t>
            </a:r>
            <a:r>
              <a:rPr lang="en-US" altLang="ko-KR" dirty="0"/>
              <a:t>Summary</a:t>
            </a:r>
          </a:p>
          <a:p>
            <a:pPr lvl="1"/>
            <a:r>
              <a:rPr lang="en-US" altLang="ko-KR" dirty="0"/>
              <a:t>5-fold Cross Validation</a:t>
            </a:r>
          </a:p>
          <a:p>
            <a:pPr marL="0" indent="0">
              <a:buNone/>
            </a:pPr>
            <a:endParaRPr lang="en-US" altLang="ko-KR" dirty="0"/>
          </a:p>
          <a:p>
            <a:pPr lvl="1"/>
            <a:endParaRPr lang="en-US" altLang="ko-KR" dirty="0"/>
          </a:p>
          <a:p>
            <a:pPr lvl="1"/>
            <a:endParaRPr lang="en-US" altLang="ko-KR" dirty="0"/>
          </a:p>
          <a:p>
            <a:pPr lvl="1"/>
            <a:r>
              <a:rPr lang="en-US" altLang="ko-KR" dirty="0"/>
              <a:t>Clinic : Logistic Regression</a:t>
            </a:r>
          </a:p>
          <a:p>
            <a:pPr lvl="1"/>
            <a:r>
              <a:rPr lang="en-US" altLang="ko-KR" dirty="0"/>
              <a:t>Clinic + AEC : Multi-modal (Cross-Attention)</a:t>
            </a:r>
          </a:p>
          <a:p>
            <a:pPr lvl="1"/>
            <a:r>
              <a:rPr lang="en-US" altLang="ko-KR" dirty="0"/>
              <a:t>Clinic + AEC + Scanner: Multi-modal (Cross-Attention)</a:t>
            </a:r>
          </a:p>
        </p:txBody>
      </p:sp>
      <p:graphicFrame>
        <p:nvGraphicFramePr>
          <p:cNvPr id="7" name="Table 24">
            <a:extLst>
              <a:ext uri="{FF2B5EF4-FFF2-40B4-BE49-F238E27FC236}">
                <a16:creationId xmlns:a16="http://schemas.microsoft.com/office/drawing/2014/main" id="{C8978DFC-E5CC-E84B-52D2-3439F6487D1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9895109"/>
              </p:ext>
            </p:extLst>
          </p:nvPr>
        </p:nvGraphicFramePr>
        <p:xfrm>
          <a:off x="922971" y="2065879"/>
          <a:ext cx="10346057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218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24845">
                  <a:extLst>
                    <a:ext uri="{9D8B030D-6E8A-4147-A177-3AD203B41FA5}">
                      <a16:colId xmlns:a16="http://schemas.microsoft.com/office/drawing/2014/main" val="2797321821"/>
                    </a:ext>
                  </a:extLst>
                </a:gridCol>
                <a:gridCol w="1624845">
                  <a:extLst>
                    <a:ext uri="{9D8B030D-6E8A-4147-A177-3AD203B41FA5}">
                      <a16:colId xmlns:a16="http://schemas.microsoft.com/office/drawing/2014/main" val="2812402965"/>
                    </a:ext>
                  </a:extLst>
                </a:gridCol>
                <a:gridCol w="162484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2484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2484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>
                          <a:effectLst/>
                        </a:rPr>
                        <a:t>Model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effectLst/>
                        </a:rPr>
                        <a:t>AUC-ROC</a:t>
                      </a:r>
                    </a:p>
                  </a:txBody>
                  <a:tcPr marL="99060" marR="9906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>
                          <a:effectLst/>
                        </a:rPr>
                        <a:t>AUPRC</a:t>
                      </a:r>
                    </a:p>
                  </a:txBody>
                  <a:tcPr marL="99060" marR="9906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>
                          <a:effectLst/>
                        </a:rPr>
                        <a:t>Brier</a:t>
                      </a:r>
                    </a:p>
                  </a:txBody>
                  <a:tcPr marL="99060" marR="9906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>
                          <a:effectLst/>
                        </a:rPr>
                        <a:t>Accuracy</a:t>
                      </a:r>
                    </a:p>
                  </a:txBody>
                  <a:tcPr marL="99060" marR="9906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effectLst/>
                        </a:rPr>
                        <a:t>F1</a:t>
                      </a:r>
                    </a:p>
                  </a:txBody>
                  <a:tcPr marL="99060" marR="9906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dirty="0">
                          <a:effectLst/>
                        </a:rPr>
                        <a:t>Clinic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dirty="0">
                          <a:effectLst/>
                        </a:rPr>
                        <a:t>0.7912 </a:t>
                      </a:r>
                      <a:r>
                        <a:rPr lang="en-US" altLang="ko-K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± 0.0704</a:t>
                      </a:r>
                      <a:endParaRPr lang="ko-KR" altLang="en-US" sz="1400" b="0" dirty="0">
                        <a:effectLst/>
                      </a:endParaRPr>
                    </a:p>
                  </a:txBody>
                  <a:tcPr marL="99060" marR="9906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dirty="0">
                          <a:effectLst/>
                        </a:rPr>
                        <a:t>0.3737</a:t>
                      </a:r>
                      <a:r>
                        <a:rPr lang="en-US" altLang="ko-K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± 0.0978</a:t>
                      </a:r>
                      <a:endParaRPr lang="ko-KR" altLang="en-US" sz="1400" b="0" dirty="0">
                        <a:effectLst/>
                      </a:endParaRPr>
                    </a:p>
                  </a:txBody>
                  <a:tcPr marL="99060" marR="9906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dirty="0">
                          <a:effectLst/>
                        </a:rPr>
                        <a:t>0.1877 </a:t>
                      </a:r>
                      <a:r>
                        <a:rPr lang="en-US" altLang="ko-K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± 0.0104</a:t>
                      </a:r>
                      <a:endParaRPr lang="ko-KR" altLang="en-US" sz="1400" b="0" dirty="0">
                        <a:effectLst/>
                      </a:endParaRPr>
                    </a:p>
                  </a:txBody>
                  <a:tcPr marL="99060" marR="9906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dirty="0">
                          <a:effectLst/>
                        </a:rPr>
                        <a:t>0.7217 </a:t>
                      </a:r>
                      <a:r>
                        <a:rPr lang="en-US" altLang="ko-K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± 0.0202</a:t>
                      </a:r>
                      <a:endParaRPr lang="ko-KR" altLang="en-US" sz="1400" b="0" dirty="0">
                        <a:effectLst/>
                      </a:endParaRPr>
                    </a:p>
                  </a:txBody>
                  <a:tcPr marL="99060" marR="9906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dirty="0">
                          <a:effectLst/>
                        </a:rPr>
                        <a:t>0.3510 </a:t>
                      </a:r>
                      <a:r>
                        <a:rPr lang="en-US" altLang="ko-K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± 0.0443</a:t>
                      </a:r>
                      <a:endParaRPr lang="ko-KR" altLang="en-US" sz="1400" b="0" dirty="0">
                        <a:effectLst/>
                      </a:endParaRPr>
                    </a:p>
                  </a:txBody>
                  <a:tcPr marL="99060" marR="9906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dirty="0">
                          <a:effectLst/>
                        </a:rPr>
                        <a:t>Clinic + AEC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1" dirty="0">
                          <a:effectLst/>
                        </a:rPr>
                        <a:t>0.8195 </a:t>
                      </a:r>
                      <a:r>
                        <a:rPr lang="en-US" altLang="ko-KR" sz="1400" b="1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± </a:t>
                      </a:r>
                      <a:r>
                        <a:rPr lang="en-US" altLang="ko-KR" sz="1400" b="1" dirty="0">
                          <a:effectLst/>
                        </a:rPr>
                        <a:t>0.0709</a:t>
                      </a:r>
                      <a:endParaRPr lang="ko-KR" altLang="en-US" sz="1400" b="1" dirty="0">
                        <a:effectLst/>
                      </a:endParaRPr>
                    </a:p>
                  </a:txBody>
                  <a:tcPr marL="99060" marR="9906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1" dirty="0">
                          <a:effectLst/>
                        </a:rPr>
                        <a:t>0.4083 </a:t>
                      </a:r>
                      <a:r>
                        <a:rPr lang="en-US" altLang="ko-KR" sz="1400" b="1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± </a:t>
                      </a:r>
                      <a:r>
                        <a:rPr lang="en-US" altLang="ko-KR" sz="1400" b="1" dirty="0">
                          <a:effectLst/>
                        </a:rPr>
                        <a:t>0.1450</a:t>
                      </a:r>
                      <a:endParaRPr lang="ko-KR" altLang="en-US" sz="1400" b="1" dirty="0">
                        <a:effectLst/>
                      </a:endParaRPr>
                    </a:p>
                  </a:txBody>
                  <a:tcPr marL="99060" marR="9906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dirty="0">
                          <a:effectLst/>
                        </a:rPr>
                        <a:t>0.2055 </a:t>
                      </a:r>
                      <a:r>
                        <a:rPr lang="en-US" altLang="ko-K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± </a:t>
                      </a:r>
                      <a:r>
                        <a:rPr lang="en-US" altLang="ko-KR" sz="1400" dirty="0">
                          <a:effectLst/>
                        </a:rPr>
                        <a:t>0.0267</a:t>
                      </a:r>
                      <a:endParaRPr lang="ko-KR" altLang="en-US" sz="1400" b="0" dirty="0">
                        <a:effectLst/>
                      </a:endParaRPr>
                    </a:p>
                  </a:txBody>
                  <a:tcPr marL="99060" marR="9906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dirty="0">
                          <a:effectLst/>
                        </a:rPr>
                        <a:t>0.6913 </a:t>
                      </a:r>
                      <a:r>
                        <a:rPr lang="en-US" altLang="ko-K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± </a:t>
                      </a:r>
                      <a:r>
                        <a:rPr lang="en-US" altLang="ko-KR" sz="1400" dirty="0">
                          <a:effectLst/>
                        </a:rPr>
                        <a:t>0.0551</a:t>
                      </a:r>
                      <a:endParaRPr lang="ko-KR" altLang="en-US" sz="1400" b="0" dirty="0">
                        <a:effectLst/>
                      </a:endParaRPr>
                    </a:p>
                  </a:txBody>
                  <a:tcPr marL="99060" marR="9906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dirty="0">
                          <a:effectLst/>
                        </a:rPr>
                        <a:t>0.3707 </a:t>
                      </a:r>
                      <a:r>
                        <a:rPr lang="en-US" altLang="ko-K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± </a:t>
                      </a:r>
                      <a:r>
                        <a:rPr lang="en-US" altLang="ko-KR" sz="1400" dirty="0">
                          <a:effectLst/>
                        </a:rPr>
                        <a:t>0.0475</a:t>
                      </a:r>
                      <a:endParaRPr lang="ko-KR" altLang="en-US" sz="1400" b="0" dirty="0">
                        <a:effectLst/>
                      </a:endParaRPr>
                    </a:p>
                  </a:txBody>
                  <a:tcPr marL="99060" marR="9906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1128166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dirty="0">
                          <a:effectLst/>
                        </a:rPr>
                        <a:t>Clinic + AEC + Scanner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dirty="0">
                          <a:effectLst/>
                        </a:rPr>
                        <a:t>0.8041 </a:t>
                      </a:r>
                      <a:r>
                        <a:rPr lang="en-US" altLang="ko-K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± </a:t>
                      </a:r>
                      <a:r>
                        <a:rPr lang="en-US" altLang="ko-KR" sz="1400" dirty="0">
                          <a:effectLst/>
                        </a:rPr>
                        <a:t>0.0782</a:t>
                      </a:r>
                      <a:endParaRPr lang="ko-KR" altLang="en-US" sz="1400" b="0" dirty="0">
                        <a:effectLst/>
                      </a:endParaRPr>
                    </a:p>
                  </a:txBody>
                  <a:tcPr marL="99060" marR="9906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dirty="0">
                          <a:effectLst/>
                        </a:rPr>
                        <a:t>0.4051 </a:t>
                      </a:r>
                      <a:r>
                        <a:rPr lang="en-US" altLang="ko-K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± </a:t>
                      </a:r>
                      <a:r>
                        <a:rPr lang="en-US" altLang="ko-KR" sz="1400" dirty="0">
                          <a:effectLst/>
                        </a:rPr>
                        <a:t>0.1608</a:t>
                      </a:r>
                      <a:endParaRPr lang="ko-KR" altLang="en-US" sz="1400" b="0" dirty="0">
                        <a:effectLst/>
                      </a:endParaRPr>
                    </a:p>
                  </a:txBody>
                  <a:tcPr marL="99060" marR="9906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1" dirty="0">
                          <a:effectLst/>
                        </a:rPr>
                        <a:t>0.1827 </a:t>
                      </a:r>
                      <a:r>
                        <a:rPr lang="en-US" altLang="ko-KR" sz="1400" b="1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± </a:t>
                      </a:r>
                      <a:r>
                        <a:rPr lang="en-US" altLang="ko-KR" sz="1400" b="1" dirty="0">
                          <a:effectLst/>
                        </a:rPr>
                        <a:t>0.0233</a:t>
                      </a:r>
                      <a:endParaRPr lang="ko-KR" altLang="en-US" sz="1400" b="1" dirty="0">
                        <a:effectLst/>
                      </a:endParaRPr>
                    </a:p>
                  </a:txBody>
                  <a:tcPr marL="99060" marR="9906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1" dirty="0">
                          <a:effectLst/>
                        </a:rPr>
                        <a:t>0.7228 </a:t>
                      </a:r>
                      <a:r>
                        <a:rPr lang="en-US" altLang="ko-KR" sz="1400" b="1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± </a:t>
                      </a:r>
                      <a:r>
                        <a:rPr lang="en-US" altLang="ko-KR" sz="1400" b="1" dirty="0">
                          <a:effectLst/>
                        </a:rPr>
                        <a:t>0.0371</a:t>
                      </a:r>
                      <a:endParaRPr lang="ko-KR" altLang="en-US" sz="1400" b="1" dirty="0">
                        <a:effectLst/>
                      </a:endParaRPr>
                    </a:p>
                  </a:txBody>
                  <a:tcPr marL="99060" marR="9906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1" dirty="0">
                          <a:effectLst/>
                        </a:rPr>
                        <a:t>0.3780 </a:t>
                      </a:r>
                      <a:r>
                        <a:rPr lang="en-US" altLang="ko-KR" sz="1400" b="1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± </a:t>
                      </a:r>
                      <a:r>
                        <a:rPr lang="en-US" altLang="ko-KR" sz="1400" b="1" dirty="0">
                          <a:effectLst/>
                        </a:rPr>
                        <a:t>0.0613</a:t>
                      </a:r>
                      <a:endParaRPr lang="ko-KR" altLang="en-US" sz="1400" b="1" dirty="0">
                        <a:effectLst/>
                      </a:endParaRPr>
                    </a:p>
                  </a:txBody>
                  <a:tcPr marL="99060" marR="9906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9092861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7630389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05BFAA-4FDD-6D9B-F207-26CC5D44FC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9645735-13F8-D35D-6A1C-32FE962ACC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F8E31A3-7872-2878-5A0F-A3FB8AA91E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17</a:t>
            </a:fld>
            <a:endParaRPr lang="ko-KR" altLang="en-US" dirty="0"/>
          </a:p>
        </p:txBody>
      </p:sp>
      <p:sp>
        <p:nvSpPr>
          <p:cNvPr id="11" name="내용 개체 틀 10">
            <a:extLst>
              <a:ext uri="{FF2B5EF4-FFF2-40B4-BE49-F238E27FC236}">
                <a16:creationId xmlns:a16="http://schemas.microsoft.com/office/drawing/2014/main" id="{E4DB8B16-D779-DB40-789D-BE79A9954A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Total</a:t>
            </a:r>
            <a:r>
              <a:rPr lang="ko-KR" altLang="en-US" dirty="0"/>
              <a:t> </a:t>
            </a:r>
            <a:r>
              <a:rPr lang="en-US" altLang="ko-KR" dirty="0"/>
              <a:t>Summary</a:t>
            </a:r>
          </a:p>
          <a:p>
            <a:pPr lvl="1"/>
            <a:r>
              <a:rPr lang="en-US" altLang="ko-KR" dirty="0"/>
              <a:t>Test Set Performance</a:t>
            </a:r>
          </a:p>
          <a:p>
            <a:pPr marL="0" indent="0">
              <a:buNone/>
            </a:pPr>
            <a:endParaRPr lang="en-US" altLang="ko-KR" dirty="0"/>
          </a:p>
          <a:p>
            <a:pPr lvl="1"/>
            <a:endParaRPr lang="en-US" altLang="ko-KR" dirty="0"/>
          </a:p>
          <a:p>
            <a:pPr lvl="1"/>
            <a:endParaRPr lang="en-US" altLang="ko-KR" dirty="0"/>
          </a:p>
          <a:p>
            <a:pPr lvl="1"/>
            <a:r>
              <a:rPr lang="en-US" altLang="ko-KR" dirty="0"/>
              <a:t>Clinic : Logistic Regression</a:t>
            </a:r>
          </a:p>
          <a:p>
            <a:pPr lvl="1"/>
            <a:r>
              <a:rPr lang="en-US" altLang="ko-KR" dirty="0"/>
              <a:t>Clinic + AEC : Multi-modal (Cross-Attention)</a:t>
            </a:r>
          </a:p>
          <a:p>
            <a:pPr lvl="1"/>
            <a:r>
              <a:rPr lang="en-US" altLang="ko-KR" dirty="0"/>
              <a:t>Clinic + AEC + Scanner: Multi-modal (Cross-Attention)</a:t>
            </a:r>
          </a:p>
        </p:txBody>
      </p:sp>
      <p:graphicFrame>
        <p:nvGraphicFramePr>
          <p:cNvPr id="7" name="Table 24">
            <a:extLst>
              <a:ext uri="{FF2B5EF4-FFF2-40B4-BE49-F238E27FC236}">
                <a16:creationId xmlns:a16="http://schemas.microsoft.com/office/drawing/2014/main" id="{6460E5B5-B9EC-866D-66FF-B618A060704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74098398"/>
              </p:ext>
            </p:extLst>
          </p:nvPr>
        </p:nvGraphicFramePr>
        <p:xfrm>
          <a:off x="922971" y="2065879"/>
          <a:ext cx="10346057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218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24845">
                  <a:extLst>
                    <a:ext uri="{9D8B030D-6E8A-4147-A177-3AD203B41FA5}">
                      <a16:colId xmlns:a16="http://schemas.microsoft.com/office/drawing/2014/main" val="2797321821"/>
                    </a:ext>
                  </a:extLst>
                </a:gridCol>
                <a:gridCol w="1624845">
                  <a:extLst>
                    <a:ext uri="{9D8B030D-6E8A-4147-A177-3AD203B41FA5}">
                      <a16:colId xmlns:a16="http://schemas.microsoft.com/office/drawing/2014/main" val="2812402965"/>
                    </a:ext>
                  </a:extLst>
                </a:gridCol>
                <a:gridCol w="162484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2484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2484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>
                          <a:effectLst/>
                        </a:rPr>
                        <a:t>Model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effectLst/>
                        </a:rPr>
                        <a:t>AUC-ROC</a:t>
                      </a:r>
                    </a:p>
                  </a:txBody>
                  <a:tcPr marL="99060" marR="9906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>
                          <a:effectLst/>
                        </a:rPr>
                        <a:t>AUPRC</a:t>
                      </a:r>
                    </a:p>
                  </a:txBody>
                  <a:tcPr marL="99060" marR="9906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>
                          <a:effectLst/>
                        </a:rPr>
                        <a:t>Brier</a:t>
                      </a:r>
                    </a:p>
                  </a:txBody>
                  <a:tcPr marL="99060" marR="9906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>
                          <a:effectLst/>
                        </a:rPr>
                        <a:t>Accuracy</a:t>
                      </a:r>
                    </a:p>
                  </a:txBody>
                  <a:tcPr marL="99060" marR="9906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effectLst/>
                        </a:rPr>
                        <a:t>F1</a:t>
                      </a:r>
                    </a:p>
                  </a:txBody>
                  <a:tcPr marL="99060" marR="9906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dirty="0">
                          <a:effectLst/>
                        </a:rPr>
                        <a:t>Clinic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0.8291</a:t>
                      </a:r>
                    </a:p>
                  </a:txBody>
                  <a:tcPr marL="99060" marR="9906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0.3249</a:t>
                      </a:r>
                    </a:p>
                  </a:txBody>
                  <a:tcPr marL="99060" marR="9906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0.1931</a:t>
                      </a:r>
                    </a:p>
                  </a:txBody>
                  <a:tcPr marL="99060" marR="9906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0.6980</a:t>
                      </a:r>
                    </a:p>
                  </a:txBody>
                  <a:tcPr marL="99060" marR="9906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0.3636</a:t>
                      </a:r>
                    </a:p>
                  </a:txBody>
                  <a:tcPr marL="99060" marR="9906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dirty="0">
                          <a:effectLst/>
                        </a:rPr>
                        <a:t>Clinic + AEC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0.8140</a:t>
                      </a:r>
                    </a:p>
                  </a:txBody>
                  <a:tcPr marL="99060" marR="9906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0.3591</a:t>
                      </a:r>
                    </a:p>
                  </a:txBody>
                  <a:tcPr marL="99060" marR="9906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0.1656</a:t>
                      </a:r>
                    </a:p>
                  </a:txBody>
                  <a:tcPr marL="99060" marR="9906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0.7608</a:t>
                      </a:r>
                    </a:p>
                  </a:txBody>
                  <a:tcPr marL="99060" marR="9906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0.4078</a:t>
                      </a:r>
                    </a:p>
                  </a:txBody>
                  <a:tcPr marL="99060" marR="9906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1128166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dirty="0">
                          <a:effectLst/>
                        </a:rPr>
                        <a:t>Clinic + AEC + Scanner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0.8313</a:t>
                      </a:r>
                    </a:p>
                  </a:txBody>
                  <a:tcPr marL="99060" marR="9906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0.3689</a:t>
                      </a:r>
                    </a:p>
                  </a:txBody>
                  <a:tcPr marL="99060" marR="9906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0.1542</a:t>
                      </a:r>
                    </a:p>
                  </a:txBody>
                  <a:tcPr marL="99060" marR="9906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0.7765</a:t>
                      </a:r>
                    </a:p>
                  </a:txBody>
                  <a:tcPr marL="99060" marR="9906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0.4242</a:t>
                      </a:r>
                    </a:p>
                  </a:txBody>
                  <a:tcPr marL="99060" marR="9906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9092861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6545148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0669A0-589D-77FB-2576-141D88AE72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791017C-6810-86F7-4DD2-7C9C75DEDA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C45C989-06C2-0B3E-28AC-F16DEB196F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18</a:t>
            </a:fld>
            <a:endParaRPr lang="ko-KR" altLang="en-US" dirty="0"/>
          </a:p>
        </p:txBody>
      </p:sp>
      <p:sp>
        <p:nvSpPr>
          <p:cNvPr id="11" name="내용 개체 틀 10">
            <a:extLst>
              <a:ext uri="{FF2B5EF4-FFF2-40B4-BE49-F238E27FC236}">
                <a16:creationId xmlns:a16="http://schemas.microsoft.com/office/drawing/2014/main" id="{39515461-14F9-641E-77D5-F35BF896EF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Model</a:t>
            </a:r>
            <a:r>
              <a:rPr lang="ko-KR" altLang="en-US" dirty="0"/>
              <a:t>별 </a:t>
            </a:r>
            <a:r>
              <a:rPr lang="en-US" altLang="ko-KR" dirty="0"/>
              <a:t>Confusion Matrices</a:t>
            </a:r>
          </a:p>
        </p:txBody>
      </p:sp>
      <p:pic>
        <p:nvPicPr>
          <p:cNvPr id="3" name="그림 2" descr="confusion_matrices.png">
            <a:extLst>
              <a:ext uri="{FF2B5EF4-FFF2-40B4-BE49-F238E27FC236}">
                <a16:creationId xmlns:a16="http://schemas.microsoft.com/office/drawing/2014/main" id="{B0B6F6C7-BFC7-9D93-4B3F-825166888AA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48522"/>
          <a:stretch>
            <a:fillRect/>
          </a:stretch>
        </p:blipFill>
        <p:spPr>
          <a:xfrm>
            <a:off x="1159318" y="1750335"/>
            <a:ext cx="9873363" cy="33573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862285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A40FCC-4F96-98DC-2B01-97A84F5350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750F8EE-FDA7-6C80-7E62-A031C4ABD2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C85E13B-82C8-B96F-8F58-A6C5404179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19</a:t>
            </a:fld>
            <a:endParaRPr lang="ko-KR" altLang="en-US" dirty="0"/>
          </a:p>
        </p:txBody>
      </p:sp>
      <p:sp>
        <p:nvSpPr>
          <p:cNvPr id="11" name="내용 개체 틀 10">
            <a:extLst>
              <a:ext uri="{FF2B5EF4-FFF2-40B4-BE49-F238E27FC236}">
                <a16:creationId xmlns:a16="http://schemas.microsoft.com/office/drawing/2014/main" id="{D1EBADD7-EF64-C66F-3C64-90C7DCDCE0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Model 1 [Age, Sex, BMI]</a:t>
            </a:r>
          </a:p>
          <a:p>
            <a:pPr lvl="1"/>
            <a:r>
              <a:rPr lang="en-US" altLang="ko-KR" dirty="0"/>
              <a:t>[Age, BMI]</a:t>
            </a:r>
            <a:r>
              <a:rPr lang="ko-KR" altLang="en-US" dirty="0"/>
              <a:t>는 </a:t>
            </a:r>
            <a:r>
              <a:rPr lang="en-US" altLang="ko-KR" dirty="0" err="1"/>
              <a:t>StandardScaler</a:t>
            </a:r>
            <a:r>
              <a:rPr lang="en-US" altLang="ko-KR" dirty="0"/>
              <a:t> </a:t>
            </a:r>
            <a:r>
              <a:rPr lang="ko-KR" altLang="en-US" dirty="0"/>
              <a:t>적용</a:t>
            </a:r>
            <a:endParaRPr lang="en-US" altLang="ko-KR" dirty="0"/>
          </a:p>
          <a:p>
            <a:pPr lvl="1"/>
            <a:r>
              <a:rPr lang="ko-KR" altLang="en-US" dirty="0"/>
              <a:t>남녀 </a:t>
            </a:r>
            <a:r>
              <a:rPr lang="en-US" altLang="ko-KR" dirty="0"/>
              <a:t>SMI threshold</a:t>
            </a:r>
            <a:r>
              <a:rPr lang="ko-KR" altLang="en-US" dirty="0"/>
              <a:t>는 남자 </a:t>
            </a:r>
            <a:r>
              <a:rPr lang="en-US" altLang="ko-KR" dirty="0"/>
              <a:t>40.96, </a:t>
            </a:r>
            <a:r>
              <a:rPr lang="ko-KR" altLang="en-US" dirty="0"/>
              <a:t>여자 </a:t>
            </a:r>
            <a:r>
              <a:rPr lang="en-US" altLang="ko-KR" dirty="0"/>
              <a:t>30.6</a:t>
            </a:r>
            <a:r>
              <a:rPr lang="ko-KR" altLang="en-US" dirty="0"/>
              <a:t>으로 설정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36173625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526615-1E2F-53F6-570B-31712E3456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3EB9994-14A6-0225-9DAA-EA50597D67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07C4305-4F79-BCE7-C2CE-1E986BEAE5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20</a:t>
            </a:fld>
            <a:endParaRPr lang="ko-KR" altLang="en-US" dirty="0"/>
          </a:p>
        </p:txBody>
      </p:sp>
      <p:sp>
        <p:nvSpPr>
          <p:cNvPr id="11" name="내용 개체 틀 10">
            <a:extLst>
              <a:ext uri="{FF2B5EF4-FFF2-40B4-BE49-F238E27FC236}">
                <a16:creationId xmlns:a16="http://schemas.microsoft.com/office/drawing/2014/main" id="{C3B42B8F-5BCF-C71D-76AF-445D8C9EA5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Model 2 [Age, Sex, BMI] + AEC</a:t>
            </a:r>
          </a:p>
          <a:p>
            <a:pPr lvl="1"/>
            <a:r>
              <a:rPr lang="en-US" altLang="ko-KR" dirty="0"/>
              <a:t>[Age, BMI]</a:t>
            </a:r>
            <a:r>
              <a:rPr lang="ko-KR" altLang="en-US" dirty="0"/>
              <a:t>는 </a:t>
            </a:r>
            <a:r>
              <a:rPr lang="en-US" altLang="ko-KR" dirty="0" err="1"/>
              <a:t>StandardScaler</a:t>
            </a:r>
            <a:r>
              <a:rPr lang="en-US" altLang="ko-KR" dirty="0"/>
              <a:t> </a:t>
            </a:r>
            <a:r>
              <a:rPr lang="ko-KR" altLang="en-US" dirty="0"/>
              <a:t>적용</a:t>
            </a:r>
            <a:r>
              <a:rPr lang="en-US" altLang="ko-KR" dirty="0"/>
              <a:t>, AEC</a:t>
            </a:r>
            <a:r>
              <a:rPr lang="ko-KR" altLang="en-US" dirty="0"/>
              <a:t>의 적용 유무 비교</a:t>
            </a:r>
            <a:endParaRPr lang="en-US" altLang="ko-KR" dirty="0"/>
          </a:p>
          <a:p>
            <a:pPr lvl="1"/>
            <a:r>
              <a:rPr lang="ko-KR" altLang="en-US" dirty="0"/>
              <a:t>남녀 </a:t>
            </a:r>
            <a:r>
              <a:rPr lang="en-US" altLang="ko-KR" dirty="0"/>
              <a:t>SMI threshold</a:t>
            </a:r>
            <a:r>
              <a:rPr lang="ko-KR" altLang="en-US" dirty="0"/>
              <a:t>는 남자 </a:t>
            </a:r>
            <a:r>
              <a:rPr lang="en-US" altLang="ko-KR" dirty="0"/>
              <a:t>40.96, </a:t>
            </a:r>
            <a:r>
              <a:rPr lang="ko-KR" altLang="en-US" dirty="0"/>
              <a:t>여자 </a:t>
            </a:r>
            <a:r>
              <a:rPr lang="en-US" altLang="ko-KR" dirty="0"/>
              <a:t>30.6</a:t>
            </a:r>
            <a:r>
              <a:rPr lang="ko-KR" altLang="en-US" dirty="0"/>
              <a:t>으로 설정</a:t>
            </a:r>
            <a:endParaRPr lang="en-US" altLang="ko-KR" dirty="0"/>
          </a:p>
          <a:p>
            <a:pPr lvl="1"/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321519042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B1683B-ED09-C9BE-0F8D-BDCB64F14F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48E0D33-26CA-15E3-3EF3-5216718070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41B56AB-8AE3-5233-71AC-D42B9D7520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21</a:t>
            </a:fld>
            <a:endParaRPr lang="ko-KR" altLang="en-US" dirty="0"/>
          </a:p>
        </p:txBody>
      </p:sp>
      <p:sp>
        <p:nvSpPr>
          <p:cNvPr id="11" name="내용 개체 틀 10">
            <a:extLst>
              <a:ext uri="{FF2B5EF4-FFF2-40B4-BE49-F238E27FC236}">
                <a16:creationId xmlns:a16="http://schemas.microsoft.com/office/drawing/2014/main" id="{63B47401-4A1B-2139-8D96-CE0326586B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Test Set Performance - Model 1 [Clinic]</a:t>
            </a:r>
          </a:p>
          <a:p>
            <a:pPr lvl="1"/>
            <a:r>
              <a:rPr lang="en-US" altLang="ko-KR" dirty="0"/>
              <a:t>Overall</a:t>
            </a:r>
          </a:p>
          <a:p>
            <a:pPr lvl="1"/>
            <a:endParaRPr lang="en-US" altLang="ko-KR" dirty="0"/>
          </a:p>
          <a:p>
            <a:pPr lvl="1"/>
            <a:endParaRPr lang="en-US" altLang="ko-KR" dirty="0"/>
          </a:p>
          <a:p>
            <a:pPr lvl="1"/>
            <a:endParaRPr lang="en-US" altLang="ko-KR" dirty="0"/>
          </a:p>
          <a:p>
            <a:pPr lvl="1"/>
            <a:r>
              <a:rPr lang="en-US" altLang="ko-KR" dirty="0"/>
              <a:t>Logistic Regression</a:t>
            </a:r>
          </a:p>
        </p:txBody>
      </p:sp>
      <p:graphicFrame>
        <p:nvGraphicFramePr>
          <p:cNvPr id="3" name="Table 24">
            <a:extLst>
              <a:ext uri="{FF2B5EF4-FFF2-40B4-BE49-F238E27FC236}">
                <a16:creationId xmlns:a16="http://schemas.microsoft.com/office/drawing/2014/main" id="{71719E7E-8E02-8FF0-3D06-A5A043BA55A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86837232"/>
              </p:ext>
            </p:extLst>
          </p:nvPr>
        </p:nvGraphicFramePr>
        <p:xfrm>
          <a:off x="1141188" y="2114005"/>
          <a:ext cx="6818448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640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36408">
                  <a:extLst>
                    <a:ext uri="{9D8B030D-6E8A-4147-A177-3AD203B41FA5}">
                      <a16:colId xmlns:a16="http://schemas.microsoft.com/office/drawing/2014/main" val="2797321821"/>
                    </a:ext>
                  </a:extLst>
                </a:gridCol>
                <a:gridCol w="1136408">
                  <a:extLst>
                    <a:ext uri="{9D8B030D-6E8A-4147-A177-3AD203B41FA5}">
                      <a16:colId xmlns:a16="http://schemas.microsoft.com/office/drawing/2014/main" val="2812402965"/>
                    </a:ext>
                  </a:extLst>
                </a:gridCol>
                <a:gridCol w="113640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3640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3640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>
                          <a:effectLst/>
                        </a:rPr>
                        <a:t>Model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>
                          <a:effectLst/>
                        </a:rPr>
                        <a:t>AUC-ROC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effectLst/>
                        </a:rPr>
                        <a:t>AUPRC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>
                          <a:effectLst/>
                        </a:rPr>
                        <a:t>Brier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>
                          <a:effectLst/>
                        </a:rPr>
                        <a:t>Accuracy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>
                          <a:effectLst/>
                        </a:rPr>
                        <a:t>F1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>
                          <a:effectLst/>
                        </a:rPr>
                        <a:t>Log. Reg.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0.7527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0.3338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0.1992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0.7091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0.3333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>
                          <a:effectLst/>
                        </a:rPr>
                        <a:t>ResNet1D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0.7578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0.3240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0.3256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0.4691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0.2700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1128166"/>
                  </a:ext>
                </a:extLst>
              </a:tr>
            </a:tbl>
          </a:graphicData>
        </a:graphic>
      </p:graphicFrame>
      <p:graphicFrame>
        <p:nvGraphicFramePr>
          <p:cNvPr id="7" name="Table 24">
            <a:extLst>
              <a:ext uri="{FF2B5EF4-FFF2-40B4-BE49-F238E27FC236}">
                <a16:creationId xmlns:a16="http://schemas.microsoft.com/office/drawing/2014/main" id="{A5ECAF38-C6E3-A738-4D96-929E318A103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94719821"/>
              </p:ext>
            </p:extLst>
          </p:nvPr>
        </p:nvGraphicFramePr>
        <p:xfrm>
          <a:off x="1141186" y="4037269"/>
          <a:ext cx="9039136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29892">
                  <a:extLst>
                    <a:ext uri="{9D8B030D-6E8A-4147-A177-3AD203B41FA5}">
                      <a16:colId xmlns:a16="http://schemas.microsoft.com/office/drawing/2014/main" val="2918237846"/>
                    </a:ext>
                  </a:extLst>
                </a:gridCol>
                <a:gridCol w="11298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9892">
                  <a:extLst>
                    <a:ext uri="{9D8B030D-6E8A-4147-A177-3AD203B41FA5}">
                      <a16:colId xmlns:a16="http://schemas.microsoft.com/office/drawing/2014/main" val="3268504560"/>
                    </a:ext>
                  </a:extLst>
                </a:gridCol>
                <a:gridCol w="1129892">
                  <a:extLst>
                    <a:ext uri="{9D8B030D-6E8A-4147-A177-3AD203B41FA5}">
                      <a16:colId xmlns:a16="http://schemas.microsoft.com/office/drawing/2014/main" val="2797321821"/>
                    </a:ext>
                  </a:extLst>
                </a:gridCol>
                <a:gridCol w="1129892">
                  <a:extLst>
                    <a:ext uri="{9D8B030D-6E8A-4147-A177-3AD203B41FA5}">
                      <a16:colId xmlns:a16="http://schemas.microsoft.com/office/drawing/2014/main" val="2812402965"/>
                    </a:ext>
                  </a:extLst>
                </a:gridCol>
                <a:gridCol w="112989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2989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298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effectLst/>
                        </a:rPr>
                        <a:t>Model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effectLst/>
                        </a:rPr>
                        <a:t>Sex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>
                          <a:effectLst/>
                        </a:rPr>
                        <a:t>n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effectLst/>
                        </a:rPr>
                        <a:t>AUC-ROC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>
                          <a:effectLst/>
                        </a:rPr>
                        <a:t>AUPRC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>
                          <a:effectLst/>
                        </a:rPr>
                        <a:t>Brier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effectLst/>
                        </a:rPr>
                        <a:t>Accuracy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effectLst/>
                        </a:rPr>
                        <a:t>F1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 rowSpan="2"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dirty="0" err="1">
                          <a:effectLst/>
                        </a:rPr>
                        <a:t>Log.Reg</a:t>
                      </a:r>
                      <a:r>
                        <a:rPr lang="en-US" sz="1400" dirty="0">
                          <a:effectLst/>
                        </a:rPr>
                        <a:t>.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>
                          <a:effectLst/>
                        </a:rPr>
                        <a:t>M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112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0.7245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0.4141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0.2790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0.5357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0.3333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 vMerge="1">
                  <a:txBody>
                    <a:bodyPr/>
                    <a:lstStyle/>
                    <a:p>
                      <a:pPr algn="ctr">
                        <a:buNone/>
                      </a:pPr>
                      <a:endParaRPr lang="en-US" sz="1400" dirty="0">
                        <a:effectLst/>
                      </a:endParaRP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>
                          <a:effectLst/>
                        </a:rPr>
                        <a:t>F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163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0.7682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0.2498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0.1444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0.8282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0.3333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1128166"/>
                  </a:ext>
                </a:extLst>
              </a:tr>
              <a:tr h="411480">
                <a:tc rowSpan="2"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dirty="0">
                          <a:effectLst/>
                        </a:rPr>
                        <a:t>ResNet1D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dirty="0">
                          <a:effectLst/>
                        </a:rPr>
                        <a:t>M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112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0.7152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0.3669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0.3875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0.3839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0.3030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28264783"/>
                  </a:ext>
                </a:extLst>
              </a:tr>
              <a:tr h="411480">
                <a:tc vMerge="1">
                  <a:txBody>
                    <a:bodyPr/>
                    <a:lstStyle/>
                    <a:p>
                      <a:pPr algn="ctr">
                        <a:buNone/>
                      </a:pPr>
                      <a:endParaRPr lang="en-US" sz="1400" dirty="0">
                        <a:effectLst/>
                      </a:endParaRP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>
                          <a:effectLst/>
                        </a:rPr>
                        <a:t>F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163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0.7985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0.3133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0.2830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0.5276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0.2376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1851486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1834084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80E429-9C97-CE93-D4B8-32D721A589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A8AFDF6-00BF-D956-190D-DC464970D4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EE10F21-50F6-7ACF-0DCB-9AE866CE42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22</a:t>
            </a:fld>
            <a:endParaRPr lang="ko-KR" altLang="en-US" dirty="0"/>
          </a:p>
        </p:txBody>
      </p:sp>
      <p:sp>
        <p:nvSpPr>
          <p:cNvPr id="11" name="내용 개체 틀 10">
            <a:extLst>
              <a:ext uri="{FF2B5EF4-FFF2-40B4-BE49-F238E27FC236}">
                <a16:creationId xmlns:a16="http://schemas.microsoft.com/office/drawing/2014/main" id="{E1180EF5-56B4-0B75-18FD-C611FB58EA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 err="1"/>
              <a:t>Callibration</a:t>
            </a:r>
            <a:r>
              <a:rPr lang="en-US" altLang="ko-KR" dirty="0"/>
              <a:t> Plot &amp; PR Curve - Model 1 [Clinic]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9735B8A9-1EA0-4A1E-98D4-A71DBEDA827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6000" y="1640480"/>
            <a:ext cx="10800000" cy="45984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9166954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6FD47F-70C3-AB4C-8430-B5CCE724D2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1874F71-B598-248A-184D-DD297FBC65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01B1826-B29D-3A24-3AC5-A584388229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23</a:t>
            </a:fld>
            <a:endParaRPr lang="ko-KR" altLang="en-US" dirty="0"/>
          </a:p>
        </p:txBody>
      </p:sp>
      <p:sp>
        <p:nvSpPr>
          <p:cNvPr id="11" name="내용 개체 틀 10">
            <a:extLst>
              <a:ext uri="{FF2B5EF4-FFF2-40B4-BE49-F238E27FC236}">
                <a16:creationId xmlns:a16="http://schemas.microsoft.com/office/drawing/2014/main" id="{D8DBE16B-1EB4-B642-8153-5D0E188F2E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CV Summary - Model 2 [Clinic + AEC]</a:t>
            </a:r>
          </a:p>
          <a:p>
            <a:pPr lvl="1"/>
            <a:r>
              <a:rPr lang="en-US" altLang="ko-KR" dirty="0"/>
              <a:t>Logistic Regression</a:t>
            </a:r>
          </a:p>
        </p:txBody>
      </p:sp>
      <p:graphicFrame>
        <p:nvGraphicFramePr>
          <p:cNvPr id="5" name="Table 24">
            <a:extLst>
              <a:ext uri="{FF2B5EF4-FFF2-40B4-BE49-F238E27FC236}">
                <a16:creationId xmlns:a16="http://schemas.microsoft.com/office/drawing/2014/main" id="{513D7344-34F6-C75E-EF39-B247713332E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84633742"/>
              </p:ext>
            </p:extLst>
          </p:nvPr>
        </p:nvGraphicFramePr>
        <p:xfrm>
          <a:off x="508000" y="2192383"/>
          <a:ext cx="5282836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696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57943">
                  <a:extLst>
                    <a:ext uri="{9D8B030D-6E8A-4147-A177-3AD203B41FA5}">
                      <a16:colId xmlns:a16="http://schemas.microsoft.com/office/drawing/2014/main" val="2797321821"/>
                    </a:ext>
                  </a:extLst>
                </a:gridCol>
                <a:gridCol w="860405">
                  <a:extLst>
                    <a:ext uri="{9D8B030D-6E8A-4147-A177-3AD203B41FA5}">
                      <a16:colId xmlns:a16="http://schemas.microsoft.com/office/drawing/2014/main" val="2812402965"/>
                    </a:ext>
                  </a:extLst>
                </a:gridCol>
                <a:gridCol w="90917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0917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0917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b="1" dirty="0">
                          <a:effectLst/>
                        </a:rPr>
                        <a:t>Fold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b="1" dirty="0">
                          <a:effectLst/>
                        </a:rPr>
                        <a:t>AUC-ROC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b="1" dirty="0">
                          <a:effectLst/>
                        </a:rPr>
                        <a:t>AUPRC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b="1" dirty="0">
                          <a:effectLst/>
                        </a:rPr>
                        <a:t>Brier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b="1" dirty="0">
                          <a:effectLst/>
                        </a:rPr>
                        <a:t>Accuracy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b="1" dirty="0">
                          <a:effectLst/>
                        </a:rPr>
                        <a:t>F1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1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0.5512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0.1463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0.2465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0.6636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0.2128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2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0.6482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0.1913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0.1779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0.7591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0.2740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1128166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3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0.6662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0.2269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0.1950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0.7169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0.2619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4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0.6397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0.1946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0.1923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0.7306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0.2532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9615808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5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0.6316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0.1876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0.2120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0.7169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0.2439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96050706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>
                          <a:effectLst/>
                        </a:rPr>
                        <a:t>Mean</a:t>
                      </a:r>
                      <a:endParaRPr lang="en-US" sz="1400">
                        <a:effectLst/>
                      </a:endParaRP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1">
                          <a:effectLst/>
                        </a:rPr>
                        <a:t>0.6274</a:t>
                      </a:r>
                      <a:endParaRPr lang="ko-KR" altLang="en-US" sz="1400">
                        <a:effectLst/>
                      </a:endParaRP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1">
                          <a:effectLst/>
                        </a:rPr>
                        <a:t>0.1893</a:t>
                      </a:r>
                      <a:endParaRPr lang="ko-KR" altLang="en-US" sz="1400">
                        <a:effectLst/>
                      </a:endParaRP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1">
                          <a:effectLst/>
                        </a:rPr>
                        <a:t>0.2047</a:t>
                      </a:r>
                      <a:endParaRPr lang="ko-KR" altLang="en-US" sz="1400">
                        <a:effectLst/>
                      </a:endParaRP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1">
                          <a:effectLst/>
                        </a:rPr>
                        <a:t>0.7174</a:t>
                      </a:r>
                      <a:endParaRPr lang="ko-KR" altLang="en-US" sz="1400">
                        <a:effectLst/>
                      </a:endParaRP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1">
                          <a:effectLst/>
                        </a:rPr>
                        <a:t>0.2491</a:t>
                      </a:r>
                      <a:endParaRPr lang="ko-KR" altLang="en-US" sz="1400">
                        <a:effectLst/>
                      </a:endParaRP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237924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>
                          <a:effectLst/>
                        </a:rPr>
                        <a:t>±Std</a:t>
                      </a:r>
                      <a:endParaRPr lang="en-US" sz="1400">
                        <a:effectLst/>
                      </a:endParaRP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0.0398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0.0257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0.0235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0.0310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0.0207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68851695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D1426EFB-4C48-2494-5780-6773E6A7A683}"/>
              </a:ext>
            </a:extLst>
          </p:cNvPr>
          <p:cNvSpPr txBox="1"/>
          <p:nvPr/>
        </p:nvSpPr>
        <p:spPr>
          <a:xfrm>
            <a:off x="5853160" y="1635615"/>
            <a:ext cx="555143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ko-KR" dirty="0"/>
              <a:t>Cross Attention</a:t>
            </a:r>
          </a:p>
        </p:txBody>
      </p:sp>
      <p:graphicFrame>
        <p:nvGraphicFramePr>
          <p:cNvPr id="3" name="Table 24">
            <a:extLst>
              <a:ext uri="{FF2B5EF4-FFF2-40B4-BE49-F238E27FC236}">
                <a16:creationId xmlns:a16="http://schemas.microsoft.com/office/drawing/2014/main" id="{6BE5768B-5B4F-0548-B7F7-C21BC8893B4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73548281"/>
              </p:ext>
            </p:extLst>
          </p:nvPr>
        </p:nvGraphicFramePr>
        <p:xfrm>
          <a:off x="6401166" y="2192383"/>
          <a:ext cx="5282836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696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57943">
                  <a:extLst>
                    <a:ext uri="{9D8B030D-6E8A-4147-A177-3AD203B41FA5}">
                      <a16:colId xmlns:a16="http://schemas.microsoft.com/office/drawing/2014/main" val="2797321821"/>
                    </a:ext>
                  </a:extLst>
                </a:gridCol>
                <a:gridCol w="860405">
                  <a:extLst>
                    <a:ext uri="{9D8B030D-6E8A-4147-A177-3AD203B41FA5}">
                      <a16:colId xmlns:a16="http://schemas.microsoft.com/office/drawing/2014/main" val="2812402965"/>
                    </a:ext>
                  </a:extLst>
                </a:gridCol>
                <a:gridCol w="90917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0917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0917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b="1" dirty="0">
                          <a:effectLst/>
                        </a:rPr>
                        <a:t>Fold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b="1" dirty="0">
                          <a:effectLst/>
                        </a:rPr>
                        <a:t>AUC-ROC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b="1" dirty="0">
                          <a:effectLst/>
                        </a:rPr>
                        <a:t>AUPRC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b="1" dirty="0">
                          <a:effectLst/>
                        </a:rPr>
                        <a:t>Brier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b="1" dirty="0">
                          <a:effectLst/>
                        </a:rPr>
                        <a:t>Accuracy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b="1" dirty="0">
                          <a:effectLst/>
                        </a:rPr>
                        <a:t>F1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1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0.7651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0.3361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0.1945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0.7000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0.3400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2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0.8253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0.4046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0.1680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0.7818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0.3846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1128166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3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0.7692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0.3508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0.2285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0.6484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0.3186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4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0.6979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0.2423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0.2551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0.5799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0.2698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9615808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5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0.8825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0.5270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0.1503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0.7580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0.4301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96050706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>
                          <a:effectLst/>
                        </a:rPr>
                        <a:t>Mean</a:t>
                      </a:r>
                      <a:endParaRPr lang="en-US" sz="1400">
                        <a:effectLst/>
                      </a:endParaRP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1">
                          <a:effectLst/>
                        </a:rPr>
                        <a:t>0.7880</a:t>
                      </a:r>
                      <a:endParaRPr lang="ko-KR" altLang="en-US" sz="1400">
                        <a:effectLst/>
                      </a:endParaRP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1">
                          <a:effectLst/>
                        </a:rPr>
                        <a:t>0.3721</a:t>
                      </a:r>
                      <a:endParaRPr lang="ko-KR" altLang="en-US" sz="1400">
                        <a:effectLst/>
                      </a:endParaRP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1">
                          <a:effectLst/>
                        </a:rPr>
                        <a:t>0.1993</a:t>
                      </a:r>
                      <a:endParaRPr lang="ko-KR" altLang="en-US" sz="1400">
                        <a:effectLst/>
                      </a:endParaRP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1">
                          <a:effectLst/>
                        </a:rPr>
                        <a:t>0.6936</a:t>
                      </a:r>
                      <a:endParaRPr lang="ko-KR" altLang="en-US" sz="1400">
                        <a:effectLst/>
                      </a:endParaRP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1">
                          <a:effectLst/>
                        </a:rPr>
                        <a:t>0.3486</a:t>
                      </a:r>
                      <a:endParaRPr lang="ko-KR" altLang="en-US" sz="1400">
                        <a:effectLst/>
                      </a:endParaRP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237924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>
                          <a:effectLst/>
                        </a:rPr>
                        <a:t>±Std</a:t>
                      </a:r>
                      <a:endParaRPr lang="en-US" sz="1400">
                        <a:effectLst/>
                      </a:endParaRP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0.0622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0.0934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0.0384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0.0734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0.0550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6885169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1833600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107297-7A78-8EAF-6FDC-5D8B36CE8D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0A75A3E-9E0B-A5F3-5D49-BA2B6F2AD8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A2E2DA1-654E-686A-C8D5-467FAC0A86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24</a:t>
            </a:fld>
            <a:endParaRPr lang="ko-KR" altLang="en-US" dirty="0"/>
          </a:p>
        </p:txBody>
      </p:sp>
      <p:sp>
        <p:nvSpPr>
          <p:cNvPr id="11" name="내용 개체 틀 10">
            <a:extLst>
              <a:ext uri="{FF2B5EF4-FFF2-40B4-BE49-F238E27FC236}">
                <a16:creationId xmlns:a16="http://schemas.microsoft.com/office/drawing/2014/main" id="{1C36EDD6-FA61-471C-BA1A-E320EB51CC5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Test Set Performance - Model 2 [Clinic + AEC]</a:t>
            </a:r>
          </a:p>
          <a:p>
            <a:pPr lvl="1"/>
            <a:r>
              <a:rPr lang="en-US" altLang="ko-KR" dirty="0"/>
              <a:t>Overall</a:t>
            </a:r>
          </a:p>
          <a:p>
            <a:pPr lvl="1"/>
            <a:endParaRPr lang="en-US" altLang="ko-KR" dirty="0"/>
          </a:p>
          <a:p>
            <a:pPr lvl="1"/>
            <a:endParaRPr lang="en-US" altLang="ko-KR" dirty="0"/>
          </a:p>
          <a:p>
            <a:pPr lvl="1"/>
            <a:endParaRPr lang="en-US" altLang="ko-KR" dirty="0"/>
          </a:p>
          <a:p>
            <a:pPr lvl="1"/>
            <a:r>
              <a:rPr lang="en-US" altLang="ko-KR" dirty="0"/>
              <a:t>Logistic Regression</a:t>
            </a:r>
          </a:p>
        </p:txBody>
      </p:sp>
      <p:graphicFrame>
        <p:nvGraphicFramePr>
          <p:cNvPr id="3" name="Table 24">
            <a:extLst>
              <a:ext uri="{FF2B5EF4-FFF2-40B4-BE49-F238E27FC236}">
                <a16:creationId xmlns:a16="http://schemas.microsoft.com/office/drawing/2014/main" id="{7D7295F1-BD59-55EE-3CDC-8F2FE70F4E5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24324190"/>
              </p:ext>
            </p:extLst>
          </p:nvPr>
        </p:nvGraphicFramePr>
        <p:xfrm>
          <a:off x="1141188" y="2114005"/>
          <a:ext cx="6818448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640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36408">
                  <a:extLst>
                    <a:ext uri="{9D8B030D-6E8A-4147-A177-3AD203B41FA5}">
                      <a16:colId xmlns:a16="http://schemas.microsoft.com/office/drawing/2014/main" val="2797321821"/>
                    </a:ext>
                  </a:extLst>
                </a:gridCol>
                <a:gridCol w="1136408">
                  <a:extLst>
                    <a:ext uri="{9D8B030D-6E8A-4147-A177-3AD203B41FA5}">
                      <a16:colId xmlns:a16="http://schemas.microsoft.com/office/drawing/2014/main" val="2812402965"/>
                    </a:ext>
                  </a:extLst>
                </a:gridCol>
                <a:gridCol w="113640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3640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3640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>
                          <a:effectLst/>
                        </a:rPr>
                        <a:t>Model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>
                          <a:effectLst/>
                        </a:rPr>
                        <a:t>AUC-ROC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>
                          <a:effectLst/>
                        </a:rPr>
                        <a:t>AUPRC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>
                          <a:effectLst/>
                        </a:rPr>
                        <a:t>Brier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>
                          <a:effectLst/>
                        </a:rPr>
                        <a:t>Accuracy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>
                          <a:effectLst/>
                        </a:rPr>
                        <a:t>F1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dirty="0">
                          <a:effectLst/>
                        </a:rPr>
                        <a:t>Log. Reg.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0.6133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0.2317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0.2039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0.6873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0.2321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dirty="0" err="1">
                          <a:effectLst/>
                        </a:rPr>
                        <a:t>CrossAttn</a:t>
                      </a:r>
                      <a:endParaRPr lang="en-US" sz="1400" dirty="0">
                        <a:effectLst/>
                      </a:endParaRP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0.7071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0.2936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0.1801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0.7200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0.3304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1128166"/>
                  </a:ext>
                </a:extLst>
              </a:tr>
            </a:tbl>
          </a:graphicData>
        </a:graphic>
      </p:graphicFrame>
      <p:graphicFrame>
        <p:nvGraphicFramePr>
          <p:cNvPr id="7" name="Table 24">
            <a:extLst>
              <a:ext uri="{FF2B5EF4-FFF2-40B4-BE49-F238E27FC236}">
                <a16:creationId xmlns:a16="http://schemas.microsoft.com/office/drawing/2014/main" id="{F89B9531-86A6-A8E2-3617-257238873A8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45217031"/>
              </p:ext>
            </p:extLst>
          </p:nvPr>
        </p:nvGraphicFramePr>
        <p:xfrm>
          <a:off x="1141186" y="4037269"/>
          <a:ext cx="9039136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29892">
                  <a:extLst>
                    <a:ext uri="{9D8B030D-6E8A-4147-A177-3AD203B41FA5}">
                      <a16:colId xmlns:a16="http://schemas.microsoft.com/office/drawing/2014/main" val="2918237846"/>
                    </a:ext>
                  </a:extLst>
                </a:gridCol>
                <a:gridCol w="11298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9892">
                  <a:extLst>
                    <a:ext uri="{9D8B030D-6E8A-4147-A177-3AD203B41FA5}">
                      <a16:colId xmlns:a16="http://schemas.microsoft.com/office/drawing/2014/main" val="3268504560"/>
                    </a:ext>
                  </a:extLst>
                </a:gridCol>
                <a:gridCol w="1129892">
                  <a:extLst>
                    <a:ext uri="{9D8B030D-6E8A-4147-A177-3AD203B41FA5}">
                      <a16:colId xmlns:a16="http://schemas.microsoft.com/office/drawing/2014/main" val="2797321821"/>
                    </a:ext>
                  </a:extLst>
                </a:gridCol>
                <a:gridCol w="1129892">
                  <a:extLst>
                    <a:ext uri="{9D8B030D-6E8A-4147-A177-3AD203B41FA5}">
                      <a16:colId xmlns:a16="http://schemas.microsoft.com/office/drawing/2014/main" val="2812402965"/>
                    </a:ext>
                  </a:extLst>
                </a:gridCol>
                <a:gridCol w="112989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2989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298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effectLst/>
                        </a:rPr>
                        <a:t>Model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effectLst/>
                        </a:rPr>
                        <a:t>Sex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>
                          <a:effectLst/>
                        </a:rPr>
                        <a:t>n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effectLst/>
                        </a:rPr>
                        <a:t>AUC-ROC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>
                          <a:effectLst/>
                        </a:rPr>
                        <a:t>AUPRC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>
                          <a:effectLst/>
                        </a:rPr>
                        <a:t>Brier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effectLst/>
                        </a:rPr>
                        <a:t>Accuracy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effectLst/>
                        </a:rPr>
                        <a:t>F1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 rowSpan="2"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dirty="0">
                          <a:effectLst/>
                        </a:rPr>
                        <a:t>Log. Reg.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dirty="0">
                          <a:effectLst/>
                        </a:rPr>
                        <a:t>M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112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0.6495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0.3322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0.2387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0.6429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0.3103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 vMerge="1">
                  <a:txBody>
                    <a:bodyPr/>
                    <a:lstStyle/>
                    <a:p>
                      <a:pPr algn="ctr">
                        <a:buNone/>
                      </a:pPr>
                      <a:endParaRPr lang="en-US" sz="1400" dirty="0">
                        <a:effectLst/>
                      </a:endParaRP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>
                          <a:effectLst/>
                        </a:rPr>
                        <a:t>F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163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0.5477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0.1627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0.1801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0.7178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0.1481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1128166"/>
                  </a:ext>
                </a:extLst>
              </a:tr>
              <a:tr h="411480">
                <a:tc rowSpan="2"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 err="1">
                          <a:effectLst/>
                        </a:rPr>
                        <a:t>CrossAttn</a:t>
                      </a:r>
                      <a:endParaRPr lang="en-US" sz="1400" dirty="0">
                        <a:effectLst/>
                      </a:endParaRP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dirty="0">
                          <a:effectLst/>
                        </a:rPr>
                        <a:t>M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112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0.6774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0.3597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0.2495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0.5893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0.3429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28264783"/>
                  </a:ext>
                </a:extLst>
              </a:tr>
              <a:tr h="411480">
                <a:tc vMerge="1">
                  <a:txBody>
                    <a:bodyPr/>
                    <a:lstStyle/>
                    <a:p>
                      <a:pPr algn="ctr">
                        <a:buNone/>
                      </a:pPr>
                      <a:endParaRPr lang="en-US" sz="1400" dirty="0">
                        <a:effectLst/>
                      </a:endParaRP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>
                          <a:effectLst/>
                        </a:rPr>
                        <a:t>F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163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0.7092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0.2638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0.1323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0.8098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0.3111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1851486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5990053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394D85-96D0-616F-C8AC-C21D47A56C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94" name="Picture 2">
            <a:extLst>
              <a:ext uri="{FF2B5EF4-FFF2-40B4-BE49-F238E27FC236}">
                <a16:creationId xmlns:a16="http://schemas.microsoft.com/office/drawing/2014/main" id="{9ED2C768-4877-3FD2-6F28-B76DC05FED2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8000" y="1612685"/>
            <a:ext cx="11176000" cy="47585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66120479-A527-68A2-589B-29E36BA6FA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5B39F7D-8572-9A1D-6BC1-619DA42098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25</a:t>
            </a:fld>
            <a:endParaRPr lang="ko-KR" altLang="en-US" dirty="0"/>
          </a:p>
        </p:txBody>
      </p:sp>
      <p:sp>
        <p:nvSpPr>
          <p:cNvPr id="11" name="내용 개체 틀 10">
            <a:extLst>
              <a:ext uri="{FF2B5EF4-FFF2-40B4-BE49-F238E27FC236}">
                <a16:creationId xmlns:a16="http://schemas.microsoft.com/office/drawing/2014/main" id="{D473F066-7F80-6132-E473-1C3DA98FEE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 err="1"/>
              <a:t>Callibration</a:t>
            </a:r>
            <a:r>
              <a:rPr lang="en-US" altLang="ko-KR" dirty="0"/>
              <a:t> Plot &amp; PR Curve - Model 2 [Clinic + AEC]</a:t>
            </a:r>
          </a:p>
        </p:txBody>
      </p:sp>
    </p:spTree>
    <p:extLst>
      <p:ext uri="{BB962C8B-B14F-4D97-AF65-F5344CB8AC3E}">
        <p14:creationId xmlns:p14="http://schemas.microsoft.com/office/powerpoint/2010/main" val="325687909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2F3AF9-3B86-B048-267E-95131C88E4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057978A-6484-C951-2ECA-5BE082CE5B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5D4B836-5A4D-157E-CD19-0EE0853CE5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26</a:t>
            </a:fld>
            <a:endParaRPr lang="ko-KR" altLang="en-US" dirty="0"/>
          </a:p>
        </p:txBody>
      </p:sp>
      <p:sp>
        <p:nvSpPr>
          <p:cNvPr id="11" name="내용 개체 틀 10">
            <a:extLst>
              <a:ext uri="{FF2B5EF4-FFF2-40B4-BE49-F238E27FC236}">
                <a16:creationId xmlns:a16="http://schemas.microsoft.com/office/drawing/2014/main" id="{B49B18BA-0BE0-9B78-8AD8-2266DAFF2C3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CV Summary - Model 2_2 [Clinic + AEC (Unmatching)]</a:t>
            </a:r>
          </a:p>
          <a:p>
            <a:pPr lvl="1"/>
            <a:r>
              <a:rPr lang="en-US" altLang="ko-KR" dirty="0"/>
              <a:t>Logistic Regression</a:t>
            </a:r>
          </a:p>
        </p:txBody>
      </p:sp>
      <p:graphicFrame>
        <p:nvGraphicFramePr>
          <p:cNvPr id="5" name="Table 24">
            <a:extLst>
              <a:ext uri="{FF2B5EF4-FFF2-40B4-BE49-F238E27FC236}">
                <a16:creationId xmlns:a16="http://schemas.microsoft.com/office/drawing/2014/main" id="{8167D34E-D497-6718-16F6-2C9938532D8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28758738"/>
              </p:ext>
            </p:extLst>
          </p:nvPr>
        </p:nvGraphicFramePr>
        <p:xfrm>
          <a:off x="508000" y="2192383"/>
          <a:ext cx="5282836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696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57943">
                  <a:extLst>
                    <a:ext uri="{9D8B030D-6E8A-4147-A177-3AD203B41FA5}">
                      <a16:colId xmlns:a16="http://schemas.microsoft.com/office/drawing/2014/main" val="2797321821"/>
                    </a:ext>
                  </a:extLst>
                </a:gridCol>
                <a:gridCol w="860405">
                  <a:extLst>
                    <a:ext uri="{9D8B030D-6E8A-4147-A177-3AD203B41FA5}">
                      <a16:colId xmlns:a16="http://schemas.microsoft.com/office/drawing/2014/main" val="2812402965"/>
                    </a:ext>
                  </a:extLst>
                </a:gridCol>
                <a:gridCol w="90917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0917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0917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b="1" dirty="0">
                          <a:effectLst/>
                        </a:rPr>
                        <a:t>Fold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b="1" dirty="0">
                          <a:effectLst/>
                        </a:rPr>
                        <a:t>AUC-ROC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b="1" dirty="0">
                          <a:effectLst/>
                        </a:rPr>
                        <a:t>AUPRC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b="1" dirty="0">
                          <a:effectLst/>
                        </a:rPr>
                        <a:t>Brier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b="1" dirty="0">
                          <a:effectLst/>
                        </a:rPr>
                        <a:t>Accuracy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b="1" dirty="0">
                          <a:effectLst/>
                        </a:rPr>
                        <a:t>F1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1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0.6144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0.1641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0.2094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0.7182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0.2250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2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0.6386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0.1758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0.2066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0.7091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0.2195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1128166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3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0.5829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0.1611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0.2081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0.6986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0.2143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4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0.7147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0.2185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0.1734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0.7808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0.3143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9615808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5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0.7160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0.2467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0.2096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0.7078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0.3043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96050706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>
                          <a:effectLst/>
                        </a:rPr>
                        <a:t>Mean</a:t>
                      </a:r>
                      <a:endParaRPr lang="en-US" sz="1400">
                        <a:effectLst/>
                      </a:endParaRP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1">
                          <a:effectLst/>
                        </a:rPr>
                        <a:t>0.6533</a:t>
                      </a:r>
                      <a:endParaRPr lang="ko-KR" altLang="en-US" sz="1400">
                        <a:effectLst/>
                      </a:endParaRP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1">
                          <a:effectLst/>
                        </a:rPr>
                        <a:t>0.1932</a:t>
                      </a:r>
                      <a:endParaRPr lang="ko-KR" altLang="en-US" sz="1400">
                        <a:effectLst/>
                      </a:endParaRP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1">
                          <a:effectLst/>
                        </a:rPr>
                        <a:t>0.2014</a:t>
                      </a:r>
                      <a:endParaRPr lang="ko-KR" altLang="en-US" sz="1400">
                        <a:effectLst/>
                      </a:endParaRP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1">
                          <a:effectLst/>
                        </a:rPr>
                        <a:t>0.7229</a:t>
                      </a:r>
                      <a:endParaRPr lang="ko-KR" altLang="en-US" sz="1400">
                        <a:effectLst/>
                      </a:endParaRP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1">
                          <a:effectLst/>
                        </a:rPr>
                        <a:t>0.2555</a:t>
                      </a:r>
                      <a:endParaRPr lang="ko-KR" altLang="en-US" sz="1400">
                        <a:effectLst/>
                      </a:endParaRP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237924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>
                          <a:effectLst/>
                        </a:rPr>
                        <a:t>±Std</a:t>
                      </a:r>
                      <a:endParaRPr lang="en-US" sz="1400">
                        <a:effectLst/>
                      </a:endParaRP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0.0537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0.0337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0.0141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0.0296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0.0442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68851695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03D78A1F-9E97-E1D5-CDE6-84226D5102F3}"/>
              </a:ext>
            </a:extLst>
          </p:cNvPr>
          <p:cNvSpPr txBox="1"/>
          <p:nvPr/>
        </p:nvSpPr>
        <p:spPr>
          <a:xfrm>
            <a:off x="5853160" y="1635615"/>
            <a:ext cx="555143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ko-KR" dirty="0"/>
              <a:t>Cross Attention</a:t>
            </a:r>
          </a:p>
        </p:txBody>
      </p:sp>
      <p:graphicFrame>
        <p:nvGraphicFramePr>
          <p:cNvPr id="3" name="Table 24">
            <a:extLst>
              <a:ext uri="{FF2B5EF4-FFF2-40B4-BE49-F238E27FC236}">
                <a16:creationId xmlns:a16="http://schemas.microsoft.com/office/drawing/2014/main" id="{B2A609D7-9BCC-BC9E-6A66-585795B5FF3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85558968"/>
              </p:ext>
            </p:extLst>
          </p:nvPr>
        </p:nvGraphicFramePr>
        <p:xfrm>
          <a:off x="6401166" y="2192383"/>
          <a:ext cx="5282836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696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57943">
                  <a:extLst>
                    <a:ext uri="{9D8B030D-6E8A-4147-A177-3AD203B41FA5}">
                      <a16:colId xmlns:a16="http://schemas.microsoft.com/office/drawing/2014/main" val="2797321821"/>
                    </a:ext>
                  </a:extLst>
                </a:gridCol>
                <a:gridCol w="860405">
                  <a:extLst>
                    <a:ext uri="{9D8B030D-6E8A-4147-A177-3AD203B41FA5}">
                      <a16:colId xmlns:a16="http://schemas.microsoft.com/office/drawing/2014/main" val="2812402965"/>
                    </a:ext>
                  </a:extLst>
                </a:gridCol>
                <a:gridCol w="90917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0917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0917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b="1" dirty="0">
                          <a:effectLst/>
                        </a:rPr>
                        <a:t>Fold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b="1" dirty="0">
                          <a:effectLst/>
                        </a:rPr>
                        <a:t>AUC-ROC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b="1" dirty="0">
                          <a:effectLst/>
                        </a:rPr>
                        <a:t>AUPRC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b="1" dirty="0">
                          <a:effectLst/>
                        </a:rPr>
                        <a:t>Brier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b="1" dirty="0">
                          <a:effectLst/>
                        </a:rPr>
                        <a:t>Accuracy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b="1" dirty="0">
                          <a:effectLst/>
                        </a:rPr>
                        <a:t>F1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1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0.8335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0.4235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0.1913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0.7000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0.3654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2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0.8386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0.3855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0.1378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0.8318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0.4308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1128166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3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0.7374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0.2623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0.2002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0.6941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0.3366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4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0.7682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0.2711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0.1571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0.7945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0.4000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9615808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5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0.8173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0.5119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0.2656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0.5160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0.2933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96050706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>
                          <a:effectLst/>
                        </a:rPr>
                        <a:t>Mean</a:t>
                      </a:r>
                      <a:endParaRPr lang="en-US" sz="1400">
                        <a:effectLst/>
                      </a:endParaRP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1">
                          <a:effectLst/>
                        </a:rPr>
                        <a:t>0.7990</a:t>
                      </a:r>
                      <a:endParaRPr lang="ko-KR" altLang="en-US" sz="1400">
                        <a:effectLst/>
                      </a:endParaRP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1">
                          <a:effectLst/>
                        </a:rPr>
                        <a:t>0.3708</a:t>
                      </a:r>
                      <a:endParaRPr lang="ko-KR" altLang="en-US" sz="1400">
                        <a:effectLst/>
                      </a:endParaRP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1">
                          <a:effectLst/>
                        </a:rPr>
                        <a:t>0.1904</a:t>
                      </a:r>
                      <a:endParaRPr lang="ko-KR" altLang="en-US" sz="1400">
                        <a:effectLst/>
                      </a:endParaRP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1">
                          <a:effectLst/>
                        </a:rPr>
                        <a:t>0.7073</a:t>
                      </a:r>
                      <a:endParaRPr lang="ko-KR" altLang="en-US" sz="1400">
                        <a:effectLst/>
                      </a:endParaRP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1">
                          <a:effectLst/>
                        </a:rPr>
                        <a:t>0.3652</a:t>
                      </a:r>
                      <a:endParaRPr lang="ko-KR" altLang="en-US" sz="1400">
                        <a:effectLst/>
                      </a:endParaRP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237924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>
                          <a:effectLst/>
                        </a:rPr>
                        <a:t>±Std</a:t>
                      </a:r>
                      <a:endParaRPr lang="en-US" sz="1400">
                        <a:effectLst/>
                      </a:endParaRP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0.0396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0.0945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0.0439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0.1095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0.0479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6885169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7570677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55FA46-82F2-D1B9-5136-927D0DCB6C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36F72A9-5381-DBF9-0B86-667A3F6E54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D90B0F1-E45D-7B0D-271C-8293180F3A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27</a:t>
            </a:fld>
            <a:endParaRPr lang="ko-KR" altLang="en-US" dirty="0"/>
          </a:p>
        </p:txBody>
      </p:sp>
      <p:sp>
        <p:nvSpPr>
          <p:cNvPr id="11" name="내용 개체 틀 10">
            <a:extLst>
              <a:ext uri="{FF2B5EF4-FFF2-40B4-BE49-F238E27FC236}">
                <a16:creationId xmlns:a16="http://schemas.microsoft.com/office/drawing/2014/main" id="{5B524734-BBE0-C08E-B30A-00E8C0B0D0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Test Set Performance - Model 2_2 [Clinic + AEC (Unmatching)]</a:t>
            </a:r>
          </a:p>
          <a:p>
            <a:pPr lvl="1"/>
            <a:r>
              <a:rPr lang="en-US" altLang="ko-KR" dirty="0"/>
              <a:t>Overall</a:t>
            </a:r>
          </a:p>
          <a:p>
            <a:pPr lvl="1"/>
            <a:endParaRPr lang="en-US" altLang="ko-KR" dirty="0"/>
          </a:p>
          <a:p>
            <a:pPr lvl="1"/>
            <a:endParaRPr lang="en-US" altLang="ko-KR" dirty="0"/>
          </a:p>
          <a:p>
            <a:pPr lvl="1"/>
            <a:endParaRPr lang="en-US" altLang="ko-KR" dirty="0"/>
          </a:p>
          <a:p>
            <a:pPr lvl="1"/>
            <a:r>
              <a:rPr lang="en-US" altLang="ko-KR" dirty="0"/>
              <a:t>Logistic Regression</a:t>
            </a:r>
          </a:p>
        </p:txBody>
      </p:sp>
      <p:graphicFrame>
        <p:nvGraphicFramePr>
          <p:cNvPr id="3" name="Table 24">
            <a:extLst>
              <a:ext uri="{FF2B5EF4-FFF2-40B4-BE49-F238E27FC236}">
                <a16:creationId xmlns:a16="http://schemas.microsoft.com/office/drawing/2014/main" id="{E05FBDD3-51AA-C233-27E0-0A860CF4DBB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82663383"/>
              </p:ext>
            </p:extLst>
          </p:nvPr>
        </p:nvGraphicFramePr>
        <p:xfrm>
          <a:off x="1141188" y="2114005"/>
          <a:ext cx="6818448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640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36408">
                  <a:extLst>
                    <a:ext uri="{9D8B030D-6E8A-4147-A177-3AD203B41FA5}">
                      <a16:colId xmlns:a16="http://schemas.microsoft.com/office/drawing/2014/main" val="2797321821"/>
                    </a:ext>
                  </a:extLst>
                </a:gridCol>
                <a:gridCol w="1136408">
                  <a:extLst>
                    <a:ext uri="{9D8B030D-6E8A-4147-A177-3AD203B41FA5}">
                      <a16:colId xmlns:a16="http://schemas.microsoft.com/office/drawing/2014/main" val="2812402965"/>
                    </a:ext>
                  </a:extLst>
                </a:gridCol>
                <a:gridCol w="113640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3640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3640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>
                          <a:effectLst/>
                        </a:rPr>
                        <a:t>Model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>
                          <a:effectLst/>
                        </a:rPr>
                        <a:t>AUC-ROC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>
                          <a:effectLst/>
                        </a:rPr>
                        <a:t>AUPRC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>
                          <a:effectLst/>
                        </a:rPr>
                        <a:t>Brier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>
                          <a:effectLst/>
                        </a:rPr>
                        <a:t>Accuracy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>
                          <a:effectLst/>
                        </a:rPr>
                        <a:t>F1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dirty="0">
                          <a:effectLst/>
                        </a:rPr>
                        <a:t>Log. Reg.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0.6189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0.1600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0.2125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0.7127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0.2617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>
                          <a:effectLst/>
                        </a:rPr>
                        <a:t>CrossAttn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0.7140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0.3629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0.1843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0.7636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0.3564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1128166"/>
                  </a:ext>
                </a:extLst>
              </a:tr>
            </a:tbl>
          </a:graphicData>
        </a:graphic>
      </p:graphicFrame>
      <p:graphicFrame>
        <p:nvGraphicFramePr>
          <p:cNvPr id="7" name="Table 24">
            <a:extLst>
              <a:ext uri="{FF2B5EF4-FFF2-40B4-BE49-F238E27FC236}">
                <a16:creationId xmlns:a16="http://schemas.microsoft.com/office/drawing/2014/main" id="{26C7D4B8-69C0-10EE-2D44-9D8BA97C989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4163664"/>
              </p:ext>
            </p:extLst>
          </p:nvPr>
        </p:nvGraphicFramePr>
        <p:xfrm>
          <a:off x="1141186" y="4037269"/>
          <a:ext cx="9039136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29892">
                  <a:extLst>
                    <a:ext uri="{9D8B030D-6E8A-4147-A177-3AD203B41FA5}">
                      <a16:colId xmlns:a16="http://schemas.microsoft.com/office/drawing/2014/main" val="2918237846"/>
                    </a:ext>
                  </a:extLst>
                </a:gridCol>
                <a:gridCol w="11298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9892">
                  <a:extLst>
                    <a:ext uri="{9D8B030D-6E8A-4147-A177-3AD203B41FA5}">
                      <a16:colId xmlns:a16="http://schemas.microsoft.com/office/drawing/2014/main" val="3268504560"/>
                    </a:ext>
                  </a:extLst>
                </a:gridCol>
                <a:gridCol w="1129892">
                  <a:extLst>
                    <a:ext uri="{9D8B030D-6E8A-4147-A177-3AD203B41FA5}">
                      <a16:colId xmlns:a16="http://schemas.microsoft.com/office/drawing/2014/main" val="2797321821"/>
                    </a:ext>
                  </a:extLst>
                </a:gridCol>
                <a:gridCol w="1129892">
                  <a:extLst>
                    <a:ext uri="{9D8B030D-6E8A-4147-A177-3AD203B41FA5}">
                      <a16:colId xmlns:a16="http://schemas.microsoft.com/office/drawing/2014/main" val="2812402965"/>
                    </a:ext>
                  </a:extLst>
                </a:gridCol>
                <a:gridCol w="112989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2989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298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effectLst/>
                        </a:rPr>
                        <a:t>Model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effectLst/>
                        </a:rPr>
                        <a:t>Sex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>
                          <a:effectLst/>
                        </a:rPr>
                        <a:t>n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effectLst/>
                        </a:rPr>
                        <a:t>AUC-ROC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>
                          <a:effectLst/>
                        </a:rPr>
                        <a:t>AUPRC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>
                          <a:effectLst/>
                        </a:rPr>
                        <a:t>Brier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effectLst/>
                        </a:rPr>
                        <a:t>Accuracy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effectLst/>
                        </a:rPr>
                        <a:t>F1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 rowSpan="2"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dirty="0">
                          <a:effectLst/>
                        </a:rPr>
                        <a:t>Log. Reg.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dirty="0">
                          <a:effectLst/>
                        </a:rPr>
                        <a:t>M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112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0.5895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0.2297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0.2262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0.6875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0.2857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 vMerge="1">
                  <a:txBody>
                    <a:bodyPr/>
                    <a:lstStyle/>
                    <a:p>
                      <a:pPr algn="ctr">
                        <a:buNone/>
                      </a:pPr>
                      <a:endParaRPr lang="en-US" sz="1400" dirty="0">
                        <a:effectLst/>
                      </a:endParaRP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>
                          <a:effectLst/>
                        </a:rPr>
                        <a:t>F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163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0.6441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0.1325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0.2031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0.7301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0.2414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1128166"/>
                  </a:ext>
                </a:extLst>
              </a:tr>
              <a:tr h="411480">
                <a:tc rowSpan="2"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 err="1">
                          <a:effectLst/>
                        </a:rPr>
                        <a:t>CrossAttn</a:t>
                      </a:r>
                      <a:endParaRPr lang="en-US" sz="1400" dirty="0">
                        <a:effectLst/>
                      </a:endParaRP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dirty="0">
                          <a:effectLst/>
                        </a:rPr>
                        <a:t>M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112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0.7059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0.3746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0.2677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0.5982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0.3284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28264783"/>
                  </a:ext>
                </a:extLst>
              </a:tr>
              <a:tr h="411480">
                <a:tc vMerge="1">
                  <a:txBody>
                    <a:bodyPr/>
                    <a:lstStyle/>
                    <a:p>
                      <a:pPr algn="ctr">
                        <a:buNone/>
                      </a:pPr>
                      <a:endParaRPr lang="en-US" sz="1400" dirty="0">
                        <a:effectLst/>
                      </a:endParaRP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>
                          <a:effectLst/>
                        </a:rPr>
                        <a:t>F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163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0.6882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0.3553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0.1269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0.8773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0.4118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1851486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6104048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37A863-3F01-E139-D721-5D379B41F0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EE72E60-2CA3-6CE5-593B-AF7C4C1794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F03120F-1224-091D-7550-28B1E936CF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28</a:t>
            </a:fld>
            <a:endParaRPr lang="ko-KR" altLang="en-US" dirty="0"/>
          </a:p>
        </p:txBody>
      </p:sp>
      <p:sp>
        <p:nvSpPr>
          <p:cNvPr id="11" name="내용 개체 틀 10">
            <a:extLst>
              <a:ext uri="{FF2B5EF4-FFF2-40B4-BE49-F238E27FC236}">
                <a16:creationId xmlns:a16="http://schemas.microsoft.com/office/drawing/2014/main" id="{9A9CE89B-C2BB-7394-B3A2-836193B596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 err="1"/>
              <a:t>Callibration</a:t>
            </a:r>
            <a:r>
              <a:rPr lang="en-US" altLang="ko-KR" dirty="0"/>
              <a:t> Plot &amp; PR Curve - Model 2_2 [Clinic + AEC (Unmatching)]</a:t>
            </a:r>
          </a:p>
        </p:txBody>
      </p:sp>
      <p:pic>
        <p:nvPicPr>
          <p:cNvPr id="10242" name="Picture 2">
            <a:extLst>
              <a:ext uri="{FF2B5EF4-FFF2-40B4-BE49-F238E27FC236}">
                <a16:creationId xmlns:a16="http://schemas.microsoft.com/office/drawing/2014/main" id="{AFBD2FC9-B631-D3BB-B2D0-219B6BFD001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6000" y="1721712"/>
            <a:ext cx="10800000" cy="45984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8553398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A7E253-2A14-CDE8-1F57-61B8574546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83117D5-216C-2D10-51C7-20F5E42653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5B7F1BD-B957-3093-C134-5BB84D6BAD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29</a:t>
            </a:fld>
            <a:endParaRPr lang="ko-KR" altLang="en-US" dirty="0"/>
          </a:p>
        </p:txBody>
      </p:sp>
      <p:sp>
        <p:nvSpPr>
          <p:cNvPr id="11" name="내용 개체 틀 10">
            <a:extLst>
              <a:ext uri="{FF2B5EF4-FFF2-40B4-BE49-F238E27FC236}">
                <a16:creationId xmlns:a16="http://schemas.microsoft.com/office/drawing/2014/main" id="{E7032D80-CE20-C58F-BB98-68C7521973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CV Summary - Model 3 [Clinic + AEC + Scan]</a:t>
            </a:r>
          </a:p>
          <a:p>
            <a:pPr lvl="1"/>
            <a:r>
              <a:rPr lang="en-US" altLang="ko-KR" dirty="0"/>
              <a:t>Logistic Regression</a:t>
            </a:r>
          </a:p>
        </p:txBody>
      </p:sp>
      <p:graphicFrame>
        <p:nvGraphicFramePr>
          <p:cNvPr id="5" name="Table 24">
            <a:extLst>
              <a:ext uri="{FF2B5EF4-FFF2-40B4-BE49-F238E27FC236}">
                <a16:creationId xmlns:a16="http://schemas.microsoft.com/office/drawing/2014/main" id="{75F6B3F3-5092-AE7F-1237-BF100785385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9570334"/>
              </p:ext>
            </p:extLst>
          </p:nvPr>
        </p:nvGraphicFramePr>
        <p:xfrm>
          <a:off x="508000" y="2192383"/>
          <a:ext cx="5282836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696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57943">
                  <a:extLst>
                    <a:ext uri="{9D8B030D-6E8A-4147-A177-3AD203B41FA5}">
                      <a16:colId xmlns:a16="http://schemas.microsoft.com/office/drawing/2014/main" val="2797321821"/>
                    </a:ext>
                  </a:extLst>
                </a:gridCol>
                <a:gridCol w="860405">
                  <a:extLst>
                    <a:ext uri="{9D8B030D-6E8A-4147-A177-3AD203B41FA5}">
                      <a16:colId xmlns:a16="http://schemas.microsoft.com/office/drawing/2014/main" val="2812402965"/>
                    </a:ext>
                  </a:extLst>
                </a:gridCol>
                <a:gridCol w="90917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0917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0917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b="1" dirty="0">
                          <a:effectLst/>
                        </a:rPr>
                        <a:t>Fold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b="1" dirty="0">
                          <a:effectLst/>
                        </a:rPr>
                        <a:t>AUC-ROC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b="1" dirty="0">
                          <a:effectLst/>
                        </a:rPr>
                        <a:t>AUPRC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b="1" dirty="0">
                          <a:effectLst/>
                        </a:rPr>
                        <a:t>Brier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b="1" dirty="0">
                          <a:effectLst/>
                        </a:rPr>
                        <a:t>Accuracy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b="1" dirty="0">
                          <a:effectLst/>
                        </a:rPr>
                        <a:t>F1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1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0.6350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0.2601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0.1896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0.7548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0.2609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2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0.7452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0.2260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0.1925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0.7404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0.3864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1128166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3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0.7058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0.2919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0.1691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0.7885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0.2667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4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0.5431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0.1507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0.2444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0.6587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0.2022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9615808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5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0.7177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0.2781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0.1782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0.7391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0.3077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96050706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>
                          <a:effectLst/>
                        </a:rPr>
                        <a:t>Mean</a:t>
                      </a:r>
                      <a:endParaRPr lang="en-US" sz="1400">
                        <a:effectLst/>
                      </a:endParaRP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1">
                          <a:effectLst/>
                        </a:rPr>
                        <a:t>0.6694</a:t>
                      </a:r>
                      <a:endParaRPr lang="ko-KR" altLang="en-US" sz="1400">
                        <a:effectLst/>
                      </a:endParaRP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1">
                          <a:effectLst/>
                        </a:rPr>
                        <a:t>0.2414</a:t>
                      </a:r>
                      <a:endParaRPr lang="ko-KR" altLang="en-US" sz="1400">
                        <a:effectLst/>
                      </a:endParaRP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1">
                          <a:effectLst/>
                        </a:rPr>
                        <a:t>0.1948</a:t>
                      </a:r>
                      <a:endParaRPr lang="ko-KR" altLang="en-US" sz="1400">
                        <a:effectLst/>
                      </a:endParaRP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1">
                          <a:effectLst/>
                        </a:rPr>
                        <a:t>0.7363</a:t>
                      </a:r>
                      <a:endParaRPr lang="ko-KR" altLang="en-US" sz="1400">
                        <a:effectLst/>
                      </a:endParaRP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1">
                          <a:effectLst/>
                        </a:rPr>
                        <a:t>0.2848</a:t>
                      </a:r>
                      <a:endParaRPr lang="ko-KR" altLang="en-US" sz="1400">
                        <a:effectLst/>
                      </a:endParaRP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237924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>
                          <a:effectLst/>
                        </a:rPr>
                        <a:t>±Std</a:t>
                      </a:r>
                      <a:endParaRPr lang="en-US" sz="1400">
                        <a:effectLst/>
                      </a:endParaRP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0.0728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0.0504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0.0262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0.0427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0.0609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68851695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AED7212C-D538-CF47-AC45-6C4292B2066B}"/>
              </a:ext>
            </a:extLst>
          </p:cNvPr>
          <p:cNvSpPr txBox="1"/>
          <p:nvPr/>
        </p:nvSpPr>
        <p:spPr>
          <a:xfrm>
            <a:off x="5853160" y="1635615"/>
            <a:ext cx="555143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ko-KR" dirty="0"/>
              <a:t>Cross Attention</a:t>
            </a:r>
          </a:p>
        </p:txBody>
      </p:sp>
      <p:graphicFrame>
        <p:nvGraphicFramePr>
          <p:cNvPr id="3" name="Table 24">
            <a:extLst>
              <a:ext uri="{FF2B5EF4-FFF2-40B4-BE49-F238E27FC236}">
                <a16:creationId xmlns:a16="http://schemas.microsoft.com/office/drawing/2014/main" id="{9520E2B6-1530-C18D-F3CB-A11BADC8248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64122198"/>
              </p:ext>
            </p:extLst>
          </p:nvPr>
        </p:nvGraphicFramePr>
        <p:xfrm>
          <a:off x="6401166" y="2192383"/>
          <a:ext cx="5282836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696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57943">
                  <a:extLst>
                    <a:ext uri="{9D8B030D-6E8A-4147-A177-3AD203B41FA5}">
                      <a16:colId xmlns:a16="http://schemas.microsoft.com/office/drawing/2014/main" val="2797321821"/>
                    </a:ext>
                  </a:extLst>
                </a:gridCol>
                <a:gridCol w="860405">
                  <a:extLst>
                    <a:ext uri="{9D8B030D-6E8A-4147-A177-3AD203B41FA5}">
                      <a16:colId xmlns:a16="http://schemas.microsoft.com/office/drawing/2014/main" val="2812402965"/>
                    </a:ext>
                  </a:extLst>
                </a:gridCol>
                <a:gridCol w="90917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0917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0917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b="1" dirty="0">
                          <a:effectLst/>
                        </a:rPr>
                        <a:t>Fold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b="1" dirty="0">
                          <a:effectLst/>
                        </a:rPr>
                        <a:t>AUC-ROC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b="1" dirty="0">
                          <a:effectLst/>
                        </a:rPr>
                        <a:t>AUPRC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b="1" dirty="0">
                          <a:effectLst/>
                        </a:rPr>
                        <a:t>Brier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b="1" dirty="0">
                          <a:effectLst/>
                        </a:rPr>
                        <a:t>Accuracy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b="1" dirty="0">
                          <a:effectLst/>
                        </a:rPr>
                        <a:t>F1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1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0.7986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0.3567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0.1268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0.8269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0.3793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2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0.8021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0.3632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0.1994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0.5962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0.3115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1128166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3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0.8195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0.4050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0.1189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0.8221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0.4127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4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0.7727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0.2650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0.2901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0.5337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0.3022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9615808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5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0.8025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0.3577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0.2365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0.6570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0.3364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96050706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>
                          <a:effectLst/>
                        </a:rPr>
                        <a:t>Mean</a:t>
                      </a:r>
                      <a:endParaRPr lang="en-US" sz="1400">
                        <a:effectLst/>
                      </a:endParaRP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1">
                          <a:effectLst/>
                        </a:rPr>
                        <a:t>0.7991</a:t>
                      </a:r>
                      <a:endParaRPr lang="ko-KR" altLang="en-US" sz="1400">
                        <a:effectLst/>
                      </a:endParaRP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1">
                          <a:effectLst/>
                        </a:rPr>
                        <a:t>0.3496</a:t>
                      </a:r>
                      <a:endParaRPr lang="ko-KR" altLang="en-US" sz="1400">
                        <a:effectLst/>
                      </a:endParaRP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1">
                          <a:effectLst/>
                        </a:rPr>
                        <a:t>0.1944</a:t>
                      </a:r>
                      <a:endParaRPr lang="ko-KR" altLang="en-US" sz="1400">
                        <a:effectLst/>
                      </a:endParaRP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1">
                          <a:effectLst/>
                        </a:rPr>
                        <a:t>0.6872</a:t>
                      </a:r>
                      <a:endParaRPr lang="ko-KR" altLang="en-US" sz="1400">
                        <a:effectLst/>
                      </a:endParaRP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1">
                          <a:effectLst/>
                        </a:rPr>
                        <a:t>0.3484</a:t>
                      </a:r>
                      <a:endParaRPr lang="ko-KR" altLang="en-US" sz="1400">
                        <a:effectLst/>
                      </a:endParaRP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237924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>
                          <a:effectLst/>
                        </a:rPr>
                        <a:t>±Std</a:t>
                      </a:r>
                      <a:endParaRPr lang="en-US" sz="1400">
                        <a:effectLst/>
                      </a:endParaRP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0.0150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0.0459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0.0651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0.1187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0.0418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6885169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979764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CC9497-95CC-DE2D-25F8-5FA5D39887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6436A6F-99C1-F3D5-EB4D-744041D1F6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CDA886B-23F1-E958-4C90-AE6AFB62AF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30</a:t>
            </a:fld>
            <a:endParaRPr lang="ko-KR" altLang="en-US" dirty="0"/>
          </a:p>
        </p:txBody>
      </p:sp>
      <p:sp>
        <p:nvSpPr>
          <p:cNvPr id="11" name="내용 개체 틀 10">
            <a:extLst>
              <a:ext uri="{FF2B5EF4-FFF2-40B4-BE49-F238E27FC236}">
                <a16:creationId xmlns:a16="http://schemas.microsoft.com/office/drawing/2014/main" id="{D0582716-995B-416F-5F90-0A5EC44A57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Test Set Performance - Model 3 [Clinic + AEC + Scan]</a:t>
            </a:r>
          </a:p>
          <a:p>
            <a:pPr lvl="1"/>
            <a:r>
              <a:rPr lang="en-US" altLang="ko-KR" dirty="0"/>
              <a:t>Overall</a:t>
            </a:r>
          </a:p>
          <a:p>
            <a:pPr lvl="1"/>
            <a:endParaRPr lang="en-US" altLang="ko-KR" dirty="0"/>
          </a:p>
          <a:p>
            <a:pPr lvl="1"/>
            <a:endParaRPr lang="en-US" altLang="ko-KR" dirty="0"/>
          </a:p>
          <a:p>
            <a:pPr lvl="1"/>
            <a:endParaRPr lang="en-US" altLang="ko-KR" dirty="0"/>
          </a:p>
          <a:p>
            <a:pPr lvl="1"/>
            <a:r>
              <a:rPr lang="en-US" altLang="ko-KR" dirty="0"/>
              <a:t>Logistic Regression</a:t>
            </a:r>
          </a:p>
        </p:txBody>
      </p:sp>
      <p:graphicFrame>
        <p:nvGraphicFramePr>
          <p:cNvPr id="3" name="Table 24">
            <a:extLst>
              <a:ext uri="{FF2B5EF4-FFF2-40B4-BE49-F238E27FC236}">
                <a16:creationId xmlns:a16="http://schemas.microsoft.com/office/drawing/2014/main" id="{B576147D-9437-09B5-EF16-27C0845AD7E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7973728"/>
              </p:ext>
            </p:extLst>
          </p:nvPr>
        </p:nvGraphicFramePr>
        <p:xfrm>
          <a:off x="1141188" y="2114005"/>
          <a:ext cx="6818448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640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36408">
                  <a:extLst>
                    <a:ext uri="{9D8B030D-6E8A-4147-A177-3AD203B41FA5}">
                      <a16:colId xmlns:a16="http://schemas.microsoft.com/office/drawing/2014/main" val="2797321821"/>
                    </a:ext>
                  </a:extLst>
                </a:gridCol>
                <a:gridCol w="1136408">
                  <a:extLst>
                    <a:ext uri="{9D8B030D-6E8A-4147-A177-3AD203B41FA5}">
                      <a16:colId xmlns:a16="http://schemas.microsoft.com/office/drawing/2014/main" val="2812402965"/>
                    </a:ext>
                  </a:extLst>
                </a:gridCol>
                <a:gridCol w="113640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3640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3640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>
                          <a:effectLst/>
                        </a:rPr>
                        <a:t>Model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>
                          <a:effectLst/>
                        </a:rPr>
                        <a:t>AUC-ROC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>
                          <a:effectLst/>
                        </a:rPr>
                        <a:t>AUPRC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>
                          <a:effectLst/>
                        </a:rPr>
                        <a:t>Brier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>
                          <a:effectLst/>
                        </a:rPr>
                        <a:t>Accuracy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>
                          <a:effectLst/>
                        </a:rPr>
                        <a:t>F1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dirty="0">
                          <a:effectLst/>
                        </a:rPr>
                        <a:t>Log. Reg.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0.6713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0.1958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0.1956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0.7154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0.2745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dirty="0" err="1">
                          <a:effectLst/>
                        </a:rPr>
                        <a:t>CrossAttn</a:t>
                      </a:r>
                      <a:endParaRPr lang="en-US" sz="1400" dirty="0">
                        <a:effectLst/>
                      </a:endParaRP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0.7542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0.2410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0.1717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0.7423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0.2947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1128166"/>
                  </a:ext>
                </a:extLst>
              </a:tr>
            </a:tbl>
          </a:graphicData>
        </a:graphic>
      </p:graphicFrame>
      <p:graphicFrame>
        <p:nvGraphicFramePr>
          <p:cNvPr id="7" name="Table 24">
            <a:extLst>
              <a:ext uri="{FF2B5EF4-FFF2-40B4-BE49-F238E27FC236}">
                <a16:creationId xmlns:a16="http://schemas.microsoft.com/office/drawing/2014/main" id="{3512FBF9-06BD-EF5E-4F44-88FDB93C59A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25204623"/>
              </p:ext>
            </p:extLst>
          </p:nvPr>
        </p:nvGraphicFramePr>
        <p:xfrm>
          <a:off x="1141186" y="4037269"/>
          <a:ext cx="9039136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29892">
                  <a:extLst>
                    <a:ext uri="{9D8B030D-6E8A-4147-A177-3AD203B41FA5}">
                      <a16:colId xmlns:a16="http://schemas.microsoft.com/office/drawing/2014/main" val="2918237846"/>
                    </a:ext>
                  </a:extLst>
                </a:gridCol>
                <a:gridCol w="11298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9892">
                  <a:extLst>
                    <a:ext uri="{9D8B030D-6E8A-4147-A177-3AD203B41FA5}">
                      <a16:colId xmlns:a16="http://schemas.microsoft.com/office/drawing/2014/main" val="3268504560"/>
                    </a:ext>
                  </a:extLst>
                </a:gridCol>
                <a:gridCol w="1129892">
                  <a:extLst>
                    <a:ext uri="{9D8B030D-6E8A-4147-A177-3AD203B41FA5}">
                      <a16:colId xmlns:a16="http://schemas.microsoft.com/office/drawing/2014/main" val="2797321821"/>
                    </a:ext>
                  </a:extLst>
                </a:gridCol>
                <a:gridCol w="1129892">
                  <a:extLst>
                    <a:ext uri="{9D8B030D-6E8A-4147-A177-3AD203B41FA5}">
                      <a16:colId xmlns:a16="http://schemas.microsoft.com/office/drawing/2014/main" val="2812402965"/>
                    </a:ext>
                  </a:extLst>
                </a:gridCol>
                <a:gridCol w="112989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2989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298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effectLst/>
                        </a:rPr>
                        <a:t>Model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effectLst/>
                        </a:rPr>
                        <a:t>Sex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>
                          <a:effectLst/>
                        </a:rPr>
                        <a:t>n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effectLst/>
                        </a:rPr>
                        <a:t>AUC-ROC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>
                          <a:effectLst/>
                        </a:rPr>
                        <a:t>AUPRC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>
                          <a:effectLst/>
                        </a:rPr>
                        <a:t>Brier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effectLst/>
                        </a:rPr>
                        <a:t>Accuracy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effectLst/>
                        </a:rPr>
                        <a:t>F1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 rowSpan="2"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dirty="0">
                          <a:effectLst/>
                        </a:rPr>
                        <a:t>Log. Reg.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dirty="0">
                          <a:effectLst/>
                        </a:rPr>
                        <a:t>M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98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0.6707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0.2723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0.2233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0.6939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0.3750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 vMerge="1">
                  <a:txBody>
                    <a:bodyPr/>
                    <a:lstStyle/>
                    <a:p>
                      <a:pPr algn="ctr">
                        <a:buNone/>
                      </a:pPr>
                      <a:endParaRPr lang="en-US" sz="1400" dirty="0">
                        <a:effectLst/>
                      </a:endParaRP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>
                          <a:effectLst/>
                        </a:rPr>
                        <a:t>F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162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0.6539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0.1399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0.1788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0.7284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0.1852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1128166"/>
                  </a:ext>
                </a:extLst>
              </a:tr>
              <a:tr h="411480">
                <a:tc rowSpan="2"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 err="1">
                          <a:effectLst/>
                        </a:rPr>
                        <a:t>CrossAttn</a:t>
                      </a:r>
                      <a:endParaRPr lang="en-US" sz="1400" dirty="0">
                        <a:effectLst/>
                      </a:endParaRP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dirty="0">
                          <a:effectLst/>
                        </a:rPr>
                        <a:t>M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98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0.6890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0.2373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0.2437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0.6327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0.3571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28264783"/>
                  </a:ext>
                </a:extLst>
              </a:tr>
              <a:tr h="411480">
                <a:tc vMerge="1">
                  <a:txBody>
                    <a:bodyPr/>
                    <a:lstStyle/>
                    <a:p>
                      <a:pPr algn="ctr">
                        <a:buNone/>
                      </a:pPr>
                      <a:endParaRPr lang="en-US" sz="1400" dirty="0">
                        <a:effectLst/>
                      </a:endParaRP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>
                          <a:effectLst/>
                        </a:rPr>
                        <a:t>F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162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0.7428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0.2432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0.1281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0.8086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0.2051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1851486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3423610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919874-82D8-D668-9263-2B703434D7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D9063B0-0930-7DF3-177E-F43501135D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D586CAC-F754-6A63-3752-A2F6BA412B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31</a:t>
            </a:fld>
            <a:endParaRPr lang="ko-KR" altLang="en-US" dirty="0"/>
          </a:p>
        </p:txBody>
      </p:sp>
      <p:sp>
        <p:nvSpPr>
          <p:cNvPr id="11" name="내용 개체 틀 10">
            <a:extLst>
              <a:ext uri="{FF2B5EF4-FFF2-40B4-BE49-F238E27FC236}">
                <a16:creationId xmlns:a16="http://schemas.microsoft.com/office/drawing/2014/main" id="{3AC36E4C-4EE3-FF8E-F1B6-B367B5C647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 err="1"/>
              <a:t>Callibration</a:t>
            </a:r>
            <a:r>
              <a:rPr lang="en-US" altLang="ko-KR" dirty="0"/>
              <a:t> Plot &amp; PR Curve - Model 3 [Clinic + AEC + Scan]</a:t>
            </a:r>
          </a:p>
          <a:p>
            <a:pPr marL="0" indent="0">
              <a:buNone/>
            </a:pPr>
            <a:endParaRPr lang="en-US" altLang="ko-KR" dirty="0"/>
          </a:p>
        </p:txBody>
      </p:sp>
      <p:pic>
        <p:nvPicPr>
          <p:cNvPr id="6146" name="Picture 2">
            <a:extLst>
              <a:ext uri="{FF2B5EF4-FFF2-40B4-BE49-F238E27FC236}">
                <a16:creationId xmlns:a16="http://schemas.microsoft.com/office/drawing/2014/main" id="{23E76CD2-81BE-C159-4151-B017A2CCA74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6000" y="1640480"/>
            <a:ext cx="10800000" cy="45984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6148509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76" name="Google Shape;1176;g3d412ffb079_0_6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2149</TotalTime>
  <Words>1986</Words>
  <Application>Microsoft Office PowerPoint</Application>
  <PresentationFormat>와이드스크린</PresentationFormat>
  <Paragraphs>938</Paragraphs>
  <Slides>32</Slides>
  <Notes>29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32</vt:i4>
      </vt:variant>
    </vt:vector>
  </HeadingPairs>
  <TitlesOfParts>
    <vt:vector size="36" baseType="lpstr">
      <vt:lpstr>KoPub돋움체 Medium</vt:lpstr>
      <vt:lpstr>KoPub돋움체 Bold</vt:lpstr>
      <vt:lpstr>Arial</vt:lpstr>
      <vt:lpstr>Office 테마</vt:lpstr>
      <vt:lpstr>PowerPoint 프레젠테이션</vt:lpstr>
      <vt:lpstr>1. What’s discussed in the last meetings</vt:lpstr>
      <vt:lpstr>2. Research Summary</vt:lpstr>
      <vt:lpstr>연구 프로토타입 정의</vt:lpstr>
      <vt:lpstr>Research Overview – Main Study</vt:lpstr>
      <vt:lpstr>Research Overview – Pilot Feasibility Study (현재 진행 연구)</vt:lpstr>
      <vt:lpstr>Research Overview – Pilot Feasibility Study (현재 진행 연구)</vt:lpstr>
      <vt:lpstr>데이터 정리</vt:lpstr>
      <vt:lpstr>3. Detailed progress</vt:lpstr>
      <vt:lpstr>3. Detailed progress</vt:lpstr>
      <vt:lpstr>3. Detailed progress</vt:lpstr>
      <vt:lpstr>SMI Cutoff Setting</vt:lpstr>
      <vt:lpstr>3. Detailed progress</vt:lpstr>
      <vt:lpstr>3. Detailed progress</vt:lpstr>
      <vt:lpstr>연구 결과</vt:lpstr>
      <vt:lpstr>3. Detailed progress</vt:lpstr>
      <vt:lpstr>3. Detailed progress</vt:lpstr>
      <vt:lpstr>3. Detailed progress</vt:lpstr>
      <vt:lpstr>3. Detailed progress</vt:lpstr>
      <vt:lpstr>3. Detailed progress</vt:lpstr>
      <vt:lpstr>3. Detailed progress</vt:lpstr>
      <vt:lpstr>3. Detailed progress</vt:lpstr>
      <vt:lpstr>3. Detailed progress</vt:lpstr>
      <vt:lpstr>3. Detailed progress</vt:lpstr>
      <vt:lpstr>3. Detailed progress</vt:lpstr>
      <vt:lpstr>3. Detailed progress</vt:lpstr>
      <vt:lpstr>3. Detailed progress</vt:lpstr>
      <vt:lpstr>3. Detailed progress</vt:lpstr>
      <vt:lpstr>3. Detailed progress</vt:lpstr>
      <vt:lpstr>3. Detailed progress</vt:lpstr>
      <vt:lpstr>3. Detailed progress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전장훈</dc:creator>
  <cp:lastModifiedBy>전장훈</cp:lastModifiedBy>
  <cp:revision>188</cp:revision>
  <dcterms:created xsi:type="dcterms:W3CDTF">2026-04-09T07:05:16Z</dcterms:created>
  <dcterms:modified xsi:type="dcterms:W3CDTF">2026-05-13T10:32:51Z</dcterms:modified>
</cp:coreProperties>
</file>