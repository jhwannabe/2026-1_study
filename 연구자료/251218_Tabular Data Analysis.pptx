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6831" autoAdjust="0"/>
  </p:normalViewPr>
  <p:slideViewPr>
    <p:cSldViewPr>
      <p:cViewPr varScale="1">
        <p:scale>
          <a:sx n="88" d="100"/>
          <a:sy n="88" d="100"/>
        </p:scale>
        <p:origin x="255" y="54"/>
      </p:cViewPr>
      <p:guideLst>
        <p:guide orient="horz" pos="2153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12/18/2025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직사각형 6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12/18/2025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12/18/2025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직사각형 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12/18/2025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직사각형 5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12/18/2025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ahLst/>
            <a:cxn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12/18/2025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직사각형 1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2062806"/>
            <a:ext cx="11387837" cy="385119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Tabular Data Analysis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2025. 12. 18.</a:t>
            </a: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1. What’s discussed in the last meetings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2428880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ko-KR" altLang="en-US" sz="2000"/>
              <a:t>Check code implementation error and feature error in input in 5-fold cv as a result of code analysis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2000"/>
              <a:t>Please check directly with Excel data and see in-depth how the data is organized and split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2000"/>
              <a:t>Ensure that the input and output are set up properly and securely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Research Summary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3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1751185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Re-implement the code to check deeply for any errors or missing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After the model test, store it as Excel data to check and analyze the data directly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Compare Holdout and 5-fold cv results</a:t>
            </a:r>
            <a:endParaRPr lang="en-US" altLang="ko-KR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5005-23A7-7AFB-BC2B-6E2832B0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5AD6832-7334-44B4-725E-86C0EBDBE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14875F32-8918-4B60-499C-4A83AF0936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523AEAB0-2284-3E91-EC4F-83CD26934C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007846"/>
            <a:ext cx="5486400" cy="3637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인체 임상 변수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DA0C6FA-5764-D095-FA59-83B19B75D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815846"/>
              </p:ext>
            </p:extLst>
          </p:nvPr>
        </p:nvGraphicFramePr>
        <p:xfrm>
          <a:off x="685800" y="1542803"/>
          <a:ext cx="5562600" cy="5162797"/>
        </p:xfrm>
        <a:graphic>
          <a:graphicData uri="http://schemas.openxmlformats.org/drawingml/2006/table">
            <a:tbl>
              <a:tblPr firstRow="1" bandRow="1">
                <a:tableStyleId>{729D6073-5DEC-478E-BFBB-120F47F47B7E}</a:tableStyleId>
              </a:tblPr>
              <a:tblGrid>
                <a:gridCol w="160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47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Description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7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 여부</a:t>
                      </a:r>
                    </a:p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(0=정상, 1=골다공증)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근육량SoftLeanMass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체지방율BodyFat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체지방량FatMassKg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복부지방율WHRatio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복부지방률 (WH Ratio)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초경연령ALL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 여부 (1=예, 0=아니오)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출산횟수ALL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횟수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텍스트 개체 틀 7"/>
          <p:cNvSpPr txBox="1">
            <a:spLocks/>
          </p:cNvSpPr>
          <p:nvPr/>
        </p:nvSpPr>
        <p:spPr>
          <a:xfrm>
            <a:off x="6858000" y="1013289"/>
            <a:ext cx="3352800" cy="36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약물 복용 변수</a:t>
            </a:r>
            <a:endParaRPr lang="en-US" altLang="ko-KR" sz="1800" dirty="0"/>
          </a:p>
        </p:txBody>
      </p:sp>
      <p:graphicFrame>
        <p:nvGraphicFramePr>
          <p:cNvPr id="17" name="표 16"/>
          <p:cNvGraphicFramePr/>
          <p:nvPr>
            <p:extLst>
              <p:ext uri="{D42A27DB-BD31-4B8C-83A1-F6EECF244321}">
                <p14:modId xmlns:p14="http://schemas.microsoft.com/office/powerpoint/2010/main" val="2851986789"/>
              </p:ext>
            </p:extLst>
          </p:nvPr>
        </p:nvGraphicFramePr>
        <p:xfrm>
          <a:off x="6781800" y="1542803"/>
          <a:ext cx="4343400" cy="22370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혈압약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당뇨약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고지혈증약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흡연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current: 1 / </a:t>
                      </a:r>
                      <a:r>
                        <a:rPr lang="en-US" altLang="ko-KR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exsmoke</a:t>
                      </a: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: 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운동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35299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음주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75657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유방암 가족력 이력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20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영상 파생 변수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Mammography</a:t>
            </a:r>
            <a:r>
              <a:rPr lang="ko-KR" altLang="en-US" sz="1600"/>
              <a:t>로부터 계산된 값</a:t>
            </a:r>
          </a:p>
        </p:txBody>
      </p:sp>
      <p:graphicFrame>
        <p:nvGraphicFramePr>
          <p:cNvPr id="17" name="표 16"/>
          <p:cNvGraphicFramePr/>
          <p:nvPr/>
        </p:nvGraphicFramePr>
        <p:xfrm>
          <a:off x="1219200" y="2133600"/>
          <a:ext cx="9601200" cy="2074571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344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Description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ense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g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rading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endParaRPr lang="en-US" altLang="ko-KR"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1~4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단계</a:t>
                      </a:r>
                      <a:endParaRPr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*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43000" y="454049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</a:rPr>
              <a:t>*BIRADS (Breast Imaging Reporting and Data System)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환자 데이터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/>
              <a:t>전체 </a:t>
            </a:r>
            <a:r>
              <a:rPr lang="en-US" altLang="ko-KR" sz="1600"/>
              <a:t>8,768</a:t>
            </a:r>
            <a:r>
              <a:rPr lang="ko-KR" altLang="en-US" sz="1600"/>
              <a:t>명 중 폐경 환자군만 고려</a:t>
            </a:r>
          </a:p>
        </p:txBody>
      </p:sp>
      <p:graphicFrame>
        <p:nvGraphicFramePr>
          <p:cNvPr id="2" name="표 18"/>
          <p:cNvGraphicFramePr/>
          <p:nvPr/>
        </p:nvGraphicFramePr>
        <p:xfrm>
          <a:off x="1251408" y="2819401"/>
          <a:ext cx="3124200" cy="144780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Group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Samples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3,961(100)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(87.7)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(12.3)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222146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맑은 고딕"/>
                <a:ea typeface="맑은 고딕"/>
              </a:rPr>
              <a:t>&lt;</a:t>
            </a:r>
            <a:r>
              <a:rPr lang="ko-KR" altLang="en-US" sz="1800">
                <a:latin typeface="맑은 고딕"/>
                <a:ea typeface="맑은 고딕"/>
              </a:rPr>
              <a:t>폐경 환자군 내 정상</a:t>
            </a:r>
            <a:r>
              <a:rPr lang="en-US" altLang="ko-KR" sz="1800">
                <a:latin typeface="맑은 고딕"/>
                <a:ea typeface="맑은 고딕"/>
              </a:rPr>
              <a:t>/</a:t>
            </a:r>
            <a:r>
              <a:rPr lang="ko-KR" altLang="en-US" sz="1800">
                <a:latin typeface="맑은 고딕"/>
                <a:ea typeface="맑은 고딕"/>
              </a:rPr>
              <a:t>골다공증 비율</a:t>
            </a:r>
            <a:r>
              <a:rPr lang="en-US" altLang="ko-KR" sz="1800">
                <a:latin typeface="맑은 고딕"/>
                <a:ea typeface="맑은 고딕"/>
              </a:rPr>
              <a:t>&gt;</a:t>
            </a:r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20" name="표 19"/>
          <p:cNvGraphicFramePr/>
          <p:nvPr>
            <p:extLst>
              <p:ext uri="{D42A27DB-BD31-4B8C-83A1-F6EECF244321}">
                <p14:modId xmlns:p14="http://schemas.microsoft.com/office/powerpoint/2010/main" val="862446855"/>
              </p:ext>
            </p:extLst>
          </p:nvPr>
        </p:nvGraphicFramePr>
        <p:xfrm>
          <a:off x="1029991" y="2860362"/>
          <a:ext cx="6041684" cy="39014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3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9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Classification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N_Sample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mean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122.54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123.57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29.73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28.68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43397"/>
              </p:ext>
            </p:extLst>
          </p:nvPr>
        </p:nvGraphicFramePr>
        <p:xfrm>
          <a:off x="1029991" y="1855638"/>
          <a:ext cx="10650493" cy="83773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34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0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Age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BMI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BreastDensity(%)AVG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DenseArea(sqcm)AVG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t-stat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-10.18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7.86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-2.09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4.84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2.53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0.037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0.012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AB9BFF4D-47DF-B8E5-82D8-8FA2E663D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82586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Performed t-test</a:t>
            </a: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288256"/>
            <a:ext cx="12192000" cy="54173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/>
              <a:t>3. Detailed progress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spc="-25"/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0" y="3934119"/>
            <a:ext cx="3497580" cy="2914650"/>
          </a:xfrm>
          <a:prstGeom prst="rect">
            <a:avLst/>
          </a:prstGeom>
        </p:spPr>
      </p:pic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4042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981-7356-BF25-952D-93AA4559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552B993-0951-69BB-39FF-E8FA5FE4F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9B9B01C9-8C60-2FD4-E43B-A6193498D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1893339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/>
              <a:t>Python Code &amp; Print Check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Upload Train and Test Dataset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File Analyzed (Date of Treatment)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Check Dataset's Size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Verify that the upload is done properly</a:t>
            </a:r>
            <a:endParaRPr lang="ko-KR" altLang="en-US" sz="1600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EA4A78-D11F-6348-5569-EAD27011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82"/>
          <a:stretch>
            <a:fillRect/>
          </a:stretch>
        </p:blipFill>
        <p:spPr>
          <a:xfrm>
            <a:off x="1066800" y="2892706"/>
            <a:ext cx="3657599" cy="3844246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545DC-B013-D08B-20FB-9273450BC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601279"/>
            <a:ext cx="5486398" cy="1351721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5B3024E-4961-DA41-7C92-DB48845378F3}"/>
              </a:ext>
            </a:extLst>
          </p:cNvPr>
          <p:cNvCxnSpPr>
            <a:cxnSpLocks/>
          </p:cNvCxnSpPr>
          <p:nvPr/>
        </p:nvCxnSpPr>
        <p:spPr>
          <a:xfrm flipH="1">
            <a:off x="8534399" y="2602410"/>
            <a:ext cx="1" cy="9027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0EAE0A-A095-F44C-DE29-7D994293E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757" y="1174488"/>
            <a:ext cx="5486397" cy="130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3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/>
              <a:t>Python Code &amp; Print Check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Check Train and Test Dataset data directly</a:t>
            </a:r>
            <a:endParaRPr lang="ko-KR" altLang="en-US" sz="1200"/>
          </a:p>
        </p:txBody>
      </p:sp>
      <p:grpSp>
        <p:nvGrpSpPr>
          <p:cNvPr id="14" name="그룹 13"/>
          <p:cNvGrpSpPr/>
          <p:nvPr/>
        </p:nvGrpSpPr>
        <p:grpSpPr>
          <a:xfrm>
            <a:off x="1600200" y="1905000"/>
            <a:ext cx="8334347" cy="2260334"/>
            <a:chOff x="962053" y="1755225"/>
            <a:chExt cx="9448800" cy="2562581"/>
          </a:xfrm>
        </p:grpSpPr>
        <p:pic>
          <p:nvPicPr>
            <p:cNvPr id="8" name="그림 7" descr="텍스트, 스크린샷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2"/>
            <a:srcRect r="33400"/>
            <a:stretch>
              <a:fillRect/>
            </a:stretch>
          </p:blipFill>
          <p:spPr>
            <a:xfrm>
              <a:off x="962053" y="1764413"/>
              <a:ext cx="4953000" cy="2553393"/>
            </a:xfrm>
            <a:prstGeom prst="rect">
              <a:avLst/>
            </a:prstGeom>
          </p:spPr>
        </p:pic>
        <p:pic>
          <p:nvPicPr>
            <p:cNvPr id="10" name="그림 9" descr="텍스트, 스크린샷, 폰트, 번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3"/>
            <a:srcRect r="36000"/>
            <a:stretch>
              <a:fillRect/>
            </a:stretch>
          </p:blipFill>
          <p:spPr>
            <a:xfrm>
              <a:off x="6753253" y="1755225"/>
              <a:ext cx="3657600" cy="1285884"/>
            </a:xfrm>
            <a:prstGeom prst="rect">
              <a:avLst/>
            </a:prstGeom>
          </p:spPr>
        </p:pic>
        <p:pic>
          <p:nvPicPr>
            <p:cNvPr id="13" name="그림 12" descr="텍스트, 스크린샷, 폰트, 번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6629400" y="3212213"/>
              <a:ext cx="3781453" cy="1019182"/>
            </a:xfrm>
            <a:prstGeom prst="rect">
              <a:avLst/>
            </a:prstGeom>
          </p:spPr>
        </p:pic>
      </p:grpSp>
      <p:grpSp>
        <p:nvGrpSpPr>
          <p:cNvPr id="23" name="그룹 22"/>
          <p:cNvGrpSpPr/>
          <p:nvPr/>
        </p:nvGrpSpPr>
        <p:grpSpPr>
          <a:xfrm>
            <a:off x="1600199" y="4267200"/>
            <a:ext cx="8334348" cy="2261321"/>
            <a:chOff x="1600199" y="4267200"/>
            <a:chExt cx="8334348" cy="2261321"/>
          </a:xfrm>
        </p:grpSpPr>
        <p:pic>
          <p:nvPicPr>
            <p:cNvPr id="16" name="그림 15" descr="텍스트, 스크린샷, 폰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600199" y="4267200"/>
              <a:ext cx="4368811" cy="2261321"/>
            </a:xfrm>
            <a:prstGeom prst="rect">
              <a:avLst/>
            </a:prstGeom>
          </p:spPr>
        </p:pic>
        <p:pic>
          <p:nvPicPr>
            <p:cNvPr id="20" name="그림 19" descr="텍스트, 스크린샷, 폰트, 번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6684893" y="4267200"/>
              <a:ext cx="3249654" cy="1133600"/>
            </a:xfrm>
            <a:prstGeom prst="rect">
              <a:avLst/>
            </a:prstGeom>
          </p:spPr>
        </p:pic>
        <p:pic>
          <p:nvPicPr>
            <p:cNvPr id="22" name="그림 21" descr="텍스트, 스크린샷, 폰트, 번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6599101" y="5589080"/>
              <a:ext cx="3335445" cy="93944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6"/>
            <a:ext cx="5486400" cy="11546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Hold-out Model Train &amp; Test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All Feature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Train : 3168, Test : 793</a:t>
            </a:r>
            <a:endParaRPr lang="en-US" altLang="ko-KR" sz="20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797296"/>
              </p:ext>
            </p:extLst>
          </p:nvPr>
        </p:nvGraphicFramePr>
        <p:xfrm>
          <a:off x="1066800" y="3124200"/>
          <a:ext cx="2971800" cy="2766060"/>
        </p:xfrm>
        <a:graphic>
          <a:graphicData uri="http://schemas.openxmlformats.org/drawingml/2006/table">
            <a:tbl>
              <a:tblPr firstRow="1" bandRow="1"/>
              <a:tblGrid>
                <a:gridCol w="1155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253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proba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0.354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0.3055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0.542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0.7409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0.5066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0.4614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0.420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2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0.019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252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0.651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53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0.4672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874448" y="1828800"/>
            <a:ext cx="6012751" cy="4267215"/>
          </a:xfrm>
          <a:prstGeom prst="rect">
            <a:avLst/>
          </a:prstGeom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513900"/>
              </p:ext>
            </p:extLst>
          </p:nvPr>
        </p:nvGraphicFramePr>
        <p:xfrm>
          <a:off x="1066800" y="2270760"/>
          <a:ext cx="4343398" cy="548640"/>
        </p:xfrm>
        <a:graphic>
          <a:graphicData uri="http://schemas.openxmlformats.org/drawingml/2006/table">
            <a:tbl>
              <a:tblPr firstRow="1" bandRow="1"/>
              <a:tblGrid>
                <a:gridCol w="874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dirty="0"/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AUC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0.6734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0.2264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0.6907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0.3410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0.7521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6"/>
            <a:ext cx="5486400" cy="813919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/>
              <a:t>Hold-out Model Train &amp; Test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Compare data TP and FN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448819"/>
              </p:ext>
            </p:extLst>
          </p:nvPr>
        </p:nvGraphicFramePr>
        <p:xfrm>
          <a:off x="493611" y="1901191"/>
          <a:ext cx="5526186" cy="2324100"/>
        </p:xfrm>
        <a:graphic>
          <a:graphicData uri="http://schemas.openxmlformats.org/drawingml/2006/table">
            <a:tbl>
              <a:tblPr firstRow="1" bandRow="1"/>
              <a:tblGrid>
                <a:gridCol w="1537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6357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TP_mean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FN_mean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mean_diff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p_value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66.57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57.53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1.56E-08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근육량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30.42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35.34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-4.92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3.99E-08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151.98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158.08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-6.11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1.63E-06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체중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49.54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56.66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-7.12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5.86E-05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음주여부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0.15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-0.32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0.003459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체지방량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15.80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18.33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-2.52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0.049383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0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BMI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21.54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22.73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-1.19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0.100763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7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흡연여부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-0.17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0.114011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텍스트 개체 틀 7"/>
          <p:cNvSpPr>
            <a:spLocks noGrp="1"/>
          </p:cNvSpPr>
          <p:nvPr/>
        </p:nvSpPr>
        <p:spPr>
          <a:xfrm>
            <a:off x="6096000" y="1348256"/>
            <a:ext cx="5486400" cy="356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42950" lvl="1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kumimoji="0" lang="en-US" altLang="ko-KR" sz="16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Compare data TN and FP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448082"/>
              </p:ext>
            </p:extLst>
          </p:nvPr>
        </p:nvGraphicFramePr>
        <p:xfrm>
          <a:off x="6172200" y="1901190"/>
          <a:ext cx="5469568" cy="3101340"/>
        </p:xfrm>
        <a:graphic>
          <a:graphicData uri="http://schemas.openxmlformats.org/drawingml/2006/table">
            <a:tbl>
              <a:tblPr firstRow="1" bandRow="1"/>
              <a:tblGrid>
                <a:gridCol w="167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9217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kumimoji="0" lang="EN-US" sz="11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kumimoji="0" lang="EN-US" sz="1100" b="1" i="0" u="none" strike="noStrike" kern="0" cap="none" normalizeH="0" baseline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TN_mean</a:t>
                      </a:r>
                      <a:endParaRPr kumimoji="0" lang="EN-US" sz="1100" b="1" i="0" u="none" strike="noStrike" kern="0" cap="none" normalizeH="0" baseline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kumimoji="0" lang="EN-US" sz="11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FP_mean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kumimoji="0" lang="EN-US" sz="11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mean_diff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kumimoji="0" lang="EN-US" sz="11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p_value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체중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60.04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51.18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8.86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1.78E-65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근육량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36.41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31.77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1.3E-46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158.74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153.21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5.52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1.13E-41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체지방량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20.51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16.22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5.45E-26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BMI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23.88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21.87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6.27E-18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Age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58.16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63.03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-4.87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4.69E-17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허리둘레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78.68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74.09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4.59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4.29E-12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 Breast Area(cm</a:t>
                      </a:r>
                      <a:r>
                        <a:rPr lang="en-US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126.56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110.89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15.67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3.94E-08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체지방율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33.68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31.40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8.09E-06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복부내장지방량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1.58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0.49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1.69E-05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3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 Dense Area(cm</a:t>
                      </a:r>
                      <a:r>
                        <a:rPr lang="en-US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30.24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27.10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2.88E-05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16B6-56FE-57CC-9990-57CEABF3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4C0C91-4EB3-CF1A-3AE5-C1040470EE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57F6D1D3-D9F5-2F71-7771-A15E44DDF3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6"/>
            <a:ext cx="7467600" cy="115467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Hold-out Model Train &amp; Test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Feature:</a:t>
            </a:r>
            <a:r>
              <a:rPr lang="ko-KR" altLang="en-US" sz="1600" dirty="0"/>
              <a:t> </a:t>
            </a:r>
            <a:r>
              <a:rPr lang="en-US" altLang="ko-KR" sz="1600" dirty="0"/>
              <a:t>[Age, BMI, </a:t>
            </a:r>
            <a:r>
              <a:rPr lang="ko-KR" altLang="en-US" sz="1600" dirty="0"/>
              <a:t>체중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근육량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체지방량</a:t>
            </a:r>
            <a:r>
              <a:rPr lang="en-US" altLang="ko-KR" sz="1600" dirty="0"/>
              <a:t>, </a:t>
            </a:r>
            <a:r>
              <a:rPr lang="ko-KR" altLang="en-US" sz="1600" dirty="0"/>
              <a:t>키</a:t>
            </a:r>
            <a:r>
              <a:rPr lang="en-US" altLang="ko-KR" sz="1600" dirty="0"/>
              <a:t>]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Train : 3168, Test : 793</a:t>
            </a:r>
            <a:endParaRPr lang="en-US" altLang="ko-KR" sz="2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1B63DF4-CD1C-978B-F7A0-45A4F4E24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36768"/>
              </p:ext>
            </p:extLst>
          </p:nvPr>
        </p:nvGraphicFramePr>
        <p:xfrm>
          <a:off x="1066800" y="3124200"/>
          <a:ext cx="2971800" cy="2842260"/>
        </p:xfrm>
        <a:graphic>
          <a:graphicData uri="http://schemas.openxmlformats.org/drawingml/2006/table">
            <a:tbl>
              <a:tblPr firstRow="1" bandRow="1"/>
              <a:tblGrid>
                <a:gridCol w="1155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314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proba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0.4781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0.3720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0.5961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0.6675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0.6361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0.3539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0.5161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0.0425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0.6847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0.4383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7931950-FA90-BABB-B952-C95F2B4F9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098584"/>
              </p:ext>
            </p:extLst>
          </p:nvPr>
        </p:nvGraphicFramePr>
        <p:xfrm>
          <a:off x="1066800" y="2270760"/>
          <a:ext cx="4343398" cy="548640"/>
        </p:xfrm>
        <a:graphic>
          <a:graphicData uri="http://schemas.openxmlformats.org/drawingml/2006/table">
            <a:tbl>
              <a:tblPr firstRow="1" bandRow="1"/>
              <a:tblGrid>
                <a:gridCol w="874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/>
                        <a:t>AUC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0.6646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0.2265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0.7216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0.3448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0.7533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155C80-6AE7-8D05-C7EB-56894A2DB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045731"/>
            <a:ext cx="6012000" cy="426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5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6"/>
            <a:ext cx="5486400" cy="813919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/>
              <a:t>5-fold CV Model Train &amp; Test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Total Data : 3961 </a:t>
            </a:r>
            <a:r>
              <a:rPr lang="ko-KR" altLang="en-US" sz="1600"/>
              <a:t>→ </a:t>
            </a:r>
            <a:r>
              <a:rPr lang="en-US" altLang="ko-KR" sz="1600"/>
              <a:t>Stratified</a:t>
            </a:r>
            <a:r>
              <a:rPr lang="ko-KR" altLang="en-US" sz="1600"/>
              <a:t> </a:t>
            </a:r>
            <a:r>
              <a:rPr lang="en-US" altLang="ko-KR" sz="1600"/>
              <a:t>5-fold CV</a:t>
            </a:r>
            <a:endParaRPr lang="ko-KR" altLang="en-US" sz="160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23256"/>
              </p:ext>
            </p:extLst>
          </p:nvPr>
        </p:nvGraphicFramePr>
        <p:xfrm>
          <a:off x="914400" y="1752600"/>
          <a:ext cx="5714999" cy="2026920"/>
        </p:xfrm>
        <a:graphic>
          <a:graphicData uri="http://schemas.openxmlformats.org/drawingml/2006/table">
            <a:tbl>
              <a:tblPr firstRow="1" bandRow="1"/>
              <a:tblGrid>
                <a:gridCol w="687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891">
                  <a:extLst>
                    <a:ext uri="{9D8B030D-6E8A-4147-A177-3AD203B41FA5}">
                      <a16:colId xmlns:a16="http://schemas.microsoft.com/office/drawing/2014/main" val="1837681278"/>
                    </a:ext>
                  </a:extLst>
                </a:gridCol>
                <a:gridCol w="837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7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Valid set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A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P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recision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R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ecall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AUC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0.6646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0.2181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0.6633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0.3283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0.7343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0.6869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0.2234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0.6289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0.3297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0.7317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0.6881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0.2396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0.7113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0.3584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0.7832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0.6755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0.2122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0.6082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0.3147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0.7135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49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0.6755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0.2297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0.7010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0.3461</a:t>
                      </a:r>
                    </a:p>
                  </a:txBody>
                  <a:tcPr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0.7455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49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 dirty="0">
                          <a:latin typeface="맑은 고딕"/>
                          <a:ea typeface="맑은 고딕"/>
                        </a:rPr>
                        <a:t>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0.6781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0.2246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0.6625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0.3354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0.7417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49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 dirty="0">
                          <a:latin typeface="맑은 고딕"/>
                          <a:ea typeface="맑은 고딕"/>
                        </a:rPr>
                        <a:t>std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0.0097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0.0106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0.0446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>
                          <a:latin typeface="맑은 고딕"/>
                          <a:ea typeface="맑은 고딕"/>
                        </a:rPr>
                        <a:t>0.0170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1" dirty="0">
                          <a:latin typeface="맑은 고딕"/>
                          <a:ea typeface="맑은 고딕"/>
                        </a:rPr>
                        <a:t>0.0259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278130" y="4261484"/>
          <a:ext cx="2160268" cy="2367916"/>
        </p:xfrm>
        <a:graphic>
          <a:graphicData uri="http://schemas.openxmlformats.org/drawingml/2006/table">
            <a:tbl>
              <a:tblPr firstRow="1" bandRow="1"/>
              <a:tblGrid>
                <a:gridCol w="42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0.1472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0.0441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0.1825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0.5635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0.7058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0.9010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0.5410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0.1783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0.2494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0.5309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607018" y="4261486"/>
          <a:ext cx="2160268" cy="2367914"/>
        </p:xfrm>
        <a:graphic>
          <a:graphicData uri="http://schemas.openxmlformats.org/drawingml/2006/table">
            <a:tbl>
              <a:tblPr firstRow="1" bandRow="1"/>
              <a:tblGrid>
                <a:gridCol w="42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0.8011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0.6472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0.0906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0.1347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0.5747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0.4517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0.4294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0.3262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0.3212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0.0936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935907" y="4261486"/>
          <a:ext cx="2160267" cy="2367914"/>
        </p:xfrm>
        <a:graphic>
          <a:graphicData uri="http://schemas.openxmlformats.org/drawingml/2006/table">
            <a:tbl>
              <a:tblPr firstRow="1" bandRow="1"/>
              <a:tblGrid>
                <a:gridCol w="424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0.1501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0.6466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0.2858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0.3252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0.5590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0.1651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0.1895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0.1620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0.6504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0.6347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264795" y="4261486"/>
          <a:ext cx="2160268" cy="2367914"/>
        </p:xfrm>
        <a:graphic>
          <a:graphicData uri="http://schemas.openxmlformats.org/drawingml/2006/table">
            <a:tbl>
              <a:tblPr firstRow="1" bandRow="1"/>
              <a:tblGrid>
                <a:gridCol w="42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0.3222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0.6545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0.4056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0.3052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0.1458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0.5858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0.6696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0.3705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0.5540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0.0809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9593684" y="4261486"/>
          <a:ext cx="2160268" cy="2367914"/>
        </p:xfrm>
        <a:graphic>
          <a:graphicData uri="http://schemas.openxmlformats.org/drawingml/2006/table">
            <a:tbl>
              <a:tblPr firstRow="1" bandRow="1"/>
              <a:tblGrid>
                <a:gridCol w="443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y_true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y_pred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y_proba</a:t>
                      </a:r>
                    </a:p>
                  </a:txBody>
                  <a:tcPr>
                    <a:lnL w="762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0.5039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0.1340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0.4932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0.5577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0.4264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0.2580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0.7154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0.6654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0.7475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6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0.2019</a:t>
                      </a:r>
                    </a:p>
                  </a:txBody>
                  <a:tcPr anchor="b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1243</Words>
  <Application>Microsoft Office PowerPoint</Application>
  <PresentationFormat>와이드스크린</PresentationFormat>
  <Paragraphs>710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Malgun Gothic</vt:lpstr>
      <vt:lpstr>Malgun Gothic</vt:lpstr>
      <vt:lpstr>Arial</vt:lpstr>
      <vt:lpstr>Office Theme</vt:lpstr>
      <vt:lpstr>Tabular Data Analysis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전장훈</cp:lastModifiedBy>
  <cp:revision>623</cp:revision>
  <dcterms:created xsi:type="dcterms:W3CDTF">2023-07-18T06:54:54Z</dcterms:created>
  <dcterms:modified xsi:type="dcterms:W3CDTF">2025-12-18T00:56:15Z</dcterms:modified>
  <cp:version/>
</cp:coreProperties>
</file>