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524" r:id="rId3"/>
    <p:sldId id="589" r:id="rId4"/>
    <p:sldId id="596" r:id="rId5"/>
    <p:sldId id="594" r:id="rId6"/>
    <p:sldId id="590" r:id="rId7"/>
    <p:sldId id="604" r:id="rId8"/>
    <p:sldId id="597" r:id="rId9"/>
    <p:sldId id="605" r:id="rId10"/>
    <p:sldId id="599" r:id="rId11"/>
    <p:sldId id="600" r:id="rId12"/>
    <p:sldId id="591" r:id="rId13"/>
    <p:sldId id="606" r:id="rId14"/>
    <p:sldId id="601" r:id="rId15"/>
    <p:sldId id="602" r:id="rId16"/>
    <p:sldId id="603" r:id="rId17"/>
    <p:sldId id="592" r:id="rId18"/>
    <p:sldId id="595" r:id="rId19"/>
    <p:sldId id="479" r:id="rId20"/>
  </p:sldIdLst>
  <p:sldSz cx="12192000" cy="6858000"/>
  <p:notesSz cx="6858000" cy="9144000"/>
  <p:embeddedFontLst>
    <p:embeddedFont>
      <p:font typeface="KoPub돋움체 Bold" panose="00000800000000000000" pitchFamily="2" charset="-127"/>
      <p:bold r:id="rId22"/>
    </p:embeddedFont>
    <p:embeddedFont>
      <p:font typeface="KoPub돋움체 Medium" panose="00000600000000000000" pitchFamily="2" charset="-127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89"/>
            <p14:sldId id="596"/>
            <p14:sldId id="594"/>
            <p14:sldId id="590"/>
            <p14:sldId id="604"/>
            <p14:sldId id="597"/>
            <p14:sldId id="605"/>
            <p14:sldId id="599"/>
            <p14:sldId id="600"/>
            <p14:sldId id="591"/>
            <p14:sldId id="606"/>
            <p14:sldId id="601"/>
            <p14:sldId id="602"/>
            <p14:sldId id="603"/>
            <p14:sldId id="592"/>
            <p14:sldId id="595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242" autoAdjust="0"/>
  </p:normalViewPr>
  <p:slideViewPr>
    <p:cSldViewPr snapToGrid="0">
      <p:cViewPr varScale="1">
        <p:scale>
          <a:sx n="93" d="100"/>
          <a:sy n="93" d="100"/>
        </p:scale>
        <p:origin x="1212" y="84"/>
      </p:cViewPr>
      <p:guideLst/>
    </p:cSldViewPr>
  </p:slideViewPr>
  <p:notesTextViewPr>
    <p:cViewPr>
      <p:scale>
        <a:sx n="3" d="2"/>
        <a:sy n="3" d="2"/>
      </p:scale>
      <p:origin x="0" y="-168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2026-06-05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안녕하십니까.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논문리뷰 세미나 발표 시작하겠습니다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의료기기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산업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학과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석박통합과정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전장훈입니다.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 소개해드릴 논문, 한 줄로 요약하면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이겁니다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'우리가 늘 듣는 그 말, 살 빼세요, BMI 낮추세요. 그런데 그게 사실 사망 위험이랑 별로 상관이 없었다. 오히려 근육 안에 지방이 얼마나 끼어 있냐가 훨씬 강력한 신호였다.' 이게 핵심입니다.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 연구가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현재의 저의 연구와 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어떻게 이어지는지는 마지막 슬라이드에서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 연구는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Radiology라는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저널에 실렸습니다. 의료 영상 분야에서 가장 권위 있는 학술지 중 하나입니다.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제1저자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Nachit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박사는 벨기에 연구자로, 근육과 지방 대사가 건강에 미치는 영향을 오랫동안 연구해 온 분입니다. 공동저자 중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Summers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박사는 미국 국립보건원 NIH 소속으로 의료 AI 분야 세계적 권위자고요,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Pickhardt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박사는 이번 연구에서 실제로 환자 데이터를 수집한 위스콘신대 교수입니다.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8570-FEF1-302D-AB87-7FC83B7A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74438C-0825-291D-2398-F72E7811E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CEDDB9-1904-6186-C08A-9A703E653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먼저 배경부터 짚고 가겠습니다.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BMI, 다들 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번쯤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들어보셨죠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체중을 키의 제곱으로 나눈 값인데요, 병원에서 비만 여부를 판단할 때 쓰는 표준 지표입니다. 높으면 심장병이나 당뇨 위험이 크다고 알려져 있고요.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그런데 문제가 있습니다. 같은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가진 두 사람이 전혀 다른 건강 상태를 보이는 경우가 꽤 많거든요.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키랑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몸무게가 똑같아도, 한 명은 근육이 많고 다른 한 명은 지방이 많을 수 있잖아요.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이걸 전혀 구분하지 못합니다.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최근 연구들이 주목하는 건 지방이 '어디에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쌓이느냐'입니다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내장 사이 지방, 간 속 지방, 그리고 오늘 논문의 핵심인 근육 속에 쌓이는 지방. 이 세 가지는 비만하지 않은 사람에게도 생길 수 있고, 그 자체로 사망 위험을 높인다는 겁니다.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71752-99A2-98B4-4632-977A6696E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362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2BADB-0785-EACB-C08C-E7108824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674FDD-9177-891A-F92B-F26D13FB2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E3EE69-3A12-256C-7C95-BF8284C2D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 논문에 비슷해 보이는 개념이 세 가지 나옵니다. 헷갈리실 수 있으니까 간단히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정리해드릴게요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첫 번째, 근감소증(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Sarcopenia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)입니다. 나이 들면서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줄고 근력도 약해지는 상태를 말합니다. 악력 테스트 같은 기능 검사가 있어야 진단할 수 있는데요, 이번 논문은 그 검사를 하지 않았기 때문에 이 용어는 아예 쓰지 않았습니다.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 번째,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감소(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Myopenia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)입니다. 근력은 안 보고 근육의 양, 면적만 봤을 때 기준치보다 작은 경우입니다. 근육이 얼마나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있냐의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문제입니다.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세 번째가 오늘 논문의 핵심인 근육지방증(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Myosteatosis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)입니다. 근육이 적은 게 아니라, 근육 안에 지방이 끼어 있어서 근육의 '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질'이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나쁜 상태입니다.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마블링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많이 들어간 고기를 생각하시면 딱 맞습니다. 겉으로 보면 고기인데 잘라보면 지방이 가득한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것처럼요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양의 문제와 질의 문제, 이 둘은 같이 있을 수도 있고 따로 있을 수도 있습니다. 이 논문이 집중한 건 질, 즉 세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번째입니다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74445-1E3E-6326-467B-338796C0B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678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EF6E-5BD5-DE8D-241E-D8A98E81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DE35DC-9677-386A-BFD1-11A1288B9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2DDD7A-6FB9-6763-209B-D021FD7AB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그럼 이 연구가 왜 필요했을까요?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기존 연구들의 첫 번째 한계는 연구 대상이었습니다. 근육지방증이 위험하다는 연구들은 거의 다 암 환자나 만성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질환자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또는 65세 이상 고령자를 대상으로 했습니다. '아무 증상 없이 멀쩡하게 사는 일반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성인'에서도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같은 결과가 나오는지는 확인된 적이 없었습니다.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 번째 한계는 변수를 섞어서 봤다는 겁니다. 내장지방도 있고, 간지방도 있고,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적고, 근육지방증도 있으면, 도대체 어느 것 때문에 위험한 건지 알 수가 없잖아요. 이것들을 동시에 통제하면서 각각의 독립적인 위험도를 분리한 연구가 없었습니다.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 연구는 9천 명이 넘는 건강검진 수검자를 대상으로,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CT에서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체성분을 자동 분석하고, 이후 약 9년간 누가 사망했는지 추적했습니다.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A94620-BBEC-2A1C-9D96-E32D51776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131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69A7-2B62-E1C0-BB88-C7A0C2A4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59C3C1-F392-89D2-06D0-DB275D28B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3E1F49-3060-F41D-74BE-C89C44484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연구 대상을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D04760-26F2-B4CF-4994-70BF24E8E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00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72A1-1E0D-ED51-0630-A49676C8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7C1C83-8E9C-2DA4-98C2-E8FB7EDEA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167009-F00D-833E-6278-3AB51BE2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미국 위스콘신대학교 병원에서 대장암 검진 목적으로 복부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찍은 50~70세 건강한 외래 환자들입니다. 증상이 없는 일반인이라는 게 포인트입니다. 2004년부터 2016년까지 모였고요.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처음 9,223명에서 데이터 부족하거나 영상 품질에 문제 있는 경우 제외하고 최종 8,982명이 분석에 들어갔습니다. 이분들을 약 9년 추적했고, 그 사이 507명이 사망했습니다.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 촬영 방식 한 가지만 말씀드리면, 이 연구는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저선량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썼습니다. 방사선 피폭을 줄이면서 필요한 정보를 뽑아내는 방식입니다. 그리고 환자 체형에 따라 방사선량을 자동으로 조절하는 기술이 쓰였는데, 이건 마지막 슬라이드에서 다시 나옵니다.</a:t>
            </a:r>
          </a:p>
          <a:p>
            <a:pPr fontAlgn="base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848DF-65ED-0205-3278-CE804630E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315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2427-9A81-B8C2-256B-08B96B2A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0C9A6-4090-1A72-748F-25F129B8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2E07D2-5F59-7193-D4D8-B3B423749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어떻게 체성분을 분석했는지 살펴보겠습니다.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복부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찍으면 수십 장에서 수백 장의 단면 사진이 나옵니다. 이 중에서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측정하기 가장 좋은 위치가 허리뼈 세 번째 마디, L3 레벨입니다. 이 한 장만 봐도 전신 근육 상태를 꽤 정확하게 추정할 수 있다고 알려져 있거든요.</a:t>
            </a:r>
          </a:p>
          <a:p>
            <a:pPr fontAlgn="base"/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수백 장의 단면 중 이 L3 위치를 자동으로 찾아냅니다. 사람이 일일이 찾는 것보다 훨씬 빠르고 일관적으로 처리할 수 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 한 장만 보는 거라 개인차가 있을 수 있습니다. 그래서 절대 면적 대신 키 제곱으로 나눠서 체형 차이를 보정한 값을 씁니다.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AD355-8931-74D9-485A-52D64662E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343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C95F-5076-73A5-21B0-7219A9CA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DEE20D-CF2A-F540-752A-EE57E15B4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6B0BC8-8C90-05D1-7626-B50D18D9E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L3 단면이 선택되면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그 사진에서 조직을 자동으로 구분합니다.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 사진에서는 조직 종류마다 밝기가 다르게 나타납니다. 뼈는 매우 밝고, 지방은 어둡고, 근육은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중간쯤입니다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이 밝기 차이를 이용해서 근육, 지방, 간을 자동으로 나누고 면적과 밀도를 측정합니다.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슬라이드 그림을 한번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보시면요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두 사람의 CT 사진이 있습니다. 왼쪽은 근육이 붉게, 정상 밀도로 표시돼 있고요, 오른쪽은 근육 부분에 노란색이 섞여 있습니다. 저게 지방이 낀 겁니다.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근육지방증이죠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그런데 재미있는 게, 이 색깔 표시 없이 원래 흑백 CT 사진만 보면 두 사람 차이를 눈으로 거의 구분이 안 됩니다. 그래서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필요한 겁니다.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B03FC5-4914-7AE1-C2E3-BDCF7C033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395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8905-848C-F073-2ECD-71207CC6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3A3BD-F400-FEB2-8224-F65EBD866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5810CF-A7C4-C5C4-E484-B932F8DC7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체성분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지표를 어떤 기준으로 '이상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있음'과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'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정상'으로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나눴는지 보겠습니다.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근육지방증의 경우, 전체 코호트에서 근육 밀도가 가장 낮은 하위 25%를 근육지방증이 있다고 봤습니다. 간지방증은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CT에서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측정한 간 밀도가 특정 수치 이하이면 해당되고요. 비만은 BMI 30 이상,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감소는 앞서 말한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기준값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미만입니다.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여기서 방법론적으로 한 가지 짚어야 할 게 있습니다. 근육지방증을 하위 25%로 정의하면, 어떤 집단을 보더라도 무조건 25%가 근육지방증으로 분류됩니다. 건강한 사람들만 모아도 그 중 하위 25%는 근육지방증이 되는 거거든요. 다른 연구들은 사망률 같은 임상 결과를 기반으로 기준을 정하는데, 이 연구는 분포로 정했습니다. 그래서 이 연구의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기준값이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다른 논문보다 낮게 나오고, 연구끼리 직접 비교하기가 어렵습니다. 저자들도 이걸 한계로 인정했고요.</a:t>
            </a:r>
          </a:p>
          <a:p>
            <a:pPr fontAlgn="base"/>
            <a:r>
              <a:rPr lang="ko-KR" altLang="ko-KR" sz="1200" b="1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▶ 청중 질문 예상 — '그러면 항상 25%가 병자가 되는 건가요?'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이렇게 답하세요: '맞습니다, 그게 이 기준의 한계입니다. 그래서 이건 어떤 사람이 상대적으로 근육 질이 나쁜지를 보는 탐색적 기준입니다. 실제 임상에서 쓰려면 어느 수준부터 건강에 영향을 주는지 별도로 검증이 필요합니다. 이 연구는 그 필요성을 처음 대규모로 보여준 것에 의미가 있습니다.’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PDFF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'proton density fat fraction'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약자로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양성자 밀도 지방 분획을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자기공명영상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(MRI)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조직 내 지방의 양을 측정하는 데 사용되는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69A84-5D69-2E09-939C-9DF2783CC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1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91D4-E925-042E-4FE3-F1A3BEFF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9DB000-9962-6C70-F328-9A875B9A3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65347C-CA5D-B059-A7C4-B4BC52E6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 더 믿을 수 있도록 이 연구는 세 가지 통계 방법을 함께 썼습니다. 간단히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설명해드릴게요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첫 번째,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Cox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회귀 분석입니다. '근육지방증이 있는 사람은 없는 사람보다 같은 기간에 사망할 위험이 몇 배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높은가'를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계산하는 방법입니다. 나이, 흡연, 당뇨 같은 다른 위험 요인들도 동시에 고려해서 근육지방증 단독의 영향을 뽑아냅니다.</a:t>
            </a:r>
          </a:p>
          <a:p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 번째,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다상태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마르코프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모델입니다. 좀 더 현실적인 방법인데요.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MACE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'Major Adverse Cardiovascular Event'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약자로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주요 심혈관 부작용을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연구에서는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MACE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다음과 같은 사건들로 정의했습니다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뇌혈관 질환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심근경색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심부전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대동맥류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이러한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MACE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환자의 사망 위험과 관련이 있는 것으로 나타났습니다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사람이 사망에 이르는 과정에는 중간 단계가 있잖아요. 심장마비를 겪고, 또 뇌졸중을 겪고, 그 다음 사망하는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식으로요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이 모델은 그 경로를 단계별로 따라가면서 각 단계에서 근육지방증이 얼마나 위험을 높이는지 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세 번째, 랜덤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포레스트입니다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머신러닝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방법인데요. 수많은 의사결정 나무를 동시에 만들어서 어떤 변수가 사망 예측에 가장 중요한지를 데이터에서 스스로 학습합니다. 앞의 두 방법이 관계가 단순하다고 가정하는 반면, 이 방법은 복잡한 비선형 패턴도 잡아낼 수 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세 방법 모두에서 같은 결론이 나오면 그만큼 결과를 신뢰할 수 있겠죠.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06E3D-4E90-7C38-4D86-D9F2168C1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786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3477-E514-EA30-0034-46104231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3C0CE4-E92A-9E33-8562-B16619CD6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E36454-D000-9797-8820-F5A7408FD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이제 결과를 보겠습니다.</a:t>
            </a: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2C4E5-C196-4DC5-1DE2-0B1E154A8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04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516F-CA44-5C95-557D-EDFE0D27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FDEF7A-5216-7E1A-1023-1881D6325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529581-001D-E995-52AA-703BDAB9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8,982명 중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체성분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이상이 있는 비율을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보면요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간지방증이 49%로 거의 절반이었고, 비만 33%, 근육지방증 25%,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감소 18% 순입니다.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약 9년 추적했을 때 507명, 전체의 약 6%가 사망했습니다. 사망자 중 86%에서 네 가지 이상 중 적어도 하나가 있었고요.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슬라이드의 원 그림을 보시면, 사망한 507명이 어느 그룹과 겹치는지 보여줍니다. 근육지방증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원이랑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겹치는 부분이 가장 두드러지죠. 특히 다른 이상은 없고 근육지방증만 있는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사람들에서도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273명의 사망이 발생했습니다. 비만만 있거나 간지방증만 있는 경우보다 훨씬 많습니다.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10년 안에 사망할 확률을 비교하면, 근육지방증 있는 사람이 15.5%로 가장 높고,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감소 9.7%, 간지방증 8.5%, 비만 7.6% 순입니다.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CF0DE-218B-F166-D995-DB23D7412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786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08A80-249F-C572-AAC2-2709A56C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F2E661-D906-946A-D445-A9BAA1072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7F2AC-3370-CB5A-FC45-30C7417BC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슬라이드 그래프는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Kaplan-Meier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생존곡선입니다. 세로축이 생존 확률, 가로축이 시간입니다. 선이 빠르게 내려갈수록 그 그룹에서 사망이 더 많이 발생한다는 뜻입니다.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네 개 그래프 중 오른쪽 아래, 근육지방증 그래프를 보시면 두 선의 간격이 가장 크게 벌어져 있습니다. 근육지방증이 있는 사람 선이 훨씬 빠르게 내려가죠.</a:t>
            </a:r>
          </a:p>
          <a:p>
            <a:pPr fontAlgn="base"/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수치로는요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근육지방증이 있으면 없는 사람보다 같은 기간에 사망할 위험이 4.33배 높습니다. 비만은 1.27배, 간지방증은 1.86배,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감소는 1.75배고요. 근육지방증이 압도적으로 높고, 통계적으로도 다른 지표들과 유의미하게 차이가 납니다.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1DAE79-D240-7376-F725-30B02198A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325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E146-6691-C722-D43B-D59CA5D1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08CCDD-FB98-38ED-9A6E-8C79612C3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DD978-6151-9A7F-09AA-336A83186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앞의 결과는 각 지표를 하나씩만 봤을 때입니다. 이번엔 나이, 성별, 흡연 여부, 당뇨, 과거 심혈관 질환 이력, 비만, 내장지방을 다 동시에 고려한 뒤에도 근육지방증이 여전히 독립적으로 위험한지 확인했습니다.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결과는 명확했습니다. 이걸 다 통제하고 나서도 근육지방증이 있으면 사망 위험이 1.89배 높았습니다.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 표에서 가장 눈에 띄는 게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뭔지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아시겠어요?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BMI랑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내장지방이 유의미하지 않다는 겁니다. 흔히 건강 위험의 대표 지표로 쓰이는 이 둘이, 근육지방증과 같이 테이블에 올라오니까 예측력을 잃어버립니다.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반면 근육지방증의 위험도는 흡연 1.91배, 당뇨 1.56배와 거의 같은 수준입니다. 담배 피우는 것, 당뇨 있는 것과 비슷한 수준의 위험 신호라는 건데요. 그런데 지금 임상에서 근육지방증은 거의 주목을 못 받고 있습니다.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1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▶ 핵심 메시지 강조 — 이 슬라이드에서 잠깐 멈추세요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청중에게 이렇게 직접 말하세요: '잠깐 이 표를 한번 더 보시겠어요. 병원 가면 늘 듣는 말이 있잖아요. 살 빼세요, 체중 줄이세요. 근데 이 연구에서 체중이나 내장지방은 다른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요인들이랑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같이 보면 사망 예측에 유의미하지 않았습니다. 오히려 근육 속에 지방이 얼마나 쌓여 있는지가 훨씬 강력한 신호였고요. 이게 이 연구가 전하는 핵심 메시지입니다.'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예상 질문: '그러면 내장지방은 위험하지 않다는 건가요?' → '위험합니다. 하지만 내장지방이 많은 사람은 근육지방증도 같이 있는 경향이 있거든요. 둘을 동시에 넣으면 근육지방증이 내장지방의 효과를 흡수해버리는 겁니다. 각각 따로 보면 둘 다 위험하지만, 함께 놓으면 근육지방증이 더 핵심적인 지표라는 것이죠.'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E5C2D-1B30-A9BC-F056-2882B8A57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842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D979-C280-EBD4-8472-4D02C824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93C1A5-50D6-CD39-CA32-9191F1689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382F01-AA16-64E1-6AE0-68335F56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 번째, 세 번째 통계 방법에서도 같은 결론이 나왔는지 확인해보겠습니다.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심혈관 사건을 경유하는 경로를 분석한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다상태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근육지방증은 심혈관 사건이 한 번 발생한 이후에도, 두 번 발생한 이후에도 사망 위험을 유의미하게 높였습니다. 첫 CT 촬영 이후 평균 6~9년이 지난 시점에도 여전히 영향을 미치고 있는 겁니다.</a:t>
            </a:r>
          </a:p>
          <a:p>
            <a:pPr fontAlgn="base"/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머신러닝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랜덤 포레스트 모델에서는 예측 정확도가 0.79로 나왔습니다. 0.5면 동전 던지기 수준이고 1이면 완벽한 예측인데, 0.79면 꽤 우수한 수준입니다. 어떤 변수가 가장 중요했는지를 보면, 역시 근육 밀도, 즉 근육지방증 지표가 1위였고요.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흥미로운 점이 하나 있는데요. 앞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Cox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분석에서는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유의미하지 않았는데, 이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머신러닝에서는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중요도 2위로 올라왔습니다. 이건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사망의 관계가 단순 비례 관계가 아닐 수 있다는 신호입니다. 예를 들어 너무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저체중이어도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위험이 올라가는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U자형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관계일 수 있거든요. 하지만 두 방법 모두에서 근육지방증이 1위라는 건 변함이 없습니다.</a:t>
            </a:r>
          </a:p>
          <a:p>
            <a:pPr fontAlgn="base"/>
            <a:r>
              <a:rPr lang="ko-KR" altLang="ko-KR" sz="1200" b="1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▶ 청중 질문 예상 — '두 분석에서 BMI 결과가 왜 </a:t>
            </a:r>
            <a:r>
              <a:rPr lang="ko-KR" altLang="ko-KR" sz="1200" b="1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다른가요</a:t>
            </a:r>
            <a:r>
              <a:rPr lang="ko-KR" altLang="ko-KR" sz="1200" b="1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?'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이렇게 설명하세요: '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Cox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분석은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높을수록 위험도 높아진다는 단순 비례 관계를 가정하고 계산합니다. 근데 실제로는 너무 낮아도 위험하고 너무 높아도 위험한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U자형일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수 있거든요.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머신러닝은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이런 복잡한 패턴도 스스로 찾아냅니다. 그래서 결과가 달리 나온 겁니다. 중요한 건, 두 방법 모두 근육지방증이 가장 강력한 예측인자라는 결론은 동일하다는 점입니다.'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469A3-E1BA-5AEA-EAC6-807516D17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22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4704-A9DC-7A81-3581-DF6ECD94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07401-50F0-47EC-CDD7-56769988D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1D043-5066-E962-3D5F-A80FE8836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저자들이 스스로 밝힌 한계들을 짚어보겠습니다.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첫째, 간지방증 기준이 꽤 낮습니다. 지방이 5%만 있어도 간지방증으로 분류했는데, 이 정도 수준은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정확하게 측정하기가 어렵습니다. 살짝 지방이 있는 사람이 과도하게 포함됐을 가능성이 있습니다.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둘째, 운동량이랑 식습관 데이터가 없습니다. 근육지방증이 위험하다는 결론이 나왔는데, 그게 라이프스타일 때문인지 아닌지를 분리할 수가 없습니다.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셋째, 근력을 측정하지 않았습니다. 진정한 의미의 근감소증은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근육량과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근력을 같이 봐야 하는데, 이 연구는 영상만으로 판단했고요.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제가 추가로 짚고 싶은 건, 이 연구가 미국 단일 병원 단일 CT 장비에서 나온 데이터라는 점입니다. CT 기기가 달라지면 측정값이 달라질 수 있습니다. 다른 나라, 다른 인종, 다른 장비에서도 같은 결과가 나올지는 추가 검증이 필요합니다. 저희 연구처럼 두 기관 데이터를 함께 쓰는 이유가 바로 이 외적 타당도 문제를 다루기 위해서이기도 합니다.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825F20-7E46-27B0-6E02-BB1D35631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214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C0BD-400E-202E-C97B-377EF45A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AB8147-1D74-58FB-0B6D-CFA53F6D5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F61339-20F4-99B1-D396-A4F2C2605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마지막으로, 이 논문이 저희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연구랑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어떻게 이어지는지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fontAlgn="base"/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Nachit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논문은 CT 사진의 픽셀, 즉 이미지 자체를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AI로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분석해서 근육지방증을 분류했습니다. 이미지가 있어야 분석이 가능한 방식이죠.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그런데 CT 촬영 과정을 조금 더 들여다보면, 기계가 환자에게 방사선을 쏠 때 환자 몸의 두께와 조직 구성에 따라 방사선량을 자동으로 조절합니다. 근육이 많은 부위는 방사선이 좀 더 필요하고, 지방이 많은 부위는 덜 필요하거든요. 이걸 AEC, 자동 노출 제어라고 합니다. 이 연구의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이 방식으로 찍혔고요.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이게 왜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중요하냐면요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 이 방사선량 조절 신호, 즉 AEC 신호에 이미 환자의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체성분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정보가 간접적으로 담겨 있습니다. 근육이 많은 사람과 지방이 많은 사람은 서로 다른 패턴의 신호를 만들어냅니다.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그런데 현재까지 이 AEC 신호 자체를 분석해서 체성분을 예측하려는 연구는 전 세계적으로 존재하지 않습니다. 모든 연구가 이미지를 분석하거든요.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저희 연구는 바로 이 신호를 직접 분석합니다. 이미지 없이 촬영 파라미터만으로 근육지방증을 예측할 수 있다면, CT 사진을 별도로 저장하거나 처리하지 않아도 되고, 훨씬 빠르고 가볍게 대규모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스크리닝이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가능해집니다.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물론 이게 실제로 작동하는지는 저희가 지금 검증하고 있는 가설입니다.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Nachit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논문이 이미지 기반 정답을 제공한다면, 저희 연구는 그것을 이미지 없이 신호만으로 얼마나 근사할 수 있는지 확인하는 첫 시도입니다.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1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▶ 청중 질문 예상 — 'AEC 신호만으로 정말 체성분을 알 수 있나요?'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이렇게 답하세요: '직관적으로 설명하면, CT 기계가 방사선량을 자동 조절할 때 이미 환자 몸 안을 일부 읽고 있는 겁니다. 근육이 많은 부위는 방사선이 더 많이 필요하고, 지방이 많은 부위는 덜 필요하니까요. 이 신호의 패턴을 보면 어느 위치에 어떤 조직이 있는지 간접적으로 추정할 수 있다는 게 저희 가설입니다.'</a:t>
            </a:r>
          </a:p>
          <a:p>
            <a:pPr fontAlgn="base"/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추가 질문: '그럼 이미지를 아예 안 봐도 되는 건가요?' → '이미지와 동일한 정확도를 기대하진 않습니다. 다만 빠른 1차 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스크리닝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 도구로서 충분한 수준이 나오는지를 보는 게 저희 연구의 목표입니다. 그리고 실제로 어느 정도 성능이 나오는지는 저희가 지금 두 기관 데이터로 검증 중입니다.'</a:t>
            </a:r>
          </a:p>
          <a:p>
            <a:pPr fontAlgn="base"/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BC9C97-1920-B4FD-A4DC-96C57D478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130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이상으로 발표를 마치겠습니다. </a:t>
            </a:r>
            <a:r>
              <a:rPr lang="ko-KR" altLang="ko-KR" sz="1200" b="0" i="0" u="none" strike="noStrike" kern="120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감사합니다.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782907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AI-based CT Body Composition Identifies </a:t>
            </a:r>
            <a:r>
              <a:rPr lang="en-US" altLang="ko-KR" sz="25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Myosteatosis</a:t>
            </a:r>
            <a:r>
              <a:rPr lang="en-US" altLang="ko-KR" sz="25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as Key Mortality Predictor in Asymptomatic Adults</a:t>
            </a:r>
            <a:endParaRPr lang="en-US" altLang="ko-KR" sz="25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2026. 06. 05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6394EC-9C37-6315-CB60-D06FA892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905"/>
          <a:stretch>
            <a:fillRect/>
          </a:stretch>
        </p:blipFill>
        <p:spPr>
          <a:xfrm>
            <a:off x="1151258" y="1334588"/>
            <a:ext cx="9889484" cy="4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26EC-8AB1-38BB-0E05-C2CA8565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B879C-BB17-2451-270A-1B9C9F91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Background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8A757-6827-B8EA-A741-9907E823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B8E82E8-A6E4-EECB-E74C-BF9685343EB5}"/>
              </a:ext>
            </a:extLst>
          </p:cNvPr>
          <p:cNvSpPr/>
          <p:nvPr/>
        </p:nvSpPr>
        <p:spPr>
          <a:xfrm>
            <a:off x="508000" y="897468"/>
            <a:ext cx="11176000" cy="679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BMI는 신체 구성을 제대로 반영하지 못한다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722EE72-BC25-14A2-779B-A98B64797695}"/>
              </a:ext>
            </a:extLst>
          </p:cNvPr>
          <p:cNvSpPr/>
          <p:nvPr/>
        </p:nvSpPr>
        <p:spPr>
          <a:xfrm>
            <a:off x="508000" y="1724532"/>
            <a:ext cx="4980609" cy="16994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3CDCF93-D537-6C08-3187-1C58C912E743}"/>
              </a:ext>
            </a:extLst>
          </p:cNvPr>
          <p:cNvSpPr/>
          <p:nvPr/>
        </p:nvSpPr>
        <p:spPr>
          <a:xfrm>
            <a:off x="508000" y="1724532"/>
            <a:ext cx="85035" cy="1699447"/>
          </a:xfrm>
          <a:prstGeom prst="rect">
            <a:avLst/>
          </a:prstGeom>
          <a:solidFill>
            <a:srgbClr val="0A7F8C"/>
          </a:solidFill>
          <a:ln w="12700">
            <a:solidFill>
              <a:srgbClr val="0A7F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321E316-0164-D93A-7720-C547C5F1EBF4}"/>
              </a:ext>
            </a:extLst>
          </p:cNvPr>
          <p:cNvSpPr/>
          <p:nvPr/>
        </p:nvSpPr>
        <p:spPr>
          <a:xfrm>
            <a:off x="702365" y="1837829"/>
            <a:ext cx="4737652" cy="31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BMI의 현재 역할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7408204-B9FA-BF1D-558C-0E0AA3C96AD9}"/>
              </a:ext>
            </a:extLst>
          </p:cNvPr>
          <p:cNvSpPr/>
          <p:nvPr/>
        </p:nvSpPr>
        <p:spPr>
          <a:xfrm>
            <a:off x="702365" y="2155059"/>
            <a:ext cx="4737652" cy="1155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비만 심각도 측정의 표준 지표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BMI → 심혈관·대사 위험 증가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 세계적 비만 유행에 따른 중요성 부각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91346B4-00BE-3FF2-2142-5483BC5E0FF6}"/>
              </a:ext>
            </a:extLst>
          </p:cNvPr>
          <p:cNvSpPr/>
          <p:nvPr/>
        </p:nvSpPr>
        <p:spPr>
          <a:xfrm>
            <a:off x="508000" y="3571264"/>
            <a:ext cx="4980609" cy="1869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9CB24E1-D7F8-6C4C-5C31-98DE6DD0A2D1}"/>
              </a:ext>
            </a:extLst>
          </p:cNvPr>
          <p:cNvSpPr/>
          <p:nvPr/>
        </p:nvSpPr>
        <p:spPr>
          <a:xfrm>
            <a:off x="508000" y="3571264"/>
            <a:ext cx="85035" cy="18693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390DE78-DC06-5D0C-6AE9-9CA704292E2E}"/>
              </a:ext>
            </a:extLst>
          </p:cNvPr>
          <p:cNvSpPr/>
          <p:nvPr/>
        </p:nvSpPr>
        <p:spPr>
          <a:xfrm>
            <a:off x="702365" y="3684561"/>
            <a:ext cx="4737652" cy="31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BMI의 근본적 한계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CB86F4B-E7E9-322D-CD43-35F56C190EA1}"/>
              </a:ext>
            </a:extLst>
          </p:cNvPr>
          <p:cNvSpPr/>
          <p:nvPr/>
        </p:nvSpPr>
        <p:spPr>
          <a:xfrm>
            <a:off x="702365" y="4001791"/>
            <a:ext cx="4737652" cy="1325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동일한 BMI를 가진 환자들이 전혀 다른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합병증 패턴을 보임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CT/MRI 연구: BMI ≠ 실제 체성분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근육량·지방 분포가 건강 위험도와 더 연관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6D66144-F1EF-FCED-896D-34B163C05E1A}"/>
              </a:ext>
            </a:extLst>
          </p:cNvPr>
          <p:cNvSpPr/>
          <p:nvPr/>
        </p:nvSpPr>
        <p:spPr>
          <a:xfrm>
            <a:off x="5731565" y="1724532"/>
            <a:ext cx="5952435" cy="37161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2180120-36CA-1B7E-7215-0C95497B564F}"/>
              </a:ext>
            </a:extLst>
          </p:cNvPr>
          <p:cNvSpPr/>
          <p:nvPr/>
        </p:nvSpPr>
        <p:spPr>
          <a:xfrm>
            <a:off x="5731565" y="1724532"/>
            <a:ext cx="85035" cy="371612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05EF5AA-0D76-BF16-1D3F-EC2C2120B7C5}"/>
              </a:ext>
            </a:extLst>
          </p:cNvPr>
          <p:cNvSpPr/>
          <p:nvPr/>
        </p:nvSpPr>
        <p:spPr>
          <a:xfrm>
            <a:off x="5925930" y="1837829"/>
            <a:ext cx="5709478" cy="31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이소성 지방 (Ectopic Fat)의 위험성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009FC-62C9-3F1F-C66C-34444B7130CD}"/>
              </a:ext>
            </a:extLst>
          </p:cNvPr>
          <p:cNvSpPr/>
          <p:nvPr/>
        </p:nvSpPr>
        <p:spPr>
          <a:xfrm>
            <a:off x="5925930" y="2155059"/>
            <a:ext cx="5709478" cy="317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복강 내 장기 사이 내장지방 (Visceral Fat)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간 내 지방 침윤 (Liver Steatosis)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 내 지방 침윤 (Myosteatosis)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비만과 독립적인 주요 사망 위험인자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B70FE97-E7B4-AF0B-6377-27F3AF093FB2}"/>
              </a:ext>
            </a:extLst>
          </p:cNvPr>
          <p:cNvSpPr/>
          <p:nvPr/>
        </p:nvSpPr>
        <p:spPr>
          <a:xfrm>
            <a:off x="508000" y="1554587"/>
            <a:ext cx="11176000" cy="0"/>
          </a:xfrm>
          <a:prstGeom prst="line">
            <a:avLst/>
          </a:prstGeom>
          <a:noFill/>
          <a:ln w="1905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02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1784-CA0C-11F3-1BFD-181568B8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81C44-54A4-4F3B-5413-F51ACE9E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Background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D0840-0096-01E5-92E6-F7448547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C20F005-713B-9056-CD3A-BC00EF204543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7F05087A-EFFC-994F-24C7-1C207E5C0EC9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 err="1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Myopenia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vs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Myosteatosis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—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같은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듯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다른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두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개념</a:t>
              </a:r>
              <a:endParaRPr lang="en-US" altLang="ko-KR" sz="22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BDB4962D-D0D7-96D7-6829-005579D13FB9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Shape 4">
            <a:extLst>
              <a:ext uri="{FF2B5EF4-FFF2-40B4-BE49-F238E27FC236}">
                <a16:creationId xmlns:a16="http://schemas.microsoft.com/office/drawing/2014/main" id="{DB84ABA1-4E51-1B92-539E-8D373746336C}"/>
              </a:ext>
            </a:extLst>
          </p:cNvPr>
          <p:cNvSpPr/>
          <p:nvPr/>
        </p:nvSpPr>
        <p:spPr>
          <a:xfrm>
            <a:off x="508000" y="1717766"/>
            <a:ext cx="3566809" cy="394079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96DAE433-F138-5434-BC47-FDC73FC098A0}"/>
              </a:ext>
            </a:extLst>
          </p:cNvPr>
          <p:cNvSpPr/>
          <p:nvPr/>
        </p:nvSpPr>
        <p:spPr>
          <a:xfrm>
            <a:off x="508000" y="1717766"/>
            <a:ext cx="3566809" cy="78815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CADDDAE-1144-14B4-A1D3-BF4BB8C1530E}"/>
              </a:ext>
            </a:extLst>
          </p:cNvPr>
          <p:cNvSpPr/>
          <p:nvPr/>
        </p:nvSpPr>
        <p:spPr>
          <a:xfrm>
            <a:off x="508000" y="1717766"/>
            <a:ext cx="3566809" cy="47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Sarcopenia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D266BC9-DF9F-AC5F-A7DB-026E34742953}"/>
              </a:ext>
            </a:extLst>
          </p:cNvPr>
          <p:cNvSpPr/>
          <p:nvPr/>
        </p:nvSpPr>
        <p:spPr>
          <a:xfrm>
            <a:off x="508000" y="2190661"/>
            <a:ext cx="3566809" cy="31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0E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근육량 + 기능 감소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33FD51C-1CC6-1F28-6443-D9F2868F8B2D}"/>
              </a:ext>
            </a:extLst>
          </p:cNvPr>
          <p:cNvSpPr/>
          <p:nvPr/>
        </p:nvSpPr>
        <p:spPr>
          <a:xfrm>
            <a:off x="686340" y="2584740"/>
            <a:ext cx="3210128" cy="2983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근육량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감소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+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근력·기능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감소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측정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(grip strength)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논문에서 사용하지 않음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(기능 측정 없음)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6B6B13BB-7C43-5358-2436-7D3A180A9F7C}"/>
              </a:ext>
            </a:extLst>
          </p:cNvPr>
          <p:cNvSpPr/>
          <p:nvPr/>
        </p:nvSpPr>
        <p:spPr>
          <a:xfrm>
            <a:off x="4312596" y="1717766"/>
            <a:ext cx="3566809" cy="394079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C71DC2B-0FCE-521E-12C9-819AA117BA5B}"/>
              </a:ext>
            </a:extLst>
          </p:cNvPr>
          <p:cNvSpPr/>
          <p:nvPr/>
        </p:nvSpPr>
        <p:spPr>
          <a:xfrm>
            <a:off x="4312596" y="1717766"/>
            <a:ext cx="3566809" cy="788158"/>
          </a:xfrm>
          <a:prstGeom prst="rect">
            <a:avLst/>
          </a:prstGeom>
          <a:solidFill>
            <a:srgbClr val="0A7F8C"/>
          </a:solidFill>
          <a:ln w="12700">
            <a:solidFill>
              <a:srgbClr val="0A7F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99737948-2129-9B82-B60E-C2AD8D467CF1}"/>
              </a:ext>
            </a:extLst>
          </p:cNvPr>
          <p:cNvSpPr/>
          <p:nvPr/>
        </p:nvSpPr>
        <p:spPr>
          <a:xfrm>
            <a:off x="4312596" y="1717766"/>
            <a:ext cx="3566809" cy="47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Myopenia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0109C77-3B9F-E6E4-6A55-FC442A31251E}"/>
              </a:ext>
            </a:extLst>
          </p:cNvPr>
          <p:cNvSpPr/>
          <p:nvPr/>
        </p:nvSpPr>
        <p:spPr>
          <a:xfrm>
            <a:off x="4312596" y="2190661"/>
            <a:ext cx="3566809" cy="31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E0E0E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근육량</a:t>
            </a:r>
            <a:r>
              <a:rPr lang="en-US" sz="1200" i="1" dirty="0">
                <a:solidFill>
                  <a:srgbClr val="E0E0E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감소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66698609-2C23-5FC5-3965-F590FC64B92E}"/>
              </a:ext>
            </a:extLst>
          </p:cNvPr>
          <p:cNvSpPr/>
          <p:nvPr/>
        </p:nvSpPr>
        <p:spPr>
          <a:xfrm>
            <a:off x="4490936" y="2584740"/>
            <a:ext cx="3210128" cy="2983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단면적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(cm²)↓ 감소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측정: L3 레벨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&lt; 39 cm²/m² (여)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&lt; 50 cm²/m² (남)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 질(밀도)과 무관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846F704B-2775-6F30-CBCD-971CD5713F35}"/>
              </a:ext>
            </a:extLst>
          </p:cNvPr>
          <p:cNvSpPr/>
          <p:nvPr/>
        </p:nvSpPr>
        <p:spPr>
          <a:xfrm>
            <a:off x="8117191" y="1717766"/>
            <a:ext cx="3566809" cy="394079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C4F2BF46-646D-2B8B-FED5-B8FF4D4488E7}"/>
              </a:ext>
            </a:extLst>
          </p:cNvPr>
          <p:cNvSpPr/>
          <p:nvPr/>
        </p:nvSpPr>
        <p:spPr>
          <a:xfrm>
            <a:off x="8117191" y="1717766"/>
            <a:ext cx="3566809" cy="78815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BB4E6FF-8DCD-D420-F01C-F2EA7F9A9A0E}"/>
              </a:ext>
            </a:extLst>
          </p:cNvPr>
          <p:cNvSpPr/>
          <p:nvPr/>
        </p:nvSpPr>
        <p:spPr>
          <a:xfrm>
            <a:off x="8117191" y="1717766"/>
            <a:ext cx="3566809" cy="472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Myosteatosis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82E82C92-9AF7-8903-74B4-7F8C8E7232CF}"/>
              </a:ext>
            </a:extLst>
          </p:cNvPr>
          <p:cNvSpPr/>
          <p:nvPr/>
        </p:nvSpPr>
        <p:spPr>
          <a:xfrm>
            <a:off x="8117191" y="2190661"/>
            <a:ext cx="3566809" cy="31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0E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 밀도 감소 ★ 핵심</a:t>
            </a:r>
            <a:endParaRPr 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265BC00B-0DE1-2EFB-EC59-F02FBFDA8AE0}"/>
              </a:ext>
            </a:extLst>
          </p:cNvPr>
          <p:cNvSpPr/>
          <p:nvPr/>
        </p:nvSpPr>
        <p:spPr>
          <a:xfrm>
            <a:off x="8295532" y="2584740"/>
            <a:ext cx="3210128" cy="2983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 내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지방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침윤</a:t>
            </a: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→ 근육 HU 값 감소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측정: L3 레벨 근육 HU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여성 ≤ 18.9 HU (Q1)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남성 ≤ 28.1 HU (Q1)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논문의 핵심 지표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43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B3CE-8591-C2CA-BB1A-0DC10F28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48A10-0283-E9C9-076B-D2E8428C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Question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F8C69-E416-5FCB-93C8-AEE437D6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B23B697-B8B6-CD92-7168-455C3B403DA3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065D0E57-606A-3D7D-5B50-4F588F5ED08F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ko-KR" altLang="en-US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무증상 성인에서 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Routine CT</a:t>
              </a:r>
              <a:r>
                <a:rPr lang="ko-KR" altLang="en-US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로 측정한 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AI </a:t>
              </a:r>
              <a:r>
                <a:rPr lang="ko-KR" altLang="en-US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기반 신체 구성 지표가 사망률을 예측할 수 있는가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en-US" altLang="ko-KR" sz="22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B5DE418D-F39B-F416-C271-71C348512530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Shape 3">
            <a:extLst>
              <a:ext uri="{FF2B5EF4-FFF2-40B4-BE49-F238E27FC236}">
                <a16:creationId xmlns:a16="http://schemas.microsoft.com/office/drawing/2014/main" id="{F21DEEF8-7DD7-3656-17F7-74C48D292FA0}"/>
              </a:ext>
            </a:extLst>
          </p:cNvPr>
          <p:cNvSpPr/>
          <p:nvPr/>
        </p:nvSpPr>
        <p:spPr>
          <a:xfrm>
            <a:off x="508000" y="1733006"/>
            <a:ext cx="11176000" cy="1271451"/>
          </a:xfrm>
          <a:prstGeom prst="rect">
            <a:avLst/>
          </a:prstGeom>
          <a:solidFill>
            <a:schemeClr val="bg1"/>
          </a:solidFill>
          <a:ln w="1016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6B2FCD2-EDF1-5EEC-8006-0997393C4C26}"/>
              </a:ext>
            </a:extLst>
          </p:cNvPr>
          <p:cNvSpPr/>
          <p:nvPr/>
        </p:nvSpPr>
        <p:spPr>
          <a:xfrm>
            <a:off x="787399" y="2157840"/>
            <a:ext cx="10617201" cy="68439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체성분 연구 대상 = 암·만성질환·고령자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무증상 일반 성인은 미검증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76745C4-C7E9-4DF4-D778-F91011AC691F}"/>
              </a:ext>
            </a:extLst>
          </p:cNvPr>
          <p:cNvSpPr/>
          <p:nvPr/>
        </p:nvSpPr>
        <p:spPr>
          <a:xfrm>
            <a:off x="787403" y="1892759"/>
            <a:ext cx="10058400" cy="21190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연구 한계 ①</a:t>
            </a:r>
            <a:endParaRPr lang="en-US" sz="1600" dirty="0">
              <a:solidFill>
                <a:srgbClr val="1F346B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05C18ED-5404-F7CC-73E7-9FBE9331826D}"/>
              </a:ext>
            </a:extLst>
          </p:cNvPr>
          <p:cNvSpPr/>
          <p:nvPr/>
        </p:nvSpPr>
        <p:spPr>
          <a:xfrm>
            <a:off x="508000" y="3227203"/>
            <a:ext cx="11176000" cy="1271451"/>
          </a:xfrm>
          <a:prstGeom prst="rect">
            <a:avLst/>
          </a:prstGeom>
          <a:solidFill>
            <a:schemeClr val="bg1"/>
          </a:solidFill>
          <a:ln w="1016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54737B3-EC75-9798-2E3D-A64109FF229F}"/>
              </a:ext>
            </a:extLst>
          </p:cNvPr>
          <p:cNvSpPr/>
          <p:nvPr/>
        </p:nvSpPr>
        <p:spPr>
          <a:xfrm>
            <a:off x="787403" y="3523875"/>
            <a:ext cx="10058400" cy="91827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내장지방·간지방·근감소·근육지방증을</a:t>
            </a: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동시에</a:t>
            </a: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통제한 연구 없음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CF38371-4460-2439-980D-05172B2C718B}"/>
              </a:ext>
            </a:extLst>
          </p:cNvPr>
          <p:cNvSpPr/>
          <p:nvPr/>
        </p:nvSpPr>
        <p:spPr>
          <a:xfrm>
            <a:off x="787403" y="3417195"/>
            <a:ext cx="10058400" cy="21190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연구 한계 ②</a:t>
            </a:r>
            <a:endParaRPr lang="en-US" sz="1600" dirty="0">
              <a:solidFill>
                <a:srgbClr val="1F346B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243F7FC-F0B4-8F1F-0528-538C75DB1977}"/>
              </a:ext>
            </a:extLst>
          </p:cNvPr>
          <p:cNvSpPr/>
          <p:nvPr/>
        </p:nvSpPr>
        <p:spPr>
          <a:xfrm>
            <a:off x="508000" y="4789714"/>
            <a:ext cx="11176000" cy="1271451"/>
          </a:xfrm>
          <a:prstGeom prst="rect">
            <a:avLst/>
          </a:prstGeom>
          <a:solidFill>
            <a:schemeClr val="bg1"/>
          </a:solidFill>
          <a:ln w="1016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7B5B7DB-5304-9AAB-E052-26701646A0B1}"/>
              </a:ext>
            </a:extLst>
          </p:cNvPr>
          <p:cNvSpPr/>
          <p:nvPr/>
        </p:nvSpPr>
        <p:spPr>
          <a:xfrm>
            <a:off x="787406" y="5086386"/>
            <a:ext cx="10058400" cy="91827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9,223명 건강검진 CT 코호트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8.8년 추적 · AI 자동 체성분 분석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3925877-9FF4-2711-F8AA-173655BECA14}"/>
              </a:ext>
            </a:extLst>
          </p:cNvPr>
          <p:cNvSpPr/>
          <p:nvPr/>
        </p:nvSpPr>
        <p:spPr>
          <a:xfrm>
            <a:off x="787406" y="4980431"/>
            <a:ext cx="10058400" cy="21190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연구의 접근</a:t>
            </a:r>
            <a:endParaRPr lang="en-US" sz="1600" dirty="0">
              <a:solidFill>
                <a:srgbClr val="1F346B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12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3E17-DF4D-EC1B-FFFF-F5CB2C0C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FAE5B-32C0-7053-EEEF-E1A95DAB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Materials &amp;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5A8F33-6E49-FB80-BAE3-82AF8F3E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A57EE35-8C4E-D93A-BB27-A5675742172B}"/>
              </a:ext>
            </a:extLst>
          </p:cNvPr>
          <p:cNvGrpSpPr/>
          <p:nvPr/>
        </p:nvGrpSpPr>
        <p:grpSpPr>
          <a:xfrm>
            <a:off x="597344" y="897468"/>
            <a:ext cx="10718638" cy="5482912"/>
            <a:chOff x="238035" y="897468"/>
            <a:chExt cx="10718638" cy="5482912"/>
          </a:xfrm>
        </p:grpSpPr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D6775214-91F7-E09F-40CD-2428E86C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2469" y="897468"/>
              <a:ext cx="2844204" cy="5332881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4652EDCE-9C40-589B-8BAE-6EA3791D0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035" y="897468"/>
              <a:ext cx="7103291" cy="5482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137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077E-5E1B-C3C8-2718-5722F9ED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EA887-27A0-DC2C-069B-9AC14FB8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Materials &amp;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58652-40AA-5AFE-0426-D3D8134E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4847C71-20A8-AD6B-8A40-50A3237AE255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6B54AFA7-9E03-B70D-1537-FC55E2F3E00D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 err="1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대상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무증상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성인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8,982명 ·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추적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2200" b="1" dirty="0" err="1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기간</a:t>
              </a:r>
              <a:r>
                <a:rPr lang="en-US" altLang="ko-KR" sz="2200" b="1" dirty="0">
                  <a:solidFill>
                    <a:srgbClr val="1B2A4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8.8년</a:t>
              </a:r>
              <a:endParaRPr lang="en-US" altLang="ko-KR" sz="2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2625C8DF-19E8-8327-7D30-7C6F2F49A6C4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E96AF89-FFF1-B133-BEF4-CAC1B7BC6385}"/>
              </a:ext>
            </a:extLst>
          </p:cNvPr>
          <p:cNvGrpSpPr/>
          <p:nvPr/>
        </p:nvGrpSpPr>
        <p:grpSpPr>
          <a:xfrm>
            <a:off x="508000" y="1804850"/>
            <a:ext cx="11176000" cy="3858127"/>
            <a:chOff x="508000" y="1804850"/>
            <a:chExt cx="11176000" cy="3858127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A1A75168-7466-B253-365B-5DF9DD85777E}"/>
                </a:ext>
              </a:extLst>
            </p:cNvPr>
            <p:cNvSpPr/>
            <p:nvPr/>
          </p:nvSpPr>
          <p:spPr>
            <a:xfrm>
              <a:off x="508000" y="1804850"/>
              <a:ext cx="2510118" cy="1112922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0A604D2F-A890-FF0F-709D-94C13E966AC6}"/>
                </a:ext>
              </a:extLst>
            </p:cNvPr>
            <p:cNvSpPr/>
            <p:nvPr/>
          </p:nvSpPr>
          <p:spPr>
            <a:xfrm>
              <a:off x="508000" y="1889644"/>
              <a:ext cx="2510118" cy="5829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9,223명</a:t>
              </a:r>
              <a:endParaRPr lang="en-US" sz="32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D5BA768B-2344-B468-C0A1-B03DE6D15C12}"/>
                </a:ext>
              </a:extLst>
            </p:cNvPr>
            <p:cNvSpPr/>
            <p:nvPr/>
          </p:nvSpPr>
          <p:spPr>
            <a:xfrm>
              <a:off x="508000" y="2522300"/>
              <a:ext cx="2510118" cy="30348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초기 모집</a:t>
              </a:r>
              <a:endParaRPr lang="en-US" sz="14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5F98613B-CF4E-08E2-BB1D-A44C9DD51CF1}"/>
                </a:ext>
              </a:extLst>
            </p:cNvPr>
            <p:cNvSpPr/>
            <p:nvPr/>
          </p:nvSpPr>
          <p:spPr>
            <a:xfrm>
              <a:off x="3089835" y="2260618"/>
              <a:ext cx="406400" cy="2755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▶</a:t>
              </a:r>
              <a:endParaRPr lang="en-US" sz="140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35DF4B4B-2C69-BA60-4CF1-09269789E2E7}"/>
                </a:ext>
              </a:extLst>
            </p:cNvPr>
            <p:cNvSpPr/>
            <p:nvPr/>
          </p:nvSpPr>
          <p:spPr>
            <a:xfrm>
              <a:off x="3496235" y="1804850"/>
              <a:ext cx="2510118" cy="1112922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52AE76EC-5C81-94D8-83E5-38FDFEDD0FC0}"/>
                </a:ext>
              </a:extLst>
            </p:cNvPr>
            <p:cNvSpPr/>
            <p:nvPr/>
          </p:nvSpPr>
          <p:spPr>
            <a:xfrm>
              <a:off x="3496235" y="1889644"/>
              <a:ext cx="2510118" cy="5829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8,982명</a:t>
              </a:r>
              <a:endParaRPr lang="en-US" sz="3200" dirty="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39F3307F-1254-30F5-9BD7-6E6710C9AFE5}"/>
                </a:ext>
              </a:extLst>
            </p:cNvPr>
            <p:cNvSpPr/>
            <p:nvPr/>
          </p:nvSpPr>
          <p:spPr>
            <a:xfrm>
              <a:off x="3496235" y="2522300"/>
              <a:ext cx="2510118" cy="30348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최종 분석 대상</a:t>
              </a:r>
              <a:endParaRPr lang="en-US" sz="14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10C300D7-149A-251C-C261-5CF8884C075A}"/>
                </a:ext>
              </a:extLst>
            </p:cNvPr>
            <p:cNvSpPr/>
            <p:nvPr/>
          </p:nvSpPr>
          <p:spPr>
            <a:xfrm>
              <a:off x="6078071" y="2260618"/>
              <a:ext cx="406400" cy="2755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▶</a:t>
              </a:r>
              <a:endParaRPr lang="en-US" sz="14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8687D4C4-1F51-7AAD-E27D-543392A9A790}"/>
                </a:ext>
              </a:extLst>
            </p:cNvPr>
            <p:cNvSpPr/>
            <p:nvPr/>
          </p:nvSpPr>
          <p:spPr>
            <a:xfrm>
              <a:off x="6484471" y="1804850"/>
              <a:ext cx="2510118" cy="1112922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410EDC86-EAD7-78EB-0BD7-A92283E34B8D}"/>
                </a:ext>
              </a:extLst>
            </p:cNvPr>
            <p:cNvSpPr/>
            <p:nvPr/>
          </p:nvSpPr>
          <p:spPr>
            <a:xfrm>
              <a:off x="6484471" y="1889644"/>
              <a:ext cx="2510118" cy="5829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8,303명</a:t>
              </a:r>
              <a:endParaRPr lang="en-US" sz="32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629F8296-28A6-0A29-9D63-3F49889DF20B}"/>
                </a:ext>
              </a:extLst>
            </p:cNvPr>
            <p:cNvSpPr/>
            <p:nvPr/>
          </p:nvSpPr>
          <p:spPr>
            <a:xfrm>
              <a:off x="6484471" y="2522300"/>
              <a:ext cx="2510118" cy="30348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다변량 분석</a:t>
              </a:r>
              <a:endParaRPr lang="en-US" sz="1400" dirty="0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114C5937-8ACC-517C-6C86-404D5F657331}"/>
                </a:ext>
              </a:extLst>
            </p:cNvPr>
            <p:cNvSpPr/>
            <p:nvPr/>
          </p:nvSpPr>
          <p:spPr>
            <a:xfrm>
              <a:off x="9472706" y="1804850"/>
              <a:ext cx="2032000" cy="1112922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19B44345-DB92-8A44-768A-0BF19564FCA9}"/>
                </a:ext>
              </a:extLst>
            </p:cNvPr>
            <p:cNvSpPr/>
            <p:nvPr/>
          </p:nvSpPr>
          <p:spPr>
            <a:xfrm>
              <a:off x="9472706" y="1889644"/>
              <a:ext cx="2032000" cy="5829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507명</a:t>
              </a:r>
              <a:endParaRPr lang="en-US" sz="320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2FD389DF-928F-6B81-223C-7BB5CBBAF204}"/>
                </a:ext>
              </a:extLst>
            </p:cNvPr>
            <p:cNvSpPr/>
            <p:nvPr/>
          </p:nvSpPr>
          <p:spPr>
            <a:xfrm>
              <a:off x="9472706" y="2522300"/>
              <a:ext cx="2032000" cy="30348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사망 (추적기간 내)</a:t>
              </a:r>
              <a:endParaRPr lang="en-US" sz="1400" dirty="0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09A23B50-4BBE-81F3-D696-165062FA35FB}"/>
                </a:ext>
              </a:extLst>
            </p:cNvPr>
            <p:cNvSpPr/>
            <p:nvPr/>
          </p:nvSpPr>
          <p:spPr>
            <a:xfrm>
              <a:off x="508000" y="3002565"/>
              <a:ext cx="2510118" cy="5511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결측치 제외: </a:t>
              </a:r>
            </a:p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BMI n=8, SMI n=155,</a:t>
              </a:r>
            </a:p>
            <a:p>
              <a:pPr marL="0" indent="0">
                <a:buNone/>
              </a:pPr>
              <a:r>
                <a:rPr lang="en-US" sz="1200" i="1" dirty="0" err="1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간밀도</a:t>
              </a: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 n=63, CT artifact n=15</a:t>
              </a:r>
              <a:endParaRPr lang="en-US" sz="12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4B0307A0-5ED9-E6B9-6B5C-6F273AF0016D}"/>
                </a:ext>
              </a:extLst>
            </p:cNvPr>
            <p:cNvSpPr/>
            <p:nvPr/>
          </p:nvSpPr>
          <p:spPr>
            <a:xfrm>
              <a:off x="3496235" y="3002565"/>
              <a:ext cx="2581836" cy="296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흡연 n=581, </a:t>
              </a:r>
              <a:r>
                <a:rPr lang="en-US" sz="1200" i="1" dirty="0" err="1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내장지방</a:t>
              </a: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 n=111</a:t>
              </a:r>
            </a:p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→ 총 n=679 제외</a:t>
              </a:r>
              <a:endParaRPr lang="en-US" sz="1200" dirty="0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9C530518-B05E-2952-4E18-A2CF8B1E854E}"/>
                </a:ext>
              </a:extLst>
            </p:cNvPr>
            <p:cNvSpPr/>
            <p:nvPr/>
          </p:nvSpPr>
          <p:spPr>
            <a:xfrm>
              <a:off x="508000" y="3818707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연구 설계:</a:t>
              </a:r>
              <a:endParaRPr lang="en-US" sz="140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4CCB1871-808A-BE5E-2F2C-CB687493F9DB}"/>
                </a:ext>
              </a:extLst>
            </p:cNvPr>
            <p:cNvSpPr/>
            <p:nvPr/>
          </p:nvSpPr>
          <p:spPr>
            <a:xfrm>
              <a:off x="2360706" y="3818707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후향적 단일기관 코호트</a:t>
              </a:r>
              <a:endParaRPr lang="en-US" sz="1400" dirty="0"/>
            </a:p>
          </p:txBody>
        </p:sp>
        <p:sp>
          <p:nvSpPr>
            <p:cNvPr id="26" name="Shape 22">
              <a:extLst>
                <a:ext uri="{FF2B5EF4-FFF2-40B4-BE49-F238E27FC236}">
                  <a16:creationId xmlns:a16="http://schemas.microsoft.com/office/drawing/2014/main" id="{A12A825F-FCE3-D271-2A69-10AD9EDDADB6}"/>
                </a:ext>
              </a:extLst>
            </p:cNvPr>
            <p:cNvSpPr/>
            <p:nvPr/>
          </p:nvSpPr>
          <p:spPr>
            <a:xfrm>
              <a:off x="508000" y="4327472"/>
              <a:ext cx="5139765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F2667EFB-591D-172E-D37E-43E00372367E}"/>
                </a:ext>
              </a:extLst>
            </p:cNvPr>
            <p:cNvSpPr/>
            <p:nvPr/>
          </p:nvSpPr>
          <p:spPr>
            <a:xfrm>
              <a:off x="508000" y="4475861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대상 연령:</a:t>
              </a:r>
              <a:endParaRPr lang="en-US" sz="1400" dirty="0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9FDD2249-9724-3D5A-95E9-C96F7BE7E884}"/>
                </a:ext>
              </a:extLst>
            </p:cNvPr>
            <p:cNvSpPr/>
            <p:nvPr/>
          </p:nvSpPr>
          <p:spPr>
            <a:xfrm>
              <a:off x="2360706" y="4475861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50–70세 무증상 외래환자</a:t>
              </a:r>
              <a:endParaRPr lang="en-US" sz="1400" dirty="0"/>
            </a:p>
          </p:txBody>
        </p:sp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F2924C40-84EE-92B2-BEDA-F02F3E458389}"/>
                </a:ext>
              </a:extLst>
            </p:cNvPr>
            <p:cNvSpPr/>
            <p:nvPr/>
          </p:nvSpPr>
          <p:spPr>
            <a:xfrm>
              <a:off x="508000" y="4984626"/>
              <a:ext cx="5139765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609B34DF-FD56-2E41-02C8-F0F3B57B5282}"/>
                </a:ext>
              </a:extLst>
            </p:cNvPr>
            <p:cNvSpPr/>
            <p:nvPr/>
          </p:nvSpPr>
          <p:spPr>
            <a:xfrm>
              <a:off x="508000" y="5133015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데이터 기간:</a:t>
              </a:r>
              <a:endParaRPr lang="en-US" sz="1400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D1707718-1F12-9A17-B6D0-F742771FF39F}"/>
                </a:ext>
              </a:extLst>
            </p:cNvPr>
            <p:cNvSpPr/>
            <p:nvPr/>
          </p:nvSpPr>
          <p:spPr>
            <a:xfrm>
              <a:off x="2360706" y="5133015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2004년 4월 – 2016년 12월</a:t>
              </a:r>
              <a:endParaRPr lang="en-US" sz="1400" dirty="0"/>
            </a:p>
          </p:txBody>
        </p:sp>
        <p:sp>
          <p:nvSpPr>
            <p:cNvPr id="32" name="Shape 28">
              <a:extLst>
                <a:ext uri="{FF2B5EF4-FFF2-40B4-BE49-F238E27FC236}">
                  <a16:creationId xmlns:a16="http://schemas.microsoft.com/office/drawing/2014/main" id="{252F29B2-4D42-A88B-AD47-73872CCFB1A3}"/>
                </a:ext>
              </a:extLst>
            </p:cNvPr>
            <p:cNvSpPr/>
            <p:nvPr/>
          </p:nvSpPr>
          <p:spPr>
            <a:xfrm>
              <a:off x="508000" y="5641778"/>
              <a:ext cx="5139765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E5A38621-54AD-C927-EC0D-8C697860401B}"/>
                </a:ext>
              </a:extLst>
            </p:cNvPr>
            <p:cNvSpPr/>
            <p:nvPr/>
          </p:nvSpPr>
          <p:spPr>
            <a:xfrm>
              <a:off x="6125882" y="3818707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추적 기간:</a:t>
              </a:r>
              <a:endParaRPr lang="en-US" sz="1400" dirty="0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98619170-1D4A-E218-AC4E-0FF0849DD43B}"/>
                </a:ext>
              </a:extLst>
            </p:cNvPr>
            <p:cNvSpPr/>
            <p:nvPr/>
          </p:nvSpPr>
          <p:spPr>
            <a:xfrm>
              <a:off x="7978588" y="3818707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중앙값 8.8년 (IQR 5.1–11.6년)</a:t>
              </a:r>
              <a:endParaRPr lang="en-US" sz="1400" dirty="0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BCA9BBC8-4AF6-ABFA-DE24-246C0FC0764D}"/>
                </a:ext>
              </a:extLst>
            </p:cNvPr>
            <p:cNvSpPr/>
            <p:nvPr/>
          </p:nvSpPr>
          <p:spPr>
            <a:xfrm>
              <a:off x="6125882" y="4327472"/>
              <a:ext cx="5139765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23C9EC6B-D1C1-0BEA-02CA-5A298FA1D2FD}"/>
                </a:ext>
              </a:extLst>
            </p:cNvPr>
            <p:cNvSpPr/>
            <p:nvPr/>
          </p:nvSpPr>
          <p:spPr>
            <a:xfrm>
              <a:off x="6125882" y="4475861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CT 프로토콜:</a:t>
              </a:r>
              <a:endParaRPr lang="en-US" sz="1400" dirty="0"/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39D7C29C-5D9D-84B3-3500-D78034B28712}"/>
                </a:ext>
              </a:extLst>
            </p:cNvPr>
            <p:cNvSpPr/>
            <p:nvPr/>
          </p:nvSpPr>
          <p:spPr>
            <a:xfrm>
              <a:off x="7978588" y="4475861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저선량 비조영 복부 CT · 120 kVp · modulated mA (AEC)</a:t>
              </a:r>
              <a:endParaRPr lang="en-US" sz="1400" dirty="0"/>
            </a:p>
          </p:txBody>
        </p:sp>
        <p:sp>
          <p:nvSpPr>
            <p:cNvPr id="38" name="Shape 34">
              <a:extLst>
                <a:ext uri="{FF2B5EF4-FFF2-40B4-BE49-F238E27FC236}">
                  <a16:creationId xmlns:a16="http://schemas.microsoft.com/office/drawing/2014/main" id="{D363D2EF-465F-FC8B-A0AB-905916FD5DA1}"/>
                </a:ext>
              </a:extLst>
            </p:cNvPr>
            <p:cNvSpPr/>
            <p:nvPr/>
          </p:nvSpPr>
          <p:spPr>
            <a:xfrm>
              <a:off x="6125882" y="4984626"/>
              <a:ext cx="5139765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5C5384CB-5F54-AC82-9962-E90F0C190BFE}"/>
                </a:ext>
              </a:extLst>
            </p:cNvPr>
            <p:cNvSpPr/>
            <p:nvPr/>
          </p:nvSpPr>
          <p:spPr>
            <a:xfrm>
              <a:off x="6125882" y="5133015"/>
              <a:ext cx="1792941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기관:</a:t>
              </a:r>
              <a:endParaRPr lang="en-US" sz="1400" dirty="0"/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64A138A5-7343-71B4-F1E8-36A9CF70F031}"/>
                </a:ext>
              </a:extLst>
            </p:cNvPr>
            <p:cNvSpPr/>
            <p:nvPr/>
          </p:nvSpPr>
          <p:spPr>
            <a:xfrm>
              <a:off x="7978588" y="5133015"/>
              <a:ext cx="3705412" cy="52996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University of Wisconsin, School of Medicine &amp; Public Health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3730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FF5B-F514-616E-2387-11D39E8E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377B6-B5FC-A58A-C3C0-5C47C0AD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58422-DEB1-8693-80C6-35A177F0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B861E6F-2420-BFEA-0937-1548DB4D7CCD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DD122428-E30D-EF07-10A2-BA18990E44F8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>
                  <a:solidFill>
                    <a:srgbClr val="1F346B"/>
                  </a:solidFill>
                </a:rPr>
                <a:t>AI Pipeline ① — L3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슬라이스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자동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선택</a:t>
              </a:r>
              <a:endParaRPr lang="en-US" altLang="ko-KR" sz="2200" dirty="0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D6786D7D-5BAC-753C-25D1-A79E2735527F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1" name="Text 4">
            <a:extLst>
              <a:ext uri="{FF2B5EF4-FFF2-40B4-BE49-F238E27FC236}">
                <a16:creationId xmlns:a16="http://schemas.microsoft.com/office/drawing/2014/main" id="{C27CFB0A-7DFB-64C5-66A5-1B4617358B13}"/>
              </a:ext>
            </a:extLst>
          </p:cNvPr>
          <p:cNvSpPr/>
          <p:nvPr/>
        </p:nvSpPr>
        <p:spPr>
          <a:xfrm>
            <a:off x="507999" y="1654957"/>
            <a:ext cx="11175999" cy="31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Modified 3D U-Net (Ref. Graffy et al. Br J Radiol 2019; Graffy et al. Radiology 2019)</a:t>
            </a:r>
            <a:endParaRPr lang="en-US" sz="120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A4FE2DF0-1530-D729-99E8-A72A519CF102}"/>
              </a:ext>
            </a:extLst>
          </p:cNvPr>
          <p:cNvSpPr/>
          <p:nvPr/>
        </p:nvSpPr>
        <p:spPr>
          <a:xfrm>
            <a:off x="507999" y="2031908"/>
            <a:ext cx="5345043" cy="1718451"/>
          </a:xfrm>
          <a:prstGeom prst="rect">
            <a:avLst/>
          </a:prstGeom>
          <a:solidFill>
            <a:srgbClr val="E8ECF5"/>
          </a:solidFill>
          <a:ln w="1016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B22C2BE2-5FBC-14F6-01FC-4CE379B8053B}"/>
              </a:ext>
            </a:extLst>
          </p:cNvPr>
          <p:cNvSpPr/>
          <p:nvPr/>
        </p:nvSpPr>
        <p:spPr>
          <a:xfrm>
            <a:off x="507999" y="2031908"/>
            <a:ext cx="85034" cy="1718451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05FCE7A2-8EF2-A732-DFED-4B99DDD2A538}"/>
              </a:ext>
            </a:extLst>
          </p:cNvPr>
          <p:cNvSpPr/>
          <p:nvPr/>
        </p:nvSpPr>
        <p:spPr>
          <a:xfrm>
            <a:off x="702364" y="2120602"/>
            <a:ext cx="4980608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왜 L3 레벨인가?</a:t>
            </a:r>
            <a:endParaRPr lang="en-US" sz="16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2D7CF3E9-A11A-00B3-1B3D-3486D28EEDC0}"/>
              </a:ext>
            </a:extLst>
          </p:cNvPr>
          <p:cNvSpPr/>
          <p:nvPr/>
        </p:nvSpPr>
        <p:spPr>
          <a:xfrm>
            <a:off x="702364" y="2475379"/>
            <a:ext cx="4980608" cy="1164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L3 단면적</a:t>
            </a:r>
            <a:r>
              <a:rPr lang="en-US" sz="1400" dirty="0">
                <a:solidFill>
                  <a:srgbClr val="1E293B"/>
                </a:solidFill>
              </a:rPr>
              <a:t> = 전신 골격근량의 surrogate marker
</a:t>
            </a:r>
            <a:r>
              <a:rPr lang="en-US" sz="1400" b="1" dirty="0">
                <a:solidFill>
                  <a:srgbClr val="1E293B"/>
                </a:solidFill>
              </a:rPr>
              <a:t>단 1개 슬라이스</a:t>
            </a:r>
            <a:r>
              <a:rPr lang="en-US" sz="1400" dirty="0">
                <a:solidFill>
                  <a:srgbClr val="1E293B"/>
                </a:solidFill>
              </a:rPr>
              <a:t>로 전신 근육 상태 추정 가능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대규모 코호트 분석에 실용적 (속도·비용)</a:t>
            </a:r>
            <a:endParaRPr lang="en-US" sz="140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E477C87C-D15A-1C6F-19B7-9C283A3F9492}"/>
              </a:ext>
            </a:extLst>
          </p:cNvPr>
          <p:cNvSpPr/>
          <p:nvPr/>
        </p:nvSpPr>
        <p:spPr>
          <a:xfrm>
            <a:off x="6217477" y="2031908"/>
            <a:ext cx="1524552" cy="1718451"/>
          </a:xfrm>
          <a:prstGeom prst="roundRect">
            <a:avLst>
              <a:gd name="adj" fmla="val 4000"/>
            </a:avLst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25DA7511-C193-601A-7505-C439BB18096B}"/>
              </a:ext>
            </a:extLst>
          </p:cNvPr>
          <p:cNvSpPr/>
          <p:nvPr/>
        </p:nvSpPr>
        <p:spPr>
          <a:xfrm>
            <a:off x="6250883" y="2098428"/>
            <a:ext cx="1457740" cy="28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CE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Step 1</a:t>
            </a:r>
            <a:endParaRPr lang="en-US" sz="11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F6B5B364-1997-6EF8-A29F-E0E8496AC3D4}"/>
              </a:ext>
            </a:extLst>
          </p:cNvPr>
          <p:cNvSpPr/>
          <p:nvPr/>
        </p:nvSpPr>
        <p:spPr>
          <a:xfrm>
            <a:off x="6250883" y="2386685"/>
            <a:ext cx="1457740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입력</a:t>
            </a:r>
            <a:endParaRPr lang="en-US" sz="11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407F6858-0531-A794-E784-5B72064273E3}"/>
              </a:ext>
            </a:extLst>
          </p:cNvPr>
          <p:cNvSpPr/>
          <p:nvPr/>
        </p:nvSpPr>
        <p:spPr>
          <a:xfrm>
            <a:off x="6318911" y="2741462"/>
            <a:ext cx="1321684" cy="94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전체 복부 CT 시리즈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(수십~수백 장 axial 슬라이스)</a:t>
            </a:r>
            <a:endParaRPr lang="en-US" sz="9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8FEF6397-DE00-ED84-A0B9-2F932676D266}"/>
              </a:ext>
            </a:extLst>
          </p:cNvPr>
          <p:cNvSpPr/>
          <p:nvPr/>
        </p:nvSpPr>
        <p:spPr>
          <a:xfrm>
            <a:off x="7909062" y="2652767"/>
            <a:ext cx="145773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46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7FB72C51-07D0-9563-0B6F-7A506224485F}"/>
              </a:ext>
            </a:extLst>
          </p:cNvPr>
          <p:cNvSpPr/>
          <p:nvPr/>
        </p:nvSpPr>
        <p:spPr>
          <a:xfrm>
            <a:off x="8221868" y="2031908"/>
            <a:ext cx="1524552" cy="1718451"/>
          </a:xfrm>
          <a:prstGeom prst="roundRect">
            <a:avLst>
              <a:gd name="adj" fmla="val 4000"/>
            </a:avLst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038452D2-B346-E3A4-25BB-56CF3D9C0FEC}"/>
              </a:ext>
            </a:extLst>
          </p:cNvPr>
          <p:cNvSpPr/>
          <p:nvPr/>
        </p:nvSpPr>
        <p:spPr>
          <a:xfrm>
            <a:off x="8255274" y="2098428"/>
            <a:ext cx="1457740" cy="28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CE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Step 2</a:t>
            </a:r>
            <a:endParaRPr lang="en-US" sz="11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54A2F36E-E01C-D200-E05B-B307CF5237F8}"/>
              </a:ext>
            </a:extLst>
          </p:cNvPr>
          <p:cNvSpPr/>
          <p:nvPr/>
        </p:nvSpPr>
        <p:spPr>
          <a:xfrm>
            <a:off x="8255274" y="2386685"/>
            <a:ext cx="1457740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DenseNet 회귀 모델</a:t>
            </a:r>
            <a:endParaRPr lang="en-US" sz="110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7EC0F6F-12CF-A14A-5D84-113405CF48F0}"/>
              </a:ext>
            </a:extLst>
          </p:cNvPr>
          <p:cNvSpPr/>
          <p:nvPr/>
        </p:nvSpPr>
        <p:spPr>
          <a:xfrm>
            <a:off x="8323302" y="2741462"/>
            <a:ext cx="1321684" cy="94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각 슬라이스의 L3까지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공간적 offset 예측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 Gaussian smoothing</a:t>
            </a:r>
            <a:endParaRPr lang="en-US" sz="95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59492FA2-9221-C192-9DB9-552C5B9FF480}"/>
              </a:ext>
            </a:extLst>
          </p:cNvPr>
          <p:cNvSpPr/>
          <p:nvPr/>
        </p:nvSpPr>
        <p:spPr>
          <a:xfrm>
            <a:off x="9913453" y="2652767"/>
            <a:ext cx="145773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46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31F11768-C30C-D718-48FA-1B9F1646F06E}"/>
              </a:ext>
            </a:extLst>
          </p:cNvPr>
          <p:cNvSpPr/>
          <p:nvPr/>
        </p:nvSpPr>
        <p:spPr>
          <a:xfrm>
            <a:off x="10226258" y="2031908"/>
            <a:ext cx="1524552" cy="1718451"/>
          </a:xfrm>
          <a:prstGeom prst="roundRect">
            <a:avLst>
              <a:gd name="adj" fmla="val 4000"/>
            </a:avLst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E65B2CA0-0F85-68D4-E042-27E1BFAD71F6}"/>
              </a:ext>
            </a:extLst>
          </p:cNvPr>
          <p:cNvSpPr/>
          <p:nvPr/>
        </p:nvSpPr>
        <p:spPr>
          <a:xfrm>
            <a:off x="10259664" y="2098428"/>
            <a:ext cx="1457740" cy="28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CE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Step 3</a:t>
            </a:r>
            <a:endParaRPr lang="en-US" sz="1100" dirty="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B55970B0-0C0E-78C0-F308-A25E8CCA1A3E}"/>
              </a:ext>
            </a:extLst>
          </p:cNvPr>
          <p:cNvSpPr/>
          <p:nvPr/>
        </p:nvSpPr>
        <p:spPr>
          <a:xfrm>
            <a:off x="10259664" y="2386685"/>
            <a:ext cx="1457740" cy="33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L3 슬라이스 선택</a:t>
            </a:r>
            <a:endParaRPr lang="en-US" sz="110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B8887A8C-E925-591A-669C-95BB78451CB4}"/>
              </a:ext>
            </a:extLst>
          </p:cNvPr>
          <p:cNvSpPr/>
          <p:nvPr/>
        </p:nvSpPr>
        <p:spPr>
          <a:xfrm>
            <a:off x="10293678" y="2741462"/>
            <a:ext cx="1389712" cy="94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Offset ≈ 0 인 슬라이스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자동 선택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4F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(Ref. Graffy et al. 2019)</a:t>
            </a:r>
            <a:endParaRPr lang="en-US" sz="950" dirty="0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048AFBB9-47C4-FD17-FE03-4FF7CDA5D44C}"/>
              </a:ext>
            </a:extLst>
          </p:cNvPr>
          <p:cNvSpPr/>
          <p:nvPr/>
        </p:nvSpPr>
        <p:spPr>
          <a:xfrm>
            <a:off x="507999" y="3967341"/>
            <a:ext cx="5345043" cy="160758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53D5B54-7F3C-F1B8-A47F-E645AD90E083}"/>
              </a:ext>
            </a:extLst>
          </p:cNvPr>
          <p:cNvSpPr/>
          <p:nvPr/>
        </p:nvSpPr>
        <p:spPr>
          <a:xfrm>
            <a:off x="507999" y="3967341"/>
            <a:ext cx="85034" cy="1607583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F6C2597D-0369-5536-23D8-AEF4738AFC51}"/>
              </a:ext>
            </a:extLst>
          </p:cNvPr>
          <p:cNvSpPr/>
          <p:nvPr/>
        </p:nvSpPr>
        <p:spPr>
          <a:xfrm>
            <a:off x="702364" y="4078209"/>
            <a:ext cx="5102086" cy="31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</a:rPr>
              <a:t>L3 surrogate의 한계</a:t>
            </a:r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5D1E8790-E434-2D3C-00CA-DF144805E3E3}"/>
              </a:ext>
            </a:extLst>
          </p:cNvPr>
          <p:cNvSpPr/>
          <p:nvPr/>
        </p:nvSpPr>
        <p:spPr>
          <a:xfrm>
            <a:off x="702364" y="4388639"/>
            <a:ext cx="5102086" cy="1075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개인마다 L3 단면적과 전신 근육량의 비율이 다를 수 있음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체형·신장에 따라 보정 필요 (SMI = 근육면적 ÷ 키²)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3D 볼륨 분석이 아닌 단일 슬라이스의 대표성 문제</a:t>
            </a:r>
            <a:endParaRPr lang="en-US" sz="1400" dirty="0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C53DF076-F946-EADF-A32B-1FE8E9E40476}"/>
              </a:ext>
            </a:extLst>
          </p:cNvPr>
          <p:cNvSpPr/>
          <p:nvPr/>
        </p:nvSpPr>
        <p:spPr>
          <a:xfrm>
            <a:off x="6217477" y="3967341"/>
            <a:ext cx="5466521" cy="160758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8D5CF397-B426-F14C-1CAE-5A3131E111EB}"/>
              </a:ext>
            </a:extLst>
          </p:cNvPr>
          <p:cNvSpPr/>
          <p:nvPr/>
        </p:nvSpPr>
        <p:spPr>
          <a:xfrm>
            <a:off x="6217477" y="3967341"/>
            <a:ext cx="85034" cy="1607583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4351709C-C922-46DF-DEC3-330971333AE9}"/>
              </a:ext>
            </a:extLst>
          </p:cNvPr>
          <p:cNvSpPr/>
          <p:nvPr/>
        </p:nvSpPr>
        <p:spPr>
          <a:xfrm>
            <a:off x="6411842" y="4078209"/>
            <a:ext cx="5223565" cy="31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</a:rPr>
              <a:t>SMI (Skeletal Muscle Index) 계산</a:t>
            </a:r>
            <a:endParaRPr lang="en-US" sz="1600" dirty="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5C8A5E0E-0432-DFCF-32DA-C2F0CAED26CF}"/>
              </a:ext>
            </a:extLst>
          </p:cNvPr>
          <p:cNvSpPr/>
          <p:nvPr/>
        </p:nvSpPr>
        <p:spPr>
          <a:xfrm>
            <a:off x="6411842" y="4388639"/>
            <a:ext cx="5223565" cy="1075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SMI (cm²/m²) = L3 근육 단면적 (cm²) ÷ 키² (m²)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Myopenia 기준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여성</a:t>
            </a:r>
            <a:r>
              <a:rPr lang="en-US" sz="1400" dirty="0">
                <a:solidFill>
                  <a:srgbClr val="1E293B"/>
                </a:solidFill>
              </a:rPr>
              <a:t>: SMI &lt; 39 cm²/m²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남성</a:t>
            </a:r>
            <a:r>
              <a:rPr lang="en-US" sz="1400" dirty="0">
                <a:solidFill>
                  <a:srgbClr val="1E293B"/>
                </a:solidFill>
              </a:rPr>
              <a:t>: SMI &lt; 50 cm²/m²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028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BC04D-4B3E-C04A-B667-ADB21C5E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8260E-5E53-84A8-C666-A5F429D9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6EC7DF-3801-85A9-F0C5-F0886369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88AA54-9044-F6A1-2B51-CE46D07C3A9D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DB61E2F5-5AFB-B5D1-3941-FE8C58CCCE53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>
                  <a:solidFill>
                    <a:srgbClr val="1F346B"/>
                  </a:solidFill>
                </a:rPr>
                <a:t>AI Pipeline ② — 3D U-Net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기반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조직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자동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분할</a:t>
              </a:r>
              <a:endParaRPr lang="en-US" altLang="ko-KR" sz="2200" dirty="0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808E9456-7363-D636-AB70-D56FAAAD4CAF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 4">
            <a:extLst>
              <a:ext uri="{FF2B5EF4-FFF2-40B4-BE49-F238E27FC236}">
                <a16:creationId xmlns:a16="http://schemas.microsoft.com/office/drawing/2014/main" id="{5F0C2259-2A29-5063-90F4-C2082FEDAB6F}"/>
              </a:ext>
            </a:extLst>
          </p:cNvPr>
          <p:cNvSpPr/>
          <p:nvPr/>
        </p:nvSpPr>
        <p:spPr>
          <a:xfrm>
            <a:off x="508000" y="1606504"/>
            <a:ext cx="11176000" cy="305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Modified 3D U-Net (Ref. Graffy et al. Br J Radiol 2019; Graffy et al. Radiology 2019)</a:t>
            </a:r>
            <a:endParaRPr lang="en-US" sz="12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7A35F8D-5DEF-4A01-7682-7D68CD2E2BC1}"/>
              </a:ext>
            </a:extLst>
          </p:cNvPr>
          <p:cNvGrpSpPr/>
          <p:nvPr/>
        </p:nvGrpSpPr>
        <p:grpSpPr>
          <a:xfrm>
            <a:off x="508000" y="1978001"/>
            <a:ext cx="4321451" cy="3960611"/>
            <a:chOff x="508000" y="1978001"/>
            <a:chExt cx="5345043" cy="3960611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75425B19-E5D4-985E-51BD-9E26C96C6DA5}"/>
                </a:ext>
              </a:extLst>
            </p:cNvPr>
            <p:cNvSpPr/>
            <p:nvPr/>
          </p:nvSpPr>
          <p:spPr>
            <a:xfrm>
              <a:off x="508000" y="1978001"/>
              <a:ext cx="5345043" cy="480760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54A4A35D-42A7-E193-B65D-496B24255A7D}"/>
                </a:ext>
              </a:extLst>
            </p:cNvPr>
            <p:cNvSpPr/>
            <p:nvPr/>
          </p:nvSpPr>
          <p:spPr>
            <a:xfrm>
              <a:off x="508000" y="1978001"/>
              <a:ext cx="5345043" cy="480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L3 레벨에서 추출</a:t>
              </a:r>
              <a:endParaRPr lang="en-US" dirty="0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F9021042-4E0F-E6B2-E67E-D28D629659B3}"/>
                </a:ext>
              </a:extLst>
            </p:cNvPr>
            <p:cNvSpPr/>
            <p:nvPr/>
          </p:nvSpPr>
          <p:spPr>
            <a:xfrm>
              <a:off x="508000" y="2458761"/>
              <a:ext cx="5345043" cy="1464133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4297E054-188E-E79B-BC3B-CEE3E9D40746}"/>
                </a:ext>
              </a:extLst>
            </p:cNvPr>
            <p:cNvSpPr/>
            <p:nvPr/>
          </p:nvSpPr>
          <p:spPr>
            <a:xfrm>
              <a:off x="726661" y="2649083"/>
              <a:ext cx="4859130" cy="480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▸  총 근육 단면적 (Total Muscle Area, cm²)</a:t>
              </a:r>
              <a:endParaRPr lang="en-US" sz="1400" dirty="0"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5DBC7D2F-4399-45A5-15F3-68BB719D2071}"/>
                </a:ext>
              </a:extLst>
            </p:cNvPr>
            <p:cNvSpPr/>
            <p:nvPr/>
          </p:nvSpPr>
          <p:spPr>
            <a:xfrm>
              <a:off x="726661" y="3070638"/>
              <a:ext cx="4737652" cy="0"/>
            </a:xfrm>
            <a:prstGeom prst="line">
              <a:avLst/>
            </a:prstGeom>
            <a:noFill/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CE0E55EB-09BB-ADAD-3EFC-071C8DF79548}"/>
                </a:ext>
              </a:extLst>
            </p:cNvPr>
            <p:cNvSpPr/>
            <p:nvPr/>
          </p:nvSpPr>
          <p:spPr>
            <a:xfrm>
              <a:off x="726661" y="3182638"/>
              <a:ext cx="4859130" cy="480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▸  근육 밀도 (Muscle Density, HU)</a:t>
              </a:r>
              <a:endParaRPr lang="en-US" sz="140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8BCCD7C-61C9-11DE-1C6E-131F3CB3573A}"/>
                </a:ext>
              </a:extLst>
            </p:cNvPr>
            <p:cNvGrpSpPr/>
            <p:nvPr/>
          </p:nvGrpSpPr>
          <p:grpSpPr>
            <a:xfrm>
              <a:off x="508000" y="3993718"/>
              <a:ext cx="5345043" cy="1944894"/>
              <a:chOff x="6217478" y="1978001"/>
              <a:chExt cx="5345043" cy="1944894"/>
            </a:xfrm>
          </p:grpSpPr>
          <p:sp>
            <p:nvSpPr>
              <p:cNvPr id="18" name="Shape 11">
                <a:extLst>
                  <a:ext uri="{FF2B5EF4-FFF2-40B4-BE49-F238E27FC236}">
                    <a16:creationId xmlns:a16="http://schemas.microsoft.com/office/drawing/2014/main" id="{275BFB31-0456-3764-1970-101CD95BD1FB}"/>
                  </a:ext>
                </a:extLst>
              </p:cNvPr>
              <p:cNvSpPr/>
              <p:nvPr/>
            </p:nvSpPr>
            <p:spPr>
              <a:xfrm>
                <a:off x="6217478" y="1978001"/>
                <a:ext cx="5345043" cy="480760"/>
              </a:xfrm>
              <a:prstGeom prst="rect">
                <a:avLst/>
              </a:prstGeom>
              <a:solidFill>
                <a:srgbClr val="1F346B"/>
              </a:solidFill>
              <a:ln w="12700">
                <a:solidFill>
                  <a:srgbClr val="1F346B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B9B21454-1FF4-08F6-9EEC-DB9DC0866DCD}"/>
                  </a:ext>
                </a:extLst>
              </p:cNvPr>
              <p:cNvSpPr/>
              <p:nvPr/>
            </p:nvSpPr>
            <p:spPr>
              <a:xfrm>
                <a:off x="6217478" y="1978001"/>
                <a:ext cx="5345043" cy="480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  <a:latin typeface="KoPub돋움체 Bold" pitchFamily="34" charset="0"/>
                    <a:ea typeface="KoPub돋움체 Bold" pitchFamily="34" charset="-122"/>
                    <a:cs typeface="KoPub돋움체 Bold" pitchFamily="34" charset="-120"/>
                  </a:rPr>
                  <a:t>L1 레벨에서 추출</a:t>
                </a:r>
                <a:endParaRPr lang="en-US" dirty="0"/>
              </a:p>
            </p:txBody>
          </p:sp>
          <p:sp>
            <p:nvSpPr>
              <p:cNvPr id="20" name="Shape 13">
                <a:extLst>
                  <a:ext uri="{FF2B5EF4-FFF2-40B4-BE49-F238E27FC236}">
                    <a16:creationId xmlns:a16="http://schemas.microsoft.com/office/drawing/2014/main" id="{DD59F42F-C4FE-EF0E-47E2-73C51F69CB5B}"/>
                  </a:ext>
                </a:extLst>
              </p:cNvPr>
              <p:cNvSpPr/>
              <p:nvPr/>
            </p:nvSpPr>
            <p:spPr>
              <a:xfrm>
                <a:off x="6217478" y="2458762"/>
                <a:ext cx="5345043" cy="1464133"/>
              </a:xfrm>
              <a:prstGeom prst="rect">
                <a:avLst/>
              </a:prstGeom>
              <a:solidFill>
                <a:srgbClr val="E8ECF5"/>
              </a:solidFill>
              <a:ln w="6350">
                <a:solidFill>
                  <a:srgbClr val="1F346B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 14">
                <a:extLst>
                  <a:ext uri="{FF2B5EF4-FFF2-40B4-BE49-F238E27FC236}">
                    <a16:creationId xmlns:a16="http://schemas.microsoft.com/office/drawing/2014/main" id="{E85F1D79-B86E-622F-8D51-346C82ADA5E1}"/>
                  </a:ext>
                </a:extLst>
              </p:cNvPr>
              <p:cNvSpPr/>
              <p:nvPr/>
            </p:nvSpPr>
            <p:spPr>
              <a:xfrm>
                <a:off x="6436139" y="2568025"/>
                <a:ext cx="4859130" cy="480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KoPub돋움체 Medium" pitchFamily="34" charset="0"/>
                    <a:ea typeface="KoPub돋움체 Medium" pitchFamily="34" charset="-122"/>
                    <a:cs typeface="KoPub돋움체 Medium" pitchFamily="34" charset="-120"/>
                  </a:rPr>
                  <a:t>▸  피하지방 면적 (Subcutaneous Fat, cm²)</a:t>
                </a:r>
                <a:endParaRPr lang="en-US" sz="1400" dirty="0"/>
              </a:p>
            </p:txBody>
          </p:sp>
          <p:sp>
            <p:nvSpPr>
              <p:cNvPr id="23" name="Text 16">
                <a:extLst>
                  <a:ext uri="{FF2B5EF4-FFF2-40B4-BE49-F238E27FC236}">
                    <a16:creationId xmlns:a16="http://schemas.microsoft.com/office/drawing/2014/main" id="{061A258A-5B62-E390-31F8-EAD518ED8439}"/>
                  </a:ext>
                </a:extLst>
              </p:cNvPr>
              <p:cNvSpPr/>
              <p:nvPr/>
            </p:nvSpPr>
            <p:spPr>
              <a:xfrm>
                <a:off x="6436139" y="3004830"/>
                <a:ext cx="4859130" cy="480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KoPub돋움체 Medium" pitchFamily="34" charset="0"/>
                    <a:ea typeface="KoPub돋움체 Medium" pitchFamily="34" charset="-122"/>
                    <a:cs typeface="KoPub돋움체 Medium" pitchFamily="34" charset="-120"/>
                  </a:rPr>
                  <a:t>▸  내장지방 면적 (Visceral Fat, cm²)</a:t>
                </a:r>
                <a:endParaRPr lang="en-US" sz="1400" dirty="0"/>
              </a:p>
            </p:txBody>
          </p:sp>
          <p:sp>
            <p:nvSpPr>
              <p:cNvPr id="24" name="Shape 17">
                <a:extLst>
                  <a:ext uri="{FF2B5EF4-FFF2-40B4-BE49-F238E27FC236}">
                    <a16:creationId xmlns:a16="http://schemas.microsoft.com/office/drawing/2014/main" id="{2E69F959-A62F-2961-79A2-3DF6DAA63477}"/>
                  </a:ext>
                </a:extLst>
              </p:cNvPr>
              <p:cNvSpPr/>
              <p:nvPr/>
            </p:nvSpPr>
            <p:spPr>
              <a:xfrm>
                <a:off x="6436139" y="3616956"/>
                <a:ext cx="4737652" cy="0"/>
              </a:xfrm>
              <a:prstGeom prst="line">
                <a:avLst/>
              </a:prstGeom>
              <a:noFill/>
              <a:ln w="508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 18">
                <a:extLst>
                  <a:ext uri="{FF2B5EF4-FFF2-40B4-BE49-F238E27FC236}">
                    <a16:creationId xmlns:a16="http://schemas.microsoft.com/office/drawing/2014/main" id="{B0B085E5-F820-7B2E-887A-6D4A9B3CB7EB}"/>
                  </a:ext>
                </a:extLst>
              </p:cNvPr>
              <p:cNvSpPr/>
              <p:nvPr/>
            </p:nvSpPr>
            <p:spPr>
              <a:xfrm>
                <a:off x="6436139" y="3441636"/>
                <a:ext cx="4859130" cy="480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KoPub돋움체 Medium" pitchFamily="34" charset="0"/>
                    <a:ea typeface="KoPub돋움체 Medium" pitchFamily="34" charset="-122"/>
                    <a:cs typeface="KoPub돋움체 Medium" pitchFamily="34" charset="-120"/>
                  </a:rPr>
                  <a:t>▸  간 밀도 (Liver Density, HU)</a:t>
                </a:r>
                <a:endParaRPr lang="en-US" sz="1400" dirty="0"/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9BB85F-CDF9-3E5C-959C-8D392B4D0C10}"/>
              </a:ext>
            </a:extLst>
          </p:cNvPr>
          <p:cNvGrpSpPr/>
          <p:nvPr/>
        </p:nvGrpSpPr>
        <p:grpSpPr>
          <a:xfrm>
            <a:off x="508000" y="5974506"/>
            <a:ext cx="11176000" cy="415202"/>
            <a:chOff x="508000" y="5933347"/>
            <a:chExt cx="11176000" cy="415202"/>
          </a:xfrm>
        </p:grpSpPr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2C049C8F-BB76-CEB0-E9FD-C112D43F94F1}"/>
                </a:ext>
              </a:extLst>
            </p:cNvPr>
            <p:cNvSpPr/>
            <p:nvPr/>
          </p:nvSpPr>
          <p:spPr>
            <a:xfrm>
              <a:off x="508000" y="5933347"/>
              <a:ext cx="11176000" cy="415202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B0752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CDA4B04D-79C6-75E3-A935-172B61335C02}"/>
                </a:ext>
              </a:extLst>
            </p:cNvPr>
            <p:cNvSpPr/>
            <p:nvPr/>
          </p:nvSpPr>
          <p:spPr>
            <a:xfrm>
              <a:off x="508000" y="5933347"/>
              <a:ext cx="72887" cy="415202"/>
            </a:xfrm>
            <a:prstGeom prst="rect">
              <a:avLst/>
            </a:prstGeom>
            <a:solidFill>
              <a:srgbClr val="B07520"/>
            </a:solidFill>
            <a:ln w="12700">
              <a:solidFill>
                <a:srgbClr val="B0752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3FCA3796-1B6B-8DFD-0EF8-F0291D4E9BC8}"/>
                </a:ext>
              </a:extLst>
            </p:cNvPr>
            <p:cNvSpPr/>
            <p:nvPr/>
          </p:nvSpPr>
          <p:spPr>
            <a:xfrm>
              <a:off x="678070" y="5933347"/>
              <a:ext cx="10957339" cy="41520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A5600"/>
                  </a:solidFill>
                </a:rPr>
                <a:t>⚑  Raw CT에서는 육안으로 Myosteatosis 구분이 어렵다고 논문은 밝힘 → HU 기반 AI 분석의 임상적 필요성</a:t>
              </a:r>
              <a:endParaRPr lang="en-US" sz="1200" dirty="0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F846562-4BAE-9090-1509-EC5D180F3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304" y="1941699"/>
            <a:ext cx="6711810" cy="399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1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10EC-15DF-9363-1A50-89C485EF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AE36-401A-EE34-99D0-82824E41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D3723-A0A3-A7C3-BD2E-25EFAD1D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D7860EA-249C-BBBF-14EC-D219970F0236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ED6BCC4B-43BE-8D6A-4D33-F976C6D3AE0E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>
                  <a:solidFill>
                    <a:srgbClr val="1F346B"/>
                  </a:solidFill>
                </a:rPr>
                <a:t>AI Pipeline ③ —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이진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분류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기준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정의</a:t>
              </a:r>
              <a:endParaRPr lang="en-US" altLang="ko-KR" sz="2200" dirty="0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712ADCA7-3344-3FB5-18BA-9112B64D4F3C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9AD9C3B-7D23-AEB0-C920-47A1E6F81DEF}"/>
              </a:ext>
            </a:extLst>
          </p:cNvPr>
          <p:cNvGrpSpPr/>
          <p:nvPr/>
        </p:nvGrpSpPr>
        <p:grpSpPr>
          <a:xfrm>
            <a:off x="507999" y="1674222"/>
            <a:ext cx="11175999" cy="2601686"/>
            <a:chOff x="507999" y="1674222"/>
            <a:chExt cx="11175999" cy="2939410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880151EC-874D-FA6A-00E2-18DF26452811}"/>
                </a:ext>
              </a:extLst>
            </p:cNvPr>
            <p:cNvSpPr/>
            <p:nvPr/>
          </p:nvSpPr>
          <p:spPr>
            <a:xfrm>
              <a:off x="507999" y="1674222"/>
              <a:ext cx="11175999" cy="46411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891A5822-AC77-BF51-9A46-D79E27118BE7}"/>
                </a:ext>
              </a:extLst>
            </p:cNvPr>
            <p:cNvSpPr/>
            <p:nvPr/>
          </p:nvSpPr>
          <p:spPr>
            <a:xfrm>
              <a:off x="605182" y="1674222"/>
              <a:ext cx="2065130" cy="46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지표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EE80CD4F-59B9-0602-A49A-0BD008BA1052}"/>
                </a:ext>
              </a:extLst>
            </p:cNvPr>
            <p:cNvSpPr/>
            <p:nvPr/>
          </p:nvSpPr>
          <p:spPr>
            <a:xfrm>
              <a:off x="2816086" y="1674222"/>
              <a:ext cx="2551043" cy="46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기준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F7DB2C71-A77A-1312-FA1A-D3745BA88BD1}"/>
                </a:ext>
              </a:extLst>
            </p:cNvPr>
            <p:cNvSpPr/>
            <p:nvPr/>
          </p:nvSpPr>
          <p:spPr>
            <a:xfrm>
              <a:off x="5512903" y="1674222"/>
              <a:ext cx="1457739" cy="46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남성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Text 8">
              <a:extLst>
                <a:ext uri="{FF2B5EF4-FFF2-40B4-BE49-F238E27FC236}">
                  <a16:creationId xmlns:a16="http://schemas.microsoft.com/office/drawing/2014/main" id="{93FAE2AC-E92E-EA92-ABCA-B0ABB657BF32}"/>
                </a:ext>
              </a:extLst>
            </p:cNvPr>
            <p:cNvSpPr/>
            <p:nvPr/>
          </p:nvSpPr>
          <p:spPr>
            <a:xfrm>
              <a:off x="7116416" y="1674222"/>
              <a:ext cx="1457739" cy="46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여성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7A83DD0D-B142-4810-BD05-CD2B72E66727}"/>
                </a:ext>
              </a:extLst>
            </p:cNvPr>
            <p:cNvSpPr/>
            <p:nvPr/>
          </p:nvSpPr>
          <p:spPr>
            <a:xfrm>
              <a:off x="8719929" y="1674222"/>
              <a:ext cx="2672522" cy="46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측정 방법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4" name="Shape 10">
              <a:extLst>
                <a:ext uri="{FF2B5EF4-FFF2-40B4-BE49-F238E27FC236}">
                  <a16:creationId xmlns:a16="http://schemas.microsoft.com/office/drawing/2014/main" id="{EC39FF39-2E61-14B4-1C87-2348FE4AF97C}"/>
                </a:ext>
              </a:extLst>
            </p:cNvPr>
            <p:cNvSpPr/>
            <p:nvPr/>
          </p:nvSpPr>
          <p:spPr>
            <a:xfrm>
              <a:off x="507999" y="2138339"/>
              <a:ext cx="11175999" cy="618823"/>
            </a:xfrm>
            <a:prstGeom prst="rect">
              <a:avLst/>
            </a:prstGeom>
            <a:solidFill>
              <a:srgbClr val="E8ECF5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E5CEB208-A8CB-D18D-FA55-FEA750F5DFFA}"/>
                </a:ext>
              </a:extLst>
            </p:cNvPr>
            <p:cNvSpPr/>
            <p:nvPr/>
          </p:nvSpPr>
          <p:spPr>
            <a:xfrm>
              <a:off x="507999" y="2138339"/>
              <a:ext cx="0" cy="618823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7171B20C-8649-CFC9-7C01-7BA621E4A22F}"/>
                </a:ext>
              </a:extLst>
            </p:cNvPr>
            <p:cNvSpPr/>
            <p:nvPr/>
          </p:nvSpPr>
          <p:spPr>
            <a:xfrm>
              <a:off x="605182" y="2138339"/>
              <a:ext cx="2065130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Myosteatosis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5AE79CC8-4993-1421-3941-446FF0BEAF1B}"/>
                </a:ext>
              </a:extLst>
            </p:cNvPr>
            <p:cNvSpPr/>
            <p:nvPr/>
          </p:nvSpPr>
          <p:spPr>
            <a:xfrm>
              <a:off x="2816086" y="2138339"/>
              <a:ext cx="2551043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근육 밀도 최하위 Q1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8" name="Text 14">
              <a:extLst>
                <a:ext uri="{FF2B5EF4-FFF2-40B4-BE49-F238E27FC236}">
                  <a16:creationId xmlns:a16="http://schemas.microsoft.com/office/drawing/2014/main" id="{0DF53FEC-69FB-BC2B-0FE7-6FFC72AB2EA7}"/>
                </a:ext>
              </a:extLst>
            </p:cNvPr>
            <p:cNvSpPr/>
            <p:nvPr/>
          </p:nvSpPr>
          <p:spPr>
            <a:xfrm>
              <a:off x="5512903" y="2138339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≤ 28.1 HU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C3D33176-B05C-A3BE-C062-53142211DF91}"/>
                </a:ext>
              </a:extLst>
            </p:cNvPr>
            <p:cNvSpPr/>
            <p:nvPr/>
          </p:nvSpPr>
          <p:spPr>
            <a:xfrm>
              <a:off x="7116416" y="2138339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≤ 18.9 HU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D1C14715-0938-E30C-4115-2FEA7A2B98E8}"/>
                </a:ext>
              </a:extLst>
            </p:cNvPr>
            <p:cNvSpPr/>
            <p:nvPr/>
          </p:nvSpPr>
          <p:spPr>
            <a:xfrm>
              <a:off x="8719929" y="2138339"/>
              <a:ext cx="2672522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L3 근육 전체 평균 HU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4272AE39-7BC4-4DE1-98A6-1BD24D21BC80}"/>
                </a:ext>
              </a:extLst>
            </p:cNvPr>
            <p:cNvSpPr/>
            <p:nvPr/>
          </p:nvSpPr>
          <p:spPr>
            <a:xfrm>
              <a:off x="507999" y="2757163"/>
              <a:ext cx="11175999" cy="618823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18">
              <a:extLst>
                <a:ext uri="{FF2B5EF4-FFF2-40B4-BE49-F238E27FC236}">
                  <a16:creationId xmlns:a16="http://schemas.microsoft.com/office/drawing/2014/main" id="{E1E7AB39-F824-45F3-FF1C-8DDC082F709C}"/>
                </a:ext>
              </a:extLst>
            </p:cNvPr>
            <p:cNvSpPr/>
            <p:nvPr/>
          </p:nvSpPr>
          <p:spPr>
            <a:xfrm>
              <a:off x="507999" y="2757163"/>
              <a:ext cx="0" cy="618823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2DBC65B3-D6EE-D574-F9CD-AC6630D35C5F}"/>
                </a:ext>
              </a:extLst>
            </p:cNvPr>
            <p:cNvSpPr/>
            <p:nvPr/>
          </p:nvSpPr>
          <p:spPr>
            <a:xfrm>
              <a:off x="605182" y="2757163"/>
              <a:ext cx="2065130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Myopenia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BA2CE4C-DAB4-DA05-C30A-EA65CBCF9097}"/>
                </a:ext>
              </a:extLst>
            </p:cNvPr>
            <p:cNvSpPr/>
            <p:nvPr/>
          </p:nvSpPr>
          <p:spPr>
            <a:xfrm>
              <a:off x="2816086" y="2757163"/>
              <a:ext cx="2551043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SMI 기준 이하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3E70F49-017D-9E1F-985B-7EC044D01B04}"/>
                </a:ext>
              </a:extLst>
            </p:cNvPr>
            <p:cNvSpPr/>
            <p:nvPr/>
          </p:nvSpPr>
          <p:spPr>
            <a:xfrm>
              <a:off x="5512903" y="2757163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&lt; 50 cm²/m²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B31AF612-D123-6227-5B8A-BAF80DE0D0B6}"/>
                </a:ext>
              </a:extLst>
            </p:cNvPr>
            <p:cNvSpPr/>
            <p:nvPr/>
          </p:nvSpPr>
          <p:spPr>
            <a:xfrm>
              <a:off x="7116416" y="2757163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&lt; 39 cm²/m²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EA381AC2-3DA9-872D-47DB-B129B6AF7A3B}"/>
                </a:ext>
              </a:extLst>
            </p:cNvPr>
            <p:cNvSpPr/>
            <p:nvPr/>
          </p:nvSpPr>
          <p:spPr>
            <a:xfrm>
              <a:off x="8719929" y="2757163"/>
              <a:ext cx="2672522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L3 근육면적 ÷ 키²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8" name="Shape 24">
              <a:extLst>
                <a:ext uri="{FF2B5EF4-FFF2-40B4-BE49-F238E27FC236}">
                  <a16:creationId xmlns:a16="http://schemas.microsoft.com/office/drawing/2014/main" id="{7A511F25-46F1-09DE-7C36-1A0ECBB7FA89}"/>
                </a:ext>
              </a:extLst>
            </p:cNvPr>
            <p:cNvSpPr/>
            <p:nvPr/>
          </p:nvSpPr>
          <p:spPr>
            <a:xfrm>
              <a:off x="507999" y="3375986"/>
              <a:ext cx="11175999" cy="618823"/>
            </a:xfrm>
            <a:prstGeom prst="rect">
              <a:avLst/>
            </a:prstGeom>
            <a:solidFill>
              <a:srgbClr val="E8ECF5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D8D47B0B-9997-49C4-DBCE-FCCD58C9324E}"/>
                </a:ext>
              </a:extLst>
            </p:cNvPr>
            <p:cNvSpPr/>
            <p:nvPr/>
          </p:nvSpPr>
          <p:spPr>
            <a:xfrm>
              <a:off x="507999" y="3375986"/>
              <a:ext cx="0" cy="618823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36657E2D-56F8-77D8-B637-126B09CAE098}"/>
                </a:ext>
              </a:extLst>
            </p:cNvPr>
            <p:cNvSpPr/>
            <p:nvPr/>
          </p:nvSpPr>
          <p:spPr>
            <a:xfrm>
              <a:off x="605182" y="3375986"/>
              <a:ext cx="2065130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간 지방증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1" name="Text 27">
              <a:extLst>
                <a:ext uri="{FF2B5EF4-FFF2-40B4-BE49-F238E27FC236}">
                  <a16:creationId xmlns:a16="http://schemas.microsoft.com/office/drawing/2014/main" id="{664DECDD-2200-6CBD-69F6-49073A048792}"/>
                </a:ext>
              </a:extLst>
            </p:cNvPr>
            <p:cNvSpPr/>
            <p:nvPr/>
          </p:nvSpPr>
          <p:spPr>
            <a:xfrm>
              <a:off x="2816086" y="3375986"/>
              <a:ext cx="2551043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간 밀도 기준 이하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2" name="Text 28">
              <a:extLst>
                <a:ext uri="{FF2B5EF4-FFF2-40B4-BE49-F238E27FC236}">
                  <a16:creationId xmlns:a16="http://schemas.microsoft.com/office/drawing/2014/main" id="{BEDAA83E-87FA-9F61-8F1A-57D348D19969}"/>
                </a:ext>
              </a:extLst>
            </p:cNvPr>
            <p:cNvSpPr/>
            <p:nvPr/>
          </p:nvSpPr>
          <p:spPr>
            <a:xfrm>
              <a:off x="5512903" y="3375986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&lt; 57 HU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9E55C91-8D96-E83E-E073-6D40A24572D5}"/>
                </a:ext>
              </a:extLst>
            </p:cNvPr>
            <p:cNvSpPr/>
            <p:nvPr/>
          </p:nvSpPr>
          <p:spPr>
            <a:xfrm>
              <a:off x="7116416" y="3375986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&lt; 57 HU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2813C18-CE0C-8707-F0B5-0BA918E7FC94}"/>
                </a:ext>
              </a:extLst>
            </p:cNvPr>
            <p:cNvSpPr/>
            <p:nvPr/>
          </p:nvSpPr>
          <p:spPr>
            <a:xfrm>
              <a:off x="8719929" y="3375986"/>
              <a:ext cx="2672522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L1 간 밀도 (= PDFF 5%)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5" name="Shape 31">
              <a:extLst>
                <a:ext uri="{FF2B5EF4-FFF2-40B4-BE49-F238E27FC236}">
                  <a16:creationId xmlns:a16="http://schemas.microsoft.com/office/drawing/2014/main" id="{0900C101-43BE-3253-5BDC-157656A2D7C7}"/>
                </a:ext>
              </a:extLst>
            </p:cNvPr>
            <p:cNvSpPr/>
            <p:nvPr/>
          </p:nvSpPr>
          <p:spPr>
            <a:xfrm>
              <a:off x="507999" y="3994809"/>
              <a:ext cx="11175999" cy="618823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Shape 32">
              <a:extLst>
                <a:ext uri="{FF2B5EF4-FFF2-40B4-BE49-F238E27FC236}">
                  <a16:creationId xmlns:a16="http://schemas.microsoft.com/office/drawing/2014/main" id="{A4D2EDA2-53A0-D5FE-9BB0-C5F17E230131}"/>
                </a:ext>
              </a:extLst>
            </p:cNvPr>
            <p:cNvSpPr/>
            <p:nvPr/>
          </p:nvSpPr>
          <p:spPr>
            <a:xfrm>
              <a:off x="507999" y="3994809"/>
              <a:ext cx="0" cy="618823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F34E0BE8-BD8B-0D0B-F321-8D3062A79967}"/>
                </a:ext>
              </a:extLst>
            </p:cNvPr>
            <p:cNvSpPr/>
            <p:nvPr/>
          </p:nvSpPr>
          <p:spPr>
            <a:xfrm>
              <a:off x="605182" y="3994809"/>
              <a:ext cx="2065130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비만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81402AA5-9926-233D-95D3-EE2A6AAE7759}"/>
                </a:ext>
              </a:extLst>
            </p:cNvPr>
            <p:cNvSpPr/>
            <p:nvPr/>
          </p:nvSpPr>
          <p:spPr>
            <a:xfrm>
              <a:off x="2816086" y="3994809"/>
              <a:ext cx="2551043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BMI 기준 이상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D2178146-8ACE-251F-C0FC-B7E70F86E87D}"/>
                </a:ext>
              </a:extLst>
            </p:cNvPr>
            <p:cNvSpPr/>
            <p:nvPr/>
          </p:nvSpPr>
          <p:spPr>
            <a:xfrm>
              <a:off x="5512903" y="3994809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≥ 30 kg/m²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0" name="Text 36">
              <a:extLst>
                <a:ext uri="{FF2B5EF4-FFF2-40B4-BE49-F238E27FC236}">
                  <a16:creationId xmlns:a16="http://schemas.microsoft.com/office/drawing/2014/main" id="{24361D92-49FF-75D5-4B9E-F936285F7A73}"/>
                </a:ext>
              </a:extLst>
            </p:cNvPr>
            <p:cNvSpPr/>
            <p:nvPr/>
          </p:nvSpPr>
          <p:spPr>
            <a:xfrm>
              <a:off x="7116416" y="3994809"/>
              <a:ext cx="1457739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≥ 30 kg/m²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165D54AB-06DA-873C-4C09-1B130D92EE60}"/>
                </a:ext>
              </a:extLst>
            </p:cNvPr>
            <p:cNvSpPr/>
            <p:nvPr/>
          </p:nvSpPr>
          <p:spPr>
            <a:xfrm>
              <a:off x="8719929" y="3994809"/>
              <a:ext cx="2672522" cy="6188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체중 ÷ 키²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D85FA7E-181A-F213-2DBD-920D7810BF58}"/>
              </a:ext>
            </a:extLst>
          </p:cNvPr>
          <p:cNvGrpSpPr/>
          <p:nvPr/>
        </p:nvGrpSpPr>
        <p:grpSpPr>
          <a:xfrm>
            <a:off x="507999" y="4620923"/>
            <a:ext cx="11175999" cy="1417665"/>
            <a:chOff x="507999" y="4757287"/>
            <a:chExt cx="11175999" cy="1105041"/>
          </a:xfrm>
        </p:grpSpPr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53995834-A2E9-0FE2-A9CC-981E0A164C58}"/>
                </a:ext>
              </a:extLst>
            </p:cNvPr>
            <p:cNvSpPr/>
            <p:nvPr/>
          </p:nvSpPr>
          <p:spPr>
            <a:xfrm>
              <a:off x="507999" y="4757287"/>
              <a:ext cx="11175999" cy="1105041"/>
            </a:xfrm>
            <a:prstGeom prst="rect">
              <a:avLst/>
            </a:prstGeom>
            <a:solidFill>
              <a:srgbClr val="FDECEA"/>
            </a:solidFill>
            <a:ln w="1016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F46F1E94-B5B6-D3F5-5ABE-B6F1FE46ABD9}"/>
                </a:ext>
              </a:extLst>
            </p:cNvPr>
            <p:cNvSpPr/>
            <p:nvPr/>
          </p:nvSpPr>
          <p:spPr>
            <a:xfrm>
              <a:off x="507999" y="4757287"/>
              <a:ext cx="85035" cy="1105041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46EBCFEA-3244-6E84-A634-7F9BE89CDC8D}"/>
                </a:ext>
              </a:extLst>
            </p:cNvPr>
            <p:cNvSpPr/>
            <p:nvPr/>
          </p:nvSpPr>
          <p:spPr>
            <a:xfrm>
              <a:off x="702364" y="4845691"/>
              <a:ext cx="10933043" cy="331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⚠  Myosteatosis 기준의 중요한 쟁점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BBB97C45-D7DD-8501-7A7B-DBD5F06B0933}"/>
                </a:ext>
              </a:extLst>
            </p:cNvPr>
            <p:cNvSpPr/>
            <p:nvPr/>
          </p:nvSpPr>
          <p:spPr>
            <a:xfrm>
              <a:off x="702364" y="5199304"/>
              <a:ext cx="10933043" cy="59672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25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이 논문은 분포 기반(Q1) cutoff 사용 → 유병률이 정확히 25%로 고정됨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8B25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기존 문헌은 outcome 기반 또는 사전 설정 HU 범위 사용 → 논문 간 비교 어려움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8B25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→ 이 논문의 HU cutoff 값이 기존 문헌보다 낮게 나오는 원인 (저자 한계로 언급)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2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897A-997F-5672-388C-3C796E7A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F0550-01EA-4A95-B6AE-4F13F123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BEB94-283D-49F9-517B-3955D9B6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86C94E2-A592-50EE-0148-6DCDAAFA73E9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7CBDCD47-B884-1BDE-D48A-F0E7058B83F2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>
                  <a:solidFill>
                    <a:srgbClr val="1F346B"/>
                  </a:solidFill>
                </a:rPr>
                <a:t>3가지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통계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모델로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결과를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교차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검증한다</a:t>
              </a:r>
              <a:endParaRPr lang="en-US" altLang="ko-KR" sz="2200" dirty="0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3B42DB67-601A-8BBC-DAC3-DA706E58A00C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Shape 4">
            <a:extLst>
              <a:ext uri="{FF2B5EF4-FFF2-40B4-BE49-F238E27FC236}">
                <a16:creationId xmlns:a16="http://schemas.microsoft.com/office/drawing/2014/main" id="{175BFC7F-EF58-DE08-A176-893A45F1E265}"/>
              </a:ext>
            </a:extLst>
          </p:cNvPr>
          <p:cNvSpPr/>
          <p:nvPr/>
        </p:nvSpPr>
        <p:spPr>
          <a:xfrm>
            <a:off x="508000" y="1691639"/>
            <a:ext cx="3566809" cy="405908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EA9AF6A-A7AA-190E-3ED2-258A66850FB2}"/>
              </a:ext>
            </a:extLst>
          </p:cNvPr>
          <p:cNvSpPr/>
          <p:nvPr/>
        </p:nvSpPr>
        <p:spPr>
          <a:xfrm>
            <a:off x="508000" y="1691639"/>
            <a:ext cx="3566809" cy="388757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65396DB-55B1-880B-2152-90E494EA6037}"/>
              </a:ext>
            </a:extLst>
          </p:cNvPr>
          <p:cNvSpPr/>
          <p:nvPr/>
        </p:nvSpPr>
        <p:spPr>
          <a:xfrm>
            <a:off x="508000" y="1691639"/>
            <a:ext cx="3566809" cy="388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MODEL 01</a:t>
            </a:r>
            <a:endParaRPr lang="en-US" sz="1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9759EE9-9541-A712-3D31-92CFFE03A509}"/>
              </a:ext>
            </a:extLst>
          </p:cNvPr>
          <p:cNvSpPr/>
          <p:nvPr/>
        </p:nvSpPr>
        <p:spPr>
          <a:xfrm>
            <a:off x="650672" y="2137566"/>
            <a:ext cx="3281464" cy="640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Cox Proportional Hazards Model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BDF4190-A7E9-2BC0-2298-B2FD62713F97}"/>
              </a:ext>
            </a:extLst>
          </p:cNvPr>
          <p:cNvSpPr/>
          <p:nvPr/>
        </p:nvSpPr>
        <p:spPr>
          <a:xfrm>
            <a:off x="650672" y="2846476"/>
            <a:ext cx="594468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7AFA575-D132-A114-3B60-EF3BCCF3A31E}"/>
              </a:ext>
            </a:extLst>
          </p:cNvPr>
          <p:cNvSpPr/>
          <p:nvPr/>
        </p:nvSpPr>
        <p:spPr>
          <a:xfrm>
            <a:off x="1151631" y="2846476"/>
            <a:ext cx="2780505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생존 분석의 표준 방법</a:t>
            </a:r>
            <a:endParaRPr lang="en-US" sz="12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C1EB020-584B-EE9A-0320-448BEE5676A3}"/>
              </a:ext>
            </a:extLst>
          </p:cNvPr>
          <p:cNvSpPr/>
          <p:nvPr/>
        </p:nvSpPr>
        <p:spPr>
          <a:xfrm>
            <a:off x="650672" y="3166629"/>
            <a:ext cx="328146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5113D61-2984-D712-A5C3-FFA07A54E728}"/>
              </a:ext>
            </a:extLst>
          </p:cNvPr>
          <p:cNvSpPr/>
          <p:nvPr/>
        </p:nvSpPr>
        <p:spPr>
          <a:xfrm>
            <a:off x="650672" y="3235233"/>
            <a:ext cx="594468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65C9F96-6664-FA95-7865-3844959DA4C2}"/>
              </a:ext>
            </a:extLst>
          </p:cNvPr>
          <p:cNvSpPr/>
          <p:nvPr/>
        </p:nvSpPr>
        <p:spPr>
          <a:xfrm>
            <a:off x="1151631" y="3235233"/>
            <a:ext cx="2780505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단변량: 각 지표 → HR 산출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다변량: 나이·성별·흡연·당뇨·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심혈관 기왕력·비만·내장지방 보정</a:t>
            </a:r>
            <a:endParaRPr lang="en-US" sz="1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8CEFC5EA-B92A-DD2B-2587-3CF4F2AEE191}"/>
              </a:ext>
            </a:extLst>
          </p:cNvPr>
          <p:cNvSpPr/>
          <p:nvPr/>
        </p:nvSpPr>
        <p:spPr>
          <a:xfrm>
            <a:off x="650672" y="4355768"/>
            <a:ext cx="3281464" cy="68604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FCBDF9B-AF5A-15C3-CFBE-1F7D598AD957}"/>
              </a:ext>
            </a:extLst>
          </p:cNvPr>
          <p:cNvSpPr/>
          <p:nvPr/>
        </p:nvSpPr>
        <p:spPr>
          <a:xfrm>
            <a:off x="650672" y="4470109"/>
            <a:ext cx="3281464" cy="1143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결과 지표: HR (Hazard Ratio)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 사망 위험이 몇 배 높은가</a:t>
            </a:r>
            <a:endParaRPr lang="en-US" sz="14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6FD4F363-1503-5E33-5E4A-2B2B074475D0}"/>
              </a:ext>
            </a:extLst>
          </p:cNvPr>
          <p:cNvSpPr/>
          <p:nvPr/>
        </p:nvSpPr>
        <p:spPr>
          <a:xfrm>
            <a:off x="4312596" y="1691639"/>
            <a:ext cx="3566809" cy="405908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924E29C5-C7F2-525D-AB01-5097F80369D7}"/>
              </a:ext>
            </a:extLst>
          </p:cNvPr>
          <p:cNvSpPr/>
          <p:nvPr/>
        </p:nvSpPr>
        <p:spPr>
          <a:xfrm>
            <a:off x="4312596" y="1691639"/>
            <a:ext cx="3566809" cy="388757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D905BC8-C5B9-EC99-9740-B9265FB79735}"/>
              </a:ext>
            </a:extLst>
          </p:cNvPr>
          <p:cNvSpPr/>
          <p:nvPr/>
        </p:nvSpPr>
        <p:spPr>
          <a:xfrm>
            <a:off x="4312596" y="1691639"/>
            <a:ext cx="3566809" cy="388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MODEL 02</a:t>
            </a:r>
            <a:endParaRPr lang="en-US" sz="12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454619B-E9FB-6772-7482-F4E4283EC9B7}"/>
              </a:ext>
            </a:extLst>
          </p:cNvPr>
          <p:cNvSpPr/>
          <p:nvPr/>
        </p:nvSpPr>
        <p:spPr>
          <a:xfrm>
            <a:off x="4455268" y="2137566"/>
            <a:ext cx="3281464" cy="640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Multistate Markov Model</a:t>
            </a:r>
            <a:endParaRPr lang="en-US" sz="16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3AE4609-EF23-1840-7066-EC12E726D4C3}"/>
              </a:ext>
            </a:extLst>
          </p:cNvPr>
          <p:cNvSpPr/>
          <p:nvPr/>
        </p:nvSpPr>
        <p:spPr>
          <a:xfrm>
            <a:off x="4455268" y="2846476"/>
            <a:ext cx="594468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FD3562D6-08E8-E895-AF82-8F6B7E43243A}"/>
              </a:ext>
            </a:extLst>
          </p:cNvPr>
          <p:cNvSpPr/>
          <p:nvPr/>
        </p:nvSpPr>
        <p:spPr>
          <a:xfrm>
            <a:off x="4956227" y="2846476"/>
            <a:ext cx="2780505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MACE 경유 경로까지 고려</a:t>
            </a:r>
            <a:endParaRPr lang="en-US" sz="12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8DB9F1EA-F586-9D4B-FB3D-EFFD0248BD59}"/>
              </a:ext>
            </a:extLst>
          </p:cNvPr>
          <p:cNvSpPr/>
          <p:nvPr/>
        </p:nvSpPr>
        <p:spPr>
          <a:xfrm>
            <a:off x="4455268" y="3166629"/>
            <a:ext cx="328146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88D4D1A3-D8F9-026A-7B67-799FC3635AD5}"/>
              </a:ext>
            </a:extLst>
          </p:cNvPr>
          <p:cNvSpPr/>
          <p:nvPr/>
        </p:nvSpPr>
        <p:spPr>
          <a:xfrm>
            <a:off x="4455268" y="3235233"/>
            <a:ext cx="594468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42AEB17-DC8D-B19A-0300-08CE9451756C}"/>
              </a:ext>
            </a:extLst>
          </p:cNvPr>
          <p:cNvSpPr/>
          <p:nvPr/>
        </p:nvSpPr>
        <p:spPr>
          <a:xfrm>
            <a:off x="4956227" y="3235233"/>
            <a:ext cx="2780505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CT → 1st MACE → 2nd MACE → 사망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각 transition 분리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중간 상태를 통한 간접 경로 모델링</a:t>
            </a:r>
            <a:endParaRPr lang="en-US" sz="12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2E556B37-D13A-F6B3-7B35-E7E7838FCC8E}"/>
              </a:ext>
            </a:extLst>
          </p:cNvPr>
          <p:cNvSpPr/>
          <p:nvPr/>
        </p:nvSpPr>
        <p:spPr>
          <a:xfrm>
            <a:off x="4455268" y="4355768"/>
            <a:ext cx="3281464" cy="68604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90711DC6-076B-382D-5309-D44884F44C6A}"/>
              </a:ext>
            </a:extLst>
          </p:cNvPr>
          <p:cNvSpPr/>
          <p:nvPr/>
        </p:nvSpPr>
        <p:spPr>
          <a:xfrm>
            <a:off x="4455268" y="4470109"/>
            <a:ext cx="3281464" cy="1143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결과 지표: 각 transition 단계별 HR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→ MACE 이후에도 유지되는지 검증</a:t>
            </a:r>
            <a:endParaRPr lang="en-US" sz="140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6675453-791B-9E99-6ED5-8422F7BA5EBB}"/>
              </a:ext>
            </a:extLst>
          </p:cNvPr>
          <p:cNvSpPr/>
          <p:nvPr/>
        </p:nvSpPr>
        <p:spPr>
          <a:xfrm>
            <a:off x="8117191" y="1691639"/>
            <a:ext cx="3566809" cy="4059081"/>
          </a:xfrm>
          <a:prstGeom prst="rect">
            <a:avLst/>
          </a:prstGeom>
          <a:solidFill>
            <a:srgbClr val="F5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98A947BD-B895-E2EC-DE11-1FC067781CD0}"/>
              </a:ext>
            </a:extLst>
          </p:cNvPr>
          <p:cNvSpPr/>
          <p:nvPr/>
        </p:nvSpPr>
        <p:spPr>
          <a:xfrm>
            <a:off x="8117191" y="1691639"/>
            <a:ext cx="3566809" cy="388757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6AB46308-91ED-7139-23B9-60CBF3C72A20}"/>
              </a:ext>
            </a:extLst>
          </p:cNvPr>
          <p:cNvSpPr/>
          <p:nvPr/>
        </p:nvSpPr>
        <p:spPr>
          <a:xfrm>
            <a:off x="8117191" y="1691639"/>
            <a:ext cx="3566809" cy="388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MODEL 03</a:t>
            </a:r>
            <a:endParaRPr lang="en-US" sz="120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0167A6E2-2243-A347-E23B-4474E5ECFD6D}"/>
              </a:ext>
            </a:extLst>
          </p:cNvPr>
          <p:cNvSpPr/>
          <p:nvPr/>
        </p:nvSpPr>
        <p:spPr>
          <a:xfrm>
            <a:off x="8259864" y="2137566"/>
            <a:ext cx="3281464" cy="640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Random Forest Survival Model</a:t>
            </a:r>
            <a:endParaRPr lang="en-US" sz="160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8027CFD8-5134-141F-659C-11B438540FA5}"/>
              </a:ext>
            </a:extLst>
          </p:cNvPr>
          <p:cNvSpPr/>
          <p:nvPr/>
        </p:nvSpPr>
        <p:spPr>
          <a:xfrm>
            <a:off x="8259864" y="2846476"/>
            <a:ext cx="594468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8CBB64F-3A66-40EA-9043-CB9504EB3FF8}"/>
              </a:ext>
            </a:extLst>
          </p:cNvPr>
          <p:cNvSpPr/>
          <p:nvPr/>
        </p:nvSpPr>
        <p:spPr>
          <a:xfrm>
            <a:off x="8760823" y="2846476"/>
            <a:ext cx="2780505" cy="297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비선형 예측인자 처리 ML 모델</a:t>
            </a:r>
            <a:endParaRPr lang="en-US" sz="1200" dirty="0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E72EBEBD-67AB-B466-DB71-68B39D3BA46E}"/>
              </a:ext>
            </a:extLst>
          </p:cNvPr>
          <p:cNvSpPr/>
          <p:nvPr/>
        </p:nvSpPr>
        <p:spPr>
          <a:xfrm>
            <a:off x="8259864" y="3166629"/>
            <a:ext cx="328146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CA07797F-5C4F-FB5A-2269-C75EA378BACE}"/>
              </a:ext>
            </a:extLst>
          </p:cNvPr>
          <p:cNvSpPr/>
          <p:nvPr/>
        </p:nvSpPr>
        <p:spPr>
          <a:xfrm>
            <a:off x="8259864" y="3235233"/>
            <a:ext cx="594468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7D850138-777B-5BEC-9219-00C8BB0ECD6A}"/>
              </a:ext>
            </a:extLst>
          </p:cNvPr>
          <p:cNvSpPr/>
          <p:nvPr/>
        </p:nvSpPr>
        <p:spPr>
          <a:xfrm>
            <a:off x="8760823" y="3235233"/>
            <a:ext cx="2780505" cy="102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우측 중도절단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Permutation-based variable importance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Partial dependence curves (survex R)</a:t>
            </a:r>
            <a:endParaRPr lang="en-US" sz="1200" dirty="0"/>
          </a:p>
        </p:txBody>
      </p:sp>
      <p:sp>
        <p:nvSpPr>
          <p:cNvPr id="79" name="Shape 35">
            <a:extLst>
              <a:ext uri="{FF2B5EF4-FFF2-40B4-BE49-F238E27FC236}">
                <a16:creationId xmlns:a16="http://schemas.microsoft.com/office/drawing/2014/main" id="{584E6A5F-813B-AD44-2479-A97B5924D7A7}"/>
              </a:ext>
            </a:extLst>
          </p:cNvPr>
          <p:cNvSpPr/>
          <p:nvPr/>
        </p:nvSpPr>
        <p:spPr>
          <a:xfrm>
            <a:off x="8259864" y="4355768"/>
            <a:ext cx="3281464" cy="68604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1BA55254-613D-3697-3D80-85A00D5C6E86}"/>
              </a:ext>
            </a:extLst>
          </p:cNvPr>
          <p:cNvSpPr/>
          <p:nvPr/>
        </p:nvSpPr>
        <p:spPr>
          <a:xfrm>
            <a:off x="8259864" y="4470109"/>
            <a:ext cx="3281464" cy="1143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결과 지표: Harrell C-index (예측 성능)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변수 중요도 순위</a:t>
            </a:r>
            <a:endParaRPr lang="en-US" sz="1400" dirty="0"/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EF67B4AF-703C-7292-2D2B-84D72D26B037}"/>
              </a:ext>
            </a:extLst>
          </p:cNvPr>
          <p:cNvSpPr/>
          <p:nvPr/>
        </p:nvSpPr>
        <p:spPr>
          <a:xfrm>
            <a:off x="4276928" y="1691639"/>
            <a:ext cx="0" cy="4059081"/>
          </a:xfrm>
          <a:prstGeom prst="line">
            <a:avLst/>
          </a:prstGeom>
          <a:noFill/>
          <a:ln w="6350">
            <a:solidFill>
              <a:srgbClr val="1F34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38">
            <a:extLst>
              <a:ext uri="{FF2B5EF4-FFF2-40B4-BE49-F238E27FC236}">
                <a16:creationId xmlns:a16="http://schemas.microsoft.com/office/drawing/2014/main" id="{88F6823A-A135-9C4E-B0C9-C12BCE1F3220}"/>
              </a:ext>
            </a:extLst>
          </p:cNvPr>
          <p:cNvSpPr/>
          <p:nvPr/>
        </p:nvSpPr>
        <p:spPr>
          <a:xfrm>
            <a:off x="8081523" y="1691639"/>
            <a:ext cx="0" cy="4059081"/>
          </a:xfrm>
          <a:prstGeom prst="line">
            <a:avLst/>
          </a:prstGeom>
          <a:noFill/>
          <a:ln w="6350">
            <a:solidFill>
              <a:srgbClr val="1F34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983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46DF-8D78-9F37-4279-C7D79AD2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0C01E-6E48-C412-FD23-854767AA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C86F4-C8DE-FD26-ED11-ED5326ED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27D049C-C58B-5C26-2C52-641C71045676}"/>
              </a:ext>
            </a:extLst>
          </p:cNvPr>
          <p:cNvGrpSpPr/>
          <p:nvPr/>
        </p:nvGrpSpPr>
        <p:grpSpPr>
          <a:xfrm>
            <a:off x="1652251" y="1578957"/>
            <a:ext cx="8887497" cy="4115889"/>
            <a:chOff x="1956175" y="1561540"/>
            <a:chExt cx="8887497" cy="4115889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35539E95-9FA8-6BAB-97BB-6DBE89BDC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6175" y="1561540"/>
              <a:ext cx="4243939" cy="4115889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8F78C29-03F1-8A86-856A-F140660A1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5303" y="1561540"/>
              <a:ext cx="4338369" cy="4115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49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EED3-AAFD-A19D-8282-23617725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B9D18-F1E2-B87C-4A7C-A58F9294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B0EC9-A272-60F4-A12A-1AE317A9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D744455-014B-67B6-3BD1-79418EEBF51E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71311AD8-05AB-E965-E2D4-86253FBE782B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 err="1">
                  <a:solidFill>
                    <a:srgbClr val="1F346B"/>
                  </a:solidFill>
                </a:rPr>
                <a:t>사망자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507명 중 55%에서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Myosteatosis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발견</a:t>
              </a:r>
              <a:endParaRPr lang="en-US" altLang="ko-KR" sz="2200" dirty="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D8D175B1-212D-CCAE-6BA2-D8625D020160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9C964B8-96BD-1663-3E1B-FE3CE1150D56}"/>
              </a:ext>
            </a:extLst>
          </p:cNvPr>
          <p:cNvGrpSpPr/>
          <p:nvPr/>
        </p:nvGrpSpPr>
        <p:grpSpPr>
          <a:xfrm>
            <a:off x="508000" y="1774791"/>
            <a:ext cx="11176000" cy="1167237"/>
            <a:chOff x="508000" y="1700348"/>
            <a:chExt cx="11176000" cy="1167237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F4FC233E-4AC9-BDC3-44CD-1A8EF8C27BFA}"/>
                </a:ext>
              </a:extLst>
            </p:cNvPr>
            <p:cNvSpPr/>
            <p:nvPr/>
          </p:nvSpPr>
          <p:spPr>
            <a:xfrm>
              <a:off x="508000" y="1700348"/>
              <a:ext cx="2687126" cy="1167237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B6D7C1BC-CF50-ACA1-0DFC-D0E2A05F1AAB}"/>
                </a:ext>
              </a:extLst>
            </p:cNvPr>
            <p:cNvSpPr/>
            <p:nvPr/>
          </p:nvSpPr>
          <p:spPr>
            <a:xfrm>
              <a:off x="508000" y="1789280"/>
              <a:ext cx="2687126" cy="611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55%</a:t>
              </a:r>
              <a:endParaRPr lang="en-US" sz="3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B813135E-6E75-0732-7F4A-BF54C118A379}"/>
                </a:ext>
              </a:extLst>
            </p:cNvPr>
            <p:cNvSpPr/>
            <p:nvPr/>
          </p:nvSpPr>
          <p:spPr>
            <a:xfrm>
              <a:off x="508000" y="2389574"/>
              <a:ext cx="2687126" cy="4001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사망자 내 Myosteatosis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(278 / 507명)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1E2EBA13-7758-C852-AFED-0829F5DB7E5B}"/>
                </a:ext>
              </a:extLst>
            </p:cNvPr>
            <p:cNvSpPr/>
            <p:nvPr/>
          </p:nvSpPr>
          <p:spPr>
            <a:xfrm>
              <a:off x="3378339" y="1700348"/>
              <a:ext cx="2687126" cy="116723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081420BC-C65E-9C87-5AF9-89857459CB43}"/>
                </a:ext>
              </a:extLst>
            </p:cNvPr>
            <p:cNvSpPr/>
            <p:nvPr/>
          </p:nvSpPr>
          <p:spPr>
            <a:xfrm>
              <a:off x="3378339" y="1789280"/>
              <a:ext cx="2687126" cy="611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86%</a:t>
              </a:r>
              <a:endParaRPr lang="en-US" sz="3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EB4B62D2-8E7C-C416-AD0B-4E784553EAD7}"/>
                </a:ext>
              </a:extLst>
            </p:cNvPr>
            <p:cNvSpPr/>
            <p:nvPr/>
          </p:nvSpPr>
          <p:spPr>
            <a:xfrm>
              <a:off x="3378339" y="2389574"/>
              <a:ext cx="2687126" cy="4001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사망자 중 체성분 이상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(434 / 507명)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31561ED2-47DC-D1B5-0E10-55C7839B7EB4}"/>
                </a:ext>
              </a:extLst>
            </p:cNvPr>
            <p:cNvSpPr/>
            <p:nvPr/>
          </p:nvSpPr>
          <p:spPr>
            <a:xfrm>
              <a:off x="6248678" y="1700348"/>
              <a:ext cx="2687126" cy="116723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3A707C20-B785-612C-1544-C0E1D697CE22}"/>
                </a:ext>
              </a:extLst>
            </p:cNvPr>
            <p:cNvSpPr/>
            <p:nvPr/>
          </p:nvSpPr>
          <p:spPr>
            <a:xfrm>
              <a:off x="6248678" y="1789280"/>
              <a:ext cx="2687126" cy="611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20%</a:t>
              </a:r>
              <a:endParaRPr lang="en-US" sz="3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1F38A679-24F8-4DED-1DFC-6F1F14DD8AB3}"/>
                </a:ext>
              </a:extLst>
            </p:cNvPr>
            <p:cNvSpPr/>
            <p:nvPr/>
          </p:nvSpPr>
          <p:spPr>
            <a:xfrm>
              <a:off x="6248678" y="2389574"/>
              <a:ext cx="2687126" cy="4001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전체 중 이상 이벤트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발생 (1836명)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BBF45275-B632-C03C-2B07-3E5BF50F3791}"/>
                </a:ext>
              </a:extLst>
            </p:cNvPr>
            <p:cNvSpPr/>
            <p:nvPr/>
          </p:nvSpPr>
          <p:spPr>
            <a:xfrm>
              <a:off x="9119017" y="1700348"/>
              <a:ext cx="2564983" cy="1167237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54E8D637-84A1-DF24-EEA3-5905128D76A1}"/>
                </a:ext>
              </a:extLst>
            </p:cNvPr>
            <p:cNvSpPr/>
            <p:nvPr/>
          </p:nvSpPr>
          <p:spPr>
            <a:xfrm>
              <a:off x="9119017" y="1789280"/>
              <a:ext cx="2564983" cy="611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6%</a:t>
              </a:r>
              <a:endParaRPr lang="en-US" sz="3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7007E334-310A-9738-CD25-82677EF137C4}"/>
                </a:ext>
              </a:extLst>
            </p:cNvPr>
            <p:cNvSpPr/>
            <p:nvPr/>
          </p:nvSpPr>
          <p:spPr>
            <a:xfrm>
              <a:off x="9119017" y="2389574"/>
              <a:ext cx="2564983" cy="4001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전체 중 사망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(507 / 8,982명)</a:t>
              </a:r>
              <a:endParaRPr 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E7858A5-2C70-CA38-DDC8-BDB422DB8F57}"/>
              </a:ext>
            </a:extLst>
          </p:cNvPr>
          <p:cNvGrpSpPr/>
          <p:nvPr/>
        </p:nvGrpSpPr>
        <p:grpSpPr>
          <a:xfrm>
            <a:off x="508000" y="3162232"/>
            <a:ext cx="11176000" cy="2089910"/>
            <a:chOff x="508000" y="3000983"/>
            <a:chExt cx="11176000" cy="2089910"/>
          </a:xfrm>
        </p:grpSpPr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7A01171C-907C-5ACA-316A-87EACC6FF66A}"/>
                </a:ext>
              </a:extLst>
            </p:cNvPr>
            <p:cNvSpPr/>
            <p:nvPr/>
          </p:nvSpPr>
          <p:spPr>
            <a:xfrm>
              <a:off x="508000" y="3000983"/>
              <a:ext cx="6681304" cy="422429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0A13DF15-651E-99C0-FC1C-ED8EE3A8D20D}"/>
                </a:ext>
              </a:extLst>
            </p:cNvPr>
            <p:cNvSpPr/>
            <p:nvPr/>
          </p:nvSpPr>
          <p:spPr>
            <a:xfrm>
              <a:off x="690217" y="3000983"/>
              <a:ext cx="6316870" cy="4224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전체 코호트 체성분 이상 분포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3513F05B-C8A4-A182-AA5B-87DE5435AC65}"/>
                </a:ext>
              </a:extLst>
            </p:cNvPr>
            <p:cNvSpPr/>
            <p:nvPr/>
          </p:nvSpPr>
          <p:spPr>
            <a:xfrm>
              <a:off x="508000" y="3423412"/>
              <a:ext cx="6681304" cy="1667481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B836E16F-1B4D-5E23-C46B-6314FE0AD48C}"/>
                </a:ext>
              </a:extLst>
            </p:cNvPr>
            <p:cNvSpPr/>
            <p:nvPr/>
          </p:nvSpPr>
          <p:spPr>
            <a:xfrm>
              <a:off x="690217" y="3534577"/>
              <a:ext cx="1943652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간 지방증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D7260BDB-3F23-0678-C0D9-FEBEF31E390A}"/>
                </a:ext>
              </a:extLst>
            </p:cNvPr>
            <p:cNvSpPr/>
            <p:nvPr/>
          </p:nvSpPr>
          <p:spPr>
            <a:xfrm>
              <a:off x="2694609" y="3579044"/>
              <a:ext cx="1547634" cy="222331"/>
            </a:xfrm>
            <a:prstGeom prst="rect">
              <a:avLst/>
            </a:prstGeom>
            <a:solidFill>
              <a:srgbClr val="B07520"/>
            </a:solidFill>
            <a:ln w="12700">
              <a:solidFill>
                <a:srgbClr val="B0752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CC0BE177-50DC-A0D9-EBF2-28D860C6C0D8}"/>
                </a:ext>
              </a:extLst>
            </p:cNvPr>
            <p:cNvSpPr/>
            <p:nvPr/>
          </p:nvSpPr>
          <p:spPr>
            <a:xfrm>
              <a:off x="5925930" y="3534577"/>
              <a:ext cx="607391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B0752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49%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7F70A4FA-5E32-D1C1-D23B-B11482531BE0}"/>
                </a:ext>
              </a:extLst>
            </p:cNvPr>
            <p:cNvSpPr/>
            <p:nvPr/>
          </p:nvSpPr>
          <p:spPr>
            <a:xfrm>
              <a:off x="690217" y="3868074"/>
              <a:ext cx="1943652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비만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B3FFE94B-B775-A31C-3961-B33452AE02AB}"/>
                </a:ext>
              </a:extLst>
            </p:cNvPr>
            <p:cNvSpPr/>
            <p:nvPr/>
          </p:nvSpPr>
          <p:spPr>
            <a:xfrm>
              <a:off x="2694609" y="3912540"/>
              <a:ext cx="1042283" cy="222331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53EBBF71-6489-3EC7-673D-75257A2C6824}"/>
                </a:ext>
              </a:extLst>
            </p:cNvPr>
            <p:cNvSpPr/>
            <p:nvPr/>
          </p:nvSpPr>
          <p:spPr>
            <a:xfrm>
              <a:off x="5925930" y="3868074"/>
              <a:ext cx="607391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85A3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33%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75CD4C77-1B6F-A939-1738-4BCB12F6AC09}"/>
                </a:ext>
              </a:extLst>
            </p:cNvPr>
            <p:cNvSpPr/>
            <p:nvPr/>
          </p:nvSpPr>
          <p:spPr>
            <a:xfrm>
              <a:off x="690217" y="4201570"/>
              <a:ext cx="1943652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Myosteatosis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0" name="Shape 26">
              <a:extLst>
                <a:ext uri="{FF2B5EF4-FFF2-40B4-BE49-F238E27FC236}">
                  <a16:creationId xmlns:a16="http://schemas.microsoft.com/office/drawing/2014/main" id="{E3C038E4-3DF0-5816-03F1-39E1672AA955}"/>
                </a:ext>
              </a:extLst>
            </p:cNvPr>
            <p:cNvSpPr/>
            <p:nvPr/>
          </p:nvSpPr>
          <p:spPr>
            <a:xfrm>
              <a:off x="2694609" y="4246036"/>
              <a:ext cx="789609" cy="222331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2599F7E7-E820-443A-B33B-01C664C18797}"/>
                </a:ext>
              </a:extLst>
            </p:cNvPr>
            <p:cNvSpPr/>
            <p:nvPr/>
          </p:nvSpPr>
          <p:spPr>
            <a:xfrm>
              <a:off x="5925930" y="4201570"/>
              <a:ext cx="607391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25%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AACF6B5D-CEE3-98E1-E42D-7668ECFB285D}"/>
                </a:ext>
              </a:extLst>
            </p:cNvPr>
            <p:cNvSpPr/>
            <p:nvPr/>
          </p:nvSpPr>
          <p:spPr>
            <a:xfrm>
              <a:off x="690217" y="4535066"/>
              <a:ext cx="1943652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Myopenia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F889B780-BD17-234A-A307-035ADE453B0C}"/>
                </a:ext>
              </a:extLst>
            </p:cNvPr>
            <p:cNvSpPr/>
            <p:nvPr/>
          </p:nvSpPr>
          <p:spPr>
            <a:xfrm>
              <a:off x="2694609" y="4579532"/>
              <a:ext cx="568518" cy="222331"/>
            </a:xfrm>
            <a:prstGeom prst="rect">
              <a:avLst/>
            </a:prstGeom>
            <a:solidFill>
              <a:srgbClr val="5A6F8A"/>
            </a:solidFill>
            <a:ln w="12700">
              <a:solidFill>
                <a:srgbClr val="5A6F8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3DA6D377-0579-7DAF-FFBC-125B28A0D61B}"/>
                </a:ext>
              </a:extLst>
            </p:cNvPr>
            <p:cNvSpPr/>
            <p:nvPr/>
          </p:nvSpPr>
          <p:spPr>
            <a:xfrm>
              <a:off x="5925930" y="4535066"/>
              <a:ext cx="607391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A6F8A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18%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8D5723EB-CED5-A115-05B7-9F7BA01F6E1B}"/>
                </a:ext>
              </a:extLst>
            </p:cNvPr>
            <p:cNvSpPr/>
            <p:nvPr/>
          </p:nvSpPr>
          <p:spPr>
            <a:xfrm>
              <a:off x="7432261" y="3000983"/>
              <a:ext cx="4251739" cy="422429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F8FD81C1-1CED-3323-0FE0-31CCEA3DC7A9}"/>
                </a:ext>
              </a:extLst>
            </p:cNvPr>
            <p:cNvSpPr/>
            <p:nvPr/>
          </p:nvSpPr>
          <p:spPr>
            <a:xfrm>
              <a:off x="7614478" y="3000983"/>
              <a:ext cx="3887304" cy="4224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Myosteatosis 환자 특징 (vs 정상)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7" name="Shape 33">
              <a:extLst>
                <a:ext uri="{FF2B5EF4-FFF2-40B4-BE49-F238E27FC236}">
                  <a16:creationId xmlns:a16="http://schemas.microsoft.com/office/drawing/2014/main" id="{3CC8239B-B490-30DD-A27F-B15138BF263E}"/>
                </a:ext>
              </a:extLst>
            </p:cNvPr>
            <p:cNvSpPr/>
            <p:nvPr/>
          </p:nvSpPr>
          <p:spPr>
            <a:xfrm>
              <a:off x="7432261" y="3423412"/>
              <a:ext cx="4251739" cy="1667481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F1B850C1-09FF-89AA-DDBC-9BC9DB3D3A4F}"/>
                </a:ext>
              </a:extLst>
            </p:cNvPr>
            <p:cNvSpPr/>
            <p:nvPr/>
          </p:nvSpPr>
          <p:spPr>
            <a:xfrm>
              <a:off x="7614478" y="3534577"/>
              <a:ext cx="3887304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▸  고령: 55.4세 → 61.8세 (p&lt;.001)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EF437BAD-14F5-FB47-E6DF-5235FA138B9E}"/>
                </a:ext>
              </a:extLst>
            </p:cNvPr>
            <p:cNvSpPr/>
            <p:nvPr/>
          </p:nvSpPr>
          <p:spPr>
            <a:xfrm>
              <a:off x="7614478" y="3868074"/>
              <a:ext cx="3887304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▸  비만 동반: 26% → 54% (p&lt;.001)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9DD90CA3-A237-86D8-B11B-20E8AE6C34D8}"/>
                </a:ext>
              </a:extLst>
            </p:cNvPr>
            <p:cNvSpPr/>
            <p:nvPr/>
          </p:nvSpPr>
          <p:spPr>
            <a:xfrm>
              <a:off x="7614478" y="4201570"/>
              <a:ext cx="3887304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▸  당뇨 동반: 2% → 5% (p&lt;.001)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2C382084-9D4B-EC91-4002-824AF69D7B2F}"/>
                </a:ext>
              </a:extLst>
            </p:cNvPr>
            <p:cNvSpPr/>
            <p:nvPr/>
          </p:nvSpPr>
          <p:spPr>
            <a:xfrm>
              <a:off x="7614478" y="4535066"/>
              <a:ext cx="3887304" cy="3112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Medium" pitchFamily="34" charset="-120"/>
                </a:rPr>
                <a:t>▸  심혈관 사건: 더 높은 비율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D190DF5-DC98-AAD3-860F-366E58646CD6}"/>
              </a:ext>
            </a:extLst>
          </p:cNvPr>
          <p:cNvGrpSpPr/>
          <p:nvPr/>
        </p:nvGrpSpPr>
        <p:grpSpPr>
          <a:xfrm>
            <a:off x="508000" y="5472347"/>
            <a:ext cx="11176000" cy="578060"/>
            <a:chOff x="508000" y="5224292"/>
            <a:chExt cx="11176000" cy="578060"/>
          </a:xfrm>
        </p:grpSpPr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78993028-74DC-4BA2-4A65-FF785E4A5771}"/>
                </a:ext>
              </a:extLst>
            </p:cNvPr>
            <p:cNvSpPr/>
            <p:nvPr/>
          </p:nvSpPr>
          <p:spPr>
            <a:xfrm>
              <a:off x="508000" y="5224292"/>
              <a:ext cx="11176000" cy="578060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C786B664-19D1-44C7-F63F-93039BCD76CD}"/>
                </a:ext>
              </a:extLst>
            </p:cNvPr>
            <p:cNvSpPr/>
            <p:nvPr/>
          </p:nvSpPr>
          <p:spPr>
            <a:xfrm>
              <a:off x="690217" y="5224292"/>
              <a:ext cx="10933043" cy="578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KoPub돋움체 Bold" pitchFamily="34" charset="-120"/>
                </a:rPr>
                <a:t>10년 절대 사망위험: Myosteatosis 15.5% · 비만 7.6% · 간지방증 8.5% · Myopenia 9.7%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40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396D-4A18-7FA1-27A0-02A64F40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D2E5C-E5B2-6E1E-B690-C735C1B1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4BD4CE-A1D8-2C01-94BF-A45C44A5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8F3D5D-40C3-0A9E-0059-68BF2766B7E8}"/>
              </a:ext>
            </a:extLst>
          </p:cNvPr>
          <p:cNvGrpSpPr/>
          <p:nvPr/>
        </p:nvGrpSpPr>
        <p:grpSpPr>
          <a:xfrm>
            <a:off x="2608629" y="740747"/>
            <a:ext cx="7096661" cy="5593675"/>
            <a:chOff x="3310082" y="1051612"/>
            <a:chExt cx="5717607" cy="450668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1E1E2AF-4168-AA71-F83A-A5EE4EE09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4011"/>
            <a:stretch>
              <a:fillRect/>
            </a:stretch>
          </p:blipFill>
          <p:spPr>
            <a:xfrm>
              <a:off x="3310082" y="1051612"/>
              <a:ext cx="5717607" cy="2253344"/>
            </a:xfrm>
            <a:prstGeom prst="rect">
              <a:avLst/>
            </a:prstGeom>
          </p:spPr>
        </p:pic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EB83CBA-C48F-A773-D687-CCB330EC5222}"/>
                </a:ext>
              </a:extLst>
            </p:cNvPr>
            <p:cNvGrpSpPr/>
            <p:nvPr/>
          </p:nvGrpSpPr>
          <p:grpSpPr>
            <a:xfrm>
              <a:off x="3310082" y="3304956"/>
              <a:ext cx="5717607" cy="2253344"/>
              <a:chOff x="6096000" y="1537876"/>
              <a:chExt cx="5717607" cy="2253344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EA96479-07B6-C797-DB04-B41887349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47055" b="6956"/>
              <a:stretch>
                <a:fillRect/>
              </a:stretch>
            </p:blipFill>
            <p:spPr>
              <a:xfrm>
                <a:off x="6096000" y="1537876"/>
                <a:ext cx="5717607" cy="2253344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CEF0D52-F542-7893-747C-583C11F35A4D}"/>
                  </a:ext>
                </a:extLst>
              </p:cNvPr>
              <p:cNvSpPr/>
              <p:nvPr/>
            </p:nvSpPr>
            <p:spPr>
              <a:xfrm>
                <a:off x="9579429" y="2217655"/>
                <a:ext cx="1314994" cy="411214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5221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9220-F824-1C24-7368-3F184B3D5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43B00-F77C-9E08-6BFC-86528D1F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8601E-5769-9146-216D-6D1FCE69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2AE7D29-157A-5C21-7067-41B1CA416D78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C2B22266-CA8F-210F-F26E-721F117077E0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 err="1">
                  <a:solidFill>
                    <a:srgbClr val="1F346B"/>
                  </a:solidFill>
                </a:rPr>
                <a:t>다변량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보정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후에도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HR 1.89 —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흡연·당뇨와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동등한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위험</a:t>
              </a:r>
              <a:endParaRPr lang="en-US" altLang="ko-KR" sz="2200" dirty="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BFCB39FC-1FF3-3015-534A-CE26C7EB535D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25935D3-B3EF-EEA0-A263-5ED0F03FB4A0}"/>
              </a:ext>
            </a:extLst>
          </p:cNvPr>
          <p:cNvGrpSpPr/>
          <p:nvPr/>
        </p:nvGrpSpPr>
        <p:grpSpPr>
          <a:xfrm>
            <a:off x="508000" y="1761311"/>
            <a:ext cx="8810454" cy="3979300"/>
            <a:chOff x="508000" y="1761311"/>
            <a:chExt cx="8810454" cy="3979300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9F6B7499-15FD-6282-2545-6169AE6ECC2B}"/>
                </a:ext>
              </a:extLst>
            </p:cNvPr>
            <p:cNvSpPr/>
            <p:nvPr/>
          </p:nvSpPr>
          <p:spPr>
            <a:xfrm>
              <a:off x="508000" y="1761311"/>
              <a:ext cx="8810454" cy="410906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B1A9DEDC-D91C-0E07-1D3F-21ADA2CD9000}"/>
                </a:ext>
              </a:extLst>
            </p:cNvPr>
            <p:cNvSpPr/>
            <p:nvPr/>
          </p:nvSpPr>
          <p:spPr>
            <a:xfrm>
              <a:off x="580415" y="1761311"/>
              <a:ext cx="3137970" cy="41090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변수</a:t>
              </a:r>
              <a:endParaRPr lang="en-US" sz="14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A552C4AE-CACC-A38F-4840-3C066F08DC9D}"/>
                </a:ext>
              </a:extLst>
            </p:cNvPr>
            <p:cNvSpPr/>
            <p:nvPr/>
          </p:nvSpPr>
          <p:spPr>
            <a:xfrm>
              <a:off x="3742523" y="1761311"/>
              <a:ext cx="1086220" cy="41090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HR</a:t>
              </a:r>
              <a:endParaRPr lang="en-US" sz="14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9684330D-6185-BF3D-754A-12FEEB7A2B6C}"/>
                </a:ext>
              </a:extLst>
            </p:cNvPr>
            <p:cNvSpPr/>
            <p:nvPr/>
          </p:nvSpPr>
          <p:spPr>
            <a:xfrm>
              <a:off x="4852881" y="1761311"/>
              <a:ext cx="1810367" cy="41090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95% CI</a:t>
              </a:r>
              <a:endParaRPr lang="en-US" sz="14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85836C77-19B6-D7AD-0BD8-23DFD47656B6}"/>
                </a:ext>
              </a:extLst>
            </p:cNvPr>
            <p:cNvSpPr/>
            <p:nvPr/>
          </p:nvSpPr>
          <p:spPr>
            <a:xfrm>
              <a:off x="6687387" y="1761311"/>
              <a:ext cx="1086220" cy="41090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P Value</a:t>
              </a:r>
              <a:endParaRPr lang="en-US" sz="14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DD5A09B5-6454-B6F2-ABF5-97BCBA651A5A}"/>
                </a:ext>
              </a:extLst>
            </p:cNvPr>
            <p:cNvSpPr/>
            <p:nvPr/>
          </p:nvSpPr>
          <p:spPr>
            <a:xfrm>
              <a:off x="7797745" y="1761311"/>
              <a:ext cx="1206911" cy="41090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유의성</a:t>
              </a:r>
              <a:endParaRPr lang="en-US" sz="14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6EDEEBF9-E648-B15C-CBA3-3B733BE08A72}"/>
                </a:ext>
              </a:extLst>
            </p:cNvPr>
            <p:cNvSpPr/>
            <p:nvPr/>
          </p:nvSpPr>
          <p:spPr>
            <a:xfrm>
              <a:off x="508000" y="2172217"/>
              <a:ext cx="8810454" cy="356839"/>
            </a:xfrm>
            <a:prstGeom prst="rect">
              <a:avLst/>
            </a:prstGeom>
            <a:solidFill>
              <a:srgbClr val="E8ECF5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CA972633-9B5C-0887-1489-8AD0FFE88207}"/>
                </a:ext>
              </a:extLst>
            </p:cNvPr>
            <p:cNvSpPr/>
            <p:nvPr/>
          </p:nvSpPr>
          <p:spPr>
            <a:xfrm>
              <a:off x="508000" y="2172217"/>
              <a:ext cx="72415" cy="356839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2A0675EF-A639-B2DE-BC07-874E2547C657}"/>
                </a:ext>
              </a:extLst>
            </p:cNvPr>
            <p:cNvSpPr/>
            <p:nvPr/>
          </p:nvSpPr>
          <p:spPr>
            <a:xfrm>
              <a:off x="580415" y="2172217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Myosteatosis ★</a:t>
              </a:r>
              <a:endParaRPr lang="en-US" sz="14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E76D5415-65B6-4D1B-F90D-E3DCB47B0A28}"/>
                </a:ext>
              </a:extLst>
            </p:cNvPr>
            <p:cNvSpPr/>
            <p:nvPr/>
          </p:nvSpPr>
          <p:spPr>
            <a:xfrm>
              <a:off x="3742523" y="2172217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1.89</a:t>
              </a:r>
              <a:endParaRPr lang="en-US" sz="14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F5884C7B-2212-6862-6285-689FEFBB8DE3}"/>
                </a:ext>
              </a:extLst>
            </p:cNvPr>
            <p:cNvSpPr/>
            <p:nvPr/>
          </p:nvSpPr>
          <p:spPr>
            <a:xfrm>
              <a:off x="4852881" y="2172217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1.52–2.35</a:t>
              </a:r>
              <a:endParaRPr lang="en-US" sz="1400" dirty="0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4565F572-CA56-FAED-A9E8-0F11C4A0183C}"/>
                </a:ext>
              </a:extLst>
            </p:cNvPr>
            <p:cNvSpPr/>
            <p:nvPr/>
          </p:nvSpPr>
          <p:spPr>
            <a:xfrm>
              <a:off x="6687387" y="2172217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&lt;.001</a:t>
              </a:r>
              <a:endParaRPr lang="en-US" sz="14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BFE1B2C2-9E26-89BA-FC0B-2EA48E66E539}"/>
                </a:ext>
              </a:extLst>
            </p:cNvPr>
            <p:cNvSpPr/>
            <p:nvPr/>
          </p:nvSpPr>
          <p:spPr>
            <a:xfrm>
              <a:off x="7797745" y="2172217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A81A7460-FCC0-EC5C-13A3-612FD77E1A8E}"/>
                </a:ext>
              </a:extLst>
            </p:cNvPr>
            <p:cNvSpPr/>
            <p:nvPr/>
          </p:nvSpPr>
          <p:spPr>
            <a:xfrm>
              <a:off x="508000" y="2529056"/>
              <a:ext cx="8810454" cy="356839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F18E10F9-8171-BA04-481C-41FDA86E9EA2}"/>
                </a:ext>
              </a:extLst>
            </p:cNvPr>
            <p:cNvSpPr/>
            <p:nvPr/>
          </p:nvSpPr>
          <p:spPr>
            <a:xfrm>
              <a:off x="580415" y="2529056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흡연</a:t>
              </a:r>
              <a:endParaRPr lang="en-US" sz="14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4F1CC219-801A-27F9-BAC1-D07360AA8C7A}"/>
                </a:ext>
              </a:extLst>
            </p:cNvPr>
            <p:cNvSpPr/>
            <p:nvPr/>
          </p:nvSpPr>
          <p:spPr>
            <a:xfrm>
              <a:off x="3742523" y="2529056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1.91</a:t>
              </a:r>
              <a:endParaRPr lang="en-US" sz="1400" dirty="0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463676AC-9ECD-EB46-F7F9-28CF2D93D252}"/>
                </a:ext>
              </a:extLst>
            </p:cNvPr>
            <p:cNvSpPr/>
            <p:nvPr/>
          </p:nvSpPr>
          <p:spPr>
            <a:xfrm>
              <a:off x="4852881" y="2529056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1.57–2.33</a:t>
              </a:r>
              <a:endParaRPr lang="en-US" sz="140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5430AA43-FB63-3584-4C9C-BF65B806B259}"/>
                </a:ext>
              </a:extLst>
            </p:cNvPr>
            <p:cNvSpPr/>
            <p:nvPr/>
          </p:nvSpPr>
          <p:spPr>
            <a:xfrm>
              <a:off x="6687387" y="2529056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&lt;.001</a:t>
              </a:r>
              <a:endParaRPr lang="en-US" sz="140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99D54BA7-FC0C-278E-7AB4-3CCA326E188E}"/>
                </a:ext>
              </a:extLst>
            </p:cNvPr>
            <p:cNvSpPr/>
            <p:nvPr/>
          </p:nvSpPr>
          <p:spPr>
            <a:xfrm>
              <a:off x="7797745" y="2529056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4EA50213-9539-63CE-602B-F26DF8A23BAB}"/>
                </a:ext>
              </a:extLst>
            </p:cNvPr>
            <p:cNvSpPr/>
            <p:nvPr/>
          </p:nvSpPr>
          <p:spPr>
            <a:xfrm>
              <a:off x="508000" y="2885896"/>
              <a:ext cx="8810454" cy="356839"/>
            </a:xfrm>
            <a:prstGeom prst="rect">
              <a:avLst/>
            </a:prstGeom>
            <a:solidFill>
              <a:srgbClr val="F5F6F8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54033936-3787-EE3C-492F-392CA2C0C810}"/>
                </a:ext>
              </a:extLst>
            </p:cNvPr>
            <p:cNvSpPr/>
            <p:nvPr/>
          </p:nvSpPr>
          <p:spPr>
            <a:xfrm>
              <a:off x="580415" y="2885896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심혈관 기왕력</a:t>
              </a:r>
              <a:endParaRPr lang="en-US" sz="1400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F4013340-EA5F-219F-2F61-2E67A3B877A6}"/>
                </a:ext>
              </a:extLst>
            </p:cNvPr>
            <p:cNvSpPr/>
            <p:nvPr/>
          </p:nvSpPr>
          <p:spPr>
            <a:xfrm>
              <a:off x="3742523" y="2885896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45073CD9-9D88-86E7-358F-3A8678CA8B1A}"/>
                </a:ext>
              </a:extLst>
            </p:cNvPr>
            <p:cNvSpPr/>
            <p:nvPr/>
          </p:nvSpPr>
          <p:spPr>
            <a:xfrm>
              <a:off x="4852881" y="2885896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1.90–2.93</a:t>
              </a:r>
              <a:endParaRPr lang="en-US" sz="1400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F426B92E-795F-01A1-61D5-CFCD2EB5F857}"/>
                </a:ext>
              </a:extLst>
            </p:cNvPr>
            <p:cNvSpPr/>
            <p:nvPr/>
          </p:nvSpPr>
          <p:spPr>
            <a:xfrm>
              <a:off x="6687387" y="2885896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&lt;.001</a:t>
              </a:r>
              <a:endParaRPr lang="en-US" sz="1400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1E0DDC84-F879-5AAE-7989-521A895ABB81}"/>
                </a:ext>
              </a:extLst>
            </p:cNvPr>
            <p:cNvSpPr/>
            <p:nvPr/>
          </p:nvSpPr>
          <p:spPr>
            <a:xfrm>
              <a:off x="7797745" y="2885896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B5CB62FE-4A6C-B35D-AE53-B6840FE49C7C}"/>
                </a:ext>
              </a:extLst>
            </p:cNvPr>
            <p:cNvSpPr/>
            <p:nvPr/>
          </p:nvSpPr>
          <p:spPr>
            <a:xfrm>
              <a:off x="508000" y="3242735"/>
              <a:ext cx="8810454" cy="356839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1AD14917-F10E-A910-F874-B0AD59F5DD36}"/>
                </a:ext>
              </a:extLst>
            </p:cNvPr>
            <p:cNvSpPr/>
            <p:nvPr/>
          </p:nvSpPr>
          <p:spPr>
            <a:xfrm>
              <a:off x="580415" y="3242735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나이 (1세 증가)</a:t>
              </a:r>
              <a:endParaRPr lang="en-US" sz="1400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35F23A35-D4EB-3518-8B92-8D2630533493}"/>
                </a:ext>
              </a:extLst>
            </p:cNvPr>
            <p:cNvSpPr/>
            <p:nvPr/>
          </p:nvSpPr>
          <p:spPr>
            <a:xfrm>
              <a:off x="3742523" y="3242735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1.08</a:t>
              </a:r>
              <a:endParaRPr lang="en-US" sz="140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C18B7F8C-EB33-147A-076F-482417AAD235}"/>
                </a:ext>
              </a:extLst>
            </p:cNvPr>
            <p:cNvSpPr/>
            <p:nvPr/>
          </p:nvSpPr>
          <p:spPr>
            <a:xfrm>
              <a:off x="4852881" y="3242735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1.07–1.09</a:t>
              </a:r>
              <a:endParaRPr lang="en-US" sz="1400" dirty="0"/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1D8A8CF3-2A54-4C8C-7C44-22CE620380E7}"/>
                </a:ext>
              </a:extLst>
            </p:cNvPr>
            <p:cNvSpPr/>
            <p:nvPr/>
          </p:nvSpPr>
          <p:spPr>
            <a:xfrm>
              <a:off x="6687387" y="3242735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&lt;.001</a:t>
              </a:r>
              <a:endParaRPr lang="en-US" sz="1400" dirty="0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FEB2E02C-BA1D-5C7A-B01D-15A30A35E5E6}"/>
                </a:ext>
              </a:extLst>
            </p:cNvPr>
            <p:cNvSpPr/>
            <p:nvPr/>
          </p:nvSpPr>
          <p:spPr>
            <a:xfrm>
              <a:off x="7797745" y="3242735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6104E422-8C29-3B4B-90D6-783A46E0D370}"/>
                </a:ext>
              </a:extLst>
            </p:cNvPr>
            <p:cNvSpPr/>
            <p:nvPr/>
          </p:nvSpPr>
          <p:spPr>
            <a:xfrm>
              <a:off x="508000" y="3599575"/>
              <a:ext cx="8810454" cy="356839"/>
            </a:xfrm>
            <a:prstGeom prst="rect">
              <a:avLst/>
            </a:prstGeom>
            <a:solidFill>
              <a:srgbClr val="F5F6F8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05F3E9A7-B676-EA81-5E7E-45A7EAECBD3F}"/>
                </a:ext>
              </a:extLst>
            </p:cNvPr>
            <p:cNvSpPr/>
            <p:nvPr/>
          </p:nvSpPr>
          <p:spPr>
            <a:xfrm>
              <a:off x="580415" y="3599575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당뇨 (T2DM)</a:t>
              </a:r>
              <a:endParaRPr lang="en-US" sz="1400" dirty="0"/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B3F988E1-D6D7-5850-5A23-0A944522223B}"/>
                </a:ext>
              </a:extLst>
            </p:cNvPr>
            <p:cNvSpPr/>
            <p:nvPr/>
          </p:nvSpPr>
          <p:spPr>
            <a:xfrm>
              <a:off x="3742523" y="3599575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1.56</a:t>
              </a:r>
              <a:endParaRPr lang="en-US" sz="1400" dirty="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9A6E4305-9884-7F19-97BF-F64333CD42D1}"/>
                </a:ext>
              </a:extLst>
            </p:cNvPr>
            <p:cNvSpPr/>
            <p:nvPr/>
          </p:nvSpPr>
          <p:spPr>
            <a:xfrm>
              <a:off x="4852881" y="3599575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1.08–2.25</a:t>
              </a:r>
              <a:endParaRPr lang="en-US" sz="1400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F4699391-2BC5-B22F-7598-9CB5583B80B7}"/>
                </a:ext>
              </a:extLst>
            </p:cNvPr>
            <p:cNvSpPr/>
            <p:nvPr/>
          </p:nvSpPr>
          <p:spPr>
            <a:xfrm>
              <a:off x="6687387" y="3599575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.020</a:t>
              </a:r>
              <a:endParaRPr lang="en-US" sz="1400" dirty="0"/>
            </a:p>
          </p:txBody>
        </p:sp>
        <p:sp>
          <p:nvSpPr>
            <p:cNvPr id="44" name="Text 40">
              <a:extLst>
                <a:ext uri="{FF2B5EF4-FFF2-40B4-BE49-F238E27FC236}">
                  <a16:creationId xmlns:a16="http://schemas.microsoft.com/office/drawing/2014/main" id="{FC73EB06-CD10-D7A8-4B6F-6F68A3DD31D4}"/>
                </a:ext>
              </a:extLst>
            </p:cNvPr>
            <p:cNvSpPr/>
            <p:nvPr/>
          </p:nvSpPr>
          <p:spPr>
            <a:xfrm>
              <a:off x="7797745" y="3599575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45" name="Shape 41">
              <a:extLst>
                <a:ext uri="{FF2B5EF4-FFF2-40B4-BE49-F238E27FC236}">
                  <a16:creationId xmlns:a16="http://schemas.microsoft.com/office/drawing/2014/main" id="{9D98C8AA-EC63-9C3B-0542-17CE4CE8A474}"/>
                </a:ext>
              </a:extLst>
            </p:cNvPr>
            <p:cNvSpPr/>
            <p:nvPr/>
          </p:nvSpPr>
          <p:spPr>
            <a:xfrm>
              <a:off x="508000" y="3956414"/>
              <a:ext cx="8810454" cy="356839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2">
              <a:extLst>
                <a:ext uri="{FF2B5EF4-FFF2-40B4-BE49-F238E27FC236}">
                  <a16:creationId xmlns:a16="http://schemas.microsoft.com/office/drawing/2014/main" id="{ABB9CCDC-D6D8-DBEB-8A59-978BA73B8492}"/>
                </a:ext>
              </a:extLst>
            </p:cNvPr>
            <p:cNvSpPr/>
            <p:nvPr/>
          </p:nvSpPr>
          <p:spPr>
            <a:xfrm>
              <a:off x="580415" y="3956414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간 지방증</a:t>
              </a:r>
              <a:endParaRPr lang="en-US" sz="1400" dirty="0"/>
            </a:p>
          </p:txBody>
        </p:sp>
        <p:sp>
          <p:nvSpPr>
            <p:cNvPr id="71" name="Text 43">
              <a:extLst>
                <a:ext uri="{FF2B5EF4-FFF2-40B4-BE49-F238E27FC236}">
                  <a16:creationId xmlns:a16="http://schemas.microsoft.com/office/drawing/2014/main" id="{4848D43A-65EF-E12E-B549-B4047C6C2090}"/>
                </a:ext>
              </a:extLst>
            </p:cNvPr>
            <p:cNvSpPr/>
            <p:nvPr/>
          </p:nvSpPr>
          <p:spPr>
            <a:xfrm>
              <a:off x="3742523" y="3956414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1.32</a:t>
              </a:r>
              <a:endParaRPr lang="en-US" sz="1400" dirty="0"/>
            </a:p>
          </p:txBody>
        </p:sp>
        <p:sp>
          <p:nvSpPr>
            <p:cNvPr id="73" name="Text 44">
              <a:extLst>
                <a:ext uri="{FF2B5EF4-FFF2-40B4-BE49-F238E27FC236}">
                  <a16:creationId xmlns:a16="http://schemas.microsoft.com/office/drawing/2014/main" id="{D0BAA2BA-9107-C8AE-E0FB-D159C673A688}"/>
                </a:ext>
              </a:extLst>
            </p:cNvPr>
            <p:cNvSpPr/>
            <p:nvPr/>
          </p:nvSpPr>
          <p:spPr>
            <a:xfrm>
              <a:off x="4852881" y="3956414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1.09–1.62</a:t>
              </a:r>
              <a:endParaRPr lang="en-US" sz="1400" dirty="0"/>
            </a:p>
          </p:txBody>
        </p:sp>
        <p:sp>
          <p:nvSpPr>
            <p:cNvPr id="76" name="Text 45">
              <a:extLst>
                <a:ext uri="{FF2B5EF4-FFF2-40B4-BE49-F238E27FC236}">
                  <a16:creationId xmlns:a16="http://schemas.microsoft.com/office/drawing/2014/main" id="{5ECF73D2-E23A-AA74-4465-E11FF70BA4F8}"/>
                </a:ext>
              </a:extLst>
            </p:cNvPr>
            <p:cNvSpPr/>
            <p:nvPr/>
          </p:nvSpPr>
          <p:spPr>
            <a:xfrm>
              <a:off x="6687387" y="3956414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.006</a:t>
              </a:r>
              <a:endParaRPr lang="en-US" sz="1400" dirty="0"/>
            </a:p>
          </p:txBody>
        </p:sp>
        <p:sp>
          <p:nvSpPr>
            <p:cNvPr id="77" name="Text 46">
              <a:extLst>
                <a:ext uri="{FF2B5EF4-FFF2-40B4-BE49-F238E27FC236}">
                  <a16:creationId xmlns:a16="http://schemas.microsoft.com/office/drawing/2014/main" id="{DB4519F5-BC75-3D4A-0AAA-3AC0FB6FDA23}"/>
                </a:ext>
              </a:extLst>
            </p:cNvPr>
            <p:cNvSpPr/>
            <p:nvPr/>
          </p:nvSpPr>
          <p:spPr>
            <a:xfrm>
              <a:off x="7797745" y="3956414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78" name="Shape 47">
              <a:extLst>
                <a:ext uri="{FF2B5EF4-FFF2-40B4-BE49-F238E27FC236}">
                  <a16:creationId xmlns:a16="http://schemas.microsoft.com/office/drawing/2014/main" id="{BB0FDE0A-0FB1-8765-6000-46D7D0AD58C0}"/>
                </a:ext>
              </a:extLst>
            </p:cNvPr>
            <p:cNvSpPr/>
            <p:nvPr/>
          </p:nvSpPr>
          <p:spPr>
            <a:xfrm>
              <a:off x="508000" y="4313254"/>
              <a:ext cx="8810454" cy="356839"/>
            </a:xfrm>
            <a:prstGeom prst="rect">
              <a:avLst/>
            </a:prstGeom>
            <a:solidFill>
              <a:srgbClr val="F5F6F8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48">
              <a:extLst>
                <a:ext uri="{FF2B5EF4-FFF2-40B4-BE49-F238E27FC236}">
                  <a16:creationId xmlns:a16="http://schemas.microsoft.com/office/drawing/2014/main" id="{EC7CD1D6-C831-B4A6-D1C0-1C6D8990E077}"/>
                </a:ext>
              </a:extLst>
            </p:cNvPr>
            <p:cNvSpPr/>
            <p:nvPr/>
          </p:nvSpPr>
          <p:spPr>
            <a:xfrm>
              <a:off x="580415" y="4313254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Myopenia</a:t>
              </a:r>
              <a:endParaRPr lang="en-US" sz="1400" dirty="0"/>
            </a:p>
          </p:txBody>
        </p:sp>
        <p:sp>
          <p:nvSpPr>
            <p:cNvPr id="80" name="Text 49">
              <a:extLst>
                <a:ext uri="{FF2B5EF4-FFF2-40B4-BE49-F238E27FC236}">
                  <a16:creationId xmlns:a16="http://schemas.microsoft.com/office/drawing/2014/main" id="{71DB1DAC-3349-2109-ED57-E0C9F095FDCB}"/>
                </a:ext>
              </a:extLst>
            </p:cNvPr>
            <p:cNvSpPr/>
            <p:nvPr/>
          </p:nvSpPr>
          <p:spPr>
            <a:xfrm>
              <a:off x="3742523" y="4313254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1.38</a:t>
              </a:r>
              <a:endParaRPr lang="en-US" sz="1400" dirty="0"/>
            </a:p>
          </p:txBody>
        </p:sp>
        <p:sp>
          <p:nvSpPr>
            <p:cNvPr id="81" name="Text 50">
              <a:extLst>
                <a:ext uri="{FF2B5EF4-FFF2-40B4-BE49-F238E27FC236}">
                  <a16:creationId xmlns:a16="http://schemas.microsoft.com/office/drawing/2014/main" id="{B24E4FDD-97A4-AD3F-736F-09BE6AA28ABA}"/>
                </a:ext>
              </a:extLst>
            </p:cNvPr>
            <p:cNvSpPr/>
            <p:nvPr/>
          </p:nvSpPr>
          <p:spPr>
            <a:xfrm>
              <a:off x="4852881" y="4313254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1.09–1.74</a:t>
              </a:r>
              <a:endParaRPr lang="en-US" sz="1400" dirty="0"/>
            </a:p>
          </p:txBody>
        </p:sp>
        <p:sp>
          <p:nvSpPr>
            <p:cNvPr id="82" name="Text 51">
              <a:extLst>
                <a:ext uri="{FF2B5EF4-FFF2-40B4-BE49-F238E27FC236}">
                  <a16:creationId xmlns:a16="http://schemas.microsoft.com/office/drawing/2014/main" id="{B6EC3F2C-47E2-B4EC-CE04-EBF988DEB8FE}"/>
                </a:ext>
              </a:extLst>
            </p:cNvPr>
            <p:cNvSpPr/>
            <p:nvPr/>
          </p:nvSpPr>
          <p:spPr>
            <a:xfrm>
              <a:off x="6687387" y="4313254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.008</a:t>
              </a:r>
              <a:endParaRPr lang="en-US" sz="1400" dirty="0"/>
            </a:p>
          </p:txBody>
        </p:sp>
        <p:sp>
          <p:nvSpPr>
            <p:cNvPr id="83" name="Text 52">
              <a:extLst>
                <a:ext uri="{FF2B5EF4-FFF2-40B4-BE49-F238E27FC236}">
                  <a16:creationId xmlns:a16="http://schemas.microsoft.com/office/drawing/2014/main" id="{3F185328-E534-7088-6CD8-7DA502C39CC3}"/>
                </a:ext>
              </a:extLst>
            </p:cNvPr>
            <p:cNvSpPr/>
            <p:nvPr/>
          </p:nvSpPr>
          <p:spPr>
            <a:xfrm>
              <a:off x="7797745" y="4313254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11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84" name="Shape 53">
              <a:extLst>
                <a:ext uri="{FF2B5EF4-FFF2-40B4-BE49-F238E27FC236}">
                  <a16:creationId xmlns:a16="http://schemas.microsoft.com/office/drawing/2014/main" id="{7F7A371F-BC3B-69E6-A5A5-F9A600726F59}"/>
                </a:ext>
              </a:extLst>
            </p:cNvPr>
            <p:cNvSpPr/>
            <p:nvPr/>
          </p:nvSpPr>
          <p:spPr>
            <a:xfrm>
              <a:off x="508000" y="4670093"/>
              <a:ext cx="8810454" cy="356839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54">
              <a:extLst>
                <a:ext uri="{FF2B5EF4-FFF2-40B4-BE49-F238E27FC236}">
                  <a16:creationId xmlns:a16="http://schemas.microsoft.com/office/drawing/2014/main" id="{4A92E352-E322-ABEB-5C77-C54993064826}"/>
                </a:ext>
              </a:extLst>
            </p:cNvPr>
            <p:cNvSpPr/>
            <p:nvPr/>
          </p:nvSpPr>
          <p:spPr>
            <a:xfrm>
              <a:off x="580415" y="4670093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BMI (kg/m²)</a:t>
              </a:r>
              <a:endParaRPr lang="en-US" sz="1400" dirty="0"/>
            </a:p>
          </p:txBody>
        </p:sp>
        <p:sp>
          <p:nvSpPr>
            <p:cNvPr id="86" name="Text 55">
              <a:extLst>
                <a:ext uri="{FF2B5EF4-FFF2-40B4-BE49-F238E27FC236}">
                  <a16:creationId xmlns:a16="http://schemas.microsoft.com/office/drawing/2014/main" id="{8629B358-4A0D-CDE0-7787-B3F2D6E361E7}"/>
                </a:ext>
              </a:extLst>
            </p:cNvPr>
            <p:cNvSpPr/>
            <p:nvPr/>
          </p:nvSpPr>
          <p:spPr>
            <a:xfrm>
              <a:off x="3742523" y="4670093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1.01</a:t>
              </a:r>
              <a:endParaRPr lang="en-US" sz="1400" dirty="0"/>
            </a:p>
          </p:txBody>
        </p:sp>
        <p:sp>
          <p:nvSpPr>
            <p:cNvPr id="87" name="Text 56">
              <a:extLst>
                <a:ext uri="{FF2B5EF4-FFF2-40B4-BE49-F238E27FC236}">
                  <a16:creationId xmlns:a16="http://schemas.microsoft.com/office/drawing/2014/main" id="{3888DFA5-862E-1450-4A11-6E645F8A7047}"/>
                </a:ext>
              </a:extLst>
            </p:cNvPr>
            <p:cNvSpPr/>
            <p:nvPr/>
          </p:nvSpPr>
          <p:spPr>
            <a:xfrm>
              <a:off x="4852881" y="4670093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0.98–1.03</a:t>
              </a:r>
              <a:endParaRPr lang="en-US" sz="1400" dirty="0"/>
            </a:p>
          </p:txBody>
        </p:sp>
        <p:sp>
          <p:nvSpPr>
            <p:cNvPr id="88" name="Text 57">
              <a:extLst>
                <a:ext uri="{FF2B5EF4-FFF2-40B4-BE49-F238E27FC236}">
                  <a16:creationId xmlns:a16="http://schemas.microsoft.com/office/drawing/2014/main" id="{D52D254B-964C-3299-DB4B-237AD15E91D1}"/>
                </a:ext>
              </a:extLst>
            </p:cNvPr>
            <p:cNvSpPr/>
            <p:nvPr/>
          </p:nvSpPr>
          <p:spPr>
            <a:xfrm>
              <a:off x="6687387" y="4670093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.60</a:t>
              </a:r>
              <a:endParaRPr lang="en-US" sz="1400" dirty="0"/>
            </a:p>
          </p:txBody>
        </p:sp>
        <p:sp>
          <p:nvSpPr>
            <p:cNvPr id="89" name="Text 58">
              <a:extLst>
                <a:ext uri="{FF2B5EF4-FFF2-40B4-BE49-F238E27FC236}">
                  <a16:creationId xmlns:a16="http://schemas.microsoft.com/office/drawing/2014/main" id="{B6F77409-9AFB-A8BE-DD08-03653E82B5A6}"/>
                </a:ext>
              </a:extLst>
            </p:cNvPr>
            <p:cNvSpPr/>
            <p:nvPr/>
          </p:nvSpPr>
          <p:spPr>
            <a:xfrm>
              <a:off x="7797745" y="4670093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✗</a:t>
              </a:r>
              <a:endParaRPr lang="en-US" sz="1400" dirty="0"/>
            </a:p>
          </p:txBody>
        </p:sp>
        <p:sp>
          <p:nvSpPr>
            <p:cNvPr id="90" name="Shape 59">
              <a:extLst>
                <a:ext uri="{FF2B5EF4-FFF2-40B4-BE49-F238E27FC236}">
                  <a16:creationId xmlns:a16="http://schemas.microsoft.com/office/drawing/2014/main" id="{0E1E386D-EA46-8BF4-D507-B2FF00529201}"/>
                </a:ext>
              </a:extLst>
            </p:cNvPr>
            <p:cNvSpPr/>
            <p:nvPr/>
          </p:nvSpPr>
          <p:spPr>
            <a:xfrm>
              <a:off x="508000" y="5026932"/>
              <a:ext cx="8810454" cy="356839"/>
            </a:xfrm>
            <a:prstGeom prst="rect">
              <a:avLst/>
            </a:prstGeom>
            <a:solidFill>
              <a:srgbClr val="F5F6F8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60">
              <a:extLst>
                <a:ext uri="{FF2B5EF4-FFF2-40B4-BE49-F238E27FC236}">
                  <a16:creationId xmlns:a16="http://schemas.microsoft.com/office/drawing/2014/main" id="{D63D522F-7FF1-AE33-CE26-F5513F71E369}"/>
                </a:ext>
              </a:extLst>
            </p:cNvPr>
            <p:cNvSpPr/>
            <p:nvPr/>
          </p:nvSpPr>
          <p:spPr>
            <a:xfrm>
              <a:off x="580415" y="5026932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내장지방 (cm²)</a:t>
              </a:r>
              <a:endParaRPr lang="en-US" sz="1400" dirty="0"/>
            </a:p>
          </p:txBody>
        </p:sp>
        <p:sp>
          <p:nvSpPr>
            <p:cNvPr id="92" name="Text 61">
              <a:extLst>
                <a:ext uri="{FF2B5EF4-FFF2-40B4-BE49-F238E27FC236}">
                  <a16:creationId xmlns:a16="http://schemas.microsoft.com/office/drawing/2014/main" id="{38DE23F8-B102-4E16-FC8C-C06F7DA27784}"/>
                </a:ext>
              </a:extLst>
            </p:cNvPr>
            <p:cNvSpPr/>
            <p:nvPr/>
          </p:nvSpPr>
          <p:spPr>
            <a:xfrm>
              <a:off x="3742523" y="5026932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1.00</a:t>
              </a:r>
              <a:endParaRPr lang="en-US" sz="1400" dirty="0"/>
            </a:p>
          </p:txBody>
        </p:sp>
        <p:sp>
          <p:nvSpPr>
            <p:cNvPr id="93" name="Text 62">
              <a:extLst>
                <a:ext uri="{FF2B5EF4-FFF2-40B4-BE49-F238E27FC236}">
                  <a16:creationId xmlns:a16="http://schemas.microsoft.com/office/drawing/2014/main" id="{57B0AE7C-44D9-DBD3-2D65-186FF5842A63}"/>
                </a:ext>
              </a:extLst>
            </p:cNvPr>
            <p:cNvSpPr/>
            <p:nvPr/>
          </p:nvSpPr>
          <p:spPr>
            <a:xfrm>
              <a:off x="4852881" y="5026932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1.00–1.00</a:t>
              </a:r>
              <a:endParaRPr lang="en-US" sz="1400" dirty="0"/>
            </a:p>
          </p:txBody>
        </p:sp>
        <p:sp>
          <p:nvSpPr>
            <p:cNvPr id="94" name="Text 63">
              <a:extLst>
                <a:ext uri="{FF2B5EF4-FFF2-40B4-BE49-F238E27FC236}">
                  <a16:creationId xmlns:a16="http://schemas.microsoft.com/office/drawing/2014/main" id="{6E9C369A-C290-A8DB-6C8E-25B2C1099CED}"/>
                </a:ext>
              </a:extLst>
            </p:cNvPr>
            <p:cNvSpPr/>
            <p:nvPr/>
          </p:nvSpPr>
          <p:spPr>
            <a:xfrm>
              <a:off x="6687387" y="5026932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.70</a:t>
              </a:r>
              <a:endParaRPr lang="en-US" sz="1400" dirty="0"/>
            </a:p>
          </p:txBody>
        </p:sp>
        <p:sp>
          <p:nvSpPr>
            <p:cNvPr id="95" name="Text 64">
              <a:extLst>
                <a:ext uri="{FF2B5EF4-FFF2-40B4-BE49-F238E27FC236}">
                  <a16:creationId xmlns:a16="http://schemas.microsoft.com/office/drawing/2014/main" id="{16F78546-FBD9-BE02-143C-AAB7B94412FA}"/>
                </a:ext>
              </a:extLst>
            </p:cNvPr>
            <p:cNvSpPr/>
            <p:nvPr/>
          </p:nvSpPr>
          <p:spPr>
            <a:xfrm>
              <a:off x="7797745" y="5026932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✗</a:t>
              </a:r>
              <a:endParaRPr lang="en-US" sz="1400" dirty="0"/>
            </a:p>
          </p:txBody>
        </p:sp>
        <p:sp>
          <p:nvSpPr>
            <p:cNvPr id="96" name="Shape 65">
              <a:extLst>
                <a:ext uri="{FF2B5EF4-FFF2-40B4-BE49-F238E27FC236}">
                  <a16:creationId xmlns:a16="http://schemas.microsoft.com/office/drawing/2014/main" id="{15EC50D4-5FAF-B7A2-1280-E116C7D3702F}"/>
                </a:ext>
              </a:extLst>
            </p:cNvPr>
            <p:cNvSpPr/>
            <p:nvPr/>
          </p:nvSpPr>
          <p:spPr>
            <a:xfrm>
              <a:off x="508000" y="5383772"/>
              <a:ext cx="8810454" cy="356839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Text 66">
              <a:extLst>
                <a:ext uri="{FF2B5EF4-FFF2-40B4-BE49-F238E27FC236}">
                  <a16:creationId xmlns:a16="http://schemas.microsoft.com/office/drawing/2014/main" id="{9FB96AA5-A754-CC64-33C1-FF9267688BC6}"/>
                </a:ext>
              </a:extLst>
            </p:cNvPr>
            <p:cNvSpPr/>
            <p:nvPr/>
          </p:nvSpPr>
          <p:spPr>
            <a:xfrm>
              <a:off x="580415" y="5383772"/>
              <a:ext cx="313797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성별 (남)</a:t>
              </a:r>
              <a:endParaRPr lang="en-US" sz="1400" dirty="0"/>
            </a:p>
          </p:txBody>
        </p:sp>
        <p:sp>
          <p:nvSpPr>
            <p:cNvPr id="98" name="Text 67">
              <a:extLst>
                <a:ext uri="{FF2B5EF4-FFF2-40B4-BE49-F238E27FC236}">
                  <a16:creationId xmlns:a16="http://schemas.microsoft.com/office/drawing/2014/main" id="{D7E2819A-7BE2-BCF0-0AF3-EE459EBF19F4}"/>
                </a:ext>
              </a:extLst>
            </p:cNvPr>
            <p:cNvSpPr/>
            <p:nvPr/>
          </p:nvSpPr>
          <p:spPr>
            <a:xfrm>
              <a:off x="3742523" y="5383772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0.96</a:t>
              </a:r>
              <a:endParaRPr lang="en-US" sz="1400" dirty="0"/>
            </a:p>
          </p:txBody>
        </p:sp>
        <p:sp>
          <p:nvSpPr>
            <p:cNvPr id="99" name="Text 68">
              <a:extLst>
                <a:ext uri="{FF2B5EF4-FFF2-40B4-BE49-F238E27FC236}">
                  <a16:creationId xmlns:a16="http://schemas.microsoft.com/office/drawing/2014/main" id="{81DC99E5-AC85-ED83-6D51-B973A12557A1}"/>
                </a:ext>
              </a:extLst>
            </p:cNvPr>
            <p:cNvSpPr/>
            <p:nvPr/>
          </p:nvSpPr>
          <p:spPr>
            <a:xfrm>
              <a:off x="4852881" y="5383772"/>
              <a:ext cx="1810367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0.77–1.18</a:t>
              </a:r>
              <a:endParaRPr lang="en-US" sz="1400" dirty="0"/>
            </a:p>
          </p:txBody>
        </p:sp>
        <p:sp>
          <p:nvSpPr>
            <p:cNvPr id="100" name="Text 69">
              <a:extLst>
                <a:ext uri="{FF2B5EF4-FFF2-40B4-BE49-F238E27FC236}">
                  <a16:creationId xmlns:a16="http://schemas.microsoft.com/office/drawing/2014/main" id="{D7FEB24E-2225-27D5-D497-E3AF0C6EAB27}"/>
                </a:ext>
              </a:extLst>
            </p:cNvPr>
            <p:cNvSpPr/>
            <p:nvPr/>
          </p:nvSpPr>
          <p:spPr>
            <a:xfrm>
              <a:off x="6687387" y="5383772"/>
              <a:ext cx="1086220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.70</a:t>
              </a:r>
              <a:endParaRPr lang="en-US" sz="1400" dirty="0"/>
            </a:p>
          </p:txBody>
        </p:sp>
        <p:sp>
          <p:nvSpPr>
            <p:cNvPr id="101" name="Text 70">
              <a:extLst>
                <a:ext uri="{FF2B5EF4-FFF2-40B4-BE49-F238E27FC236}">
                  <a16:creationId xmlns:a16="http://schemas.microsoft.com/office/drawing/2014/main" id="{C2BC0798-26B4-E26F-82AF-21E2C10F8F96}"/>
                </a:ext>
              </a:extLst>
            </p:cNvPr>
            <p:cNvSpPr/>
            <p:nvPr/>
          </p:nvSpPr>
          <p:spPr>
            <a:xfrm>
              <a:off x="7797745" y="5383772"/>
              <a:ext cx="1206911" cy="356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D85A30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✗</a:t>
              </a:r>
              <a:endParaRPr lang="en-US" sz="1400" dirty="0"/>
            </a:p>
          </p:txBody>
        </p:sp>
      </p:grpSp>
      <p:sp>
        <p:nvSpPr>
          <p:cNvPr id="102" name="Shape 72">
            <a:extLst>
              <a:ext uri="{FF2B5EF4-FFF2-40B4-BE49-F238E27FC236}">
                <a16:creationId xmlns:a16="http://schemas.microsoft.com/office/drawing/2014/main" id="{137C67BC-5788-75A2-7BD7-3505823E46E8}"/>
              </a:ext>
            </a:extLst>
          </p:cNvPr>
          <p:cNvSpPr/>
          <p:nvPr/>
        </p:nvSpPr>
        <p:spPr>
          <a:xfrm>
            <a:off x="9077071" y="3221109"/>
            <a:ext cx="2534514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912BB96-9CC0-AD7D-8042-74E81D908A7B}"/>
              </a:ext>
            </a:extLst>
          </p:cNvPr>
          <p:cNvGrpSpPr/>
          <p:nvPr/>
        </p:nvGrpSpPr>
        <p:grpSpPr>
          <a:xfrm>
            <a:off x="9342592" y="1761311"/>
            <a:ext cx="2341408" cy="4163127"/>
            <a:chOff x="6967728" y="1143000"/>
            <a:chExt cx="1773936" cy="3520440"/>
          </a:xfrm>
        </p:grpSpPr>
        <p:sp>
          <p:nvSpPr>
            <p:cNvPr id="104" name="Shape 71">
              <a:extLst>
                <a:ext uri="{FF2B5EF4-FFF2-40B4-BE49-F238E27FC236}">
                  <a16:creationId xmlns:a16="http://schemas.microsoft.com/office/drawing/2014/main" id="{B746732A-0386-B3B4-7331-A8156F3A9CBD}"/>
                </a:ext>
              </a:extLst>
            </p:cNvPr>
            <p:cNvSpPr/>
            <p:nvPr/>
          </p:nvSpPr>
          <p:spPr>
            <a:xfrm>
              <a:off x="7013448" y="1143000"/>
              <a:ext cx="1682496" cy="3364992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Text 73">
              <a:extLst>
                <a:ext uri="{FF2B5EF4-FFF2-40B4-BE49-F238E27FC236}">
                  <a16:creationId xmlns:a16="http://schemas.microsoft.com/office/drawing/2014/main" id="{7DC40857-AD18-2FD1-D590-FFB833115384}"/>
                </a:ext>
              </a:extLst>
            </p:cNvPr>
            <p:cNvSpPr/>
            <p:nvPr/>
          </p:nvSpPr>
          <p:spPr>
            <a:xfrm>
              <a:off x="6967728" y="1234440"/>
              <a:ext cx="177393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8BCEE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핵심 발견</a:t>
              </a:r>
              <a:endParaRPr lang="en-US" sz="1100" dirty="0"/>
            </a:p>
          </p:txBody>
        </p:sp>
        <p:sp>
          <p:nvSpPr>
            <p:cNvPr id="106" name="Text 74">
              <a:extLst>
                <a:ext uri="{FF2B5EF4-FFF2-40B4-BE49-F238E27FC236}">
                  <a16:creationId xmlns:a16="http://schemas.microsoft.com/office/drawing/2014/main" id="{24D27C47-6D32-6D26-FAE0-8966906F5FD8}"/>
                </a:ext>
              </a:extLst>
            </p:cNvPr>
            <p:cNvSpPr/>
            <p:nvPr/>
          </p:nvSpPr>
          <p:spPr>
            <a:xfrm>
              <a:off x="6967728" y="1536192"/>
              <a:ext cx="1773936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BMI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&amp;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내장지방</a:t>
              </a:r>
              <a:endParaRPr lang="en-US" sz="1600" dirty="0"/>
            </a:p>
            <a:p>
              <a:pPr marL="0" indent="0" algn="ctr">
                <a:buNone/>
              </a:pP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유의하지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D85A30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않음</a:t>
              </a:r>
              <a:endParaRPr lang="en-US" sz="1600" dirty="0"/>
            </a:p>
          </p:txBody>
        </p:sp>
        <p:sp>
          <p:nvSpPr>
            <p:cNvPr id="107" name="Text 75">
              <a:extLst>
                <a:ext uri="{FF2B5EF4-FFF2-40B4-BE49-F238E27FC236}">
                  <a16:creationId xmlns:a16="http://schemas.microsoft.com/office/drawing/2014/main" id="{8418161A-F171-447C-924C-D2223BFB5145}"/>
                </a:ext>
              </a:extLst>
            </p:cNvPr>
            <p:cNvSpPr/>
            <p:nvPr/>
          </p:nvSpPr>
          <p:spPr>
            <a:xfrm>
              <a:off x="6967728" y="3108960"/>
              <a:ext cx="1773936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Myosteatosis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=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흡연·당뇨와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동등한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독립적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사망 위험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551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E3AF-3B28-44CC-DED5-42A3F3BE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83586-7914-6C90-760A-46CC4A0E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8A352-C212-22C6-AE66-58C0C49D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240A4B-B637-C9EF-B648-C04622EDAAD2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8DF47A27-9C88-3BA0-511D-0F7CC474B018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b="1" dirty="0">
                  <a:solidFill>
                    <a:srgbClr val="1F346B"/>
                  </a:solidFill>
                </a:rPr>
                <a:t>Markov · Random Forest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모두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일관된</a:t>
              </a:r>
              <a:r>
                <a:rPr lang="en-US" altLang="ko-KR" sz="2200" b="1" dirty="0">
                  <a:solidFill>
                    <a:srgbClr val="1F346B"/>
                  </a:solidFill>
                </a:rPr>
                <a:t> </a:t>
              </a:r>
              <a:r>
                <a:rPr lang="en-US" altLang="ko-KR" sz="2200" b="1" dirty="0" err="1">
                  <a:solidFill>
                    <a:srgbClr val="1F346B"/>
                  </a:solidFill>
                </a:rPr>
                <a:t>결론</a:t>
              </a:r>
              <a:endParaRPr lang="en-US" altLang="ko-KR" sz="2200" dirty="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1BE31FC0-E8C1-A067-C9A3-434E5444BB80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Shape 4">
            <a:extLst>
              <a:ext uri="{FF2B5EF4-FFF2-40B4-BE49-F238E27FC236}">
                <a16:creationId xmlns:a16="http://schemas.microsoft.com/office/drawing/2014/main" id="{CBE3EA7C-148E-FB42-BC4E-796957A6FF97}"/>
              </a:ext>
            </a:extLst>
          </p:cNvPr>
          <p:cNvSpPr/>
          <p:nvPr/>
        </p:nvSpPr>
        <p:spPr>
          <a:xfrm>
            <a:off x="508000" y="1700347"/>
            <a:ext cx="5345043" cy="438002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757110C4-E476-1B68-8739-85AE192D8290}"/>
              </a:ext>
            </a:extLst>
          </p:cNvPr>
          <p:cNvSpPr/>
          <p:nvPr/>
        </p:nvSpPr>
        <p:spPr>
          <a:xfrm>
            <a:off x="629478" y="1700347"/>
            <a:ext cx="5102087" cy="438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Multistate Markov Model</a:t>
            </a:r>
            <a:endParaRPr lang="en-US" sz="1600" dirty="0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F6219BD8-1887-CC56-E9A8-B54B59A42D99}"/>
              </a:ext>
            </a:extLst>
          </p:cNvPr>
          <p:cNvSpPr/>
          <p:nvPr/>
        </p:nvSpPr>
        <p:spPr>
          <a:xfrm>
            <a:off x="508000" y="2138349"/>
            <a:ext cx="5345043" cy="484108"/>
          </a:xfrm>
          <a:prstGeom prst="rect">
            <a:avLst/>
          </a:prstGeom>
          <a:solidFill>
            <a:srgbClr val="E8EC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EC77D8ED-38BA-22E8-B039-896D73A91281}"/>
              </a:ext>
            </a:extLst>
          </p:cNvPr>
          <p:cNvSpPr/>
          <p:nvPr/>
        </p:nvSpPr>
        <p:spPr>
          <a:xfrm>
            <a:off x="629478" y="2138349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경로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12C26DFF-C49A-5C62-90F1-329DC7B27AB6}"/>
              </a:ext>
            </a:extLst>
          </p:cNvPr>
          <p:cNvSpPr/>
          <p:nvPr/>
        </p:nvSpPr>
        <p:spPr>
          <a:xfrm>
            <a:off x="2664823" y="2138349"/>
            <a:ext cx="142678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HR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3B36321F-365F-EAE1-79A5-2E45F7FAE3EC}"/>
              </a:ext>
            </a:extLst>
          </p:cNvPr>
          <p:cNvSpPr/>
          <p:nvPr/>
        </p:nvSpPr>
        <p:spPr>
          <a:xfrm>
            <a:off x="4152348" y="2138349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P Value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264898E3-BC8E-A0AC-04AE-17695735E18C}"/>
              </a:ext>
            </a:extLst>
          </p:cNvPr>
          <p:cNvSpPr/>
          <p:nvPr/>
        </p:nvSpPr>
        <p:spPr>
          <a:xfrm>
            <a:off x="508000" y="2622457"/>
            <a:ext cx="5345043" cy="484108"/>
          </a:xfrm>
          <a:prstGeom prst="rect">
            <a:avLst/>
          </a:prstGeom>
          <a:solidFill>
            <a:srgbClr val="F5F6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6F8648B8-6EF8-8196-4B06-B11877874973}"/>
              </a:ext>
            </a:extLst>
          </p:cNvPr>
          <p:cNvSpPr/>
          <p:nvPr/>
        </p:nvSpPr>
        <p:spPr>
          <a:xfrm>
            <a:off x="629477" y="2622457"/>
            <a:ext cx="1913861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CT → 직접 사망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8157424-5715-387F-1E76-2E9D8403BC02}"/>
              </a:ext>
            </a:extLst>
          </p:cNvPr>
          <p:cNvSpPr/>
          <p:nvPr/>
        </p:nvSpPr>
        <p:spPr>
          <a:xfrm>
            <a:off x="2664823" y="2622457"/>
            <a:ext cx="142678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1.89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C0DB1B3F-DF49-501E-362B-F675D0DD229C}"/>
              </a:ext>
            </a:extLst>
          </p:cNvPr>
          <p:cNvSpPr/>
          <p:nvPr/>
        </p:nvSpPr>
        <p:spPr>
          <a:xfrm>
            <a:off x="4152348" y="2622457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&lt;.001 ✓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E827C582-36A1-4716-EFD4-6575E73484E8}"/>
              </a:ext>
            </a:extLst>
          </p:cNvPr>
          <p:cNvSpPr/>
          <p:nvPr/>
        </p:nvSpPr>
        <p:spPr>
          <a:xfrm>
            <a:off x="508000" y="3106564"/>
            <a:ext cx="5345043" cy="4841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BBF133CC-A04F-0CF3-88D8-AA5642CB21DC}"/>
              </a:ext>
            </a:extLst>
          </p:cNvPr>
          <p:cNvSpPr/>
          <p:nvPr/>
        </p:nvSpPr>
        <p:spPr>
          <a:xfrm>
            <a:off x="629477" y="3106564"/>
            <a:ext cx="1913861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CT → 1st MACE → 사망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5813350C-DC18-B0C0-75B8-4AE41C77460B}"/>
              </a:ext>
            </a:extLst>
          </p:cNvPr>
          <p:cNvSpPr/>
          <p:nvPr/>
        </p:nvSpPr>
        <p:spPr>
          <a:xfrm>
            <a:off x="2664823" y="3106564"/>
            <a:ext cx="142678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1.61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2FDFB759-B8AE-25FA-6148-6AF8E50516C5}"/>
              </a:ext>
            </a:extLst>
          </p:cNvPr>
          <p:cNvSpPr/>
          <p:nvPr/>
        </p:nvSpPr>
        <p:spPr>
          <a:xfrm>
            <a:off x="4152348" y="3106564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.020 ✓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A62DEDD3-769B-643B-A4C0-7D91584C5A4D}"/>
              </a:ext>
            </a:extLst>
          </p:cNvPr>
          <p:cNvSpPr/>
          <p:nvPr/>
        </p:nvSpPr>
        <p:spPr>
          <a:xfrm>
            <a:off x="508000" y="3590672"/>
            <a:ext cx="5345043" cy="484108"/>
          </a:xfrm>
          <a:prstGeom prst="rect">
            <a:avLst/>
          </a:prstGeom>
          <a:solidFill>
            <a:srgbClr val="F5F6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9BBFFEEF-87CE-E07B-383D-7C2F5EE35D41}"/>
              </a:ext>
            </a:extLst>
          </p:cNvPr>
          <p:cNvSpPr/>
          <p:nvPr/>
        </p:nvSpPr>
        <p:spPr>
          <a:xfrm>
            <a:off x="629477" y="3590672"/>
            <a:ext cx="1913861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CT → 2nd MACE → 사망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16A6E310-C68D-E2C6-D0B2-323AB1FEF45D}"/>
              </a:ext>
            </a:extLst>
          </p:cNvPr>
          <p:cNvSpPr/>
          <p:nvPr/>
        </p:nvSpPr>
        <p:spPr>
          <a:xfrm>
            <a:off x="2664823" y="3590672"/>
            <a:ext cx="142678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1.91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0F9EEF4F-3D52-DD06-E207-5601DC7935D7}"/>
              </a:ext>
            </a:extLst>
          </p:cNvPr>
          <p:cNvSpPr/>
          <p:nvPr/>
        </p:nvSpPr>
        <p:spPr>
          <a:xfrm>
            <a:off x="4152348" y="3590672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.030 ✓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5DC213B8-4569-A44D-513B-57B19988FA08}"/>
              </a:ext>
            </a:extLst>
          </p:cNvPr>
          <p:cNvSpPr/>
          <p:nvPr/>
        </p:nvSpPr>
        <p:spPr>
          <a:xfrm>
            <a:off x="508000" y="4074780"/>
            <a:ext cx="5345043" cy="4841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C0DBF03D-597D-4318-51B5-B3EC3CC25FB9}"/>
              </a:ext>
            </a:extLst>
          </p:cNvPr>
          <p:cNvSpPr/>
          <p:nvPr/>
        </p:nvSpPr>
        <p:spPr>
          <a:xfrm>
            <a:off x="629477" y="4074780"/>
            <a:ext cx="1913861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CT → 3rd MACE → 사망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F95BC077-D7FA-1972-6B03-057BB51C5B4C}"/>
              </a:ext>
            </a:extLst>
          </p:cNvPr>
          <p:cNvSpPr/>
          <p:nvPr/>
        </p:nvSpPr>
        <p:spPr>
          <a:xfrm>
            <a:off x="2664823" y="4074780"/>
            <a:ext cx="142678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1.75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BE9480ED-9FF3-2A6F-3A8A-91455EC0C6C4}"/>
              </a:ext>
            </a:extLst>
          </p:cNvPr>
          <p:cNvSpPr/>
          <p:nvPr/>
        </p:nvSpPr>
        <p:spPr>
          <a:xfrm>
            <a:off x="4152348" y="4074780"/>
            <a:ext cx="1700696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.50 (소수)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8E5E502E-F379-3425-1E71-FADED734CB25}"/>
              </a:ext>
            </a:extLst>
          </p:cNvPr>
          <p:cNvSpPr/>
          <p:nvPr/>
        </p:nvSpPr>
        <p:spPr>
          <a:xfrm>
            <a:off x="508000" y="2138349"/>
            <a:ext cx="0" cy="2420538"/>
          </a:xfrm>
          <a:prstGeom prst="line">
            <a:avLst/>
          </a:prstGeom>
          <a:noFill/>
          <a:ln w="1905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F6D9674B-5CF8-75FB-BEBA-5BC99B469696}"/>
              </a:ext>
            </a:extLst>
          </p:cNvPr>
          <p:cNvSpPr/>
          <p:nvPr/>
        </p:nvSpPr>
        <p:spPr>
          <a:xfrm>
            <a:off x="508000" y="4581940"/>
            <a:ext cx="5345043" cy="599371"/>
          </a:xfrm>
          <a:prstGeom prst="rect">
            <a:avLst/>
          </a:prstGeom>
          <a:solidFill>
            <a:srgbClr val="E8ECF5"/>
          </a:solidFill>
          <a:ln w="635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28">
            <a:extLst>
              <a:ext uri="{FF2B5EF4-FFF2-40B4-BE49-F238E27FC236}">
                <a16:creationId xmlns:a16="http://schemas.microsoft.com/office/drawing/2014/main" id="{198B3D67-2CF7-A919-8CFC-792159627378}"/>
              </a:ext>
            </a:extLst>
          </p:cNvPr>
          <p:cNvSpPr/>
          <p:nvPr/>
        </p:nvSpPr>
        <p:spPr>
          <a:xfrm>
            <a:off x="690217" y="4581940"/>
            <a:ext cx="5102087" cy="599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→ CT 촬영 시점부터 MACE 발생 후에도 6–9년 후까지 myosteatosis 영향 지속</a:t>
            </a:r>
            <a:endParaRPr lang="en-US" sz="1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2" name="Shape 29">
            <a:extLst>
              <a:ext uri="{FF2B5EF4-FFF2-40B4-BE49-F238E27FC236}">
                <a16:creationId xmlns:a16="http://schemas.microsoft.com/office/drawing/2014/main" id="{AD995699-9D03-72CA-7E2D-128AA8AF630C}"/>
              </a:ext>
            </a:extLst>
          </p:cNvPr>
          <p:cNvSpPr/>
          <p:nvPr/>
        </p:nvSpPr>
        <p:spPr>
          <a:xfrm>
            <a:off x="6096000" y="1700347"/>
            <a:ext cx="5588000" cy="438002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FD68E278-E48D-CDD3-E392-90F4E2A4F460}"/>
              </a:ext>
            </a:extLst>
          </p:cNvPr>
          <p:cNvSpPr/>
          <p:nvPr/>
        </p:nvSpPr>
        <p:spPr>
          <a:xfrm>
            <a:off x="6217478" y="1700347"/>
            <a:ext cx="5345043" cy="438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Random Forest </a:t>
            </a:r>
            <a:r>
              <a:rPr lang="en-US" sz="1600" b="1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Survival Model</a:t>
            </a:r>
            <a:endParaRPr lang="en-US" sz="160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0B0BCEAD-71E5-07B1-E770-5479336728BE}"/>
              </a:ext>
            </a:extLst>
          </p:cNvPr>
          <p:cNvSpPr/>
          <p:nvPr/>
        </p:nvSpPr>
        <p:spPr>
          <a:xfrm>
            <a:off x="6096000" y="2242086"/>
            <a:ext cx="5588000" cy="530213"/>
          </a:xfrm>
          <a:prstGeom prst="rect">
            <a:avLst/>
          </a:prstGeom>
          <a:solidFill>
            <a:srgbClr val="E8EC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32">
            <a:extLst>
              <a:ext uri="{FF2B5EF4-FFF2-40B4-BE49-F238E27FC236}">
                <a16:creationId xmlns:a16="http://schemas.microsoft.com/office/drawing/2014/main" id="{FE384A67-FE01-6A76-B0A2-1DE379677726}"/>
              </a:ext>
            </a:extLst>
          </p:cNvPr>
          <p:cNvSpPr/>
          <p:nvPr/>
        </p:nvSpPr>
        <p:spPr>
          <a:xfrm>
            <a:off x="6217478" y="2242086"/>
            <a:ext cx="2429565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Bold" pitchFamily="34" charset="-120"/>
              </a:rPr>
              <a:t>Harrell C-index: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2" name="Text 33">
            <a:extLst>
              <a:ext uri="{FF2B5EF4-FFF2-40B4-BE49-F238E27FC236}">
                <a16:creationId xmlns:a16="http://schemas.microsoft.com/office/drawing/2014/main" id="{DCA949BD-1B7B-E0DF-5638-7D705878ACDB}"/>
              </a:ext>
            </a:extLst>
          </p:cNvPr>
          <p:cNvSpPr/>
          <p:nvPr/>
        </p:nvSpPr>
        <p:spPr>
          <a:xfrm>
            <a:off x="8647043" y="2242086"/>
            <a:ext cx="2915478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0.79 (남 0.78 · 여 0.77)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3" name="Shape 34">
            <a:extLst>
              <a:ext uri="{FF2B5EF4-FFF2-40B4-BE49-F238E27FC236}">
                <a16:creationId xmlns:a16="http://schemas.microsoft.com/office/drawing/2014/main" id="{C17DC798-DBB5-5C05-86B0-F8E7905B8D2A}"/>
              </a:ext>
            </a:extLst>
          </p:cNvPr>
          <p:cNvSpPr/>
          <p:nvPr/>
        </p:nvSpPr>
        <p:spPr>
          <a:xfrm>
            <a:off x="6096000" y="2818405"/>
            <a:ext cx="5588000" cy="530213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35">
            <a:extLst>
              <a:ext uri="{FF2B5EF4-FFF2-40B4-BE49-F238E27FC236}">
                <a16:creationId xmlns:a16="http://schemas.microsoft.com/office/drawing/2014/main" id="{767F555A-6441-497F-DFA5-072E0EF5C280}"/>
              </a:ext>
            </a:extLst>
          </p:cNvPr>
          <p:cNvSpPr/>
          <p:nvPr/>
        </p:nvSpPr>
        <p:spPr>
          <a:xfrm>
            <a:off x="6217478" y="2818405"/>
            <a:ext cx="2429565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Bold" pitchFamily="34" charset="-120"/>
              </a:rPr>
              <a:t>변수 중요도 1위: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5" name="Text 36">
            <a:extLst>
              <a:ext uri="{FF2B5EF4-FFF2-40B4-BE49-F238E27FC236}">
                <a16:creationId xmlns:a16="http://schemas.microsoft.com/office/drawing/2014/main" id="{DF61BCEE-A513-52AD-BEAE-999A498660A4}"/>
              </a:ext>
            </a:extLst>
          </p:cNvPr>
          <p:cNvSpPr/>
          <p:nvPr/>
        </p:nvSpPr>
        <p:spPr>
          <a:xfrm>
            <a:off x="8647043" y="2818405"/>
            <a:ext cx="2915478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근육 밀도 (importance 0.039)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6" name="Shape 37">
            <a:extLst>
              <a:ext uri="{FF2B5EF4-FFF2-40B4-BE49-F238E27FC236}">
                <a16:creationId xmlns:a16="http://schemas.microsoft.com/office/drawing/2014/main" id="{7DD40B04-8A3F-21CE-DFFC-CC7A32FA495D}"/>
              </a:ext>
            </a:extLst>
          </p:cNvPr>
          <p:cNvSpPr/>
          <p:nvPr/>
        </p:nvSpPr>
        <p:spPr>
          <a:xfrm>
            <a:off x="6096000" y="3394724"/>
            <a:ext cx="5588000" cy="530213"/>
          </a:xfrm>
          <a:prstGeom prst="rect">
            <a:avLst/>
          </a:prstGeom>
          <a:solidFill>
            <a:srgbClr val="E8EC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38">
            <a:extLst>
              <a:ext uri="{FF2B5EF4-FFF2-40B4-BE49-F238E27FC236}">
                <a16:creationId xmlns:a16="http://schemas.microsoft.com/office/drawing/2014/main" id="{19C48CF8-9721-BBC2-CC60-19965C5F4A66}"/>
              </a:ext>
            </a:extLst>
          </p:cNvPr>
          <p:cNvSpPr/>
          <p:nvPr/>
        </p:nvSpPr>
        <p:spPr>
          <a:xfrm>
            <a:off x="6217478" y="3394724"/>
            <a:ext cx="2429565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Bold" pitchFamily="34" charset="-120"/>
              </a:rPr>
              <a:t>변수 중요도 2위: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8" name="Text 39">
            <a:extLst>
              <a:ext uri="{FF2B5EF4-FFF2-40B4-BE49-F238E27FC236}">
                <a16:creationId xmlns:a16="http://schemas.microsoft.com/office/drawing/2014/main" id="{CB9BB756-8679-35F4-0433-AC486F013BE9}"/>
              </a:ext>
            </a:extLst>
          </p:cNvPr>
          <p:cNvSpPr/>
          <p:nvPr/>
        </p:nvSpPr>
        <p:spPr>
          <a:xfrm>
            <a:off x="8647043" y="3394724"/>
            <a:ext cx="2915478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BMI (0.013–0.015)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9" name="Shape 40">
            <a:extLst>
              <a:ext uri="{FF2B5EF4-FFF2-40B4-BE49-F238E27FC236}">
                <a16:creationId xmlns:a16="http://schemas.microsoft.com/office/drawing/2014/main" id="{DA3D0CA5-C850-BAFF-72C4-4BE0CBC6B57A}"/>
              </a:ext>
            </a:extLst>
          </p:cNvPr>
          <p:cNvSpPr/>
          <p:nvPr/>
        </p:nvSpPr>
        <p:spPr>
          <a:xfrm>
            <a:off x="6096000" y="3971042"/>
            <a:ext cx="5588000" cy="530213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41">
            <a:extLst>
              <a:ext uri="{FF2B5EF4-FFF2-40B4-BE49-F238E27FC236}">
                <a16:creationId xmlns:a16="http://schemas.microsoft.com/office/drawing/2014/main" id="{434F18E5-06CF-E63D-1D74-02235AE32F02}"/>
              </a:ext>
            </a:extLst>
          </p:cNvPr>
          <p:cNvSpPr/>
          <p:nvPr/>
        </p:nvSpPr>
        <p:spPr>
          <a:xfrm>
            <a:off x="6217478" y="3971042"/>
            <a:ext cx="2429565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Bold" pitchFamily="34" charset="-120"/>
              </a:rPr>
              <a:t>3위 이하: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1" name="Text 42">
            <a:extLst>
              <a:ext uri="{FF2B5EF4-FFF2-40B4-BE49-F238E27FC236}">
                <a16:creationId xmlns:a16="http://schemas.microsoft.com/office/drawing/2014/main" id="{B022A218-F325-004C-5977-596C9E560FAB}"/>
              </a:ext>
            </a:extLst>
          </p:cNvPr>
          <p:cNvSpPr/>
          <p:nvPr/>
        </p:nvSpPr>
        <p:spPr>
          <a:xfrm>
            <a:off x="8647043" y="3971042"/>
            <a:ext cx="2915478" cy="53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SMI (0.002) · 간밀도 (0.0013)</a:t>
            </a:r>
            <a:endParaRPr lang="en-US" sz="1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2" name="Shape 43">
            <a:extLst>
              <a:ext uri="{FF2B5EF4-FFF2-40B4-BE49-F238E27FC236}">
                <a16:creationId xmlns:a16="http://schemas.microsoft.com/office/drawing/2014/main" id="{DFD29762-AB9E-FF14-B865-EB36DD4EC1B0}"/>
              </a:ext>
            </a:extLst>
          </p:cNvPr>
          <p:cNvSpPr/>
          <p:nvPr/>
        </p:nvSpPr>
        <p:spPr>
          <a:xfrm>
            <a:off x="6096000" y="4570414"/>
            <a:ext cx="5588000" cy="599371"/>
          </a:xfrm>
          <a:prstGeom prst="rect">
            <a:avLst/>
          </a:prstGeom>
          <a:solidFill>
            <a:srgbClr val="E8ECF5"/>
          </a:solidFill>
          <a:ln w="635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44">
            <a:extLst>
              <a:ext uri="{FF2B5EF4-FFF2-40B4-BE49-F238E27FC236}">
                <a16:creationId xmlns:a16="http://schemas.microsoft.com/office/drawing/2014/main" id="{5CBFA874-984D-E698-64D7-37B4B67D96AD}"/>
              </a:ext>
            </a:extLst>
          </p:cNvPr>
          <p:cNvSpPr/>
          <p:nvPr/>
        </p:nvSpPr>
        <p:spPr>
          <a:xfrm>
            <a:off x="6096000" y="4570414"/>
            <a:ext cx="85035" cy="599371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45">
            <a:extLst>
              <a:ext uri="{FF2B5EF4-FFF2-40B4-BE49-F238E27FC236}">
                <a16:creationId xmlns:a16="http://schemas.microsoft.com/office/drawing/2014/main" id="{9BE4A18A-26C2-88F8-9807-E496E65A3FF6}"/>
              </a:ext>
            </a:extLst>
          </p:cNvPr>
          <p:cNvSpPr/>
          <p:nvPr/>
        </p:nvSpPr>
        <p:spPr>
          <a:xfrm>
            <a:off x="6290365" y="4570414"/>
            <a:ext cx="5296452" cy="599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46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돋움체 Medium" pitchFamily="34" charset="-120"/>
              </a:rPr>
              <a:t>Cox에서 유의하지 않던 BMI가 RF에서는 2위 → 비선형 효과 존재</a:t>
            </a:r>
            <a:endParaRPr lang="en-US" sz="1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5" name="Shape 46">
            <a:extLst>
              <a:ext uri="{FF2B5EF4-FFF2-40B4-BE49-F238E27FC236}">
                <a16:creationId xmlns:a16="http://schemas.microsoft.com/office/drawing/2014/main" id="{EA329CB1-0DB6-108A-AB81-8332D62073E4}"/>
              </a:ext>
            </a:extLst>
          </p:cNvPr>
          <p:cNvSpPr/>
          <p:nvPr/>
        </p:nvSpPr>
        <p:spPr>
          <a:xfrm>
            <a:off x="508000" y="5308101"/>
            <a:ext cx="11176000" cy="484108"/>
          </a:xfrm>
          <a:prstGeom prst="rect">
            <a:avLst/>
          </a:prstGeom>
          <a:solidFill>
            <a:srgbClr val="FFF8E1"/>
          </a:solidFill>
          <a:ln w="12700">
            <a:solidFill>
              <a:srgbClr val="B07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47">
            <a:extLst>
              <a:ext uri="{FF2B5EF4-FFF2-40B4-BE49-F238E27FC236}">
                <a16:creationId xmlns:a16="http://schemas.microsoft.com/office/drawing/2014/main" id="{A0B3C815-95E8-3727-00EB-B7CBA15E9B58}"/>
              </a:ext>
            </a:extLst>
          </p:cNvPr>
          <p:cNvSpPr/>
          <p:nvPr/>
        </p:nvSpPr>
        <p:spPr>
          <a:xfrm>
            <a:off x="508000" y="5308101"/>
            <a:ext cx="72887" cy="484108"/>
          </a:xfrm>
          <a:prstGeom prst="rect">
            <a:avLst/>
          </a:prstGeom>
          <a:solidFill>
            <a:srgbClr val="B07520"/>
          </a:solidFill>
          <a:ln w="12700">
            <a:solidFill>
              <a:srgbClr val="B07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48">
            <a:extLst>
              <a:ext uri="{FF2B5EF4-FFF2-40B4-BE49-F238E27FC236}">
                <a16:creationId xmlns:a16="http://schemas.microsoft.com/office/drawing/2014/main" id="{BDDE4043-7201-F37B-D789-B81BAB017A28}"/>
              </a:ext>
            </a:extLst>
          </p:cNvPr>
          <p:cNvSpPr/>
          <p:nvPr/>
        </p:nvSpPr>
        <p:spPr>
          <a:xfrm>
            <a:off x="678070" y="5308101"/>
            <a:ext cx="10957339" cy="48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600"/>
                </a:solidFill>
              </a:rPr>
              <a:t>⚑  핵심: 3가지 완전히 다른 통계 방법에서 공통적으로 근육 밀도(myosteatosis)가 가장 중요 → 결론의 robustness</a:t>
            </a:r>
            <a:endParaRPr lang="en-US" sz="1200" dirty="0"/>
          </a:p>
        </p:txBody>
      </p:sp>
      <p:sp>
        <p:nvSpPr>
          <p:cNvPr id="128" name="Text 49">
            <a:extLst>
              <a:ext uri="{FF2B5EF4-FFF2-40B4-BE49-F238E27FC236}">
                <a16:creationId xmlns:a16="http://schemas.microsoft.com/office/drawing/2014/main" id="{BF0099AF-EA7F-7E9F-1355-D9585749C630}"/>
              </a:ext>
            </a:extLst>
          </p:cNvPr>
          <p:cNvSpPr/>
          <p:nvPr/>
        </p:nvSpPr>
        <p:spPr>
          <a:xfrm>
            <a:off x="508000" y="5907473"/>
            <a:ext cx="11176000" cy="414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★ 저자 가설: myosteatosis는 '회복 탄력성(resilience)'의 핵심 지표일 수 있다 — MACE 이후에도 유의한 영향이 지속됨이 근거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020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A99F-6972-2131-3EC6-BEF85739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BE06D-27F2-2E73-10E8-DB1C54F9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Discussion &amp;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5F769-7D86-2BCA-56A9-E7FA955E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567C7E5-118E-FE71-BDAB-53EAA72F2C6A}"/>
              </a:ext>
            </a:extLst>
          </p:cNvPr>
          <p:cNvSpPr/>
          <p:nvPr/>
        </p:nvSpPr>
        <p:spPr>
          <a:xfrm>
            <a:off x="508000" y="1139067"/>
            <a:ext cx="11176000" cy="394342"/>
          </a:xfrm>
          <a:prstGeom prst="rect">
            <a:avLst/>
          </a:prstGeom>
          <a:solidFill>
            <a:srgbClr val="1F346B"/>
          </a:solidFill>
          <a:ln w="12700">
            <a:solidFill>
              <a:srgbClr val="1F34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2DBB032-74F3-133C-C04C-52C7F104F029}"/>
              </a:ext>
            </a:extLst>
          </p:cNvPr>
          <p:cNvSpPr/>
          <p:nvPr/>
        </p:nvSpPr>
        <p:spPr>
          <a:xfrm>
            <a:off x="690217" y="1139067"/>
            <a:ext cx="10933043" cy="394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논문이 직접 밝힌 한계</a:t>
            </a:r>
            <a:endParaRPr lang="en-US" sz="1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A2181CE-D831-24AC-5C15-BD5D5C2B5772}"/>
              </a:ext>
            </a:extLst>
          </p:cNvPr>
          <p:cNvGrpSpPr/>
          <p:nvPr/>
        </p:nvGrpSpPr>
        <p:grpSpPr>
          <a:xfrm>
            <a:off x="508000" y="1626195"/>
            <a:ext cx="11176000" cy="1391797"/>
            <a:chOff x="508000" y="1579803"/>
            <a:chExt cx="11176000" cy="1391797"/>
          </a:xfrm>
        </p:grpSpPr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8BA9D332-BC30-BF34-63E7-7586A87C87FF}"/>
                </a:ext>
              </a:extLst>
            </p:cNvPr>
            <p:cNvSpPr/>
            <p:nvPr/>
          </p:nvSpPr>
          <p:spPr>
            <a:xfrm>
              <a:off x="508000" y="1579803"/>
              <a:ext cx="3644348" cy="1391797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92DB3C8E-8C7B-986C-AB37-5F70E773CE90}"/>
                </a:ext>
              </a:extLst>
            </p:cNvPr>
            <p:cNvSpPr/>
            <p:nvPr/>
          </p:nvSpPr>
          <p:spPr>
            <a:xfrm>
              <a:off x="508000" y="1579803"/>
              <a:ext cx="86476" cy="139179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DCEAB4EB-B750-566E-D20F-B1C192D8F660}"/>
                </a:ext>
              </a:extLst>
            </p:cNvPr>
            <p:cNvSpPr/>
            <p:nvPr/>
          </p:nvSpPr>
          <p:spPr>
            <a:xfrm>
              <a:off x="690216" y="1660991"/>
              <a:ext cx="3397273" cy="347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① 간 지방증 threshold</a:t>
              </a:r>
              <a:endParaRPr lang="en-US" sz="14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55B7F8B9-3D70-90CF-2C7C-62011E213B20}"/>
                </a:ext>
              </a:extLst>
            </p:cNvPr>
            <p:cNvSpPr/>
            <p:nvPr/>
          </p:nvSpPr>
          <p:spPr>
            <a:xfrm>
              <a:off x="690216" y="2032136"/>
              <a:ext cx="3397273" cy="8582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경미한 간지방증(PDFF 5%)부터 포함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→ CT에서 이 수준의 정확도 낮음</a:t>
              </a:r>
              <a:endParaRPr lang="en-US" sz="12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33409962-F67E-51B3-550F-B097C452AC23}"/>
                </a:ext>
              </a:extLst>
            </p:cNvPr>
            <p:cNvSpPr/>
            <p:nvPr/>
          </p:nvSpPr>
          <p:spPr>
            <a:xfrm>
              <a:off x="4273826" y="1579803"/>
              <a:ext cx="3644348" cy="1391797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484ED40-86F6-03E2-3E65-849C3BBD90EF}"/>
                </a:ext>
              </a:extLst>
            </p:cNvPr>
            <p:cNvSpPr/>
            <p:nvPr/>
          </p:nvSpPr>
          <p:spPr>
            <a:xfrm>
              <a:off x="4273826" y="1579803"/>
              <a:ext cx="86476" cy="139179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96B46215-9010-BC81-28D1-DCD44B06C112}"/>
                </a:ext>
              </a:extLst>
            </p:cNvPr>
            <p:cNvSpPr/>
            <p:nvPr/>
          </p:nvSpPr>
          <p:spPr>
            <a:xfrm>
              <a:off x="4456042" y="1660991"/>
              <a:ext cx="3397273" cy="347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② 생활습관 데이터 부재</a:t>
              </a:r>
              <a:endParaRPr lang="en-US" sz="14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0A3EB294-DEE8-11BF-AAB1-427E2D1B6987}"/>
                </a:ext>
              </a:extLst>
            </p:cNvPr>
            <p:cNvSpPr/>
            <p:nvPr/>
          </p:nvSpPr>
          <p:spPr>
            <a:xfrm>
              <a:off x="4456042" y="2032136"/>
              <a:ext cx="3397273" cy="8582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신체활동량·식이습관 미기록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→ 독립성 주장 불완전</a:t>
              </a:r>
              <a:endParaRPr lang="en-US" sz="1200" dirty="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3CA1DCB0-AB64-2783-5E12-3480D375F1AB}"/>
                </a:ext>
              </a:extLst>
            </p:cNvPr>
            <p:cNvSpPr/>
            <p:nvPr/>
          </p:nvSpPr>
          <p:spPr>
            <a:xfrm>
              <a:off x="8039652" y="1579803"/>
              <a:ext cx="3644348" cy="1391797"/>
            </a:xfrm>
            <a:prstGeom prst="rect">
              <a:avLst/>
            </a:prstGeom>
            <a:solidFill>
              <a:srgbClr val="E8ECF5"/>
            </a:solidFill>
            <a:ln w="63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298615F1-FFD4-0011-6D51-5810B90F5D85}"/>
                </a:ext>
              </a:extLst>
            </p:cNvPr>
            <p:cNvSpPr/>
            <p:nvPr/>
          </p:nvSpPr>
          <p:spPr>
            <a:xfrm>
              <a:off x="8039652" y="1579803"/>
              <a:ext cx="86476" cy="1391797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107854E9-68DF-B074-9EFA-6C0018992ED4}"/>
                </a:ext>
              </a:extLst>
            </p:cNvPr>
            <p:cNvSpPr/>
            <p:nvPr/>
          </p:nvSpPr>
          <p:spPr>
            <a:xfrm>
              <a:off x="8221869" y="1660991"/>
              <a:ext cx="3397273" cy="347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③ 근력(기능) 미측정</a:t>
              </a:r>
              <a:endParaRPr lang="en-US" sz="140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3245E279-BEDB-7427-0F5C-DEFD8EA11409}"/>
                </a:ext>
              </a:extLst>
            </p:cNvPr>
            <p:cNvSpPr/>
            <p:nvPr/>
          </p:nvSpPr>
          <p:spPr>
            <a:xfrm>
              <a:off x="8221869" y="2032136"/>
              <a:ext cx="3397273" cy="8582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Grip strength 등 기능적 파라미터 없음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KoPub돋움체 Medium" pitchFamily="34" charset="0"/>
                  <a:ea typeface="KoPub돋움체 Medium" pitchFamily="34" charset="-122"/>
                  <a:cs typeface="KoPub돋움체 Medium" pitchFamily="34" charset="-120"/>
                </a:rPr>
                <a:t>→ 진정한 sarcopenia 진단 불가</a:t>
              </a:r>
              <a:endParaRPr lang="en-US" sz="12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F763796-133A-E4E7-D79F-922308FAE1D7}"/>
              </a:ext>
            </a:extLst>
          </p:cNvPr>
          <p:cNvGrpSpPr/>
          <p:nvPr/>
        </p:nvGrpSpPr>
        <p:grpSpPr>
          <a:xfrm>
            <a:off x="508000" y="3231855"/>
            <a:ext cx="11176000" cy="951061"/>
            <a:chOff x="508000" y="5336528"/>
            <a:chExt cx="11176000" cy="951061"/>
          </a:xfrm>
        </p:grpSpPr>
        <p:sp>
          <p:nvSpPr>
            <p:cNvPr id="32" name="Shape 28">
              <a:extLst>
                <a:ext uri="{FF2B5EF4-FFF2-40B4-BE49-F238E27FC236}">
                  <a16:creationId xmlns:a16="http://schemas.microsoft.com/office/drawing/2014/main" id="{31F016F2-F688-7FAE-B1F9-00BAA71B274D}"/>
                </a:ext>
              </a:extLst>
            </p:cNvPr>
            <p:cNvSpPr/>
            <p:nvPr/>
          </p:nvSpPr>
          <p:spPr>
            <a:xfrm>
              <a:off x="508000" y="5336528"/>
              <a:ext cx="11176000" cy="951061"/>
            </a:xfrm>
            <a:prstGeom prst="rect">
              <a:avLst/>
            </a:prstGeom>
            <a:solidFill>
              <a:srgbClr val="1F346B"/>
            </a:solidFill>
            <a:ln w="1270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902C3EE3-0B8A-5C1D-4AC1-1EA8C12C8224}"/>
                </a:ext>
              </a:extLst>
            </p:cNvPr>
            <p:cNvSpPr/>
            <p:nvPr/>
          </p:nvSpPr>
          <p:spPr>
            <a:xfrm>
              <a:off x="690217" y="5336528"/>
              <a:ext cx="10933043" cy="9510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결론: AI 기반 복부 CT 체성분 분석에서 Myosteatosis가 무증상 성인의 핵심 사망 예측인자로 확인됨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→ 비만·당뇨·흡연과 비슷한 수준의 독립적 위험도를 가지나, 현재 정책·임상에서 과소평가되고 있음</a:t>
              </a:r>
              <a:endParaRPr 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88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DDEB-4D5F-122B-6363-E7C6AD9A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B4CC8-E568-AAE6-BFF3-6A9AE0C7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Implications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D05FFA-6630-E716-6E4A-D2AF6B23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9DE9E4-7EB0-52C9-F692-74535D3E04AF}"/>
              </a:ext>
            </a:extLst>
          </p:cNvPr>
          <p:cNvGrpSpPr/>
          <p:nvPr/>
        </p:nvGrpSpPr>
        <p:grpSpPr>
          <a:xfrm>
            <a:off x="508000" y="897468"/>
            <a:ext cx="11176000" cy="679779"/>
            <a:chOff x="508000" y="897468"/>
            <a:chExt cx="11176000" cy="679779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B9EE020D-D76C-F5CB-13A0-31A1C9A1E9C6}"/>
                </a:ext>
              </a:extLst>
            </p:cNvPr>
            <p:cNvSpPr/>
            <p:nvPr/>
          </p:nvSpPr>
          <p:spPr>
            <a:xfrm>
              <a:off x="508000" y="897468"/>
              <a:ext cx="11176000" cy="6797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0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CT </a:t>
              </a:r>
              <a:r>
                <a:rPr lang="en-US" altLang="ko-KR" sz="2000" b="1" dirty="0" err="1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이미지</a:t>
              </a:r>
              <a:r>
                <a:rPr lang="en-US" altLang="ko-KR" sz="20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없이</a:t>
              </a:r>
              <a:r>
                <a:rPr lang="en-US" altLang="ko-KR" sz="20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 AEC </a:t>
              </a:r>
              <a:r>
                <a:rPr lang="en-US" altLang="ko-KR" sz="2000" b="1" dirty="0" err="1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신호만으로</a:t>
              </a:r>
              <a:r>
                <a:rPr lang="en-US" altLang="ko-KR" sz="20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가능한가</a:t>
              </a:r>
              <a:r>
                <a:rPr lang="en-US" altLang="ko-KR" sz="2000" b="1" dirty="0">
                  <a:solidFill>
                    <a:srgbClr val="1F346B"/>
                  </a:solidFill>
                  <a:latin typeface="KoPub돋움체 Bold" pitchFamily="34" charset="0"/>
                  <a:ea typeface="KoPub돋움체 Bold" pitchFamily="34" charset="-122"/>
                  <a:cs typeface="KoPub돋움체 Bold" pitchFamily="34" charset="-120"/>
                </a:rPr>
                <a:t>?</a:t>
              </a:r>
              <a:endParaRPr lang="en-US" altLang="ko-KR" sz="2000" dirty="0">
                <a:solidFill>
                  <a:srgbClr val="1F346B"/>
                </a:solidFill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574426A3-2F1D-0E1D-F95A-1188DC741FD9}"/>
                </a:ext>
              </a:extLst>
            </p:cNvPr>
            <p:cNvSpPr/>
            <p:nvPr/>
          </p:nvSpPr>
          <p:spPr>
            <a:xfrm>
              <a:off x="508000" y="1554587"/>
              <a:ext cx="11176000" cy="0"/>
            </a:xfrm>
            <a:prstGeom prst="line">
              <a:avLst/>
            </a:prstGeom>
            <a:noFill/>
            <a:ln w="19050">
              <a:solidFill>
                <a:srgbClr val="1F34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Shape 4">
            <a:extLst>
              <a:ext uri="{FF2B5EF4-FFF2-40B4-BE49-F238E27FC236}">
                <a16:creationId xmlns:a16="http://schemas.microsoft.com/office/drawing/2014/main" id="{560F16F9-D655-18A0-023D-06E1232F8F64}"/>
              </a:ext>
            </a:extLst>
          </p:cNvPr>
          <p:cNvSpPr/>
          <p:nvPr/>
        </p:nvSpPr>
        <p:spPr>
          <a:xfrm>
            <a:off x="507998" y="1741933"/>
            <a:ext cx="5345043" cy="3578364"/>
          </a:xfrm>
          <a:prstGeom prst="rect">
            <a:avLst/>
          </a:prstGeom>
          <a:solidFill>
            <a:srgbClr val="172856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D5E136F-DA64-25FF-4B7F-19FFD593A1A4}"/>
              </a:ext>
            </a:extLst>
          </p:cNvPr>
          <p:cNvSpPr/>
          <p:nvPr/>
        </p:nvSpPr>
        <p:spPr>
          <a:xfrm>
            <a:off x="507998" y="1741933"/>
            <a:ext cx="5345043" cy="7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9437D64-DAAB-8B68-29CE-0D953A80ABFC}"/>
              </a:ext>
            </a:extLst>
          </p:cNvPr>
          <p:cNvSpPr/>
          <p:nvPr/>
        </p:nvSpPr>
        <p:spPr>
          <a:xfrm>
            <a:off x="690215" y="1875364"/>
            <a:ext cx="4980608" cy="363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D4F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 논문의 접근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F9FBBF8-46F5-82AB-ECE0-7A1D073B934B}"/>
              </a:ext>
            </a:extLst>
          </p:cNvPr>
          <p:cNvSpPr/>
          <p:nvPr/>
        </p:nvSpPr>
        <p:spPr>
          <a:xfrm>
            <a:off x="690215" y="2312045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508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1678306-E941-74D0-CD9B-9C64E2DA3B05}"/>
              </a:ext>
            </a:extLst>
          </p:cNvPr>
          <p:cNvSpPr/>
          <p:nvPr/>
        </p:nvSpPr>
        <p:spPr>
          <a:xfrm>
            <a:off x="811694" y="2312045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1.  CT 이미지 픽셀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18AF143-CF7D-1FD0-5EEA-B9B2AAB84268}"/>
              </a:ext>
            </a:extLst>
          </p:cNvPr>
          <p:cNvSpPr/>
          <p:nvPr/>
        </p:nvSpPr>
        <p:spPr>
          <a:xfrm>
            <a:off x="3059041" y="2918548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AF0E006-A530-2A97-03EA-8986C2221A80}"/>
              </a:ext>
            </a:extLst>
          </p:cNvPr>
          <p:cNvSpPr/>
          <p:nvPr/>
        </p:nvSpPr>
        <p:spPr>
          <a:xfrm>
            <a:off x="690215" y="3015588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508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BDD7660-D31B-9CCA-4833-65B2B593CF93}"/>
              </a:ext>
            </a:extLst>
          </p:cNvPr>
          <p:cNvSpPr/>
          <p:nvPr/>
        </p:nvSpPr>
        <p:spPr>
          <a:xfrm>
            <a:off x="811694" y="3015588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2.  3D U-Net segmentation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6CDC337-E4A8-F248-26B2-854FCFE44D39}"/>
              </a:ext>
            </a:extLst>
          </p:cNvPr>
          <p:cNvSpPr/>
          <p:nvPr/>
        </p:nvSpPr>
        <p:spPr>
          <a:xfrm>
            <a:off x="3059041" y="3622091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A8443A3-10A7-BC29-E45E-A455B91B7256}"/>
              </a:ext>
            </a:extLst>
          </p:cNvPr>
          <p:cNvSpPr/>
          <p:nvPr/>
        </p:nvSpPr>
        <p:spPr>
          <a:xfrm>
            <a:off x="690215" y="3719131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508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6FA4E9F-A8DB-2A31-A82A-0CCE503137FC}"/>
              </a:ext>
            </a:extLst>
          </p:cNvPr>
          <p:cNvSpPr/>
          <p:nvPr/>
        </p:nvSpPr>
        <p:spPr>
          <a:xfrm>
            <a:off x="811694" y="3719131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3.  L3 근육 면적 + HU 측정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441DDE3-5E98-87F2-0479-2A546A93644F}"/>
              </a:ext>
            </a:extLst>
          </p:cNvPr>
          <p:cNvSpPr/>
          <p:nvPr/>
        </p:nvSpPr>
        <p:spPr>
          <a:xfrm>
            <a:off x="3059041" y="4325633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B764D8C-588F-8E43-15BA-7C1950AA580E}"/>
              </a:ext>
            </a:extLst>
          </p:cNvPr>
          <p:cNvSpPr/>
          <p:nvPr/>
        </p:nvSpPr>
        <p:spPr>
          <a:xfrm>
            <a:off x="690215" y="4422674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508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D49871B-4C80-C481-D016-C88C3E14B88D}"/>
              </a:ext>
            </a:extLst>
          </p:cNvPr>
          <p:cNvSpPr/>
          <p:nvPr/>
        </p:nvSpPr>
        <p:spPr>
          <a:xfrm>
            <a:off x="811694" y="4422674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4.  Myosteatosis 분류 → 사망률 예측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0122A9E-021C-9CCA-19C4-0D572B8EB0A7}"/>
              </a:ext>
            </a:extLst>
          </p:cNvPr>
          <p:cNvSpPr/>
          <p:nvPr/>
        </p:nvSpPr>
        <p:spPr>
          <a:xfrm>
            <a:off x="5877337" y="3197539"/>
            <a:ext cx="437322" cy="606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BCE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vs</a:t>
            </a:r>
            <a:endParaRPr lang="en-US" sz="20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E64F2461-51EA-2E64-AF72-8E06B6A80306}"/>
              </a:ext>
            </a:extLst>
          </p:cNvPr>
          <p:cNvSpPr/>
          <p:nvPr/>
        </p:nvSpPr>
        <p:spPr>
          <a:xfrm>
            <a:off x="6338954" y="1741933"/>
            <a:ext cx="5345043" cy="3578364"/>
          </a:xfrm>
          <a:prstGeom prst="rect">
            <a:avLst/>
          </a:prstGeom>
          <a:solidFill>
            <a:srgbClr val="172856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3D61A01-9F50-59AF-BB24-E5DE56539DE3}"/>
              </a:ext>
            </a:extLst>
          </p:cNvPr>
          <p:cNvSpPr/>
          <p:nvPr/>
        </p:nvSpPr>
        <p:spPr>
          <a:xfrm>
            <a:off x="6338954" y="1741933"/>
            <a:ext cx="5345043" cy="7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6BB1D46-E1EE-5313-2223-5B25069C54D4}"/>
              </a:ext>
            </a:extLst>
          </p:cNvPr>
          <p:cNvSpPr/>
          <p:nvPr/>
        </p:nvSpPr>
        <p:spPr>
          <a:xfrm>
            <a:off x="6521171" y="1875364"/>
            <a:ext cx="4980608" cy="363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</a:t>
            </a:r>
            <a:r>
              <a:rPr 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연구의 접근</a:t>
            </a:r>
            <a:endParaRPr lang="en-US" sz="16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7D23EF8D-6392-504C-E08E-E49919FBBA47}"/>
              </a:ext>
            </a:extLst>
          </p:cNvPr>
          <p:cNvSpPr/>
          <p:nvPr/>
        </p:nvSpPr>
        <p:spPr>
          <a:xfrm>
            <a:off x="6521171" y="2312045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762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6C142DE-F6D7-2BC9-733C-A1D905CD342C}"/>
              </a:ext>
            </a:extLst>
          </p:cNvPr>
          <p:cNvSpPr/>
          <p:nvPr/>
        </p:nvSpPr>
        <p:spPr>
          <a:xfrm>
            <a:off x="6642650" y="2312045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1.  CT 획득 파라미터 (AEC 신호)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A33EBBE-9246-4196-6C54-56CDA6C2961C}"/>
              </a:ext>
            </a:extLst>
          </p:cNvPr>
          <p:cNvSpPr/>
          <p:nvPr/>
        </p:nvSpPr>
        <p:spPr>
          <a:xfrm>
            <a:off x="8889997" y="2918548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A3FC5938-9C27-C999-8E18-AC46E2AC9280}"/>
              </a:ext>
            </a:extLst>
          </p:cNvPr>
          <p:cNvSpPr/>
          <p:nvPr/>
        </p:nvSpPr>
        <p:spPr>
          <a:xfrm>
            <a:off x="6521171" y="3015588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762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22C158ED-B7EE-658C-938C-6B35F44631D2}"/>
              </a:ext>
            </a:extLst>
          </p:cNvPr>
          <p:cNvSpPr/>
          <p:nvPr/>
        </p:nvSpPr>
        <p:spPr>
          <a:xfrm>
            <a:off x="6642650" y="3015588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2.  AEC(1D Signal</a:t>
            </a:r>
            <a:r>
              <a:rPr lang="en-US" sz="1400" dirty="0"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) </a:t>
            </a:r>
            <a:r>
              <a:rPr lang="en-US" altLang="ko-KR" sz="1400" dirty="0" err="1"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파형·형상</a:t>
            </a:r>
            <a:r>
              <a:rPr lang="en-US" altLang="ko-KR" sz="1400" dirty="0"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</a:t>
            </a:r>
            <a:r>
              <a:rPr lang="en-US" altLang="ko-KR" sz="1400" dirty="0" err="1"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분석</a:t>
            </a:r>
            <a:endParaRPr lang="en-US" sz="14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C3B8CFE3-89C5-A9E2-8103-A803AAED9FE5}"/>
              </a:ext>
            </a:extLst>
          </p:cNvPr>
          <p:cNvSpPr/>
          <p:nvPr/>
        </p:nvSpPr>
        <p:spPr>
          <a:xfrm>
            <a:off x="8889997" y="3622091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94ACEDE6-0DBB-B6D4-2848-ABCA7FB8732C}"/>
              </a:ext>
            </a:extLst>
          </p:cNvPr>
          <p:cNvSpPr/>
          <p:nvPr/>
        </p:nvSpPr>
        <p:spPr>
          <a:xfrm>
            <a:off x="6521171" y="3719131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762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E39BC75-40B4-7550-56B2-FDD002E64449}"/>
              </a:ext>
            </a:extLst>
          </p:cNvPr>
          <p:cNvSpPr/>
          <p:nvPr/>
        </p:nvSpPr>
        <p:spPr>
          <a:xfrm>
            <a:off x="6642650" y="3719131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3.  Clinic + AEC</a:t>
            </a:r>
            <a:r>
              <a:rPr lang="ko-KR" alt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Multimodal(Cross Attention)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A8161B-5A4A-65AB-FE32-5DBCC3E59EA6}"/>
              </a:ext>
            </a:extLst>
          </p:cNvPr>
          <p:cNvSpPr/>
          <p:nvPr/>
        </p:nvSpPr>
        <p:spPr>
          <a:xfrm>
            <a:off x="8889997" y="4325633"/>
            <a:ext cx="364435" cy="218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CEE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594ED1A-551E-5940-4EAC-E867D5B321A2}"/>
              </a:ext>
            </a:extLst>
          </p:cNvPr>
          <p:cNvSpPr/>
          <p:nvPr/>
        </p:nvSpPr>
        <p:spPr>
          <a:xfrm>
            <a:off x="6521171" y="4422674"/>
            <a:ext cx="4980608" cy="582242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762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47E235EB-8E96-BCDA-585D-F3B8299BD04E}"/>
              </a:ext>
            </a:extLst>
          </p:cNvPr>
          <p:cNvSpPr/>
          <p:nvPr/>
        </p:nvSpPr>
        <p:spPr>
          <a:xfrm>
            <a:off x="6642650" y="4422674"/>
            <a:ext cx="4737652" cy="58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4.  </a:t>
            </a:r>
            <a:r>
              <a:rPr lang="en-US" sz="1400" dirty="0" err="1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Myosteatosis</a:t>
            </a:r>
            <a:r>
              <a:rPr 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</a:t>
            </a:r>
            <a:r>
              <a:rPr lang="ko-KR" altLang="en-US" sz="1400" dirty="0">
                <a:solidFill>
                  <a:sysClr val="windowText" lastClr="00000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분류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62C3A4C2-85FD-6120-1AFB-066B585C79EF}"/>
              </a:ext>
            </a:extLst>
          </p:cNvPr>
          <p:cNvSpPr/>
          <p:nvPr/>
        </p:nvSpPr>
        <p:spPr>
          <a:xfrm>
            <a:off x="507997" y="5465858"/>
            <a:ext cx="11176000" cy="752063"/>
          </a:xfrm>
          <a:prstGeom prst="rect">
            <a:avLst/>
          </a:prstGeom>
          <a:solidFill>
            <a:srgbClr val="172856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A42F2EAE-E9ED-F1A6-9D7E-E52713239295}"/>
              </a:ext>
            </a:extLst>
          </p:cNvPr>
          <p:cNvSpPr/>
          <p:nvPr/>
        </p:nvSpPr>
        <p:spPr>
          <a:xfrm>
            <a:off x="622499" y="5465858"/>
            <a:ext cx="11012554" cy="752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이 논문의 </a:t>
            </a:r>
            <a:r>
              <a:rPr lang="en-US" altLang="ko-KR" sz="1200" dirty="0">
                <a:solidFill>
                  <a:schemeClr val="bg1"/>
                </a:solidFill>
              </a:rPr>
              <a:t>CT </a:t>
            </a:r>
            <a:r>
              <a:rPr lang="ko-KR" altLang="en-US" sz="1200" dirty="0">
                <a:solidFill>
                  <a:schemeClr val="bg1"/>
                </a:solidFill>
              </a:rPr>
              <a:t>프로토콜은 </a:t>
            </a:r>
            <a:r>
              <a:rPr lang="en-US" altLang="ko-KR" sz="1200" b="1" dirty="0">
                <a:solidFill>
                  <a:schemeClr val="bg1"/>
                </a:solidFill>
              </a:rPr>
              <a:t>'modulated milliamperes'</a:t>
            </a:r>
            <a:r>
              <a:rPr lang="ko-KR" altLang="en-US" sz="1200" dirty="0">
                <a:solidFill>
                  <a:schemeClr val="bg1"/>
                </a:solidFill>
              </a:rPr>
              <a:t> 방식 사용 </a:t>
            </a:r>
            <a:r>
              <a:rPr lang="en-US" altLang="ko-KR" sz="1200" dirty="0">
                <a:solidFill>
                  <a:schemeClr val="bg1"/>
                </a:solidFill>
              </a:rPr>
              <a:t>— </a:t>
            </a:r>
            <a:r>
              <a:rPr lang="ko-KR" altLang="en-US" sz="1200" dirty="0">
                <a:solidFill>
                  <a:schemeClr val="bg1"/>
                </a:solidFill>
              </a:rPr>
              <a:t>이는 </a:t>
            </a:r>
            <a:r>
              <a:rPr lang="en-US" altLang="ko-KR" sz="1200" dirty="0">
                <a:solidFill>
                  <a:schemeClr val="bg1"/>
                </a:solidFill>
              </a:rPr>
              <a:t>AEC</a:t>
            </a:r>
            <a:r>
              <a:rPr lang="ko-KR" altLang="en-US" sz="1200" dirty="0">
                <a:solidFill>
                  <a:schemeClr val="bg1"/>
                </a:solidFill>
              </a:rPr>
              <a:t>의 작동 원리와 동일하며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우리 연구는 이 신호를 직접 분석한다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AEC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Signal</a:t>
            </a:r>
            <a:r>
              <a:rPr lang="ko-KR" altLang="en-US" sz="1200" dirty="0">
                <a:solidFill>
                  <a:schemeClr val="bg1"/>
                </a:solidFill>
              </a:rPr>
              <a:t> → </a:t>
            </a:r>
            <a:r>
              <a:rPr lang="en-US" altLang="ko-KR" sz="1200" dirty="0">
                <a:solidFill>
                  <a:schemeClr val="bg1"/>
                </a:solidFill>
              </a:rPr>
              <a:t>tissue attenuation </a:t>
            </a:r>
            <a:r>
              <a:rPr lang="ko-KR" altLang="en-US" sz="1200" dirty="0">
                <a:solidFill>
                  <a:schemeClr val="bg1"/>
                </a:solidFill>
              </a:rPr>
              <a:t>반영 → 근육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지방 구성 차이 인코딩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927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3652</TotalTime>
  <Words>4121</Words>
  <Application>Microsoft Office PowerPoint</Application>
  <PresentationFormat>와이드스크린</PresentationFormat>
  <Paragraphs>480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KoPub돋움체 Medium</vt:lpstr>
      <vt:lpstr>Arial</vt:lpstr>
      <vt:lpstr>KoPub돋움체 Bold</vt:lpstr>
      <vt:lpstr>Office 테마</vt:lpstr>
      <vt:lpstr>PowerPoint 프레젠테이션</vt:lpstr>
      <vt:lpstr>PowerPoint 프레젠테이션</vt:lpstr>
      <vt:lpstr>1. Background</vt:lpstr>
      <vt:lpstr>1. Background</vt:lpstr>
      <vt:lpstr>2. Research Question</vt:lpstr>
      <vt:lpstr>3. Materials &amp; Methods</vt:lpstr>
      <vt:lpstr>3. Materials &amp; Methods</vt:lpstr>
      <vt:lpstr>3. Methods</vt:lpstr>
      <vt:lpstr>3. Methods</vt:lpstr>
      <vt:lpstr>3. Methods</vt:lpstr>
      <vt:lpstr>3. Methods</vt:lpstr>
      <vt:lpstr>4. Results</vt:lpstr>
      <vt:lpstr>4. Results</vt:lpstr>
      <vt:lpstr>4. Results</vt:lpstr>
      <vt:lpstr>4. Results</vt:lpstr>
      <vt:lpstr>4. Results</vt:lpstr>
      <vt:lpstr>5. Discussion &amp; Conclusion</vt:lpstr>
      <vt:lpstr>6. Implications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349</cp:revision>
  <dcterms:created xsi:type="dcterms:W3CDTF">2026-04-09T07:05:16Z</dcterms:created>
  <dcterms:modified xsi:type="dcterms:W3CDTF">2026-06-05T01:55:53Z</dcterms:modified>
</cp:coreProperties>
</file>