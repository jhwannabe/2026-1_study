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582" r:id="rId3"/>
    <p:sldId id="584" r:id="rId4"/>
    <p:sldId id="551" r:id="rId5"/>
    <p:sldId id="588" r:id="rId6"/>
    <p:sldId id="481" r:id="rId7"/>
    <p:sldId id="578" r:id="rId8"/>
    <p:sldId id="555" r:id="rId9"/>
    <p:sldId id="553" r:id="rId10"/>
    <p:sldId id="561" r:id="rId11"/>
    <p:sldId id="566" r:id="rId12"/>
    <p:sldId id="587" r:id="rId13"/>
    <p:sldId id="479" r:id="rId14"/>
  </p:sldIdLst>
  <p:sldSz cx="12192000" cy="6858000"/>
  <p:notesSz cx="6858000" cy="9144000"/>
  <p:embeddedFontLst>
    <p:embeddedFont>
      <p:font typeface="KoPub돋움체 Bold" panose="00000800000000000000" pitchFamily="2" charset="-127"/>
      <p:bold r:id="rId16"/>
    </p:embeddedFont>
    <p:embeddedFont>
      <p:font typeface="KoPub돋움체 Medium" panose="00000600000000000000" pitchFamily="2" charset="-127"/>
      <p:regular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82"/>
            <p14:sldId id="584"/>
            <p14:sldId id="551"/>
            <p14:sldId id="588"/>
            <p14:sldId id="481"/>
            <p14:sldId id="578"/>
            <p14:sldId id="555"/>
            <p14:sldId id="553"/>
            <p14:sldId id="561"/>
            <p14:sldId id="566"/>
            <p14:sldId id="587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394" autoAdjust="0"/>
  </p:normalViewPr>
  <p:slideViewPr>
    <p:cSldViewPr snapToGrid="0">
      <p:cViewPr varScale="1">
        <p:scale>
          <a:sx n="96" d="100"/>
          <a:sy n="96" d="100"/>
        </p:scale>
        <p:origin x="21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EDB8-D3F6-3507-04D0-3A38924F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215CE-E7A1-A7FF-51C5-EA691D7A5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5C74F-6EC5-204E-9170-BC4AB6C07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13A3-7C82-396F-2E97-27A91023E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6658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EDB8-D3F6-3507-04D0-3A38924F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215CE-E7A1-A7FF-51C5-EA691D7A5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5C74F-6EC5-204E-9170-BC4AB6C07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13A3-7C82-396F-2E97-27A91023E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6658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CF4F-F5BA-0BAA-6BD8-0A6D4A79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F49AB-9E40-1106-AC27-BF1890BFA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E6316-0BEA-18C3-CCE3-8220627C3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74E54-7793-89A2-29A5-75B20A9DF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2871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C899B-56F0-24CC-99FF-70555926E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D546B-6114-6D8A-72D1-C997EDDB2D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80A3A-C626-ED26-1517-687ECCC04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487E7-3F2A-82D2-5633-17F3915E3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67360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27EA-DB53-0301-0ACD-39763E95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F611E-21FB-8AA8-ECB2-7F8B70304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DE818-1386-6F94-27FF-C5AEAB677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AE8E6-DCA5-B91C-154B-33F9AEF13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99385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D5800-EA71-D145-0837-D3C41EAD9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32213-835B-7AF3-EE2B-5C889AF097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F0901-2276-87F5-C980-93A999EA4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1E999-85F0-DACB-4128-35DBB0B1E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18921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AA0E8-C8E5-A56A-5B50-E586A486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1E4B0-B55B-906F-F550-ED2B84193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A8961-F1E4-9382-2190-79BAE3DAC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AA86E-34BE-4F90-50CB-6A3355397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3925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CB6D-97C4-BD12-692A-8C737765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A0D5B-D24A-14DB-DFEF-16DA58E0E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F30BD-0EF9-84E0-5EC9-0657C1F55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E3598-8B95-6FBB-D2F7-F9B1A3EF8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492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2EA2-F7A6-2D2C-DBBD-4B80647CD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0F665-A6AA-BFC5-93BE-26E151C301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A4397-1256-5B95-DC2E-91523D5BB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EEB58-9124-B18F-D672-1F91A9D7D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26595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3012A-5E5A-01DC-F15C-D5A0420B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49088-ADBA-2A64-E371-965B638FA9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33B1D-8285-3E96-52B2-9172B797F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4323B-11DC-355A-45E6-6EF1BC38D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85331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25959-2CD4-76AA-8F9C-CEBF3F30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A89C0-A7CB-AA45-E8D1-844D9E9737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B3198-B029-B27B-2A4A-32628CE6F4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605D4-F929-151F-899B-083745BDA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5801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364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Stratified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Analysis of AEC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2026. 07. </a:t>
            </a:r>
            <a:r>
              <a:rPr lang="en-US" sz="1600">
                <a:solidFill>
                  <a:schemeClr val="bg1"/>
                </a:solidFill>
                <a:latin typeface="KoPub돋움체 Medium"/>
              </a:rPr>
              <a:t>29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33089-A92C-12D5-3225-F71B1711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3BFE-B078-9DD0-5E70-CD302E75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 Papers</a:t>
            </a:r>
            <a:endParaRPr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4896C6-77DC-75F6-7744-9EAADAACD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A Cascaded Approach for ultraly High Performance Lesion Detection and False Positive Removal in Liver CT Scans</a:t>
            </a:r>
          </a:p>
          <a:p>
            <a:pPr lvl="1"/>
            <a:r>
              <a:rPr lang="ko-KR" altLang="en-US" sz="1400" dirty="0"/>
              <a:t>단계적 위양성 제거로 검출 성능 확보 — AEC 층화 분석의 방법론적 토대</a:t>
            </a:r>
            <a:endParaRPr lang="en-US" altLang="ko-KR" sz="1400" dirty="0"/>
          </a:p>
          <a:p>
            <a:pPr lvl="1"/>
            <a:r>
              <a:rPr lang="ko-KR" altLang="ko-KR" sz="1400" dirty="0"/>
              <a:t>검출 후 위양성을 단계적으로 제거하는 이 논문의 2단계(</a:t>
            </a:r>
            <a:r>
              <a:rPr lang="ko-KR" altLang="ko-KR" sz="1400" dirty="0" err="1"/>
              <a:t>cascaded</a:t>
            </a:r>
            <a:r>
              <a:rPr lang="ko-KR" altLang="ko-KR" sz="1400" dirty="0"/>
              <a:t>) 접근법은, 위양성을 통제하며 병변 검출 성능을 확보해야 하는 본 연구의 AEC 층화 분석 방법론에 직접적인 참고가 된다.</a:t>
            </a:r>
            <a:endParaRPr lang="ko-KR" altLang="en-US" sz="11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07EDAE6-2FF1-981E-1F67-BDA2ABD79DA8}"/>
              </a:ext>
            </a:extLst>
          </p:cNvPr>
          <p:cNvGrpSpPr/>
          <p:nvPr/>
        </p:nvGrpSpPr>
        <p:grpSpPr>
          <a:xfrm>
            <a:off x="1420731" y="2595484"/>
            <a:ext cx="9350538" cy="3643433"/>
            <a:chOff x="474821" y="1625799"/>
            <a:chExt cx="11124696" cy="433473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A6EAC54-FF64-6BE8-789D-E40BEEFEB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4352" y="1874277"/>
              <a:ext cx="6595165" cy="2138973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D36DA98-BA28-1E1A-2D69-3224DFE4F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4821" y="1625799"/>
              <a:ext cx="4445048" cy="4334733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1CA332B-0CE4-0EDB-E244-C8E5424A1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4352" y="4222264"/>
              <a:ext cx="6595165" cy="1535590"/>
            </a:xfrm>
            <a:prstGeom prst="rect">
              <a:avLst/>
            </a:prstGeom>
          </p:spPr>
        </p:pic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539309-9B93-7911-B5CA-B20C81CA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2506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33089-A92C-12D5-3225-F71B1711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3BFE-B078-9DD0-5E70-CD302E75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Reference</a:t>
            </a:r>
            <a:r>
              <a:rPr lang="ko-KR" altLang="en-US" dirty="0"/>
              <a:t> </a:t>
            </a:r>
            <a:r>
              <a:rPr lang="ko-KR" altLang="en-US" dirty="0" err="1"/>
              <a:t>Papers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F8ED0F-29DE-0DC8-D902-6BEC62750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600"/>
              </a:spcBef>
              <a:buNone/>
            </a:pP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TP </a:t>
            </a:r>
            <a:r>
              <a:rPr lang="ko-KR" altLang="en-US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vs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FP · </a:t>
            </a:r>
            <a:r>
              <a:rPr lang="ko-KR" altLang="en-US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위양성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감소</a:t>
            </a:r>
          </a:p>
          <a:p>
            <a:pPr marL="788670" lvl="1" indent="-331470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en-US" altLang="ko-KR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Setio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AAA, et al. Multi-view </a:t>
            </a:r>
            <a:r>
              <a:rPr lang="en-US" altLang="ko-KR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ConvNets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FP reduction. IEEE TMI 2016;35:1160–1169.</a:t>
            </a:r>
          </a:p>
          <a:p>
            <a:pPr marL="788670" lvl="1" indent="0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</a:t>
            </a:r>
            <a:r>
              <a:rPr lang="en-US" altLang="ko-KR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false positive reduction, Convnets Fusion (single view, committee-fusion, late-fusion, mixed-fusion)</a:t>
            </a:r>
            <a:endParaRPr lang="ko-KR" altLang="en-US" sz="1400" dirty="0">
              <a:solidFill>
                <a:srgbClr val="37562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788670" lvl="1" indent="0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그래서 AEC 프로파일 분석에서 위양성을 줄이는 판별에 활용함</a:t>
            </a:r>
          </a:p>
          <a:p>
            <a:pPr>
              <a:lnSpc>
                <a:spcPct val="115000"/>
              </a:lnSpc>
              <a:spcBef>
                <a:spcPts val="600"/>
              </a:spcBef>
              <a:buNone/>
            </a:pP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체격 의존성 · AEC 프로파일 정규화</a:t>
            </a:r>
          </a:p>
          <a:p>
            <a:pPr marL="788670" lvl="1" indent="-331470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McCollough C, et al. AAPM Report 220: WED·SSDE. 2014.</a:t>
            </a:r>
          </a:p>
          <a:p>
            <a:pPr marL="788670" lvl="1" indent="0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체격(WED, </a:t>
            </a:r>
            <a:r>
              <a:rPr lang="en-US" altLang="ko-KR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Water Equivalent Diameter</a:t>
            </a: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)에 따라 </a:t>
            </a:r>
            <a:r>
              <a:rPr lang="ko-KR" altLang="en-US" sz="14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선량·AEC</a:t>
            </a: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프로파일이 달라짐</a:t>
            </a:r>
          </a:p>
          <a:p>
            <a:pPr marL="788670" lvl="1" indent="0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그래서 WED 기반 </a:t>
            </a:r>
            <a:r>
              <a:rPr lang="ko-KR" altLang="en-US" sz="14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patient-normalized</a:t>
            </a: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전처리로 체격 영향을 보정함</a:t>
            </a:r>
          </a:p>
          <a:p>
            <a:pPr>
              <a:lnSpc>
                <a:spcPct val="115000"/>
              </a:lnSpc>
              <a:spcBef>
                <a:spcPts val="600"/>
              </a:spcBef>
              <a:buNone/>
            </a:pP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③ 성별 층화</a:t>
            </a:r>
          </a:p>
          <a:p>
            <a:pPr marL="788670" lvl="1" indent="-331470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en-US" altLang="ko-KR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Mulkens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TH, et al. Attenuation-based online TCM. AJR 2005.</a:t>
            </a:r>
          </a:p>
          <a:p>
            <a:pPr marL="788670" lvl="1" indent="0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AEC </a:t>
            </a:r>
            <a:r>
              <a:rPr lang="ko-KR" altLang="en-US" sz="14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변조량이</a:t>
            </a: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성별에 따라 유의하게 다름 (흉부 </a:t>
            </a:r>
            <a:r>
              <a:rPr lang="ko-KR" altLang="en-US" sz="14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</a:t>
            </a: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=0.003·복부 </a:t>
            </a:r>
            <a:r>
              <a:rPr lang="ko-KR" altLang="en-US" sz="14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</a:t>
            </a: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=0.002)</a:t>
            </a:r>
          </a:p>
          <a:p>
            <a:pPr marL="788670" lvl="1" indent="0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그래서 남녀를 분리해 </a:t>
            </a:r>
            <a:r>
              <a:rPr lang="ko-KR" altLang="en-US" sz="14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AEC를</a:t>
            </a: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따로 분석함</a:t>
            </a:r>
          </a:p>
          <a:p>
            <a:pPr>
              <a:lnSpc>
                <a:spcPct val="115000"/>
              </a:lnSpc>
              <a:spcBef>
                <a:spcPts val="600"/>
              </a:spcBef>
              <a:buNone/>
            </a:pP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④ BMI 사분위 컷오프</a:t>
            </a:r>
          </a:p>
          <a:p>
            <a:pPr marL="788670" lvl="1" indent="-331470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WHO Expert Consultation. Appropriate BMI for Asian populations. Lancet 2004;363:157–163.</a:t>
            </a:r>
          </a:p>
          <a:p>
            <a:pPr marL="788670" lvl="1" indent="0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한국·아시아 환자는 서양 기준보다 낮은 컷오프(과체중 ≥23·비만 ≥25)로 나누는 것이 적절함</a:t>
            </a:r>
          </a:p>
          <a:p>
            <a:pPr marL="788670" lvl="1" indent="0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그래서 아시아 컷오프로 BMI 사분위·군을 나눠 AEC 차이를 층화 분석함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8DE95CB-66E3-4F39-6A11-91F95227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081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26C0-E69E-C194-4D15-4398B972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 101">
            <a:extLst>
              <a:ext uri="{FF2B5EF4-FFF2-40B4-BE49-F238E27FC236}">
                <a16:creationId xmlns:a16="http://schemas.microsoft.com/office/drawing/2014/main" id="{C1160051-D7BB-6B71-E012-0F9F18083A85}"/>
              </a:ext>
            </a:extLst>
          </p:cNvPr>
          <p:cNvSpPr/>
          <p:nvPr/>
        </p:nvSpPr>
        <p:spPr>
          <a:xfrm>
            <a:off x="501650" y="3903132"/>
            <a:ext cx="11176000" cy="2362200"/>
          </a:xfrm>
          <a:prstGeom prst="roundRect">
            <a:avLst>
              <a:gd name="adj" fmla="val 8252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B3FC9-B52B-FBE4-B31A-9F4816FD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r>
              <a:rPr lang="ko-KR" altLang="en-US" dirty="0"/>
              <a:t> </a:t>
            </a:r>
            <a:r>
              <a:rPr lang="en-US" altLang="ko-KR" dirty="0"/>
              <a:t>Workflow</a:t>
            </a:r>
            <a:endParaRPr dirty="0"/>
          </a:p>
        </p:txBody>
      </p:sp>
      <p:sp>
        <p:nvSpPr>
          <p:cNvPr id="101" name="Dia 101"/>
          <p:cNvSpPr/>
          <p:nvPr/>
        </p:nvSpPr>
        <p:spPr>
          <a:xfrm>
            <a:off x="508000" y="1219200"/>
            <a:ext cx="11176000" cy="2362200"/>
          </a:xfrm>
          <a:prstGeom prst="roundRect">
            <a:avLst>
              <a:gd name="adj" fmla="val 8252"/>
            </a:avLst>
          </a:prstGeom>
          <a:solidFill>
            <a:srgbClr val="F4F7FC"/>
          </a:solidFill>
          <a:ln w="12700">
            <a:solidFill>
              <a:srgbClr val="2F5597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02" name="Dia 102"/>
          <p:cNvSpPr/>
          <p:nvPr/>
        </p:nvSpPr>
        <p:spPr>
          <a:xfrm>
            <a:off x="736600" y="1346200"/>
            <a:ext cx="1600200" cy="431800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103" name="Dia 103"/>
          <p:cNvSpPr/>
          <p:nvPr/>
        </p:nvSpPr>
        <p:spPr>
          <a:xfrm>
            <a:off x="762000" y="1930400"/>
            <a:ext cx="2476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2F5597"/>
                </a:solidFill>
              </a:rPr>
              <a:t>Clinic 변수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595959"/>
                </a:solidFill>
              </a:rPr>
              <a:t>Sex · Age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595959"/>
                </a:solidFill>
              </a:rPr>
              <a:t>Height · Weight</a:t>
            </a:r>
          </a:p>
        </p:txBody>
      </p:sp>
      <p:sp>
        <p:nvSpPr>
          <p:cNvPr id="104" name="Dia 104"/>
          <p:cNvSpPr/>
          <p:nvPr/>
        </p:nvSpPr>
        <p:spPr>
          <a:xfrm>
            <a:off x="3263900" y="2501900"/>
            <a:ext cx="203200" cy="2794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05" name="Dia 105"/>
          <p:cNvSpPr/>
          <p:nvPr/>
        </p:nvSpPr>
        <p:spPr>
          <a:xfrm>
            <a:off x="3492500" y="1930400"/>
            <a:ext cx="2476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2F5597"/>
                </a:solidFill>
              </a:rPr>
              <a:t>Logistic Regression</a:t>
            </a:r>
          </a:p>
        </p:txBody>
      </p:sp>
      <p:sp>
        <p:nvSpPr>
          <p:cNvPr id="106" name="Dia 106"/>
          <p:cNvSpPr/>
          <p:nvPr/>
        </p:nvSpPr>
        <p:spPr>
          <a:xfrm>
            <a:off x="5994400" y="2501900"/>
            <a:ext cx="203200" cy="2794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07" name="Dia 107"/>
          <p:cNvSpPr/>
          <p:nvPr/>
        </p:nvSpPr>
        <p:spPr>
          <a:xfrm>
            <a:off x="6223000" y="1930400"/>
            <a:ext cx="2476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2F5597"/>
                </a:solidFill>
              </a:rPr>
              <a:t>Cutoff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595959"/>
                </a:solidFill>
              </a:rPr>
              <a:t>@ Sensitivity 90</a:t>
            </a:r>
          </a:p>
        </p:txBody>
      </p:sp>
      <p:sp>
        <p:nvSpPr>
          <p:cNvPr id="108" name="Dia 108"/>
          <p:cNvSpPr/>
          <p:nvPr/>
        </p:nvSpPr>
        <p:spPr>
          <a:xfrm>
            <a:off x="8724900" y="2501900"/>
            <a:ext cx="203200" cy="2794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09" name="Dia 109"/>
          <p:cNvSpPr/>
          <p:nvPr/>
        </p:nvSpPr>
        <p:spPr>
          <a:xfrm>
            <a:off x="8953500" y="1930400"/>
            <a:ext cx="2476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2F5597"/>
                </a:solidFill>
              </a:rPr>
              <a:t>Confusion Matrix</a:t>
            </a:r>
          </a:p>
        </p:txBody>
      </p:sp>
      <p:sp>
        <p:nvSpPr>
          <p:cNvPr id="110" name="Dia 110"/>
          <p:cNvSpPr/>
          <p:nvPr/>
        </p:nvSpPr>
        <p:spPr>
          <a:xfrm>
            <a:off x="5943600" y="3606800"/>
            <a:ext cx="304800" cy="254000"/>
          </a:xfrm>
          <a:prstGeom prst="downArrow">
            <a:avLst/>
          </a:prstGeom>
          <a:solidFill>
            <a:srgbClr val="C55A11"/>
          </a:solidFill>
          <a:ln>
            <a:noFill/>
          </a:ln>
        </p:spPr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12" name="Dia 112"/>
          <p:cNvSpPr/>
          <p:nvPr/>
        </p:nvSpPr>
        <p:spPr>
          <a:xfrm>
            <a:off x="736600" y="4038600"/>
            <a:ext cx="1600200" cy="4318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13" name="Dia 113"/>
          <p:cNvSpPr/>
          <p:nvPr/>
        </p:nvSpPr>
        <p:spPr>
          <a:xfrm>
            <a:off x="762000" y="4622800"/>
            <a:ext cx="3365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5A1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C55A11"/>
                </a:solidFill>
              </a:rPr>
              <a:t>Predicted Positive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595959"/>
                </a:solidFill>
              </a:rPr>
              <a:t>Stage 1 결과 (TP + FP)</a:t>
            </a:r>
          </a:p>
        </p:txBody>
      </p:sp>
      <p:sp>
        <p:nvSpPr>
          <p:cNvPr id="114" name="Dia 114"/>
          <p:cNvSpPr/>
          <p:nvPr/>
        </p:nvSpPr>
        <p:spPr>
          <a:xfrm>
            <a:off x="4165600" y="5194300"/>
            <a:ext cx="203200" cy="279400"/>
          </a:xfrm>
          <a:prstGeom prst="rightArrow">
            <a:avLst/>
          </a:prstGeom>
          <a:solidFill>
            <a:srgbClr val="C55A11"/>
          </a:solidFill>
          <a:ln>
            <a:noFill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15" name="Dia 115"/>
          <p:cNvSpPr/>
          <p:nvPr/>
        </p:nvSpPr>
        <p:spPr>
          <a:xfrm>
            <a:off x="4406900" y="4622800"/>
            <a:ext cx="3365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5A1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C55A11"/>
                </a:solidFill>
              </a:rPr>
              <a:t>AEC Curve Data</a:t>
            </a:r>
          </a:p>
        </p:txBody>
      </p:sp>
      <p:sp>
        <p:nvSpPr>
          <p:cNvPr id="116" name="Dia 116"/>
          <p:cNvSpPr/>
          <p:nvPr/>
        </p:nvSpPr>
        <p:spPr>
          <a:xfrm>
            <a:off x="7810500" y="5194300"/>
            <a:ext cx="203200" cy="279400"/>
          </a:xfrm>
          <a:prstGeom prst="rightArrow">
            <a:avLst/>
          </a:prstGeom>
          <a:solidFill>
            <a:srgbClr val="C55A11"/>
          </a:solidFill>
          <a:ln>
            <a:noFill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17" name="Dia 117"/>
          <p:cNvSpPr/>
          <p:nvPr/>
        </p:nvSpPr>
        <p:spPr>
          <a:xfrm>
            <a:off x="8051800" y="4622800"/>
            <a:ext cx="33782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5A1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C55A11"/>
                </a:solidFill>
              </a:rPr>
              <a:t>Reclassification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070748B-92AD-5975-5493-E0045B81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4139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15A64-DABA-7F82-E6B8-548DAD78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5BA5-6DCE-5C2D-85CB-622952E69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D54EE-E609-EC91-C532-219A90FFA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전체 분석: 진양성(TP)·위양성(FP) AEC 차이는 통계적으로 의미 없음 </a:t>
            </a:r>
            <a:r>
              <a:rPr lang="en-US" altLang="ko-KR" b="1" dirty="0"/>
              <a:t>(</a:t>
            </a:r>
            <a:r>
              <a:rPr lang="ko-KR" altLang="en-US" b="1" dirty="0"/>
              <a:t>전체 통합, </a:t>
            </a:r>
            <a:r>
              <a:rPr lang="en-US" altLang="ko-KR" b="1" dirty="0"/>
              <a:t>p &gt; 0.05)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단, 성별·BMI로 그룹을 나눠 보면 일부 그룹에서 차이가 나타남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남성(Male): 전체에서는 의미 있는 차이</a:t>
            </a:r>
            <a:r>
              <a:rPr lang="en-US" altLang="ko-KR" b="1" dirty="0"/>
              <a:t>(p &lt; 0.05)</a:t>
            </a:r>
            <a:r>
              <a:rPr lang="ko-KR" altLang="en-US" b="1" dirty="0"/>
              <a:t>였으나, 성별과 BMI로 다시 나누면 차이가 사라짐</a:t>
            </a:r>
            <a:r>
              <a:rPr lang="en-US" altLang="ko-KR" b="1" dirty="0"/>
              <a:t>(p &gt; 0.05)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여성(Female): 전체에서는 의미 없었으나</a:t>
            </a:r>
            <a:r>
              <a:rPr lang="en-US" altLang="ko-KR" b="1" dirty="0"/>
              <a:t>(p &gt; 0.05)</a:t>
            </a:r>
            <a:r>
              <a:rPr lang="ko-KR" altLang="en-US" b="1" dirty="0"/>
              <a:t>, BMI가 가장 낮은 구간</a:t>
            </a:r>
            <a:r>
              <a:rPr lang="en-US" altLang="ko-KR" b="1" dirty="0"/>
              <a:t>(Q1)</a:t>
            </a:r>
            <a:r>
              <a:rPr lang="ko-KR" altLang="en-US" b="1" dirty="0"/>
              <a:t>에서만 의미 있는 차이</a:t>
            </a:r>
            <a:r>
              <a:rPr lang="en-US" altLang="ko-KR" b="1" dirty="0"/>
              <a:t>(p &lt; 0.05)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시사점: 전체 통합 결과가 세부 그룹의 효과를 가리므로, 성별·BMI 그룹별 차이를 고려한 평가가 필요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CFE583-1157-667E-0BAA-B8DA3957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825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CB61D-7E64-8CF1-E551-B99C0CF2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1" descr="clinical_only_confusion_matrix_sens90.png">
            <a:extLst>
              <a:ext uri="{FF2B5EF4-FFF2-40B4-BE49-F238E27FC236}">
                <a16:creationId xmlns:a16="http://schemas.microsoft.com/office/drawing/2014/main" id="{2F24916C-A441-3603-271D-D4DB93C7DD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03" r="49839"/>
          <a:stretch>
            <a:fillRect/>
          </a:stretch>
        </p:blipFill>
        <p:spPr>
          <a:xfrm>
            <a:off x="3440795" y="2464903"/>
            <a:ext cx="4137590" cy="3658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7B451F-E3AA-9A58-2DD0-035C12DC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pic>
        <p:nvPicPr>
          <p:cNvPr id="12" name="Picture 11" descr="clinical_only_confusion_matrix_sens90.png"/>
          <p:cNvPicPr>
            <a:picLocks noChangeAspect="1"/>
          </p:cNvPicPr>
          <p:nvPr/>
        </p:nvPicPr>
        <p:blipFill>
          <a:blip r:embed="rId3"/>
          <a:srcRect b="94039"/>
          <a:stretch>
            <a:fillRect/>
          </a:stretch>
        </p:blipFill>
        <p:spPr>
          <a:xfrm>
            <a:off x="1971662" y="2084870"/>
            <a:ext cx="8248675" cy="24584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628EAB-B760-F1BF-B989-BB10B23CA891}"/>
              </a:ext>
            </a:extLst>
          </p:cNvPr>
          <p:cNvSpPr/>
          <p:nvPr/>
        </p:nvSpPr>
        <p:spPr>
          <a:xfrm>
            <a:off x="4420378" y="2771891"/>
            <a:ext cx="1590520" cy="31190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C8C573-6157-F26B-BB6F-C21558EED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E87C0C-6BBF-B6C3-D970-618A8B801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Clinical </a:t>
            </a:r>
            <a:r>
              <a:rPr lang="ko-KR" altLang="en-US" sz="1800" b="1" dirty="0"/>
              <a:t>모델의 예측 양성군은 </a:t>
            </a:r>
            <a:r>
              <a:rPr lang="en-US" altLang="ko-KR" sz="1800" b="1" dirty="0"/>
              <a:t>FP</a:t>
            </a:r>
            <a:r>
              <a:rPr lang="ko-KR" altLang="en-US" sz="1800" b="1" dirty="0"/>
              <a:t>가 </a:t>
            </a:r>
            <a:r>
              <a:rPr lang="en-US" altLang="ko-KR" sz="1800" b="1" dirty="0"/>
              <a:t>TP</a:t>
            </a:r>
            <a:r>
              <a:rPr lang="ko-KR" altLang="en-US" sz="1800" b="1" dirty="0"/>
              <a:t>보다 크게 많아</a:t>
            </a:r>
            <a:r>
              <a:rPr lang="en-US" altLang="ko-KR" sz="1800" b="1" dirty="0"/>
              <a:t>(447:117), TP/FP </a:t>
            </a:r>
            <a:r>
              <a:rPr lang="ko-KR" altLang="en-US" sz="1800" b="1" dirty="0"/>
              <a:t>구분을 위한 </a:t>
            </a:r>
            <a:r>
              <a:rPr lang="en-US" altLang="ko-KR" sz="1800" b="1" dirty="0"/>
              <a:t>AEC </a:t>
            </a:r>
            <a:r>
              <a:rPr lang="ko-KR" altLang="en-US" sz="1800" b="1" dirty="0"/>
              <a:t>분석이 필요함</a:t>
            </a:r>
          </a:p>
        </p:txBody>
      </p:sp>
    </p:spTree>
    <p:extLst>
      <p:ext uri="{BB962C8B-B14F-4D97-AF65-F5344CB8AC3E}">
        <p14:creationId xmlns:p14="http://schemas.microsoft.com/office/powerpoint/2010/main" val="4060176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7272D-7F1C-A374-B8BE-19CB4096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EC42BA-0718-9D05-3C29-653A46D99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AEC 곡선 비교 — Permutation Test (p-value </a:t>
            </a:r>
            <a:r>
              <a:rPr lang="en-US" altLang="ko-KR" b="1" dirty="0" err="1"/>
              <a:t>산출</a:t>
            </a:r>
            <a:r>
              <a:rPr lang="en-US" altLang="ko-KR" b="1" dirty="0"/>
              <a:t> </a:t>
            </a:r>
            <a:r>
              <a:rPr lang="ko-KR" altLang="en-US" b="1" dirty="0"/>
              <a:t>방법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sz="1600" dirty="0"/>
              <a:t>TP/FP AEC </a:t>
            </a:r>
            <a:r>
              <a:rPr lang="ko-KR" altLang="en-US" sz="1600" dirty="0"/>
              <a:t>곡선 차이는 </a:t>
            </a:r>
            <a:r>
              <a:rPr lang="en-US" altLang="ko-KR" sz="1600" dirty="0"/>
              <a:t>RMSD </a:t>
            </a:r>
            <a:r>
              <a:rPr lang="ko-KR" altLang="en-US" sz="1600" dirty="0"/>
              <a:t>기반 </a:t>
            </a:r>
            <a:r>
              <a:rPr lang="en-US" altLang="ko-KR" sz="1600" dirty="0"/>
              <a:t>2,000</a:t>
            </a:r>
            <a:r>
              <a:rPr lang="ko-KR" altLang="en-US" sz="1600" dirty="0"/>
              <a:t>회 </a:t>
            </a:r>
            <a:r>
              <a:rPr lang="en-US" altLang="ko-KR" sz="1600" dirty="0"/>
              <a:t>permutation test</a:t>
            </a:r>
            <a:r>
              <a:rPr lang="ko-KR" altLang="en-US" sz="1600" dirty="0"/>
              <a:t>로 </a:t>
            </a:r>
            <a:r>
              <a:rPr lang="ko-KR" altLang="en-US" sz="1600" dirty="0" err="1"/>
              <a:t>비모수</a:t>
            </a:r>
            <a:r>
              <a:rPr lang="ko-KR" altLang="en-US" sz="1600" dirty="0"/>
              <a:t> 검정함</a:t>
            </a:r>
            <a:endParaRPr lang="en-US" altLang="ko-KR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55E53-EC79-6CE5-25BC-B6893A2F9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en-US" altLang="ko-KR" sz="2400" b="1" dirty="0">
              <a:solidFill>
                <a:srgbClr val="1F3864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AA9D6C2-7FD6-C489-5421-A7D07D6156F3}"/>
              </a:ext>
            </a:extLst>
          </p:cNvPr>
          <p:cNvGrpSpPr/>
          <p:nvPr/>
        </p:nvGrpSpPr>
        <p:grpSpPr>
          <a:xfrm>
            <a:off x="764208" y="2061409"/>
            <a:ext cx="10663583" cy="4220123"/>
            <a:chOff x="508000" y="1168399"/>
            <a:chExt cx="11176000" cy="4775201"/>
          </a:xfrm>
        </p:grpSpPr>
        <p:sp>
          <p:nvSpPr>
            <p:cNvPr id="201" name="D201">
              <a:extLst>
                <a:ext uri="{FF2B5EF4-FFF2-40B4-BE49-F238E27FC236}">
                  <a16:creationId xmlns:a16="http://schemas.microsoft.com/office/drawing/2014/main" id="{B92225A7-3913-1B5C-1C0C-05BE29CFF584}"/>
                </a:ext>
              </a:extLst>
            </p:cNvPr>
            <p:cNvSpPr/>
            <p:nvPr/>
          </p:nvSpPr>
          <p:spPr>
            <a:xfrm>
              <a:off x="508000" y="1168400"/>
              <a:ext cx="3556000" cy="2133600"/>
            </a:xfrm>
            <a:prstGeom prst="roundRect">
              <a:avLst/>
            </a:prstGeom>
            <a:solidFill>
              <a:srgbClr val="F4F7FC"/>
            </a:solidFill>
            <a:ln w="12700">
              <a:solidFill>
                <a:srgbClr val="2F5597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400" b="1" dirty="0"/>
                <a:t>① 곡선 차이를 숫자로 압축</a:t>
              </a:r>
            </a:p>
            <a:p>
              <a:pPr algn="ctr">
                <a:buNone/>
              </a:pPr>
              <a:r>
                <a:rPr lang="en-US" altLang="ko-KR" sz="1400" b="1" dirty="0"/>
                <a:t>TP·FP 평균 곡선의 </a:t>
              </a:r>
              <a:r>
                <a:rPr lang="en-US" altLang="ko-KR" sz="1400" b="1" dirty="0" err="1"/>
                <a:t>slice별</a:t>
              </a:r>
              <a:r>
                <a:rPr lang="en-US" altLang="ko-KR" sz="1400" b="1" dirty="0"/>
                <a:t> </a:t>
              </a:r>
              <a:r>
                <a:rPr lang="en-US" altLang="ko-KR" sz="1400" b="1" dirty="0" err="1"/>
                <a:t>차이</a:t>
              </a:r>
              <a:endParaRPr lang="en-US" altLang="ko-KR" sz="1400" b="1" dirty="0"/>
            </a:p>
            <a:p>
              <a:pPr algn="ctr">
                <a:buNone/>
              </a:pPr>
              <a:r>
                <a:rPr lang="en-US" altLang="ko-KR" sz="1400" b="1" dirty="0"/>
                <a:t>→ RMSD = 0.0580</a:t>
              </a:r>
            </a:p>
          </p:txBody>
        </p:sp>
        <p:sp>
          <p:nvSpPr>
            <p:cNvPr id="202" name="D202">
              <a:extLst>
                <a:ext uri="{FF2B5EF4-FFF2-40B4-BE49-F238E27FC236}">
                  <a16:creationId xmlns:a16="http://schemas.microsoft.com/office/drawing/2014/main" id="{88E39357-0F19-5FFD-13D5-88D83870170B}"/>
                </a:ext>
              </a:extLst>
            </p:cNvPr>
            <p:cNvSpPr/>
            <p:nvPr/>
          </p:nvSpPr>
          <p:spPr>
            <a:xfrm>
              <a:off x="4089400" y="2095500"/>
              <a:ext cx="203200" cy="279400"/>
            </a:xfrm>
            <a:prstGeom prst="rightArrow">
              <a:avLst/>
            </a:prstGeom>
            <a:solidFill>
              <a:srgbClr val="2F5597"/>
            </a:solidFill>
            <a:ln>
              <a:noFill/>
            </a:ln>
          </p:spPr>
          <p:txBody>
            <a:bodyPr wrap="square" lIns="114300" tIns="68580" rIns="114300" bIns="68580" anchor="ctr">
              <a:noAutofit/>
            </a:bodyPr>
            <a:lstStyle/>
            <a:p>
              <a:pPr algn="ctr">
                <a:buNone/>
              </a:pPr>
              <a:endParaRPr lang="en-US" sz="400"/>
            </a:p>
          </p:txBody>
        </p:sp>
        <p:sp>
          <p:nvSpPr>
            <p:cNvPr id="203" name="D203">
              <a:extLst>
                <a:ext uri="{FF2B5EF4-FFF2-40B4-BE49-F238E27FC236}">
                  <a16:creationId xmlns:a16="http://schemas.microsoft.com/office/drawing/2014/main" id="{596CD019-6524-8138-8A83-4E67EF580E52}"/>
                </a:ext>
              </a:extLst>
            </p:cNvPr>
            <p:cNvSpPr/>
            <p:nvPr/>
          </p:nvSpPr>
          <p:spPr>
            <a:xfrm>
              <a:off x="4318000" y="1168399"/>
              <a:ext cx="3556000" cy="2133600"/>
            </a:xfrm>
            <a:prstGeom prst="roundRect">
              <a:avLst/>
            </a:prstGeom>
            <a:solidFill>
              <a:srgbClr val="F4F7FC"/>
            </a:solidFill>
            <a:ln w="12700">
              <a:solidFill>
                <a:srgbClr val="2F5597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400" b="1" dirty="0"/>
                <a:t>② 라벨 2,000회 무작위 섞기</a:t>
              </a:r>
            </a:p>
            <a:p>
              <a:pPr algn="ctr">
                <a:buNone/>
              </a:pPr>
              <a:r>
                <a:rPr lang="en-US" altLang="ko-KR" sz="1400" b="1" dirty="0"/>
                <a:t>TP/FP 재배치 후 RMSD </a:t>
              </a:r>
              <a:r>
                <a:rPr lang="en-US" altLang="ko-KR" sz="1400" b="1" dirty="0" err="1"/>
                <a:t>재계산</a:t>
              </a:r>
              <a:endParaRPr lang="en-US" altLang="ko-KR" sz="1400" b="1" dirty="0"/>
            </a:p>
          </p:txBody>
        </p:sp>
        <p:sp>
          <p:nvSpPr>
            <p:cNvPr id="204" name="D204">
              <a:extLst>
                <a:ext uri="{FF2B5EF4-FFF2-40B4-BE49-F238E27FC236}">
                  <a16:creationId xmlns:a16="http://schemas.microsoft.com/office/drawing/2014/main" id="{9F911D7A-F612-A67F-AFD3-ECF0FB54783E}"/>
                </a:ext>
              </a:extLst>
            </p:cNvPr>
            <p:cNvSpPr/>
            <p:nvPr/>
          </p:nvSpPr>
          <p:spPr>
            <a:xfrm>
              <a:off x="7899400" y="2095500"/>
              <a:ext cx="203200" cy="279400"/>
            </a:xfrm>
            <a:prstGeom prst="rightArrow">
              <a:avLst/>
            </a:prstGeom>
            <a:solidFill>
              <a:srgbClr val="2F5597"/>
            </a:solidFill>
            <a:ln>
              <a:noFill/>
            </a:ln>
          </p:spPr>
          <p:txBody>
            <a:bodyPr wrap="square" lIns="114300" tIns="68580" rIns="114300" bIns="68580" anchor="ctr">
              <a:noAutofit/>
            </a:bodyPr>
            <a:lstStyle/>
            <a:p>
              <a:pPr algn="ctr">
                <a:buNone/>
              </a:pPr>
              <a:endParaRPr lang="en-US" sz="400"/>
            </a:p>
          </p:txBody>
        </p:sp>
        <p:sp>
          <p:nvSpPr>
            <p:cNvPr id="205" name="D205">
              <a:extLst>
                <a:ext uri="{FF2B5EF4-FFF2-40B4-BE49-F238E27FC236}">
                  <a16:creationId xmlns:a16="http://schemas.microsoft.com/office/drawing/2014/main" id="{3C89E269-FA98-DA7F-B2A9-AA9B069F7C62}"/>
                </a:ext>
              </a:extLst>
            </p:cNvPr>
            <p:cNvSpPr/>
            <p:nvPr/>
          </p:nvSpPr>
          <p:spPr>
            <a:xfrm>
              <a:off x="8128000" y="1168400"/>
              <a:ext cx="3556000" cy="2133600"/>
            </a:xfrm>
            <a:prstGeom prst="roundRect">
              <a:avLst/>
            </a:prstGeom>
            <a:solidFill>
              <a:srgbClr val="F4F7FC"/>
            </a:solidFill>
            <a:ln w="12700">
              <a:solidFill>
                <a:srgbClr val="2F5597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400" b="1" dirty="0"/>
                <a:t>③ 관찰값과 비교</a:t>
              </a:r>
            </a:p>
            <a:p>
              <a:pPr algn="ctr">
                <a:buNone/>
              </a:pPr>
              <a:r>
                <a:rPr lang="en-US" altLang="ko-KR" sz="1400" b="1" dirty="0"/>
                <a:t>섞은 RMSD ≥ 관찰값 횟수 카운트</a:t>
              </a:r>
            </a:p>
            <a:p>
              <a:pPr algn="ctr">
                <a:buNone/>
              </a:pPr>
              <a:r>
                <a:rPr lang="en-US" altLang="ko-KR" sz="1400" b="1" dirty="0"/>
                <a:t>→ p-value 산출</a:t>
              </a:r>
            </a:p>
          </p:txBody>
        </p:sp>
        <p:sp>
          <p:nvSpPr>
            <p:cNvPr id="206" name="D206">
              <a:extLst>
                <a:ext uri="{FF2B5EF4-FFF2-40B4-BE49-F238E27FC236}">
                  <a16:creationId xmlns:a16="http://schemas.microsoft.com/office/drawing/2014/main" id="{38ABBB02-E8FE-70DD-AB61-25AAD0011D77}"/>
                </a:ext>
              </a:extLst>
            </p:cNvPr>
            <p:cNvSpPr/>
            <p:nvPr/>
          </p:nvSpPr>
          <p:spPr>
            <a:xfrm>
              <a:off x="508000" y="3530600"/>
              <a:ext cx="11176000" cy="939800"/>
            </a:xfrm>
            <a:prstGeom prst="roundRect">
              <a:avLst/>
            </a:prstGeom>
            <a:solidFill>
              <a:srgbClr val="FBE5D6"/>
            </a:solidFill>
            <a:ln w="12700">
              <a:solidFill>
                <a:srgbClr val="C55A11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600" b="1" dirty="0">
                  <a:solidFill>
                    <a:srgbClr val="843C0C"/>
                  </a:solidFill>
                </a:rPr>
                <a:t>p = (RMSD ≥ 관찰값 횟수 + 1) ÷ (전체 + 1)</a:t>
              </a:r>
            </a:p>
            <a:p>
              <a:pPr algn="ctr">
                <a:buNone/>
              </a:pPr>
              <a:r>
                <a:rPr lang="en-US" altLang="ko-KR" sz="1200" b="0" dirty="0">
                  <a:solidFill>
                    <a:srgbClr val="595959"/>
                  </a:solidFill>
                </a:rPr>
                <a:t>+1: p가 0이 되지 않게 하는 표준 관례</a:t>
              </a:r>
            </a:p>
          </p:txBody>
        </p:sp>
        <p:sp>
          <p:nvSpPr>
            <p:cNvPr id="207" name="D207">
              <a:extLst>
                <a:ext uri="{FF2B5EF4-FFF2-40B4-BE49-F238E27FC236}">
                  <a16:creationId xmlns:a16="http://schemas.microsoft.com/office/drawing/2014/main" id="{79D6A951-A563-E9A9-83E6-E8B0F5AFEDF3}"/>
                </a:ext>
              </a:extLst>
            </p:cNvPr>
            <p:cNvSpPr/>
            <p:nvPr/>
          </p:nvSpPr>
          <p:spPr>
            <a:xfrm>
              <a:off x="508000" y="4673600"/>
              <a:ext cx="5461000" cy="1270000"/>
            </a:xfrm>
            <a:prstGeom prst="roundRect">
              <a:avLst/>
            </a:prstGeom>
            <a:solidFill>
              <a:srgbClr val="E8F5E9"/>
            </a:solidFill>
            <a:ln w="12700">
              <a:solidFill>
                <a:srgbClr val="2E7D32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600" b="1" dirty="0">
                  <a:solidFill>
                    <a:srgbClr val="2E7D32"/>
                  </a:solidFill>
                </a:rPr>
                <a:t>p ≈ 0.0035 · 유의함</a:t>
              </a:r>
            </a:p>
            <a:p>
              <a:pPr algn="ctr">
                <a:buNone/>
              </a:pPr>
              <a:r>
                <a:rPr lang="en-US" altLang="ko-KR" sz="1200" b="0" dirty="0">
                  <a:solidFill>
                    <a:srgbClr val="595959"/>
                  </a:solidFill>
                </a:rPr>
                <a:t>2,000회 중 6회 → 두 곡선은 다름</a:t>
              </a:r>
            </a:p>
          </p:txBody>
        </p:sp>
        <p:sp>
          <p:nvSpPr>
            <p:cNvPr id="208" name="D208">
              <a:extLst>
                <a:ext uri="{FF2B5EF4-FFF2-40B4-BE49-F238E27FC236}">
                  <a16:creationId xmlns:a16="http://schemas.microsoft.com/office/drawing/2014/main" id="{294BFF1D-2970-5920-8757-8DCACA7E3338}"/>
                </a:ext>
              </a:extLst>
            </p:cNvPr>
            <p:cNvSpPr/>
            <p:nvPr/>
          </p:nvSpPr>
          <p:spPr>
            <a:xfrm>
              <a:off x="6223000" y="4673600"/>
              <a:ext cx="5461000" cy="1270000"/>
            </a:xfrm>
            <a:prstGeom prst="roundRect">
              <a:avLst/>
            </a:prstGeom>
            <a:solidFill>
              <a:srgbClr val="F5EDED"/>
            </a:solidFill>
            <a:ln w="12700">
              <a:solidFill>
                <a:srgbClr val="9C2A2A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600" b="1" dirty="0">
                  <a:solidFill>
                    <a:srgbClr val="9C2A2A"/>
                  </a:solidFill>
                </a:rPr>
                <a:t>p ≈ 0.200 · 유의하지 않음</a:t>
              </a:r>
            </a:p>
            <a:p>
              <a:pPr algn="ctr">
                <a:buNone/>
              </a:pPr>
              <a:r>
                <a:rPr lang="en-US" altLang="ko-KR" sz="1200" b="0" dirty="0">
                  <a:solidFill>
                    <a:srgbClr val="595959"/>
                  </a:solidFill>
                </a:rPr>
                <a:t>2,000회 중 400회 → 흔한 차이</a:t>
              </a: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B4D6B0-AA25-92C7-E737-6471B208D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178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BD3DC-82A2-5F26-A020-8F0C5DBF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A875-CD02-71CE-1CAA-571E1B38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CAA16-F5F5-D4AD-F5B3-2B9B5649C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Stage 1</a:t>
            </a:r>
            <a:r>
              <a:rPr lang="ko-KR" altLang="en-US" b="1" dirty="0"/>
              <a:t>의</a:t>
            </a:r>
            <a:r>
              <a:rPr lang="en-US" altLang="ko-KR" b="1" dirty="0"/>
              <a:t> TP vs FP AEC Preprocessing</a:t>
            </a:r>
            <a:r>
              <a:rPr lang="ko-KR" altLang="en-US" b="1" dirty="0"/>
              <a:t> </a:t>
            </a:r>
            <a:r>
              <a:rPr lang="en-US" altLang="ko-KR" b="1" dirty="0" err="1"/>
              <a:t>비교</a:t>
            </a:r>
            <a:endParaRPr lang="en-US" altLang="ko-KR" b="1" dirty="0"/>
          </a:p>
          <a:p>
            <a:pPr lvl="1"/>
            <a:r>
              <a:rPr lang="ko-KR" altLang="en-US" dirty="0"/>
              <a:t>세 </a:t>
            </a:r>
            <a:r>
              <a:rPr lang="ko-KR" altLang="en-US" dirty="0" err="1"/>
              <a:t>전처리</a:t>
            </a:r>
            <a:r>
              <a:rPr lang="en-US" altLang="ko-KR" dirty="0"/>
              <a:t>(</a:t>
            </a:r>
            <a:r>
              <a:rPr lang="en-US" altLang="ko-KR" dirty="0" err="1"/>
              <a:t>Raw·Patient·Global</a:t>
            </a:r>
            <a:r>
              <a:rPr lang="en-US" altLang="ko-KR" dirty="0"/>
              <a:t>) </a:t>
            </a:r>
            <a:r>
              <a:rPr lang="ko-KR" altLang="en-US" dirty="0"/>
              <a:t>모두에서 </a:t>
            </a:r>
            <a:r>
              <a:rPr lang="en-US" altLang="ko-KR" dirty="0"/>
              <a:t>AEC </a:t>
            </a:r>
            <a:r>
              <a:rPr lang="ko-KR" altLang="en-US" dirty="0"/>
              <a:t>곡선은 </a:t>
            </a:r>
            <a:r>
              <a:rPr lang="en-US" altLang="ko-KR" dirty="0"/>
              <a:t>TP</a:t>
            </a:r>
            <a:r>
              <a:rPr lang="ko-KR" altLang="en-US" dirty="0"/>
              <a:t>와 </a:t>
            </a:r>
            <a:r>
              <a:rPr lang="en-US" altLang="ko-KR" dirty="0"/>
              <a:t>FP</a:t>
            </a:r>
            <a:r>
              <a:rPr lang="ko-KR" altLang="en-US" dirty="0"/>
              <a:t>를 유의하게 구분하지 못함 </a:t>
            </a:r>
            <a:r>
              <a:rPr lang="en-US" altLang="ko-KR" dirty="0"/>
              <a:t>(pooled)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AB233A3-DD15-0B12-C27D-D480E6160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247" y="2375447"/>
            <a:ext cx="3958497" cy="27000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808B1A2-271C-ABC3-744E-BCC258C0C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752" y="2375448"/>
            <a:ext cx="3958495" cy="2700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928A389-5F06-2BAB-D754-1D970E5A3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255" y="2375447"/>
            <a:ext cx="3958497" cy="270000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B9F9E9-F893-54C0-E886-7FFDE7EC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7380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045D1-DE0E-7476-4AB5-17D35A83C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A4EE-076A-B732-16C9-A560CF33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7B5F5-A367-46F3-7152-2CB600D6F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Stage 1</a:t>
            </a:r>
            <a:r>
              <a:rPr lang="ko-KR" altLang="en-US" b="1" dirty="0"/>
              <a:t>의</a:t>
            </a:r>
            <a:r>
              <a:rPr lang="en-US" altLang="ko-KR" b="1" dirty="0"/>
              <a:t> TP vs FP AEC Preprocessing</a:t>
            </a:r>
            <a:r>
              <a:rPr lang="ko-KR" altLang="en-US" b="1" dirty="0"/>
              <a:t> </a:t>
            </a:r>
            <a:r>
              <a:rPr lang="en-US" altLang="ko-KR" b="1" dirty="0" err="1"/>
              <a:t>비교</a:t>
            </a:r>
            <a:r>
              <a:rPr lang="en-US" altLang="ko-KR" b="1" dirty="0"/>
              <a:t> (Male)</a:t>
            </a:r>
            <a:endParaRPr lang="en-US" altLang="ko-KR" b="1" dirty="0">
              <a:solidFill>
                <a:srgbClr val="1F3864"/>
              </a:solidFill>
            </a:endParaRPr>
          </a:p>
          <a:p>
            <a:pPr lvl="1"/>
            <a:r>
              <a:rPr lang="ko-KR" altLang="en-US" dirty="0"/>
              <a:t>남성에서는 </a:t>
            </a:r>
            <a:r>
              <a:rPr lang="en-US" altLang="ko-KR" dirty="0" err="1"/>
              <a:t>Raw·Global</a:t>
            </a:r>
            <a:r>
              <a:rPr lang="ko-KR" altLang="en-US" dirty="0"/>
              <a:t>에서 </a:t>
            </a:r>
            <a:r>
              <a:rPr lang="en-US" altLang="ko-KR" dirty="0"/>
              <a:t>TP/FP AEC </a:t>
            </a:r>
            <a:r>
              <a:rPr lang="ko-KR" altLang="en-US" dirty="0"/>
              <a:t>곡선 차이가 유의하게 나타남 </a:t>
            </a:r>
            <a:r>
              <a:rPr lang="en-US" altLang="ko-KR" dirty="0"/>
              <a:t>(p &lt; 0.05)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C3747B-B09B-71B7-CE9B-DA83450261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916"/>
          <a:stretch>
            <a:fillRect/>
          </a:stretch>
        </p:blipFill>
        <p:spPr>
          <a:xfrm>
            <a:off x="155999" y="2253464"/>
            <a:ext cx="3960000" cy="28585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99B784-22C9-2428-F0BF-1ED41B5AB2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916"/>
          <a:stretch>
            <a:fillRect/>
          </a:stretch>
        </p:blipFill>
        <p:spPr>
          <a:xfrm>
            <a:off x="4115999" y="2253464"/>
            <a:ext cx="3960000" cy="285850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043AA95-037D-28E4-F04A-6B16878B10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9916"/>
          <a:stretch>
            <a:fillRect/>
          </a:stretch>
        </p:blipFill>
        <p:spPr>
          <a:xfrm>
            <a:off x="8076001" y="2253466"/>
            <a:ext cx="3960000" cy="285850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A0506EC-BE1C-C1C3-A1A2-DAFD7946DCA7}"/>
              </a:ext>
            </a:extLst>
          </p:cNvPr>
          <p:cNvSpPr/>
          <p:nvPr/>
        </p:nvSpPr>
        <p:spPr>
          <a:xfrm>
            <a:off x="1262270" y="4621695"/>
            <a:ext cx="546652" cy="228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E6C34C-5009-8983-B297-462CE351BEC4}"/>
              </a:ext>
            </a:extLst>
          </p:cNvPr>
          <p:cNvSpPr/>
          <p:nvPr/>
        </p:nvSpPr>
        <p:spPr>
          <a:xfrm>
            <a:off x="9157254" y="4621695"/>
            <a:ext cx="546652" cy="228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D84DA3-BF83-7ACF-4FDB-B1AA5842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7565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EDC08-9FE6-8AC4-D4F0-1C1A7422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E1D71-F034-4B65-F9CB-2489464A3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09809-EE41-8C5E-129E-F1DDF8795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Stage 1</a:t>
            </a:r>
            <a:r>
              <a:rPr lang="ko-KR" altLang="en-US" b="1" dirty="0"/>
              <a:t>의</a:t>
            </a:r>
            <a:r>
              <a:rPr lang="en-US" altLang="ko-KR" b="1" dirty="0"/>
              <a:t> TP vs FP AEC Preprocessing</a:t>
            </a:r>
            <a:r>
              <a:rPr lang="ko-KR" altLang="en-US" b="1" dirty="0"/>
              <a:t> </a:t>
            </a:r>
            <a:r>
              <a:rPr lang="en-US" altLang="ko-KR" b="1" dirty="0" err="1"/>
              <a:t>비교</a:t>
            </a:r>
            <a:r>
              <a:rPr lang="en-US" altLang="ko-KR" b="1" dirty="0"/>
              <a:t> (Female)</a:t>
            </a:r>
          </a:p>
          <a:p>
            <a:pPr lvl="1"/>
            <a:r>
              <a:rPr lang="ko-KR" altLang="en-US" dirty="0"/>
              <a:t>여성에서는 세 </a:t>
            </a:r>
            <a:r>
              <a:rPr lang="ko-KR" altLang="en-US" dirty="0" err="1"/>
              <a:t>전처리</a:t>
            </a:r>
            <a:r>
              <a:rPr lang="ko-KR" altLang="en-US" dirty="0"/>
              <a:t> 모두 </a:t>
            </a:r>
            <a:r>
              <a:rPr lang="en-US" altLang="ko-KR" dirty="0"/>
              <a:t>TP/FP AEC </a:t>
            </a:r>
            <a:r>
              <a:rPr lang="ko-KR" altLang="en-US" dirty="0"/>
              <a:t>곡선에 유의한 차이가 없음 </a:t>
            </a:r>
            <a:r>
              <a:rPr lang="en-US" altLang="ko-KR" dirty="0"/>
              <a:t>(p &gt; 0.05)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74C530-E4D5-2032-216C-BE4209705B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84"/>
          <a:stretch>
            <a:fillRect/>
          </a:stretch>
        </p:blipFill>
        <p:spPr>
          <a:xfrm>
            <a:off x="156000" y="2264192"/>
            <a:ext cx="3960000" cy="2868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0E1C13-B3B6-D245-A04A-61F6572A4D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84"/>
          <a:stretch>
            <a:fillRect/>
          </a:stretch>
        </p:blipFill>
        <p:spPr>
          <a:xfrm>
            <a:off x="4116000" y="2264193"/>
            <a:ext cx="3960000" cy="286816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59E57C3-DF1C-B4D3-9C37-273B82F964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84"/>
          <a:stretch>
            <a:fillRect/>
          </a:stretch>
        </p:blipFill>
        <p:spPr>
          <a:xfrm>
            <a:off x="8076000" y="2264196"/>
            <a:ext cx="3960000" cy="286815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EDF48-4289-8447-30BC-CD56AB87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5976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3126D-0F08-6AF4-7EF0-988B68B1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4603-FC44-E0FB-774F-CC077CBA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66BE1-0D6F-A458-8605-BC7B3C109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b="1" dirty="0"/>
              <a:t>Stage 1</a:t>
            </a:r>
            <a:r>
              <a:rPr lang="ko-KR" altLang="en-US" b="1" dirty="0"/>
              <a:t>의</a:t>
            </a:r>
            <a:r>
              <a:rPr lang="en-US" altLang="ko-KR" b="1" dirty="0"/>
              <a:t> TP vs FP AEC Preprocessing</a:t>
            </a:r>
            <a:r>
              <a:rPr lang="ko-KR" altLang="en-US" b="1" dirty="0"/>
              <a:t> 비교 (성별 × BMI 사분위, Raw AEC)</a:t>
            </a:r>
            <a:endParaRPr lang="en-US" altLang="ko-KR" b="1" dirty="0"/>
          </a:p>
          <a:p>
            <a:pPr lvl="1"/>
            <a:r>
              <a:rPr lang="ko-KR" altLang="en-US" dirty="0"/>
              <a:t>성별 </a:t>
            </a:r>
            <a:r>
              <a:rPr lang="en-US" altLang="ko-KR" dirty="0"/>
              <a:t>× BMI 8</a:t>
            </a:r>
            <a:r>
              <a:rPr lang="ko-KR" altLang="en-US" dirty="0"/>
              <a:t>개 구간 중 여성 최저 </a:t>
            </a:r>
            <a:r>
              <a:rPr lang="en-US" altLang="ko-KR" dirty="0"/>
              <a:t>BMI(Q1)</a:t>
            </a:r>
            <a:r>
              <a:rPr lang="ko-KR" altLang="en-US" dirty="0"/>
              <a:t>에서만 </a:t>
            </a:r>
            <a:r>
              <a:rPr lang="en-US" altLang="ko-KR" dirty="0"/>
              <a:t>TP/FP AEC </a:t>
            </a:r>
            <a:r>
              <a:rPr lang="ko-KR" altLang="en-US" dirty="0"/>
              <a:t>곡선이 유의하게 다름 </a:t>
            </a:r>
            <a:r>
              <a:rPr lang="en-US" altLang="ko-KR" dirty="0"/>
              <a:t>(p = 0.031)</a:t>
            </a:r>
            <a:endParaRPr lang="ko-KR" altLang="en-US" dirty="0"/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400" b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※ 절대 아시아 BMI 컷오프(&lt;18.5 / 18.5–23 / 23–25 / ≥25)로 나누면 여성 상위 구간(Overweight·Obese)이 표본 부족(TP=FP=0)으로 검정 불가 → 성별 내 상대 사분위로 균등분할해 8개 칸 모두 검정 가능</a:t>
            </a:r>
            <a:endParaRPr lang="en-US" altLang="ko-KR" sz="14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ko-KR" altLang="en-US" sz="14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01958F5-9B7D-5D2D-266C-A1E1CFDECF48}"/>
              </a:ext>
            </a:extLst>
          </p:cNvPr>
          <p:cNvGrpSpPr/>
          <p:nvPr/>
        </p:nvGrpSpPr>
        <p:grpSpPr>
          <a:xfrm>
            <a:off x="999510" y="2462130"/>
            <a:ext cx="10192979" cy="3951232"/>
            <a:chOff x="254000" y="1794694"/>
            <a:chExt cx="11684000" cy="452921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BF421F0-3673-E16B-816A-DEC9B9B82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000" y="1794694"/>
              <a:ext cx="11684000" cy="4529215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0C9F0AB-D2E6-3DA3-DBDB-244FAA7FCF97}"/>
                </a:ext>
              </a:extLst>
            </p:cNvPr>
            <p:cNvSpPr/>
            <p:nvPr/>
          </p:nvSpPr>
          <p:spPr>
            <a:xfrm>
              <a:off x="1093303" y="5923560"/>
              <a:ext cx="467140" cy="1989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2B6447-94B2-D3BB-5FD6-63C66A4E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551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A679-1B93-ECDB-4191-F068A8DF1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79A67-FDD8-BCF2-BCEE-02CCA218E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Plans</a:t>
            </a:r>
            <a:endParaRPr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51CEB64-D5AD-B0E6-A25C-AD59B72F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로 </a:t>
            </a:r>
            <a:r>
              <a:rPr lang="en-US" altLang="ko-KR" dirty="0"/>
              <a:t>AEC </a:t>
            </a:r>
            <a:r>
              <a:rPr lang="ko-KR" altLang="en-US" dirty="0"/>
              <a:t>구간의 </a:t>
            </a:r>
            <a:r>
              <a:rPr lang="en-US" altLang="ko-KR" dirty="0"/>
              <a:t>Total </a:t>
            </a:r>
            <a:r>
              <a:rPr lang="ko-KR" altLang="en-US" dirty="0" err="1"/>
              <a:t>근육량</a:t>
            </a:r>
            <a:r>
              <a:rPr lang="en-US" altLang="ko-KR" dirty="0"/>
              <a:t>(IMATA, NAMA, LAMA), Total </a:t>
            </a:r>
            <a:r>
              <a:rPr lang="ko-KR" altLang="en-US" dirty="0"/>
              <a:t>지방</a:t>
            </a:r>
            <a:r>
              <a:rPr lang="en-US" altLang="ko-KR" dirty="0"/>
              <a:t>(</a:t>
            </a:r>
            <a:r>
              <a:rPr lang="ko-KR" altLang="en-US" dirty="0"/>
              <a:t>내장</a:t>
            </a:r>
            <a:r>
              <a:rPr lang="en-US" altLang="ko-KR" dirty="0"/>
              <a:t>, </a:t>
            </a:r>
            <a:r>
              <a:rPr lang="ko-KR" altLang="en-US" dirty="0"/>
              <a:t>피하</a:t>
            </a:r>
            <a:r>
              <a:rPr lang="en-US" altLang="ko-KR" dirty="0"/>
              <a:t>) </a:t>
            </a:r>
            <a:r>
              <a:rPr lang="ko-KR" altLang="en-US" dirty="0"/>
              <a:t>값 추출 → 데이터 활용 방안 모색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94A5FB-270A-158F-1BB1-0E6E2095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4009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9866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6022</TotalTime>
  <Words>815</Words>
  <Application>Microsoft Office PowerPoint</Application>
  <PresentationFormat>와이드스크린</PresentationFormat>
  <Paragraphs>93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KoPub돋움체 Medium</vt:lpstr>
      <vt:lpstr>KoPub돋움체 Bold</vt:lpstr>
      <vt:lpstr>Office 테마</vt:lpstr>
      <vt:lpstr>PowerPoint 프레젠테이션</vt:lpstr>
      <vt:lpstr>Reference Papers</vt:lpstr>
      <vt:lpstr>Reference Papers</vt:lpstr>
      <vt:lpstr>Research Workflow</vt:lpstr>
      <vt:lpstr>Research Summary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Next Plans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542</cp:revision>
  <dcterms:created xsi:type="dcterms:W3CDTF">2026-04-09T07:05:16Z</dcterms:created>
  <dcterms:modified xsi:type="dcterms:W3CDTF">2026-07-28T06:05:32Z</dcterms:modified>
</cp:coreProperties>
</file>