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9"/>
  </p:notesMasterIdLst>
  <p:sldIdLst>
    <p:sldId id="256" r:id="rId2"/>
    <p:sldId id="551" r:id="rId3"/>
    <p:sldId id="555" r:id="rId4"/>
    <p:sldId id="554" r:id="rId5"/>
    <p:sldId id="552" r:id="rId6"/>
    <p:sldId id="553" r:id="rId7"/>
    <p:sldId id="479" r:id="rId8"/>
  </p:sldIdLst>
  <p:sldSz cx="12192000" cy="6858000"/>
  <p:notesSz cx="6858000" cy="9144000"/>
  <p:embeddedFontLst>
    <p:embeddedFont>
      <p:font typeface="KoPub돋움체 Bold" panose="00000800000000000000" pitchFamily="2" charset="-127"/>
      <p:bold r:id="rId10"/>
    </p:embeddedFont>
    <p:embeddedFont>
      <p:font typeface="KoPub돋움체 Medium" panose="00000600000000000000" pitchFamily="2" charset="-127"/>
      <p:regular r:id="rId11"/>
    </p:embeddedFont>
    <p:embeddedFont>
      <p:font typeface="맑은 고딕" panose="020B0503020000020004" pitchFamily="50" charset="-127"/>
      <p:regular r:id="rId12"/>
      <p:bold r:id="rId1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97B6DF2-66C3-4074-9053-F9AA00FED5D5}">
          <p14:sldIdLst>
            <p14:sldId id="256"/>
            <p14:sldId id="551"/>
            <p14:sldId id="555"/>
            <p14:sldId id="554"/>
            <p14:sldId id="552"/>
            <p14:sldId id="553"/>
            <p14:sldId id="4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전장훈" initials="전" lastIdx="19" clrIdx="0">
    <p:extLst>
      <p:ext uri="{19B8F6BF-5375-455C-9EA6-DF929625EA0E}">
        <p15:presenceInfo xmlns:p15="http://schemas.microsoft.com/office/powerpoint/2012/main" userId="전장훈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3670"/>
    <a:srgbClr val="17A5AA"/>
    <a:srgbClr val="1F34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BB50F4-122B-41C8-8B97-E733E2DA839E}" v="104" dt="2026-04-30T01:48:13.387"/>
    <p1510:client id="{59280094-6966-4D40-B0D2-C3AF0E296DD5}" v="33" dt="2026-04-29T05:12:11.973"/>
    <p1510:client id="{F96BF643-3359-45F4-82D4-8AA1E0B6CADD}" v="30" dt="2026-04-29T10:17:24.925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1879" autoAdjust="0"/>
  </p:normalViewPr>
  <p:slideViewPr>
    <p:cSldViewPr snapToGrid="0">
      <p:cViewPr varScale="1">
        <p:scale>
          <a:sx n="110" d="100"/>
          <a:sy n="110" d="100"/>
        </p:scale>
        <p:origin x="5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33074436-1BEA-4F09-AD5C-9DF87C96BF5A}" type="datetimeFigureOut">
              <a:rPr lang="ko-KR" altLang="en-US" smtClean="0"/>
              <a:pPr/>
              <a:t>2026-05-19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433C9518-700F-4811-95BB-24DAF3FA92F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7649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발표 시작하겠습니다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이번주 진행한 연구 결과에 대해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공유드리겠습니다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5490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4AA21-9CF8-678A-C0B8-5BEF83D90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1EA69DB-1308-34E1-27D7-99625C5840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7556C2F-238D-8454-0A8F-4305E1785F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AD18F8-447A-78AA-5E93-0870CCD385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93233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7CAAC-A43F-15F6-F38E-F4B14F211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CB3547B-80AA-6D0D-79FA-1FCDF983FA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AF9C7F7-4ABD-CFF8-3ED4-082C306DF1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17007A-A9B5-A594-7165-EBA1B58F66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30598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04183-5D94-C9AF-55C7-FE0777799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50C4E6B-0A09-C4D9-8137-24FAEE29CE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4587777-1F09-382F-5D13-B54DCD6566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C98B68-6805-520F-5878-F22165E086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7993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3d412ffb079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40188" y="857250"/>
            <a:ext cx="4113212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3d412ffb079_0_6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4" name="Google Shape;1174;g3d412ffb079_0_61:notes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300" cy="344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22397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>
            <a:extLst>
              <a:ext uri="{FF2B5EF4-FFF2-40B4-BE49-F238E27FC236}">
                <a16:creationId xmlns:a16="http://schemas.microsoft.com/office/drawing/2014/main" id="{D279837B-A00B-4327-9AB8-97044CBDABA7}"/>
              </a:ext>
            </a:extLst>
          </p:cNvPr>
          <p:cNvPicPr/>
          <p:nvPr userDrawn="1"/>
        </p:nvPicPr>
        <p:blipFill rotWithShape="1">
          <a:blip r:embed="rId2"/>
          <a:stretch>
            <a:fillRect/>
          </a:stretch>
        </p:blipFill>
        <p:spPr>
          <a:xfrm>
            <a:off x="0" y="228731"/>
            <a:ext cx="12192000" cy="640053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B17CE84-3562-483D-8448-6A30899AF0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9699" b="22132"/>
          <a:stretch/>
        </p:blipFill>
        <p:spPr>
          <a:xfrm>
            <a:off x="3461866" y="5273477"/>
            <a:ext cx="4168803" cy="982769"/>
          </a:xfrm>
          <a:prstGeom prst="rect">
            <a:avLst/>
          </a:prstGeom>
        </p:spPr>
      </p:pic>
      <p:pic>
        <p:nvPicPr>
          <p:cNvPr id="8" name="object 4">
            <a:extLst>
              <a:ext uri="{FF2B5EF4-FFF2-40B4-BE49-F238E27FC236}">
                <a16:creationId xmlns:a16="http://schemas.microsoft.com/office/drawing/2014/main" id="{8EF8DD5B-0316-4193-BCC7-D6CFCAE8969D}"/>
              </a:ext>
            </a:extLst>
          </p:cNvPr>
          <p:cNvPicPr/>
          <p:nvPr userDrawn="1"/>
        </p:nvPicPr>
        <p:blipFill rotWithShape="1">
          <a:blip r:embed="rId4"/>
          <a:stretch>
            <a:fillRect/>
          </a:stretch>
        </p:blipFill>
        <p:spPr>
          <a:xfrm>
            <a:off x="-277376" y="5274173"/>
            <a:ext cx="4550839" cy="99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578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5EC22856-02EF-4559-9B66-BD5C863FF254}"/>
              </a:ext>
            </a:extLst>
          </p:cNvPr>
          <p:cNvGrpSpPr/>
          <p:nvPr userDrawn="1"/>
        </p:nvGrpSpPr>
        <p:grpSpPr>
          <a:xfrm>
            <a:off x="-8467" y="6463089"/>
            <a:ext cx="12200467" cy="403574"/>
            <a:chOff x="-8467" y="6470661"/>
            <a:chExt cx="12200467" cy="39052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DFE1C4B-A7EE-47E1-8AAE-3EF4E43D16F6}"/>
                </a:ext>
              </a:extLst>
            </p:cNvPr>
            <p:cNvSpPr/>
            <p:nvPr userDrawn="1"/>
          </p:nvSpPr>
          <p:spPr>
            <a:xfrm>
              <a:off x="0" y="6496062"/>
              <a:ext cx="12192000" cy="365126"/>
            </a:xfrm>
            <a:prstGeom prst="rect">
              <a:avLst/>
            </a:prstGeom>
            <a:solidFill>
              <a:srgbClr val="1F34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28C131E4-1CD9-49D8-B343-8379436586C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8467" y="6470661"/>
              <a:ext cx="12200467" cy="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FE4F955D-C3E9-4033-8442-9095377B06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000" y="365126"/>
            <a:ext cx="11176000" cy="532342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02367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A482F1-FC12-443E-892A-B48F9C50AA5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8000" y="897468"/>
            <a:ext cx="11176000" cy="5063066"/>
          </a:xfrm>
        </p:spPr>
        <p:txBody>
          <a:bodyPr/>
          <a:lstStyle>
            <a:lvl1pPr>
              <a:lnSpc>
                <a:spcPct val="200000"/>
              </a:lnSpc>
              <a:defRPr sz="2000" b="0"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>
              <a:lnSpc>
                <a:spcPct val="150000"/>
              </a:lnSpc>
              <a:defRPr sz="18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2pPr>
            <a:lvl3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3pPr>
            <a:lvl4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4pPr>
            <a:lvl5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5A1225D-0BD8-42FD-A091-144615FF07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-583" b="3459"/>
          <a:stretch/>
        </p:blipFill>
        <p:spPr>
          <a:xfrm>
            <a:off x="5452198" y="6510701"/>
            <a:ext cx="1279135" cy="356658"/>
          </a:xfrm>
          <a:prstGeom prst="rect">
            <a:avLst/>
          </a:prstGeom>
          <a:solidFill>
            <a:srgbClr val="1F346B"/>
          </a:solidFill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1EFF5A-1B85-42B1-95F5-C4213C5AD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4600" y="6517302"/>
            <a:ext cx="558800" cy="3213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AEAB581-7B9E-4552-9BEC-BDB2FB36C0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6482" b="96122" l="16219" r="85171">
                        <a14:foregroundMark x1="20111" y1="81440" x2="20111" y2="81440"/>
                        <a14:foregroundMark x1="16404" y1="81440" x2="16404" y2="81440"/>
                        <a14:foregroundMark x1="25950" y1="81717" x2="25950" y2="81717"/>
                        <a14:foregroundMark x1="35959" y1="86704" x2="35959" y2="86704"/>
                        <a14:foregroundMark x1="44300" y1="83657" x2="44300" y2="83657"/>
                        <a14:foregroundMark x1="53197" y1="73961" x2="53197" y2="73961"/>
                        <a14:foregroundMark x1="82947" y1="81717" x2="82947" y2="81717"/>
                        <a14:foregroundMark x1="85171" y1="87812" x2="85171" y2="878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517" t="63297" r="13176"/>
          <a:stretch/>
        </p:blipFill>
        <p:spPr>
          <a:xfrm>
            <a:off x="112017" y="6545265"/>
            <a:ext cx="1744133" cy="288231"/>
          </a:xfrm>
          <a:prstGeom prst="rect">
            <a:avLst/>
          </a:prstGeom>
        </p:spPr>
      </p:pic>
      <p:sp>
        <p:nvSpPr>
          <p:cNvPr id="16" name="날짜 개체 틀 3">
            <a:extLst>
              <a:ext uri="{FF2B5EF4-FFF2-40B4-BE49-F238E27FC236}">
                <a16:creationId xmlns:a16="http://schemas.microsoft.com/office/drawing/2014/main" id="{3920A115-BF94-4DB0-B759-905F580E6A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98025" y="6495439"/>
            <a:ext cx="125871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7" name="바닥글 개체 틀 4">
            <a:extLst>
              <a:ext uri="{FF2B5EF4-FFF2-40B4-BE49-F238E27FC236}">
                <a16:creationId xmlns:a16="http://schemas.microsoft.com/office/drawing/2014/main" id="{CB761E04-ABC5-4F9B-B7F4-0370F3F02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8348" y="6495439"/>
            <a:ext cx="18880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6484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D0B4DC-8072-4B8E-A822-FE3A08C0D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927B99-20C3-4D37-8275-EA6400E5C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C6CE84-6AD8-453A-AD6E-FEAF6049C1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44141"/>
            <a:ext cx="27432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9EF105-0337-4580-9111-FD2F527F9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044141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B31AF83-2C46-4BF6-B48E-DD76F99A3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0800" y="6044141"/>
            <a:ext cx="2743200" cy="365125"/>
          </a:xfrm>
        </p:spPr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779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8C8B6C-1DEF-4332-8A14-F6B6981FD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78B35E-5C7A-4650-863C-461C8592BB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0FC85E-DA01-4C94-8312-2EAB20EAB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ADE796-457C-4E05-BBB8-BC7FD1390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5A564A-D398-41C0-BEF2-5D2A53F3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D0DB09-1DC7-4816-820B-2EDD19BAD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9832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73845-DA08-4E02-89E5-279477CDC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A0F8E2-8F9C-4936-8D92-FA7FE4970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C35784-8D42-4310-8640-07C1BEB33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31B950-6CB7-42DB-A303-B407EF83D2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0F35007-CA56-4CB7-8C5F-CF3E2924C5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90CD9AE-54AB-44CB-8910-A70F24EB3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AFA608-2F47-4FBC-8A45-AC037C64C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EA635AC-BD3D-4D4A-AB07-EAABF5013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660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27486-42F6-4B67-8DF8-769971D09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BBFFFA3-6C08-4D2B-B714-F2729D0D9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1B550E-4A2E-4405-8F29-A9633B7A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40B985F-0B0F-472E-A18E-72C776E30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09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995497-1A46-4FDE-B4B1-CA2510A4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BDDD35-FFDF-4936-8645-AC2A1F2AB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31037F-312F-4D9B-9119-F134F49B2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211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62E35-F23E-4CDC-9C00-11DCB7E97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65F35A-C1B0-4F2A-8536-7C9C4EF9C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B6DFEF-5929-42A1-B17A-6AD3F1AC5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8A33CA-A779-4AE7-8BB3-0DF9C81A7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539BD6-447C-4ABC-97CC-BCC453A38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A96239-5406-4F31-95AA-C4BD1AB50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073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FCC7A7-4C8B-434F-9C38-C6E5AC9E3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7AD0D2C-AE0D-4BDF-B9E8-D91CD7556C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F58740-6BDA-46A2-A629-765E7E175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2C1AD5-7F55-4125-8A2F-BC07A86DA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B58409-227F-4B89-B306-5E32E6E4F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C64012-3A7B-4999-BA77-06258A04A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037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54230E-387F-465D-9111-5F8ACFE1D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53B19F-7C90-4073-858B-0BD87654E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6123FE-787A-4904-AA9D-8ACC7B307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1EAC67-5F52-452E-9E50-F587C648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0EEB5A-4207-4ADB-95D4-B87AA305B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71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DACCBB6-C18F-485C-A53E-8683CFFE90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2DC10F-92E5-436B-9D63-2A68B11CB0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5DDDF8-BB20-4C9B-9571-A39BA7D6E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54DDF5-9EDE-406E-BFC5-8359CD708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989F03-47B6-4B39-B0CA-2A216789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719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A31B03D-0C42-48E6-948A-722C5EE3F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5A6E46-0B48-4B44-9DA0-C7C1E05C3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0D4B93-E437-4DCC-9E09-16EA88BBC5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A7A77E-05D0-4203-B655-9A2A21B58D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09CEAC-52D1-4D7C-99C4-13222A951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5485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4C14D9A0-1BB9-428F-B273-3CE24758593B}"/>
              </a:ext>
            </a:extLst>
          </p:cNvPr>
          <p:cNvSpPr txBox="1">
            <a:spLocks/>
          </p:cNvSpPr>
          <p:nvPr/>
        </p:nvSpPr>
        <p:spPr>
          <a:xfrm>
            <a:off x="417068" y="2062806"/>
            <a:ext cx="11387837" cy="398186"/>
          </a:xfrm>
          <a:prstGeom prst="rect">
            <a:avLst/>
          </a:prstGeom>
        </p:spPr>
        <p:txBody>
          <a:bodyPr vert="horz" wrap="square" lIns="0" tIns="13335" rIns="0" bIns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4"/>
              </a:spcBef>
              <a:defRPr/>
            </a:pPr>
            <a:r>
              <a:rPr lang="en-US" altLang="ko-KR" sz="2500" b="1" dirty="0">
                <a:solidFill>
                  <a:schemeClr val="lt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Total </a:t>
            </a:r>
            <a:r>
              <a:rPr lang="en-US" altLang="ko-KR" sz="2500" b="1" dirty="0" err="1">
                <a:solidFill>
                  <a:schemeClr val="lt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Segmentator</a:t>
            </a:r>
            <a:r>
              <a:rPr lang="en-US" altLang="ko-KR" sz="2500" b="1" dirty="0">
                <a:solidFill>
                  <a:schemeClr val="lt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 Results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4B21C1C-F3A0-440B-961E-968F2C77FB2A}"/>
              </a:ext>
            </a:extLst>
          </p:cNvPr>
          <p:cNvSpPr txBox="1"/>
          <p:nvPr/>
        </p:nvSpPr>
        <p:spPr>
          <a:xfrm>
            <a:off x="417068" y="3139177"/>
            <a:ext cx="7139940" cy="259045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2026. 05. 18</a:t>
            </a: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63F70F93-076B-4BBC-B933-AC7768BB0AE5}"/>
              </a:ext>
            </a:extLst>
          </p:cNvPr>
          <p:cNvSpPr txBox="1"/>
          <p:nvPr/>
        </p:nvSpPr>
        <p:spPr>
          <a:xfrm>
            <a:off x="417068" y="3564777"/>
            <a:ext cx="7139940" cy="289823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800" b="1" dirty="0" err="1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JangHoon</a:t>
            </a:r>
            <a:r>
              <a:rPr lang="en-US" altLang="ko-KR" sz="1800" b="1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 Chun</a:t>
            </a: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CEB5E8A0-083F-4B6E-AA66-93BFFD6A8E1A}"/>
              </a:ext>
            </a:extLst>
          </p:cNvPr>
          <p:cNvSpPr txBox="1"/>
          <p:nvPr/>
        </p:nvSpPr>
        <p:spPr>
          <a:xfrm>
            <a:off x="417068" y="3978214"/>
            <a:ext cx="7139940" cy="1213153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Department of, Medical Device Engineering &amp; Management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Gangnam Severance Hospital,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Yonsei University College of Medicine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endParaRPr lang="en-US" altLang="ko-KR" sz="1600" b="1" dirty="0">
              <a:solidFill>
                <a:srgbClr val="FFFFFF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Arial" panose="020B0604020202020204" pitchFamily="34" charset="0"/>
            </a:endParaRP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endParaRPr sz="1600" b="1" baseline="25000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851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8CAC6-5AAE-071D-A20C-3363A9415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C34E84-7F24-BDDE-EA03-702E9D9E1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60B46D-A414-4C6A-6877-8F8F9387C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1085DB8A-F2FD-AB70-F0B6-F5E8612C1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/>
          <a:lstStyle/>
          <a:p>
            <a:r>
              <a:rPr lang="en-US" altLang="ko-KR" dirty="0"/>
              <a:t>Data </a:t>
            </a:r>
            <a:r>
              <a:rPr lang="ko-KR" altLang="en-US" dirty="0"/>
              <a:t>정리</a:t>
            </a:r>
            <a:endParaRPr lang="en-US" altLang="ko-KR" dirty="0"/>
          </a:p>
          <a:p>
            <a:pPr lvl="1"/>
            <a:r>
              <a:rPr lang="en-US" altLang="ko-KR" dirty="0" err="1"/>
              <a:t>MetaData</a:t>
            </a:r>
            <a:endParaRPr lang="en-US" altLang="ko-KR" dirty="0"/>
          </a:p>
          <a:p>
            <a:pPr lvl="1"/>
            <a:r>
              <a:rPr lang="en-US" altLang="ko-KR" dirty="0"/>
              <a:t>Patient 3,762 </a:t>
            </a:r>
            <a:r>
              <a:rPr lang="ko-KR" altLang="en-US" dirty="0"/>
              <a:t>→ 중복 제거 </a:t>
            </a:r>
            <a:r>
              <a:rPr lang="en-US" altLang="ko-KR" dirty="0"/>
              <a:t>2,033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AEC</a:t>
            </a:r>
          </a:p>
          <a:p>
            <a:pPr lvl="1"/>
            <a:r>
              <a:rPr lang="en-US" altLang="ko-KR" dirty="0"/>
              <a:t>Patient 2,054 </a:t>
            </a:r>
            <a:r>
              <a:rPr lang="ko-KR" altLang="en-US" dirty="0"/>
              <a:t>→ 상하단 기준으로 </a:t>
            </a:r>
            <a:r>
              <a:rPr lang="en-US" altLang="ko-KR" dirty="0"/>
              <a:t>Crop [T12, pubis] </a:t>
            </a:r>
            <a:r>
              <a:rPr lang="ko-KR" altLang="en-US" dirty="0"/>
              <a:t>→ </a:t>
            </a:r>
            <a:r>
              <a:rPr lang="en-US" altLang="ko-KR" dirty="0" err="1"/>
              <a:t>aec_raw</a:t>
            </a:r>
            <a:r>
              <a:rPr lang="en-US" altLang="ko-KR" dirty="0"/>
              <a:t> </a:t>
            </a:r>
            <a:r>
              <a:rPr lang="ko-KR" altLang="en-US" dirty="0"/>
              <a:t>→ </a:t>
            </a:r>
            <a:r>
              <a:rPr lang="en-US" altLang="ko-KR" dirty="0"/>
              <a:t>aec_128 </a:t>
            </a:r>
            <a:r>
              <a:rPr lang="ko-KR" altLang="en-US" dirty="0"/>
              <a:t>→ </a:t>
            </a:r>
            <a:r>
              <a:rPr lang="ko-KR" altLang="en-US" dirty="0" err="1"/>
              <a:t>고정값</a:t>
            </a:r>
            <a:r>
              <a:rPr lang="ko-KR" altLang="en-US" dirty="0"/>
              <a:t> 제거 </a:t>
            </a:r>
            <a:r>
              <a:rPr lang="en-US" altLang="ko-KR"/>
              <a:t>(1220/1287)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7966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1C564-C4E3-C7E5-176D-3C71C0D4C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C90F66-DE53-7F78-BD26-F25903C36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651BCC-0290-4B0F-F77B-B861A8312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3</a:t>
            </a:fld>
            <a:endParaRPr lang="ko-KR" altLang="en-US" dirty="0"/>
          </a:p>
        </p:txBody>
      </p:sp>
      <p:graphicFrame>
        <p:nvGraphicFramePr>
          <p:cNvPr id="3" name="Table 24">
            <a:extLst>
              <a:ext uri="{FF2B5EF4-FFF2-40B4-BE49-F238E27FC236}">
                <a16:creationId xmlns:a16="http://schemas.microsoft.com/office/drawing/2014/main" id="{F296F737-8C82-7794-102A-912EE34FC89B}"/>
              </a:ext>
            </a:extLst>
          </p:cNvPr>
          <p:cNvGraphicFramePr>
            <a:graphicFrameLocks noGrp="1"/>
          </p:cNvGraphicFramePr>
          <p:nvPr/>
        </p:nvGraphicFramePr>
        <p:xfrm>
          <a:off x="1306216" y="1668340"/>
          <a:ext cx="9579568" cy="45604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74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7446">
                  <a:extLst>
                    <a:ext uri="{9D8B030D-6E8A-4147-A177-3AD203B41FA5}">
                      <a16:colId xmlns:a16="http://schemas.microsoft.com/office/drawing/2014/main" val="1286114323"/>
                    </a:ext>
                  </a:extLst>
                </a:gridCol>
                <a:gridCol w="1197446">
                  <a:extLst>
                    <a:ext uri="{9D8B030D-6E8A-4147-A177-3AD203B41FA5}">
                      <a16:colId xmlns:a16="http://schemas.microsoft.com/office/drawing/2014/main" val="2865512279"/>
                    </a:ext>
                  </a:extLst>
                </a:gridCol>
                <a:gridCol w="1197446">
                  <a:extLst>
                    <a:ext uri="{9D8B030D-6E8A-4147-A177-3AD203B41FA5}">
                      <a16:colId xmlns:a16="http://schemas.microsoft.com/office/drawing/2014/main" val="198448097"/>
                    </a:ext>
                  </a:extLst>
                </a:gridCol>
                <a:gridCol w="1197446">
                  <a:extLst>
                    <a:ext uri="{9D8B030D-6E8A-4147-A177-3AD203B41FA5}">
                      <a16:colId xmlns:a16="http://schemas.microsoft.com/office/drawing/2014/main" val="3203679715"/>
                    </a:ext>
                  </a:extLst>
                </a:gridCol>
                <a:gridCol w="1197446">
                  <a:extLst>
                    <a:ext uri="{9D8B030D-6E8A-4147-A177-3AD203B41FA5}">
                      <a16:colId xmlns:a16="http://schemas.microsoft.com/office/drawing/2014/main" val="2797321821"/>
                    </a:ext>
                  </a:extLst>
                </a:gridCol>
                <a:gridCol w="1197446">
                  <a:extLst>
                    <a:ext uri="{9D8B030D-6E8A-4147-A177-3AD203B41FA5}">
                      <a16:colId xmlns:a16="http://schemas.microsoft.com/office/drawing/2014/main" val="2812402965"/>
                    </a:ext>
                  </a:extLst>
                </a:gridCol>
                <a:gridCol w="1197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826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PatientID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n_slices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slices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t12_slice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pubis_slice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z_range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z_t12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z_pubis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26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5512384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667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4554284"/>
                  </a:ext>
                </a:extLst>
              </a:tr>
              <a:tr h="26826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8855221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396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871.07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475.07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3997030"/>
                  </a:ext>
                </a:extLst>
              </a:tr>
              <a:tr h="26826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5022329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372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338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388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88.5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-299.5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533384"/>
                  </a:ext>
                </a:extLst>
              </a:tr>
              <a:tr h="26826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5121596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330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382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949.5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567.5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6633271"/>
                  </a:ext>
                </a:extLst>
              </a:tr>
              <a:tr h="26826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9466484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396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-249.5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-645.5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4768561"/>
                  </a:ext>
                </a:extLst>
              </a:tr>
              <a:tr h="26826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5023331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399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50.3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-348.7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962543"/>
                  </a:ext>
                </a:extLst>
              </a:tr>
              <a:tr h="26826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2554290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387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1590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1203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689657"/>
                  </a:ext>
                </a:extLst>
              </a:tr>
              <a:tr h="26826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8597283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336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767.46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431.46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2464310"/>
                  </a:ext>
                </a:extLst>
              </a:tr>
              <a:tr h="26826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8405417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381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877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496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066104"/>
                  </a:ext>
                </a:extLst>
              </a:tr>
              <a:tr h="26826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6695154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766.5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394.5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14221"/>
                  </a:ext>
                </a:extLst>
              </a:tr>
              <a:tr h="26826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8856360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172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172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429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370.32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-58.68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750539"/>
                  </a:ext>
                </a:extLst>
              </a:tr>
              <a:tr h="26826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5824638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390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851.75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461.75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7519507"/>
                  </a:ext>
                </a:extLst>
              </a:tr>
              <a:tr h="26826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9956604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417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801.03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384.03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9854852"/>
                  </a:ext>
                </a:extLst>
              </a:tr>
              <a:tr h="26826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5642762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850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472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915461"/>
                  </a:ext>
                </a:extLst>
              </a:tr>
              <a:tr h="26826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6737751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811.01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442.01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3652768"/>
                  </a:ext>
                </a:extLst>
              </a:tr>
              <a:tr h="26826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8719829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381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-383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-764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6635945"/>
                  </a:ext>
                </a:extLst>
              </a:tr>
            </a:tbl>
          </a:graphicData>
        </a:graphic>
      </p:graphicFrame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C4AE4587-D9EE-3494-C321-6EC6B13EF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/>
          <a:lstStyle/>
          <a:p>
            <a:r>
              <a:rPr lang="en-US" altLang="ko-KR" dirty="0"/>
              <a:t>Total </a:t>
            </a:r>
            <a:r>
              <a:rPr lang="en-US" altLang="ko-KR" dirty="0" err="1"/>
              <a:t>Segmentator</a:t>
            </a:r>
            <a:r>
              <a:rPr lang="ko-KR" altLang="en-US" dirty="0"/>
              <a:t>로 상하단 기준 좌표 </a:t>
            </a:r>
            <a:r>
              <a:rPr lang="en-US" altLang="ko-KR" dirty="0"/>
              <a:t>Success </a:t>
            </a:r>
            <a:r>
              <a:rPr lang="ko-KR" altLang="en-US" dirty="0"/>
              <a:t>건</a:t>
            </a:r>
          </a:p>
        </p:txBody>
      </p:sp>
    </p:spTree>
    <p:extLst>
      <p:ext uri="{BB962C8B-B14F-4D97-AF65-F5344CB8AC3E}">
        <p14:creationId xmlns:p14="http://schemas.microsoft.com/office/powerpoint/2010/main" val="2442842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7BFCA-8269-8C7D-190A-5D385C48A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>
            <a:extLst>
              <a:ext uri="{FF2B5EF4-FFF2-40B4-BE49-F238E27FC236}">
                <a16:creationId xmlns:a16="http://schemas.microsoft.com/office/drawing/2014/main" id="{D1F5DBF6-8EDA-526F-793B-0094C87FD6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3400" y="2130149"/>
            <a:ext cx="2597697" cy="2597697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3D930663-CC60-3CB8-DF4D-71D1B5D3C4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0854" y="2130150"/>
            <a:ext cx="2597696" cy="2597696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C84CB4E8-F39B-DFDE-033A-55B0351E87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546" y="2130151"/>
            <a:ext cx="2597695" cy="259769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04F60ED-BAEB-435E-B806-13187BC83E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0548" y="2130153"/>
            <a:ext cx="2597694" cy="259769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E325F5D-A81D-05C1-9202-C527E6A54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A5D62E-637A-781F-C285-EEB17AF40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142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D5F4A-1614-34FB-3E65-F5ECF683E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36A608-BF70-97BF-04A8-978857FEB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13E44E-F5DB-2C33-2FD3-8CD2FCEA4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5</a:t>
            </a:fld>
            <a:endParaRPr lang="ko-KR" altLang="en-US" dirty="0"/>
          </a:p>
        </p:txBody>
      </p:sp>
      <p:graphicFrame>
        <p:nvGraphicFramePr>
          <p:cNvPr id="3" name="Table 24">
            <a:extLst>
              <a:ext uri="{FF2B5EF4-FFF2-40B4-BE49-F238E27FC236}">
                <a16:creationId xmlns:a16="http://schemas.microsoft.com/office/drawing/2014/main" id="{6C52E79A-42FB-6B0C-41EB-5ABDBAE56D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0302556"/>
              </p:ext>
            </p:extLst>
          </p:nvPr>
        </p:nvGraphicFramePr>
        <p:xfrm>
          <a:off x="1306216" y="1672047"/>
          <a:ext cx="9579568" cy="2146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74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7446">
                  <a:extLst>
                    <a:ext uri="{9D8B030D-6E8A-4147-A177-3AD203B41FA5}">
                      <a16:colId xmlns:a16="http://schemas.microsoft.com/office/drawing/2014/main" val="1286114323"/>
                    </a:ext>
                  </a:extLst>
                </a:gridCol>
                <a:gridCol w="1197446">
                  <a:extLst>
                    <a:ext uri="{9D8B030D-6E8A-4147-A177-3AD203B41FA5}">
                      <a16:colId xmlns:a16="http://schemas.microsoft.com/office/drawing/2014/main" val="2865512279"/>
                    </a:ext>
                  </a:extLst>
                </a:gridCol>
                <a:gridCol w="1197446">
                  <a:extLst>
                    <a:ext uri="{9D8B030D-6E8A-4147-A177-3AD203B41FA5}">
                      <a16:colId xmlns:a16="http://schemas.microsoft.com/office/drawing/2014/main" val="198448097"/>
                    </a:ext>
                  </a:extLst>
                </a:gridCol>
                <a:gridCol w="1197446">
                  <a:extLst>
                    <a:ext uri="{9D8B030D-6E8A-4147-A177-3AD203B41FA5}">
                      <a16:colId xmlns:a16="http://schemas.microsoft.com/office/drawing/2014/main" val="3203679715"/>
                    </a:ext>
                  </a:extLst>
                </a:gridCol>
                <a:gridCol w="1197446">
                  <a:extLst>
                    <a:ext uri="{9D8B030D-6E8A-4147-A177-3AD203B41FA5}">
                      <a16:colId xmlns:a16="http://schemas.microsoft.com/office/drawing/2014/main" val="2797321821"/>
                    </a:ext>
                  </a:extLst>
                </a:gridCol>
                <a:gridCol w="1197446">
                  <a:extLst>
                    <a:ext uri="{9D8B030D-6E8A-4147-A177-3AD203B41FA5}">
                      <a16:colId xmlns:a16="http://schemas.microsoft.com/office/drawing/2014/main" val="2812402965"/>
                    </a:ext>
                  </a:extLst>
                </a:gridCol>
                <a:gridCol w="1197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826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PatientID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n_slices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slices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t12_slice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pubis_slice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z_range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z_t12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z_pubis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26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9145432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445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-217.5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-662.5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4554284"/>
                  </a:ext>
                </a:extLst>
              </a:tr>
              <a:tr h="26826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3034034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507.5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-165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-672.5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1863335"/>
                  </a:ext>
                </a:extLst>
              </a:tr>
              <a:tr h="26826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9424177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-222.5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-672.5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1984369"/>
                  </a:ext>
                </a:extLst>
              </a:tr>
              <a:tr h="26826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8423022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447.5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-230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-677.5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4333430"/>
                  </a:ext>
                </a:extLst>
              </a:tr>
              <a:tr h="26826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5028658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437.5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-487.5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-925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4347136"/>
                  </a:ext>
                </a:extLst>
              </a:tr>
              <a:tr h="26826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6165261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467.5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-160.633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-628.133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155605"/>
                  </a:ext>
                </a:extLst>
              </a:tr>
              <a:tr h="26826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9001439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-238.192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-698.192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2464310"/>
                  </a:ext>
                </a:extLst>
              </a:tr>
            </a:tbl>
          </a:graphicData>
        </a:graphic>
      </p:graphicFrame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3AE7AC7A-8188-574D-4B8B-28B7BDDF1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/>
          <a:lstStyle/>
          <a:p>
            <a:r>
              <a:rPr lang="en-US" altLang="ko-KR" dirty="0"/>
              <a:t>Total </a:t>
            </a:r>
            <a:r>
              <a:rPr lang="en-US" altLang="ko-KR" dirty="0" err="1"/>
              <a:t>Segmentator</a:t>
            </a:r>
            <a:r>
              <a:rPr lang="ko-KR" altLang="en-US" dirty="0"/>
              <a:t>로 상하단 기준 좌표 </a:t>
            </a:r>
            <a:r>
              <a:rPr lang="en-US" altLang="ko-KR" dirty="0"/>
              <a:t>Fail </a:t>
            </a:r>
            <a:r>
              <a:rPr lang="ko-KR" altLang="en-US" dirty="0"/>
              <a:t>건</a:t>
            </a:r>
          </a:p>
        </p:txBody>
      </p:sp>
    </p:spTree>
    <p:extLst>
      <p:ext uri="{BB962C8B-B14F-4D97-AF65-F5344CB8AC3E}">
        <p14:creationId xmlns:p14="http://schemas.microsoft.com/office/powerpoint/2010/main" val="3751078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E844CC-9B6C-8F23-0CED-98A6D01A6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Detailed progress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6313EEE9-A0EB-E8F6-ED1F-476372CA76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3454" y="2130154"/>
            <a:ext cx="2597692" cy="2597692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265762-F700-ACAB-7A71-025F28966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F4411C7-27F4-3B3B-BF48-D7C095B977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1" y="2130153"/>
            <a:ext cx="2597693" cy="259769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9B03812-4826-DB8C-42BE-976697B94B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0856" y="2130153"/>
            <a:ext cx="2597693" cy="259769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27AC128-32EC-21BD-AA57-ED17ADABB0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3403" y="2130153"/>
            <a:ext cx="2597694" cy="2597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860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6" name="Google Shape;1176;g3d412ffb079_0_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92813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2619</TotalTime>
  <Words>353</Words>
  <Application>Microsoft Office PowerPoint</Application>
  <PresentationFormat>와이드스크린</PresentationFormat>
  <Paragraphs>231</Paragraphs>
  <Slides>7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맑은 고딕</vt:lpstr>
      <vt:lpstr>Arial</vt:lpstr>
      <vt:lpstr>KoPub돋움체 Bold</vt:lpstr>
      <vt:lpstr>KoPub돋움체 Medium</vt:lpstr>
      <vt:lpstr>Office 테마</vt:lpstr>
      <vt:lpstr>PowerPoint 프레젠테이션</vt:lpstr>
      <vt:lpstr>Detailed progress</vt:lpstr>
      <vt:lpstr>Detailed progress</vt:lpstr>
      <vt:lpstr>Detailed progress</vt:lpstr>
      <vt:lpstr>Detailed progress</vt:lpstr>
      <vt:lpstr>Detailed progress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전장훈</dc:creator>
  <cp:lastModifiedBy>전장훈</cp:lastModifiedBy>
  <cp:revision>243</cp:revision>
  <dcterms:created xsi:type="dcterms:W3CDTF">2026-04-09T07:05:16Z</dcterms:created>
  <dcterms:modified xsi:type="dcterms:W3CDTF">2026-05-19T08:48:34Z</dcterms:modified>
</cp:coreProperties>
</file>