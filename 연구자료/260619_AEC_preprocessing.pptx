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524" r:id="rId3"/>
    <p:sldId id="551" r:id="rId4"/>
    <p:sldId id="585" r:id="rId5"/>
    <p:sldId id="584" r:id="rId6"/>
    <p:sldId id="586" r:id="rId7"/>
    <p:sldId id="587" r:id="rId8"/>
    <p:sldId id="588" r:id="rId9"/>
    <p:sldId id="589" r:id="rId10"/>
    <p:sldId id="590" r:id="rId11"/>
    <p:sldId id="591" r:id="rId12"/>
    <p:sldId id="592" r:id="rId13"/>
    <p:sldId id="593" r:id="rId14"/>
    <p:sldId id="479" r:id="rId15"/>
  </p:sldIdLst>
  <p:sldSz cx="12192000" cy="6858000"/>
  <p:notesSz cx="6858000" cy="9144000"/>
  <p:embeddedFontLst>
    <p:embeddedFont>
      <p:font typeface="KoPub돋움체 Bold" panose="00000800000000000000" pitchFamily="2" charset="-127"/>
      <p:bold r:id="rId17"/>
    </p:embeddedFont>
    <p:embeddedFont>
      <p:font typeface="KoPub돋움체 Medium" panose="00000600000000000000" pitchFamily="2" charset="-127"/>
      <p:regular r:id="rId18"/>
    </p:embeddedFont>
    <p:embeddedFont>
      <p:font typeface="맑은 고딕" panose="020B0503020000020004" pitchFamily="50" charset="-127"/>
      <p:regular r:id="rId19"/>
      <p:bold r:id="rId2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524"/>
            <p14:sldId id="551"/>
            <p14:sldId id="585"/>
            <p14:sldId id="584"/>
            <p14:sldId id="586"/>
            <p14:sldId id="587"/>
            <p14:sldId id="588"/>
            <p14:sldId id="589"/>
            <p14:sldId id="590"/>
            <p14:sldId id="591"/>
            <p14:sldId id="592"/>
            <p14:sldId id="593"/>
            <p14:sldId id="4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B50F4-122B-41C8-8B97-E733E2DA839E}" v="104" dt="2026-04-30T01:48:13.387"/>
    <p1510:client id="{59280094-6966-4D40-B0D2-C3AF0E296DD5}" v="33" dt="2026-04-29T05:12:11.973"/>
    <p1510:client id="{F96BF643-3359-45F4-82D4-8AA1E0B6CADD}" v="30" dt="2026-04-29T10:17:24.925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1879" autoAdjust="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2026-06-18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발표 시작하겠습니다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이번주 진행한 연구 결과에 대해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공유드리겠습니다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549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AAC64-4809-CFDB-DD82-8C411BF9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00CA24-0109-6788-DE0D-8E930A4B7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DF5CE1-02A0-E30B-7E00-1067FDF0B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이번주 연구 요약입니다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핵심은 세 가지 모델 구조의 비교입니다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나이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BMI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만 사용하는 기저모델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 + AEC**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임상변수에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시계열 추가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 + AEC + Scanner**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여기에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제조사 모델명을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임베딩으로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추가</a:t>
            </a:r>
          </a:p>
          <a:p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그리고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SMI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앞서 말씀드린 공식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—`SMI = (TAMA − IMATA) / Height²`—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으로 정의하고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한국인 기준 하위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5% threshold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이진 분류를 수행하였습니다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참조한 논문은 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편으로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기준에 대해서는 데이터 섹션에서 자세히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설명드리겠습니다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1FB4E7-21AC-953F-57A3-5376A248A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816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4AA21-9CF8-678A-C0B8-5BEF83D90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EA69DB-1308-34E1-27D7-99625C584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556C2F-238D-8454-0A8F-4305E1785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AD18F8-447A-78AA-5E93-0870CCD38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323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C822B-20A0-B446-17AB-6724C74DB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DD9428-3764-6A2A-F1B0-0B92EBA61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F019D9-FE9D-C637-63E6-C2EF76A06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60812B-0C89-937D-0DC7-6B2278C2C7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777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189B9-922E-FA29-C208-28CBA192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A62CC1-BE98-1C87-8E0F-BE79EF75C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627E94-569E-AB3F-231B-6A555469D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43C8CF-6843-DACA-64C0-BCFB500F0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416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DB703-6D26-3D88-8D87-37307ECDC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8808A1-3BE7-07DF-F4F5-FCDAB3AF6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4C83F3-DE15-01EA-EC82-47DBAB416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CCBDCB-1C15-A2E1-25DA-E4CC0ACA8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4593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A097B-8B26-EBB7-9130-DB39FCA8A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991D1D-D207-1606-DA67-5FA87DE24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71ACC9-9E5F-799D-3CE0-D7B4C53AC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760D6E-80B6-433E-FA9C-2E454C4C5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206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ABF38-A6D0-652E-F06C-8BD87EE79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D9D224-7376-6B3D-19D2-3B9757C62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49AFC8-C4E2-4732-30BA-814808512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86BE30-7F06-F521-E352-97A6B850CD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9429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5A157-9370-EE08-E7B7-9C1454ED8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D0445E-08D6-77A9-10F3-61B6B79FE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66FEE3-C1B1-4D8F-E187-F369648F8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2660B9-2ECE-2DEA-F2F3-203A2BE382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465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51D22-C2F3-D647-9B7E-8A60814E5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E03E66-379A-2D31-72F7-B41E4538B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C6A4B3-33EA-1733-DAD1-DDF60D2B0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E76647-5EE3-D407-3593-7AA135D673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520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EE678-FBC7-9082-82B1-E921155AB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0CB0AC-F077-F9C7-2621-D3B21B154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4D8281-0269-0F34-370B-6F3F738CA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58B837-1927-D915-941B-4784EB670A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6574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C89CE-88BC-1A12-F3A1-7EAF947B8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26016B-3F70-9DD7-6640-ED79ED22C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06AD7B-5134-100D-8F92-3C0514EF8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D8CD92-8ABC-C5D7-0DBA-C6D4A590A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06931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D9DED-2490-3B75-69F1-4F96A997B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D5A181-8204-5AE7-A035-9B9DCBEDB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6DC35A-B84B-7BC2-154D-567686CD6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88B115-F4EF-BB95-2BB3-917283044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9187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2397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5962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4C14D9A0-1BB9-428F-B273-3CE24758593B}"/>
              </a:ext>
            </a:extLst>
          </p:cNvPr>
          <p:cNvSpPr txBox="1">
            <a:spLocks/>
          </p:cNvSpPr>
          <p:nvPr/>
        </p:nvSpPr>
        <p:spPr>
          <a:xfrm>
            <a:off x="417068" y="2062806"/>
            <a:ext cx="11387837" cy="398186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Results of Total </a:t>
            </a:r>
            <a:r>
              <a:rPr lang="en-US" altLang="ko-KR" sz="2500" b="1" dirty="0" err="1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Segmentator</a:t>
            </a: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 &amp; AEC</a:t>
            </a:r>
            <a:r>
              <a:rPr lang="ko-KR" altLang="en-US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 </a:t>
            </a: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Study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B21C1C-F3A0-440B-961E-968F2C77FB2A}"/>
              </a:ext>
            </a:extLst>
          </p:cNvPr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2026. 06. 19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3F70F93-076B-4BBC-B933-AC7768BB0AE5}"/>
              </a:ext>
            </a:extLst>
          </p:cNvPr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 dirty="0" err="1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JangHoon</a:t>
            </a:r>
            <a:r>
              <a:rPr lang="en-US" altLang="ko-KR" sz="18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 Chun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EB5E8A0-083F-4B6E-AA66-93BFFD6A8E1A}"/>
              </a:ext>
            </a:extLst>
          </p:cNvPr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Department of, Medical Device Engineering &amp; Management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 b="1" dirty="0">
              <a:solidFill>
                <a:srgbClr val="FFFF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="1" baseline="250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851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AA67D-2B66-3F85-5AE9-73AF22ED4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42438-A8A9-C072-F2AE-2206B24BF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What’s discussed in the last meetings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A4B13E-D4FF-F6EF-0421-904F6E47B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ko-KR" dirty="0"/>
              <a:t>AEC </a:t>
            </a:r>
            <a:r>
              <a:rPr lang="ko-KR" altLang="ko-KR" dirty="0" err="1"/>
              <a:t>Raw</a:t>
            </a:r>
            <a:r>
              <a:rPr lang="ko-KR" altLang="ko-KR" dirty="0"/>
              <a:t> Data 내 초반 갭 데이터(</a:t>
            </a:r>
            <a:r>
              <a:rPr lang="ko-KR" altLang="ko-KR" dirty="0" err="1"/>
              <a:t>slice</a:t>
            </a:r>
            <a:r>
              <a:rPr lang="ko-KR" altLang="ko-KR" dirty="0"/>
              <a:t> 수 / </a:t>
            </a:r>
            <a:r>
              <a:rPr lang="ko-KR" altLang="ko-KR" dirty="0" err="1"/>
              <a:t>z_range</a:t>
            </a:r>
            <a:r>
              <a:rPr lang="ko-KR" altLang="ko-KR" dirty="0"/>
              <a:t> 혼입) 제거 후 </a:t>
            </a:r>
            <a:r>
              <a:rPr lang="ko-KR" altLang="ko-KR" dirty="0" err="1"/>
              <a:t>재실험</a:t>
            </a:r>
            <a:endParaRPr lang="ko-KR" altLang="ko-KR" dirty="0"/>
          </a:p>
          <a:p>
            <a:r>
              <a:rPr lang="ko-KR" altLang="ko-KR" dirty="0"/>
              <a:t>AEC + </a:t>
            </a:r>
            <a:r>
              <a:rPr lang="ko-KR" altLang="ko-KR" dirty="0" err="1"/>
              <a:t>Clinic</a:t>
            </a:r>
            <a:r>
              <a:rPr lang="ko-KR" altLang="ko-KR" dirty="0"/>
              <a:t> 통합 모델(M2/M3): </a:t>
            </a:r>
            <a:r>
              <a:rPr lang="ko-KR" altLang="ko-KR" dirty="0" err="1"/>
              <a:t>Baseline</a:t>
            </a:r>
            <a:r>
              <a:rPr lang="ko-KR" altLang="ko-KR" dirty="0"/>
              <a:t>(M1, AUC 0.803)과 유사한 성능 달성</a:t>
            </a:r>
          </a:p>
          <a:p>
            <a:pPr lvl="1"/>
            <a:r>
              <a:rPr lang="ko-KR" altLang="ko-KR" dirty="0"/>
              <a:t>M2(</a:t>
            </a:r>
            <a:r>
              <a:rPr lang="ko-KR" altLang="ko-KR" dirty="0" err="1"/>
              <a:t>norm</a:t>
            </a:r>
            <a:r>
              <a:rPr lang="ko-KR" altLang="ko-KR" dirty="0"/>
              <a:t>) AUC 0.8118, M3(</a:t>
            </a:r>
            <a:r>
              <a:rPr lang="ko-KR" altLang="ko-KR" dirty="0" err="1"/>
              <a:t>norm</a:t>
            </a:r>
            <a:r>
              <a:rPr lang="ko-KR" altLang="ko-KR" dirty="0"/>
              <a:t>) AUC 0.8209 / 통계적 유의차 없음</a:t>
            </a:r>
          </a:p>
          <a:p>
            <a:r>
              <a:rPr lang="ko-KR" altLang="ko-KR" dirty="0"/>
              <a:t>AEC 단독 모델(M4): </a:t>
            </a:r>
            <a:r>
              <a:rPr lang="ko-KR" altLang="ko-KR" dirty="0" err="1"/>
              <a:t>Baseline</a:t>
            </a:r>
            <a:r>
              <a:rPr lang="ko-KR" altLang="ko-KR" dirty="0"/>
              <a:t> 대비 유의하게 낮음</a:t>
            </a:r>
          </a:p>
          <a:p>
            <a:pPr lvl="1"/>
            <a:r>
              <a:rPr lang="ko-KR" altLang="ko-KR" dirty="0" err="1"/>
              <a:t>raw</a:t>
            </a:r>
            <a:r>
              <a:rPr lang="ko-KR" altLang="ko-KR" dirty="0"/>
              <a:t> 5-fold 평균 AUC 0.679, </a:t>
            </a:r>
            <a:r>
              <a:rPr lang="ko-KR" altLang="ko-KR" dirty="0" err="1"/>
              <a:t>global_zscore</a:t>
            </a:r>
            <a:r>
              <a:rPr lang="ko-KR" altLang="ko-KR" dirty="0"/>
              <a:t> AUC 0.586 (M1 대비 </a:t>
            </a:r>
            <a:r>
              <a:rPr lang="ko-KR" altLang="ko-KR" dirty="0" err="1"/>
              <a:t>p</a:t>
            </a:r>
            <a:r>
              <a:rPr lang="ko-KR" altLang="ko-KR" dirty="0"/>
              <a:t>=0.002**)</a:t>
            </a:r>
          </a:p>
          <a:p>
            <a:r>
              <a:rPr lang="ko-KR" altLang="ko-KR" dirty="0"/>
              <a:t>AEC-</a:t>
            </a:r>
            <a:r>
              <a:rPr lang="ko-KR" altLang="ko-KR" dirty="0" err="1"/>
              <a:t>Clinic</a:t>
            </a:r>
            <a:r>
              <a:rPr lang="ko-KR" altLang="ko-KR" dirty="0"/>
              <a:t> 간 </a:t>
            </a:r>
            <a:r>
              <a:rPr lang="ko-KR" altLang="ko-KR" dirty="0" err="1"/>
              <a:t>Correlation</a:t>
            </a:r>
            <a:r>
              <a:rPr lang="ko-KR" altLang="ko-KR" dirty="0"/>
              <a:t> 자체는 높지 않으나, </a:t>
            </a:r>
            <a:r>
              <a:rPr lang="ko-KR" altLang="ko-KR" dirty="0" err="1"/>
              <a:t>Cross</a:t>
            </a:r>
            <a:r>
              <a:rPr lang="en-US" altLang="ko-KR" dirty="0"/>
              <a:t> </a:t>
            </a:r>
            <a:r>
              <a:rPr lang="ko-KR" altLang="ko-KR" dirty="0" err="1"/>
              <a:t>Attention이</a:t>
            </a:r>
            <a:r>
              <a:rPr lang="ko-KR" altLang="ko-KR" dirty="0"/>
              <a:t> 유용한 패턴 학습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3A8356-A9FE-00F5-FFBF-D1A2F9D6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1007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8CAC6-5AAE-071D-A20C-3363A9415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34E84-7F24-BDDE-EA03-702E9D9E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Research Summary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60B46D-A414-4C6A-6877-8F8F9387C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085DB8A-F2FD-AB70-F0B6-F5E8612C1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r>
              <a:rPr lang="en-US" altLang="ko-KR" dirty="0"/>
              <a:t>AEC Hand-Craft Feature 60</a:t>
            </a:r>
            <a:r>
              <a:rPr lang="ko-KR" altLang="en-US" dirty="0"/>
              <a:t>개 이상 추출</a:t>
            </a:r>
            <a:endParaRPr lang="en-US" altLang="ko-KR" dirty="0"/>
          </a:p>
          <a:p>
            <a:r>
              <a:rPr lang="en-US" altLang="ko-KR" dirty="0"/>
              <a:t>Gate Mechanism </a:t>
            </a:r>
            <a:r>
              <a:rPr lang="ko-KR" altLang="en-US" dirty="0"/>
              <a:t>구현</a:t>
            </a:r>
            <a:r>
              <a:rPr lang="en-US" altLang="ko-KR" dirty="0"/>
              <a:t> (AEC </a:t>
            </a:r>
            <a:r>
              <a:rPr lang="ko-KR" altLang="en-US" dirty="0"/>
              <a:t>기여도 모델이 자율 결정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성별 분리 분석 및 </a:t>
            </a:r>
            <a:r>
              <a:rPr lang="en-US" altLang="ko-KR" dirty="0"/>
              <a:t>AEC </a:t>
            </a:r>
            <a:r>
              <a:rPr lang="ko-KR" altLang="en-US" dirty="0"/>
              <a:t>기여도 비교</a:t>
            </a:r>
            <a:endParaRPr lang="en-US" altLang="ko-KR" dirty="0"/>
          </a:p>
          <a:p>
            <a:r>
              <a:rPr lang="en-US" altLang="ko-KR" dirty="0"/>
              <a:t>Grad-CAM Liver </a:t>
            </a:r>
            <a:r>
              <a:rPr lang="ko-KR" altLang="en-US" dirty="0"/>
              <a:t>영역</a:t>
            </a:r>
            <a:r>
              <a:rPr lang="en-US" altLang="ko-KR" dirty="0"/>
              <a:t>(</a:t>
            </a:r>
            <a:r>
              <a:rPr lang="ko-KR" altLang="en-US" dirty="0"/>
              <a:t>후반부</a:t>
            </a:r>
            <a:r>
              <a:rPr lang="en-US" altLang="ko-KR" dirty="0"/>
              <a:t>) </a:t>
            </a:r>
            <a:r>
              <a:rPr lang="ko-KR" altLang="en-US" dirty="0"/>
              <a:t>집중 </a:t>
            </a:r>
            <a:r>
              <a:rPr lang="ko-KR" altLang="en-US" dirty="0" err="1"/>
              <a:t>크롭</a:t>
            </a:r>
            <a:r>
              <a:rPr lang="ko-KR" altLang="en-US" dirty="0"/>
              <a:t> 실험</a:t>
            </a:r>
            <a:endParaRPr lang="en-US" altLang="ko-KR" dirty="0"/>
          </a:p>
          <a:p>
            <a:r>
              <a:rPr lang="en-US" altLang="ko-KR" dirty="0"/>
              <a:t>AEC </a:t>
            </a:r>
            <a:r>
              <a:rPr lang="ko-KR" altLang="en-US" dirty="0"/>
              <a:t>커브 임상 해석</a:t>
            </a:r>
            <a:r>
              <a:rPr lang="en-US" altLang="ko-KR" dirty="0"/>
              <a:t>: 80</a:t>
            </a:r>
            <a:r>
              <a:rPr lang="ko-KR" altLang="en-US" dirty="0"/>
              <a:t>번째 슬라이스 </a:t>
            </a:r>
            <a:r>
              <a:rPr lang="ko-KR" altLang="en-US" dirty="0" err="1"/>
              <a:t>크로싱</a:t>
            </a:r>
            <a:r>
              <a:rPr lang="ko-KR" altLang="en-US" dirty="0"/>
              <a:t> 패턴 분석 </a:t>
            </a:r>
            <a:r>
              <a:rPr lang="en-US" altLang="ko-KR" dirty="0"/>
              <a:t>(</a:t>
            </a:r>
            <a:r>
              <a:rPr lang="ko-KR" altLang="en-US" dirty="0"/>
              <a:t>여성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128×128 </a:t>
            </a:r>
            <a:r>
              <a:rPr lang="ko-KR" altLang="en-US" dirty="0"/>
              <a:t>입력 방식</a:t>
            </a:r>
            <a:r>
              <a:rPr lang="en-US" altLang="ko-KR" dirty="0"/>
              <a:t>(</a:t>
            </a:r>
            <a:r>
              <a:rPr lang="ko-KR" altLang="en-US" dirty="0"/>
              <a:t>슬라이스 간 전역 상관관계</a:t>
            </a:r>
            <a:r>
              <a:rPr lang="en-US" altLang="ko-KR" dirty="0"/>
              <a:t>) </a:t>
            </a:r>
            <a:r>
              <a:rPr lang="ko-KR" altLang="en-US" dirty="0"/>
              <a:t>가능성 검토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7966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3E8EB-44A8-9B8B-174A-3962F253A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F0124A-5343-36BE-672E-A92C53A96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Research Summary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A2BEED-1B8A-DF61-BF76-16AE6C14C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DA2049A3-DFCB-FE1C-BC13-A4487B143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r>
              <a:rPr lang="en-US" altLang="ko-KR" dirty="0"/>
              <a:t>Clinic Data </a:t>
            </a:r>
            <a:r>
              <a:rPr lang="ko-KR" altLang="en-US" dirty="0"/>
              <a:t>비교 </a:t>
            </a:r>
            <a:r>
              <a:rPr lang="en-US" altLang="ko-KR" dirty="0"/>
              <a:t>[Age, Sex, BMI] vs [Age, Sex, Height, Weight]</a:t>
            </a:r>
          </a:p>
          <a:p>
            <a:r>
              <a:rPr lang="en-US" altLang="ko-KR" dirty="0"/>
              <a:t>Multimodal (Clinic + AEC 128 points)</a:t>
            </a:r>
          </a:p>
          <a:p>
            <a:pPr lvl="1"/>
            <a:r>
              <a:rPr lang="en-US" altLang="ko-KR" dirty="0"/>
              <a:t>Cross-attention</a:t>
            </a:r>
          </a:p>
          <a:p>
            <a:pPr lvl="1"/>
            <a:r>
              <a:rPr lang="en-US" altLang="ko-KR" dirty="0"/>
              <a:t>Late Fusion</a:t>
            </a:r>
          </a:p>
          <a:p>
            <a:r>
              <a:rPr lang="en-US" altLang="ko-KR" dirty="0"/>
              <a:t>Multimodal (Clinic + AEC 8 segments)</a:t>
            </a:r>
          </a:p>
          <a:p>
            <a:pPr lvl="1"/>
            <a:r>
              <a:rPr lang="en-US" altLang="ko-KR" dirty="0"/>
              <a:t>Cross-attention</a:t>
            </a:r>
          </a:p>
          <a:p>
            <a:pPr lvl="1"/>
            <a:r>
              <a:rPr lang="en-US" altLang="ko-KR" dirty="0"/>
              <a:t>Late Fusion</a:t>
            </a:r>
          </a:p>
        </p:txBody>
      </p:sp>
    </p:spTree>
    <p:extLst>
      <p:ext uri="{BB962C8B-B14F-4D97-AF65-F5344CB8AC3E}">
        <p14:creationId xmlns:p14="http://schemas.microsoft.com/office/powerpoint/2010/main" val="3285509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BD1E8-D534-CE49-DFD3-D2FE42D1B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5" descr="data_distribution.png">
            <a:extLst>
              <a:ext uri="{FF2B5EF4-FFF2-40B4-BE49-F238E27FC236}">
                <a16:creationId xmlns:a16="http://schemas.microsoft.com/office/drawing/2014/main" id="{700220E8-AF5F-D6E7-2478-8DEA8399D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1439" y="1115896"/>
            <a:ext cx="7501961" cy="462620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483F42A-35E5-A8FF-2E40-C631DBE09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9A79AE-7650-605B-5F4B-381B499A5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91DACC3D-99F6-F254-DFFB-240AA72CA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4246880" cy="5063066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</a:pPr>
            <a:r>
              <a:rPr lang="ko-KR" altLang="en-US" sz="1250" dirty="0">
                <a:solidFill>
                  <a:srgbClr val="262626"/>
                </a:solidFill>
                <a:latin typeface="KoPub돋움체 Bold" panose="00000800000000000000" pitchFamily="2" charset="-127"/>
              </a:rPr>
              <a:t>데이터셋</a:t>
            </a:r>
          </a:p>
          <a:p>
            <a:pPr lvl="1">
              <a:spcBef>
                <a:spcPts val="200"/>
              </a:spcBef>
            </a:pPr>
            <a:r>
              <a:rPr lang="ko-KR" altLang="en-US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기관</a:t>
            </a:r>
            <a:r>
              <a:rPr lang="en-US" altLang="ko-KR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강남 병원 코호트</a:t>
            </a:r>
          </a:p>
          <a:p>
            <a:pPr lvl="1">
              <a:spcBef>
                <a:spcPts val="200"/>
              </a:spcBef>
            </a:pPr>
            <a:r>
              <a:rPr lang="ko-KR" altLang="en-US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전체 샘플</a:t>
            </a:r>
            <a:r>
              <a:rPr lang="en-US" altLang="ko-KR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n = 914</a:t>
            </a:r>
          </a:p>
          <a:p>
            <a:pPr lvl="1">
              <a:spcBef>
                <a:spcPts val="200"/>
              </a:spcBef>
            </a:pPr>
            <a:r>
              <a:rPr lang="ko-KR" altLang="en-US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분할</a:t>
            </a:r>
            <a:r>
              <a:rPr lang="en-US" altLang="ko-KR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Train 80% / Test 20% (Stratified)</a:t>
            </a:r>
          </a:p>
          <a:p>
            <a:pPr>
              <a:spcBef>
                <a:spcPts val="200"/>
              </a:spcBef>
            </a:pPr>
            <a:r>
              <a:rPr lang="ko-KR" altLang="en-US" sz="1250" dirty="0">
                <a:solidFill>
                  <a:srgbClr val="262626"/>
                </a:solidFill>
                <a:latin typeface="KoPub돋움체 Bold" panose="00000800000000000000" pitchFamily="2" charset="-127"/>
              </a:rPr>
              <a:t>레이블 기준 </a:t>
            </a:r>
            <a:r>
              <a:rPr lang="en-US" altLang="ko-KR" sz="1250" dirty="0">
                <a:solidFill>
                  <a:srgbClr val="262626"/>
                </a:solidFill>
                <a:latin typeface="KoPub돋움체 Bold" panose="00000800000000000000" pitchFamily="2" charset="-127"/>
              </a:rPr>
              <a:t>(SMI </a:t>
            </a:r>
            <a:r>
              <a:rPr lang="ko-KR" altLang="en-US" sz="1250" dirty="0" err="1">
                <a:solidFill>
                  <a:srgbClr val="262626"/>
                </a:solidFill>
                <a:latin typeface="KoPub돋움체 Bold" panose="00000800000000000000" pitchFamily="2" charset="-127"/>
              </a:rPr>
              <a:t>임계값</a:t>
            </a:r>
            <a:r>
              <a:rPr lang="en-US" altLang="ko-KR" sz="1250" dirty="0">
                <a:solidFill>
                  <a:srgbClr val="262626"/>
                </a:solidFill>
                <a:latin typeface="KoPub돋움체 Bold" panose="00000800000000000000" pitchFamily="2" charset="-127"/>
              </a:rPr>
              <a:t>)</a:t>
            </a:r>
          </a:p>
          <a:p>
            <a:pPr lvl="1">
              <a:spcBef>
                <a:spcPts val="200"/>
              </a:spcBef>
            </a:pPr>
            <a:r>
              <a:rPr lang="ko-KR" altLang="en-US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남성</a:t>
            </a:r>
            <a:r>
              <a:rPr lang="en-US" altLang="ko-KR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SMI &lt; 40.96 cm²/m² → </a:t>
            </a:r>
            <a:r>
              <a:rPr lang="ko-KR" altLang="en-US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근감소증</a:t>
            </a:r>
          </a:p>
          <a:p>
            <a:pPr lvl="1">
              <a:spcBef>
                <a:spcPts val="200"/>
              </a:spcBef>
            </a:pPr>
            <a:r>
              <a:rPr lang="ko-KR" altLang="en-US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여성</a:t>
            </a:r>
            <a:r>
              <a:rPr lang="en-US" altLang="ko-KR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SMI &lt; 30.6 cm²/m²  → </a:t>
            </a:r>
            <a:r>
              <a:rPr lang="ko-KR" altLang="en-US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근감소증</a:t>
            </a:r>
          </a:p>
          <a:p>
            <a:pPr>
              <a:spcBef>
                <a:spcPts val="200"/>
              </a:spcBef>
            </a:pPr>
            <a:r>
              <a:rPr lang="ko-KR" altLang="en-US" sz="1250" dirty="0">
                <a:solidFill>
                  <a:srgbClr val="262626"/>
                </a:solidFill>
                <a:latin typeface="KoPub돋움체 Bold" panose="00000800000000000000" pitchFamily="2" charset="-127"/>
              </a:rPr>
              <a:t>교차검증</a:t>
            </a:r>
          </a:p>
          <a:p>
            <a:pPr lvl="1">
              <a:spcBef>
                <a:spcPts val="200"/>
              </a:spcBef>
            </a:pPr>
            <a:r>
              <a:rPr lang="en-US" altLang="ko-KR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5-Fold CV (Stratified)</a:t>
            </a:r>
          </a:p>
          <a:p>
            <a:pPr lvl="1">
              <a:spcBef>
                <a:spcPts val="200"/>
              </a:spcBef>
            </a:pPr>
            <a:r>
              <a:rPr lang="en-US" altLang="ko-KR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Fold</a:t>
            </a:r>
            <a:r>
              <a:rPr lang="ko-KR" altLang="en-US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별 최적 </a:t>
            </a:r>
            <a:r>
              <a:rPr lang="ko-KR" altLang="en-US" sz="1250" dirty="0" err="1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임계값</a:t>
            </a:r>
            <a:r>
              <a:rPr lang="ko-KR" altLang="en-US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→ 중앙값으로 </a:t>
            </a:r>
            <a:r>
              <a:rPr lang="en-US" altLang="ko-KR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Test </a:t>
            </a:r>
            <a:r>
              <a:rPr lang="ko-KR" altLang="en-US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평가</a:t>
            </a:r>
          </a:p>
          <a:p>
            <a:pPr>
              <a:spcBef>
                <a:spcPts val="200"/>
              </a:spcBef>
            </a:pPr>
            <a:r>
              <a:rPr lang="en-US" altLang="ko-KR" sz="1250" dirty="0">
                <a:solidFill>
                  <a:srgbClr val="262626"/>
                </a:solidFill>
                <a:latin typeface="KoPub돋움체 Bold" panose="00000800000000000000" pitchFamily="2" charset="-127"/>
              </a:rPr>
              <a:t>AEC </a:t>
            </a:r>
            <a:r>
              <a:rPr lang="ko-KR" altLang="en-US" sz="1250" dirty="0">
                <a:solidFill>
                  <a:srgbClr val="262626"/>
                </a:solidFill>
                <a:latin typeface="KoPub돋움체 Bold" panose="00000800000000000000" pitchFamily="2" charset="-127"/>
              </a:rPr>
              <a:t>피처 구성</a:t>
            </a:r>
          </a:p>
          <a:p>
            <a:pPr lvl="1">
              <a:spcBef>
                <a:spcPts val="200"/>
              </a:spcBef>
            </a:pPr>
            <a:r>
              <a:rPr lang="en-US" altLang="ko-KR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128-dim: z</a:t>
            </a:r>
            <a:r>
              <a:rPr lang="ko-KR" altLang="en-US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축 </a:t>
            </a:r>
            <a:r>
              <a:rPr lang="en-US" altLang="ko-KR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128 </a:t>
            </a:r>
            <a:r>
              <a:rPr lang="ko-KR" altLang="en-US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포인트 신호 → </a:t>
            </a:r>
            <a:r>
              <a:rPr lang="en-US" altLang="ko-KR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ResNet1D</a:t>
            </a:r>
          </a:p>
          <a:p>
            <a:pPr lvl="1">
              <a:spcBef>
                <a:spcPts val="200"/>
              </a:spcBef>
            </a:pPr>
            <a:r>
              <a:rPr lang="en-US" altLang="ko-KR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Segment-8: 8</a:t>
            </a:r>
            <a:r>
              <a:rPr lang="ko-KR" altLang="en-US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구간</a:t>
            </a:r>
            <a:r>
              <a:rPr lang="en-US" altLang="ko-KR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×4</a:t>
            </a:r>
            <a:r>
              <a:rPr lang="ko-KR" altLang="en-US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통계량</a:t>
            </a:r>
            <a:r>
              <a:rPr lang="en-US" altLang="ko-KR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+</a:t>
            </a:r>
            <a:r>
              <a:rPr lang="ko-KR" altLang="en-US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인접차이 </a:t>
            </a:r>
            <a:r>
              <a:rPr lang="en-US" altLang="ko-KR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= 60-dim</a:t>
            </a:r>
          </a:p>
          <a:p>
            <a:pPr lvl="1">
              <a:spcBef>
                <a:spcPts val="200"/>
              </a:spcBef>
            </a:pPr>
            <a:r>
              <a:rPr lang="en-US" altLang="ko-KR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Clinic: Age, Sex, BMI (3</a:t>
            </a:r>
            <a:r>
              <a:rPr lang="ko-KR" altLang="en-US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 변수</a:t>
            </a:r>
            <a:r>
              <a:rPr lang="en-US" altLang="ko-KR" sz="1250" dirty="0">
                <a:solidFill>
                  <a:srgbClr val="262626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62864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1246B-7B3A-6637-75D4-E04E27FFF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6DD12A-02D4-8CF4-8AAD-6382F7E14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353F50-9466-97CC-9C64-4AD1A195E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90E643-1556-6C8D-F550-A500B8B10848}"/>
              </a:ext>
            </a:extLst>
          </p:cNvPr>
          <p:cNvSpPr/>
          <p:nvPr/>
        </p:nvSpPr>
        <p:spPr>
          <a:xfrm>
            <a:off x="457200" y="996696"/>
            <a:ext cx="3749039" cy="25146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26E9CBE-F320-7E31-37CF-FA65AFE7A77D}"/>
              </a:ext>
            </a:extLst>
          </p:cNvPr>
          <p:cNvSpPr/>
          <p:nvPr/>
        </p:nvSpPr>
        <p:spPr>
          <a:xfrm>
            <a:off x="457200" y="996696"/>
            <a:ext cx="3749039" cy="347472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B1D0D8-DD8E-3CBA-3D7B-C75905367B1E}"/>
              </a:ext>
            </a:extLst>
          </p:cNvPr>
          <p:cNvSpPr txBox="1"/>
          <p:nvPr/>
        </p:nvSpPr>
        <p:spPr>
          <a:xfrm>
            <a:off x="548640" y="1042416"/>
            <a:ext cx="1005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M1 Baseline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C603C2-CF48-3E51-4653-45D306132CBD}"/>
              </a:ext>
            </a:extLst>
          </p:cNvPr>
          <p:cNvSpPr txBox="1"/>
          <p:nvPr/>
        </p:nvSpPr>
        <p:spPr>
          <a:xfrm>
            <a:off x="1645920" y="1033272"/>
            <a:ext cx="24688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맑은 고딕"/>
              </a:rPr>
              <a:t>Clinic Only LR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88BE1-D9BB-A09F-DB19-AFA747E380FD}"/>
              </a:ext>
            </a:extLst>
          </p:cNvPr>
          <p:cNvSpPr txBox="1"/>
          <p:nvPr/>
        </p:nvSpPr>
        <p:spPr>
          <a:xfrm>
            <a:off x="594360" y="1408176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맑은 고딕"/>
              </a:rPr>
              <a:t>입력: Age, Sex, BMI (3-dim)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9E88D2-97F6-205C-BF39-C31D67ECDCAD}"/>
              </a:ext>
            </a:extLst>
          </p:cNvPr>
          <p:cNvSpPr txBox="1"/>
          <p:nvPr/>
        </p:nvSpPr>
        <p:spPr>
          <a:xfrm>
            <a:off x="594360" y="1755648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맑은 고딕"/>
              </a:rPr>
              <a:t>모델: Logistic Regression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50AE94-C513-AD38-139E-3FC15FDE44A9}"/>
              </a:ext>
            </a:extLst>
          </p:cNvPr>
          <p:cNvSpPr txBox="1"/>
          <p:nvPr/>
        </p:nvSpPr>
        <p:spPr>
          <a:xfrm>
            <a:off x="594360" y="2103120"/>
            <a:ext cx="35204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262626"/>
                </a:solidFill>
                <a:latin typeface="맑은 고딕"/>
              </a:rPr>
              <a:t>정규화</a:t>
            </a:r>
            <a:r>
              <a:rPr sz="1200" b="0" dirty="0">
                <a:solidFill>
                  <a:srgbClr val="262626"/>
                </a:solidFill>
                <a:latin typeface="맑은 고딕"/>
              </a:rPr>
              <a:t>: </a:t>
            </a:r>
            <a:r>
              <a:rPr sz="1200" b="0" dirty="0" err="1">
                <a:solidFill>
                  <a:srgbClr val="262626"/>
                </a:solidFill>
                <a:latin typeface="맑은 고딕"/>
              </a:rPr>
              <a:t>StandardScaler</a:t>
            </a:r>
            <a:r>
              <a:rPr lang="en-US" sz="1200" b="0" dirty="0">
                <a:solidFill>
                  <a:srgbClr val="262626"/>
                </a:solidFill>
                <a:latin typeface="맑은 고딕"/>
              </a:rPr>
              <a:t> (Age, BMI)</a:t>
            </a:r>
            <a:endParaRPr sz="1200" b="0" dirty="0">
              <a:solidFill>
                <a:srgbClr val="262626"/>
              </a:solidFill>
              <a:latin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30B725-8AEE-2E46-7757-25B237E7DE5F}"/>
              </a:ext>
            </a:extLst>
          </p:cNvPr>
          <p:cNvSpPr txBox="1"/>
          <p:nvPr/>
        </p:nvSpPr>
        <p:spPr>
          <a:xfrm>
            <a:off x="594360" y="2450592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맑은 고딕"/>
              </a:rPr>
              <a:t>임계값: 5-Fold CV 중앙값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7A6CD4-52FC-23C3-2FE7-6FB0B856A5B9}"/>
              </a:ext>
            </a:extLst>
          </p:cNvPr>
          <p:cNvSpPr txBox="1"/>
          <p:nvPr/>
        </p:nvSpPr>
        <p:spPr>
          <a:xfrm>
            <a:off x="594360" y="2798064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맑은 고딕"/>
              </a:rPr>
              <a:t>✓ 임상 변수만 사용하는 기준 모델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0AA3900C-BE7A-165B-7CFD-35C1E8EFC6D7}"/>
              </a:ext>
            </a:extLst>
          </p:cNvPr>
          <p:cNvSpPr/>
          <p:nvPr/>
        </p:nvSpPr>
        <p:spPr>
          <a:xfrm>
            <a:off x="4389119" y="996696"/>
            <a:ext cx="3749039" cy="25146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3E5177EA-09C2-606F-9357-C3DBF4D80780}"/>
              </a:ext>
            </a:extLst>
          </p:cNvPr>
          <p:cNvSpPr/>
          <p:nvPr/>
        </p:nvSpPr>
        <p:spPr>
          <a:xfrm>
            <a:off x="4389119" y="996696"/>
            <a:ext cx="3749039" cy="347472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85A014-BF14-7967-73B1-F721280310AF}"/>
              </a:ext>
            </a:extLst>
          </p:cNvPr>
          <p:cNvSpPr txBox="1"/>
          <p:nvPr/>
        </p:nvSpPr>
        <p:spPr>
          <a:xfrm>
            <a:off x="4480559" y="10424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FFFFF"/>
                </a:solidFill>
                <a:latin typeface="맑은 고딕"/>
              </a:rPr>
              <a:t>M1b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FF6B73-CB93-4E18-45C3-19C8599BC1BB}"/>
              </a:ext>
            </a:extLst>
          </p:cNvPr>
          <p:cNvSpPr txBox="1"/>
          <p:nvPr/>
        </p:nvSpPr>
        <p:spPr>
          <a:xfrm>
            <a:off x="5212079" y="1033272"/>
            <a:ext cx="2834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Clinic + H/W LR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23C19B-B427-84DD-2159-3D1A228873D6}"/>
              </a:ext>
            </a:extLst>
          </p:cNvPr>
          <p:cNvSpPr txBox="1"/>
          <p:nvPr/>
        </p:nvSpPr>
        <p:spPr>
          <a:xfrm>
            <a:off x="4526279" y="1408176"/>
            <a:ext cx="35204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 err="1">
                <a:solidFill>
                  <a:srgbClr val="262626"/>
                </a:solidFill>
                <a:latin typeface="맑은 고딕"/>
              </a:rPr>
              <a:t>입력</a:t>
            </a:r>
            <a:r>
              <a:rPr sz="1300" b="0" dirty="0">
                <a:solidFill>
                  <a:srgbClr val="262626"/>
                </a:solidFill>
                <a:latin typeface="맑은 고딕"/>
              </a:rPr>
              <a:t>: Age, Sex, Height, Weight</a:t>
            </a:r>
            <a:r>
              <a:rPr lang="en-US" sz="1300" b="0" dirty="0">
                <a:solidFill>
                  <a:srgbClr val="262626"/>
                </a:solidFill>
                <a:latin typeface="맑은 고딕"/>
              </a:rPr>
              <a:t> (4-dim)</a:t>
            </a:r>
            <a:endParaRPr sz="1300" b="0" dirty="0">
              <a:solidFill>
                <a:srgbClr val="262626"/>
              </a:solidFill>
              <a:latin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D893AE-AFA5-88A4-AC91-C73DC2BB3F29}"/>
              </a:ext>
            </a:extLst>
          </p:cNvPr>
          <p:cNvSpPr txBox="1"/>
          <p:nvPr/>
        </p:nvSpPr>
        <p:spPr>
          <a:xfrm>
            <a:off x="4526279" y="1755648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맑은 고딕"/>
              </a:rPr>
              <a:t>모델: Logistic Regression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16F9CE-DCA1-C538-F7CE-7E1E04948AA4}"/>
              </a:ext>
            </a:extLst>
          </p:cNvPr>
          <p:cNvSpPr txBox="1"/>
          <p:nvPr/>
        </p:nvSpPr>
        <p:spPr>
          <a:xfrm>
            <a:off x="4526279" y="2103120"/>
            <a:ext cx="35204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262626"/>
                </a:solidFill>
                <a:latin typeface="맑은 고딕"/>
              </a:rPr>
              <a:t>정규화</a:t>
            </a:r>
            <a:r>
              <a:rPr sz="1200" b="0" dirty="0">
                <a:solidFill>
                  <a:srgbClr val="262626"/>
                </a:solidFill>
                <a:latin typeface="맑은 고딕"/>
              </a:rPr>
              <a:t>: </a:t>
            </a:r>
            <a:r>
              <a:rPr sz="1200" b="0" dirty="0" err="1">
                <a:solidFill>
                  <a:srgbClr val="262626"/>
                </a:solidFill>
                <a:latin typeface="맑은 고딕"/>
              </a:rPr>
              <a:t>StandardScaler</a:t>
            </a:r>
            <a:r>
              <a:rPr lang="en-US" sz="120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lang="en-US" altLang="ko-KR" sz="1200" dirty="0">
                <a:solidFill>
                  <a:srgbClr val="262626"/>
                </a:solidFill>
              </a:rPr>
              <a:t>(Age, Height, Weight)</a:t>
            </a:r>
            <a:endParaRPr sz="1200" b="0" dirty="0">
              <a:solidFill>
                <a:srgbClr val="262626"/>
              </a:solidFill>
              <a:latin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10B55E-DC59-88BC-481D-B2168CA55942}"/>
              </a:ext>
            </a:extLst>
          </p:cNvPr>
          <p:cNvSpPr txBox="1"/>
          <p:nvPr/>
        </p:nvSpPr>
        <p:spPr>
          <a:xfrm>
            <a:off x="4526279" y="2450592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맑은 고딕"/>
              </a:rPr>
              <a:t>임계값: 5-Fold CV 중앙값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B97E20-BAA5-9C44-D5B7-707594A3BC65}"/>
              </a:ext>
            </a:extLst>
          </p:cNvPr>
          <p:cNvSpPr txBox="1"/>
          <p:nvPr/>
        </p:nvSpPr>
        <p:spPr>
          <a:xfrm>
            <a:off x="4526279" y="2798064"/>
            <a:ext cx="35204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262626"/>
                </a:solidFill>
                <a:latin typeface="맑은 고딕"/>
              </a:rPr>
              <a:t>✓ </a:t>
            </a:r>
            <a:r>
              <a:rPr lang="en-US" sz="1100" dirty="0">
                <a:solidFill>
                  <a:srgbClr val="262626"/>
                </a:solidFill>
                <a:latin typeface="맑은 고딕"/>
              </a:rPr>
              <a:t>BMI</a:t>
            </a:r>
            <a:r>
              <a:rPr lang="ko-KR" altLang="en-US" sz="1100" dirty="0">
                <a:solidFill>
                  <a:srgbClr val="262626"/>
                </a:solidFill>
                <a:latin typeface="맑은 고딕"/>
              </a:rPr>
              <a:t> → </a:t>
            </a:r>
            <a:r>
              <a:rPr sz="1100" b="0" dirty="0">
                <a:solidFill>
                  <a:srgbClr val="262626"/>
                </a:solidFill>
                <a:latin typeface="맑은 고딕"/>
              </a:rPr>
              <a:t>키</a:t>
            </a:r>
            <a:r>
              <a:rPr lang="en-US" sz="110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100" b="0" dirty="0">
                <a:solidFill>
                  <a:srgbClr val="262626"/>
                </a:solidFill>
                <a:latin typeface="맑은 고딕"/>
              </a:rPr>
              <a:t>·</a:t>
            </a:r>
            <a:r>
              <a:rPr lang="en-US" sz="1100" b="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262626"/>
                </a:solidFill>
                <a:latin typeface="맑은 고딕"/>
              </a:rPr>
              <a:t>몸무게</a:t>
            </a:r>
            <a:endParaRPr sz="1100" b="0" dirty="0">
              <a:solidFill>
                <a:srgbClr val="262626"/>
              </a:solidFill>
              <a:latin typeface="맑은 고딕"/>
            </a:endParaRPr>
          </a:p>
        </p:txBody>
      </p:sp>
      <p:sp>
        <p:nvSpPr>
          <p:cNvPr id="23" name="Rectangle 20">
            <a:extLst>
              <a:ext uri="{FF2B5EF4-FFF2-40B4-BE49-F238E27FC236}">
                <a16:creationId xmlns:a16="http://schemas.microsoft.com/office/drawing/2014/main" id="{714EEDB2-2EA5-6771-FF06-DAD7340237CE}"/>
              </a:ext>
            </a:extLst>
          </p:cNvPr>
          <p:cNvSpPr/>
          <p:nvPr/>
        </p:nvSpPr>
        <p:spPr>
          <a:xfrm>
            <a:off x="457200" y="3694176"/>
            <a:ext cx="3749039" cy="2514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1">
            <a:extLst>
              <a:ext uri="{FF2B5EF4-FFF2-40B4-BE49-F238E27FC236}">
                <a16:creationId xmlns:a16="http://schemas.microsoft.com/office/drawing/2014/main" id="{8B2F0F9C-6178-F69D-2A58-75EFC368A56D}"/>
              </a:ext>
            </a:extLst>
          </p:cNvPr>
          <p:cNvSpPr/>
          <p:nvPr/>
        </p:nvSpPr>
        <p:spPr>
          <a:xfrm>
            <a:off x="457200" y="3694176"/>
            <a:ext cx="3749039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9C5DF8-75E0-1E2A-1F0C-2708DC66E52E}"/>
              </a:ext>
            </a:extLst>
          </p:cNvPr>
          <p:cNvSpPr txBox="1"/>
          <p:nvPr/>
        </p:nvSpPr>
        <p:spPr>
          <a:xfrm>
            <a:off x="548640" y="3739896"/>
            <a:ext cx="1005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M2 ResNet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D4EF89-3A8A-8944-3249-5D92793DD95F}"/>
              </a:ext>
            </a:extLst>
          </p:cNvPr>
          <p:cNvSpPr txBox="1"/>
          <p:nvPr/>
        </p:nvSpPr>
        <p:spPr>
          <a:xfrm>
            <a:off x="1554480" y="3730752"/>
            <a:ext cx="25603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맑은 고딕"/>
              </a:rPr>
              <a:t>AEC 128-dim + Clinic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832C91-0C88-CC15-4DB9-5B5DBBC467E5}"/>
              </a:ext>
            </a:extLst>
          </p:cNvPr>
          <p:cNvSpPr txBox="1"/>
          <p:nvPr/>
        </p:nvSpPr>
        <p:spPr>
          <a:xfrm>
            <a:off x="594360" y="4105656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맑은 고딕"/>
              </a:rPr>
              <a:t>AEC: 128-dim → ResNet1D → 16-dim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E0A344-78BC-BDCD-C670-7857548EB42D}"/>
              </a:ext>
            </a:extLst>
          </p:cNvPr>
          <p:cNvSpPr txBox="1"/>
          <p:nvPr/>
        </p:nvSpPr>
        <p:spPr>
          <a:xfrm>
            <a:off x="594360" y="4453128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맑은 고딕"/>
              </a:rPr>
              <a:t>  Conv1D Stem + 3×ResBlock + DualPool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098CD3-64BF-14F4-F3B3-945D7AFCC998}"/>
              </a:ext>
            </a:extLst>
          </p:cNvPr>
          <p:cNvSpPr txBox="1"/>
          <p:nvPr/>
        </p:nvSpPr>
        <p:spPr>
          <a:xfrm>
            <a:off x="594360" y="4800600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맑은 고딕"/>
              </a:rPr>
              <a:t>Clinic: 3-dim → MLP → 8-dim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2B293F-5588-D0AF-0C67-1955C4A3F039}"/>
              </a:ext>
            </a:extLst>
          </p:cNvPr>
          <p:cNvSpPr txBox="1"/>
          <p:nvPr/>
        </p:nvSpPr>
        <p:spPr>
          <a:xfrm>
            <a:off x="594360" y="5148072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맑은 고딕"/>
              </a:rPr>
              <a:t>Fusion: concat → BN → ReLU → MLP → logit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89BE60-DB3D-47B2-E758-D45E77ACC522}"/>
              </a:ext>
            </a:extLst>
          </p:cNvPr>
          <p:cNvSpPr txBox="1"/>
          <p:nvPr/>
        </p:nvSpPr>
        <p:spPr>
          <a:xfrm>
            <a:off x="594360" y="5495544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맑은 고딕"/>
              </a:rPr>
              <a:t>정규화: global / rowwise / raw 비교</a:t>
            </a:r>
          </a:p>
        </p:txBody>
      </p:sp>
      <p:sp>
        <p:nvSpPr>
          <p:cNvPr id="32" name="Rectangle 29">
            <a:extLst>
              <a:ext uri="{FF2B5EF4-FFF2-40B4-BE49-F238E27FC236}">
                <a16:creationId xmlns:a16="http://schemas.microsoft.com/office/drawing/2014/main" id="{5DCE427C-83DA-819F-E8E6-7A34D3F8B4DF}"/>
              </a:ext>
            </a:extLst>
          </p:cNvPr>
          <p:cNvSpPr/>
          <p:nvPr/>
        </p:nvSpPr>
        <p:spPr>
          <a:xfrm>
            <a:off x="4389119" y="3694176"/>
            <a:ext cx="3749039" cy="2514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0">
            <a:extLst>
              <a:ext uri="{FF2B5EF4-FFF2-40B4-BE49-F238E27FC236}">
                <a16:creationId xmlns:a16="http://schemas.microsoft.com/office/drawing/2014/main" id="{5140736C-C3E4-D47B-9559-63D145A8B17D}"/>
              </a:ext>
            </a:extLst>
          </p:cNvPr>
          <p:cNvSpPr/>
          <p:nvPr/>
        </p:nvSpPr>
        <p:spPr>
          <a:xfrm>
            <a:off x="4389119" y="3694176"/>
            <a:ext cx="3749039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11BCDF-68EF-21B1-0E96-10334201CB8A}"/>
              </a:ext>
            </a:extLst>
          </p:cNvPr>
          <p:cNvSpPr txBox="1"/>
          <p:nvPr/>
        </p:nvSpPr>
        <p:spPr>
          <a:xfrm>
            <a:off x="4480559" y="3739896"/>
            <a:ext cx="822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FFFFF"/>
                </a:solidFill>
                <a:latin typeface="맑은 고딕"/>
              </a:rPr>
              <a:t>M3 MLP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AD9A18-6ACB-7CF2-EF6C-D360D5BAC339}"/>
              </a:ext>
            </a:extLst>
          </p:cNvPr>
          <p:cNvSpPr txBox="1"/>
          <p:nvPr/>
        </p:nvSpPr>
        <p:spPr>
          <a:xfrm>
            <a:off x="5394959" y="3730752"/>
            <a:ext cx="26517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맑은 고딕"/>
              </a:rPr>
              <a:t>AEC Segment + Clinic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13CACB-52FE-E795-35C7-25BBB43879F8}"/>
              </a:ext>
            </a:extLst>
          </p:cNvPr>
          <p:cNvSpPr txBox="1"/>
          <p:nvPr/>
        </p:nvSpPr>
        <p:spPr>
          <a:xfrm>
            <a:off x="4526279" y="4105656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맑은 고딕"/>
              </a:rPr>
              <a:t>AEC: 60-dim → MLP → 16-dim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D09E8A-F745-2E80-D521-234FF79D30F1}"/>
              </a:ext>
            </a:extLst>
          </p:cNvPr>
          <p:cNvSpPr txBox="1"/>
          <p:nvPr/>
        </p:nvSpPr>
        <p:spPr>
          <a:xfrm>
            <a:off x="4526279" y="4453128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맑은 고딕"/>
              </a:rPr>
              <a:t>  (8구간 × 4통계량 + 인접차이)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7AFADB-72FD-0A33-C532-3A818B026D52}"/>
              </a:ext>
            </a:extLst>
          </p:cNvPr>
          <p:cNvSpPr txBox="1"/>
          <p:nvPr/>
        </p:nvSpPr>
        <p:spPr>
          <a:xfrm>
            <a:off x="4526279" y="4800600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62626"/>
                </a:solidFill>
                <a:latin typeface="맑은 고딕"/>
              </a:rPr>
              <a:t>Clinic: 3-dim → MLP → 8-dim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8CB80E-5199-13A7-3CF7-DBF8F9AF646E}"/>
              </a:ext>
            </a:extLst>
          </p:cNvPr>
          <p:cNvSpPr txBox="1"/>
          <p:nvPr/>
        </p:nvSpPr>
        <p:spPr>
          <a:xfrm>
            <a:off x="4526279" y="5148072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62626"/>
                </a:solidFill>
                <a:latin typeface="맑은 고딕"/>
              </a:rPr>
              <a:t>Fusion: concat → BN → ReLU → MLP → logit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337DF6-30F5-00A3-1AD1-BDEE28896B90}"/>
              </a:ext>
            </a:extLst>
          </p:cNvPr>
          <p:cNvSpPr txBox="1"/>
          <p:nvPr/>
        </p:nvSpPr>
        <p:spPr>
          <a:xfrm>
            <a:off x="4526279" y="5495544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맑은 고딕"/>
              </a:rPr>
              <a:t>정규화: global / rowwise / raw 비교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6AF4507-AD93-2BBC-2393-AA986A408DF9}"/>
              </a:ext>
            </a:extLst>
          </p:cNvPr>
          <p:cNvGrpSpPr/>
          <p:nvPr/>
        </p:nvGrpSpPr>
        <p:grpSpPr>
          <a:xfrm>
            <a:off x="8275318" y="996696"/>
            <a:ext cx="3596642" cy="5212080"/>
            <a:chOff x="8595358" y="996696"/>
            <a:chExt cx="4114800" cy="5303520"/>
          </a:xfrm>
        </p:grpSpPr>
        <p:sp>
          <p:nvSpPr>
            <p:cNvPr id="41" name="Rectangle 38">
              <a:extLst>
                <a:ext uri="{FF2B5EF4-FFF2-40B4-BE49-F238E27FC236}">
                  <a16:creationId xmlns:a16="http://schemas.microsoft.com/office/drawing/2014/main" id="{0ADF1A48-5423-4B9F-FDFA-67AC266B8543}"/>
                </a:ext>
              </a:extLst>
            </p:cNvPr>
            <p:cNvSpPr/>
            <p:nvPr/>
          </p:nvSpPr>
          <p:spPr>
            <a:xfrm>
              <a:off x="8595358" y="996696"/>
              <a:ext cx="4114800" cy="5303520"/>
            </a:xfrm>
            <a:prstGeom prst="rect">
              <a:avLst/>
            </a:prstGeom>
            <a:solidFill>
              <a:srgbClr val="EAF3FB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D8A1AD4-46BB-4743-D52C-29AF66790BA0}"/>
                </a:ext>
              </a:extLst>
            </p:cNvPr>
            <p:cNvSpPr txBox="1"/>
            <p:nvPr/>
          </p:nvSpPr>
          <p:spPr>
            <a:xfrm>
              <a:off x="8778238" y="1133856"/>
              <a:ext cx="3749039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solidFill>
                    <a:srgbClr val="1F3864"/>
                  </a:solidFill>
                  <a:latin typeface="맑은 고딕"/>
                </a:rPr>
                <a:t>AEC 정규화 방식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74CDA34-545D-73C0-E212-ED85513F031D}"/>
                </a:ext>
              </a:extLst>
            </p:cNvPr>
            <p:cNvSpPr txBox="1"/>
            <p:nvPr/>
          </p:nvSpPr>
          <p:spPr>
            <a:xfrm>
              <a:off x="8778238" y="1591056"/>
              <a:ext cx="3749039" cy="228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200"/>
                </a:spcBef>
              </a:pPr>
              <a:r>
                <a:rPr sz="1200">
                  <a:solidFill>
                    <a:srgbClr val="262626"/>
                  </a:solidFill>
                  <a:latin typeface="맑은 고딕"/>
                </a:rPr>
                <a:t>• global</a:t>
              </a:r>
            </a:p>
            <a:p>
              <a:pPr lvl="1">
                <a:spcBef>
                  <a:spcPts val="200"/>
                </a:spcBef>
              </a:pPr>
              <a:r>
                <a:rPr sz="1200">
                  <a:solidFill>
                    <a:srgbClr val="262626"/>
                  </a:solidFill>
                  <a:latin typeface="맑은 고딕"/>
                </a:rPr>
                <a:t>전체 Train set 평균·표준편차로 정규화</a:t>
              </a:r>
            </a:p>
            <a:p>
              <a:pPr>
                <a:spcBef>
                  <a:spcPts val="200"/>
                </a:spcBef>
              </a:pPr>
              <a:r>
                <a:rPr sz="1200">
                  <a:solidFill>
                    <a:srgbClr val="262626"/>
                  </a:solidFill>
                  <a:latin typeface="맑은 고딕"/>
                </a:rPr>
                <a:t>• rowwise</a:t>
              </a:r>
            </a:p>
            <a:p>
              <a:pPr lvl="1">
                <a:spcBef>
                  <a:spcPts val="200"/>
                </a:spcBef>
              </a:pPr>
              <a:r>
                <a:rPr sz="1200">
                  <a:solidFill>
                    <a:srgbClr val="262626"/>
                  </a:solidFill>
                  <a:latin typeface="맑은 고딕"/>
                </a:rPr>
                <a:t>환자별 AEC 신호 내부 정규화</a:t>
              </a:r>
            </a:p>
            <a:p>
              <a:pPr>
                <a:spcBef>
                  <a:spcPts val="200"/>
                </a:spcBef>
              </a:pPr>
              <a:r>
                <a:rPr sz="1200">
                  <a:solidFill>
                    <a:srgbClr val="262626"/>
                  </a:solidFill>
                  <a:latin typeface="맑은 고딕"/>
                </a:rPr>
                <a:t>• raw</a:t>
              </a:r>
            </a:p>
            <a:p>
              <a:pPr lvl="1">
                <a:spcBef>
                  <a:spcPts val="200"/>
                </a:spcBef>
              </a:pPr>
              <a:r>
                <a:rPr sz="1200">
                  <a:solidFill>
                    <a:srgbClr val="262626"/>
                  </a:solidFill>
                  <a:latin typeface="맑은 고딕"/>
                </a:rPr>
                <a:t>정규화 없이 원시 AEC 값 사용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6993B85-4F40-50CA-988C-73F7823F666F}"/>
                </a:ext>
              </a:extLst>
            </p:cNvPr>
            <p:cNvSpPr txBox="1"/>
            <p:nvPr/>
          </p:nvSpPr>
          <p:spPr>
            <a:xfrm>
              <a:off x="8778238" y="4014216"/>
              <a:ext cx="3749039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solidFill>
                    <a:srgbClr val="1F3864"/>
                  </a:solidFill>
                  <a:latin typeface="맑은 고딕"/>
                </a:rPr>
                <a:t>학습 설정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A88AA34-EC71-3341-2531-09F28DD5418F}"/>
                </a:ext>
              </a:extLst>
            </p:cNvPr>
            <p:cNvSpPr txBox="1"/>
            <p:nvPr/>
          </p:nvSpPr>
          <p:spPr>
            <a:xfrm>
              <a:off x="8778238" y="4425696"/>
              <a:ext cx="3749039" cy="1645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200"/>
                </a:spcBef>
              </a:pPr>
              <a:r>
                <a:rPr sz="1200">
                  <a:solidFill>
                    <a:srgbClr val="262626"/>
                  </a:solidFill>
                  <a:latin typeface="맑은 고딕"/>
                </a:rPr>
                <a:t>• Epochs: 100, LR: 1e-3, BS: 32</a:t>
              </a:r>
            </a:p>
            <a:p>
              <a:pPr>
                <a:spcBef>
                  <a:spcPts val="200"/>
                </a:spcBef>
              </a:pPr>
              <a:r>
                <a:rPr sz="1200">
                  <a:solidFill>
                    <a:srgbClr val="262626"/>
                  </a:solidFill>
                  <a:latin typeface="맑은 고딕"/>
                </a:rPr>
                <a:t>• Patience (EarlyStopping): 15</a:t>
              </a:r>
            </a:p>
            <a:p>
              <a:pPr>
                <a:spcBef>
                  <a:spcPts val="200"/>
                </a:spcBef>
              </a:pPr>
              <a:r>
                <a:rPr sz="1200">
                  <a:solidFill>
                    <a:srgbClr val="262626"/>
                  </a:solidFill>
                  <a:latin typeface="맑은 고딕"/>
                </a:rPr>
                <a:t>• Loss: BCE with logits</a:t>
              </a:r>
            </a:p>
            <a:p>
              <a:pPr>
                <a:spcBef>
                  <a:spcPts val="200"/>
                </a:spcBef>
              </a:pPr>
              <a:r>
                <a:rPr sz="1200">
                  <a:solidFill>
                    <a:srgbClr val="262626"/>
                  </a:solidFill>
                  <a:latin typeface="맑은 고딕"/>
                </a:rPr>
                <a:t>• Optimizer: Adam</a:t>
              </a:r>
            </a:p>
            <a:p>
              <a:pPr>
                <a:spcBef>
                  <a:spcPts val="200"/>
                </a:spcBef>
              </a:pPr>
              <a:r>
                <a:rPr sz="1200">
                  <a:solidFill>
                    <a:srgbClr val="262626"/>
                  </a:solidFill>
                  <a:latin typeface="맑은 고딕"/>
                </a:rPr>
                <a:t>• Device: CUDA (GPU)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9655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D3B2E-1D63-F90F-611F-C74AB01BF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72D609-6A3D-448C-329A-63B5AC8DD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5A9320-A99F-88DA-8A1D-36A67A34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44696A88-C98D-6CEF-6AC4-79E5B4ADD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Test </a:t>
            </a:r>
            <a:r>
              <a:rPr lang="ko-KR" altLang="en-US" dirty="0"/>
              <a:t>성능 비교 </a:t>
            </a:r>
            <a:r>
              <a:rPr lang="en-US" altLang="ko-KR" sz="1600" dirty="0"/>
              <a:t>(Bootstrap 95% CI, </a:t>
            </a:r>
            <a:r>
              <a:rPr lang="en-US" altLang="ko-KR" sz="1600" dirty="0" err="1"/>
              <a:t>n_boot</a:t>
            </a:r>
            <a:r>
              <a:rPr lang="en-US" altLang="ko-KR" sz="1600" dirty="0"/>
              <a:t>=2000)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947669-EE44-1FC3-A8F9-E93C4DE22BE6}"/>
              </a:ext>
            </a:extLst>
          </p:cNvPr>
          <p:cNvSpPr txBox="1"/>
          <p:nvPr/>
        </p:nvSpPr>
        <p:spPr>
          <a:xfrm>
            <a:off x="725642" y="5960532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2E75B6"/>
                </a:solidFill>
                <a:latin typeface="맑은 고딕"/>
              </a:rPr>
              <a:t>★ </a:t>
            </a:r>
            <a:r>
              <a:rPr sz="1200" b="1" dirty="0" err="1">
                <a:solidFill>
                  <a:srgbClr val="2E75B6"/>
                </a:solidFill>
                <a:latin typeface="맑은 고딕"/>
              </a:rPr>
              <a:t>최고</a:t>
            </a:r>
            <a:r>
              <a:rPr sz="1200" b="1" dirty="0">
                <a:solidFill>
                  <a:srgbClr val="2E75B6"/>
                </a:solidFill>
                <a:latin typeface="맑은 고딕"/>
              </a:rPr>
              <a:t> Test AUC: M2 AEC-128 raw (0.8293)  |  </a:t>
            </a:r>
            <a:r>
              <a:rPr sz="1200" b="1" dirty="0" err="1">
                <a:solidFill>
                  <a:srgbClr val="2E75B6"/>
                </a:solidFill>
                <a:latin typeface="맑은 고딕"/>
              </a:rPr>
              <a:t>최고</a:t>
            </a:r>
            <a:r>
              <a:rPr sz="1200" b="1" dirty="0">
                <a:solidFill>
                  <a:srgbClr val="2E75B6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2E75B6"/>
                </a:solidFill>
                <a:latin typeface="맑은 고딕"/>
              </a:rPr>
              <a:t>남성</a:t>
            </a:r>
            <a:r>
              <a:rPr sz="1200" b="1" dirty="0">
                <a:solidFill>
                  <a:srgbClr val="2E75B6"/>
                </a:solidFill>
                <a:latin typeface="맑은 고딕"/>
              </a:rPr>
              <a:t> F1: M2 AEC-128 global (0.441)</a:t>
            </a:r>
          </a:p>
        </p:txBody>
      </p:sp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ADEF7067-7D1C-293E-2435-E1DD0AC68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532364"/>
              </p:ext>
            </p:extLst>
          </p:nvPr>
        </p:nvGraphicFramePr>
        <p:xfrm>
          <a:off x="698137" y="1602376"/>
          <a:ext cx="10795725" cy="43320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5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39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5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57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57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57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134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AUC-ROC</a:t>
                      </a:r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95% CI</a:t>
                      </a:r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AUPRC</a:t>
                      </a:r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Brier</a:t>
                      </a:r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F3864"/>
                          </a:solidFill>
                          <a:latin typeface="맑은 고딕"/>
                        </a:rPr>
                        <a:t>Acc</a:t>
                      </a:r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F1</a:t>
                      </a:r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342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M1 Baseline (LR)</a:t>
                      </a:r>
                    </a:p>
                  </a:txBody>
                  <a:tcPr anchor="ctr">
                    <a:solidFill>
                      <a:srgbClr val="D6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 anchor="ctr">
                    <a:solidFill>
                      <a:srgbClr val="D6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[0.720, 0.881]</a:t>
                      </a:r>
                    </a:p>
                  </a:txBody>
                  <a:tcPr anchor="ctr">
                    <a:solidFill>
                      <a:srgbClr val="D6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0.396</a:t>
                      </a:r>
                    </a:p>
                  </a:txBody>
                  <a:tcPr anchor="ctr">
                    <a:solidFill>
                      <a:srgbClr val="D6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0.185</a:t>
                      </a:r>
                    </a:p>
                  </a:txBody>
                  <a:tcPr anchor="ctr">
                    <a:solidFill>
                      <a:srgbClr val="D6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0.738</a:t>
                      </a:r>
                    </a:p>
                  </a:txBody>
                  <a:tcPr anchor="ctr">
                    <a:solidFill>
                      <a:srgbClr val="D6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0.362</a:t>
                      </a:r>
                    </a:p>
                  </a:txBody>
                  <a:tcPr anchor="ctr">
                    <a:solidFill>
                      <a:srgbClr val="D6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3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M1b Clinic+H/W (LR)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0.7927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[0.704, 0.871]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0.391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0.311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3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M2 AEC-128 global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0.7921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[0.694, 0.873]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0.405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0.210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0.668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0.356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3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M2 AEC-128 rowwise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0.7996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[0.712, 0.878]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0.359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0.202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0.659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0.339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3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M2 AEC-128 raw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0.7778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[0.677, 0.864]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0.397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0.188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0.786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0.347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13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M3 Seg-8 global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0.7646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[0.659, 0.859]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0.351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0.769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0.361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13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M3 Seg-8 rowwise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0.7854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[0.673, 0.882]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0.405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0.172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0.747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0.356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134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M3 Seg-8 raw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0.7675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[0.659, 0.860]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0.321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0.206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0.327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605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FFCFE-2171-6043-CDD5-CDC762A13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4277FD-2794-7521-6053-9B37E6A3B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E2A29B-0501-8679-D2A6-4FE35A94A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8671E163-E24E-046D-0465-67B27F329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DeLong Test</a:t>
            </a:r>
          </a:p>
        </p:txBody>
      </p:sp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005E8A25-401E-124C-04B7-8E0187B5DF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261223"/>
              </p:ext>
            </p:extLst>
          </p:nvPr>
        </p:nvGraphicFramePr>
        <p:xfrm>
          <a:off x="731157" y="1536768"/>
          <a:ext cx="10729686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2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6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6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58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비교 쌍</a:t>
                      </a:r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Model1 AUC</a:t>
                      </a:r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Model2 AUC</a:t>
                      </a:r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ΔAUC</a:t>
                      </a:r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p-value</a:t>
                      </a:r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유의성</a:t>
                      </a:r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M1 Baseline vs M1b </a:t>
                      </a:r>
                      <a:r>
                        <a:rPr sz="1100" b="0" dirty="0" err="1">
                          <a:solidFill>
                            <a:srgbClr val="262626"/>
                          </a:solidFill>
                          <a:latin typeface="맑은 고딕"/>
                        </a:rPr>
                        <a:t>Clinic+H</a:t>
                      </a:r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/W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0.7927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-0.0132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0.4599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M1 Baseline vs M2 AEC-128 global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0.7921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-0.0138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0.4081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M1 Baseline vs M2 AEC-128 rowwise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0.7996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-0.0063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0.6264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M1 Baseline vs M2 AEC-128 raw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0.7898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-0.0161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0.2631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M1 Baseline vs M3 Seg-8 global</a:t>
                      </a:r>
                    </a:p>
                  </a:txBody>
                  <a:tcPr anchor="ctr">
                    <a:solidFill>
                      <a:srgbClr val="D6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 anchor="ctr">
                    <a:solidFill>
                      <a:srgbClr val="D6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0.7646</a:t>
                      </a:r>
                    </a:p>
                  </a:txBody>
                  <a:tcPr anchor="ctr">
                    <a:solidFill>
                      <a:srgbClr val="D6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-0.0413</a:t>
                      </a:r>
                    </a:p>
                  </a:txBody>
                  <a:tcPr anchor="ctr">
                    <a:solidFill>
                      <a:srgbClr val="D6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0.0911</a:t>
                      </a:r>
                    </a:p>
                  </a:txBody>
                  <a:tcPr anchor="ctr">
                    <a:solidFill>
                      <a:srgbClr val="D6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†</a:t>
                      </a:r>
                    </a:p>
                  </a:txBody>
                  <a:tcPr anchor="ctr">
                    <a:solidFill>
                      <a:srgbClr val="D6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M1 Baseline vs M3 Seg-8 rowwise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0.7854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-0.0205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0.5178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M1 Baseline vs M3 Seg-8 raw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0.8059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0.7675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-0.0384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0.1492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M2 AEC-128 rowwise vs M3 Seg-8 global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0.7996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0.7646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-0.0350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맑은 고딕"/>
                        </a:rPr>
                        <a:t>0.1296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5A10F16-EB69-34AE-4527-B5F0125B8280}"/>
              </a:ext>
            </a:extLst>
          </p:cNvPr>
          <p:cNvSpPr txBox="1"/>
          <p:nvPr/>
        </p:nvSpPr>
        <p:spPr>
          <a:xfrm>
            <a:off x="731157" y="5669254"/>
            <a:ext cx="11000595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dirty="0">
                <a:solidFill>
                  <a:srgbClr val="1A6A2A"/>
                </a:solidFill>
                <a:latin typeface="맑은 고딕"/>
              </a:rPr>
              <a:t>✓  compute_delong.py </a:t>
            </a:r>
            <a:r>
              <a:rPr sz="1150" b="0" dirty="0" err="1">
                <a:solidFill>
                  <a:srgbClr val="1A6A2A"/>
                </a:solidFill>
                <a:latin typeface="맑은 고딕"/>
              </a:rPr>
              <a:t>실행</a:t>
            </a:r>
            <a:r>
              <a:rPr sz="1150" b="0" dirty="0">
                <a:solidFill>
                  <a:srgbClr val="1A6A2A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1A6A2A"/>
                </a:solidFill>
                <a:latin typeface="맑은 고딕"/>
              </a:rPr>
              <a:t>결과</a:t>
            </a:r>
            <a:r>
              <a:rPr sz="1150" b="0" dirty="0">
                <a:solidFill>
                  <a:srgbClr val="1A6A2A"/>
                </a:solidFill>
                <a:latin typeface="맑은 고딕"/>
              </a:rPr>
              <a:t> (</a:t>
            </a:r>
            <a:r>
              <a:rPr sz="1150" b="0" dirty="0" err="1">
                <a:solidFill>
                  <a:srgbClr val="1A6A2A"/>
                </a:solidFill>
                <a:latin typeface="맑은 고딕"/>
              </a:rPr>
              <a:t>delong_results.json</a:t>
            </a:r>
            <a:r>
              <a:rPr sz="1150" b="0" dirty="0">
                <a:solidFill>
                  <a:srgbClr val="1A6A2A"/>
                </a:solidFill>
                <a:latin typeface="맑은 고딕"/>
              </a:rPr>
              <a:t>)  |  28쌍 </a:t>
            </a:r>
            <a:r>
              <a:rPr sz="1150" b="0" dirty="0" err="1">
                <a:solidFill>
                  <a:srgbClr val="1A6A2A"/>
                </a:solidFill>
                <a:latin typeface="맑은 고딕"/>
              </a:rPr>
              <a:t>계산됨</a:t>
            </a:r>
            <a:endParaRPr sz="1150" b="0" dirty="0">
              <a:solidFill>
                <a:srgbClr val="1A6A2A"/>
              </a:solidFill>
              <a:latin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F3ABF0-4F16-9C7E-DBD8-DD3B19F813A1}"/>
              </a:ext>
            </a:extLst>
          </p:cNvPr>
          <p:cNvSpPr txBox="1"/>
          <p:nvPr/>
        </p:nvSpPr>
        <p:spPr>
          <a:xfrm>
            <a:off x="731157" y="5924491"/>
            <a:ext cx="11000595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dirty="0">
                <a:solidFill>
                  <a:srgbClr val="707070"/>
                </a:solidFill>
                <a:latin typeface="맑은 고딕"/>
              </a:rPr>
              <a:t>• </a:t>
            </a:r>
            <a:r>
              <a:rPr sz="1100" dirty="0" err="1">
                <a:solidFill>
                  <a:srgbClr val="707070"/>
                </a:solidFill>
                <a:latin typeface="맑은 고딕"/>
              </a:rPr>
              <a:t>유의하지</a:t>
            </a:r>
            <a:r>
              <a:rPr sz="1100" dirty="0">
                <a:solidFill>
                  <a:srgbClr val="707070"/>
                </a:solidFill>
                <a:latin typeface="맑은 고딕"/>
              </a:rPr>
              <a:t> </a:t>
            </a:r>
            <a:r>
              <a:rPr sz="1100" dirty="0" err="1">
                <a:solidFill>
                  <a:srgbClr val="707070"/>
                </a:solidFill>
                <a:latin typeface="맑은 고딕"/>
              </a:rPr>
              <a:t>않아도</a:t>
            </a:r>
            <a:r>
              <a:rPr sz="1100" dirty="0">
                <a:solidFill>
                  <a:srgbClr val="707070"/>
                </a:solidFill>
                <a:latin typeface="맑은 고딕"/>
              </a:rPr>
              <a:t>(p≥0.05) </a:t>
            </a:r>
            <a:r>
              <a:rPr sz="1100" dirty="0" err="1">
                <a:solidFill>
                  <a:srgbClr val="707070"/>
                </a:solidFill>
                <a:latin typeface="맑은 고딕"/>
              </a:rPr>
              <a:t>모든</a:t>
            </a:r>
            <a:r>
              <a:rPr sz="1100" dirty="0">
                <a:solidFill>
                  <a:srgbClr val="707070"/>
                </a:solidFill>
                <a:latin typeface="맑은 고딕"/>
              </a:rPr>
              <a:t> 쌍 p-value </a:t>
            </a:r>
            <a:r>
              <a:rPr sz="1100" dirty="0" err="1">
                <a:solidFill>
                  <a:srgbClr val="707070"/>
                </a:solidFill>
                <a:latin typeface="맑은 고딕"/>
              </a:rPr>
              <a:t>보고</a:t>
            </a:r>
            <a:r>
              <a:rPr sz="1100" dirty="0">
                <a:solidFill>
                  <a:srgbClr val="707070"/>
                </a:solidFill>
                <a:latin typeface="맑은 고딕"/>
              </a:rPr>
              <a:t> </a:t>
            </a:r>
            <a:r>
              <a:rPr sz="1100" dirty="0" err="1">
                <a:solidFill>
                  <a:srgbClr val="707070"/>
                </a:solidFill>
                <a:latin typeface="맑은 고딕"/>
              </a:rPr>
              <a:t>필수</a:t>
            </a:r>
            <a:r>
              <a:rPr sz="1100" dirty="0">
                <a:solidFill>
                  <a:srgbClr val="707070"/>
                </a:solidFill>
                <a:latin typeface="맑은 고딕"/>
              </a:rPr>
              <a:t>  (DeLong et al. Biometrics 1988)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707070"/>
                </a:solidFill>
                <a:latin typeface="맑은 고딕"/>
              </a:rPr>
              <a:t>• </a:t>
            </a:r>
            <a:r>
              <a:rPr sz="1100" dirty="0" err="1">
                <a:solidFill>
                  <a:srgbClr val="707070"/>
                </a:solidFill>
                <a:latin typeface="맑은 고딕"/>
              </a:rPr>
              <a:t>양측</a:t>
            </a:r>
            <a:r>
              <a:rPr sz="1100" dirty="0">
                <a:solidFill>
                  <a:srgbClr val="707070"/>
                </a:solidFill>
                <a:latin typeface="맑은 고딕"/>
              </a:rPr>
              <a:t> </a:t>
            </a:r>
            <a:r>
              <a:rPr sz="1100" dirty="0" err="1">
                <a:solidFill>
                  <a:srgbClr val="707070"/>
                </a:solidFill>
                <a:latin typeface="맑은 고딕"/>
              </a:rPr>
              <a:t>검정</a:t>
            </a:r>
            <a:r>
              <a:rPr sz="1100" dirty="0">
                <a:solidFill>
                  <a:srgbClr val="707070"/>
                </a:solidFill>
                <a:latin typeface="맑은 고딕"/>
              </a:rPr>
              <a:t>(two-sided)  |  *** p&lt;0.001  ** p&lt;0.01  * p&lt;0.05  † p&lt;0.10  ns p≥0.10</a:t>
            </a:r>
          </a:p>
        </p:txBody>
      </p:sp>
    </p:spTree>
    <p:extLst>
      <p:ext uri="{BB962C8B-B14F-4D97-AF65-F5344CB8AC3E}">
        <p14:creationId xmlns:p14="http://schemas.microsoft.com/office/powerpoint/2010/main" val="3858208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C3740-DA9F-37F5-8CBE-250ADA621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E3AB9A-55E7-A618-A374-382866C4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1E26A3-AD70-A87A-62ED-09312ABC8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60CC553-2A49-B5BF-B206-CCB081065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ko-KR" altLang="en-US" dirty="0"/>
              <a:t>성별 세부 분석</a:t>
            </a:r>
            <a:endParaRPr lang="en-US" altLang="ko-KR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CDA0B7-1CB5-F8EA-4715-0DAC804EA2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870764"/>
              </p:ext>
            </p:extLst>
          </p:nvPr>
        </p:nvGraphicFramePr>
        <p:xfrm>
          <a:off x="457200" y="1645920"/>
          <a:ext cx="7772400" cy="428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전체 AUC</a:t>
                      </a:r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남성 AUC</a:t>
                      </a:r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여성 AUC</a:t>
                      </a:r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남성 F1</a:t>
                      </a:r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여성 F1</a:t>
                      </a:r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50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M1 Baseline</a:t>
                      </a:r>
                    </a:p>
                  </a:txBody>
                  <a:tcPr anchor="ctr">
                    <a:solidFill>
                      <a:srgbClr val="D9F0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0.806</a:t>
                      </a:r>
                    </a:p>
                  </a:txBody>
                  <a:tcPr anchor="ctr">
                    <a:solidFill>
                      <a:srgbClr val="D9F0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0.783</a:t>
                      </a:r>
                    </a:p>
                  </a:txBody>
                  <a:tcPr anchor="ctr">
                    <a:solidFill>
                      <a:srgbClr val="D9F0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0.785</a:t>
                      </a:r>
                    </a:p>
                  </a:txBody>
                  <a:tcPr anchor="ctr">
                    <a:solidFill>
                      <a:srgbClr val="D9F0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0.423</a:t>
                      </a:r>
                    </a:p>
                  </a:txBody>
                  <a:tcPr anchor="ctr">
                    <a:solidFill>
                      <a:srgbClr val="D9F0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0.286</a:t>
                      </a:r>
                    </a:p>
                  </a:txBody>
                  <a:tcPr anchor="ctr">
                    <a:solidFill>
                      <a:srgbClr val="D9F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504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M1b </a:t>
                      </a:r>
                      <a:r>
                        <a:rPr sz="1200" b="0" dirty="0" err="1">
                          <a:solidFill>
                            <a:srgbClr val="262626"/>
                          </a:solidFill>
                          <a:latin typeface="맑은 고딕"/>
                        </a:rPr>
                        <a:t>Clinic+H</a:t>
                      </a:r>
                      <a:r>
                        <a:rPr lang="en-US" sz="1200" b="0" dirty="0" err="1">
                          <a:solidFill>
                            <a:srgbClr val="262626"/>
                          </a:solidFill>
                          <a:latin typeface="맑은 고딕"/>
                        </a:rPr>
                        <a:t>eight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/W</a:t>
                      </a:r>
                      <a:r>
                        <a:rPr lang="en-US" sz="12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eight</a:t>
                      </a:r>
                      <a:endParaRPr sz="1200" b="0" dirty="0">
                        <a:solidFill>
                          <a:srgbClr val="262626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0.793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0.263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50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M2 AEC-128 global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0.792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0.762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0.763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0.406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0.296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504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M2 AEC-128 row</a:t>
                      </a:r>
                      <a:r>
                        <a:rPr lang="en-US" sz="12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-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wise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0.286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50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M2 AEC-128 raw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0.778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0.773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0.758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0.419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0.250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50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M3 Seg-8 global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0.435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0.270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504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M3 Seg-8 row</a:t>
                      </a:r>
                      <a:r>
                        <a:rPr lang="en-US" sz="12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-</a:t>
                      </a:r>
                      <a:r>
                        <a:rPr sz="12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wise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0.785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0.735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0.783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0.400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0.300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50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M3 Seg-8 raw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62626"/>
                          </a:solidFill>
                          <a:latin typeface="맑은 고딕"/>
                        </a:rPr>
                        <a:t>0.261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245483B-C210-3CE3-CF83-D90657FCEC11}"/>
              </a:ext>
            </a:extLst>
          </p:cNvPr>
          <p:cNvSpPr txBox="1"/>
          <p:nvPr/>
        </p:nvSpPr>
        <p:spPr>
          <a:xfrm>
            <a:off x="8368937" y="760966"/>
            <a:ext cx="3594464" cy="1769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dirty="0" err="1">
                <a:solidFill>
                  <a:srgbClr val="262626"/>
                </a:solidFill>
                <a:latin typeface="맑은 고딕"/>
              </a:rPr>
              <a:t>남성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(n=82): </a:t>
            </a:r>
            <a:r>
              <a:rPr sz="1200" dirty="0" err="1">
                <a:solidFill>
                  <a:srgbClr val="262626"/>
                </a:solidFill>
                <a:latin typeface="맑은 고딕"/>
              </a:rPr>
              <a:t>근감소증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62626"/>
                </a:solidFill>
                <a:latin typeface="맑은 고딕"/>
              </a:rPr>
              <a:t>유병률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 15.9% → </a:t>
            </a:r>
            <a:r>
              <a:rPr sz="1200" dirty="0" err="1">
                <a:solidFill>
                  <a:srgbClr val="262626"/>
                </a:solidFill>
                <a:latin typeface="맑은 고딕"/>
              </a:rPr>
              <a:t>탐지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62626"/>
                </a:solidFill>
                <a:latin typeface="맑은 고딕"/>
              </a:rPr>
              <a:t>난이도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62626"/>
                </a:solidFill>
                <a:latin typeface="맑은 고딕"/>
              </a:rPr>
              <a:t>높음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marL="171450" indent="-17145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dirty="0" err="1">
                <a:solidFill>
                  <a:srgbClr val="262626"/>
                </a:solidFill>
                <a:latin typeface="맑은 고딕"/>
              </a:rPr>
              <a:t>여성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(n=147): </a:t>
            </a:r>
            <a:r>
              <a:rPr sz="1200" dirty="0" err="1">
                <a:solidFill>
                  <a:srgbClr val="262626"/>
                </a:solidFill>
                <a:latin typeface="맑은 고딕"/>
              </a:rPr>
              <a:t>유병률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 7.5% → </a:t>
            </a:r>
            <a:r>
              <a:rPr sz="1200" dirty="0" err="1">
                <a:solidFill>
                  <a:srgbClr val="262626"/>
                </a:solidFill>
                <a:latin typeface="맑은 고딕"/>
              </a:rPr>
              <a:t>불균형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62626"/>
                </a:solidFill>
                <a:latin typeface="맑은 고딕"/>
              </a:rPr>
              <a:t>심화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, F1 </a:t>
            </a:r>
            <a:r>
              <a:rPr sz="1200" dirty="0" err="1">
                <a:solidFill>
                  <a:srgbClr val="262626"/>
                </a:solidFill>
                <a:latin typeface="맑은 고딕"/>
              </a:rPr>
              <a:t>전반적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62626"/>
                </a:solidFill>
                <a:latin typeface="맑은 고딕"/>
              </a:rPr>
              <a:t>낮음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marL="171450" indent="-171450">
              <a:lnSpc>
                <a:spcPct val="150000"/>
              </a:lnSpc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262626"/>
                </a:solidFill>
                <a:latin typeface="맑은 고딕"/>
              </a:rPr>
              <a:t>M1 Baseline (LR): </a:t>
            </a:r>
            <a:r>
              <a:rPr sz="1200" dirty="0" err="1">
                <a:solidFill>
                  <a:srgbClr val="262626"/>
                </a:solidFill>
                <a:latin typeface="맑은 고딕"/>
              </a:rPr>
              <a:t>남성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 AUC 0.783 / </a:t>
            </a:r>
            <a:r>
              <a:rPr sz="1200" dirty="0" err="1">
                <a:solidFill>
                  <a:srgbClr val="262626"/>
                </a:solidFill>
                <a:latin typeface="맑은 고딕"/>
              </a:rPr>
              <a:t>여성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 AUC 0.785 (</a:t>
            </a:r>
            <a:r>
              <a:rPr sz="1200" dirty="0" err="1">
                <a:solidFill>
                  <a:srgbClr val="262626"/>
                </a:solidFill>
                <a:latin typeface="맑은 고딕"/>
              </a:rPr>
              <a:t>최고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262626"/>
                </a:solidFill>
                <a:latin typeface="맑은 고딕"/>
              </a:rPr>
              <a:t>전체</a:t>
            </a:r>
            <a:r>
              <a:rPr sz="1200" dirty="0">
                <a:solidFill>
                  <a:srgbClr val="262626"/>
                </a:solidFill>
                <a:latin typeface="맑은 고딕"/>
              </a:rPr>
              <a:t> AUC)</a:t>
            </a:r>
          </a:p>
        </p:txBody>
      </p:sp>
      <p:pic>
        <p:nvPicPr>
          <p:cNvPr id="6" name="Picture 4" descr="test_roc_by_sex.png">
            <a:extLst>
              <a:ext uri="{FF2B5EF4-FFF2-40B4-BE49-F238E27FC236}">
                <a16:creationId xmlns:a16="http://schemas.microsoft.com/office/drawing/2014/main" id="{42F9A322-9A5D-8A8B-4DE1-6EEDD4BAF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929975"/>
            <a:ext cx="3657600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176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62A78-3649-7CF8-D984-F9BB7190F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19961-80C8-34B0-A286-385DC98D9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8288D4-CF02-2562-597F-51D6AFEA3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23598429-ADA0-26A3-6297-FB67BC9C2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ko-KR" altLang="en-US" dirty="0"/>
              <a:t>성별 </a:t>
            </a:r>
            <a:r>
              <a:rPr lang="en-US" altLang="ko-KR" dirty="0"/>
              <a:t>ROC </a:t>
            </a:r>
            <a:r>
              <a:rPr lang="ko-KR" altLang="en-US" dirty="0"/>
              <a:t>곡선 비교</a:t>
            </a:r>
            <a:endParaRPr lang="en-US" altLang="ko-KR" dirty="0"/>
          </a:p>
        </p:txBody>
      </p:sp>
      <p:pic>
        <p:nvPicPr>
          <p:cNvPr id="8" name="Picture 2" descr="test_roc_by_sex.png">
            <a:extLst>
              <a:ext uri="{FF2B5EF4-FFF2-40B4-BE49-F238E27FC236}">
                <a16:creationId xmlns:a16="http://schemas.microsoft.com/office/drawing/2014/main" id="{E876F44A-D405-3AB5-F33E-ACA374AE2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73" y="1566738"/>
            <a:ext cx="4734415" cy="44134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2E3058-D25C-4B7E-0F45-933DD427AFB2}"/>
              </a:ext>
            </a:extLst>
          </p:cNvPr>
          <p:cNvSpPr txBox="1"/>
          <p:nvPr/>
        </p:nvSpPr>
        <p:spPr>
          <a:xfrm>
            <a:off x="457200" y="598017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  <a:latin typeface="맑은 고딕"/>
              </a:rPr>
              <a:t>M1 Baseline  ★  |  남성 AUC=0.783 / 여성 AUC=0.785</a:t>
            </a:r>
          </a:p>
        </p:txBody>
      </p:sp>
      <p:pic>
        <p:nvPicPr>
          <p:cNvPr id="10" name="Picture 4" descr="test_roc_by_sex.png">
            <a:extLst>
              <a:ext uri="{FF2B5EF4-FFF2-40B4-BE49-F238E27FC236}">
                <a16:creationId xmlns:a16="http://schemas.microsoft.com/office/drawing/2014/main" id="{2791F6FA-5C5B-CBDE-05CA-F68B44730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505" y="1566738"/>
            <a:ext cx="4734415" cy="44134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7D30C6B-684B-E60E-50B9-83F103CA1158}"/>
              </a:ext>
            </a:extLst>
          </p:cNvPr>
          <p:cNvSpPr txBox="1"/>
          <p:nvPr/>
        </p:nvSpPr>
        <p:spPr>
          <a:xfrm>
            <a:off x="6428232" y="598017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맑은 고딕"/>
              </a:rPr>
              <a:t>M2 AEC-128 rowwise  |  남성 AUC=0.775 / 여성 AUC=0.770</a:t>
            </a:r>
          </a:p>
        </p:txBody>
      </p:sp>
    </p:spTree>
    <p:extLst>
      <p:ext uri="{BB962C8B-B14F-4D97-AF65-F5344CB8AC3E}">
        <p14:creationId xmlns:p14="http://schemas.microsoft.com/office/powerpoint/2010/main" val="2509315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E3382-72E4-6001-EE02-70C60DE29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4649BE-BD16-DC76-1750-A63D22F9F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CF75A7-4CB4-CCE6-9977-0C5F737E2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BB9C301-3799-40F2-9556-96BB41271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AEC</a:t>
            </a:r>
            <a:r>
              <a:rPr lang="ko-KR" altLang="en-US" dirty="0"/>
              <a:t> 시각화 </a:t>
            </a:r>
            <a:r>
              <a:rPr lang="en-US" altLang="ko-KR" dirty="0"/>
              <a:t>– AEC 128 points</a:t>
            </a:r>
          </a:p>
        </p:txBody>
      </p:sp>
      <p:pic>
        <p:nvPicPr>
          <p:cNvPr id="3" name="Picture 2" descr="aec_heatmap.png">
            <a:extLst>
              <a:ext uri="{FF2B5EF4-FFF2-40B4-BE49-F238E27FC236}">
                <a16:creationId xmlns:a16="http://schemas.microsoft.com/office/drawing/2014/main" id="{61740E4A-92EE-F2A1-2B35-DE23374D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965" y="1628502"/>
            <a:ext cx="4752588" cy="4514959"/>
          </a:xfrm>
          <a:prstGeom prst="rect">
            <a:avLst/>
          </a:prstGeom>
        </p:spPr>
      </p:pic>
      <p:pic>
        <p:nvPicPr>
          <p:cNvPr id="5" name="Picture 4" descr="cam.png">
            <a:extLst>
              <a:ext uri="{FF2B5EF4-FFF2-40B4-BE49-F238E27FC236}">
                <a16:creationId xmlns:a16="http://schemas.microsoft.com/office/drawing/2014/main" id="{8C50543B-0609-8AAC-AA7C-74C573E44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685" y="1628502"/>
            <a:ext cx="4752588" cy="451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705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4D4DE-3BEF-1A62-2B36-C5D27AFE7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D4BA3C-715A-FE9B-123E-0B7BB59DF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50B5E4-42D6-E2BE-010B-ADA3EFD4A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2E3D1AE-90CC-F29E-A8BB-FA966D5A0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AEC</a:t>
            </a:r>
            <a:r>
              <a:rPr lang="ko-KR" altLang="en-US" dirty="0"/>
              <a:t> 시각화 </a:t>
            </a:r>
            <a:r>
              <a:rPr lang="en-US" altLang="ko-KR" dirty="0"/>
              <a:t>– Segment 8</a:t>
            </a:r>
          </a:p>
        </p:txBody>
      </p:sp>
      <p:pic>
        <p:nvPicPr>
          <p:cNvPr id="6" name="Picture 2" descr="aec_heatmap.png">
            <a:extLst>
              <a:ext uri="{FF2B5EF4-FFF2-40B4-BE49-F238E27FC236}">
                <a16:creationId xmlns:a16="http://schemas.microsoft.com/office/drawing/2014/main" id="{652EFB27-3B83-13C7-8639-D50026838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03" y="1676280"/>
            <a:ext cx="4802777" cy="4562638"/>
          </a:xfrm>
          <a:prstGeom prst="rect">
            <a:avLst/>
          </a:prstGeom>
        </p:spPr>
      </p:pic>
      <p:pic>
        <p:nvPicPr>
          <p:cNvPr id="8" name="Picture 4" descr="cam.png">
            <a:extLst>
              <a:ext uri="{FF2B5EF4-FFF2-40B4-BE49-F238E27FC236}">
                <a16:creationId xmlns:a16="http://schemas.microsoft.com/office/drawing/2014/main" id="{24A436C2-CF43-97F2-840C-1822AED505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823" y="1676280"/>
            <a:ext cx="4802777" cy="456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523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38B4F-1601-96DF-44C7-F064052C0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007E54-3BFB-5C40-AF1F-90784AFA2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3A2394-CEA6-5ACD-CFF0-D07F1B01A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A176B92-1C79-4D7A-014C-FB6ECE07B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ko-KR" altLang="en-US" dirty="0"/>
              <a:t>정규화 방식별 비교</a:t>
            </a: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0EC5CC-FF28-0EED-6745-82D1F5C56B9F}"/>
              </a:ext>
            </a:extLst>
          </p:cNvPr>
          <p:cNvSpPr txBox="1"/>
          <p:nvPr/>
        </p:nvSpPr>
        <p:spPr>
          <a:xfrm>
            <a:off x="508000" y="1764115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맑은 고딕"/>
              </a:rPr>
              <a:t>M2 AEC-128 모델 (ResNet1D)</a:t>
            </a:r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B4EBA7B8-A775-D87A-2F84-FD16E1610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219816"/>
              </p:ext>
            </p:extLst>
          </p:nvPr>
        </p:nvGraphicFramePr>
        <p:xfrm>
          <a:off x="508000" y="2221315"/>
          <a:ext cx="58521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정규화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AUC-ROC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AUPRC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Brier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Acc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F1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global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0.7921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0.4054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0.2099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0.668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rowwise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0.7996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0.3586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0.2022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0.659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0.339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raw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0.7778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0.3965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0.1878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0.786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55EBEA3-9232-4EDA-3258-BD64E94974B1}"/>
              </a:ext>
            </a:extLst>
          </p:cNvPr>
          <p:cNvSpPr txBox="1"/>
          <p:nvPr/>
        </p:nvSpPr>
        <p:spPr>
          <a:xfrm>
            <a:off x="508000" y="3684355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맑은 고딕"/>
              </a:rPr>
              <a:t>M3 Segment-8 모델 (MLP)</a:t>
            </a:r>
          </a:p>
        </p:txBody>
      </p:sp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id="{83C0E399-F933-994B-3890-E6A0C262F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263981"/>
              </p:ext>
            </p:extLst>
          </p:nvPr>
        </p:nvGraphicFramePr>
        <p:xfrm>
          <a:off x="508000" y="4141555"/>
          <a:ext cx="58521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정규화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AUC-ROC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AUPRC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Brier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Acc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맑은 고딕"/>
                        </a:rPr>
                        <a:t>F1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global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0.7646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0.3506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0.1789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0.769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0.361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rowwise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0.7854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0.4054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0.1717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0.747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0.356</a:t>
                      </a:r>
                    </a:p>
                  </a:txBody>
                  <a:tcPr>
                    <a:solidFill>
                      <a:srgbClr val="D6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raw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0.7675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0.3207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0.2060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0.712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맑은 고딕"/>
                        </a:rPr>
                        <a:t>0.327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" name="Picture 6" descr="aec_individual_normalization_compare.png">
            <a:extLst>
              <a:ext uri="{FF2B5EF4-FFF2-40B4-BE49-F238E27FC236}">
                <a16:creationId xmlns:a16="http://schemas.microsoft.com/office/drawing/2014/main" id="{EE1DF37B-476A-AD18-2D1F-A67A75A49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039877"/>
            <a:ext cx="5486400" cy="5029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F9FD6D3-20F6-9A00-C6BA-C65DC8861F7A}"/>
              </a:ext>
            </a:extLst>
          </p:cNvPr>
          <p:cNvSpPr txBox="1"/>
          <p:nvPr/>
        </p:nvSpPr>
        <p:spPr>
          <a:xfrm>
            <a:off x="6593840" y="602462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707070"/>
                </a:solidFill>
                <a:latin typeface="맑은 고딕"/>
              </a:rPr>
              <a:t>AEC </a:t>
            </a:r>
            <a:r>
              <a:rPr sz="1000" b="0" dirty="0" err="1">
                <a:solidFill>
                  <a:srgbClr val="707070"/>
                </a:solidFill>
                <a:latin typeface="맑은 고딕"/>
              </a:rPr>
              <a:t>신호</a:t>
            </a:r>
            <a:r>
              <a:rPr sz="1000" b="0" dirty="0">
                <a:solidFill>
                  <a:srgbClr val="70707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707070"/>
                </a:solidFill>
                <a:latin typeface="맑은 고딕"/>
              </a:rPr>
              <a:t>정규화</a:t>
            </a:r>
            <a:r>
              <a:rPr sz="1000" b="0" dirty="0">
                <a:solidFill>
                  <a:srgbClr val="70707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707070"/>
                </a:solidFill>
                <a:latin typeface="맑은 고딕"/>
              </a:rPr>
              <a:t>방식별</a:t>
            </a:r>
            <a:r>
              <a:rPr sz="1000" b="0" dirty="0">
                <a:solidFill>
                  <a:srgbClr val="70707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707070"/>
                </a:solidFill>
                <a:latin typeface="맑은 고딕"/>
              </a:rPr>
              <a:t>개인</a:t>
            </a:r>
            <a:r>
              <a:rPr sz="1000" b="0" dirty="0">
                <a:solidFill>
                  <a:srgbClr val="707070"/>
                </a:solidFill>
                <a:latin typeface="맑은 고딕"/>
              </a:rPr>
              <a:t> 간 </a:t>
            </a:r>
            <a:r>
              <a:rPr sz="1000" b="0" dirty="0" err="1">
                <a:solidFill>
                  <a:srgbClr val="707070"/>
                </a:solidFill>
                <a:latin typeface="맑은 고딕"/>
              </a:rPr>
              <a:t>분포</a:t>
            </a:r>
            <a:r>
              <a:rPr sz="1000" b="0" dirty="0">
                <a:solidFill>
                  <a:srgbClr val="707070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707070"/>
                </a:solidFill>
                <a:latin typeface="맑은 고딕"/>
              </a:rPr>
              <a:t>비교</a:t>
            </a:r>
            <a:endParaRPr sz="1000" b="0" dirty="0">
              <a:solidFill>
                <a:srgbClr val="707070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088225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2813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3951</TotalTime>
  <Words>1333</Words>
  <Application>Microsoft Office PowerPoint</Application>
  <PresentationFormat>와이드스크린</PresentationFormat>
  <Paragraphs>364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KoPub돋움체 Medium</vt:lpstr>
      <vt:lpstr>KoPub돋움체 Bold</vt:lpstr>
      <vt:lpstr>Office 테마</vt:lpstr>
      <vt:lpstr>PowerPoint 프레젠테이션</vt:lpstr>
      <vt:lpstr>1. What’s discussed in the last meetings</vt:lpstr>
      <vt:lpstr>2. Research Summary</vt:lpstr>
      <vt:lpstr>2. Research Summary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355</cp:revision>
  <dcterms:created xsi:type="dcterms:W3CDTF">2026-04-09T07:05:16Z</dcterms:created>
  <dcterms:modified xsi:type="dcterms:W3CDTF">2026-06-18T08:17:18Z</dcterms:modified>
</cp:coreProperties>
</file>