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80" r:id="rId11"/>
    <p:sldId id="281" r:id="rId12"/>
    <p:sldId id="282" r:id="rId13"/>
    <p:sldId id="283" r:id="rId14"/>
    <p:sldId id="265" r:id="rId15"/>
    <p:sldId id="278" r:id="rId16"/>
    <p:sldId id="284" r:id="rId17"/>
    <p:sldId id="285" r:id="rId18"/>
    <p:sldId id="286" r:id="rId19"/>
    <p:sldId id="287" r:id="rId20"/>
    <p:sldId id="290" r:id="rId21"/>
    <p:sldId id="288" r:id="rId22"/>
    <p:sldId id="289" r:id="rId23"/>
    <p:sldId id="269" r:id="rId24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기본 구역" id="{84D7001C-9E28-4083-B81B-823770F10E7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tratification Result" id="{18FC91BA-6DF7-48F9-87D0-452576217DD2}">
          <p14:sldIdLst>
            <p14:sldId id="279"/>
            <p14:sldId id="280"/>
            <p14:sldId id="281"/>
            <p14:sldId id="282"/>
            <p14:sldId id="283"/>
            <p14:sldId id="265"/>
            <p14:sldId id="278"/>
            <p14:sldId id="284"/>
            <p14:sldId id="285"/>
            <p14:sldId id="286"/>
          </p14:sldIdLst>
        </p14:section>
        <p14:section name="feature importance" id="{D067E031-4485-49D2-B387-61255D3FE9D1}">
          <p14:sldIdLst>
            <p14:sldId id="287"/>
            <p14:sldId id="290"/>
            <p14:sldId id="288"/>
            <p14:sldId id="289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6831" autoAdjust="0"/>
  </p:normalViewPr>
  <p:slideViewPr>
    <p:cSldViewPr>
      <p:cViewPr varScale="1">
        <p:scale>
          <a:sx n="88" d="100"/>
          <a:sy n="88" d="100"/>
        </p:scale>
        <p:origin x="255" y="54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231_2\confusion_matri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231_2\confusion_matrix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231_2\confusion_matrix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accuracy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Sheet1!$G$2:$G$30</c:f>
              <c:numCache>
                <c:formatCode>General</c:formatCode>
                <c:ptCount val="29"/>
                <c:pt idx="0">
                  <c:v>0.6343001261034048</c:v>
                </c:pt>
                <c:pt idx="1">
                  <c:v>0.63808322799999995</c:v>
                </c:pt>
                <c:pt idx="2">
                  <c:v>0.67843631800000004</c:v>
                </c:pt>
                <c:pt idx="3">
                  <c:v>0.67843631800000004</c:v>
                </c:pt>
                <c:pt idx="4">
                  <c:v>0.66456494300000002</c:v>
                </c:pt>
                <c:pt idx="5">
                  <c:v>0.66456494300000002</c:v>
                </c:pt>
                <c:pt idx="6">
                  <c:v>0.66582597700000001</c:v>
                </c:pt>
                <c:pt idx="7">
                  <c:v>0.66330390900000002</c:v>
                </c:pt>
                <c:pt idx="8">
                  <c:v>0.66204287500000003</c:v>
                </c:pt>
                <c:pt idx="9">
                  <c:v>0.66708701100000001</c:v>
                </c:pt>
                <c:pt idx="10">
                  <c:v>0.65952080700000004</c:v>
                </c:pt>
                <c:pt idx="11">
                  <c:v>0.66582597700000001</c:v>
                </c:pt>
                <c:pt idx="12">
                  <c:v>0.67339218199999995</c:v>
                </c:pt>
                <c:pt idx="13">
                  <c:v>0.67213114754098358</c:v>
                </c:pt>
                <c:pt idx="14">
                  <c:v>0.67213114799999996</c:v>
                </c:pt>
                <c:pt idx="15">
                  <c:v>0.67213114799999996</c:v>
                </c:pt>
                <c:pt idx="16">
                  <c:v>0.67213114799999996</c:v>
                </c:pt>
                <c:pt idx="17">
                  <c:v>0.67213114799999996</c:v>
                </c:pt>
                <c:pt idx="18">
                  <c:v>0.67087011299999999</c:v>
                </c:pt>
                <c:pt idx="19">
                  <c:v>0.67087011349306436</c:v>
                </c:pt>
                <c:pt idx="20">
                  <c:v>0.67465321599999994</c:v>
                </c:pt>
                <c:pt idx="21">
                  <c:v>0.67339218199999995</c:v>
                </c:pt>
                <c:pt idx="22">
                  <c:v>0.67465321599999994</c:v>
                </c:pt>
                <c:pt idx="23">
                  <c:v>0.67465321563682223</c:v>
                </c:pt>
                <c:pt idx="24">
                  <c:v>0.67213114799999996</c:v>
                </c:pt>
                <c:pt idx="25">
                  <c:v>0.67969735200000003</c:v>
                </c:pt>
                <c:pt idx="26">
                  <c:v>0.67969735182849933</c:v>
                </c:pt>
                <c:pt idx="27">
                  <c:v>0.67843631778058011</c:v>
                </c:pt>
                <c:pt idx="28">
                  <c:v>0.67843631778058011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84-4291-BA88-BCC3C713D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5996159"/>
        <c:axId val="1315995679"/>
      </c:lineChart>
      <c:catAx>
        <c:axId val="13159961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b="1"/>
                  <a:t>n_features</a:t>
                </a:r>
                <a:endParaRPr lang="ko-KR" alt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15995679"/>
        <c:crosses val="autoZero"/>
        <c:auto val="1"/>
        <c:lblAlgn val="ctr"/>
        <c:lblOffset val="100"/>
        <c:tickMarkSkip val="1"/>
        <c:noMultiLvlLbl val="0"/>
      </c:catAx>
      <c:valAx>
        <c:axId val="1315995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159961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/>
              <a:t>Precision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Sheet1!$H$1</c:f>
              <c:strCache>
                <c:ptCount val="1"/>
                <c:pt idx="0">
                  <c:v>precision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val>
            <c:numRef>
              <c:f>Sheet1!$H$2:$H$30</c:f>
              <c:numCache>
                <c:formatCode>General</c:formatCode>
                <c:ptCount val="29"/>
                <c:pt idx="0">
                  <c:v>0.21021021021021019</c:v>
                </c:pt>
                <c:pt idx="1">
                  <c:v>0.203125</c:v>
                </c:pt>
                <c:pt idx="2">
                  <c:v>0.231292517</c:v>
                </c:pt>
                <c:pt idx="3">
                  <c:v>0.231292517</c:v>
                </c:pt>
                <c:pt idx="4">
                  <c:v>0.22653721700000001</c:v>
                </c:pt>
                <c:pt idx="5">
                  <c:v>0.22653721700000001</c:v>
                </c:pt>
                <c:pt idx="6">
                  <c:v>0.225490196</c:v>
                </c:pt>
                <c:pt idx="7">
                  <c:v>0.22402597399999999</c:v>
                </c:pt>
                <c:pt idx="8">
                  <c:v>0.22508038599999999</c:v>
                </c:pt>
                <c:pt idx="9">
                  <c:v>0.226229508</c:v>
                </c:pt>
                <c:pt idx="10">
                  <c:v>0.218241042</c:v>
                </c:pt>
                <c:pt idx="11">
                  <c:v>0.22727272700000001</c:v>
                </c:pt>
                <c:pt idx="12">
                  <c:v>0.23</c:v>
                </c:pt>
                <c:pt idx="13">
                  <c:v>0.2292358803986711</c:v>
                </c:pt>
                <c:pt idx="14">
                  <c:v>0.22923588</c:v>
                </c:pt>
                <c:pt idx="15">
                  <c:v>0.22742474900000001</c:v>
                </c:pt>
                <c:pt idx="16">
                  <c:v>0.225589226</c:v>
                </c:pt>
                <c:pt idx="17">
                  <c:v>0.225589226</c:v>
                </c:pt>
                <c:pt idx="18">
                  <c:v>0.22297297299999999</c:v>
                </c:pt>
                <c:pt idx="19">
                  <c:v>0.222972972972973</c:v>
                </c:pt>
                <c:pt idx="20">
                  <c:v>0.22711864400000001</c:v>
                </c:pt>
                <c:pt idx="21">
                  <c:v>0.22260273999999999</c:v>
                </c:pt>
                <c:pt idx="22">
                  <c:v>0.225255973</c:v>
                </c:pt>
                <c:pt idx="23">
                  <c:v>0.2252559726962457</c:v>
                </c:pt>
                <c:pt idx="24">
                  <c:v>0.223728814</c:v>
                </c:pt>
                <c:pt idx="25">
                  <c:v>0.232081911</c:v>
                </c:pt>
                <c:pt idx="26">
                  <c:v>0.23208191126279859</c:v>
                </c:pt>
                <c:pt idx="27">
                  <c:v>0.22945205479452049</c:v>
                </c:pt>
                <c:pt idx="28">
                  <c:v>0.22945205479452049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60-4EA5-8781-6E282AA5BE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58769296"/>
        <c:axId val="1458772656"/>
      </c:lineChart>
      <c:catAx>
        <c:axId val="1458769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b="1"/>
                  <a:t>n_features</a:t>
                </a:r>
                <a:endParaRPr lang="ko-KR" alt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8772656"/>
        <c:crosses val="autoZero"/>
        <c:auto val="1"/>
        <c:lblAlgn val="ctr"/>
        <c:lblOffset val="100"/>
        <c:noMultiLvlLbl val="0"/>
      </c:catAx>
      <c:valAx>
        <c:axId val="145877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8769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/>
              <a:t>Recall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recall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Sheet1!$I$2:$I$30</c:f>
              <c:numCache>
                <c:formatCode>General</c:formatCode>
                <c:ptCount val="29"/>
                <c:pt idx="0">
                  <c:v>0.72164948453608246</c:v>
                </c:pt>
                <c:pt idx="1">
                  <c:v>0.67010309300000004</c:v>
                </c:pt>
                <c:pt idx="2">
                  <c:v>0.701030928</c:v>
                </c:pt>
                <c:pt idx="3">
                  <c:v>0.701030928</c:v>
                </c:pt>
                <c:pt idx="4">
                  <c:v>0.72164948500000003</c:v>
                </c:pt>
                <c:pt idx="5">
                  <c:v>0.72164948500000003</c:v>
                </c:pt>
                <c:pt idx="6">
                  <c:v>0.71134020600000003</c:v>
                </c:pt>
                <c:pt idx="7">
                  <c:v>0.71134020600000003</c:v>
                </c:pt>
                <c:pt idx="8">
                  <c:v>0.72164948500000003</c:v>
                </c:pt>
                <c:pt idx="9">
                  <c:v>0.71134020600000003</c:v>
                </c:pt>
                <c:pt idx="10">
                  <c:v>0.69072164899999999</c:v>
                </c:pt>
                <c:pt idx="11">
                  <c:v>0.72164948500000003</c:v>
                </c:pt>
                <c:pt idx="12">
                  <c:v>0.71134020600000003</c:v>
                </c:pt>
                <c:pt idx="13">
                  <c:v>0.71134020618556704</c:v>
                </c:pt>
                <c:pt idx="14">
                  <c:v>0.71134020600000003</c:v>
                </c:pt>
                <c:pt idx="15">
                  <c:v>0.701030928</c:v>
                </c:pt>
                <c:pt idx="16">
                  <c:v>0.69072164899999999</c:v>
                </c:pt>
                <c:pt idx="17">
                  <c:v>0.69072164899999999</c:v>
                </c:pt>
                <c:pt idx="18">
                  <c:v>0.68041237099999996</c:v>
                </c:pt>
                <c:pt idx="19">
                  <c:v>0.68041237113402064</c:v>
                </c:pt>
                <c:pt idx="20">
                  <c:v>0.69072164899999999</c:v>
                </c:pt>
                <c:pt idx="21">
                  <c:v>0.67010309300000004</c:v>
                </c:pt>
                <c:pt idx="22">
                  <c:v>0.68041237099999996</c:v>
                </c:pt>
                <c:pt idx="23">
                  <c:v>0.68041237113402064</c:v>
                </c:pt>
                <c:pt idx="24">
                  <c:v>0.68041237099999996</c:v>
                </c:pt>
                <c:pt idx="25">
                  <c:v>0.701030928</c:v>
                </c:pt>
                <c:pt idx="26">
                  <c:v>0.7010309278350515</c:v>
                </c:pt>
                <c:pt idx="27">
                  <c:v>0.69072164948453607</c:v>
                </c:pt>
                <c:pt idx="28">
                  <c:v>0.69072164948453607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FA-4D16-947F-FA6CEDD93C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9257632"/>
        <c:axId val="1429254752"/>
      </c:lineChart>
      <c:catAx>
        <c:axId val="1429257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b="1"/>
                  <a:t>n_features</a:t>
                </a:r>
                <a:endParaRPr lang="ko-KR" alt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29254752"/>
        <c:crosses val="autoZero"/>
        <c:auto val="1"/>
        <c:lblAlgn val="ctr"/>
        <c:lblOffset val="100"/>
        <c:noMultiLvlLbl val="0"/>
      </c:catAx>
      <c:valAx>
        <c:axId val="142925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2925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직사각형 6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직사각형 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직사각형 5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ahLst/>
            <a:cxn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12/30/2025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직사각형 1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2025. 12. 31.</a:t>
            </a: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1. What’s discussed in the last meetings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1135632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A stratification analysis is performed with the same model (total training database)</a:t>
            </a:r>
            <a:endParaRPr lang="en-US" altLang="ko-KR" sz="1800" dirty="0"/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Reaffirming the concept and discussing the methodology for stratification analysis</a:t>
            </a:r>
            <a:endParaRPr lang="en-US" altLang="ko-KR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Research Summary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398583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sz="1800" b="1" dirty="0"/>
              <a:t>Stratification Analysis</a:t>
            </a:r>
            <a:endParaRPr lang="ko-KR" altLang="en-US" sz="1800" dirty="0"/>
          </a:p>
          <a:p>
            <a:pPr lvl="1">
              <a:lnSpc>
                <a:spcPct val="200000"/>
              </a:lnSpc>
            </a:pPr>
            <a:r>
              <a:rPr lang="ko-KR" altLang="en-US" sz="1600" dirty="0"/>
              <a:t>폐경 여성 환자군 대상 하위 집단 분석 수행</a:t>
            </a:r>
            <a:br>
              <a:rPr lang="ko-KR" altLang="en-US" sz="1600" dirty="0"/>
            </a:br>
            <a:r>
              <a:rPr lang="en-US" altLang="ko-KR" sz="1600" dirty="0"/>
              <a:t>(</a:t>
            </a:r>
            <a:r>
              <a:rPr lang="ko-KR" altLang="en-US" sz="1600" dirty="0"/>
              <a:t>연령대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근육량</a:t>
            </a:r>
            <a:r>
              <a:rPr lang="en-US" altLang="ko-KR" sz="1600" dirty="0"/>
              <a:t>, </a:t>
            </a:r>
            <a:r>
              <a:rPr lang="ko-KR" altLang="en-US" sz="1600" dirty="0"/>
              <a:t>흡연</a:t>
            </a:r>
            <a:r>
              <a:rPr lang="en-US" altLang="ko-KR" sz="1600" dirty="0"/>
              <a:t>/</a:t>
            </a:r>
            <a:r>
              <a:rPr lang="ko-KR" altLang="en-US" sz="1600" dirty="0"/>
              <a:t>운동</a:t>
            </a:r>
            <a:r>
              <a:rPr lang="en-US" altLang="ko-KR" sz="1600" dirty="0"/>
              <a:t>/</a:t>
            </a:r>
            <a:r>
              <a:rPr lang="ko-KR" altLang="en-US" sz="1600" dirty="0"/>
              <a:t>음주</a:t>
            </a:r>
            <a:r>
              <a:rPr lang="en-US" altLang="ko-KR" sz="1600" dirty="0"/>
              <a:t>, </a:t>
            </a:r>
            <a:r>
              <a:rPr lang="ko-KR" altLang="en-US" sz="1600" dirty="0"/>
              <a:t>약물 복용 여부</a:t>
            </a:r>
            <a:r>
              <a:rPr lang="en-US" altLang="ko-KR" sz="1600" dirty="0"/>
              <a:t>, Breast Density, BI-RADS)</a:t>
            </a:r>
          </a:p>
          <a:p>
            <a:pPr lvl="1">
              <a:lnSpc>
                <a:spcPct val="200000"/>
              </a:lnSpc>
            </a:pPr>
            <a:r>
              <a:rPr lang="en-US" altLang="ko-KR" sz="1600" dirty="0"/>
              <a:t>subgroup</a:t>
            </a:r>
            <a:r>
              <a:rPr lang="ko-KR" altLang="en-US" sz="1600" dirty="0"/>
              <a:t>별 성능 편차 존재하나 미비함</a:t>
            </a:r>
          </a:p>
          <a:p>
            <a:pPr>
              <a:lnSpc>
                <a:spcPct val="200000"/>
              </a:lnSpc>
            </a:pPr>
            <a:r>
              <a:rPr lang="en-US" altLang="ko-KR" sz="1800" b="1" dirty="0"/>
              <a:t>Feature Importance Analysis</a:t>
            </a:r>
            <a:endParaRPr lang="ko-KR" altLang="en-US" sz="1800" dirty="0"/>
          </a:p>
          <a:p>
            <a:pPr lvl="1">
              <a:lnSpc>
                <a:spcPct val="200000"/>
              </a:lnSpc>
            </a:pPr>
            <a:r>
              <a:rPr lang="en-US" altLang="ko-KR" sz="1600" dirty="0"/>
              <a:t>Logistic Regression </a:t>
            </a:r>
            <a:r>
              <a:rPr lang="ko-KR" altLang="en-US" sz="1600" dirty="0"/>
              <a:t>기반 </a:t>
            </a:r>
            <a:r>
              <a:rPr lang="en-US" altLang="ko-KR" sz="1600" dirty="0"/>
              <a:t>feature importance </a:t>
            </a:r>
            <a:r>
              <a:rPr lang="ko-KR" altLang="en-US" sz="1600" dirty="0"/>
              <a:t>및 </a:t>
            </a:r>
            <a:r>
              <a:rPr lang="en-US" altLang="ko-KR" sz="1600" dirty="0"/>
              <a:t>feature selection </a:t>
            </a:r>
            <a:r>
              <a:rPr lang="ko-KR" altLang="en-US" sz="1600" dirty="0"/>
              <a:t>수행</a:t>
            </a:r>
          </a:p>
          <a:p>
            <a:pPr lvl="1">
              <a:lnSpc>
                <a:spcPct val="200000"/>
              </a:lnSpc>
            </a:pPr>
            <a:r>
              <a:rPr lang="ko-KR" altLang="en-US" sz="1600" dirty="0"/>
              <a:t>전반적인 </a:t>
            </a:r>
            <a:r>
              <a:rPr lang="en-US" altLang="ko-KR" sz="1600" dirty="0"/>
              <a:t>feature importance</a:t>
            </a:r>
            <a:r>
              <a:rPr lang="ko-KR" altLang="en-US" sz="1600" dirty="0"/>
              <a:t>를 확인하기 위해 </a:t>
            </a:r>
            <a:r>
              <a:rPr lang="en-US" altLang="ko-KR" sz="1600" dirty="0"/>
              <a:t>‘</a:t>
            </a:r>
            <a:r>
              <a:rPr lang="ko-KR" altLang="en-US" sz="1600" dirty="0"/>
              <a:t>환자 번호</a:t>
            </a:r>
            <a:r>
              <a:rPr lang="en-US" altLang="ko-KR" sz="1600" dirty="0"/>
              <a:t>’</a:t>
            </a:r>
            <a:r>
              <a:rPr lang="ko-KR" altLang="en-US" sz="1600" dirty="0"/>
              <a:t> 및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진료년월일</a:t>
            </a:r>
            <a:r>
              <a:rPr lang="en-US" altLang="ko-KR" sz="1600" dirty="0"/>
              <a:t>’</a:t>
            </a:r>
            <a:r>
              <a:rPr lang="ko-KR" altLang="en-US" sz="1600" dirty="0"/>
              <a:t> 제거 없이 진행</a:t>
            </a:r>
            <a:endParaRPr lang="en-US" altLang="ko-KR" sz="1600" dirty="0"/>
          </a:p>
          <a:p>
            <a:pPr lvl="1">
              <a:lnSpc>
                <a:spcPct val="200000"/>
              </a:lnSpc>
            </a:pPr>
            <a:r>
              <a:rPr lang="ko-KR" altLang="en-US" sz="1600" dirty="0"/>
              <a:t>확인 결과</a:t>
            </a:r>
            <a:r>
              <a:rPr lang="en-US" altLang="ko-KR" sz="1600" dirty="0"/>
              <a:t>, feature selection</a:t>
            </a:r>
            <a:r>
              <a:rPr lang="ko-KR" altLang="en-US" sz="1600" dirty="0"/>
              <a:t>을 진행함에도 불구하고 성능적인 차이가 나타나지 않음</a:t>
            </a:r>
            <a:endParaRPr lang="en-US" altLang="ko-KR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5005-23A7-7AFB-BC2B-6E2832B0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AD6832-7334-44B4-725E-86C0EBD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14875F32-8918-4B60-499C-4A83AF093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23AEAB0-2284-3E91-EC4F-83CD26934C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007846"/>
            <a:ext cx="5486400" cy="3637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인체 임상 변수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A0C6FA-5764-D095-FA59-83B19B75D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504458"/>
              </p:ext>
            </p:extLst>
          </p:nvPr>
        </p:nvGraphicFramePr>
        <p:xfrm>
          <a:off x="685800" y="1542803"/>
          <a:ext cx="5562600" cy="4937760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3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Description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여부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1062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횟수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7"/>
          <p:cNvSpPr txBox="1">
            <a:spLocks/>
          </p:cNvSpPr>
          <p:nvPr/>
        </p:nvSpPr>
        <p:spPr>
          <a:xfrm>
            <a:off x="6858000" y="1013289"/>
            <a:ext cx="3352800" cy="36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약물 복용 변수</a:t>
            </a:r>
            <a:endParaRPr lang="en-US" altLang="ko-KR" sz="1800" dirty="0"/>
          </a:p>
        </p:txBody>
      </p:sp>
      <p:graphicFrame>
        <p:nvGraphicFramePr>
          <p:cNvPr id="17" name="표 16"/>
          <p:cNvGraphicFramePr/>
          <p:nvPr>
            <p:extLst>
              <p:ext uri="{D42A27DB-BD31-4B8C-83A1-F6EECF244321}">
                <p14:modId xmlns:p14="http://schemas.microsoft.com/office/powerpoint/2010/main" val="3290937351"/>
              </p:ext>
            </p:extLst>
          </p:nvPr>
        </p:nvGraphicFramePr>
        <p:xfrm>
          <a:off x="6781800" y="1542803"/>
          <a:ext cx="4343400" cy="246888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혈압약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당뇨약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고지혈증약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소염진통제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02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흡연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current: 1 / </a:t>
                      </a:r>
                      <a:r>
                        <a:rPr lang="en-US" altLang="ko-KR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exsmoke</a:t>
                      </a: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: 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운동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음주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5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유방암 가족력 이력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영상 파생 변수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Mammography</a:t>
            </a:r>
            <a:r>
              <a:rPr lang="ko-KR" altLang="en-US" sz="1600"/>
              <a:t>로부터 계산된 값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1219200" y="2133600"/>
          <a:ext cx="9601200" cy="2074571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344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Description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ense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g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rading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lang="en-US" altLang="ko-KR"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1~4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단계</a:t>
                      </a:r>
                      <a:endParaRPr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*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</a:t>
                      </a:r>
                      <a:r>
                        <a:rPr 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lang="ko-KR" altLang="en-US" sz="16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43000" y="454049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</a:rPr>
              <a:t>*BIRADS (Breast Imaging Reporting and Data System)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환자 데이터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/>
              <a:t>전체 </a:t>
            </a:r>
            <a:r>
              <a:rPr lang="en-US" altLang="ko-KR" sz="1600"/>
              <a:t>8,768</a:t>
            </a:r>
            <a:r>
              <a:rPr lang="ko-KR" altLang="en-US" sz="1600"/>
              <a:t>명 중 폐경 환자군만 고려</a:t>
            </a:r>
          </a:p>
        </p:txBody>
      </p:sp>
      <p:graphicFrame>
        <p:nvGraphicFramePr>
          <p:cNvPr id="2" name="표 18"/>
          <p:cNvGraphicFramePr/>
          <p:nvPr/>
        </p:nvGraphicFramePr>
        <p:xfrm>
          <a:off x="1251408" y="2819401"/>
          <a:ext cx="3124200" cy="14478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Samples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214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맑은 고딕"/>
                <a:ea typeface="맑은 고딕"/>
              </a:rPr>
              <a:t>&lt;</a:t>
            </a:r>
            <a:r>
              <a:rPr lang="ko-KR" altLang="en-US" sz="1800">
                <a:latin typeface="맑은 고딕"/>
                <a:ea typeface="맑은 고딕"/>
              </a:rPr>
              <a:t>폐경 환자군 내 정상</a:t>
            </a:r>
            <a:r>
              <a:rPr lang="en-US" altLang="ko-KR" sz="1800">
                <a:latin typeface="맑은 고딕"/>
                <a:ea typeface="맑은 고딕"/>
              </a:rPr>
              <a:t>/</a:t>
            </a:r>
            <a:r>
              <a:rPr lang="ko-KR" altLang="en-US" sz="1800">
                <a:latin typeface="맑은 고딕"/>
                <a:ea typeface="맑은 고딕"/>
              </a:rPr>
              <a:t>골다공증 비율</a:t>
            </a:r>
            <a:r>
              <a:rPr lang="en-US" altLang="ko-KR" sz="1800">
                <a:latin typeface="맑은 고딕"/>
                <a:ea typeface="맑은 고딕"/>
              </a:rPr>
              <a:t>&gt;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20" name="표 19"/>
          <p:cNvGraphicFramePr/>
          <p:nvPr>
            <p:extLst>
              <p:ext uri="{D42A27DB-BD31-4B8C-83A1-F6EECF244321}">
                <p14:modId xmlns:p14="http://schemas.microsoft.com/office/powerpoint/2010/main" val="862446855"/>
              </p:ext>
            </p:extLst>
          </p:nvPr>
        </p:nvGraphicFramePr>
        <p:xfrm>
          <a:off x="1029991" y="2860362"/>
          <a:ext cx="6041684" cy="3901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9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397"/>
              </p:ext>
            </p:extLst>
          </p:nvPr>
        </p:nvGraphicFramePr>
        <p:xfrm>
          <a:off x="1029991" y="1855638"/>
          <a:ext cx="10650493" cy="83773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4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BMI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BreastDensity(%)AVG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DenseArea(sqcm)AVG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t-stat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-10.18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7.86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-2.09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4.84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2.53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0.037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B9BFF4D-47DF-B8E5-82D8-8FA2E663D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82586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Performed t-test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88256"/>
            <a:ext cx="12192000" cy="5417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3. Detailed progress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934119"/>
            <a:ext cx="3497580" cy="2914650"/>
          </a:xfrm>
          <a:prstGeom prst="rect">
            <a:avLst/>
          </a:prstGeom>
        </p:spPr>
      </p:pic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4042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8E9C4-86CA-F9B8-F44E-7C7464021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13635"/>
              </p:ext>
            </p:extLst>
          </p:nvPr>
        </p:nvGraphicFramePr>
        <p:xfrm>
          <a:off x="557220" y="1524000"/>
          <a:ext cx="11077560" cy="1800001"/>
        </p:xfrm>
        <a:graphic>
          <a:graphicData uri="http://schemas.openxmlformats.org/drawingml/2006/table">
            <a:tbl>
              <a:tblPr firstRow="1" bandRow="1"/>
              <a:tblGrid>
                <a:gridCol w="162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833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금연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3043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.6846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.2256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.6383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현재 흡연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.7500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18611"/>
                  </a:ext>
                </a:extLst>
              </a:tr>
              <a:tr h="4055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현재 흡연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.8750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.3333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5AC8DB-41FE-B77B-025B-530AC18DB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410200" cy="2954655"/>
          </a:xfrm>
        </p:spPr>
        <p:txBody>
          <a:bodyPr/>
          <a:lstStyle/>
          <a:p>
            <a:r>
              <a:rPr lang="ko-KR" altLang="en-US" dirty="0"/>
              <a:t>흡연 여부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운동 여부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5A69AC-4EEA-CEBB-4FD1-60E236A68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67584"/>
              </p:ext>
            </p:extLst>
          </p:nvPr>
        </p:nvGraphicFramePr>
        <p:xfrm>
          <a:off x="557220" y="4114800"/>
          <a:ext cx="11077560" cy="1440000"/>
        </p:xfrm>
        <a:graphic>
          <a:graphicData uri="http://schemas.openxmlformats.org/drawingml/2006/table">
            <a:tbl>
              <a:tblPr firstRow="1" bandRow="1"/>
              <a:tblGrid>
                <a:gridCol w="162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운동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235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.7021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.2206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.4688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운동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2231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558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334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.6918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.2199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.6462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40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591B-164F-521C-4492-E8D8D6C7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884CB5-44C7-9F9B-3F1A-887F458A8D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2D1B8F-E813-A132-1E27-F6230AFF0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815210"/>
              </p:ext>
            </p:extLst>
          </p:nvPr>
        </p:nvGraphicFramePr>
        <p:xfrm>
          <a:off x="810960" y="1524000"/>
          <a:ext cx="10570080" cy="1440000"/>
        </p:xfrm>
        <a:graphic>
          <a:graphicData uri="http://schemas.openxmlformats.org/drawingml/2006/table">
            <a:tbl>
              <a:tblPr firstRow="1" bandRow="1"/>
              <a:tblGrid>
                <a:gridCol w="111252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음주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2139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535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328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.7103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.2826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.6933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음주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.6473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.1034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.4091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D2EC3A6-3902-47DC-9023-5B7A1CC21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943600" cy="2954655"/>
          </a:xfrm>
        </p:spPr>
        <p:txBody>
          <a:bodyPr/>
          <a:lstStyle/>
          <a:p>
            <a:r>
              <a:rPr lang="ko-KR" altLang="en-US" dirty="0"/>
              <a:t>음주 여부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Breast Density Grading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8951D8-5EB0-5625-823D-EA428F2DD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193499"/>
              </p:ext>
            </p:extLst>
          </p:nvPr>
        </p:nvGraphicFramePr>
        <p:xfrm>
          <a:off x="810960" y="4114800"/>
          <a:ext cx="10570080" cy="2160001"/>
        </p:xfrm>
        <a:graphic>
          <a:graphicData uri="http://schemas.openxmlformats.org/drawingml/2006/table">
            <a:tbl>
              <a:tblPr firstRow="1" bandRow="1"/>
              <a:tblGrid>
                <a:gridCol w="111252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712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BDG 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.8269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.5714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BDG 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.2424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.5714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4124191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BDG 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2090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523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.6711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.2021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.6333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0613942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BDG 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483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.6364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.1957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.5625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03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06A9-00A5-0C8E-7DFD-BD6307C4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579C34B-6C3F-1C91-15F7-9E7802AC9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A6AE586-E782-CAF5-2FA2-464018E4BF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943600" cy="369332"/>
          </a:xfrm>
        </p:spPr>
        <p:txBody>
          <a:bodyPr/>
          <a:lstStyle/>
          <a:p>
            <a:r>
              <a:rPr lang="en-US" altLang="ko-KR" dirty="0"/>
              <a:t>BI-RADS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AC7C0C7-7283-CD56-FFA7-8666F825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109650"/>
              </p:ext>
            </p:extLst>
          </p:nvPr>
        </p:nvGraphicFramePr>
        <p:xfrm>
          <a:off x="837770" y="1600200"/>
          <a:ext cx="10897560" cy="2911403"/>
        </p:xfrm>
        <a:graphic>
          <a:graphicData uri="http://schemas.openxmlformats.org/drawingml/2006/table">
            <a:tbl>
              <a:tblPr firstRow="1" bandRow="1"/>
              <a:tblGrid>
                <a:gridCol w="144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629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 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738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.6703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.1846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1365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342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.6871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.2417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.6444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4124191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1008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.6561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.1724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727992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0613942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SKIP Small Group</a:t>
                      </a:r>
                      <a:endParaRPr lang="ko-KR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8104399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BI-RADS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SKIP Small Group</a:t>
                      </a:r>
                      <a:endParaRPr lang="ko-KR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07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2DF4-9E1F-07C6-EA07-50E15EFE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0C58E8A-8899-E60E-8F25-E27813333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71DA7F6-7049-2E0B-7349-B4174DDCB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943600" cy="369332"/>
          </a:xfrm>
        </p:spPr>
        <p:txBody>
          <a:bodyPr/>
          <a:lstStyle/>
          <a:p>
            <a:r>
              <a:rPr lang="en-US" altLang="ko-KR" dirty="0"/>
              <a:t>Age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9DADCD-F1E1-0743-A28B-E66CDD6DE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71785"/>
              </p:ext>
            </p:extLst>
          </p:nvPr>
        </p:nvGraphicFramePr>
        <p:xfrm>
          <a:off x="837770" y="1600200"/>
          <a:ext cx="10943560" cy="2519999"/>
        </p:xfrm>
        <a:graphic>
          <a:graphicData uri="http://schemas.openxmlformats.org/drawingml/2006/table">
            <a:tbl>
              <a:tblPr firstRow="1" bandRow="1"/>
              <a:tblGrid>
                <a:gridCol w="144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46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629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.6957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.1250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1559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390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.6744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.1429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.5938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4124191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1122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281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.6584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.2381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.6098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727992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359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.5667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.2222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.4211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0613942"/>
                  </a:ext>
                </a:extLst>
              </a:tr>
              <a:tr h="391404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≥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41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D614-7012-729C-DF92-A555962D6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29EA97-1E1F-9071-21C5-74D537067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A8CE750-D059-BF0E-4D90-1BC086F2C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943600" cy="369332"/>
          </a:xfrm>
        </p:spPr>
        <p:txBody>
          <a:bodyPr/>
          <a:lstStyle/>
          <a:p>
            <a:r>
              <a:rPr lang="en-US" altLang="ko-KR" dirty="0"/>
              <a:t>Muscle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5E86F36-77F2-2EE5-2E63-21F3A1FCD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65430"/>
              </p:ext>
            </p:extLst>
          </p:nvPr>
        </p:nvGraphicFramePr>
        <p:xfrm>
          <a:off x="837770" y="1600200"/>
          <a:ext cx="10943560" cy="2160001"/>
        </p:xfrm>
        <a:graphic>
          <a:graphicData uri="http://schemas.openxmlformats.org/drawingml/2006/table">
            <a:tbl>
              <a:tblPr firstRow="1" bandRow="1"/>
              <a:tblGrid>
                <a:gridCol w="144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46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712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241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.5902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.3793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.6111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 – 35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1187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297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192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86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.6835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.1134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.5789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4124191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35 – 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1489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373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.6139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.2424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.6780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0613942"/>
                  </a:ext>
                </a:extLst>
              </a:tr>
              <a:tr h="397179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≥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.8095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69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8E9C4-86CA-F9B8-F44E-7C7464021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69920"/>
              </p:ext>
            </p:extLst>
          </p:nvPr>
        </p:nvGraphicFramePr>
        <p:xfrm>
          <a:off x="810960" y="1524000"/>
          <a:ext cx="10570080" cy="1440000"/>
        </p:xfrm>
        <a:graphic>
          <a:graphicData uri="http://schemas.openxmlformats.org/drawingml/2006/table">
            <a:tbl>
              <a:tblPr firstRow="1" bandRow="1"/>
              <a:tblGrid>
                <a:gridCol w="111252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혈압약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2478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.6661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.2213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.6842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혈압약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690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173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.7052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.2500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.7143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5AC8DB-41FE-B77B-025B-530AC18DB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5334000" cy="2954655"/>
          </a:xfrm>
        </p:spPr>
        <p:txBody>
          <a:bodyPr/>
          <a:lstStyle/>
          <a:p>
            <a:r>
              <a:rPr lang="ko-KR" altLang="en-US" dirty="0" err="1"/>
              <a:t>혈압약</a:t>
            </a:r>
            <a:r>
              <a:rPr lang="ko-KR" altLang="en-US" dirty="0"/>
              <a:t> 복용 여부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당뇨약</a:t>
            </a:r>
            <a:r>
              <a:rPr lang="ko-KR" altLang="en-US" dirty="0"/>
              <a:t> 복용 여부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5A69AC-4EEA-CEBB-4FD1-60E236A68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08632"/>
              </p:ext>
            </p:extLst>
          </p:nvPr>
        </p:nvGraphicFramePr>
        <p:xfrm>
          <a:off x="810960" y="4114800"/>
          <a:ext cx="10570080" cy="1440000"/>
        </p:xfrm>
        <a:graphic>
          <a:graphicData uri="http://schemas.openxmlformats.org/drawingml/2006/table">
            <a:tbl>
              <a:tblPr firstRow="1" bandRow="1"/>
              <a:tblGrid>
                <a:gridCol w="111252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당뇨약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2944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427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219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.6676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.2289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.7143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당뇨약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.6071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.1429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.4286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C6D4-9A3B-3A10-602D-0AA796D47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26D1BF2-5E87-2FB0-C56B-1420751DC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E450F7-7740-1BC2-D9F9-E16F2B022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14463"/>
              </p:ext>
            </p:extLst>
          </p:nvPr>
        </p:nvGraphicFramePr>
        <p:xfrm>
          <a:off x="609600" y="1524000"/>
          <a:ext cx="11077560" cy="1440000"/>
        </p:xfrm>
        <a:graphic>
          <a:graphicData uri="http://schemas.openxmlformats.org/drawingml/2006/table">
            <a:tbl>
              <a:tblPr firstRow="1" bandRow="1"/>
              <a:tblGrid>
                <a:gridCol w="162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고지혈증약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2418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.6893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.2347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.6667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고지혈증약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.6117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.1688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.5909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23C73A4-2D94-4734-65FF-DBACE3E0E1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2954655"/>
          </a:xfrm>
        </p:spPr>
        <p:txBody>
          <a:bodyPr/>
          <a:lstStyle/>
          <a:p>
            <a:r>
              <a:rPr lang="ko-KR" altLang="en-US" dirty="0" err="1"/>
              <a:t>고지혈증약</a:t>
            </a:r>
            <a:r>
              <a:rPr lang="ko-KR" altLang="en-US" dirty="0"/>
              <a:t> 복용 여부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소염진통제 복용 여부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DAAA0DE-3AC4-5612-A064-35E8331D0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170013"/>
              </p:ext>
            </p:extLst>
          </p:nvPr>
        </p:nvGraphicFramePr>
        <p:xfrm>
          <a:off x="609600" y="4114800"/>
          <a:ext cx="11077560" cy="1440000"/>
        </p:xfrm>
        <a:graphic>
          <a:graphicData uri="http://schemas.openxmlformats.org/drawingml/2006/table">
            <a:tbl>
              <a:tblPr firstRow="1" bandRow="1"/>
              <a:tblGrid>
                <a:gridCol w="162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소염진통제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2984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747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218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.6586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.2015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.5978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소염진통제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.7391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.2667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83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3867-CC28-7D1B-8219-95BD646A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1D546D4-769D-00B2-F441-5DAFBDE9F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A9B7C7-5BA6-5138-3DBE-3BE9953AA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954739"/>
              </p:ext>
            </p:extLst>
          </p:nvPr>
        </p:nvGraphicFramePr>
        <p:xfrm>
          <a:off x="237840" y="1668928"/>
          <a:ext cx="11725560" cy="3952830"/>
        </p:xfrm>
        <a:graphic>
          <a:graphicData uri="http://schemas.openxmlformats.org/drawingml/2006/table">
            <a:tbl>
              <a:tblPr firstRow="1" bandRow="1"/>
              <a:tblGrid>
                <a:gridCol w="2268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.6891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.2271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.6528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.8462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.5000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.5000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5680245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.7113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.2444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.6111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028358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.8065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2072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.6455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.1897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.5873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92438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.7255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.2727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.6923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1803882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.7471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.3214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034433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.7241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0631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40D762-3BD9-052F-83F4-C51CD88EB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ko-KR" altLang="en-US" dirty="0"/>
              <a:t>약물 </a:t>
            </a:r>
            <a:r>
              <a:rPr lang="en-US" altLang="ko-KR" dirty="0"/>
              <a:t>pair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8736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83F2-7950-C2F4-C70A-717D87320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50074F9-01FD-DD9F-E45A-2C9DA040A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7D4BC75-E4F6-F894-9EDE-7A7DDAC42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890041"/>
              </p:ext>
            </p:extLst>
          </p:nvPr>
        </p:nvGraphicFramePr>
        <p:xfrm>
          <a:off x="237840" y="1668928"/>
          <a:ext cx="11725560" cy="3952830"/>
        </p:xfrm>
        <a:graphic>
          <a:graphicData uri="http://schemas.openxmlformats.org/drawingml/2006/table">
            <a:tbl>
              <a:tblPr firstRow="1" bandRow="1"/>
              <a:tblGrid>
                <a:gridCol w="2268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2345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.6695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.2311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.7123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.7353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5680245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639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.6688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.8947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028358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혈압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.6154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2330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.6672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.2150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.6389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92438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.7013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.2245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.5789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1803882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.5909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.6667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034433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136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.7059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0631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2C9E6D-A393-5EF6-4BC5-BD5EF8A92A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ko-KR" altLang="en-US" dirty="0"/>
              <a:t>약물 </a:t>
            </a:r>
            <a:r>
              <a:rPr lang="en-US" altLang="ko-KR" dirty="0"/>
              <a:t>pair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044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3245-DCE5-6618-EC16-2D904566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CD1AD09-0C68-EAEB-46C6-6AFF85A20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0C16D14-5D76-999C-7E98-A290ABE6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46610"/>
              </p:ext>
            </p:extLst>
          </p:nvPr>
        </p:nvGraphicFramePr>
        <p:xfrm>
          <a:off x="27214" y="1752600"/>
          <a:ext cx="12157560" cy="3952830"/>
        </p:xfrm>
        <a:graphic>
          <a:graphicData uri="http://schemas.openxmlformats.org/drawingml/2006/table">
            <a:tbl>
              <a:tblPr firstRow="1" bandRow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4106657839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602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Train_n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2780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.6825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.2128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.5814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.5854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.0667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5680245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.6078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.1500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028358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당뇨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.8000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.5000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2300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.6649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.2176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.6620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9243879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.6667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1803882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.7018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.2414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.6667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034433"/>
                  </a:ext>
                </a:extLst>
              </a:tr>
              <a:tr h="418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고지혈증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진통소염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.8235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.2500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610631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7154A3-7A4B-A992-E094-8E42779140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ko-KR" altLang="en-US" dirty="0"/>
              <a:t>약물 </a:t>
            </a:r>
            <a:r>
              <a:rPr lang="en-US" altLang="ko-KR" dirty="0"/>
              <a:t>pair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61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30DD-BB6D-6822-12EB-67CD0D69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9A5EC95-217A-C9AA-2929-558C4673E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E1E3DD6-5641-1A32-6D4E-D0A302305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773994"/>
          </a:xfrm>
        </p:spPr>
        <p:txBody>
          <a:bodyPr/>
          <a:lstStyle/>
          <a:p>
            <a:r>
              <a:rPr lang="en-US" altLang="ko-KR" dirty="0"/>
              <a:t>Feature selection by Feature Importance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Train Dataset: 3168, Test Dataset: 793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39A98F2-D64E-EDB4-C017-29BEDE8E7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836261"/>
              </p:ext>
            </p:extLst>
          </p:nvPr>
        </p:nvGraphicFramePr>
        <p:xfrm>
          <a:off x="1882088" y="2057400"/>
          <a:ext cx="8427824" cy="4709160"/>
        </p:xfrm>
        <a:graphic>
          <a:graphicData uri="http://schemas.openxmlformats.org/drawingml/2006/table">
            <a:tbl>
              <a:tblPr firstRow="1" bandRow="1"/>
              <a:tblGrid>
                <a:gridCol w="673125">
                  <a:extLst>
                    <a:ext uri="{9D8B030D-6E8A-4147-A177-3AD203B41FA5}">
                      <a16:colId xmlns:a16="http://schemas.microsoft.com/office/drawing/2014/main" val="2041219081"/>
                    </a:ext>
                  </a:extLst>
                </a:gridCol>
                <a:gridCol w="2154000">
                  <a:extLst>
                    <a:ext uri="{9D8B030D-6E8A-4147-A177-3AD203B41FA5}">
                      <a16:colId xmlns:a16="http://schemas.microsoft.com/office/drawing/2014/main" val="1661725989"/>
                    </a:ext>
                  </a:extLst>
                </a:gridCol>
                <a:gridCol w="1386787">
                  <a:extLst>
                    <a:ext uri="{9D8B030D-6E8A-4147-A177-3AD203B41FA5}">
                      <a16:colId xmlns:a16="http://schemas.microsoft.com/office/drawing/2014/main" val="1528097950"/>
                    </a:ext>
                  </a:extLst>
                </a:gridCol>
                <a:gridCol w="673125">
                  <a:extLst>
                    <a:ext uri="{9D8B030D-6E8A-4147-A177-3AD203B41FA5}">
                      <a16:colId xmlns:a16="http://schemas.microsoft.com/office/drawing/2014/main" val="3219514007"/>
                    </a:ext>
                  </a:extLst>
                </a:gridCol>
                <a:gridCol w="2154000">
                  <a:extLst>
                    <a:ext uri="{9D8B030D-6E8A-4147-A177-3AD203B41FA5}">
                      <a16:colId xmlns:a16="http://schemas.microsoft.com/office/drawing/2014/main" val="1439482534"/>
                    </a:ext>
                  </a:extLst>
                </a:gridCol>
                <a:gridCol w="1386787">
                  <a:extLst>
                    <a:ext uri="{9D8B030D-6E8A-4147-A177-3AD203B41FA5}">
                      <a16:colId xmlns:a16="http://schemas.microsoft.com/office/drawing/2014/main" val="383942081"/>
                    </a:ext>
                  </a:extLst>
                </a:gridCol>
              </a:tblGrid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rank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feature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coef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rank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feature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coef</a:t>
                      </a:r>
                      <a:endParaRPr lang="en-US" sz="13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809218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-1.6125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-0.0916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6242198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1.1816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Breast Density(%)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0.0897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4389571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-0.5484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유방암 가족력 이력</a:t>
                      </a:r>
                      <a:endParaRPr lang="ko-KR" alt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-0.0824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3966242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0.4591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-0.0726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3900010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-0.4237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-0.0710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7108742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0.4151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-0.0465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728964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0.4011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0.0420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8231945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WHRatio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0.2527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0.0416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4842215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Dense Area(cm</a:t>
                      </a:r>
                      <a:r>
                        <a:rPr lang="en-US" sz="1300" kern="0" spc="0" baseline="30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-0.2308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당뇨약</a:t>
                      </a: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-0.0373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5357210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BodyFat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-0.2065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진료년월일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0.0335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4543331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-0.1408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BIRADS_Category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-0.0276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0282735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-0.1250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진통소염제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-0.0216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495300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Breast Area(cm</a:t>
                      </a:r>
                      <a:r>
                        <a:rPr lang="en-US" sz="1300" kern="0" spc="0" baseline="30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0.1117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출산횟수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-0.0193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5697021"/>
                  </a:ext>
                </a:extLst>
              </a:tr>
              <a:tr h="192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-0.0977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폐경여부</a:t>
                      </a:r>
                      <a:endParaRPr lang="ko-KR" alt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0.0000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0845672"/>
                  </a:ext>
                </a:extLst>
              </a:tr>
              <a:tr h="271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3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0.0969</a:t>
                      </a:r>
                      <a:endParaRPr lang="en-US" sz="13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300" dirty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541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42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0A30-359F-5DA0-A792-CC75445B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9CF82F-9352-95EA-AB47-B8E41CB1D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659767"/>
              </p:ext>
            </p:extLst>
          </p:nvPr>
        </p:nvGraphicFramePr>
        <p:xfrm>
          <a:off x="152400" y="381000"/>
          <a:ext cx="11734802" cy="6400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60610">
                  <a:extLst>
                    <a:ext uri="{9D8B030D-6E8A-4147-A177-3AD203B41FA5}">
                      <a16:colId xmlns:a16="http://schemas.microsoft.com/office/drawing/2014/main" val="1560542156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2171472186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1415713993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1702410496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2938048535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1610162725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4079700097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1935479294"/>
                    </a:ext>
                  </a:extLst>
                </a:gridCol>
                <a:gridCol w="1396774">
                  <a:extLst>
                    <a:ext uri="{9D8B030D-6E8A-4147-A177-3AD203B41FA5}">
                      <a16:colId xmlns:a16="http://schemas.microsoft.com/office/drawing/2014/main" val="2380802757"/>
                    </a:ext>
                  </a:extLst>
                </a:gridCol>
              </a:tblGrid>
              <a:tr h="1340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rank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27_features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26_features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25_features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24_features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23_features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22_features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ea"/>
                          <a:ea typeface="+mn-ea"/>
                        </a:rPr>
                        <a:t>21_features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20_features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9616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887398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BMI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07601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복부내장지방량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075635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219603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66541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복부피하지방량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근육량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54182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901349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복부지방율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06064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392400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Dense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026058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음주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667695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운동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68431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Area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3928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혈압약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982988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77275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고지혈증약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074731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초경연령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1058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유방암가족력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322709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흡연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7890473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체지방량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221533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107248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48806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Breast Density Grading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File Analyzed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허리둘레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705816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당뇨약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당뇨약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당뇨약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당뇨약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743549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25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진료년월일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진료년월일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진료년월일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617025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26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 err="1">
                          <a:effectLst/>
                          <a:latin typeface="+mn-ea"/>
                          <a:ea typeface="+mn-ea"/>
                        </a:rPr>
                        <a:t>BIRADS_Category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BIRADS_Category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397375"/>
                  </a:ext>
                </a:extLst>
              </a:tr>
              <a:tr h="134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27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진통소염제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677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384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EB8B-BFC7-2B4B-2879-754BA1AA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8302A83-EE93-0459-8FBB-8A2422FD26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85DA433-3723-9FE6-499C-EDC84D841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066800"/>
            <a:ext cx="8991600" cy="369332"/>
          </a:xfrm>
        </p:spPr>
        <p:txBody>
          <a:bodyPr/>
          <a:lstStyle/>
          <a:p>
            <a:r>
              <a:rPr lang="en-US" altLang="ko-KR" dirty="0"/>
              <a:t>Feature selection by Feature Importance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279FA120-07A5-EED5-EAD8-014B0915B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893102"/>
              </p:ext>
            </p:extLst>
          </p:nvPr>
        </p:nvGraphicFramePr>
        <p:xfrm>
          <a:off x="609600" y="1991795"/>
          <a:ext cx="54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B2AFA98-353A-2EDE-C18F-C106E9BF8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776363"/>
              </p:ext>
            </p:extLst>
          </p:nvPr>
        </p:nvGraphicFramePr>
        <p:xfrm>
          <a:off x="6286550" y="1692616"/>
          <a:ext cx="540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39695EB0-A7E3-C231-951F-20F4E6B247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801929"/>
              </p:ext>
            </p:extLst>
          </p:nvPr>
        </p:nvGraphicFramePr>
        <p:xfrm>
          <a:off x="6286550" y="4038600"/>
          <a:ext cx="540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9874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3D59-0626-49B3-E32B-35538967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86F2E3-D0DE-C2B7-29A3-258667243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4. Next Plans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657B7-7CA2-4E9F-5BB3-CC11BF76A05B}"/>
              </a:ext>
            </a:extLst>
          </p:cNvPr>
          <p:cNvSpPr txBox="1"/>
          <p:nvPr/>
        </p:nvSpPr>
        <p:spPr>
          <a:xfrm>
            <a:off x="263225" y="1143000"/>
            <a:ext cx="5760000" cy="4807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Plan A. Stratified Evaluation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1" dirty="0"/>
              <a:t>Q1. Drug </a:t>
            </a:r>
            <a:r>
              <a:rPr lang="ko-KR" altLang="en-US" sz="1600" b="1" dirty="0"/>
              <a:t>상태에 따라 같은 모델의 성능이 달라지는가</a:t>
            </a:r>
            <a:r>
              <a:rPr lang="en-US" altLang="ko-KR" sz="1600" b="1" dirty="0"/>
              <a:t>?</a:t>
            </a:r>
            <a:endParaRPr lang="ko-KR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 </a:t>
            </a:r>
            <a:r>
              <a:rPr lang="en-US" altLang="ko-KR" sz="1400" b="1" dirty="0"/>
              <a:t>Model</a:t>
            </a:r>
            <a:r>
              <a:rPr lang="en-US" altLang="ko-KR" sz="1400" dirty="0"/>
              <a:t>: </a:t>
            </a:r>
            <a:r>
              <a:rPr lang="ko-KR" altLang="en-US" sz="1400" dirty="0"/>
              <a:t>동일한 모델 </a:t>
            </a:r>
            <a:r>
              <a:rPr lang="en-US" altLang="ko-KR" sz="1400" dirty="0"/>
              <a:t>(architecture, hyperparameter </a:t>
            </a:r>
            <a:r>
              <a:rPr lang="ko-KR" altLang="en-US" sz="1400" dirty="0"/>
              <a:t>고정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Data</a:t>
            </a:r>
            <a:r>
              <a:rPr lang="en-US" altLang="ko-KR" sz="1400" dirty="0"/>
              <a:t>: </a:t>
            </a:r>
            <a:r>
              <a:rPr lang="ko-KR" altLang="en-US" sz="1400" dirty="0"/>
              <a:t>동일한 </a:t>
            </a:r>
            <a:r>
              <a:rPr lang="en-US" altLang="ko-KR" sz="1400" dirty="0"/>
              <a:t>train/test split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Drug </a:t>
            </a:r>
            <a:r>
              <a:rPr lang="ko-KR" altLang="en-US" sz="1400" b="1" dirty="0"/>
              <a:t>처리</a:t>
            </a:r>
            <a:endParaRPr lang="ko-KR" altLang="en-US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Case A1: drug feature </a:t>
            </a:r>
            <a:r>
              <a:rPr lang="ko-KR" altLang="en-US" sz="1400" dirty="0"/>
              <a:t>미포함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Case A2: drug feature </a:t>
            </a:r>
            <a:r>
              <a:rPr lang="ko-KR" altLang="en-US" sz="1400" dirty="0"/>
              <a:t>포함 </a:t>
            </a:r>
            <a:r>
              <a:rPr lang="en-US" altLang="ko-KR" sz="1400" dirty="0"/>
              <a:t>(</a:t>
            </a:r>
            <a:r>
              <a:rPr lang="ko-KR" altLang="en-US" sz="1400" dirty="0"/>
              <a:t>통제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Evaluation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Test set</a:t>
            </a:r>
            <a:r>
              <a:rPr lang="ko-KR" altLang="en-US" sz="1400" dirty="0"/>
              <a:t>을 </a:t>
            </a:r>
            <a:r>
              <a:rPr lang="en-US" altLang="ko-KR" sz="1400" dirty="0"/>
              <a:t>drug=0 vs drug=1</a:t>
            </a:r>
            <a:r>
              <a:rPr lang="ko-KR" altLang="en-US" sz="1400" dirty="0"/>
              <a:t>로 </a:t>
            </a:r>
            <a:r>
              <a:rPr lang="en-US" altLang="ko-KR" sz="1400" dirty="0"/>
              <a:t>stratification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각 </a:t>
            </a:r>
            <a:r>
              <a:rPr lang="en-US" altLang="ko-KR" sz="1400" dirty="0"/>
              <a:t>subgroup</a:t>
            </a:r>
            <a:r>
              <a:rPr lang="ko-KR" altLang="en-US" sz="1400" dirty="0"/>
              <a:t>별 </a:t>
            </a:r>
            <a:r>
              <a:rPr lang="en-US" altLang="ko-KR" sz="1400" dirty="0"/>
              <a:t>Acc / Precision / Recall </a:t>
            </a:r>
            <a:r>
              <a:rPr lang="ko-KR" altLang="en-US" sz="1400" dirty="0"/>
              <a:t>비교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Purpose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Drug </a:t>
            </a:r>
            <a:r>
              <a:rPr lang="ko-KR" altLang="en-US" sz="1400" dirty="0"/>
              <a:t>복용 여부가 환자군 특성 차이로서 성능에 영향을 주는지 확인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모델 입력과 무관한 </a:t>
            </a:r>
            <a:r>
              <a:rPr lang="en-US" altLang="ko-KR" sz="1400" dirty="0"/>
              <a:t>population effect </a:t>
            </a:r>
            <a:r>
              <a:rPr lang="ko-KR" altLang="en-US" sz="1400" dirty="0"/>
              <a:t>분리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B899C-5C2C-8AE3-6327-3ACD4CA5C3FA}"/>
              </a:ext>
            </a:extLst>
          </p:cNvPr>
          <p:cNvSpPr txBox="1"/>
          <p:nvPr/>
        </p:nvSpPr>
        <p:spPr>
          <a:xfrm>
            <a:off x="6168775" y="1143000"/>
            <a:ext cx="5760000" cy="5084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Plan B. Feature Contribution Analysis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b="1" dirty="0"/>
              <a:t>Q2. Drug </a:t>
            </a:r>
            <a:r>
              <a:rPr lang="ko-KR" altLang="en-US" sz="1600" b="1" dirty="0"/>
              <a:t>정보를 모델에 추가하면 성능이 개선되는가</a:t>
            </a:r>
            <a:r>
              <a:rPr lang="en-US" altLang="ko-KR" sz="1600" b="1" dirty="0"/>
              <a:t>?</a:t>
            </a:r>
            <a:endParaRPr lang="ko-KR" alt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Model Comparison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Model B1: drug feature </a:t>
            </a:r>
            <a:r>
              <a:rPr lang="ko-KR" altLang="en-US" sz="1400" dirty="0"/>
              <a:t>미포함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Model B2: drug feature </a:t>
            </a:r>
            <a:r>
              <a:rPr lang="ko-KR" altLang="en-US" sz="1400" dirty="0"/>
              <a:t>포함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Data</a:t>
            </a:r>
            <a:r>
              <a:rPr lang="en-US" altLang="ko-KR" sz="1400" dirty="0"/>
              <a:t>: </a:t>
            </a:r>
            <a:r>
              <a:rPr lang="ko-KR" altLang="en-US" sz="1400" dirty="0"/>
              <a:t>동일한 </a:t>
            </a:r>
            <a:r>
              <a:rPr lang="en-US" altLang="ko-KR" sz="1400" dirty="0"/>
              <a:t>train/test split (</a:t>
            </a:r>
            <a:r>
              <a:rPr lang="ko-KR" altLang="en-US" sz="1400" dirty="0"/>
              <a:t>완전 통제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Evaluation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전체 </a:t>
            </a:r>
            <a:r>
              <a:rPr lang="en-US" altLang="ko-KR" sz="1400" dirty="0"/>
              <a:t>test set </a:t>
            </a:r>
            <a:r>
              <a:rPr lang="ko-KR" altLang="en-US" sz="1400" dirty="0"/>
              <a:t>기준 성능 비교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sz="1400" dirty="0"/>
              <a:t>Δ</a:t>
            </a:r>
            <a:r>
              <a:rPr lang="en-US" altLang="ko-KR" sz="1400" dirty="0"/>
              <a:t>AUC, </a:t>
            </a:r>
            <a:r>
              <a:rPr lang="el-GR" altLang="ko-KR" sz="1400" dirty="0"/>
              <a:t>Δ</a:t>
            </a:r>
            <a:r>
              <a:rPr lang="en-US" altLang="ko-KR" sz="1400" dirty="0"/>
              <a:t>Recall(osteoporosis=1) </a:t>
            </a:r>
            <a:r>
              <a:rPr lang="ko-KR" altLang="en-US" sz="1400" dirty="0"/>
              <a:t>중심 분석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Feature-Level Analysis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Feature selection </a:t>
            </a:r>
            <a:r>
              <a:rPr lang="ko-KR" altLang="en-US" sz="1400" dirty="0"/>
              <a:t>결과에서 </a:t>
            </a:r>
            <a:r>
              <a:rPr lang="en-US" altLang="ko-KR" sz="1400" dirty="0"/>
              <a:t>drug feature </a:t>
            </a:r>
            <a:r>
              <a:rPr lang="ko-KR" altLang="en-US" sz="1400" dirty="0"/>
              <a:t>생존 여부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Coefficient / SHAP </a:t>
            </a:r>
            <a:r>
              <a:rPr lang="ko-KR" altLang="en-US" sz="1400" dirty="0"/>
              <a:t>기반 </a:t>
            </a:r>
            <a:r>
              <a:rPr lang="en-US" altLang="ko-KR" sz="1400" dirty="0"/>
              <a:t>effect size &amp; direction </a:t>
            </a:r>
            <a:r>
              <a:rPr lang="ko-KR" altLang="en-US" sz="1400" dirty="0"/>
              <a:t>확인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 Purpose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Drug </a:t>
            </a:r>
            <a:r>
              <a:rPr lang="ko-KR" altLang="en-US" sz="1400" dirty="0"/>
              <a:t>정보가 독립적인 예측 신호인지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아니면 기존 임상 변수의 </a:t>
            </a:r>
            <a:r>
              <a:rPr lang="en-US" altLang="ko-KR" sz="1400" dirty="0"/>
              <a:t>proxy</a:t>
            </a:r>
            <a:r>
              <a:rPr lang="ko-KR" altLang="en-US" sz="1400" dirty="0"/>
              <a:t>인지 판단</a:t>
            </a:r>
          </a:p>
        </p:txBody>
      </p:sp>
    </p:spTree>
    <p:extLst>
      <p:ext uri="{BB962C8B-B14F-4D97-AF65-F5344CB8AC3E}">
        <p14:creationId xmlns:p14="http://schemas.microsoft.com/office/powerpoint/2010/main" val="216172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2373</Words>
  <Application>Microsoft Office PowerPoint</Application>
  <PresentationFormat>와이드스크린</PresentationFormat>
  <Paragraphs>1325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맑은 고딕</vt:lpstr>
      <vt:lpstr>Arial</vt:lpstr>
      <vt:lpstr>Office Theme</vt:lpstr>
      <vt:lpstr>Tabular Data Analysis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  <vt:lpstr>3. Detailed progress</vt:lpstr>
      <vt:lpstr>4. Next Plans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전장훈</cp:lastModifiedBy>
  <cp:revision>677</cp:revision>
  <dcterms:created xsi:type="dcterms:W3CDTF">2023-07-18T06:54:54Z</dcterms:created>
  <dcterms:modified xsi:type="dcterms:W3CDTF">2025-12-30T08:14:24Z</dcterms:modified>
  <cp:version/>
</cp:coreProperties>
</file>