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5"/>
  </p:notesMasterIdLst>
  <p:sldIdLst>
    <p:sldId id="256" r:id="rId2"/>
    <p:sldId id="524" r:id="rId3"/>
    <p:sldId id="551" r:id="rId4"/>
    <p:sldId id="569" r:id="rId5"/>
    <p:sldId id="582" r:id="rId6"/>
    <p:sldId id="561" r:id="rId7"/>
    <p:sldId id="555" r:id="rId8"/>
    <p:sldId id="562" r:id="rId9"/>
    <p:sldId id="563" r:id="rId10"/>
    <p:sldId id="575" r:id="rId11"/>
    <p:sldId id="584" r:id="rId12"/>
    <p:sldId id="567" r:id="rId13"/>
    <p:sldId id="576" r:id="rId14"/>
    <p:sldId id="568" r:id="rId15"/>
    <p:sldId id="577" r:id="rId16"/>
    <p:sldId id="565" r:id="rId17"/>
    <p:sldId id="583" r:id="rId18"/>
    <p:sldId id="585" r:id="rId19"/>
    <p:sldId id="580" r:id="rId20"/>
    <p:sldId id="572" r:id="rId21"/>
    <p:sldId id="574" r:id="rId22"/>
    <p:sldId id="469" r:id="rId23"/>
    <p:sldId id="276" r:id="rId24"/>
    <p:sldId id="273" r:id="rId25"/>
    <p:sldId id="274" r:id="rId26"/>
    <p:sldId id="275" r:id="rId27"/>
    <p:sldId id="277" r:id="rId28"/>
    <p:sldId id="281" r:id="rId29"/>
    <p:sldId id="278" r:id="rId30"/>
    <p:sldId id="279" r:id="rId31"/>
    <p:sldId id="280" r:id="rId32"/>
    <p:sldId id="282" r:id="rId33"/>
    <p:sldId id="479" r:id="rId34"/>
  </p:sldIdLst>
  <p:sldSz cx="12192000" cy="6858000"/>
  <p:notesSz cx="6858000" cy="9144000"/>
  <p:embeddedFontLst>
    <p:embeddedFont>
      <p:font typeface="KoPub돋움체 Bold" panose="00000800000000000000" pitchFamily="2" charset="-127"/>
      <p:bold r:id="rId36"/>
    </p:embeddedFont>
    <p:embeddedFont>
      <p:font typeface="KoPub돋움체 Medium" panose="00000600000000000000" pitchFamily="2" charset="-127"/>
      <p:regular r:id="rId37"/>
    </p:embeddedFont>
    <p:embeddedFont>
      <p:font typeface="맑은 고딕" panose="020B0503020000020004" pitchFamily="50" charset="-127"/>
      <p:regular r:id="rId38"/>
      <p:bold r:id="rId3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24"/>
            <p14:sldId id="551"/>
            <p14:sldId id="569"/>
            <p14:sldId id="582"/>
            <p14:sldId id="561"/>
            <p14:sldId id="555"/>
            <p14:sldId id="562"/>
            <p14:sldId id="563"/>
            <p14:sldId id="575"/>
            <p14:sldId id="584"/>
            <p14:sldId id="567"/>
            <p14:sldId id="576"/>
            <p14:sldId id="568"/>
            <p14:sldId id="577"/>
            <p14:sldId id="565"/>
            <p14:sldId id="583"/>
            <p14:sldId id="585"/>
            <p14:sldId id="580"/>
            <p14:sldId id="572"/>
            <p14:sldId id="574"/>
            <p14:sldId id="469"/>
            <p14:sldId id="276"/>
            <p14:sldId id="273"/>
            <p14:sldId id="274"/>
            <p14:sldId id="275"/>
            <p14:sldId id="277"/>
            <p14:sldId id="281"/>
            <p14:sldId id="278"/>
            <p14:sldId id="279"/>
            <p14:sldId id="280"/>
            <p14:sldId id="282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1879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commentAuthors" Target="commentAuthor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발표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진행한 연구 결과에 대해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공유드리겠습니다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AA21-9CF8-678A-C0B8-5BEF83D90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EA69DB-1308-34E1-27D7-99625C584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56C2F-238D-8454-0A8F-4305E1785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AD18F8-447A-78AA-5E93-0870CCD38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323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1427D-18AB-FB27-8FFC-A0B6FFCD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EBBC08-1943-2DBE-075E-E8FCBA7F4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942D80-8618-D7E3-0C44-FD1E178E9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A43CCB-D6EA-6323-E4F9-E92A51F7DE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0696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FF9A8-ACAD-6682-940A-D57BB89DF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14F30B-7F51-6CE2-5914-8A5EF5CD31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28396A-5778-3432-8730-CDC31A723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F616D3-22A2-6636-9E34-674487CCAA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6083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12615-0334-0285-A650-A668411B1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4EA9D-D219-60E3-020F-29B0735E8B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B41B85-B40F-D632-CFD5-3FCB8B894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E2E6CE-BA5D-90EC-DBA0-281A8E406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162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7CAAC-A43F-15F6-F38E-F4B14F211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B3547B-80AA-6D0D-79FA-1FCDF983F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F9C7F7-4ABD-CFF8-3ED4-082C306DF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17007A-A9B5-A594-7165-EBA1B58F6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3059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60D9A-6523-D812-D915-B8D3DBA9E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A079CC-2D42-A96C-B5E8-4C4867CDE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98F159-4291-AE78-8BB6-C96A7867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4A957C-CF48-C2B8-E93D-76728A1F7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9372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5072A-57AF-2F56-2988-BAC1BF0BB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19B8DA-7169-60BF-A4C9-01A3C30233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A84043-3191-9E36-3941-6CC71FFC59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AC91C0-55F5-F34A-2504-0536881EE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8486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5F790-FD9E-0E23-3AFE-D16615563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30FC3C-12DD-74C0-5E03-62DBEE607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66D3F8-7A2A-F5DA-936A-43B049D33A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3B222C-E809-3393-C1C6-B8E7FFC56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4291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004D3-7096-4A3B-F1BD-C17273554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6BB26A-1A3E-0CC3-53FE-CAC767597F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86A92C-D51F-25D8-B145-E2E17719CC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F36E19-D66F-B713-A677-6E2FD5D7D9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05427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336C6-A34E-7C97-D3FB-FB66F1EF7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57F21C-7213-F6F3-A53C-2FCEA1F64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24891-6B04-B8A0-10FA-6A1B81EBA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E55A71-013D-8926-501F-770EF40D0A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2112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C6A0C-611D-1E62-3B48-226C4371A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8CD39A-A59B-05D7-43A0-BD73EB323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03B0F6-ABB1-B023-2B57-B680B54F1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B91993-A4CF-1B2E-2CBF-0BF6B193CA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1121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0874E-124A-FA24-D696-D8E0FE116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28EDE4-D95F-FA53-1DB7-76D62D540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3FFCAC-18BB-9848-59AE-3EF9233A9F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2B445A-AF34-EA53-97B5-442A7D5961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9626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CED44-58CF-177D-3F31-8DBF802E5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AE2FB1-3457-7736-5BF1-36643F901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B1AA0F-CC3E-6DAC-3E4F-815173BEAC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3A4D8F-D045-897F-9124-A791744F50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6181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5EBF4-EC6F-1CFF-5ED4-D0BD3EB8A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3AAE3E-99BB-C674-861A-63DB2DBEC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DA680-66E8-0B95-2D60-C536655E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6561BC-6ECE-9AB1-FD83-7574AEC47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018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8E28B-7AC3-0CF1-2EA9-034822A72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AD3FDE-AE9C-5BDC-1E4E-ABAB8C1E66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39D788-878B-8FFA-734D-16696C03F5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2602F4-EDC9-8B8A-D175-9AAF116B4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59163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61C00-5F34-FDE9-08F8-A8ECD8745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AC0985-4163-70C3-BE4E-AEAEA87D9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2847E3-5D6B-EF70-ECC3-092EB60B61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6DC6CD-30BF-B660-6FD0-E9FCDD881B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30486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44673-77C6-7569-2F80-390E45BDE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A94FF3-9146-25AC-03A3-A397FC800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356876-2210-C5AF-EFE4-74957D0CF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D53BF6-A53A-03C6-A606-BA5239C2BA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82189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9CC27-819E-E9C6-8612-B4A6EF20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2C5E51-CCB8-54C7-6E23-F5DCCCFA5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0C343B-BAB9-7678-50A0-097E9769D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90221D-ACEA-1496-271C-2665BEA77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73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62F61-CC60-EFC1-9EA4-364BA2D23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26786B-A7ED-B292-1F79-E88ED27DC9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798FE6-F1D1-8372-0578-9FB5F5453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487176-BAD5-0CE2-8C50-040CEBD15C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906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Results of Total </a:t>
            </a:r>
            <a:r>
              <a:rPr lang="en-US" altLang="ko-KR" sz="2500" b="1" dirty="0" err="1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Segmentator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&amp; AEC</a:t>
            </a:r>
            <a:r>
              <a:rPr lang="ko-KR" altLang="en-US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Study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2026. 05. 29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2438-A8A9-C072-F2AE-2206B24B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A4B13E-D4FF-F6EF-0421-904F6E47B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를 이용하여 </a:t>
            </a:r>
            <a:r>
              <a:rPr lang="en-US" altLang="ko-KR" dirty="0"/>
              <a:t>Range </a:t>
            </a:r>
            <a:r>
              <a:rPr lang="ko-KR" altLang="en-US" dirty="0"/>
              <a:t>정규화</a:t>
            </a:r>
            <a:endParaRPr lang="en-US" altLang="ko-KR" dirty="0"/>
          </a:p>
          <a:p>
            <a:pPr lvl="1"/>
            <a:r>
              <a:rPr lang="ko-KR" altLang="en-US" dirty="0"/>
              <a:t>상단 </a:t>
            </a:r>
            <a:r>
              <a:rPr lang="en-US" altLang="ko-KR" dirty="0"/>
              <a:t>: T12 upper, </a:t>
            </a:r>
            <a:r>
              <a:rPr lang="ko-KR" altLang="en-US" dirty="0"/>
              <a:t>하단 </a:t>
            </a:r>
            <a:r>
              <a:rPr lang="en-US" altLang="ko-KR" dirty="0"/>
              <a:t>: left/right hip bottom</a:t>
            </a:r>
          </a:p>
          <a:p>
            <a:pPr lvl="1"/>
            <a:r>
              <a:rPr lang="ko-KR" altLang="en-US" dirty="0"/>
              <a:t>갖고 있는 </a:t>
            </a:r>
            <a:r>
              <a:rPr lang="en-US" altLang="ko-KR" dirty="0"/>
              <a:t>patient 2,054</a:t>
            </a:r>
            <a:r>
              <a:rPr lang="ko-KR" altLang="en-US" dirty="0"/>
              <a:t>에 대해서 </a:t>
            </a:r>
            <a:r>
              <a:rPr lang="en-US" altLang="ko-KR" dirty="0"/>
              <a:t>630</a:t>
            </a:r>
            <a:r>
              <a:rPr lang="ko-KR" altLang="en-US" dirty="0"/>
              <a:t>명의 데이터는 </a:t>
            </a:r>
            <a:r>
              <a:rPr lang="en-US" altLang="ko-KR" dirty="0"/>
              <a:t>T12 missing</a:t>
            </a:r>
            <a:r>
              <a:rPr lang="ko-KR" altLang="en-US" dirty="0"/>
              <a:t>으로 분류</a:t>
            </a:r>
            <a:endParaRPr lang="en-US" altLang="ko-KR" dirty="0"/>
          </a:p>
          <a:p>
            <a:r>
              <a:rPr lang="en-US" altLang="ko-KR" dirty="0"/>
              <a:t>AEC </a:t>
            </a:r>
            <a:r>
              <a:rPr lang="en-US" altLang="ko-KR" dirty="0" err="1"/>
              <a:t>len</a:t>
            </a:r>
            <a:r>
              <a:rPr lang="ko-KR" altLang="en-US" dirty="0"/>
              <a:t>을 </a:t>
            </a:r>
            <a:r>
              <a:rPr lang="en-US" altLang="ko-KR" dirty="0"/>
              <a:t>128, 256</a:t>
            </a:r>
            <a:r>
              <a:rPr lang="ko-KR" altLang="en-US" dirty="0"/>
              <a:t>으로 </a:t>
            </a:r>
            <a:r>
              <a:rPr lang="en-US" altLang="ko-KR" dirty="0"/>
              <a:t>Model </a:t>
            </a:r>
            <a:r>
              <a:rPr lang="en-US" altLang="ko-KR" dirty="0" err="1"/>
              <a:t>Performace</a:t>
            </a:r>
            <a:r>
              <a:rPr lang="en-US" altLang="ko-KR" dirty="0"/>
              <a:t> </a:t>
            </a:r>
            <a:r>
              <a:rPr lang="ko-KR" altLang="en-US" dirty="0"/>
              <a:t>비교</a:t>
            </a:r>
            <a:endParaRPr lang="en-US" altLang="ko-KR" dirty="0"/>
          </a:p>
          <a:p>
            <a:pPr lvl="1"/>
            <a:r>
              <a:rPr lang="en-US" altLang="ko-KR" dirty="0"/>
              <a:t>Clinic + AEC</a:t>
            </a:r>
            <a:r>
              <a:rPr lang="ko-KR" altLang="en-US" dirty="0"/>
              <a:t>가 </a:t>
            </a:r>
            <a:r>
              <a:rPr lang="en-US" altLang="ko-KR" dirty="0"/>
              <a:t>Clinic </a:t>
            </a:r>
            <a:r>
              <a:rPr lang="ko-KR" altLang="en-US" dirty="0"/>
              <a:t>보다 </a:t>
            </a:r>
            <a:r>
              <a:rPr lang="en-US" altLang="ko-KR" dirty="0"/>
              <a:t>test dataset</a:t>
            </a:r>
            <a:r>
              <a:rPr lang="ko-KR" altLang="en-US" dirty="0"/>
              <a:t> </a:t>
            </a:r>
            <a:r>
              <a:rPr lang="en-US" altLang="ko-KR" dirty="0"/>
              <a:t>AUC </a:t>
            </a:r>
            <a:r>
              <a:rPr lang="ko-KR" altLang="en-US" dirty="0"/>
              <a:t>기준 </a:t>
            </a:r>
            <a:r>
              <a:rPr lang="en-US" altLang="ko-KR" dirty="0"/>
              <a:t>0.05 </a:t>
            </a:r>
            <a:r>
              <a:rPr lang="ko-KR" altLang="en-US" dirty="0"/>
              <a:t>향상 </a:t>
            </a:r>
            <a:r>
              <a:rPr lang="en-US" altLang="ko-KR" dirty="0"/>
              <a:t>(</a:t>
            </a:r>
            <a:r>
              <a:rPr lang="en-US" altLang="ko-KR" b="1" dirty="0"/>
              <a:t>best</a:t>
            </a:r>
            <a:r>
              <a:rPr lang="en-US" altLang="ko-KR" dirty="0"/>
              <a:t>. </a:t>
            </a:r>
            <a:r>
              <a:rPr lang="en-US" altLang="ko-KR" b="1" dirty="0"/>
              <a:t>0.833 </a:t>
            </a:r>
            <a:r>
              <a:rPr lang="ko-KR" altLang="en-US" b="1" dirty="0"/>
              <a:t>→ </a:t>
            </a:r>
            <a:r>
              <a:rPr lang="en-US" altLang="ko-KR" b="1" dirty="0"/>
              <a:t>0.887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Clinic + AEC + Scanner</a:t>
            </a:r>
            <a:r>
              <a:rPr lang="ko-KR" altLang="en-US" dirty="0"/>
              <a:t>인 경우에는 조건에 따라 다름</a:t>
            </a:r>
            <a:endParaRPr lang="en-US" altLang="ko-KR" dirty="0"/>
          </a:p>
          <a:p>
            <a:r>
              <a:rPr lang="en-US" altLang="ko-KR" dirty="0"/>
              <a:t>AEC</a:t>
            </a:r>
            <a:r>
              <a:rPr lang="ko-KR" altLang="en-US" dirty="0"/>
              <a:t>가 </a:t>
            </a:r>
            <a:r>
              <a:rPr lang="en-US" altLang="ko-KR" dirty="0"/>
              <a:t>Sarcopenia</a:t>
            </a:r>
            <a:r>
              <a:rPr lang="ko-KR" altLang="en-US" dirty="0"/>
              <a:t>를 분류할 때 영향력이 있다는 결론 도출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8CAC6-5AAE-071D-A20C-3363A9415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C34E84-7F24-BDDE-EA03-702E9D9E1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 Summary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0B46D-A414-4C6A-6877-8F8F9387C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085DB8A-F2FD-AB70-F0B6-F5E8612C1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를 이용하여 </a:t>
            </a:r>
            <a:r>
              <a:rPr lang="en-US" altLang="ko-KR" dirty="0"/>
              <a:t>Range </a:t>
            </a:r>
            <a:r>
              <a:rPr lang="ko-KR" altLang="en-US" dirty="0"/>
              <a:t>정규화</a:t>
            </a:r>
            <a:endParaRPr lang="en-US" altLang="ko-KR" dirty="0"/>
          </a:p>
          <a:p>
            <a:pPr lvl="1"/>
            <a:r>
              <a:rPr lang="ko-KR" altLang="en-US" dirty="0"/>
              <a:t>상단 </a:t>
            </a:r>
            <a:r>
              <a:rPr lang="en-US" altLang="ko-KR" dirty="0"/>
              <a:t>: </a:t>
            </a:r>
            <a:r>
              <a:rPr lang="en-US" altLang="ko-KR" dirty="0">
                <a:solidFill>
                  <a:srgbClr val="FF0000"/>
                </a:solidFill>
              </a:rPr>
              <a:t>Liver upper</a:t>
            </a:r>
            <a:r>
              <a:rPr lang="en-US" altLang="ko-KR" dirty="0"/>
              <a:t>, </a:t>
            </a:r>
            <a:r>
              <a:rPr lang="ko-KR" altLang="en-US" dirty="0"/>
              <a:t>하단 </a:t>
            </a:r>
            <a:r>
              <a:rPr lang="en-US" altLang="ko-KR" dirty="0"/>
              <a:t>: left/right hip bottom</a:t>
            </a:r>
          </a:p>
          <a:p>
            <a:pPr lvl="1"/>
            <a:r>
              <a:rPr lang="en-US" altLang="ko-KR" dirty="0"/>
              <a:t>Manual</a:t>
            </a:r>
            <a:r>
              <a:rPr lang="ko-KR" altLang="en-US" dirty="0"/>
              <a:t>하게 </a:t>
            </a:r>
            <a:r>
              <a:rPr lang="en-US" altLang="ko-KR" dirty="0"/>
              <a:t>CT DICOM </a:t>
            </a:r>
            <a:r>
              <a:rPr lang="ko-KR" altLang="en-US" dirty="0"/>
              <a:t>확인하며 검증</a:t>
            </a:r>
            <a:endParaRPr lang="en-US" altLang="ko-KR" dirty="0"/>
          </a:p>
          <a:p>
            <a:r>
              <a:rPr lang="ko-KR" altLang="en-US" dirty="0"/>
              <a:t>데이터셋 필터링</a:t>
            </a:r>
            <a:endParaRPr lang="en-US" altLang="ko-KR" dirty="0"/>
          </a:p>
          <a:p>
            <a:pPr lvl="1"/>
            <a:r>
              <a:rPr lang="ko-KR" altLang="en-US" dirty="0"/>
              <a:t>여러 조건에 따른 이상치 제거</a:t>
            </a:r>
            <a:endParaRPr lang="en-US" altLang="ko-KR" dirty="0"/>
          </a:p>
          <a:p>
            <a:r>
              <a:rPr lang="en-US" altLang="ko-KR" dirty="0"/>
              <a:t>Model Performance </a:t>
            </a:r>
            <a:r>
              <a:rPr lang="ko-KR" altLang="en-US" dirty="0"/>
              <a:t>비교</a:t>
            </a:r>
            <a:endParaRPr lang="en-US" altLang="ko-KR" dirty="0"/>
          </a:p>
          <a:p>
            <a:endParaRPr lang="en-US" altLang="ko-KR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C3C23E2-6341-1899-2B57-3152375AAFB1}"/>
              </a:ext>
            </a:extLst>
          </p:cNvPr>
          <p:cNvGrpSpPr/>
          <p:nvPr/>
        </p:nvGrpSpPr>
        <p:grpSpPr>
          <a:xfrm>
            <a:off x="508001" y="4483270"/>
            <a:ext cx="11176000" cy="1755648"/>
            <a:chOff x="274320" y="1591056"/>
            <a:chExt cx="11750039" cy="1755648"/>
          </a:xfrm>
        </p:grpSpPr>
        <p:sp>
          <p:nvSpPr>
            <p:cNvPr id="5" name="Rectangle 7">
              <a:extLst>
                <a:ext uri="{FF2B5EF4-FFF2-40B4-BE49-F238E27FC236}">
                  <a16:creationId xmlns:a16="http://schemas.microsoft.com/office/drawing/2014/main" id="{17566066-D4BF-35B3-223B-C9B336601F23}"/>
                </a:ext>
              </a:extLst>
            </p:cNvPr>
            <p:cNvSpPr/>
            <p:nvPr/>
          </p:nvSpPr>
          <p:spPr>
            <a:xfrm>
              <a:off x="274320" y="1591056"/>
              <a:ext cx="10972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152DB8D-04E8-E9B8-4DB3-76F42C5A2F50}"/>
                </a:ext>
              </a:extLst>
            </p:cNvPr>
            <p:cNvSpPr txBox="1"/>
            <p:nvPr/>
          </p:nvSpPr>
          <p:spPr>
            <a:xfrm>
              <a:off x="274320" y="1591056"/>
              <a:ext cx="10972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모델</a:t>
              </a:r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6FDBD91B-A26F-3D53-9EA5-522547A4A4CE}"/>
                </a:ext>
              </a:extLst>
            </p:cNvPr>
            <p:cNvSpPr/>
            <p:nvPr/>
          </p:nvSpPr>
          <p:spPr>
            <a:xfrm>
              <a:off x="1417320" y="1591056"/>
              <a:ext cx="10972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1C5469B-8985-6400-0C0E-EFAD8824E3C4}"/>
                </a:ext>
              </a:extLst>
            </p:cNvPr>
            <p:cNvSpPr txBox="1"/>
            <p:nvPr/>
          </p:nvSpPr>
          <p:spPr>
            <a:xfrm>
              <a:off x="1417320" y="1591056"/>
              <a:ext cx="10972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AUC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7921812B-AA6D-FD5D-72F7-4B903918F15C}"/>
                </a:ext>
              </a:extLst>
            </p:cNvPr>
            <p:cNvSpPr/>
            <p:nvPr/>
          </p:nvSpPr>
          <p:spPr>
            <a:xfrm>
              <a:off x="2560320" y="1591056"/>
              <a:ext cx="15087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2D66448-27A0-01B7-1D1F-FBEDF69380EC}"/>
                </a:ext>
              </a:extLst>
            </p:cNvPr>
            <p:cNvSpPr txBox="1"/>
            <p:nvPr/>
          </p:nvSpPr>
          <p:spPr>
            <a:xfrm>
              <a:off x="2560320" y="1591056"/>
              <a:ext cx="150876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95% CI</a:t>
              </a:r>
            </a:p>
          </p:txBody>
        </p:sp>
        <p:sp>
          <p:nvSpPr>
            <p:cNvPr id="12" name="Rectangle 13">
              <a:extLst>
                <a:ext uri="{FF2B5EF4-FFF2-40B4-BE49-F238E27FC236}">
                  <a16:creationId xmlns:a16="http://schemas.microsoft.com/office/drawing/2014/main" id="{B8359791-DE5F-E32B-59B7-6A7F3F5D19E7}"/>
                </a:ext>
              </a:extLst>
            </p:cNvPr>
            <p:cNvSpPr/>
            <p:nvPr/>
          </p:nvSpPr>
          <p:spPr>
            <a:xfrm>
              <a:off x="4114800" y="1591056"/>
              <a:ext cx="9601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CC5033-3E17-A3A8-32FF-79CCD993FC1F}"/>
                </a:ext>
              </a:extLst>
            </p:cNvPr>
            <p:cNvSpPr txBox="1"/>
            <p:nvPr/>
          </p:nvSpPr>
          <p:spPr>
            <a:xfrm>
              <a:off x="4114800" y="1591056"/>
              <a:ext cx="9601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AUPRC</a:t>
              </a:r>
            </a:p>
          </p:txBody>
        </p:sp>
        <p:sp>
          <p:nvSpPr>
            <p:cNvPr id="14" name="Rectangle 15">
              <a:extLst>
                <a:ext uri="{FF2B5EF4-FFF2-40B4-BE49-F238E27FC236}">
                  <a16:creationId xmlns:a16="http://schemas.microsoft.com/office/drawing/2014/main" id="{69F23580-F571-E02F-8386-86D95647FE09}"/>
                </a:ext>
              </a:extLst>
            </p:cNvPr>
            <p:cNvSpPr/>
            <p:nvPr/>
          </p:nvSpPr>
          <p:spPr>
            <a:xfrm>
              <a:off x="5120640" y="1591056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F76F90-4D7A-E352-14DE-7923267AFD45}"/>
                </a:ext>
              </a:extLst>
            </p:cNvPr>
            <p:cNvSpPr txBox="1"/>
            <p:nvPr/>
          </p:nvSpPr>
          <p:spPr>
            <a:xfrm>
              <a:off x="5120640" y="1591056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Brier</a:t>
              </a:r>
            </a:p>
          </p:txBody>
        </p:sp>
        <p:sp>
          <p:nvSpPr>
            <p:cNvPr id="16" name="Rectangle 17">
              <a:extLst>
                <a:ext uri="{FF2B5EF4-FFF2-40B4-BE49-F238E27FC236}">
                  <a16:creationId xmlns:a16="http://schemas.microsoft.com/office/drawing/2014/main" id="{F9DCBF19-0E1F-C4D8-CEC3-D268809D2B09}"/>
                </a:ext>
              </a:extLst>
            </p:cNvPr>
            <p:cNvSpPr/>
            <p:nvPr/>
          </p:nvSpPr>
          <p:spPr>
            <a:xfrm>
              <a:off x="6080760" y="1591056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C0B6E37-3114-E5EE-E68E-ED51D41F9034}"/>
                </a:ext>
              </a:extLst>
            </p:cNvPr>
            <p:cNvSpPr txBox="1"/>
            <p:nvPr/>
          </p:nvSpPr>
          <p:spPr>
            <a:xfrm>
              <a:off x="6080760" y="1591056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F1</a:t>
              </a:r>
            </a:p>
          </p:txBody>
        </p:sp>
        <p:sp>
          <p:nvSpPr>
            <p:cNvPr id="18" name="Rectangle 19">
              <a:extLst>
                <a:ext uri="{FF2B5EF4-FFF2-40B4-BE49-F238E27FC236}">
                  <a16:creationId xmlns:a16="http://schemas.microsoft.com/office/drawing/2014/main" id="{D73EF27B-9591-5ED3-92B4-80F5266C224E}"/>
                </a:ext>
              </a:extLst>
            </p:cNvPr>
            <p:cNvSpPr/>
            <p:nvPr/>
          </p:nvSpPr>
          <p:spPr>
            <a:xfrm>
              <a:off x="7040880" y="1591056"/>
              <a:ext cx="15087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F9CDC66-57DF-9528-9C56-5CC70ADC5313}"/>
                </a:ext>
              </a:extLst>
            </p:cNvPr>
            <p:cNvSpPr txBox="1"/>
            <p:nvPr/>
          </p:nvSpPr>
          <p:spPr>
            <a:xfrm>
              <a:off x="7040880" y="1591056"/>
              <a:ext cx="150876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 AUC vs M1</a:t>
              </a:r>
            </a:p>
          </p:txBody>
        </p:sp>
        <p:sp>
          <p:nvSpPr>
            <p:cNvPr id="20" name="Rectangle 21">
              <a:extLst>
                <a:ext uri="{FF2B5EF4-FFF2-40B4-BE49-F238E27FC236}">
                  <a16:creationId xmlns:a16="http://schemas.microsoft.com/office/drawing/2014/main" id="{1AD6C97B-1BE5-09E7-C3DB-683034D13A9A}"/>
                </a:ext>
              </a:extLst>
            </p:cNvPr>
            <p:cNvSpPr/>
            <p:nvPr/>
          </p:nvSpPr>
          <p:spPr>
            <a:xfrm>
              <a:off x="8595360" y="1591056"/>
              <a:ext cx="15087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029C8E6-8E8E-39F2-F577-01A35E4F7B12}"/>
                </a:ext>
              </a:extLst>
            </p:cNvPr>
            <p:cNvSpPr txBox="1"/>
            <p:nvPr/>
          </p:nvSpPr>
          <p:spPr>
            <a:xfrm>
              <a:off x="8595360" y="1591056"/>
              <a:ext cx="150876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DeLong p</a:t>
              </a:r>
            </a:p>
          </p:txBody>
        </p:sp>
        <p:sp>
          <p:nvSpPr>
            <p:cNvPr id="22" name="Rectangle 23">
              <a:extLst>
                <a:ext uri="{FF2B5EF4-FFF2-40B4-BE49-F238E27FC236}">
                  <a16:creationId xmlns:a16="http://schemas.microsoft.com/office/drawing/2014/main" id="{905809E0-D306-4F01-3852-B910AA4AA2B0}"/>
                </a:ext>
              </a:extLst>
            </p:cNvPr>
            <p:cNvSpPr/>
            <p:nvPr/>
          </p:nvSpPr>
          <p:spPr>
            <a:xfrm>
              <a:off x="10149840" y="1591056"/>
              <a:ext cx="1874519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B6B2A19-C7DA-861B-6F61-4CDB9E55C23F}"/>
                </a:ext>
              </a:extLst>
            </p:cNvPr>
            <p:cNvSpPr txBox="1"/>
            <p:nvPr/>
          </p:nvSpPr>
          <p:spPr>
            <a:xfrm>
              <a:off x="10149840" y="1591056"/>
              <a:ext cx="1874519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비고</a:t>
              </a:r>
            </a:p>
          </p:txBody>
        </p:sp>
        <p:sp>
          <p:nvSpPr>
            <p:cNvPr id="24" name="Rectangle 25">
              <a:extLst>
                <a:ext uri="{FF2B5EF4-FFF2-40B4-BE49-F238E27FC236}">
                  <a16:creationId xmlns:a16="http://schemas.microsoft.com/office/drawing/2014/main" id="{03637585-3A00-4F17-4D78-563C22AD84E8}"/>
                </a:ext>
              </a:extLst>
            </p:cNvPr>
            <p:cNvSpPr/>
            <p:nvPr/>
          </p:nvSpPr>
          <p:spPr>
            <a:xfrm>
              <a:off x="274320" y="1883664"/>
              <a:ext cx="10972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85A9393-93E2-505D-D802-C388B8EFE7DC}"/>
                </a:ext>
              </a:extLst>
            </p:cNvPr>
            <p:cNvSpPr txBox="1"/>
            <p:nvPr/>
          </p:nvSpPr>
          <p:spPr>
            <a:xfrm>
              <a:off x="274320" y="188366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M1 (LR)</a:t>
              </a:r>
            </a:p>
          </p:txBody>
        </p:sp>
        <p:sp>
          <p:nvSpPr>
            <p:cNvPr id="26" name="Rectangle 27">
              <a:extLst>
                <a:ext uri="{FF2B5EF4-FFF2-40B4-BE49-F238E27FC236}">
                  <a16:creationId xmlns:a16="http://schemas.microsoft.com/office/drawing/2014/main" id="{B2791EB1-1ABC-93C3-ED94-E86B29208618}"/>
                </a:ext>
              </a:extLst>
            </p:cNvPr>
            <p:cNvSpPr/>
            <p:nvPr/>
          </p:nvSpPr>
          <p:spPr>
            <a:xfrm>
              <a:off x="1417320" y="1883664"/>
              <a:ext cx="10972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3DC91CF-AB2A-0542-3AB2-63C4A9AA48B9}"/>
                </a:ext>
              </a:extLst>
            </p:cNvPr>
            <p:cNvSpPr txBox="1"/>
            <p:nvPr/>
          </p:nvSpPr>
          <p:spPr>
            <a:xfrm>
              <a:off x="1417320" y="188366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0.8030</a:t>
              </a:r>
            </a:p>
          </p:txBody>
        </p:sp>
        <p:sp>
          <p:nvSpPr>
            <p:cNvPr id="28" name="Rectangle 29">
              <a:extLst>
                <a:ext uri="{FF2B5EF4-FFF2-40B4-BE49-F238E27FC236}">
                  <a16:creationId xmlns:a16="http://schemas.microsoft.com/office/drawing/2014/main" id="{199F3639-34E1-4D49-E023-2C92999A12BC}"/>
                </a:ext>
              </a:extLst>
            </p:cNvPr>
            <p:cNvSpPr/>
            <p:nvPr/>
          </p:nvSpPr>
          <p:spPr>
            <a:xfrm>
              <a:off x="2560320" y="1883664"/>
              <a:ext cx="150876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A5D1543-1173-3F75-3DBF-7AD99E451C37}"/>
                </a:ext>
              </a:extLst>
            </p:cNvPr>
            <p:cNvSpPr txBox="1"/>
            <p:nvPr/>
          </p:nvSpPr>
          <p:spPr>
            <a:xfrm>
              <a:off x="2560320" y="188366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[0.720,0.872]</a:t>
              </a:r>
            </a:p>
          </p:txBody>
        </p:sp>
        <p:sp>
          <p:nvSpPr>
            <p:cNvPr id="30" name="Rectangle 31">
              <a:extLst>
                <a:ext uri="{FF2B5EF4-FFF2-40B4-BE49-F238E27FC236}">
                  <a16:creationId xmlns:a16="http://schemas.microsoft.com/office/drawing/2014/main" id="{AC0DFB20-AE68-8355-4E8C-990820549D25}"/>
                </a:ext>
              </a:extLst>
            </p:cNvPr>
            <p:cNvSpPr/>
            <p:nvPr/>
          </p:nvSpPr>
          <p:spPr>
            <a:xfrm>
              <a:off x="4114800" y="1883664"/>
              <a:ext cx="9601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370FD94-7A9E-B42C-D859-4771BD0A7CB0}"/>
                </a:ext>
              </a:extLst>
            </p:cNvPr>
            <p:cNvSpPr txBox="1"/>
            <p:nvPr/>
          </p:nvSpPr>
          <p:spPr>
            <a:xfrm>
              <a:off x="4114800" y="1883664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0.3123</a:t>
              </a:r>
            </a:p>
          </p:txBody>
        </p:sp>
        <p:sp>
          <p:nvSpPr>
            <p:cNvPr id="32" name="Rectangle 33">
              <a:extLst>
                <a:ext uri="{FF2B5EF4-FFF2-40B4-BE49-F238E27FC236}">
                  <a16:creationId xmlns:a16="http://schemas.microsoft.com/office/drawing/2014/main" id="{9FF4358F-C0D3-D9D4-C880-A872430194A0}"/>
                </a:ext>
              </a:extLst>
            </p:cNvPr>
            <p:cNvSpPr/>
            <p:nvPr/>
          </p:nvSpPr>
          <p:spPr>
            <a:xfrm>
              <a:off x="5120640" y="1883664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EBBF488-14D5-0817-C552-890A87563A00}"/>
                </a:ext>
              </a:extLst>
            </p:cNvPr>
            <p:cNvSpPr txBox="1"/>
            <p:nvPr/>
          </p:nvSpPr>
          <p:spPr>
            <a:xfrm>
              <a:off x="5120640" y="188366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0.1913</a:t>
              </a: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C972BA6F-7E0E-64EA-2991-4D1C972962CE}"/>
                </a:ext>
              </a:extLst>
            </p:cNvPr>
            <p:cNvSpPr/>
            <p:nvPr/>
          </p:nvSpPr>
          <p:spPr>
            <a:xfrm>
              <a:off x="6080760" y="1883664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A44155-5132-CFFA-21AD-0AD3C64A6530}"/>
                </a:ext>
              </a:extLst>
            </p:cNvPr>
            <p:cNvSpPr txBox="1"/>
            <p:nvPr/>
          </p:nvSpPr>
          <p:spPr>
            <a:xfrm>
              <a:off x="6080760" y="188366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0.3725</a:t>
              </a: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F0F040CE-4F3E-6162-83F9-C6F6DAE51F9C}"/>
                </a:ext>
              </a:extLst>
            </p:cNvPr>
            <p:cNvSpPr/>
            <p:nvPr/>
          </p:nvSpPr>
          <p:spPr>
            <a:xfrm>
              <a:off x="7040880" y="1883664"/>
              <a:ext cx="150876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BE9A4B0-C148-DDDD-0FB2-0BD056455A88}"/>
                </a:ext>
              </a:extLst>
            </p:cNvPr>
            <p:cNvSpPr txBox="1"/>
            <p:nvPr/>
          </p:nvSpPr>
          <p:spPr>
            <a:xfrm>
              <a:off x="7040880" y="188366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기준선</a:t>
              </a:r>
            </a:p>
          </p:txBody>
        </p:sp>
        <p:sp>
          <p:nvSpPr>
            <p:cNvPr id="38" name="Rectangle 39">
              <a:extLst>
                <a:ext uri="{FF2B5EF4-FFF2-40B4-BE49-F238E27FC236}">
                  <a16:creationId xmlns:a16="http://schemas.microsoft.com/office/drawing/2014/main" id="{23422765-4437-CEA8-F040-53D0DB8932DC}"/>
                </a:ext>
              </a:extLst>
            </p:cNvPr>
            <p:cNvSpPr/>
            <p:nvPr/>
          </p:nvSpPr>
          <p:spPr>
            <a:xfrm>
              <a:off x="8595360" y="1883664"/>
              <a:ext cx="150876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FCB1AA7-80CD-0E9A-3C9A-BCDA5F76DBE6}"/>
                </a:ext>
              </a:extLst>
            </p:cNvPr>
            <p:cNvSpPr txBox="1"/>
            <p:nvPr/>
          </p:nvSpPr>
          <p:spPr>
            <a:xfrm>
              <a:off x="8595360" y="188366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기준선</a:t>
              </a:r>
            </a:p>
          </p:txBody>
        </p:sp>
        <p:sp>
          <p:nvSpPr>
            <p:cNvPr id="40" name="Rectangle 41">
              <a:extLst>
                <a:ext uri="{FF2B5EF4-FFF2-40B4-BE49-F238E27FC236}">
                  <a16:creationId xmlns:a16="http://schemas.microsoft.com/office/drawing/2014/main" id="{05C17D3B-E5D6-55E2-BC7B-909E2CBFDD1C}"/>
                </a:ext>
              </a:extLst>
            </p:cNvPr>
            <p:cNvSpPr/>
            <p:nvPr/>
          </p:nvSpPr>
          <p:spPr>
            <a:xfrm>
              <a:off x="10149840" y="1883664"/>
              <a:ext cx="1874519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1BEE247-273C-F31F-09EB-A44CFC0CEF5E}"/>
                </a:ext>
              </a:extLst>
            </p:cNvPr>
            <p:cNvSpPr txBox="1"/>
            <p:nvPr/>
          </p:nvSpPr>
          <p:spPr>
            <a:xfrm>
              <a:off x="10149840" y="1883664"/>
              <a:ext cx="1874519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Clinic Only</a:t>
              </a:r>
            </a:p>
          </p:txBody>
        </p:sp>
        <p:sp>
          <p:nvSpPr>
            <p:cNvPr id="42" name="Rectangle 43">
              <a:extLst>
                <a:ext uri="{FF2B5EF4-FFF2-40B4-BE49-F238E27FC236}">
                  <a16:creationId xmlns:a16="http://schemas.microsoft.com/office/drawing/2014/main" id="{49AC226A-D175-9F55-94B0-CAC61B487331}"/>
                </a:ext>
              </a:extLst>
            </p:cNvPr>
            <p:cNvSpPr/>
            <p:nvPr/>
          </p:nvSpPr>
          <p:spPr>
            <a:xfrm>
              <a:off x="274320" y="2249424"/>
              <a:ext cx="109728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2AC449D-E6AB-FD92-79AE-53E40B94539A}"/>
                </a:ext>
              </a:extLst>
            </p:cNvPr>
            <p:cNvSpPr txBox="1"/>
            <p:nvPr/>
          </p:nvSpPr>
          <p:spPr>
            <a:xfrm>
              <a:off x="274320" y="224942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M2 (CrossAttn)</a:t>
              </a:r>
            </a:p>
          </p:txBody>
        </p:sp>
        <p:sp>
          <p:nvSpPr>
            <p:cNvPr id="44" name="Rectangle 45">
              <a:extLst>
                <a:ext uri="{FF2B5EF4-FFF2-40B4-BE49-F238E27FC236}">
                  <a16:creationId xmlns:a16="http://schemas.microsoft.com/office/drawing/2014/main" id="{A2E8FD50-6953-289C-6D14-C9A2FAADF96D}"/>
                </a:ext>
              </a:extLst>
            </p:cNvPr>
            <p:cNvSpPr/>
            <p:nvPr/>
          </p:nvSpPr>
          <p:spPr>
            <a:xfrm>
              <a:off x="1417320" y="2249424"/>
              <a:ext cx="109728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106CFD6-3CB1-A518-7610-6466D36B05B8}"/>
                </a:ext>
              </a:extLst>
            </p:cNvPr>
            <p:cNvSpPr txBox="1"/>
            <p:nvPr/>
          </p:nvSpPr>
          <p:spPr>
            <a:xfrm>
              <a:off x="1417320" y="224942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0.8350</a:t>
              </a:r>
            </a:p>
          </p:txBody>
        </p:sp>
        <p:sp>
          <p:nvSpPr>
            <p:cNvPr id="46" name="Rectangle 47">
              <a:extLst>
                <a:ext uri="{FF2B5EF4-FFF2-40B4-BE49-F238E27FC236}">
                  <a16:creationId xmlns:a16="http://schemas.microsoft.com/office/drawing/2014/main" id="{D31DE0C4-2337-D4D4-537D-23EEDD6E2377}"/>
                </a:ext>
              </a:extLst>
            </p:cNvPr>
            <p:cNvSpPr/>
            <p:nvPr/>
          </p:nvSpPr>
          <p:spPr>
            <a:xfrm>
              <a:off x="2560320" y="2249424"/>
              <a:ext cx="150876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0841231-FC2B-6107-26C8-F7522EF45F8A}"/>
                </a:ext>
              </a:extLst>
            </p:cNvPr>
            <p:cNvSpPr txBox="1"/>
            <p:nvPr/>
          </p:nvSpPr>
          <p:spPr>
            <a:xfrm>
              <a:off x="2560320" y="224942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[0.753,0.899]</a:t>
              </a:r>
            </a:p>
          </p:txBody>
        </p:sp>
        <p:sp>
          <p:nvSpPr>
            <p:cNvPr id="48" name="Rectangle 49">
              <a:extLst>
                <a:ext uri="{FF2B5EF4-FFF2-40B4-BE49-F238E27FC236}">
                  <a16:creationId xmlns:a16="http://schemas.microsoft.com/office/drawing/2014/main" id="{B7890808-7B73-4FDE-53AF-1A044C825C84}"/>
                </a:ext>
              </a:extLst>
            </p:cNvPr>
            <p:cNvSpPr/>
            <p:nvPr/>
          </p:nvSpPr>
          <p:spPr>
            <a:xfrm>
              <a:off x="4114800" y="2249424"/>
              <a:ext cx="96012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D1AEA53-B389-8AE0-6B90-8A06A8AD1CAE}"/>
                </a:ext>
              </a:extLst>
            </p:cNvPr>
            <p:cNvSpPr txBox="1"/>
            <p:nvPr/>
          </p:nvSpPr>
          <p:spPr>
            <a:xfrm>
              <a:off x="4114800" y="2249424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0.3301</a:t>
              </a:r>
            </a:p>
          </p:txBody>
        </p:sp>
        <p:sp>
          <p:nvSpPr>
            <p:cNvPr id="50" name="Rectangle 51">
              <a:extLst>
                <a:ext uri="{FF2B5EF4-FFF2-40B4-BE49-F238E27FC236}">
                  <a16:creationId xmlns:a16="http://schemas.microsoft.com/office/drawing/2014/main" id="{F175AE1F-2C09-2FA1-3198-F85599DA373D}"/>
                </a:ext>
              </a:extLst>
            </p:cNvPr>
            <p:cNvSpPr/>
            <p:nvPr/>
          </p:nvSpPr>
          <p:spPr>
            <a:xfrm>
              <a:off x="5120640" y="2249424"/>
              <a:ext cx="91440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206B04CB-90A4-F309-AA85-BA4A8222811A}"/>
                </a:ext>
              </a:extLst>
            </p:cNvPr>
            <p:cNvSpPr txBox="1"/>
            <p:nvPr/>
          </p:nvSpPr>
          <p:spPr>
            <a:xfrm>
              <a:off x="5120640" y="224942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0.1912</a:t>
              </a:r>
            </a:p>
          </p:txBody>
        </p:sp>
        <p:sp>
          <p:nvSpPr>
            <p:cNvPr id="52" name="Rectangle 53">
              <a:extLst>
                <a:ext uri="{FF2B5EF4-FFF2-40B4-BE49-F238E27FC236}">
                  <a16:creationId xmlns:a16="http://schemas.microsoft.com/office/drawing/2014/main" id="{7C80D3E2-3376-67DA-A0A6-6429EED72500}"/>
                </a:ext>
              </a:extLst>
            </p:cNvPr>
            <p:cNvSpPr/>
            <p:nvPr/>
          </p:nvSpPr>
          <p:spPr>
            <a:xfrm>
              <a:off x="6080760" y="2249424"/>
              <a:ext cx="91440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047BECA-479A-A041-5585-8678F7443F02}"/>
                </a:ext>
              </a:extLst>
            </p:cNvPr>
            <p:cNvSpPr txBox="1"/>
            <p:nvPr/>
          </p:nvSpPr>
          <p:spPr>
            <a:xfrm>
              <a:off x="6080760" y="224942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0.3594</a:t>
              </a:r>
            </a:p>
          </p:txBody>
        </p:sp>
        <p:sp>
          <p:nvSpPr>
            <p:cNvPr id="54" name="Rectangle 55">
              <a:extLst>
                <a:ext uri="{FF2B5EF4-FFF2-40B4-BE49-F238E27FC236}">
                  <a16:creationId xmlns:a16="http://schemas.microsoft.com/office/drawing/2014/main" id="{514463F7-95F8-704A-D2D3-80E7BFCDF2C5}"/>
                </a:ext>
              </a:extLst>
            </p:cNvPr>
            <p:cNvSpPr/>
            <p:nvPr/>
          </p:nvSpPr>
          <p:spPr>
            <a:xfrm>
              <a:off x="7040880" y="2249424"/>
              <a:ext cx="150876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206B27E-C072-56AE-574B-AB0AF99EC552}"/>
                </a:ext>
              </a:extLst>
            </p:cNvPr>
            <p:cNvSpPr txBox="1"/>
            <p:nvPr/>
          </p:nvSpPr>
          <p:spPr>
            <a:xfrm>
              <a:off x="7040880" y="224942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9EA3AB"/>
                  </a:solidFill>
                  <a:latin typeface="맑은 고딕"/>
                </a:rPr>
                <a:t>+0.032</a:t>
              </a:r>
            </a:p>
          </p:txBody>
        </p:sp>
        <p:sp>
          <p:nvSpPr>
            <p:cNvPr id="56" name="Rectangle 57">
              <a:extLst>
                <a:ext uri="{FF2B5EF4-FFF2-40B4-BE49-F238E27FC236}">
                  <a16:creationId xmlns:a16="http://schemas.microsoft.com/office/drawing/2014/main" id="{4374C4E8-9B24-D159-286F-6E6902525A02}"/>
                </a:ext>
              </a:extLst>
            </p:cNvPr>
            <p:cNvSpPr/>
            <p:nvPr/>
          </p:nvSpPr>
          <p:spPr>
            <a:xfrm>
              <a:off x="8595360" y="2249424"/>
              <a:ext cx="150876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22A4ABF-2947-7C63-A91B-993D3A774E6A}"/>
                </a:ext>
              </a:extLst>
            </p:cNvPr>
            <p:cNvSpPr txBox="1"/>
            <p:nvPr/>
          </p:nvSpPr>
          <p:spPr>
            <a:xfrm>
              <a:off x="8595360" y="224942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E8B4C"/>
                  </a:solidFill>
                  <a:latin typeface="맑은 고딕"/>
                </a:rPr>
                <a:t>p=0.055 †</a:t>
              </a:r>
            </a:p>
          </p:txBody>
        </p:sp>
        <p:sp>
          <p:nvSpPr>
            <p:cNvPr id="58" name="Rectangle 59">
              <a:extLst>
                <a:ext uri="{FF2B5EF4-FFF2-40B4-BE49-F238E27FC236}">
                  <a16:creationId xmlns:a16="http://schemas.microsoft.com/office/drawing/2014/main" id="{002DAEB6-5811-3E9B-3581-00EBEA1018E6}"/>
                </a:ext>
              </a:extLst>
            </p:cNvPr>
            <p:cNvSpPr/>
            <p:nvPr/>
          </p:nvSpPr>
          <p:spPr>
            <a:xfrm>
              <a:off x="10149840" y="2249424"/>
              <a:ext cx="1874519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5A89F96-6173-48B7-1227-A0A6D41D25B0}"/>
                </a:ext>
              </a:extLst>
            </p:cNvPr>
            <p:cNvSpPr txBox="1"/>
            <p:nvPr/>
          </p:nvSpPr>
          <p:spPr>
            <a:xfrm>
              <a:off x="10149840" y="2249424"/>
              <a:ext cx="1874519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9EA3AB"/>
                  </a:solidFill>
                  <a:latin typeface="맑은 고딕"/>
                </a:rPr>
                <a:t>Best AUC</a:t>
              </a:r>
            </a:p>
          </p:txBody>
        </p:sp>
        <p:sp>
          <p:nvSpPr>
            <p:cNvPr id="60" name="Rectangle 61">
              <a:extLst>
                <a:ext uri="{FF2B5EF4-FFF2-40B4-BE49-F238E27FC236}">
                  <a16:creationId xmlns:a16="http://schemas.microsoft.com/office/drawing/2014/main" id="{03558C10-5454-E061-C292-62CE3843C21D}"/>
                </a:ext>
              </a:extLst>
            </p:cNvPr>
            <p:cNvSpPr/>
            <p:nvPr/>
          </p:nvSpPr>
          <p:spPr>
            <a:xfrm>
              <a:off x="274320" y="2615184"/>
              <a:ext cx="10972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81C28A8-120B-489C-4E17-94385F11DE48}"/>
                </a:ext>
              </a:extLst>
            </p:cNvPr>
            <p:cNvSpPr txBox="1"/>
            <p:nvPr/>
          </p:nvSpPr>
          <p:spPr>
            <a:xfrm>
              <a:off x="274320" y="261518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M2_2 (Neg)</a:t>
              </a:r>
            </a:p>
          </p:txBody>
        </p:sp>
        <p:sp>
          <p:nvSpPr>
            <p:cNvPr id="62" name="Rectangle 63">
              <a:extLst>
                <a:ext uri="{FF2B5EF4-FFF2-40B4-BE49-F238E27FC236}">
                  <a16:creationId xmlns:a16="http://schemas.microsoft.com/office/drawing/2014/main" id="{5C26742F-0A26-8092-03B4-A04B98983788}"/>
                </a:ext>
              </a:extLst>
            </p:cNvPr>
            <p:cNvSpPr/>
            <p:nvPr/>
          </p:nvSpPr>
          <p:spPr>
            <a:xfrm>
              <a:off x="1417320" y="2615184"/>
              <a:ext cx="10972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4E81ED0-C244-BCF5-237A-E7685DA59B67}"/>
                </a:ext>
              </a:extLst>
            </p:cNvPr>
            <p:cNvSpPr txBox="1"/>
            <p:nvPr/>
          </p:nvSpPr>
          <p:spPr>
            <a:xfrm>
              <a:off x="1417320" y="261518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0.8104</a:t>
              </a:r>
            </a:p>
          </p:txBody>
        </p:sp>
        <p:sp>
          <p:nvSpPr>
            <p:cNvPr id="64" name="Rectangle 65">
              <a:extLst>
                <a:ext uri="{FF2B5EF4-FFF2-40B4-BE49-F238E27FC236}">
                  <a16:creationId xmlns:a16="http://schemas.microsoft.com/office/drawing/2014/main" id="{08A1594F-5EDD-9A9D-EECA-6732051D2BA9}"/>
                </a:ext>
              </a:extLst>
            </p:cNvPr>
            <p:cNvSpPr/>
            <p:nvPr/>
          </p:nvSpPr>
          <p:spPr>
            <a:xfrm>
              <a:off x="2560320" y="2615184"/>
              <a:ext cx="150876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333A7D1-34D2-4BF8-9016-E5863FC51E94}"/>
                </a:ext>
              </a:extLst>
            </p:cNvPr>
            <p:cNvSpPr txBox="1"/>
            <p:nvPr/>
          </p:nvSpPr>
          <p:spPr>
            <a:xfrm>
              <a:off x="2560320" y="261518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[0.729,0.880]</a:t>
              </a:r>
            </a:p>
          </p:txBody>
        </p:sp>
        <p:sp>
          <p:nvSpPr>
            <p:cNvPr id="66" name="Rectangle 67">
              <a:extLst>
                <a:ext uri="{FF2B5EF4-FFF2-40B4-BE49-F238E27FC236}">
                  <a16:creationId xmlns:a16="http://schemas.microsoft.com/office/drawing/2014/main" id="{7391190C-F325-5265-9D99-CCFE722AD7FE}"/>
                </a:ext>
              </a:extLst>
            </p:cNvPr>
            <p:cNvSpPr/>
            <p:nvPr/>
          </p:nvSpPr>
          <p:spPr>
            <a:xfrm>
              <a:off x="4114800" y="2615184"/>
              <a:ext cx="9601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CA64FE97-DE82-BCCE-DC27-51246F321562}"/>
                </a:ext>
              </a:extLst>
            </p:cNvPr>
            <p:cNvSpPr txBox="1"/>
            <p:nvPr/>
          </p:nvSpPr>
          <p:spPr>
            <a:xfrm>
              <a:off x="4114800" y="2615184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0.3013</a:t>
              </a:r>
            </a:p>
          </p:txBody>
        </p:sp>
        <p:sp>
          <p:nvSpPr>
            <p:cNvPr id="68" name="Rectangle 69">
              <a:extLst>
                <a:ext uri="{FF2B5EF4-FFF2-40B4-BE49-F238E27FC236}">
                  <a16:creationId xmlns:a16="http://schemas.microsoft.com/office/drawing/2014/main" id="{10F91FC0-C146-75D6-1427-1500D4E5F79F}"/>
                </a:ext>
              </a:extLst>
            </p:cNvPr>
            <p:cNvSpPr/>
            <p:nvPr/>
          </p:nvSpPr>
          <p:spPr>
            <a:xfrm>
              <a:off x="5120640" y="2615184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9CCA352-BA24-EF41-9486-B2FD93A0F0AC}"/>
                </a:ext>
              </a:extLst>
            </p:cNvPr>
            <p:cNvSpPr txBox="1"/>
            <p:nvPr/>
          </p:nvSpPr>
          <p:spPr>
            <a:xfrm>
              <a:off x="5120640" y="261518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0.2323</a:t>
              </a:r>
            </a:p>
          </p:txBody>
        </p:sp>
        <p:sp>
          <p:nvSpPr>
            <p:cNvPr id="70" name="Rectangle 71">
              <a:extLst>
                <a:ext uri="{FF2B5EF4-FFF2-40B4-BE49-F238E27FC236}">
                  <a16:creationId xmlns:a16="http://schemas.microsoft.com/office/drawing/2014/main" id="{7E9732A8-F3D1-D08D-617D-453DD7DC192C}"/>
                </a:ext>
              </a:extLst>
            </p:cNvPr>
            <p:cNvSpPr/>
            <p:nvPr/>
          </p:nvSpPr>
          <p:spPr>
            <a:xfrm>
              <a:off x="6080760" y="2615184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77174A0C-4CD6-19FA-0023-9E8BA0AC34E8}"/>
                </a:ext>
              </a:extLst>
            </p:cNvPr>
            <p:cNvSpPr txBox="1"/>
            <p:nvPr/>
          </p:nvSpPr>
          <p:spPr>
            <a:xfrm>
              <a:off x="6080760" y="261518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0.3231</a:t>
              </a:r>
            </a:p>
          </p:txBody>
        </p:sp>
        <p:sp>
          <p:nvSpPr>
            <p:cNvPr id="72" name="Rectangle 73">
              <a:extLst>
                <a:ext uri="{FF2B5EF4-FFF2-40B4-BE49-F238E27FC236}">
                  <a16:creationId xmlns:a16="http://schemas.microsoft.com/office/drawing/2014/main" id="{3AED4AD9-48B9-122E-8B57-EDDEF2A50BA7}"/>
                </a:ext>
              </a:extLst>
            </p:cNvPr>
            <p:cNvSpPr/>
            <p:nvPr/>
          </p:nvSpPr>
          <p:spPr>
            <a:xfrm>
              <a:off x="7040880" y="2615184"/>
              <a:ext cx="150876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99285CB-5B65-64D4-7AA6-B4C6217A604B}"/>
                </a:ext>
              </a:extLst>
            </p:cNvPr>
            <p:cNvSpPr txBox="1"/>
            <p:nvPr/>
          </p:nvSpPr>
          <p:spPr>
            <a:xfrm>
              <a:off x="7040880" y="261518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+0.007</a:t>
              </a:r>
            </a:p>
          </p:txBody>
        </p:sp>
        <p:sp>
          <p:nvSpPr>
            <p:cNvPr id="74" name="Rectangle 75">
              <a:extLst>
                <a:ext uri="{FF2B5EF4-FFF2-40B4-BE49-F238E27FC236}">
                  <a16:creationId xmlns:a16="http://schemas.microsoft.com/office/drawing/2014/main" id="{4473C82D-F0E5-2B41-833C-3DDC1EE9B22B}"/>
                </a:ext>
              </a:extLst>
            </p:cNvPr>
            <p:cNvSpPr/>
            <p:nvPr/>
          </p:nvSpPr>
          <p:spPr>
            <a:xfrm>
              <a:off x="8595360" y="2615184"/>
              <a:ext cx="150876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48BFC6EC-3509-48A9-A943-F49BA6AEDD3B}"/>
                </a:ext>
              </a:extLst>
            </p:cNvPr>
            <p:cNvSpPr txBox="1"/>
            <p:nvPr/>
          </p:nvSpPr>
          <p:spPr>
            <a:xfrm>
              <a:off x="8595360" y="261518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(neg ctrl)</a:t>
              </a:r>
            </a:p>
          </p:txBody>
        </p:sp>
        <p:sp>
          <p:nvSpPr>
            <p:cNvPr id="76" name="Rectangle 77">
              <a:extLst>
                <a:ext uri="{FF2B5EF4-FFF2-40B4-BE49-F238E27FC236}">
                  <a16:creationId xmlns:a16="http://schemas.microsoft.com/office/drawing/2014/main" id="{4F78B660-B47F-333F-6625-5C73313FC5C5}"/>
                </a:ext>
              </a:extLst>
            </p:cNvPr>
            <p:cNvSpPr/>
            <p:nvPr/>
          </p:nvSpPr>
          <p:spPr>
            <a:xfrm>
              <a:off x="10149840" y="2615184"/>
              <a:ext cx="1874519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2BFB476-B383-92DC-55AA-7CC0BEA641DD}"/>
                </a:ext>
              </a:extLst>
            </p:cNvPr>
            <p:cNvSpPr txBox="1"/>
            <p:nvPr/>
          </p:nvSpPr>
          <p:spPr>
            <a:xfrm>
              <a:off x="10149840" y="2615184"/>
              <a:ext cx="1874519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Unmatched</a:t>
              </a:r>
            </a:p>
          </p:txBody>
        </p:sp>
        <p:sp>
          <p:nvSpPr>
            <p:cNvPr id="78" name="Rectangle 79">
              <a:extLst>
                <a:ext uri="{FF2B5EF4-FFF2-40B4-BE49-F238E27FC236}">
                  <a16:creationId xmlns:a16="http://schemas.microsoft.com/office/drawing/2014/main" id="{2D4ABE09-B535-D1DE-C6B4-082C1FFB264F}"/>
                </a:ext>
              </a:extLst>
            </p:cNvPr>
            <p:cNvSpPr/>
            <p:nvPr/>
          </p:nvSpPr>
          <p:spPr>
            <a:xfrm>
              <a:off x="274320" y="2980944"/>
              <a:ext cx="109728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69847C05-F998-ED57-02B8-C5CB2E4803DC}"/>
                </a:ext>
              </a:extLst>
            </p:cNvPr>
            <p:cNvSpPr txBox="1"/>
            <p:nvPr/>
          </p:nvSpPr>
          <p:spPr>
            <a:xfrm>
              <a:off x="274320" y="298094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M3 (CrossAttn3)</a:t>
              </a:r>
            </a:p>
          </p:txBody>
        </p:sp>
        <p:sp>
          <p:nvSpPr>
            <p:cNvPr id="80" name="Rectangle 81">
              <a:extLst>
                <a:ext uri="{FF2B5EF4-FFF2-40B4-BE49-F238E27FC236}">
                  <a16:creationId xmlns:a16="http://schemas.microsoft.com/office/drawing/2014/main" id="{576CFEB1-95CE-B7AD-B93F-74237C006E8A}"/>
                </a:ext>
              </a:extLst>
            </p:cNvPr>
            <p:cNvSpPr/>
            <p:nvPr/>
          </p:nvSpPr>
          <p:spPr>
            <a:xfrm>
              <a:off x="1417320" y="2980944"/>
              <a:ext cx="109728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50E55BC-DFCB-D093-9AD5-0A92B478874F}"/>
                </a:ext>
              </a:extLst>
            </p:cNvPr>
            <p:cNvSpPr txBox="1"/>
            <p:nvPr/>
          </p:nvSpPr>
          <p:spPr>
            <a:xfrm>
              <a:off x="1417320" y="298094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0.8309</a:t>
              </a:r>
            </a:p>
          </p:txBody>
        </p:sp>
        <p:sp>
          <p:nvSpPr>
            <p:cNvPr id="82" name="Rectangle 83">
              <a:extLst>
                <a:ext uri="{FF2B5EF4-FFF2-40B4-BE49-F238E27FC236}">
                  <a16:creationId xmlns:a16="http://schemas.microsoft.com/office/drawing/2014/main" id="{43F05244-CC24-7B79-EE69-6706C079EDD7}"/>
                </a:ext>
              </a:extLst>
            </p:cNvPr>
            <p:cNvSpPr/>
            <p:nvPr/>
          </p:nvSpPr>
          <p:spPr>
            <a:xfrm>
              <a:off x="2560320" y="2980944"/>
              <a:ext cx="150876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DA7F83A-8B52-16B3-8A04-DDD1EE577C91}"/>
                </a:ext>
              </a:extLst>
            </p:cNvPr>
            <p:cNvSpPr txBox="1"/>
            <p:nvPr/>
          </p:nvSpPr>
          <p:spPr>
            <a:xfrm>
              <a:off x="2560320" y="298094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[0.740,0.900]</a:t>
              </a:r>
            </a:p>
          </p:txBody>
        </p:sp>
        <p:sp>
          <p:nvSpPr>
            <p:cNvPr id="84" name="Rectangle 85">
              <a:extLst>
                <a:ext uri="{FF2B5EF4-FFF2-40B4-BE49-F238E27FC236}">
                  <a16:creationId xmlns:a16="http://schemas.microsoft.com/office/drawing/2014/main" id="{BE16B54D-4330-9BC1-E5BA-2F1C5A0D0CA1}"/>
                </a:ext>
              </a:extLst>
            </p:cNvPr>
            <p:cNvSpPr/>
            <p:nvPr/>
          </p:nvSpPr>
          <p:spPr>
            <a:xfrm>
              <a:off x="4114800" y="2980944"/>
              <a:ext cx="96012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02E0E53-1CD0-0B36-8A00-591196124853}"/>
                </a:ext>
              </a:extLst>
            </p:cNvPr>
            <p:cNvSpPr txBox="1"/>
            <p:nvPr/>
          </p:nvSpPr>
          <p:spPr>
            <a:xfrm>
              <a:off x="4114800" y="2980944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0.3187</a:t>
              </a:r>
            </a:p>
          </p:txBody>
        </p:sp>
        <p:sp>
          <p:nvSpPr>
            <p:cNvPr id="86" name="Rectangle 87">
              <a:extLst>
                <a:ext uri="{FF2B5EF4-FFF2-40B4-BE49-F238E27FC236}">
                  <a16:creationId xmlns:a16="http://schemas.microsoft.com/office/drawing/2014/main" id="{4BBA25C2-2EF9-85B4-60AF-D78D146B629D}"/>
                </a:ext>
              </a:extLst>
            </p:cNvPr>
            <p:cNvSpPr/>
            <p:nvPr/>
          </p:nvSpPr>
          <p:spPr>
            <a:xfrm>
              <a:off x="5120640" y="2980944"/>
              <a:ext cx="91440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849F52F9-34F8-526A-5EEC-D5DD65F2B536}"/>
                </a:ext>
              </a:extLst>
            </p:cNvPr>
            <p:cNvSpPr txBox="1"/>
            <p:nvPr/>
          </p:nvSpPr>
          <p:spPr>
            <a:xfrm>
              <a:off x="5120640" y="298094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0.2431</a:t>
              </a:r>
            </a:p>
          </p:txBody>
        </p:sp>
        <p:sp>
          <p:nvSpPr>
            <p:cNvPr id="88" name="Rectangle 89">
              <a:extLst>
                <a:ext uri="{FF2B5EF4-FFF2-40B4-BE49-F238E27FC236}">
                  <a16:creationId xmlns:a16="http://schemas.microsoft.com/office/drawing/2014/main" id="{37EE8266-2637-5B31-BBCD-D96726AE62D8}"/>
                </a:ext>
              </a:extLst>
            </p:cNvPr>
            <p:cNvSpPr/>
            <p:nvPr/>
          </p:nvSpPr>
          <p:spPr>
            <a:xfrm>
              <a:off x="6080760" y="2980944"/>
              <a:ext cx="91440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C44543D-866B-A067-5295-9EDD1D095271}"/>
                </a:ext>
              </a:extLst>
            </p:cNvPr>
            <p:cNvSpPr txBox="1"/>
            <p:nvPr/>
          </p:nvSpPr>
          <p:spPr>
            <a:xfrm>
              <a:off x="6080760" y="298094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0.3520</a:t>
              </a:r>
            </a:p>
          </p:txBody>
        </p:sp>
        <p:sp>
          <p:nvSpPr>
            <p:cNvPr id="90" name="Rectangle 91">
              <a:extLst>
                <a:ext uri="{FF2B5EF4-FFF2-40B4-BE49-F238E27FC236}">
                  <a16:creationId xmlns:a16="http://schemas.microsoft.com/office/drawing/2014/main" id="{C886FBEE-9E99-0EB3-D952-4435CD7A8FA6}"/>
                </a:ext>
              </a:extLst>
            </p:cNvPr>
            <p:cNvSpPr/>
            <p:nvPr/>
          </p:nvSpPr>
          <p:spPr>
            <a:xfrm>
              <a:off x="7040880" y="2980944"/>
              <a:ext cx="150876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4BA33A8-B9DE-EC56-6B00-A3B709F28AEA}"/>
                </a:ext>
              </a:extLst>
            </p:cNvPr>
            <p:cNvSpPr txBox="1"/>
            <p:nvPr/>
          </p:nvSpPr>
          <p:spPr>
            <a:xfrm>
              <a:off x="7040880" y="298094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+0.028</a:t>
              </a:r>
            </a:p>
          </p:txBody>
        </p:sp>
        <p:sp>
          <p:nvSpPr>
            <p:cNvPr id="92" name="Rectangle 93">
              <a:extLst>
                <a:ext uri="{FF2B5EF4-FFF2-40B4-BE49-F238E27FC236}">
                  <a16:creationId xmlns:a16="http://schemas.microsoft.com/office/drawing/2014/main" id="{F0121106-E5DB-1DF4-47CA-DBBB7AC74D15}"/>
                </a:ext>
              </a:extLst>
            </p:cNvPr>
            <p:cNvSpPr/>
            <p:nvPr/>
          </p:nvSpPr>
          <p:spPr>
            <a:xfrm>
              <a:off x="8595360" y="2980944"/>
              <a:ext cx="150876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18E4F2F8-C430-AB78-A609-C64E27C390DC}"/>
                </a:ext>
              </a:extLst>
            </p:cNvPr>
            <p:cNvSpPr txBox="1"/>
            <p:nvPr/>
          </p:nvSpPr>
          <p:spPr>
            <a:xfrm>
              <a:off x="8595360" y="298094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p=0.252 ns</a:t>
              </a:r>
            </a:p>
          </p:txBody>
        </p:sp>
        <p:sp>
          <p:nvSpPr>
            <p:cNvPr id="94" name="Rectangle 95">
              <a:extLst>
                <a:ext uri="{FF2B5EF4-FFF2-40B4-BE49-F238E27FC236}">
                  <a16:creationId xmlns:a16="http://schemas.microsoft.com/office/drawing/2014/main" id="{2CDFC5A1-FACA-12A1-E149-BC3548ED0846}"/>
                </a:ext>
              </a:extLst>
            </p:cNvPr>
            <p:cNvSpPr/>
            <p:nvPr/>
          </p:nvSpPr>
          <p:spPr>
            <a:xfrm>
              <a:off x="10149840" y="2980944"/>
              <a:ext cx="1874519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59B8376-E747-DC44-E703-666CD6842D30}"/>
                </a:ext>
              </a:extLst>
            </p:cNvPr>
            <p:cNvSpPr txBox="1"/>
            <p:nvPr/>
          </p:nvSpPr>
          <p:spPr>
            <a:xfrm>
              <a:off x="10149840" y="2980944"/>
              <a:ext cx="1874519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Clinic+Scn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966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8CC32-5641-0D56-4EE1-F5AE46297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41A162-FB10-71F8-2866-5300F3B84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2E6304-7EF9-ED4D-337C-C88493207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31FB97D-BA7A-DBC7-BB95-5B9D0B5C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Preprocessing Pipeline Work Flow</a:t>
            </a:r>
          </a:p>
          <a:p>
            <a:pPr lvl="1"/>
            <a:r>
              <a:rPr lang="en-US" altLang="ko-KR" dirty="0"/>
              <a:t>Step 1. Clinic Data </a:t>
            </a:r>
            <a:r>
              <a:rPr lang="ko-KR" altLang="en-US" dirty="0"/>
              <a:t>정제 → 중복 제거</a:t>
            </a:r>
            <a:r>
              <a:rPr lang="en-US" altLang="ko-KR" dirty="0"/>
              <a:t>, SMI </a:t>
            </a:r>
            <a:r>
              <a:rPr lang="ko-KR" altLang="en-US" dirty="0"/>
              <a:t>산출 등</a:t>
            </a:r>
            <a:endParaRPr lang="en-US" altLang="ko-KR" dirty="0"/>
          </a:p>
          <a:p>
            <a:pPr lvl="1"/>
            <a:r>
              <a:rPr lang="en-US" altLang="ko-KR" b="1" dirty="0"/>
              <a:t>Step 2. </a:t>
            </a:r>
            <a:r>
              <a:rPr lang="en-US" altLang="ko-KR" b="1" dirty="0" err="1"/>
              <a:t>TotalSegmentator</a:t>
            </a:r>
            <a:r>
              <a:rPr lang="ko-KR" altLang="en-US" b="1" dirty="0"/>
              <a:t>를 이용한 해부학적 경계 추출</a:t>
            </a:r>
            <a:endParaRPr lang="en-US" altLang="ko-KR" b="1" dirty="0"/>
          </a:p>
          <a:p>
            <a:pPr lvl="2"/>
            <a:r>
              <a:rPr lang="en-US" altLang="ko-KR" dirty="0"/>
              <a:t>DICOM </a:t>
            </a:r>
            <a:r>
              <a:rPr lang="ko-KR" altLang="en-US" dirty="0"/>
              <a:t>→ </a:t>
            </a:r>
            <a:r>
              <a:rPr lang="en-US" altLang="ko-KR" dirty="0" err="1"/>
              <a:t>NifTI</a:t>
            </a:r>
            <a:r>
              <a:rPr lang="ko-KR" altLang="en-US" dirty="0"/>
              <a:t> 변환 → </a:t>
            </a:r>
            <a:r>
              <a:rPr lang="en-US" altLang="ko-KR" dirty="0" err="1"/>
              <a:t>totalsegmentator</a:t>
            </a:r>
            <a:r>
              <a:rPr lang="ko-KR" altLang="en-US" dirty="0"/>
              <a:t> </a:t>
            </a:r>
            <a:r>
              <a:rPr lang="en-US" altLang="ko-KR" dirty="0"/>
              <a:t>[“</a:t>
            </a:r>
            <a:r>
              <a:rPr lang="en-US" altLang="ko-KR" dirty="0" err="1"/>
              <a:t>liver_segments</a:t>
            </a:r>
            <a:r>
              <a:rPr lang="en-US" altLang="ko-KR" dirty="0"/>
              <a:t>”, “</a:t>
            </a:r>
            <a:r>
              <a:rPr lang="en-US" altLang="ko-KR" dirty="0" err="1"/>
              <a:t>hip_left</a:t>
            </a:r>
            <a:r>
              <a:rPr lang="en-US" altLang="ko-KR" dirty="0"/>
              <a:t>”, “</a:t>
            </a:r>
            <a:r>
              <a:rPr lang="en-US" altLang="ko-KR" dirty="0" err="1"/>
              <a:t>hip_right</a:t>
            </a:r>
            <a:r>
              <a:rPr lang="en-US" altLang="ko-KR" dirty="0"/>
              <a:t>”] </a:t>
            </a:r>
            <a:r>
              <a:rPr lang="ko-KR" altLang="en-US" dirty="0"/>
              <a:t>진행</a:t>
            </a:r>
            <a:endParaRPr lang="en-US" altLang="ko-KR" dirty="0"/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L1</a:t>
            </a:r>
            <a:r>
              <a:rPr lang="ko-KR" altLang="en-US" dirty="0">
                <a:solidFill>
                  <a:srgbClr val="FF0000"/>
                </a:solidFill>
              </a:rPr>
              <a:t>에 대해서도 진행했으나 </a:t>
            </a:r>
            <a:r>
              <a:rPr lang="en-US" altLang="ko-KR" dirty="0">
                <a:solidFill>
                  <a:srgbClr val="FF0000"/>
                </a:solidFill>
              </a:rPr>
              <a:t>missing data</a:t>
            </a:r>
            <a:r>
              <a:rPr lang="ko-KR" altLang="en-US" dirty="0">
                <a:solidFill>
                  <a:srgbClr val="FF0000"/>
                </a:solidFill>
              </a:rPr>
              <a:t>가 </a:t>
            </a:r>
            <a:r>
              <a:rPr lang="en-US" altLang="ko-KR" dirty="0">
                <a:solidFill>
                  <a:srgbClr val="FF0000"/>
                </a:solidFill>
              </a:rPr>
              <a:t>t12</a:t>
            </a:r>
            <a:r>
              <a:rPr lang="ko-KR" altLang="en-US" dirty="0">
                <a:solidFill>
                  <a:srgbClr val="FF0000"/>
                </a:solidFill>
              </a:rPr>
              <a:t>와 비슷하여 제외</a:t>
            </a:r>
            <a:endParaRPr lang="en-US" altLang="ko-KR" dirty="0">
              <a:solidFill>
                <a:srgbClr val="FF0000"/>
              </a:solidFill>
            </a:endParaRPr>
          </a:p>
          <a:p>
            <a:pPr lvl="2"/>
            <a:r>
              <a:rPr lang="en-US" altLang="ko-KR" dirty="0"/>
              <a:t>Liver</a:t>
            </a:r>
            <a:r>
              <a:rPr lang="ko-KR" altLang="en-US" dirty="0"/>
              <a:t> </a:t>
            </a:r>
            <a:r>
              <a:rPr lang="en-US" altLang="ko-KR" dirty="0"/>
              <a:t>upper,</a:t>
            </a:r>
            <a:r>
              <a:rPr lang="ko-KR" altLang="en-US" dirty="0"/>
              <a:t> </a:t>
            </a:r>
            <a:r>
              <a:rPr lang="en-US" altLang="ko-KR" dirty="0"/>
              <a:t>pubis bottom</a:t>
            </a:r>
            <a:r>
              <a:rPr lang="ko-KR" altLang="en-US" dirty="0"/>
              <a:t>으로 경계 추출</a:t>
            </a:r>
            <a:endParaRPr lang="en-US" altLang="ko-KR" dirty="0"/>
          </a:p>
          <a:p>
            <a:pPr lvl="2"/>
            <a:r>
              <a:rPr lang="en-US" altLang="ko-KR" dirty="0"/>
              <a:t>Slice </a:t>
            </a:r>
            <a:r>
              <a:rPr lang="ko-KR" altLang="en-US" dirty="0"/>
              <a:t>번호를 확인하여 구간에 대한 </a:t>
            </a:r>
            <a:r>
              <a:rPr lang="en-US" altLang="ko-KR" dirty="0"/>
              <a:t>AEC value</a:t>
            </a:r>
            <a:r>
              <a:rPr lang="ko-KR" altLang="en-US" dirty="0"/>
              <a:t> 확인</a:t>
            </a:r>
            <a:endParaRPr lang="en-US" altLang="ko-KR" dirty="0"/>
          </a:p>
          <a:p>
            <a:pPr lvl="1"/>
            <a:r>
              <a:rPr lang="en-US" altLang="ko-KR" dirty="0"/>
              <a:t>Step 3. AEC crop </a:t>
            </a:r>
            <a:r>
              <a:rPr lang="ko-KR" altLang="en-US" dirty="0"/>
              <a:t>및 </a:t>
            </a:r>
            <a:r>
              <a:rPr lang="en-US" altLang="ko-KR" dirty="0"/>
              <a:t>interpolation</a:t>
            </a:r>
          </a:p>
          <a:p>
            <a:pPr lvl="2"/>
            <a:r>
              <a:rPr lang="en-US" altLang="ko-KR" dirty="0"/>
              <a:t>128, 256 pt</a:t>
            </a:r>
            <a:r>
              <a:rPr lang="ko-KR" altLang="en-US" dirty="0"/>
              <a:t>로 </a:t>
            </a:r>
            <a:r>
              <a:rPr lang="en-US" altLang="ko-KR" dirty="0"/>
              <a:t>interpolation </a:t>
            </a:r>
            <a:r>
              <a:rPr lang="ko-KR" altLang="en-US" dirty="0"/>
              <a:t>진행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26511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E4728-B9DF-1C5D-0136-7AE655B89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8602BE-6D22-162A-1828-603C347AE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FA4F8D-C171-3AC2-2174-2106298A4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7608BE9-6682-4591-47F7-3E652CAA8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Preprocessing Pipeline Work Flow</a:t>
            </a:r>
          </a:p>
          <a:p>
            <a:pPr lvl="1"/>
            <a:r>
              <a:rPr lang="en-US" altLang="ko-KR" b="1" dirty="0"/>
              <a:t>Step 4. Clinic Data + AEC Data Integration &amp; Filtering (</a:t>
            </a:r>
            <a:r>
              <a:rPr lang="ko-KR" altLang="en-US" b="1" dirty="0"/>
              <a:t>제거 조건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 err="1"/>
              <a:t>kVp</a:t>
            </a:r>
            <a:r>
              <a:rPr lang="en-US" altLang="ko-KR" dirty="0"/>
              <a:t> != 100</a:t>
            </a:r>
          </a:p>
          <a:p>
            <a:pPr lvl="2"/>
            <a:r>
              <a:rPr lang="en-US" altLang="ko-KR" dirty="0"/>
              <a:t>Age &lt; 20</a:t>
            </a:r>
          </a:p>
          <a:p>
            <a:pPr lvl="2"/>
            <a:r>
              <a:rPr lang="en-US" altLang="ko-KR" dirty="0"/>
              <a:t>Manufacturer Model Name 1% </a:t>
            </a:r>
            <a:r>
              <a:rPr lang="ko-KR" altLang="en-US" dirty="0"/>
              <a:t>미만</a:t>
            </a:r>
            <a:endParaRPr lang="en-US" altLang="ko-KR" dirty="0"/>
          </a:p>
          <a:p>
            <a:pPr lvl="2"/>
            <a:r>
              <a:rPr lang="en-US" altLang="ko-KR" dirty="0"/>
              <a:t>Crop</a:t>
            </a:r>
            <a:r>
              <a:rPr lang="ko-KR" altLang="en-US" dirty="0"/>
              <a:t>된 </a:t>
            </a:r>
            <a:r>
              <a:rPr lang="en-US" altLang="ko-KR" dirty="0"/>
              <a:t>slice </a:t>
            </a:r>
            <a:r>
              <a:rPr lang="ko-KR" altLang="en-US" dirty="0"/>
              <a:t>개수 </a:t>
            </a:r>
            <a:r>
              <a:rPr lang="en-US" altLang="ko-KR" dirty="0"/>
              <a:t>100 </a:t>
            </a:r>
            <a:r>
              <a:rPr lang="ko-KR" altLang="en-US" dirty="0"/>
              <a:t>미만</a:t>
            </a:r>
            <a:endParaRPr lang="en-US" altLang="ko-KR" dirty="0"/>
          </a:p>
          <a:p>
            <a:pPr lvl="2"/>
            <a:r>
              <a:rPr lang="en-US" altLang="ko-KR" dirty="0" err="1"/>
              <a:t>Z_range</a:t>
            </a:r>
            <a:r>
              <a:rPr lang="en-US" altLang="ko-KR" dirty="0"/>
              <a:t> IQR </a:t>
            </a:r>
            <a:r>
              <a:rPr lang="ko-KR" altLang="en-US" dirty="0"/>
              <a:t>이상치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90659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1EE7E-817F-C87E-FB8F-5DC3D3055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C73284-FE7C-1617-5215-A21962FA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82B2E8-63B2-A9B4-C8F0-7C8F2D1CF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09B0CD4-5439-E6B0-4BB1-FB9064D99B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</a:t>
            </a:r>
            <a:r>
              <a:rPr lang="ko-KR" altLang="en-US" dirty="0"/>
              <a:t>정리</a:t>
            </a:r>
            <a:endParaRPr lang="en-US" altLang="ko-KR" dirty="0"/>
          </a:p>
          <a:p>
            <a:pPr lvl="1"/>
            <a:r>
              <a:rPr lang="en-US" altLang="ko-KR" dirty="0"/>
              <a:t>Clinic Data: Patient 3,762 </a:t>
            </a:r>
            <a:r>
              <a:rPr lang="ko-KR" altLang="en-US" dirty="0"/>
              <a:t>→ 중복 제거 </a:t>
            </a:r>
            <a:r>
              <a:rPr lang="en-US" altLang="ko-KR" dirty="0"/>
              <a:t>2,033 </a:t>
            </a:r>
            <a:r>
              <a:rPr lang="ko-KR" altLang="en-US" dirty="0"/>
              <a:t>→ </a:t>
            </a:r>
            <a:r>
              <a:rPr lang="en-US" altLang="ko-KR" dirty="0"/>
              <a:t>BMI, Height, Weight, SMI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1,458</a:t>
            </a:r>
          </a:p>
          <a:p>
            <a:pPr lvl="2"/>
            <a:r>
              <a:rPr lang="en-US" altLang="ko-KR" dirty="0"/>
              <a:t>20</a:t>
            </a:r>
            <a:r>
              <a:rPr lang="ko-KR" altLang="en-US" dirty="0"/>
              <a:t>세 이상</a:t>
            </a:r>
            <a:r>
              <a:rPr lang="en-US" altLang="ko-KR" dirty="0"/>
              <a:t>, </a:t>
            </a:r>
            <a:r>
              <a:rPr lang="en-US" altLang="ko-KR" dirty="0" err="1"/>
              <a:t>kVp</a:t>
            </a:r>
            <a:r>
              <a:rPr lang="en-US" altLang="ko-KR" dirty="0"/>
              <a:t> =100, </a:t>
            </a:r>
            <a:r>
              <a:rPr lang="ko-KR" altLang="en-US" dirty="0"/>
              <a:t>메인 제조 모델</a:t>
            </a:r>
            <a:endParaRPr lang="en-US" altLang="ko-KR" dirty="0"/>
          </a:p>
          <a:p>
            <a:pPr lvl="1"/>
            <a:r>
              <a:rPr lang="en-US" altLang="ko-KR" dirty="0"/>
              <a:t>AEC: Patient 2,054 (Crop ok : Liver missing = 2,053 : 1)</a:t>
            </a:r>
          </a:p>
          <a:p>
            <a:pPr lvl="1"/>
            <a:r>
              <a:rPr lang="en-US" altLang="ko-KR" dirty="0"/>
              <a:t>Clinic ∩ AEC: 1,273 </a:t>
            </a:r>
            <a:r>
              <a:rPr lang="ko-KR" altLang="en-US" dirty="0"/>
              <a:t>→ 필터링 제거</a:t>
            </a:r>
            <a:r>
              <a:rPr lang="en-US" altLang="ko-KR" dirty="0"/>
              <a:t>(130): </a:t>
            </a:r>
            <a:r>
              <a:rPr lang="en-US" altLang="ko-KR" b="1" dirty="0">
                <a:solidFill>
                  <a:srgbClr val="FF0000"/>
                </a:solidFill>
              </a:rPr>
              <a:t>1,143</a:t>
            </a:r>
          </a:p>
          <a:p>
            <a:pPr lvl="2"/>
            <a:r>
              <a:rPr lang="en-US" altLang="ko-KR" dirty="0" err="1"/>
              <a:t>kVp</a:t>
            </a:r>
            <a:r>
              <a:rPr lang="en-US" altLang="ko-KR" dirty="0"/>
              <a:t> != 100: 92</a:t>
            </a:r>
          </a:p>
          <a:p>
            <a:pPr lvl="2"/>
            <a:r>
              <a:rPr lang="en-US" altLang="ko-KR" dirty="0"/>
              <a:t>Age &lt; 20: 3</a:t>
            </a:r>
          </a:p>
          <a:p>
            <a:pPr lvl="2"/>
            <a:r>
              <a:rPr lang="en-US" altLang="ko-KR" dirty="0"/>
              <a:t>Manufacturer Model Name 1% </a:t>
            </a:r>
            <a:r>
              <a:rPr lang="ko-KR" altLang="en-US" dirty="0"/>
              <a:t>미만</a:t>
            </a:r>
            <a:r>
              <a:rPr lang="en-US" altLang="ko-KR" dirty="0"/>
              <a:t>: 17</a:t>
            </a:r>
          </a:p>
          <a:p>
            <a:pPr lvl="2"/>
            <a:r>
              <a:rPr lang="en-US" altLang="ko-KR" dirty="0"/>
              <a:t>Cropped</a:t>
            </a:r>
            <a:r>
              <a:rPr lang="ko-KR" altLang="en-US" dirty="0"/>
              <a:t> </a:t>
            </a:r>
            <a:r>
              <a:rPr lang="en-US" altLang="ko-KR" dirty="0"/>
              <a:t>slices 100 </a:t>
            </a:r>
            <a:r>
              <a:rPr lang="ko-KR" altLang="en-US" dirty="0"/>
              <a:t>미만</a:t>
            </a:r>
            <a:r>
              <a:rPr lang="en-US" altLang="ko-KR" dirty="0"/>
              <a:t>: 5</a:t>
            </a:r>
          </a:p>
          <a:p>
            <a:pPr lvl="2"/>
            <a:r>
              <a:rPr lang="en-US" altLang="ko-KR" dirty="0"/>
              <a:t>Z range </a:t>
            </a:r>
            <a:r>
              <a:rPr lang="ko-KR" altLang="en-US" dirty="0"/>
              <a:t>이상치</a:t>
            </a:r>
            <a:r>
              <a:rPr lang="en-US" altLang="ko-KR" dirty="0"/>
              <a:t>: 13</a:t>
            </a:r>
          </a:p>
        </p:txBody>
      </p:sp>
    </p:spTree>
    <p:extLst>
      <p:ext uri="{BB962C8B-B14F-4D97-AF65-F5344CB8AC3E}">
        <p14:creationId xmlns:p14="http://schemas.microsoft.com/office/powerpoint/2010/main" val="2375766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1C564-C4E3-C7E5-176D-3C71C0D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C90F66-DE53-7F78-BD26-F25903C36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651BCC-0290-4B0F-F77B-B861A8312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4AE4587-D9EE-3494-C321-6EC6B13EF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ko-KR" altLang="en-US" dirty="0"/>
              <a:t>필터링 된 데이터셋의 </a:t>
            </a:r>
            <a:r>
              <a:rPr lang="en-US" altLang="ko-KR" dirty="0"/>
              <a:t>AEC </a:t>
            </a:r>
            <a:r>
              <a:rPr lang="ko-KR" altLang="en-US" dirty="0"/>
              <a:t>관련 데이터 분포 </a:t>
            </a:r>
            <a:r>
              <a:rPr lang="en-US" altLang="ko-KR" dirty="0"/>
              <a:t>(1,143</a:t>
            </a:r>
            <a:r>
              <a:rPr lang="ko-KR" altLang="en-US" dirty="0"/>
              <a:t>개 데이터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Slice thickness</a:t>
            </a:r>
            <a:r>
              <a:rPr lang="ko-KR" altLang="en-US" dirty="0"/>
              <a:t>가 여러 개 존재</a:t>
            </a:r>
            <a:r>
              <a:rPr lang="en-US" altLang="ko-KR" dirty="0"/>
              <a:t>: 2.00mm, 2.50mm, 3.00mm</a:t>
            </a:r>
          </a:p>
          <a:p>
            <a:pPr lvl="1"/>
            <a:r>
              <a:rPr lang="en-US" altLang="ko-KR" dirty="0"/>
              <a:t>Slices Num</a:t>
            </a:r>
            <a:r>
              <a:rPr lang="ko-KR" altLang="en-US" dirty="0"/>
              <a:t> </a:t>
            </a:r>
            <a:r>
              <a:rPr lang="en-US" altLang="ko-KR" dirty="0"/>
              <a:t>&gt;</a:t>
            </a:r>
            <a:r>
              <a:rPr lang="ko-KR" altLang="en-US" dirty="0"/>
              <a:t> </a:t>
            </a:r>
            <a:r>
              <a:rPr lang="en-US" altLang="ko-KR" dirty="0"/>
              <a:t>200</a:t>
            </a:r>
            <a:r>
              <a:rPr lang="ko-KR" altLang="en-US" dirty="0"/>
              <a:t>인 데이터</a:t>
            </a:r>
            <a:r>
              <a:rPr lang="en-US" altLang="ko-KR" dirty="0"/>
              <a:t>: 27</a:t>
            </a:r>
            <a:r>
              <a:rPr lang="ko-KR" altLang="en-US" dirty="0"/>
              <a:t>개 확인 </a:t>
            </a:r>
            <a:r>
              <a:rPr lang="en-US" altLang="ko-KR" dirty="0"/>
              <a:t>(</a:t>
            </a:r>
            <a:r>
              <a:rPr lang="ko-KR" altLang="en-US" dirty="0"/>
              <a:t>모두 </a:t>
            </a:r>
            <a:r>
              <a:rPr lang="en-US" altLang="ko-KR" dirty="0"/>
              <a:t>2.00mm)</a:t>
            </a:r>
          </a:p>
          <a:p>
            <a:pPr lvl="1"/>
            <a:r>
              <a:rPr lang="en-US" altLang="ko-KR" dirty="0"/>
              <a:t>Slices Num</a:t>
            </a:r>
            <a:r>
              <a:rPr lang="ko-KR" altLang="en-US" dirty="0"/>
              <a:t>의 </a:t>
            </a:r>
            <a:r>
              <a:rPr lang="en-US" altLang="ko-KR" dirty="0"/>
              <a:t>Max</a:t>
            </a:r>
            <a:r>
              <a:rPr lang="ko-KR" altLang="en-US" dirty="0"/>
              <a:t> 경우</a:t>
            </a:r>
            <a:r>
              <a:rPr lang="en-US" altLang="ko-KR" dirty="0"/>
              <a:t>, </a:t>
            </a:r>
            <a:r>
              <a:rPr lang="ko-KR" altLang="en-US" dirty="0"/>
              <a:t> </a:t>
            </a:r>
            <a:r>
              <a:rPr lang="en-US" altLang="ko-KR" dirty="0"/>
              <a:t>thickness =</a:t>
            </a:r>
            <a:r>
              <a:rPr lang="ko-KR" altLang="en-US" dirty="0"/>
              <a:t> </a:t>
            </a:r>
            <a:r>
              <a:rPr lang="en-US" altLang="ko-KR" dirty="0"/>
              <a:t>2.00mm</a:t>
            </a:r>
            <a:r>
              <a:rPr lang="ko-KR" altLang="en-US" dirty="0"/>
              <a:t> → </a:t>
            </a:r>
            <a:r>
              <a:rPr lang="en-US" altLang="ko-KR" dirty="0"/>
              <a:t>z range = 476mm</a:t>
            </a:r>
          </a:p>
          <a:p>
            <a:pPr lvl="1"/>
            <a:r>
              <a:rPr lang="en-US" altLang="ko-KR" dirty="0"/>
              <a:t>Slices Num</a:t>
            </a:r>
            <a:r>
              <a:rPr lang="ko-KR" altLang="en-US" dirty="0"/>
              <a:t>의 </a:t>
            </a:r>
            <a:r>
              <a:rPr lang="en-US" altLang="ko-KR" dirty="0"/>
              <a:t>Min</a:t>
            </a:r>
            <a:r>
              <a:rPr lang="ko-KR" altLang="en-US" dirty="0"/>
              <a:t> 경우</a:t>
            </a:r>
            <a:r>
              <a:rPr lang="en-US" altLang="ko-KR" dirty="0"/>
              <a:t>, thickness = 3.00mm</a:t>
            </a:r>
            <a:r>
              <a:rPr lang="ko-KR" altLang="en-US" dirty="0"/>
              <a:t> → </a:t>
            </a:r>
            <a:r>
              <a:rPr lang="en-US" altLang="ko-KR" dirty="0"/>
              <a:t>z range = 327mm</a:t>
            </a:r>
          </a:p>
          <a:p>
            <a:endParaRPr lang="en-US" altLang="ko-KR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F296F737-8C82-7794-102A-912EE34FC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331499"/>
              </p:ext>
            </p:extLst>
          </p:nvPr>
        </p:nvGraphicFramePr>
        <p:xfrm>
          <a:off x="971004" y="1703173"/>
          <a:ext cx="10249992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1249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281249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281249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281249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281249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281249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281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1249">
                  <a:extLst>
                    <a:ext uri="{9D8B030D-6E8A-4147-A177-3AD203B41FA5}">
                      <a16:colId xmlns:a16="http://schemas.microsoft.com/office/drawing/2014/main" val="7926044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en-US" sz="12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2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2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2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2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2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2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2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 Num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19.1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 Range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408.9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2842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55F62-1267-C774-42E2-A96C1B5CC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25FCC-9ECE-ADE9-222B-BE6E1BA4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091E6F-837A-157A-05A5-E726FECA8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43D3B6C9-9925-1415-5F8B-622A5F415D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Model </a:t>
            </a:r>
            <a:r>
              <a:rPr lang="ko-KR" altLang="en-US" dirty="0"/>
              <a:t>성능 비교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1E88B5CA-6E50-C668-C724-BAF1BEC57535}"/>
              </a:ext>
            </a:extLst>
          </p:cNvPr>
          <p:cNvGrpSpPr/>
          <p:nvPr/>
        </p:nvGrpSpPr>
        <p:grpSpPr>
          <a:xfrm>
            <a:off x="809898" y="1730141"/>
            <a:ext cx="5074920" cy="576071"/>
            <a:chOff x="6035040" y="1572768"/>
            <a:chExt cx="5074920" cy="576071"/>
          </a:xfrm>
        </p:grpSpPr>
        <p:sp>
          <p:nvSpPr>
            <p:cNvPr id="46" name="Rectangle 46">
              <a:extLst>
                <a:ext uri="{FF2B5EF4-FFF2-40B4-BE49-F238E27FC236}">
                  <a16:creationId xmlns:a16="http://schemas.microsoft.com/office/drawing/2014/main" id="{FD24FB02-AF30-0418-FF3C-50D559C8C02B}"/>
                </a:ext>
              </a:extLst>
            </p:cNvPr>
            <p:cNvSpPr/>
            <p:nvPr/>
          </p:nvSpPr>
          <p:spPr>
            <a:xfrm>
              <a:off x="6035040" y="1572768"/>
              <a:ext cx="73152" cy="508798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475BEE2-1BB7-BB66-3FAD-8DF4CDE85692}"/>
                </a:ext>
              </a:extLst>
            </p:cNvPr>
            <p:cNvSpPr txBox="1"/>
            <p:nvPr/>
          </p:nvSpPr>
          <p:spPr>
            <a:xfrm>
              <a:off x="6172200" y="1591056"/>
              <a:ext cx="49377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 dirty="0">
                  <a:solidFill>
                    <a:srgbClr val="0F6BBF"/>
                  </a:solidFill>
                  <a:latin typeface="맑은 고딕"/>
                </a:rPr>
                <a:t>Model 1 — Baseline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9F97473-9044-F4AF-32E0-B00C0FD4F686}"/>
                </a:ext>
              </a:extLst>
            </p:cNvPr>
            <p:cNvSpPr txBox="1"/>
            <p:nvPr/>
          </p:nvSpPr>
          <p:spPr>
            <a:xfrm>
              <a:off x="6172200" y="1892807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Age, Sex, BMI → Logistic Regression</a:t>
              </a:r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48E6C1B6-E528-4BCB-2B2A-C278BBFB6FE1}"/>
              </a:ext>
            </a:extLst>
          </p:cNvPr>
          <p:cNvGrpSpPr/>
          <p:nvPr/>
        </p:nvGrpSpPr>
        <p:grpSpPr>
          <a:xfrm>
            <a:off x="809898" y="2444051"/>
            <a:ext cx="5074920" cy="576072"/>
            <a:chOff x="6035040" y="2487168"/>
            <a:chExt cx="5074920" cy="576072"/>
          </a:xfrm>
        </p:grpSpPr>
        <p:sp>
          <p:nvSpPr>
            <p:cNvPr id="49" name="Rectangle 49">
              <a:extLst>
                <a:ext uri="{FF2B5EF4-FFF2-40B4-BE49-F238E27FC236}">
                  <a16:creationId xmlns:a16="http://schemas.microsoft.com/office/drawing/2014/main" id="{D4B803E1-FE2F-E4E5-9001-4D38786D2252}"/>
                </a:ext>
              </a:extLst>
            </p:cNvPr>
            <p:cNvSpPr/>
            <p:nvPr/>
          </p:nvSpPr>
          <p:spPr>
            <a:xfrm>
              <a:off x="6035040" y="2487168"/>
              <a:ext cx="73152" cy="508798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02D37A3-84E7-EB02-2ABA-1E0C380686F2}"/>
                </a:ext>
              </a:extLst>
            </p:cNvPr>
            <p:cNvSpPr txBox="1"/>
            <p:nvPr/>
          </p:nvSpPr>
          <p:spPr>
            <a:xfrm>
              <a:off x="6172200" y="2505456"/>
              <a:ext cx="49377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0F9B8A"/>
                  </a:solidFill>
                  <a:latin typeface="맑은 고딕"/>
                </a:rPr>
                <a:t>Model 2 — AEC Matched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32E149E-B5FC-2AAE-61C0-99D2C508ADB9}"/>
                </a:ext>
              </a:extLst>
            </p:cNvPr>
            <p:cNvSpPr txBox="1"/>
            <p:nvPr/>
          </p:nvSpPr>
          <p:spPr>
            <a:xfrm>
              <a:off x="6172200" y="2807208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Clinic + AEC(동일환자) → CrossAttention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0C76DA82-C0F2-03EF-F0ED-6BC35F00A9DD}"/>
              </a:ext>
            </a:extLst>
          </p:cNvPr>
          <p:cNvGrpSpPr/>
          <p:nvPr/>
        </p:nvGrpSpPr>
        <p:grpSpPr>
          <a:xfrm>
            <a:off x="809898" y="3222604"/>
            <a:ext cx="5074920" cy="576072"/>
            <a:chOff x="6035040" y="3401568"/>
            <a:chExt cx="5074920" cy="576072"/>
          </a:xfrm>
        </p:grpSpPr>
        <p:sp>
          <p:nvSpPr>
            <p:cNvPr id="52" name="Rectangle 52">
              <a:extLst>
                <a:ext uri="{FF2B5EF4-FFF2-40B4-BE49-F238E27FC236}">
                  <a16:creationId xmlns:a16="http://schemas.microsoft.com/office/drawing/2014/main" id="{B395F68D-12F7-FC01-6698-2C293F1894F6}"/>
                </a:ext>
              </a:extLst>
            </p:cNvPr>
            <p:cNvSpPr/>
            <p:nvPr/>
          </p:nvSpPr>
          <p:spPr>
            <a:xfrm>
              <a:off x="6035040" y="3401568"/>
              <a:ext cx="73152" cy="508798"/>
            </a:xfrm>
            <a:prstGeom prst="rect">
              <a:avLst/>
            </a:prstGeom>
            <a:solidFill>
              <a:srgbClr val="9EA3A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C3AB5-FC9E-AD76-2C9E-E35F72F7AF1F}"/>
                </a:ext>
              </a:extLst>
            </p:cNvPr>
            <p:cNvSpPr txBox="1"/>
            <p:nvPr/>
          </p:nvSpPr>
          <p:spPr>
            <a:xfrm>
              <a:off x="6172200" y="3419856"/>
              <a:ext cx="49377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9EA3AB"/>
                  </a:solidFill>
                  <a:latin typeface="맑은 고딕"/>
                </a:rPr>
                <a:t>Model 2_2 — AEC Unmatched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DE31D552-F6EC-ADEA-344E-09126834EA03}"/>
                </a:ext>
              </a:extLst>
            </p:cNvPr>
            <p:cNvSpPr txBox="1"/>
            <p:nvPr/>
          </p:nvSpPr>
          <p:spPr>
            <a:xfrm>
              <a:off x="6172200" y="3721608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Clinic + AEC(다른환자) → 음성 대조군</a:t>
              </a:r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D4A86ACC-92A7-F0AB-E6E0-B3A7362E2F90}"/>
              </a:ext>
            </a:extLst>
          </p:cNvPr>
          <p:cNvGrpSpPr/>
          <p:nvPr/>
        </p:nvGrpSpPr>
        <p:grpSpPr>
          <a:xfrm>
            <a:off x="809898" y="3975716"/>
            <a:ext cx="5074920" cy="576072"/>
            <a:chOff x="6035040" y="4315968"/>
            <a:chExt cx="5074920" cy="576072"/>
          </a:xfrm>
        </p:grpSpPr>
        <p:sp>
          <p:nvSpPr>
            <p:cNvPr id="55" name="Rectangle 55">
              <a:extLst>
                <a:ext uri="{FF2B5EF4-FFF2-40B4-BE49-F238E27FC236}">
                  <a16:creationId xmlns:a16="http://schemas.microsoft.com/office/drawing/2014/main" id="{9CF943EE-B343-C41F-CA97-028CA54D7C47}"/>
                </a:ext>
              </a:extLst>
            </p:cNvPr>
            <p:cNvSpPr/>
            <p:nvPr/>
          </p:nvSpPr>
          <p:spPr>
            <a:xfrm>
              <a:off x="6035040" y="4315968"/>
              <a:ext cx="73152" cy="508798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2CB6976-5FA0-99B2-146A-BDCE816EA2D5}"/>
                </a:ext>
              </a:extLst>
            </p:cNvPr>
            <p:cNvSpPr txBox="1"/>
            <p:nvPr/>
          </p:nvSpPr>
          <p:spPr>
            <a:xfrm>
              <a:off x="6172200" y="4334256"/>
              <a:ext cx="49377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E87400"/>
                  </a:solidFill>
                  <a:latin typeface="맑은 고딕"/>
                </a:rPr>
                <a:t>Model 3 — Scanner+AEC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899B524-C6B9-6CA1-EDEC-7606D3993FBD}"/>
                </a:ext>
              </a:extLst>
            </p:cNvPr>
            <p:cNvSpPr txBox="1"/>
            <p:nvPr/>
          </p:nvSpPr>
          <p:spPr>
            <a:xfrm>
              <a:off x="6172200" y="4636008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Clinic + MFR + AEC → CrossAttention3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1FBFD9D-5721-6274-0D6E-CF0AF61BC15F}"/>
              </a:ext>
            </a:extLst>
          </p:cNvPr>
          <p:cNvSpPr txBox="1"/>
          <p:nvPr/>
        </p:nvSpPr>
        <p:spPr>
          <a:xfrm>
            <a:off x="5725524" y="1079739"/>
            <a:ext cx="6117770" cy="623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Parameter </a:t>
            </a:r>
            <a:r>
              <a:rPr lang="ko-KR" altLang="en-US" sz="20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비교</a:t>
            </a:r>
            <a:endParaRPr lang="en-US" altLang="ko-KR" sz="20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D154097F-DF6D-0028-77F6-1F11009238A2}"/>
              </a:ext>
            </a:extLst>
          </p:cNvPr>
          <p:cNvGrpSpPr/>
          <p:nvPr/>
        </p:nvGrpSpPr>
        <p:grpSpPr>
          <a:xfrm>
            <a:off x="5884818" y="1801110"/>
            <a:ext cx="5150769" cy="1787825"/>
            <a:chOff x="5884818" y="2136449"/>
            <a:chExt cx="5150769" cy="178782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0789539-DFEA-B207-C86A-45220889CA66}"/>
                </a:ext>
              </a:extLst>
            </p:cNvPr>
            <p:cNvSpPr txBox="1"/>
            <p:nvPr/>
          </p:nvSpPr>
          <p:spPr>
            <a:xfrm>
              <a:off x="5884818" y="2885701"/>
              <a:ext cx="15544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0F6BBF"/>
                  </a:solidFill>
                  <a:latin typeface="맑은 고딕"/>
                </a:rPr>
                <a:t>norm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9539AFB-55E7-A0B8-021A-8F8E8C638895}"/>
                </a:ext>
              </a:extLst>
            </p:cNvPr>
            <p:cNvSpPr txBox="1"/>
            <p:nvPr/>
          </p:nvSpPr>
          <p:spPr>
            <a:xfrm>
              <a:off x="7439298" y="2862210"/>
              <a:ext cx="356616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원본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AEC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시퀀스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min-max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정규화</a:t>
              </a:r>
              <a:endParaRPr sz="120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30D4F52-4CED-01A1-4B49-D058D0FA87A9}"/>
                </a:ext>
              </a:extLst>
            </p:cNvPr>
            <p:cNvSpPr txBox="1"/>
            <p:nvPr/>
          </p:nvSpPr>
          <p:spPr>
            <a:xfrm>
              <a:off x="5884818" y="2511075"/>
              <a:ext cx="15544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0F6BBF"/>
                  </a:solidFill>
                  <a:latin typeface="맑은 고딕"/>
                </a:rPr>
                <a:t>crop80/60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D6BBBC-A7FB-F825-AEE7-73CE2E9B0796}"/>
                </a:ext>
              </a:extLst>
            </p:cNvPr>
            <p:cNvSpPr txBox="1"/>
            <p:nvPr/>
          </p:nvSpPr>
          <p:spPr>
            <a:xfrm>
              <a:off x="7439298" y="2498280"/>
              <a:ext cx="356616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중앙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80% / 60%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구간만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사용</a:t>
              </a:r>
              <a:endParaRPr sz="120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B789D44-66D9-9342-60A3-3C27C3579953}"/>
                </a:ext>
              </a:extLst>
            </p:cNvPr>
            <p:cNvSpPr txBox="1"/>
            <p:nvPr/>
          </p:nvSpPr>
          <p:spPr>
            <a:xfrm>
              <a:off x="5884818" y="2136449"/>
              <a:ext cx="15544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 dirty="0">
                  <a:solidFill>
                    <a:srgbClr val="0F6BBF"/>
                  </a:solidFill>
                  <a:latin typeface="맑은 고딕"/>
                </a:rPr>
                <a:t>len128/256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B2F73CE-4804-2919-103E-9A2D0FCF9F00}"/>
                </a:ext>
              </a:extLst>
            </p:cNvPr>
            <p:cNvSpPr txBox="1"/>
            <p:nvPr/>
          </p:nvSpPr>
          <p:spPr>
            <a:xfrm>
              <a:off x="7439298" y="2136449"/>
              <a:ext cx="1906291" cy="276999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lang="ko-KR" altLang="en-US" sz="1200" b="0" i="0" dirty="0">
                  <a:solidFill>
                    <a:srgbClr val="1A1A2E"/>
                  </a:solidFill>
                  <a:latin typeface="맑은 고딕"/>
                </a:rPr>
                <a:t>원본 </a:t>
              </a:r>
              <a:r>
                <a:rPr lang="en-US" altLang="ko-KR" sz="1200" b="0" i="0" dirty="0">
                  <a:solidFill>
                    <a:srgbClr val="1A1A2E"/>
                  </a:solidFill>
                  <a:latin typeface="맑은 고딕"/>
                </a:rPr>
                <a:t>AEC </a:t>
              </a:r>
              <a:r>
                <a:rPr lang="ko-KR" altLang="en-US" sz="1200" b="0" i="0" dirty="0">
                  <a:solidFill>
                    <a:srgbClr val="1A1A2E"/>
                  </a:solidFill>
                  <a:latin typeface="맑은 고딕"/>
                </a:rPr>
                <a:t>길이 </a:t>
              </a:r>
              <a:r>
                <a:rPr lang="en-US" altLang="ko-KR" sz="1200" b="0" i="0" dirty="0">
                  <a:solidFill>
                    <a:srgbClr val="1A1A2E"/>
                  </a:solidFill>
                  <a:latin typeface="맑은 고딕"/>
                </a:rPr>
                <a:t>(128/256)</a:t>
              </a:r>
              <a:endParaRPr sz="120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A61EF7C-280E-2EB6-F09A-65FD0C63C528}"/>
                </a:ext>
              </a:extLst>
            </p:cNvPr>
            <p:cNvSpPr txBox="1"/>
            <p:nvPr/>
          </p:nvSpPr>
          <p:spPr>
            <a:xfrm>
              <a:off x="5884818" y="3260328"/>
              <a:ext cx="15544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0F6BBF"/>
                  </a:solidFill>
                  <a:latin typeface="맑은 고딕"/>
                </a:rPr>
                <a:t>excl_extreme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0069EF3-3A1F-88B3-551A-F09FFB9019C3}"/>
                </a:ext>
              </a:extLst>
            </p:cNvPr>
            <p:cNvSpPr txBox="1"/>
            <p:nvPr/>
          </p:nvSpPr>
          <p:spPr>
            <a:xfrm>
              <a:off x="7439298" y="3260328"/>
              <a:ext cx="356616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상하위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1%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이상치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제거</a:t>
              </a:r>
              <a:r>
                <a:rPr sz="1200" b="0" i="0" dirty="0">
                  <a:solidFill>
                    <a:srgbClr val="1A1A2E"/>
                  </a:solidFill>
                  <a:latin typeface="맑은 고딕"/>
                </a:rPr>
                <a:t> 후 </a:t>
              </a:r>
              <a:r>
                <a:rPr sz="1200" b="0" i="0" dirty="0" err="1">
                  <a:solidFill>
                    <a:srgbClr val="1A1A2E"/>
                  </a:solidFill>
                  <a:latin typeface="맑은 고딕"/>
                </a:rPr>
                <a:t>정규화</a:t>
              </a:r>
              <a:endParaRPr sz="120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36D80A4-C3DC-1AF1-8B99-00AF3D84870A}"/>
                </a:ext>
              </a:extLst>
            </p:cNvPr>
            <p:cNvSpPr txBox="1"/>
            <p:nvPr/>
          </p:nvSpPr>
          <p:spPr>
            <a:xfrm>
              <a:off x="5884818" y="3662664"/>
              <a:ext cx="5150769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lang="en-US" altLang="ko-KR" sz="1100" b="0" i="1" dirty="0">
                  <a:solidFill>
                    <a:srgbClr val="9EA3AB"/>
                  </a:solidFill>
                  <a:latin typeface="맑은 고딕"/>
                </a:rPr>
                <a:t>※</a:t>
              </a:r>
              <a:r>
                <a:rPr sz="1100" b="0" i="1" dirty="0">
                  <a:solidFill>
                    <a:srgbClr val="9EA3AB"/>
                  </a:solidFill>
                  <a:latin typeface="맑은 고딕"/>
                </a:rPr>
                <a:t>  BCE / Focal Loss  ×  AEC 128pt / 256pt  =  4 </a:t>
              </a:r>
              <a:r>
                <a:rPr sz="1100" b="0" i="1" dirty="0" err="1">
                  <a:solidFill>
                    <a:srgbClr val="9EA3AB"/>
                  </a:solidFill>
                  <a:latin typeface="맑은 고딕"/>
                </a:rPr>
                <a:t>시나리오</a:t>
              </a:r>
              <a:r>
                <a:rPr sz="1100" b="0" i="1" dirty="0">
                  <a:solidFill>
                    <a:srgbClr val="9EA3AB"/>
                  </a:solidFill>
                  <a:latin typeface="맑은 고딕"/>
                </a:rPr>
                <a:t> × 5조건 = 20조건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3189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BDEF-35C7-C11D-0F64-7636B941A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F2745-FF28-6AEC-B91D-BB32ED8B2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5617B0-A438-3AF0-7964-D09973EDD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20151-FE58-0567-5123-C115AEF4AD13}"/>
              </a:ext>
            </a:extLst>
          </p:cNvPr>
          <p:cNvSpPr txBox="1"/>
          <p:nvPr/>
        </p:nvSpPr>
        <p:spPr>
          <a:xfrm>
            <a:off x="457200" y="1170432"/>
            <a:ext cx="5029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 dirty="0" err="1">
                <a:solidFill>
                  <a:srgbClr val="1A1A2E"/>
                </a:solidFill>
                <a:latin typeface="맑은 고딕"/>
              </a:rPr>
              <a:t>데이터셋</a:t>
            </a:r>
            <a:r>
              <a:rPr sz="15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500" b="1" i="0" dirty="0" err="1">
                <a:solidFill>
                  <a:srgbClr val="1A1A2E"/>
                </a:solidFill>
                <a:latin typeface="맑은 고딕"/>
              </a:rPr>
              <a:t>구성</a:t>
            </a:r>
            <a:endParaRPr sz="1500" b="1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15C42-04AB-9F56-27D1-2558D7717352}"/>
              </a:ext>
            </a:extLst>
          </p:cNvPr>
          <p:cNvSpPr/>
          <p:nvPr/>
        </p:nvSpPr>
        <p:spPr>
          <a:xfrm>
            <a:off x="457200" y="1490472"/>
            <a:ext cx="502920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65D62623-EB76-FC59-E0F9-309672EA3147}"/>
              </a:ext>
            </a:extLst>
          </p:cNvPr>
          <p:cNvGrpSpPr/>
          <p:nvPr/>
        </p:nvGrpSpPr>
        <p:grpSpPr>
          <a:xfrm>
            <a:off x="457200" y="1548819"/>
            <a:ext cx="5029200" cy="1243584"/>
            <a:chOff x="457200" y="1344168"/>
            <a:chExt cx="5120640" cy="1243584"/>
          </a:xfrm>
        </p:grpSpPr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3F7C873D-D503-C985-0C6F-DF977BA4F082}"/>
                </a:ext>
              </a:extLst>
            </p:cNvPr>
            <p:cNvSpPr/>
            <p:nvPr/>
          </p:nvSpPr>
          <p:spPr>
            <a:xfrm>
              <a:off x="457200" y="1344168"/>
              <a:ext cx="9601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CE047B5-B074-7B7F-18ED-58FD6BA5FBC0}"/>
                </a:ext>
              </a:extLst>
            </p:cNvPr>
            <p:cNvSpPr txBox="1"/>
            <p:nvPr/>
          </p:nvSpPr>
          <p:spPr>
            <a:xfrm>
              <a:off x="457200" y="1344168"/>
              <a:ext cx="9601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구분</a:t>
              </a:r>
            </a:p>
          </p:txBody>
        </p:sp>
        <p:sp>
          <p:nvSpPr>
            <p:cNvPr id="34" name="Rectangle 9">
              <a:extLst>
                <a:ext uri="{FF2B5EF4-FFF2-40B4-BE49-F238E27FC236}">
                  <a16:creationId xmlns:a16="http://schemas.microsoft.com/office/drawing/2014/main" id="{7B282BCE-B98D-457B-AFC1-628075BCEEBC}"/>
                </a:ext>
              </a:extLst>
            </p:cNvPr>
            <p:cNvSpPr/>
            <p:nvPr/>
          </p:nvSpPr>
          <p:spPr>
            <a:xfrm>
              <a:off x="1463040" y="1344168"/>
              <a:ext cx="13258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4C19CD8-F52D-3656-7296-4E8F467A14DD}"/>
                </a:ext>
              </a:extLst>
            </p:cNvPr>
            <p:cNvSpPr txBox="1"/>
            <p:nvPr/>
          </p:nvSpPr>
          <p:spPr>
            <a:xfrm>
              <a:off x="1463040" y="1344168"/>
              <a:ext cx="13258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남성(M)</a:t>
              </a:r>
            </a:p>
          </p:txBody>
        </p:sp>
        <p:sp>
          <p:nvSpPr>
            <p:cNvPr id="36" name="Rectangle 11">
              <a:extLst>
                <a:ext uri="{FF2B5EF4-FFF2-40B4-BE49-F238E27FC236}">
                  <a16:creationId xmlns:a16="http://schemas.microsoft.com/office/drawing/2014/main" id="{95869FC1-361A-16E9-670D-F30D66848D8E}"/>
                </a:ext>
              </a:extLst>
            </p:cNvPr>
            <p:cNvSpPr/>
            <p:nvPr/>
          </p:nvSpPr>
          <p:spPr>
            <a:xfrm>
              <a:off x="2834640" y="1344168"/>
              <a:ext cx="13258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60102D0-C137-4A50-8EF0-B8215EB75331}"/>
                </a:ext>
              </a:extLst>
            </p:cNvPr>
            <p:cNvSpPr txBox="1"/>
            <p:nvPr/>
          </p:nvSpPr>
          <p:spPr>
            <a:xfrm>
              <a:off x="2834640" y="1344168"/>
              <a:ext cx="13258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여성(F)</a:t>
              </a:r>
            </a:p>
          </p:txBody>
        </p:sp>
        <p:sp>
          <p:nvSpPr>
            <p:cNvPr id="38" name="Rectangle 13">
              <a:extLst>
                <a:ext uri="{FF2B5EF4-FFF2-40B4-BE49-F238E27FC236}">
                  <a16:creationId xmlns:a16="http://schemas.microsoft.com/office/drawing/2014/main" id="{D6F1ED25-BB71-B0B4-FF53-DC928F65F1A7}"/>
                </a:ext>
              </a:extLst>
            </p:cNvPr>
            <p:cNvSpPr/>
            <p:nvPr/>
          </p:nvSpPr>
          <p:spPr>
            <a:xfrm>
              <a:off x="4206240" y="1344168"/>
              <a:ext cx="13716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23BA52C-02D8-0481-1524-B1C4FF49A3CD}"/>
                </a:ext>
              </a:extLst>
            </p:cNvPr>
            <p:cNvSpPr txBox="1"/>
            <p:nvPr/>
          </p:nvSpPr>
          <p:spPr>
            <a:xfrm>
              <a:off x="4206240" y="1344168"/>
              <a:ext cx="13716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합계</a:t>
              </a:r>
            </a:p>
          </p:txBody>
        </p:sp>
        <p:sp>
          <p:nvSpPr>
            <p:cNvPr id="40" name="Rectangle 15">
              <a:extLst>
                <a:ext uri="{FF2B5EF4-FFF2-40B4-BE49-F238E27FC236}">
                  <a16:creationId xmlns:a16="http://schemas.microsoft.com/office/drawing/2014/main" id="{8B726830-19C2-FF35-5BC8-D921B6AAEBF5}"/>
                </a:ext>
              </a:extLst>
            </p:cNvPr>
            <p:cNvSpPr/>
            <p:nvPr/>
          </p:nvSpPr>
          <p:spPr>
            <a:xfrm>
              <a:off x="457200" y="1636776"/>
              <a:ext cx="9601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C340496-A640-2C5B-62E4-7B80ABE708F6}"/>
                </a:ext>
              </a:extLst>
            </p:cNvPr>
            <p:cNvSpPr txBox="1"/>
            <p:nvPr/>
          </p:nvSpPr>
          <p:spPr>
            <a:xfrm>
              <a:off x="457200" y="1636776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Train</a:t>
              </a:r>
            </a:p>
          </p:txBody>
        </p:sp>
        <p:sp>
          <p:nvSpPr>
            <p:cNvPr id="42" name="Rectangle 17">
              <a:extLst>
                <a:ext uri="{FF2B5EF4-FFF2-40B4-BE49-F238E27FC236}">
                  <a16:creationId xmlns:a16="http://schemas.microsoft.com/office/drawing/2014/main" id="{B91F3E03-3234-129A-8832-F013510B6345}"/>
                </a:ext>
              </a:extLst>
            </p:cNvPr>
            <p:cNvSpPr/>
            <p:nvPr/>
          </p:nvSpPr>
          <p:spPr>
            <a:xfrm>
              <a:off x="1463040" y="1636776"/>
              <a:ext cx="13258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9F0A8F3-7DDA-2A62-0A0B-ED6681B8BB5E}"/>
                </a:ext>
              </a:extLst>
            </p:cNvPr>
            <p:cNvSpPr txBox="1"/>
            <p:nvPr/>
          </p:nvSpPr>
          <p:spPr>
            <a:xfrm>
              <a:off x="1463040" y="1636776"/>
              <a:ext cx="132588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324 (Sarco 15.4%)</a:t>
              </a:r>
            </a:p>
          </p:txBody>
        </p:sp>
        <p:sp>
          <p:nvSpPr>
            <p:cNvPr id="44" name="Rectangle 19">
              <a:extLst>
                <a:ext uri="{FF2B5EF4-FFF2-40B4-BE49-F238E27FC236}">
                  <a16:creationId xmlns:a16="http://schemas.microsoft.com/office/drawing/2014/main" id="{7445424A-D841-2A7F-7610-9061426B2EEC}"/>
                </a:ext>
              </a:extLst>
            </p:cNvPr>
            <p:cNvSpPr/>
            <p:nvPr/>
          </p:nvSpPr>
          <p:spPr>
            <a:xfrm>
              <a:off x="2834640" y="1636776"/>
              <a:ext cx="13258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EF172D0-9B68-FACF-F7C4-032A8C4E0CD6}"/>
                </a:ext>
              </a:extLst>
            </p:cNvPr>
            <p:cNvSpPr txBox="1"/>
            <p:nvPr/>
          </p:nvSpPr>
          <p:spPr>
            <a:xfrm>
              <a:off x="2834640" y="1636776"/>
              <a:ext cx="132588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590 (Sarco 7.8%)</a:t>
              </a:r>
            </a:p>
          </p:txBody>
        </p:sp>
        <p:sp>
          <p:nvSpPr>
            <p:cNvPr id="46" name="Rectangle 21">
              <a:extLst>
                <a:ext uri="{FF2B5EF4-FFF2-40B4-BE49-F238E27FC236}">
                  <a16:creationId xmlns:a16="http://schemas.microsoft.com/office/drawing/2014/main" id="{F4243278-CBDB-57A9-C122-6E79B7836BAC}"/>
                </a:ext>
              </a:extLst>
            </p:cNvPr>
            <p:cNvSpPr/>
            <p:nvPr/>
          </p:nvSpPr>
          <p:spPr>
            <a:xfrm>
              <a:off x="4206240" y="1636776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52F241D-E265-487C-C789-AD53D602207B}"/>
                </a:ext>
              </a:extLst>
            </p:cNvPr>
            <p:cNvSpPr txBox="1"/>
            <p:nvPr/>
          </p:nvSpPr>
          <p:spPr>
            <a:xfrm>
              <a:off x="4206240" y="1636776"/>
              <a:ext cx="137160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914 (Sarco 10.5%)</a:t>
              </a:r>
            </a:p>
          </p:txBody>
        </p:sp>
        <p:sp>
          <p:nvSpPr>
            <p:cNvPr id="48" name="Rectangle 23">
              <a:extLst>
                <a:ext uri="{FF2B5EF4-FFF2-40B4-BE49-F238E27FC236}">
                  <a16:creationId xmlns:a16="http://schemas.microsoft.com/office/drawing/2014/main" id="{68886D85-4520-D649-046B-DB96C1FB38BB}"/>
                </a:ext>
              </a:extLst>
            </p:cNvPr>
            <p:cNvSpPr/>
            <p:nvPr/>
          </p:nvSpPr>
          <p:spPr>
            <a:xfrm>
              <a:off x="457200" y="1975104"/>
              <a:ext cx="9601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5B5F86-EA8D-B815-7855-E5728039E929}"/>
                </a:ext>
              </a:extLst>
            </p:cNvPr>
            <p:cNvSpPr txBox="1"/>
            <p:nvPr/>
          </p:nvSpPr>
          <p:spPr>
            <a:xfrm>
              <a:off x="457200" y="1975104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Test</a:t>
              </a:r>
            </a:p>
          </p:txBody>
        </p:sp>
        <p:sp>
          <p:nvSpPr>
            <p:cNvPr id="50" name="Rectangle 25">
              <a:extLst>
                <a:ext uri="{FF2B5EF4-FFF2-40B4-BE49-F238E27FC236}">
                  <a16:creationId xmlns:a16="http://schemas.microsoft.com/office/drawing/2014/main" id="{0BA66DE0-0F59-88A1-B73D-3ACC81C973C7}"/>
                </a:ext>
              </a:extLst>
            </p:cNvPr>
            <p:cNvSpPr/>
            <p:nvPr/>
          </p:nvSpPr>
          <p:spPr>
            <a:xfrm>
              <a:off x="1463040" y="1975104"/>
              <a:ext cx="132588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A0B8B67-4659-25A3-E6E9-F7D0C009C174}"/>
                </a:ext>
              </a:extLst>
            </p:cNvPr>
            <p:cNvSpPr txBox="1"/>
            <p:nvPr/>
          </p:nvSpPr>
          <p:spPr>
            <a:xfrm>
              <a:off x="1463040" y="1975104"/>
              <a:ext cx="132588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82  (Sarco 15.9%)</a:t>
              </a:r>
            </a:p>
          </p:txBody>
        </p:sp>
        <p:sp>
          <p:nvSpPr>
            <p:cNvPr id="52" name="Rectangle 27">
              <a:extLst>
                <a:ext uri="{FF2B5EF4-FFF2-40B4-BE49-F238E27FC236}">
                  <a16:creationId xmlns:a16="http://schemas.microsoft.com/office/drawing/2014/main" id="{FBCF2263-EC79-F6FA-9528-0C7112FB4838}"/>
                </a:ext>
              </a:extLst>
            </p:cNvPr>
            <p:cNvSpPr/>
            <p:nvPr/>
          </p:nvSpPr>
          <p:spPr>
            <a:xfrm>
              <a:off x="2834640" y="1975104"/>
              <a:ext cx="132588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82D29CC-8ECD-A282-F59F-B937FA458DE8}"/>
                </a:ext>
              </a:extLst>
            </p:cNvPr>
            <p:cNvSpPr txBox="1"/>
            <p:nvPr/>
          </p:nvSpPr>
          <p:spPr>
            <a:xfrm>
              <a:off x="2834640" y="1975104"/>
              <a:ext cx="132588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147 (Sarco 7.5%)</a:t>
              </a:r>
            </a:p>
          </p:txBody>
        </p:sp>
        <p:sp>
          <p:nvSpPr>
            <p:cNvPr id="54" name="Rectangle 29">
              <a:extLst>
                <a:ext uri="{FF2B5EF4-FFF2-40B4-BE49-F238E27FC236}">
                  <a16:creationId xmlns:a16="http://schemas.microsoft.com/office/drawing/2014/main" id="{929BD421-3A0B-B4A8-3546-B688CD29B661}"/>
                </a:ext>
              </a:extLst>
            </p:cNvPr>
            <p:cNvSpPr/>
            <p:nvPr/>
          </p:nvSpPr>
          <p:spPr>
            <a:xfrm>
              <a:off x="4206240" y="1975104"/>
              <a:ext cx="13716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03C8A77-8CD8-5E73-6E47-DA1AAF952490}"/>
                </a:ext>
              </a:extLst>
            </p:cNvPr>
            <p:cNvSpPr txBox="1"/>
            <p:nvPr/>
          </p:nvSpPr>
          <p:spPr>
            <a:xfrm>
              <a:off x="4206240" y="1975104"/>
              <a:ext cx="137160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229 (Sarco 10.5%)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700A8D9-9097-7B33-2AFE-DBD09C01D5A9}"/>
                </a:ext>
              </a:extLst>
            </p:cNvPr>
            <p:cNvSpPr txBox="1"/>
            <p:nvPr/>
          </p:nvSpPr>
          <p:spPr>
            <a:xfrm>
              <a:off x="457200" y="2331720"/>
              <a:ext cx="50292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00" b="0" i="1">
                  <a:solidFill>
                    <a:srgbClr val="9EA3AB"/>
                  </a:solidFill>
                  <a:latin typeface="맑은 고딕"/>
                </a:rPr>
                <a:t>연령: 56.95±11.86세  |  BMI: 23.58±3.17 kg/m²  |  Train:Test = 8:2</a:t>
              </a:r>
            </a:p>
          </p:txBody>
        </p:sp>
      </p:grpSp>
      <p:pic>
        <p:nvPicPr>
          <p:cNvPr id="58" name="Picture 59" descr="data_distribution.png">
            <a:extLst>
              <a:ext uri="{FF2B5EF4-FFF2-40B4-BE49-F238E27FC236}">
                <a16:creationId xmlns:a16="http://schemas.microsoft.com/office/drawing/2014/main" id="{0B3037FC-1708-A520-88E3-A27B90FC4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7464" y="1472184"/>
            <a:ext cx="6155936" cy="4071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069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88E5C-03EA-0C6B-77AF-A7E3DF16A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내용 개체 틀 2">
            <a:extLst>
              <a:ext uri="{FF2B5EF4-FFF2-40B4-BE49-F238E27FC236}">
                <a16:creationId xmlns:a16="http://schemas.microsoft.com/office/drawing/2014/main" id="{6C0E12FA-9969-17C9-6034-66C2518501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ko-KR" altLang="en-US" dirty="0"/>
              <a:t>통계 분석 방법</a:t>
            </a:r>
            <a:endParaRPr lang="en-US" altLang="ko-KR" dirty="0"/>
          </a:p>
          <a:p>
            <a:pPr lvl="1"/>
            <a:r>
              <a:rPr lang="en-US" altLang="ko-KR" dirty="0"/>
              <a:t>5-Fold Cross Validation</a:t>
            </a:r>
          </a:p>
          <a:p>
            <a:pPr lvl="1"/>
            <a:r>
              <a:rPr lang="en-US" altLang="ko-KR" dirty="0"/>
              <a:t>Bootstrap 95% CI (Test Set)</a:t>
            </a:r>
          </a:p>
          <a:p>
            <a:pPr lvl="1"/>
            <a:r>
              <a:rPr lang="en-US" altLang="ko-KR" dirty="0"/>
              <a:t>DeLong AUC Test (Test Set)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9CDFCE3-7EA8-9BB9-9236-A49014422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A4836D-F675-61DB-68F7-09DBC59D8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6888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BFE73-AAB1-2E33-13FB-54CD6D8B3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내용 개체 틀 2">
            <a:extLst>
              <a:ext uri="{FF2B5EF4-FFF2-40B4-BE49-F238E27FC236}">
                <a16:creationId xmlns:a16="http://schemas.microsoft.com/office/drawing/2014/main" id="{BF0A3E9F-FE94-3922-C222-324477F96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AEC Scaling </a:t>
            </a:r>
            <a:r>
              <a:rPr lang="ko-KR" altLang="en-US" dirty="0"/>
              <a:t>비교 </a:t>
            </a:r>
            <a:r>
              <a:rPr lang="en-US" altLang="ko-KR" dirty="0"/>
              <a:t>– Raw</a:t>
            </a:r>
            <a:r>
              <a:rPr lang="ko-KR" altLang="en-US" dirty="0"/>
              <a:t> </a:t>
            </a:r>
            <a:r>
              <a:rPr lang="en-US" altLang="ko-KR" dirty="0"/>
              <a:t>/</a:t>
            </a:r>
            <a:r>
              <a:rPr lang="ko-KR" altLang="en-US" dirty="0"/>
              <a:t> </a:t>
            </a:r>
            <a:r>
              <a:rPr lang="en-US" altLang="ko-KR" dirty="0" err="1"/>
              <a:t>StandardScaler</a:t>
            </a:r>
            <a:r>
              <a:rPr lang="ko-KR" altLang="en-US" dirty="0"/>
              <a:t> </a:t>
            </a:r>
            <a:r>
              <a:rPr lang="en-US" altLang="ko-KR" dirty="0"/>
              <a:t>/</a:t>
            </a:r>
            <a:r>
              <a:rPr lang="ko-KR" altLang="en-US" dirty="0"/>
              <a:t> </a:t>
            </a:r>
            <a:r>
              <a:rPr lang="en-US" altLang="ko-KR" dirty="0"/>
              <a:t>Std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Row</a:t>
            </a:r>
            <a:r>
              <a:rPr lang="ko-KR" altLang="en-US" dirty="0"/>
              <a:t> </a:t>
            </a:r>
            <a:r>
              <a:rPr lang="en-US" altLang="ko-KR" dirty="0"/>
              <a:t>Normalized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558703B-D767-5A9B-4840-AF5E67AF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75F609-BF54-D687-FE10-EB10A496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40B1F54B-F460-636E-B7E7-4485F37689A9}"/>
              </a:ext>
            </a:extLst>
          </p:cNvPr>
          <p:cNvGrpSpPr/>
          <p:nvPr/>
        </p:nvGrpSpPr>
        <p:grpSpPr>
          <a:xfrm>
            <a:off x="508000" y="1598023"/>
            <a:ext cx="11176000" cy="1600200"/>
            <a:chOff x="274320" y="1593233"/>
            <a:chExt cx="11612880" cy="1600200"/>
          </a:xfrm>
        </p:grpSpPr>
        <p:sp>
          <p:nvSpPr>
            <p:cNvPr id="3" name="Rectangle 4">
              <a:extLst>
                <a:ext uri="{FF2B5EF4-FFF2-40B4-BE49-F238E27FC236}">
                  <a16:creationId xmlns:a16="http://schemas.microsoft.com/office/drawing/2014/main" id="{C69511A8-A6F7-5FD3-E8E6-9048ABB557A1}"/>
                </a:ext>
              </a:extLst>
            </p:cNvPr>
            <p:cNvSpPr/>
            <p:nvPr/>
          </p:nvSpPr>
          <p:spPr>
            <a:xfrm>
              <a:off x="274320" y="1593233"/>
              <a:ext cx="11612880" cy="1600200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0F1BFB6-A98D-03EE-616E-B49F553F1BD8}"/>
                </a:ext>
              </a:extLst>
            </p:cNvPr>
            <p:cNvSpPr txBox="1"/>
            <p:nvPr/>
          </p:nvSpPr>
          <p:spPr>
            <a:xfrm>
              <a:off x="457200" y="1666385"/>
              <a:ext cx="109728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500" b="1" i="0">
                  <a:solidFill>
                    <a:srgbClr val="1A1A2E"/>
                  </a:solidFill>
                  <a:latin typeface="맑은 고딕"/>
                </a:rPr>
                <a:t>비교 목적 및 설계</a:t>
              </a: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F269CD8D-2445-5BC1-0081-3C4F20D4147D}"/>
                </a:ext>
              </a:extLst>
            </p:cNvPr>
            <p:cNvSpPr/>
            <p:nvPr/>
          </p:nvSpPr>
          <p:spPr>
            <a:xfrm>
              <a:off x="457200" y="1986425"/>
              <a:ext cx="10972800" cy="36576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2BDC02C-66B1-BBA1-12D0-CD71ECAFD426}"/>
                </a:ext>
              </a:extLst>
            </p:cNvPr>
            <p:cNvSpPr txBox="1"/>
            <p:nvPr/>
          </p:nvSpPr>
          <p:spPr>
            <a:xfrm>
              <a:off x="457200" y="2077865"/>
              <a:ext cx="10972800" cy="31089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50" b="0" i="0">
                  <a:solidFill>
                    <a:srgbClr val="1A1A2E"/>
                  </a:solidFill>
                  <a:latin typeface="맑은 고딕"/>
                </a:rPr>
                <a:t>• 모델 학습 시 실제 입력되는 AEC 데이터의 형태를 시각적으로 검증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F0DFF55-09CA-2470-88F3-F9EF8DFF83C3}"/>
                </a:ext>
              </a:extLst>
            </p:cNvPr>
            <p:cNvSpPr txBox="1"/>
            <p:nvPr/>
          </p:nvSpPr>
          <p:spPr>
            <a:xfrm>
              <a:off x="457200" y="2407049"/>
              <a:ext cx="10972800" cy="31089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50" b="0" i="0" dirty="0">
                  <a:solidFill>
                    <a:srgbClr val="1A1A2E"/>
                  </a:solidFill>
                  <a:latin typeface="맑은 고딕"/>
                </a:rPr>
                <a:t>• </a:t>
              </a:r>
              <a:r>
                <a:rPr sz="1250" b="0" i="0" dirty="0" err="1">
                  <a:solidFill>
                    <a:srgbClr val="1A1A2E"/>
                  </a:solidFill>
                  <a:latin typeface="맑은 고딕"/>
                </a:rPr>
                <a:t>StandardScaler</a:t>
              </a:r>
              <a:r>
                <a:rPr sz="1250" b="0" i="0" dirty="0">
                  <a:solidFill>
                    <a:srgbClr val="1A1A2E"/>
                  </a:solidFill>
                  <a:latin typeface="맑은 고딕"/>
                </a:rPr>
                <a:t> (열 </a:t>
              </a:r>
              <a:r>
                <a:rPr sz="1250" b="0" i="0" dirty="0" err="1">
                  <a:solidFill>
                    <a:srgbClr val="1A1A2E"/>
                  </a:solidFill>
                  <a:latin typeface="맑은 고딕"/>
                </a:rPr>
                <a:t>방향</a:t>
              </a:r>
              <a:r>
                <a:rPr sz="1250" b="0" i="0" dirty="0">
                  <a:solidFill>
                    <a:srgbClr val="1A1A2E"/>
                  </a:solidFill>
                  <a:latin typeface="맑은 고딕"/>
                </a:rPr>
                <a:t>): 각 </a:t>
              </a:r>
              <a:r>
                <a:rPr sz="1250" b="0" i="0" dirty="0" err="1">
                  <a:solidFill>
                    <a:srgbClr val="1A1A2E"/>
                  </a:solidFill>
                  <a:latin typeface="맑은 고딕"/>
                </a:rPr>
                <a:t>시간</a:t>
              </a:r>
              <a:r>
                <a:rPr sz="125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250" b="0" i="0" dirty="0" err="1">
                  <a:solidFill>
                    <a:srgbClr val="1A1A2E"/>
                  </a:solidFill>
                  <a:latin typeface="맑은 고딕"/>
                </a:rPr>
                <a:t>포지션별로</a:t>
              </a:r>
              <a:r>
                <a:rPr sz="125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250" b="0" i="0" dirty="0" err="1">
                  <a:solidFill>
                    <a:srgbClr val="1A1A2E"/>
                  </a:solidFill>
                  <a:latin typeface="맑은 고딕"/>
                </a:rPr>
                <a:t>표준화</a:t>
              </a:r>
              <a:r>
                <a:rPr sz="1250" b="0" i="0" dirty="0">
                  <a:solidFill>
                    <a:srgbClr val="1A1A2E"/>
                  </a:solidFill>
                  <a:latin typeface="맑은 고딕"/>
                </a:rPr>
                <a:t> → </a:t>
              </a:r>
              <a:r>
                <a:rPr sz="1250" b="0" i="0" dirty="0" err="1">
                  <a:solidFill>
                    <a:srgbClr val="1A1A2E"/>
                  </a:solidFill>
                  <a:latin typeface="맑은 고딕"/>
                </a:rPr>
                <a:t>학습</a:t>
              </a:r>
              <a:r>
                <a:rPr sz="1250" b="0" i="0" dirty="0">
                  <a:solidFill>
                    <a:srgbClr val="1A1A2E"/>
                  </a:solidFill>
                  <a:latin typeface="맑은 고딕"/>
                </a:rPr>
                <a:t> 시 </a:t>
              </a:r>
              <a:r>
                <a:rPr sz="1250" b="0" i="0" dirty="0" err="1">
                  <a:solidFill>
                    <a:srgbClr val="1A1A2E"/>
                  </a:solidFill>
                  <a:latin typeface="맑은 고딕"/>
                </a:rPr>
                <a:t>scale_aec</a:t>
              </a:r>
              <a:r>
                <a:rPr sz="1250" b="0" i="0" dirty="0">
                  <a:solidFill>
                    <a:srgbClr val="1A1A2E"/>
                  </a:solidFill>
                  <a:latin typeface="맑은 고딕"/>
                </a:rPr>
                <a:t>=True 와 </a:t>
              </a:r>
              <a:r>
                <a:rPr sz="1250" b="0" i="0" dirty="0" err="1">
                  <a:solidFill>
                    <a:srgbClr val="1A1A2E"/>
                  </a:solidFill>
                  <a:latin typeface="맑은 고딕"/>
                </a:rPr>
                <a:t>동일</a:t>
              </a:r>
              <a:endParaRPr sz="125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0DA2F23-779C-386C-5D74-22F31E38FBFC}"/>
                </a:ext>
              </a:extLst>
            </p:cNvPr>
            <p:cNvSpPr txBox="1"/>
            <p:nvPr/>
          </p:nvSpPr>
          <p:spPr>
            <a:xfrm>
              <a:off x="457200" y="2736233"/>
              <a:ext cx="10972800" cy="31089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50" b="0" i="0">
                  <a:solidFill>
                    <a:srgbClr val="1A1A2E"/>
                  </a:solidFill>
                  <a:latin typeface="맑은 고딕"/>
                </a:rPr>
                <a:t>• Std+RowNorm: 열 표준화 후 각 환자별 z-score → aec_variant('norm')과 동일한 행 방향 정규화</a:t>
              </a:r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43F329F8-0705-5275-38B5-2F4FD2507188}"/>
              </a:ext>
            </a:extLst>
          </p:cNvPr>
          <p:cNvGrpSpPr/>
          <p:nvPr/>
        </p:nvGrpSpPr>
        <p:grpSpPr>
          <a:xfrm>
            <a:off x="508000" y="3284873"/>
            <a:ext cx="11176000" cy="2114716"/>
            <a:chOff x="508000" y="3284873"/>
            <a:chExt cx="11176000" cy="2114716"/>
          </a:xfrm>
        </p:grpSpPr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2059FEE7-EE5F-326D-E23D-D88B23FEBABF}"/>
                </a:ext>
              </a:extLst>
            </p:cNvPr>
            <p:cNvGrpSpPr/>
            <p:nvPr/>
          </p:nvGrpSpPr>
          <p:grpSpPr>
            <a:xfrm>
              <a:off x="508000" y="3284873"/>
              <a:ext cx="11176000" cy="292608"/>
              <a:chOff x="508000" y="3284873"/>
              <a:chExt cx="11176000" cy="292608"/>
            </a:xfrm>
          </p:grpSpPr>
          <p:sp>
            <p:nvSpPr>
              <p:cNvPr id="10" name="Rectangle 10">
                <a:extLst>
                  <a:ext uri="{FF2B5EF4-FFF2-40B4-BE49-F238E27FC236}">
                    <a16:creationId xmlns:a16="http://schemas.microsoft.com/office/drawing/2014/main" id="{EE97B7D4-EABF-3312-E0D6-7ECD0ACA76BC}"/>
                  </a:ext>
                </a:extLst>
              </p:cNvPr>
              <p:cNvSpPr/>
              <p:nvPr/>
            </p:nvSpPr>
            <p:spPr>
              <a:xfrm>
                <a:off x="508000" y="3284873"/>
                <a:ext cx="1689395" cy="292608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8B02DD9-7173-92EF-D51D-D7E409911CE7}"/>
                  </a:ext>
                </a:extLst>
              </p:cNvPr>
              <p:cNvSpPr txBox="1"/>
              <p:nvPr/>
            </p:nvSpPr>
            <p:spPr>
              <a:xfrm>
                <a:off x="1080027" y="3284873"/>
                <a:ext cx="545341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100" b="1" i="0">
                    <a:solidFill>
                      <a:srgbClr val="FFFFFF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시트명</a:t>
                </a:r>
              </a:p>
            </p:txBody>
          </p:sp>
          <p:sp>
            <p:nvSpPr>
              <p:cNvPr id="12" name="Rectangle 12">
                <a:extLst>
                  <a:ext uri="{FF2B5EF4-FFF2-40B4-BE49-F238E27FC236}">
                    <a16:creationId xmlns:a16="http://schemas.microsoft.com/office/drawing/2014/main" id="{383F7A3D-87CD-7E16-7B8A-E1FA0EE04AAA}"/>
                  </a:ext>
                </a:extLst>
              </p:cNvPr>
              <p:cNvSpPr/>
              <p:nvPr/>
            </p:nvSpPr>
            <p:spPr>
              <a:xfrm>
                <a:off x="2240713" y="3284873"/>
                <a:ext cx="2382481" cy="292608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ACBEA37-8682-A974-5A68-077979196D59}"/>
                  </a:ext>
                </a:extLst>
              </p:cNvPr>
              <p:cNvSpPr txBox="1"/>
              <p:nvPr/>
            </p:nvSpPr>
            <p:spPr>
              <a:xfrm>
                <a:off x="3079133" y="3284873"/>
                <a:ext cx="705641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100" b="1" i="0">
                    <a:solidFill>
                      <a:srgbClr val="FFFFFF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원본 특성</a:t>
                </a:r>
              </a:p>
            </p:txBody>
          </p:sp>
          <p:sp>
            <p:nvSpPr>
              <p:cNvPr id="14" name="Rectangle 14">
                <a:extLst>
                  <a:ext uri="{FF2B5EF4-FFF2-40B4-BE49-F238E27FC236}">
                    <a16:creationId xmlns:a16="http://schemas.microsoft.com/office/drawing/2014/main" id="{D7B64491-38CD-E073-BAC9-E094300E280F}"/>
                  </a:ext>
                </a:extLst>
              </p:cNvPr>
              <p:cNvSpPr/>
              <p:nvPr/>
            </p:nvSpPr>
            <p:spPr>
              <a:xfrm>
                <a:off x="4666512" y="3284873"/>
                <a:ext cx="2382481" cy="292608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34DEE94-0453-78DE-C2DF-3E766F5950AB}"/>
                  </a:ext>
                </a:extLst>
              </p:cNvPr>
              <p:cNvSpPr txBox="1"/>
              <p:nvPr/>
            </p:nvSpPr>
            <p:spPr>
              <a:xfrm>
                <a:off x="5504932" y="3284873"/>
                <a:ext cx="705641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100" b="1" i="0">
                    <a:solidFill>
                      <a:srgbClr val="FFFFFF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처리 방법</a:t>
                </a:r>
              </a:p>
            </p:txBody>
          </p:sp>
          <p:sp>
            <p:nvSpPr>
              <p:cNvPr id="16" name="Rectangle 16">
                <a:extLst>
                  <a:ext uri="{FF2B5EF4-FFF2-40B4-BE49-F238E27FC236}">
                    <a16:creationId xmlns:a16="http://schemas.microsoft.com/office/drawing/2014/main" id="{F18CC34B-D528-10E5-9476-BE7D6873EF4E}"/>
                  </a:ext>
                </a:extLst>
              </p:cNvPr>
              <p:cNvSpPr/>
              <p:nvPr/>
            </p:nvSpPr>
            <p:spPr>
              <a:xfrm>
                <a:off x="7092310" y="3284873"/>
                <a:ext cx="2382481" cy="292608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D9C5943-F3B3-BBF6-8FE2-693D1C540E07}"/>
                  </a:ext>
                </a:extLst>
              </p:cNvPr>
              <p:cNvSpPr txBox="1"/>
              <p:nvPr/>
            </p:nvSpPr>
            <p:spPr>
              <a:xfrm>
                <a:off x="7930730" y="3284873"/>
                <a:ext cx="705641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100" b="1" i="0">
                    <a:solidFill>
                      <a:srgbClr val="FFFFFF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결과 형태</a:t>
                </a:r>
              </a:p>
            </p:txBody>
          </p:sp>
          <p:sp>
            <p:nvSpPr>
              <p:cNvPr id="18" name="Rectangle 18">
                <a:extLst>
                  <a:ext uri="{FF2B5EF4-FFF2-40B4-BE49-F238E27FC236}">
                    <a16:creationId xmlns:a16="http://schemas.microsoft.com/office/drawing/2014/main" id="{6CCDB14E-E307-1FD3-9425-447A53C99043}"/>
                  </a:ext>
                </a:extLst>
              </p:cNvPr>
              <p:cNvSpPr/>
              <p:nvPr/>
            </p:nvSpPr>
            <p:spPr>
              <a:xfrm>
                <a:off x="9518109" y="3284873"/>
                <a:ext cx="2165891" cy="292608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215086F-11A1-2BF5-127D-D48BA6B425D6}"/>
                  </a:ext>
                </a:extLst>
              </p:cNvPr>
              <p:cNvSpPr txBox="1"/>
              <p:nvPr/>
            </p:nvSpPr>
            <p:spPr>
              <a:xfrm>
                <a:off x="10248234" y="3284873"/>
                <a:ext cx="705641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100" b="1" i="0">
                    <a:solidFill>
                      <a:srgbClr val="FFFFFF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주요 목적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B950ECDA-5094-8C18-DE6C-6159C78D77EA}"/>
                </a:ext>
              </a:extLst>
            </p:cNvPr>
            <p:cNvGrpSpPr/>
            <p:nvPr/>
          </p:nvGrpSpPr>
          <p:grpSpPr>
            <a:xfrm>
              <a:off x="508000" y="3628372"/>
              <a:ext cx="11176000" cy="556478"/>
              <a:chOff x="508000" y="3595769"/>
              <a:chExt cx="11176000" cy="556478"/>
            </a:xfrm>
          </p:grpSpPr>
          <p:sp>
            <p:nvSpPr>
              <p:cNvPr id="20" name="Rectangle 20">
                <a:extLst>
                  <a:ext uri="{FF2B5EF4-FFF2-40B4-BE49-F238E27FC236}">
                    <a16:creationId xmlns:a16="http://schemas.microsoft.com/office/drawing/2014/main" id="{05CC3D00-2BE6-5C98-C48E-1C2BFB3DCB15}"/>
                  </a:ext>
                </a:extLst>
              </p:cNvPr>
              <p:cNvSpPr/>
              <p:nvPr/>
            </p:nvSpPr>
            <p:spPr>
              <a:xfrm>
                <a:off x="508000" y="3595769"/>
                <a:ext cx="1689395" cy="55647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CD49ADC-0FF9-F9E0-C5FB-26C7B40EE928}"/>
                  </a:ext>
                </a:extLst>
              </p:cNvPr>
              <p:cNvSpPr txBox="1"/>
              <p:nvPr/>
            </p:nvSpPr>
            <p:spPr>
              <a:xfrm>
                <a:off x="1133695" y="3595769"/>
                <a:ext cx="438005" cy="27699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raw</a:t>
                </a:r>
              </a:p>
            </p:txBody>
          </p:sp>
          <p:sp>
            <p:nvSpPr>
              <p:cNvPr id="22" name="Rectangle 22">
                <a:extLst>
                  <a:ext uri="{FF2B5EF4-FFF2-40B4-BE49-F238E27FC236}">
                    <a16:creationId xmlns:a16="http://schemas.microsoft.com/office/drawing/2014/main" id="{ED20E24F-B464-3B7F-B89C-1AF2FE7D170E}"/>
                  </a:ext>
                </a:extLst>
              </p:cNvPr>
              <p:cNvSpPr/>
              <p:nvPr/>
            </p:nvSpPr>
            <p:spPr>
              <a:xfrm>
                <a:off x="2240713" y="3595769"/>
                <a:ext cx="2382481" cy="55647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5D8CC3A-8AAE-DB29-F2DD-7283C5E0FBF0}"/>
                  </a:ext>
                </a:extLst>
              </p:cNvPr>
              <p:cNvSpPr txBox="1"/>
              <p:nvPr/>
            </p:nvSpPr>
            <p:spPr>
              <a:xfrm>
                <a:off x="2660748" y="3595769"/>
                <a:ext cx="1542410" cy="46166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 dirty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DICOM </a:t>
                </a:r>
                <a:r>
                  <a:rPr sz="1200" b="0" i="0" dirty="0" err="1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직접</a:t>
                </a:r>
                <a:r>
                  <a:rPr sz="1200" b="0" i="0" dirty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 </a:t>
                </a:r>
                <a:r>
                  <a:rPr sz="1200" b="0" i="0" dirty="0" err="1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추출값</a:t>
                </a:r>
                <a:r>
                  <a:rPr sz="1200" b="0" i="0" dirty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
(</a:t>
                </a:r>
                <a:r>
                  <a:rPr sz="1200" b="0" i="0" dirty="0" err="1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mAs</a:t>
                </a:r>
                <a:r>
                  <a:rPr sz="1200" b="0" i="0" dirty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 </a:t>
                </a:r>
                <a:r>
                  <a:rPr sz="1200" b="0" i="0" dirty="0" err="1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기반</a:t>
                </a:r>
                <a:r>
                  <a:rPr sz="1200" b="0" i="0" dirty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 </a:t>
                </a:r>
                <a:r>
                  <a:rPr sz="1200" b="0" i="0" dirty="0" err="1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절대</a:t>
                </a:r>
                <a:r>
                  <a:rPr sz="1200" b="0" i="0" dirty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 </a:t>
                </a:r>
                <a:r>
                  <a:rPr sz="1200" b="0" i="0" dirty="0" err="1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선량</a:t>
                </a:r>
                <a:r>
                  <a:rPr sz="1200" b="0" i="0" dirty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)</a:t>
                </a:r>
              </a:p>
            </p:txBody>
          </p:sp>
          <p:sp>
            <p:nvSpPr>
              <p:cNvPr id="24" name="Rectangle 24">
                <a:extLst>
                  <a:ext uri="{FF2B5EF4-FFF2-40B4-BE49-F238E27FC236}">
                    <a16:creationId xmlns:a16="http://schemas.microsoft.com/office/drawing/2014/main" id="{C54F250F-D542-AE10-633F-0A77211BF534}"/>
                  </a:ext>
                </a:extLst>
              </p:cNvPr>
              <p:cNvSpPr/>
              <p:nvPr/>
            </p:nvSpPr>
            <p:spPr>
              <a:xfrm>
                <a:off x="4666512" y="3595769"/>
                <a:ext cx="2382481" cy="55647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E4E1FF0-4FE9-F3C1-D4EE-1C2AE1375A84}"/>
                  </a:ext>
                </a:extLst>
              </p:cNvPr>
              <p:cNvSpPr txBox="1"/>
              <p:nvPr/>
            </p:nvSpPr>
            <p:spPr>
              <a:xfrm>
                <a:off x="5630767" y="3595769"/>
                <a:ext cx="453970" cy="27699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없음</a:t>
                </a:r>
              </a:p>
            </p:txBody>
          </p:sp>
          <p:sp>
            <p:nvSpPr>
              <p:cNvPr id="26" name="Rectangle 26">
                <a:extLst>
                  <a:ext uri="{FF2B5EF4-FFF2-40B4-BE49-F238E27FC236}">
                    <a16:creationId xmlns:a16="http://schemas.microsoft.com/office/drawing/2014/main" id="{6A2C57B4-8CF0-0B78-993C-D9807B21F718}"/>
                  </a:ext>
                </a:extLst>
              </p:cNvPr>
              <p:cNvSpPr/>
              <p:nvPr/>
            </p:nvSpPr>
            <p:spPr>
              <a:xfrm>
                <a:off x="7092310" y="3595769"/>
                <a:ext cx="2382481" cy="55647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9F4A963-1DDF-A83B-31F9-4F53E317C8C9}"/>
                  </a:ext>
                </a:extLst>
              </p:cNvPr>
              <p:cNvSpPr txBox="1"/>
              <p:nvPr/>
            </p:nvSpPr>
            <p:spPr>
              <a:xfrm>
                <a:off x="7437742" y="3595769"/>
                <a:ext cx="1691617" cy="46166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환자별 절대적 AEC 수준
수치 범위 넓음</a:t>
                </a:r>
              </a:p>
            </p:txBody>
          </p:sp>
          <p:sp>
            <p:nvSpPr>
              <p:cNvPr id="28" name="Rectangle 28">
                <a:extLst>
                  <a:ext uri="{FF2B5EF4-FFF2-40B4-BE49-F238E27FC236}">
                    <a16:creationId xmlns:a16="http://schemas.microsoft.com/office/drawing/2014/main" id="{E49E805B-0C49-F487-B5AA-97F85CE4CF4C}"/>
                  </a:ext>
                </a:extLst>
              </p:cNvPr>
              <p:cNvSpPr/>
              <p:nvPr/>
            </p:nvSpPr>
            <p:spPr>
              <a:xfrm>
                <a:off x="9518109" y="3595769"/>
                <a:ext cx="2165891" cy="55647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2F8B76-2DC8-2D3D-57C7-73C18BC6C593}"/>
                  </a:ext>
                </a:extLst>
              </p:cNvPr>
              <p:cNvSpPr txBox="1"/>
              <p:nvPr/>
            </p:nvSpPr>
            <p:spPr>
              <a:xfrm>
                <a:off x="9902786" y="3595769"/>
                <a:ext cx="1396536" cy="46166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원본 분포 확인
스캐너 간 차이 관찰</a:t>
                </a:r>
              </a:p>
            </p:txBody>
          </p:sp>
        </p:grp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8C1F65CE-9F7F-19CE-82B3-44AAD87FD570}"/>
                </a:ext>
              </a:extLst>
            </p:cNvPr>
            <p:cNvGrpSpPr/>
            <p:nvPr/>
          </p:nvGrpSpPr>
          <p:grpSpPr>
            <a:xfrm>
              <a:off x="508000" y="4235741"/>
              <a:ext cx="11176000" cy="556478"/>
              <a:chOff x="508000" y="4437017"/>
              <a:chExt cx="11176000" cy="556478"/>
            </a:xfrm>
          </p:grpSpPr>
          <p:sp>
            <p:nvSpPr>
              <p:cNvPr id="30" name="Rectangle 30">
                <a:extLst>
                  <a:ext uri="{FF2B5EF4-FFF2-40B4-BE49-F238E27FC236}">
                    <a16:creationId xmlns:a16="http://schemas.microsoft.com/office/drawing/2014/main" id="{C80E96F8-FFD2-7012-3466-BEB2C84EB444}"/>
                  </a:ext>
                </a:extLst>
              </p:cNvPr>
              <p:cNvSpPr/>
              <p:nvPr/>
            </p:nvSpPr>
            <p:spPr>
              <a:xfrm>
                <a:off x="508000" y="4437017"/>
                <a:ext cx="1689395" cy="55647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024F33A-D74B-E4A4-7F39-ADD903F8CBD2}"/>
                  </a:ext>
                </a:extLst>
              </p:cNvPr>
              <p:cNvSpPr txBox="1"/>
              <p:nvPr/>
            </p:nvSpPr>
            <p:spPr>
              <a:xfrm>
                <a:off x="894688" y="4437017"/>
                <a:ext cx="916021" cy="27699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std_scaled</a:t>
                </a:r>
              </a:p>
            </p:txBody>
          </p:sp>
          <p:sp>
            <p:nvSpPr>
              <p:cNvPr id="32" name="Rectangle 32">
                <a:extLst>
                  <a:ext uri="{FF2B5EF4-FFF2-40B4-BE49-F238E27FC236}">
                    <a16:creationId xmlns:a16="http://schemas.microsoft.com/office/drawing/2014/main" id="{BA22C92C-5773-A0C1-6B0B-7BF98564AFCA}"/>
                  </a:ext>
                </a:extLst>
              </p:cNvPr>
              <p:cNvSpPr/>
              <p:nvPr/>
            </p:nvSpPr>
            <p:spPr>
              <a:xfrm>
                <a:off x="2240713" y="4437017"/>
                <a:ext cx="2382481" cy="55647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114211D-F0C0-671A-DB30-A0EBE5941D9F}"/>
                  </a:ext>
                </a:extLst>
              </p:cNvPr>
              <p:cNvSpPr txBox="1"/>
              <p:nvPr/>
            </p:nvSpPr>
            <p:spPr>
              <a:xfrm>
                <a:off x="2988531" y="4437017"/>
                <a:ext cx="886845" cy="27699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raw 그대로</a:t>
                </a:r>
              </a:p>
            </p:txBody>
          </p:sp>
          <p:sp>
            <p:nvSpPr>
              <p:cNvPr id="34" name="Rectangle 34">
                <a:extLst>
                  <a:ext uri="{FF2B5EF4-FFF2-40B4-BE49-F238E27FC236}">
                    <a16:creationId xmlns:a16="http://schemas.microsoft.com/office/drawing/2014/main" id="{A6461BC7-5BE0-0870-4C7F-D0C5DAF21D9B}"/>
                  </a:ext>
                </a:extLst>
              </p:cNvPr>
              <p:cNvSpPr/>
              <p:nvPr/>
            </p:nvSpPr>
            <p:spPr>
              <a:xfrm>
                <a:off x="4666512" y="4437017"/>
                <a:ext cx="2382481" cy="55647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57E86B3-B171-1C3D-DCE3-B491FFEAC74E}"/>
                  </a:ext>
                </a:extLst>
              </p:cNvPr>
              <p:cNvSpPr txBox="1"/>
              <p:nvPr/>
            </p:nvSpPr>
            <p:spPr>
              <a:xfrm>
                <a:off x="5003224" y="4437017"/>
                <a:ext cx="1709058" cy="46166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열 방향 StandardScaler
(포지션별 μ=0, σ=1)</a:t>
                </a:r>
              </a:p>
            </p:txBody>
          </p:sp>
          <p:sp>
            <p:nvSpPr>
              <p:cNvPr id="36" name="Rectangle 36">
                <a:extLst>
                  <a:ext uri="{FF2B5EF4-FFF2-40B4-BE49-F238E27FC236}">
                    <a16:creationId xmlns:a16="http://schemas.microsoft.com/office/drawing/2014/main" id="{C0A03257-5760-359F-8B3F-6C212FF5C5D8}"/>
                  </a:ext>
                </a:extLst>
              </p:cNvPr>
              <p:cNvSpPr/>
              <p:nvPr/>
            </p:nvSpPr>
            <p:spPr>
              <a:xfrm>
                <a:off x="7092310" y="4437017"/>
                <a:ext cx="2382481" cy="55647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84740BD-1E7F-653F-24F2-0CDE6E9E8107}"/>
                  </a:ext>
                </a:extLst>
              </p:cNvPr>
              <p:cNvSpPr txBox="1"/>
              <p:nvPr/>
            </p:nvSpPr>
            <p:spPr>
              <a:xfrm>
                <a:off x="7517956" y="4437017"/>
                <a:ext cx="1531188" cy="46166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각 포지션의 상대적 값
환자 간 비교 가능</a:t>
                </a:r>
              </a:p>
            </p:txBody>
          </p:sp>
          <p:sp>
            <p:nvSpPr>
              <p:cNvPr id="38" name="Rectangle 38">
                <a:extLst>
                  <a:ext uri="{FF2B5EF4-FFF2-40B4-BE49-F238E27FC236}">
                    <a16:creationId xmlns:a16="http://schemas.microsoft.com/office/drawing/2014/main" id="{36DDF4AA-77C2-B6D9-46A0-DEC338BF1DED}"/>
                  </a:ext>
                </a:extLst>
              </p:cNvPr>
              <p:cNvSpPr/>
              <p:nvPr/>
            </p:nvSpPr>
            <p:spPr>
              <a:xfrm>
                <a:off x="9518109" y="4437017"/>
                <a:ext cx="2165891" cy="55647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32F5C5B-88E8-BAA1-132A-F1543BB4718B}"/>
                  </a:ext>
                </a:extLst>
              </p:cNvPr>
              <p:cNvSpPr txBox="1"/>
              <p:nvPr/>
            </p:nvSpPr>
            <p:spPr>
              <a:xfrm>
                <a:off x="9732804" y="4437017"/>
                <a:ext cx="1736501" cy="46166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모델 실제 입력값 확인
모든 AEC 모델 공통 적용</a:t>
                </a: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9D7EC8A4-C46F-A31A-5CD1-747E3E687A37}"/>
                </a:ext>
              </a:extLst>
            </p:cNvPr>
            <p:cNvGrpSpPr/>
            <p:nvPr/>
          </p:nvGrpSpPr>
          <p:grpSpPr>
            <a:xfrm>
              <a:off x="508000" y="4843111"/>
              <a:ext cx="11176000" cy="556478"/>
              <a:chOff x="508000" y="5278265"/>
              <a:chExt cx="11176000" cy="556478"/>
            </a:xfrm>
          </p:grpSpPr>
          <p:sp>
            <p:nvSpPr>
              <p:cNvPr id="40" name="Rectangle 40">
                <a:extLst>
                  <a:ext uri="{FF2B5EF4-FFF2-40B4-BE49-F238E27FC236}">
                    <a16:creationId xmlns:a16="http://schemas.microsoft.com/office/drawing/2014/main" id="{56541E9D-62C1-FD88-424E-F699C4605128}"/>
                  </a:ext>
                </a:extLst>
              </p:cNvPr>
              <p:cNvSpPr/>
              <p:nvPr/>
            </p:nvSpPr>
            <p:spPr>
              <a:xfrm>
                <a:off x="508000" y="5278265"/>
                <a:ext cx="1689395" cy="556478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A82666B-94C9-D5DE-79F7-6C311185C203}"/>
                  </a:ext>
                </a:extLst>
              </p:cNvPr>
              <p:cNvSpPr txBox="1"/>
              <p:nvPr/>
            </p:nvSpPr>
            <p:spPr>
              <a:xfrm>
                <a:off x="936205" y="5278265"/>
                <a:ext cx="832985" cy="27699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 dirty="0" err="1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std_norm</a:t>
                </a:r>
                <a:endParaRPr sz="1200" b="0" i="0" dirty="0">
                  <a:solidFill>
                    <a:srgbClr val="1A1A2E"/>
                  </a:solidFill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42" name="Rectangle 42">
                <a:extLst>
                  <a:ext uri="{FF2B5EF4-FFF2-40B4-BE49-F238E27FC236}">
                    <a16:creationId xmlns:a16="http://schemas.microsoft.com/office/drawing/2014/main" id="{0D2F2D85-2646-3F33-FFD7-62E65FE99F81}"/>
                  </a:ext>
                </a:extLst>
              </p:cNvPr>
              <p:cNvSpPr/>
              <p:nvPr/>
            </p:nvSpPr>
            <p:spPr>
              <a:xfrm>
                <a:off x="2240713" y="5278265"/>
                <a:ext cx="2382481" cy="556478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B78237C-63EB-D040-4686-DABA1A05396A}"/>
                  </a:ext>
                </a:extLst>
              </p:cNvPr>
              <p:cNvSpPr txBox="1"/>
              <p:nvPr/>
            </p:nvSpPr>
            <p:spPr>
              <a:xfrm>
                <a:off x="2803705" y="5278265"/>
                <a:ext cx="1256498" cy="27699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std_scaled 결과</a:t>
                </a:r>
              </a:p>
            </p:txBody>
          </p:sp>
          <p:sp>
            <p:nvSpPr>
              <p:cNvPr id="44" name="Rectangle 44">
                <a:extLst>
                  <a:ext uri="{FF2B5EF4-FFF2-40B4-BE49-F238E27FC236}">
                    <a16:creationId xmlns:a16="http://schemas.microsoft.com/office/drawing/2014/main" id="{EC65A625-6D4C-7D53-5323-EE5AF03B3A8E}"/>
                  </a:ext>
                </a:extLst>
              </p:cNvPr>
              <p:cNvSpPr/>
              <p:nvPr/>
            </p:nvSpPr>
            <p:spPr>
              <a:xfrm>
                <a:off x="4666512" y="5278265"/>
                <a:ext cx="2382481" cy="556478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4FC2BDF-97C4-4AF4-0064-EDCF179D5942}"/>
                  </a:ext>
                </a:extLst>
              </p:cNvPr>
              <p:cNvSpPr txBox="1"/>
              <p:nvPr/>
            </p:nvSpPr>
            <p:spPr>
              <a:xfrm>
                <a:off x="5169904" y="5278265"/>
                <a:ext cx="1375698" cy="46166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+행 방향 z-score
(환자별 μ=0, σ=1)</a:t>
                </a:r>
              </a:p>
            </p:txBody>
          </p:sp>
          <p:sp>
            <p:nvSpPr>
              <p:cNvPr id="46" name="Rectangle 46">
                <a:extLst>
                  <a:ext uri="{FF2B5EF4-FFF2-40B4-BE49-F238E27FC236}">
                    <a16:creationId xmlns:a16="http://schemas.microsoft.com/office/drawing/2014/main" id="{EB3A7CE2-774D-EA51-C7A7-745D0FAB57CE}"/>
                  </a:ext>
                </a:extLst>
              </p:cNvPr>
              <p:cNvSpPr/>
              <p:nvPr/>
            </p:nvSpPr>
            <p:spPr>
              <a:xfrm>
                <a:off x="7092310" y="5278265"/>
                <a:ext cx="2382481" cy="556478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210ECDE-32BA-4290-2AC6-750665244711}"/>
                  </a:ext>
                </a:extLst>
              </p:cNvPr>
              <p:cNvSpPr txBox="1"/>
              <p:nvPr/>
            </p:nvSpPr>
            <p:spPr>
              <a:xfrm>
                <a:off x="7585282" y="5278265"/>
                <a:ext cx="1396536" cy="46166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곡선 형태만 보존
절대 수준 차이 제거</a:t>
                </a:r>
              </a:p>
            </p:txBody>
          </p:sp>
          <p:sp>
            <p:nvSpPr>
              <p:cNvPr id="48" name="Rectangle 48">
                <a:extLst>
                  <a:ext uri="{FF2B5EF4-FFF2-40B4-BE49-F238E27FC236}">
                    <a16:creationId xmlns:a16="http://schemas.microsoft.com/office/drawing/2014/main" id="{46CF127C-ED13-64F9-14D9-7EF7F3D75019}"/>
                  </a:ext>
                </a:extLst>
              </p:cNvPr>
              <p:cNvSpPr/>
              <p:nvPr/>
            </p:nvSpPr>
            <p:spPr>
              <a:xfrm>
                <a:off x="9518109" y="5278265"/>
                <a:ext cx="2165891" cy="556478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>
                  <a:latin typeface="KoPub돋움체 Medium" panose="00000600000000000000" pitchFamily="2" charset="-127"/>
                  <a:ea typeface="KoPub돋움체 Medium" panose="00000600000000000000" pitchFamily="2" charset="-127"/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33F99A1-C265-F20B-D120-7E07C8672D2B}"/>
                  </a:ext>
                </a:extLst>
              </p:cNvPr>
              <p:cNvSpPr txBox="1"/>
              <p:nvPr/>
            </p:nvSpPr>
            <p:spPr>
              <a:xfrm>
                <a:off x="9678366" y="5278265"/>
                <a:ext cx="1845377" cy="46166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200" b="0" i="0">
                    <a:solidFill>
                      <a:srgbClr val="1A1A2E"/>
                    </a:solidFill>
                    <a:latin typeface="KoPub돋움체 Medium" panose="00000600000000000000" pitchFamily="2" charset="-127"/>
                    <a:ea typeface="KoPub돋움체 Medium" panose="00000600000000000000" pitchFamily="2" charset="-127"/>
                  </a:rPr>
                  <a:t>norm variant 입력값 확인
스캐너 간 절대값 차이 제거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34452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9F3BA-1ED7-3DA1-7A91-EF6E11A16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EEBD04-4480-D036-7AC8-ADDD10A25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303ECC-83DE-3243-5347-60109977E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80" name="Rectangle 4">
            <a:extLst>
              <a:ext uri="{FF2B5EF4-FFF2-40B4-BE49-F238E27FC236}">
                <a16:creationId xmlns:a16="http://schemas.microsoft.com/office/drawing/2014/main" id="{278E5181-8D52-7AEC-3541-88794D7D0AEF}"/>
              </a:ext>
            </a:extLst>
          </p:cNvPr>
          <p:cNvSpPr/>
          <p:nvPr/>
        </p:nvSpPr>
        <p:spPr>
          <a:xfrm>
            <a:off x="274320" y="905256"/>
            <a:ext cx="11612880" cy="594360"/>
          </a:xfrm>
          <a:prstGeom prst="rect">
            <a:avLst/>
          </a:prstGeom>
          <a:solidFill>
            <a:srgbClr val="E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5">
            <a:extLst>
              <a:ext uri="{FF2B5EF4-FFF2-40B4-BE49-F238E27FC236}">
                <a16:creationId xmlns:a16="http://schemas.microsoft.com/office/drawing/2014/main" id="{56D62FA1-B4B4-D71D-3D84-5A86E1B48828}"/>
              </a:ext>
            </a:extLst>
          </p:cNvPr>
          <p:cNvSpPr/>
          <p:nvPr/>
        </p:nvSpPr>
        <p:spPr>
          <a:xfrm>
            <a:off x="274320" y="905256"/>
            <a:ext cx="109728" cy="59436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5B19BB67-B302-4A46-A4DB-3180B216EFBD}"/>
              </a:ext>
            </a:extLst>
          </p:cNvPr>
          <p:cNvSpPr txBox="1"/>
          <p:nvPr/>
        </p:nvSpPr>
        <p:spPr>
          <a:xfrm>
            <a:off x="502920" y="1056354"/>
            <a:ext cx="786894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 dirty="0">
                <a:solidFill>
                  <a:srgbClr val="1A1A2E"/>
                </a:solidFill>
                <a:latin typeface="맑은 고딕"/>
              </a:rPr>
              <a:t>AEC 128pt + norm:  M1→M2 p=0.055 (†) — marginal significance  |  M2 best overall AUC 0.835</a:t>
            </a:r>
          </a:p>
        </p:txBody>
      </p:sp>
      <p:grpSp>
        <p:nvGrpSpPr>
          <p:cNvPr id="281" name="그룹 280">
            <a:extLst>
              <a:ext uri="{FF2B5EF4-FFF2-40B4-BE49-F238E27FC236}">
                <a16:creationId xmlns:a16="http://schemas.microsoft.com/office/drawing/2014/main" id="{59264AEA-FD74-810D-05A0-E3790AD119CC}"/>
              </a:ext>
            </a:extLst>
          </p:cNvPr>
          <p:cNvGrpSpPr/>
          <p:nvPr/>
        </p:nvGrpSpPr>
        <p:grpSpPr>
          <a:xfrm>
            <a:off x="274320" y="1591056"/>
            <a:ext cx="11612881" cy="1755648"/>
            <a:chOff x="274320" y="1591056"/>
            <a:chExt cx="11750039" cy="1755648"/>
          </a:xfrm>
        </p:grpSpPr>
        <p:sp>
          <p:nvSpPr>
            <p:cNvPr id="183" name="Rectangle 7">
              <a:extLst>
                <a:ext uri="{FF2B5EF4-FFF2-40B4-BE49-F238E27FC236}">
                  <a16:creationId xmlns:a16="http://schemas.microsoft.com/office/drawing/2014/main" id="{A6F3BA8D-6B92-9609-B121-64D0CBEE625A}"/>
                </a:ext>
              </a:extLst>
            </p:cNvPr>
            <p:cNvSpPr/>
            <p:nvPr/>
          </p:nvSpPr>
          <p:spPr>
            <a:xfrm>
              <a:off x="274320" y="1591056"/>
              <a:ext cx="10972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70E33633-C9B9-67A4-5708-E053DED7D2B4}"/>
                </a:ext>
              </a:extLst>
            </p:cNvPr>
            <p:cNvSpPr txBox="1"/>
            <p:nvPr/>
          </p:nvSpPr>
          <p:spPr>
            <a:xfrm>
              <a:off x="274320" y="1591056"/>
              <a:ext cx="10972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모델</a:t>
              </a:r>
            </a:p>
          </p:txBody>
        </p:sp>
        <p:sp>
          <p:nvSpPr>
            <p:cNvPr id="185" name="Rectangle 9">
              <a:extLst>
                <a:ext uri="{FF2B5EF4-FFF2-40B4-BE49-F238E27FC236}">
                  <a16:creationId xmlns:a16="http://schemas.microsoft.com/office/drawing/2014/main" id="{D07370A4-3ED9-07A9-2B21-DDEC5EA89C14}"/>
                </a:ext>
              </a:extLst>
            </p:cNvPr>
            <p:cNvSpPr/>
            <p:nvPr/>
          </p:nvSpPr>
          <p:spPr>
            <a:xfrm>
              <a:off x="1417320" y="1591056"/>
              <a:ext cx="10972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4DBBE066-862E-EE3D-E452-230C3AF92E65}"/>
                </a:ext>
              </a:extLst>
            </p:cNvPr>
            <p:cNvSpPr txBox="1"/>
            <p:nvPr/>
          </p:nvSpPr>
          <p:spPr>
            <a:xfrm>
              <a:off x="1417320" y="1591056"/>
              <a:ext cx="10972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AUC</a:t>
              </a:r>
            </a:p>
          </p:txBody>
        </p:sp>
        <p:sp>
          <p:nvSpPr>
            <p:cNvPr id="187" name="Rectangle 11">
              <a:extLst>
                <a:ext uri="{FF2B5EF4-FFF2-40B4-BE49-F238E27FC236}">
                  <a16:creationId xmlns:a16="http://schemas.microsoft.com/office/drawing/2014/main" id="{C4279795-3CEF-559D-776E-31CF1B3F2C9A}"/>
                </a:ext>
              </a:extLst>
            </p:cNvPr>
            <p:cNvSpPr/>
            <p:nvPr/>
          </p:nvSpPr>
          <p:spPr>
            <a:xfrm>
              <a:off x="2560320" y="1591056"/>
              <a:ext cx="15087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DAD4C890-D3B8-AD8B-C120-E46E5950C958}"/>
                </a:ext>
              </a:extLst>
            </p:cNvPr>
            <p:cNvSpPr txBox="1"/>
            <p:nvPr/>
          </p:nvSpPr>
          <p:spPr>
            <a:xfrm>
              <a:off x="2560320" y="1591056"/>
              <a:ext cx="150876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95% CI</a:t>
              </a:r>
            </a:p>
          </p:txBody>
        </p:sp>
        <p:sp>
          <p:nvSpPr>
            <p:cNvPr id="189" name="Rectangle 13">
              <a:extLst>
                <a:ext uri="{FF2B5EF4-FFF2-40B4-BE49-F238E27FC236}">
                  <a16:creationId xmlns:a16="http://schemas.microsoft.com/office/drawing/2014/main" id="{CE72249A-B456-779A-D879-EEC21CFE227D}"/>
                </a:ext>
              </a:extLst>
            </p:cNvPr>
            <p:cNvSpPr/>
            <p:nvPr/>
          </p:nvSpPr>
          <p:spPr>
            <a:xfrm>
              <a:off x="4114800" y="1591056"/>
              <a:ext cx="9601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4AA02E32-D91E-74A5-6B45-2C9FCD2B73C2}"/>
                </a:ext>
              </a:extLst>
            </p:cNvPr>
            <p:cNvSpPr txBox="1"/>
            <p:nvPr/>
          </p:nvSpPr>
          <p:spPr>
            <a:xfrm>
              <a:off x="4114800" y="1591056"/>
              <a:ext cx="9601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AUPRC</a:t>
              </a:r>
            </a:p>
          </p:txBody>
        </p:sp>
        <p:sp>
          <p:nvSpPr>
            <p:cNvPr id="191" name="Rectangle 15">
              <a:extLst>
                <a:ext uri="{FF2B5EF4-FFF2-40B4-BE49-F238E27FC236}">
                  <a16:creationId xmlns:a16="http://schemas.microsoft.com/office/drawing/2014/main" id="{156DC770-8C55-348A-677A-605BC6C21F5F}"/>
                </a:ext>
              </a:extLst>
            </p:cNvPr>
            <p:cNvSpPr/>
            <p:nvPr/>
          </p:nvSpPr>
          <p:spPr>
            <a:xfrm>
              <a:off x="5120640" y="1591056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76004BB-9688-8C6D-C005-6BCF200A6D73}"/>
                </a:ext>
              </a:extLst>
            </p:cNvPr>
            <p:cNvSpPr txBox="1"/>
            <p:nvPr/>
          </p:nvSpPr>
          <p:spPr>
            <a:xfrm>
              <a:off x="5120640" y="1591056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Brier</a:t>
              </a:r>
            </a:p>
          </p:txBody>
        </p:sp>
        <p:sp>
          <p:nvSpPr>
            <p:cNvPr id="193" name="Rectangle 17">
              <a:extLst>
                <a:ext uri="{FF2B5EF4-FFF2-40B4-BE49-F238E27FC236}">
                  <a16:creationId xmlns:a16="http://schemas.microsoft.com/office/drawing/2014/main" id="{4986FE30-FF57-B37B-D2F4-1D745AC12FC6}"/>
                </a:ext>
              </a:extLst>
            </p:cNvPr>
            <p:cNvSpPr/>
            <p:nvPr/>
          </p:nvSpPr>
          <p:spPr>
            <a:xfrm>
              <a:off x="6080760" y="1591056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3C954D97-82BE-B360-3948-FF01B9DD3349}"/>
                </a:ext>
              </a:extLst>
            </p:cNvPr>
            <p:cNvSpPr txBox="1"/>
            <p:nvPr/>
          </p:nvSpPr>
          <p:spPr>
            <a:xfrm>
              <a:off x="6080760" y="1591056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F1</a:t>
              </a:r>
            </a:p>
          </p:txBody>
        </p:sp>
        <p:sp>
          <p:nvSpPr>
            <p:cNvPr id="195" name="Rectangle 19">
              <a:extLst>
                <a:ext uri="{FF2B5EF4-FFF2-40B4-BE49-F238E27FC236}">
                  <a16:creationId xmlns:a16="http://schemas.microsoft.com/office/drawing/2014/main" id="{EF0501CE-BE85-5340-3DFE-7D702B98BC24}"/>
                </a:ext>
              </a:extLst>
            </p:cNvPr>
            <p:cNvSpPr/>
            <p:nvPr/>
          </p:nvSpPr>
          <p:spPr>
            <a:xfrm>
              <a:off x="7040880" y="1591056"/>
              <a:ext cx="15087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CC2C3690-3765-89BC-B511-8FF002A5BCE0}"/>
                </a:ext>
              </a:extLst>
            </p:cNvPr>
            <p:cNvSpPr txBox="1"/>
            <p:nvPr/>
          </p:nvSpPr>
          <p:spPr>
            <a:xfrm>
              <a:off x="7040880" y="1591056"/>
              <a:ext cx="150876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 AUC vs M1</a:t>
              </a:r>
            </a:p>
          </p:txBody>
        </p:sp>
        <p:sp>
          <p:nvSpPr>
            <p:cNvPr id="197" name="Rectangle 21">
              <a:extLst>
                <a:ext uri="{FF2B5EF4-FFF2-40B4-BE49-F238E27FC236}">
                  <a16:creationId xmlns:a16="http://schemas.microsoft.com/office/drawing/2014/main" id="{57BFEF78-3954-994B-6E1C-5ECC1392004A}"/>
                </a:ext>
              </a:extLst>
            </p:cNvPr>
            <p:cNvSpPr/>
            <p:nvPr/>
          </p:nvSpPr>
          <p:spPr>
            <a:xfrm>
              <a:off x="8595360" y="1591056"/>
              <a:ext cx="15087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0BE6C481-8CDB-B3FC-96E3-1DAFAD8CA8F9}"/>
                </a:ext>
              </a:extLst>
            </p:cNvPr>
            <p:cNvSpPr txBox="1"/>
            <p:nvPr/>
          </p:nvSpPr>
          <p:spPr>
            <a:xfrm>
              <a:off x="8595360" y="1591056"/>
              <a:ext cx="150876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DeLong p</a:t>
              </a:r>
            </a:p>
          </p:txBody>
        </p:sp>
        <p:sp>
          <p:nvSpPr>
            <p:cNvPr id="199" name="Rectangle 23">
              <a:extLst>
                <a:ext uri="{FF2B5EF4-FFF2-40B4-BE49-F238E27FC236}">
                  <a16:creationId xmlns:a16="http://schemas.microsoft.com/office/drawing/2014/main" id="{AE9FDEBC-584C-E106-91A9-206124303650}"/>
                </a:ext>
              </a:extLst>
            </p:cNvPr>
            <p:cNvSpPr/>
            <p:nvPr/>
          </p:nvSpPr>
          <p:spPr>
            <a:xfrm>
              <a:off x="10149840" y="1591056"/>
              <a:ext cx="1874519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17E74A0E-4F1C-F8B5-51AF-30F4D6ACEA26}"/>
                </a:ext>
              </a:extLst>
            </p:cNvPr>
            <p:cNvSpPr txBox="1"/>
            <p:nvPr/>
          </p:nvSpPr>
          <p:spPr>
            <a:xfrm>
              <a:off x="10149840" y="1591056"/>
              <a:ext cx="1874519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비고</a:t>
              </a:r>
            </a:p>
          </p:txBody>
        </p:sp>
        <p:sp>
          <p:nvSpPr>
            <p:cNvPr id="201" name="Rectangle 25">
              <a:extLst>
                <a:ext uri="{FF2B5EF4-FFF2-40B4-BE49-F238E27FC236}">
                  <a16:creationId xmlns:a16="http://schemas.microsoft.com/office/drawing/2014/main" id="{653876C1-BE20-21D8-BB8B-B4FA310CC567}"/>
                </a:ext>
              </a:extLst>
            </p:cNvPr>
            <p:cNvSpPr/>
            <p:nvPr/>
          </p:nvSpPr>
          <p:spPr>
            <a:xfrm>
              <a:off x="274320" y="1883664"/>
              <a:ext cx="10972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0B0840DF-36F9-8663-270C-3851E7610955}"/>
                </a:ext>
              </a:extLst>
            </p:cNvPr>
            <p:cNvSpPr txBox="1"/>
            <p:nvPr/>
          </p:nvSpPr>
          <p:spPr>
            <a:xfrm>
              <a:off x="274320" y="188366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M1 (LR)</a:t>
              </a:r>
            </a:p>
          </p:txBody>
        </p:sp>
        <p:sp>
          <p:nvSpPr>
            <p:cNvPr id="203" name="Rectangle 27">
              <a:extLst>
                <a:ext uri="{FF2B5EF4-FFF2-40B4-BE49-F238E27FC236}">
                  <a16:creationId xmlns:a16="http://schemas.microsoft.com/office/drawing/2014/main" id="{746012C1-D974-715B-3A4A-06045AA76288}"/>
                </a:ext>
              </a:extLst>
            </p:cNvPr>
            <p:cNvSpPr/>
            <p:nvPr/>
          </p:nvSpPr>
          <p:spPr>
            <a:xfrm>
              <a:off x="1417320" y="1883664"/>
              <a:ext cx="10972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D9E46D5B-222C-82EA-2FDF-5670C69A0409}"/>
                </a:ext>
              </a:extLst>
            </p:cNvPr>
            <p:cNvSpPr txBox="1"/>
            <p:nvPr/>
          </p:nvSpPr>
          <p:spPr>
            <a:xfrm>
              <a:off x="1417320" y="188366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0.8030</a:t>
              </a:r>
            </a:p>
          </p:txBody>
        </p:sp>
        <p:sp>
          <p:nvSpPr>
            <p:cNvPr id="205" name="Rectangle 29">
              <a:extLst>
                <a:ext uri="{FF2B5EF4-FFF2-40B4-BE49-F238E27FC236}">
                  <a16:creationId xmlns:a16="http://schemas.microsoft.com/office/drawing/2014/main" id="{249485E9-C665-2616-24C1-9B719D143DCC}"/>
                </a:ext>
              </a:extLst>
            </p:cNvPr>
            <p:cNvSpPr/>
            <p:nvPr/>
          </p:nvSpPr>
          <p:spPr>
            <a:xfrm>
              <a:off x="2560320" y="1883664"/>
              <a:ext cx="150876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F58461B3-7127-FC40-BFAA-D2C9A08B28F2}"/>
                </a:ext>
              </a:extLst>
            </p:cNvPr>
            <p:cNvSpPr txBox="1"/>
            <p:nvPr/>
          </p:nvSpPr>
          <p:spPr>
            <a:xfrm>
              <a:off x="2560320" y="188366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[0.720,0.872]</a:t>
              </a:r>
            </a:p>
          </p:txBody>
        </p:sp>
        <p:sp>
          <p:nvSpPr>
            <p:cNvPr id="207" name="Rectangle 31">
              <a:extLst>
                <a:ext uri="{FF2B5EF4-FFF2-40B4-BE49-F238E27FC236}">
                  <a16:creationId xmlns:a16="http://schemas.microsoft.com/office/drawing/2014/main" id="{C151F04B-0734-BF36-4B49-289661CD848C}"/>
                </a:ext>
              </a:extLst>
            </p:cNvPr>
            <p:cNvSpPr/>
            <p:nvPr/>
          </p:nvSpPr>
          <p:spPr>
            <a:xfrm>
              <a:off x="4114800" y="1883664"/>
              <a:ext cx="9601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14C599DC-61A1-7628-D671-2936C5081516}"/>
                </a:ext>
              </a:extLst>
            </p:cNvPr>
            <p:cNvSpPr txBox="1"/>
            <p:nvPr/>
          </p:nvSpPr>
          <p:spPr>
            <a:xfrm>
              <a:off x="4114800" y="1883664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0.3123</a:t>
              </a:r>
            </a:p>
          </p:txBody>
        </p:sp>
        <p:sp>
          <p:nvSpPr>
            <p:cNvPr id="209" name="Rectangle 33">
              <a:extLst>
                <a:ext uri="{FF2B5EF4-FFF2-40B4-BE49-F238E27FC236}">
                  <a16:creationId xmlns:a16="http://schemas.microsoft.com/office/drawing/2014/main" id="{90817705-3E8F-1AD6-6A4B-BA2A2F8912D9}"/>
                </a:ext>
              </a:extLst>
            </p:cNvPr>
            <p:cNvSpPr/>
            <p:nvPr/>
          </p:nvSpPr>
          <p:spPr>
            <a:xfrm>
              <a:off x="5120640" y="1883664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BE6C2EB4-14AC-6C31-C65F-504463DDB2FA}"/>
                </a:ext>
              </a:extLst>
            </p:cNvPr>
            <p:cNvSpPr txBox="1"/>
            <p:nvPr/>
          </p:nvSpPr>
          <p:spPr>
            <a:xfrm>
              <a:off x="5120640" y="188366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0.1913</a:t>
              </a:r>
            </a:p>
          </p:txBody>
        </p:sp>
        <p:sp>
          <p:nvSpPr>
            <p:cNvPr id="211" name="Rectangle 35">
              <a:extLst>
                <a:ext uri="{FF2B5EF4-FFF2-40B4-BE49-F238E27FC236}">
                  <a16:creationId xmlns:a16="http://schemas.microsoft.com/office/drawing/2014/main" id="{6035270B-6E0E-0D28-8023-5E462ECFD93E}"/>
                </a:ext>
              </a:extLst>
            </p:cNvPr>
            <p:cNvSpPr/>
            <p:nvPr/>
          </p:nvSpPr>
          <p:spPr>
            <a:xfrm>
              <a:off x="6080760" y="1883664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207FFC15-9A7C-7475-E37D-D8229A53C97B}"/>
                </a:ext>
              </a:extLst>
            </p:cNvPr>
            <p:cNvSpPr txBox="1"/>
            <p:nvPr/>
          </p:nvSpPr>
          <p:spPr>
            <a:xfrm>
              <a:off x="6080760" y="188366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0.3725</a:t>
              </a:r>
            </a:p>
          </p:txBody>
        </p:sp>
        <p:sp>
          <p:nvSpPr>
            <p:cNvPr id="213" name="Rectangle 37">
              <a:extLst>
                <a:ext uri="{FF2B5EF4-FFF2-40B4-BE49-F238E27FC236}">
                  <a16:creationId xmlns:a16="http://schemas.microsoft.com/office/drawing/2014/main" id="{8468CA05-6294-4C9D-B7BC-61F9A0289737}"/>
                </a:ext>
              </a:extLst>
            </p:cNvPr>
            <p:cNvSpPr/>
            <p:nvPr/>
          </p:nvSpPr>
          <p:spPr>
            <a:xfrm>
              <a:off x="7040880" y="1883664"/>
              <a:ext cx="150876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11935C31-0FD9-EF69-E2FF-F5F0BDAA1568}"/>
                </a:ext>
              </a:extLst>
            </p:cNvPr>
            <p:cNvSpPr txBox="1"/>
            <p:nvPr/>
          </p:nvSpPr>
          <p:spPr>
            <a:xfrm>
              <a:off x="7040880" y="188366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기준선</a:t>
              </a:r>
            </a:p>
          </p:txBody>
        </p:sp>
        <p:sp>
          <p:nvSpPr>
            <p:cNvPr id="215" name="Rectangle 39">
              <a:extLst>
                <a:ext uri="{FF2B5EF4-FFF2-40B4-BE49-F238E27FC236}">
                  <a16:creationId xmlns:a16="http://schemas.microsoft.com/office/drawing/2014/main" id="{2C404537-40AD-07BA-9EB0-DE064A67D340}"/>
                </a:ext>
              </a:extLst>
            </p:cNvPr>
            <p:cNvSpPr/>
            <p:nvPr/>
          </p:nvSpPr>
          <p:spPr>
            <a:xfrm>
              <a:off x="8595360" y="1883664"/>
              <a:ext cx="150876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90EC4F02-EFCD-1F13-79AE-C78DDB524145}"/>
                </a:ext>
              </a:extLst>
            </p:cNvPr>
            <p:cNvSpPr txBox="1"/>
            <p:nvPr/>
          </p:nvSpPr>
          <p:spPr>
            <a:xfrm>
              <a:off x="8595360" y="188366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기준선</a:t>
              </a:r>
            </a:p>
          </p:txBody>
        </p:sp>
        <p:sp>
          <p:nvSpPr>
            <p:cNvPr id="217" name="Rectangle 41">
              <a:extLst>
                <a:ext uri="{FF2B5EF4-FFF2-40B4-BE49-F238E27FC236}">
                  <a16:creationId xmlns:a16="http://schemas.microsoft.com/office/drawing/2014/main" id="{93F8DB40-AA09-F244-1222-29E5CD590092}"/>
                </a:ext>
              </a:extLst>
            </p:cNvPr>
            <p:cNvSpPr/>
            <p:nvPr/>
          </p:nvSpPr>
          <p:spPr>
            <a:xfrm>
              <a:off x="10149840" y="1883664"/>
              <a:ext cx="1874519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1D9E2046-7739-26FC-75B3-20CB87EAF41E}"/>
                </a:ext>
              </a:extLst>
            </p:cNvPr>
            <p:cNvSpPr txBox="1"/>
            <p:nvPr/>
          </p:nvSpPr>
          <p:spPr>
            <a:xfrm>
              <a:off x="10149840" y="1883664"/>
              <a:ext cx="1874519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Clinic Only</a:t>
              </a:r>
            </a:p>
          </p:txBody>
        </p:sp>
        <p:sp>
          <p:nvSpPr>
            <p:cNvPr id="219" name="Rectangle 43">
              <a:extLst>
                <a:ext uri="{FF2B5EF4-FFF2-40B4-BE49-F238E27FC236}">
                  <a16:creationId xmlns:a16="http://schemas.microsoft.com/office/drawing/2014/main" id="{3386AFE9-687F-81E4-CB40-E38E378D54C8}"/>
                </a:ext>
              </a:extLst>
            </p:cNvPr>
            <p:cNvSpPr/>
            <p:nvPr/>
          </p:nvSpPr>
          <p:spPr>
            <a:xfrm>
              <a:off x="274320" y="2249424"/>
              <a:ext cx="109728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97AF11F7-E4B0-440B-79F1-4F48811E57D0}"/>
                </a:ext>
              </a:extLst>
            </p:cNvPr>
            <p:cNvSpPr txBox="1"/>
            <p:nvPr/>
          </p:nvSpPr>
          <p:spPr>
            <a:xfrm>
              <a:off x="274320" y="224942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M2 (CrossAttn)</a:t>
              </a:r>
            </a:p>
          </p:txBody>
        </p:sp>
        <p:sp>
          <p:nvSpPr>
            <p:cNvPr id="221" name="Rectangle 45">
              <a:extLst>
                <a:ext uri="{FF2B5EF4-FFF2-40B4-BE49-F238E27FC236}">
                  <a16:creationId xmlns:a16="http://schemas.microsoft.com/office/drawing/2014/main" id="{00B8A30B-E0C8-431C-79C1-8AFAAB1666B7}"/>
                </a:ext>
              </a:extLst>
            </p:cNvPr>
            <p:cNvSpPr/>
            <p:nvPr/>
          </p:nvSpPr>
          <p:spPr>
            <a:xfrm>
              <a:off x="1417320" y="2249424"/>
              <a:ext cx="109728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D6B7D209-1B6D-5DF2-E06A-772129C0CF5F}"/>
                </a:ext>
              </a:extLst>
            </p:cNvPr>
            <p:cNvSpPr txBox="1"/>
            <p:nvPr/>
          </p:nvSpPr>
          <p:spPr>
            <a:xfrm>
              <a:off x="1417320" y="224942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0.8350</a:t>
              </a:r>
            </a:p>
          </p:txBody>
        </p:sp>
        <p:sp>
          <p:nvSpPr>
            <p:cNvPr id="223" name="Rectangle 47">
              <a:extLst>
                <a:ext uri="{FF2B5EF4-FFF2-40B4-BE49-F238E27FC236}">
                  <a16:creationId xmlns:a16="http://schemas.microsoft.com/office/drawing/2014/main" id="{BC0BB1E1-4D30-5B2F-5A8F-41397ACA1863}"/>
                </a:ext>
              </a:extLst>
            </p:cNvPr>
            <p:cNvSpPr/>
            <p:nvPr/>
          </p:nvSpPr>
          <p:spPr>
            <a:xfrm>
              <a:off x="2560320" y="2249424"/>
              <a:ext cx="150876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4" name="TextBox 223">
              <a:extLst>
                <a:ext uri="{FF2B5EF4-FFF2-40B4-BE49-F238E27FC236}">
                  <a16:creationId xmlns:a16="http://schemas.microsoft.com/office/drawing/2014/main" id="{641D781D-5CD4-D369-BE9F-A6984C8BDF0C}"/>
                </a:ext>
              </a:extLst>
            </p:cNvPr>
            <p:cNvSpPr txBox="1"/>
            <p:nvPr/>
          </p:nvSpPr>
          <p:spPr>
            <a:xfrm>
              <a:off x="2560320" y="224942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[0.753,0.899]</a:t>
              </a:r>
            </a:p>
          </p:txBody>
        </p:sp>
        <p:sp>
          <p:nvSpPr>
            <p:cNvPr id="225" name="Rectangle 49">
              <a:extLst>
                <a:ext uri="{FF2B5EF4-FFF2-40B4-BE49-F238E27FC236}">
                  <a16:creationId xmlns:a16="http://schemas.microsoft.com/office/drawing/2014/main" id="{73391025-83A1-8ABD-4F45-B57132558C0C}"/>
                </a:ext>
              </a:extLst>
            </p:cNvPr>
            <p:cNvSpPr/>
            <p:nvPr/>
          </p:nvSpPr>
          <p:spPr>
            <a:xfrm>
              <a:off x="4114800" y="2249424"/>
              <a:ext cx="96012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F6D549AD-9D7F-8FE8-19F0-845688336752}"/>
                </a:ext>
              </a:extLst>
            </p:cNvPr>
            <p:cNvSpPr txBox="1"/>
            <p:nvPr/>
          </p:nvSpPr>
          <p:spPr>
            <a:xfrm>
              <a:off x="4114800" y="2249424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0.3301</a:t>
              </a:r>
            </a:p>
          </p:txBody>
        </p:sp>
        <p:sp>
          <p:nvSpPr>
            <p:cNvPr id="227" name="Rectangle 51">
              <a:extLst>
                <a:ext uri="{FF2B5EF4-FFF2-40B4-BE49-F238E27FC236}">
                  <a16:creationId xmlns:a16="http://schemas.microsoft.com/office/drawing/2014/main" id="{A4AE8451-F03A-A50A-2D03-5D4887C62C1D}"/>
                </a:ext>
              </a:extLst>
            </p:cNvPr>
            <p:cNvSpPr/>
            <p:nvPr/>
          </p:nvSpPr>
          <p:spPr>
            <a:xfrm>
              <a:off x="5120640" y="2249424"/>
              <a:ext cx="91440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412D8B0B-14E7-AD9C-1019-70DDED613C38}"/>
                </a:ext>
              </a:extLst>
            </p:cNvPr>
            <p:cNvSpPr txBox="1"/>
            <p:nvPr/>
          </p:nvSpPr>
          <p:spPr>
            <a:xfrm>
              <a:off x="5120640" y="224942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0.1912</a:t>
              </a:r>
            </a:p>
          </p:txBody>
        </p:sp>
        <p:sp>
          <p:nvSpPr>
            <p:cNvPr id="229" name="Rectangle 53">
              <a:extLst>
                <a:ext uri="{FF2B5EF4-FFF2-40B4-BE49-F238E27FC236}">
                  <a16:creationId xmlns:a16="http://schemas.microsoft.com/office/drawing/2014/main" id="{931DABEA-BE3C-BEEC-707C-5E37E11C82D1}"/>
                </a:ext>
              </a:extLst>
            </p:cNvPr>
            <p:cNvSpPr/>
            <p:nvPr/>
          </p:nvSpPr>
          <p:spPr>
            <a:xfrm>
              <a:off x="6080760" y="2249424"/>
              <a:ext cx="91440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4E2E140F-D9FC-AA87-F8AB-01CBCE796510}"/>
                </a:ext>
              </a:extLst>
            </p:cNvPr>
            <p:cNvSpPr txBox="1"/>
            <p:nvPr/>
          </p:nvSpPr>
          <p:spPr>
            <a:xfrm>
              <a:off x="6080760" y="224942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0.3594</a:t>
              </a:r>
            </a:p>
          </p:txBody>
        </p:sp>
        <p:sp>
          <p:nvSpPr>
            <p:cNvPr id="231" name="Rectangle 55">
              <a:extLst>
                <a:ext uri="{FF2B5EF4-FFF2-40B4-BE49-F238E27FC236}">
                  <a16:creationId xmlns:a16="http://schemas.microsoft.com/office/drawing/2014/main" id="{F18C636A-0995-EF71-2313-5DCA9E769219}"/>
                </a:ext>
              </a:extLst>
            </p:cNvPr>
            <p:cNvSpPr/>
            <p:nvPr/>
          </p:nvSpPr>
          <p:spPr>
            <a:xfrm>
              <a:off x="7040880" y="2249424"/>
              <a:ext cx="150876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92B1873C-59F2-CD8D-885B-A6A7CC8D6CA6}"/>
                </a:ext>
              </a:extLst>
            </p:cNvPr>
            <p:cNvSpPr txBox="1"/>
            <p:nvPr/>
          </p:nvSpPr>
          <p:spPr>
            <a:xfrm>
              <a:off x="7040880" y="224942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9EA3AB"/>
                  </a:solidFill>
                  <a:latin typeface="맑은 고딕"/>
                </a:rPr>
                <a:t>+0.032</a:t>
              </a:r>
            </a:p>
          </p:txBody>
        </p:sp>
        <p:sp>
          <p:nvSpPr>
            <p:cNvPr id="233" name="Rectangle 57">
              <a:extLst>
                <a:ext uri="{FF2B5EF4-FFF2-40B4-BE49-F238E27FC236}">
                  <a16:creationId xmlns:a16="http://schemas.microsoft.com/office/drawing/2014/main" id="{C5F70093-0720-DFBD-D2AE-E6A03B4155F2}"/>
                </a:ext>
              </a:extLst>
            </p:cNvPr>
            <p:cNvSpPr/>
            <p:nvPr/>
          </p:nvSpPr>
          <p:spPr>
            <a:xfrm>
              <a:off x="8595360" y="2249424"/>
              <a:ext cx="150876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91C6F08E-80A5-FFCE-5ED3-F8652041C873}"/>
                </a:ext>
              </a:extLst>
            </p:cNvPr>
            <p:cNvSpPr txBox="1"/>
            <p:nvPr/>
          </p:nvSpPr>
          <p:spPr>
            <a:xfrm>
              <a:off x="8595360" y="224942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E8B4C"/>
                  </a:solidFill>
                  <a:latin typeface="맑은 고딕"/>
                </a:rPr>
                <a:t>p=0.055 †</a:t>
              </a:r>
            </a:p>
          </p:txBody>
        </p:sp>
        <p:sp>
          <p:nvSpPr>
            <p:cNvPr id="235" name="Rectangle 59">
              <a:extLst>
                <a:ext uri="{FF2B5EF4-FFF2-40B4-BE49-F238E27FC236}">
                  <a16:creationId xmlns:a16="http://schemas.microsoft.com/office/drawing/2014/main" id="{6973FCBA-DBCB-1F40-A79C-091D9FE5537C}"/>
                </a:ext>
              </a:extLst>
            </p:cNvPr>
            <p:cNvSpPr/>
            <p:nvPr/>
          </p:nvSpPr>
          <p:spPr>
            <a:xfrm>
              <a:off x="10149840" y="2249424"/>
              <a:ext cx="1874519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46D0668C-DFBA-498D-02AC-D62A678EA86D}"/>
                </a:ext>
              </a:extLst>
            </p:cNvPr>
            <p:cNvSpPr txBox="1"/>
            <p:nvPr/>
          </p:nvSpPr>
          <p:spPr>
            <a:xfrm>
              <a:off x="10149840" y="2249424"/>
              <a:ext cx="1874519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9EA3AB"/>
                  </a:solidFill>
                  <a:latin typeface="맑은 고딕"/>
                </a:rPr>
                <a:t>Best AUC</a:t>
              </a:r>
            </a:p>
          </p:txBody>
        </p:sp>
        <p:sp>
          <p:nvSpPr>
            <p:cNvPr id="237" name="Rectangle 61">
              <a:extLst>
                <a:ext uri="{FF2B5EF4-FFF2-40B4-BE49-F238E27FC236}">
                  <a16:creationId xmlns:a16="http://schemas.microsoft.com/office/drawing/2014/main" id="{7E9A91C9-E4F5-3FFC-479D-844D88419FAB}"/>
                </a:ext>
              </a:extLst>
            </p:cNvPr>
            <p:cNvSpPr/>
            <p:nvPr/>
          </p:nvSpPr>
          <p:spPr>
            <a:xfrm>
              <a:off x="274320" y="2615184"/>
              <a:ext cx="10972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A84E1F4F-5CD5-8A75-6D62-72387545CE30}"/>
                </a:ext>
              </a:extLst>
            </p:cNvPr>
            <p:cNvSpPr txBox="1"/>
            <p:nvPr/>
          </p:nvSpPr>
          <p:spPr>
            <a:xfrm>
              <a:off x="274320" y="261518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M2_2 (Neg)</a:t>
              </a:r>
            </a:p>
          </p:txBody>
        </p:sp>
        <p:sp>
          <p:nvSpPr>
            <p:cNvPr id="239" name="Rectangle 63">
              <a:extLst>
                <a:ext uri="{FF2B5EF4-FFF2-40B4-BE49-F238E27FC236}">
                  <a16:creationId xmlns:a16="http://schemas.microsoft.com/office/drawing/2014/main" id="{3622E48B-7AC4-245F-B098-D3E60333101F}"/>
                </a:ext>
              </a:extLst>
            </p:cNvPr>
            <p:cNvSpPr/>
            <p:nvPr/>
          </p:nvSpPr>
          <p:spPr>
            <a:xfrm>
              <a:off x="1417320" y="2615184"/>
              <a:ext cx="10972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A224C619-53AF-D814-8F3A-E69D3DC9F7AE}"/>
                </a:ext>
              </a:extLst>
            </p:cNvPr>
            <p:cNvSpPr txBox="1"/>
            <p:nvPr/>
          </p:nvSpPr>
          <p:spPr>
            <a:xfrm>
              <a:off x="1417320" y="261518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0.8104</a:t>
              </a:r>
            </a:p>
          </p:txBody>
        </p:sp>
        <p:sp>
          <p:nvSpPr>
            <p:cNvPr id="241" name="Rectangle 65">
              <a:extLst>
                <a:ext uri="{FF2B5EF4-FFF2-40B4-BE49-F238E27FC236}">
                  <a16:creationId xmlns:a16="http://schemas.microsoft.com/office/drawing/2014/main" id="{91A1A256-6D21-484B-BCC4-151BAAFCCF81}"/>
                </a:ext>
              </a:extLst>
            </p:cNvPr>
            <p:cNvSpPr/>
            <p:nvPr/>
          </p:nvSpPr>
          <p:spPr>
            <a:xfrm>
              <a:off x="2560320" y="2615184"/>
              <a:ext cx="150876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2" name="TextBox 241">
              <a:extLst>
                <a:ext uri="{FF2B5EF4-FFF2-40B4-BE49-F238E27FC236}">
                  <a16:creationId xmlns:a16="http://schemas.microsoft.com/office/drawing/2014/main" id="{4EEAFB2E-413F-A14C-DC60-5AA8B63ED81C}"/>
                </a:ext>
              </a:extLst>
            </p:cNvPr>
            <p:cNvSpPr txBox="1"/>
            <p:nvPr/>
          </p:nvSpPr>
          <p:spPr>
            <a:xfrm>
              <a:off x="2560320" y="261518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[0.729,0.880]</a:t>
              </a:r>
            </a:p>
          </p:txBody>
        </p:sp>
        <p:sp>
          <p:nvSpPr>
            <p:cNvPr id="243" name="Rectangle 67">
              <a:extLst>
                <a:ext uri="{FF2B5EF4-FFF2-40B4-BE49-F238E27FC236}">
                  <a16:creationId xmlns:a16="http://schemas.microsoft.com/office/drawing/2014/main" id="{AC92A926-FF72-723E-AC71-ADB46AF3AC1D}"/>
                </a:ext>
              </a:extLst>
            </p:cNvPr>
            <p:cNvSpPr/>
            <p:nvPr/>
          </p:nvSpPr>
          <p:spPr>
            <a:xfrm>
              <a:off x="4114800" y="2615184"/>
              <a:ext cx="9601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0374A172-8803-4CB8-0C70-FA8D2C415E32}"/>
                </a:ext>
              </a:extLst>
            </p:cNvPr>
            <p:cNvSpPr txBox="1"/>
            <p:nvPr/>
          </p:nvSpPr>
          <p:spPr>
            <a:xfrm>
              <a:off x="4114800" y="2615184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0.3013</a:t>
              </a:r>
            </a:p>
          </p:txBody>
        </p:sp>
        <p:sp>
          <p:nvSpPr>
            <p:cNvPr id="245" name="Rectangle 69">
              <a:extLst>
                <a:ext uri="{FF2B5EF4-FFF2-40B4-BE49-F238E27FC236}">
                  <a16:creationId xmlns:a16="http://schemas.microsoft.com/office/drawing/2014/main" id="{61F7D557-0BE9-C8AE-9A18-BA450C406155}"/>
                </a:ext>
              </a:extLst>
            </p:cNvPr>
            <p:cNvSpPr/>
            <p:nvPr/>
          </p:nvSpPr>
          <p:spPr>
            <a:xfrm>
              <a:off x="5120640" y="2615184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AC806548-D0FF-D8E2-B78C-CEFBA54441A5}"/>
                </a:ext>
              </a:extLst>
            </p:cNvPr>
            <p:cNvSpPr txBox="1"/>
            <p:nvPr/>
          </p:nvSpPr>
          <p:spPr>
            <a:xfrm>
              <a:off x="5120640" y="261518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0.2323</a:t>
              </a:r>
            </a:p>
          </p:txBody>
        </p:sp>
        <p:sp>
          <p:nvSpPr>
            <p:cNvPr id="247" name="Rectangle 71">
              <a:extLst>
                <a:ext uri="{FF2B5EF4-FFF2-40B4-BE49-F238E27FC236}">
                  <a16:creationId xmlns:a16="http://schemas.microsoft.com/office/drawing/2014/main" id="{0046C8DD-A499-81F9-5E27-D949D0FA4AE7}"/>
                </a:ext>
              </a:extLst>
            </p:cNvPr>
            <p:cNvSpPr/>
            <p:nvPr/>
          </p:nvSpPr>
          <p:spPr>
            <a:xfrm>
              <a:off x="6080760" y="2615184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7E05FAAE-7F58-471A-A7AD-CEA5748B0E0C}"/>
                </a:ext>
              </a:extLst>
            </p:cNvPr>
            <p:cNvSpPr txBox="1"/>
            <p:nvPr/>
          </p:nvSpPr>
          <p:spPr>
            <a:xfrm>
              <a:off x="6080760" y="261518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0.3231</a:t>
              </a:r>
            </a:p>
          </p:txBody>
        </p:sp>
        <p:sp>
          <p:nvSpPr>
            <p:cNvPr id="249" name="Rectangle 73">
              <a:extLst>
                <a:ext uri="{FF2B5EF4-FFF2-40B4-BE49-F238E27FC236}">
                  <a16:creationId xmlns:a16="http://schemas.microsoft.com/office/drawing/2014/main" id="{AE8AEB97-6575-83F6-902B-BF4B64588950}"/>
                </a:ext>
              </a:extLst>
            </p:cNvPr>
            <p:cNvSpPr/>
            <p:nvPr/>
          </p:nvSpPr>
          <p:spPr>
            <a:xfrm>
              <a:off x="7040880" y="2615184"/>
              <a:ext cx="150876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AE9AC616-81B0-782A-EB65-7656E2E6F0C9}"/>
                </a:ext>
              </a:extLst>
            </p:cNvPr>
            <p:cNvSpPr txBox="1"/>
            <p:nvPr/>
          </p:nvSpPr>
          <p:spPr>
            <a:xfrm>
              <a:off x="7040880" y="261518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+0.007</a:t>
              </a:r>
            </a:p>
          </p:txBody>
        </p:sp>
        <p:sp>
          <p:nvSpPr>
            <p:cNvPr id="251" name="Rectangle 75">
              <a:extLst>
                <a:ext uri="{FF2B5EF4-FFF2-40B4-BE49-F238E27FC236}">
                  <a16:creationId xmlns:a16="http://schemas.microsoft.com/office/drawing/2014/main" id="{5D95DD37-A343-9C72-89E4-DF53D3AC7356}"/>
                </a:ext>
              </a:extLst>
            </p:cNvPr>
            <p:cNvSpPr/>
            <p:nvPr/>
          </p:nvSpPr>
          <p:spPr>
            <a:xfrm>
              <a:off x="8595360" y="2615184"/>
              <a:ext cx="150876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D2A6856E-77A3-4A53-B046-CACAB526B8DB}"/>
                </a:ext>
              </a:extLst>
            </p:cNvPr>
            <p:cNvSpPr txBox="1"/>
            <p:nvPr/>
          </p:nvSpPr>
          <p:spPr>
            <a:xfrm>
              <a:off x="8595360" y="261518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(neg ctrl)</a:t>
              </a:r>
            </a:p>
          </p:txBody>
        </p:sp>
        <p:sp>
          <p:nvSpPr>
            <p:cNvPr id="253" name="Rectangle 77">
              <a:extLst>
                <a:ext uri="{FF2B5EF4-FFF2-40B4-BE49-F238E27FC236}">
                  <a16:creationId xmlns:a16="http://schemas.microsoft.com/office/drawing/2014/main" id="{72880DE6-1C9C-A413-5806-738090681F23}"/>
                </a:ext>
              </a:extLst>
            </p:cNvPr>
            <p:cNvSpPr/>
            <p:nvPr/>
          </p:nvSpPr>
          <p:spPr>
            <a:xfrm>
              <a:off x="10149840" y="2615184"/>
              <a:ext cx="1874519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56F63EF2-1802-6EFE-A10B-020C7D02E3CC}"/>
                </a:ext>
              </a:extLst>
            </p:cNvPr>
            <p:cNvSpPr txBox="1"/>
            <p:nvPr/>
          </p:nvSpPr>
          <p:spPr>
            <a:xfrm>
              <a:off x="10149840" y="2615184"/>
              <a:ext cx="1874519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Unmatched</a:t>
              </a:r>
            </a:p>
          </p:txBody>
        </p:sp>
        <p:sp>
          <p:nvSpPr>
            <p:cNvPr id="255" name="Rectangle 79">
              <a:extLst>
                <a:ext uri="{FF2B5EF4-FFF2-40B4-BE49-F238E27FC236}">
                  <a16:creationId xmlns:a16="http://schemas.microsoft.com/office/drawing/2014/main" id="{C890B024-ACCB-FD94-50EE-F0317649FD9E}"/>
                </a:ext>
              </a:extLst>
            </p:cNvPr>
            <p:cNvSpPr/>
            <p:nvPr/>
          </p:nvSpPr>
          <p:spPr>
            <a:xfrm>
              <a:off x="274320" y="2980944"/>
              <a:ext cx="109728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D51C5745-1351-0A22-0591-E679D00199A3}"/>
                </a:ext>
              </a:extLst>
            </p:cNvPr>
            <p:cNvSpPr txBox="1"/>
            <p:nvPr/>
          </p:nvSpPr>
          <p:spPr>
            <a:xfrm>
              <a:off x="274320" y="298094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M3 (CrossAttn3)</a:t>
              </a:r>
            </a:p>
          </p:txBody>
        </p:sp>
        <p:sp>
          <p:nvSpPr>
            <p:cNvPr id="257" name="Rectangle 81">
              <a:extLst>
                <a:ext uri="{FF2B5EF4-FFF2-40B4-BE49-F238E27FC236}">
                  <a16:creationId xmlns:a16="http://schemas.microsoft.com/office/drawing/2014/main" id="{127928E6-F424-2298-7BDF-783B512D62D9}"/>
                </a:ext>
              </a:extLst>
            </p:cNvPr>
            <p:cNvSpPr/>
            <p:nvPr/>
          </p:nvSpPr>
          <p:spPr>
            <a:xfrm>
              <a:off x="1417320" y="2980944"/>
              <a:ext cx="109728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FEEDEB46-41E6-68E4-4BCE-608BEBDEDD00}"/>
                </a:ext>
              </a:extLst>
            </p:cNvPr>
            <p:cNvSpPr txBox="1"/>
            <p:nvPr/>
          </p:nvSpPr>
          <p:spPr>
            <a:xfrm>
              <a:off x="1417320" y="2980944"/>
              <a:ext cx="10972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0.8309</a:t>
              </a:r>
            </a:p>
          </p:txBody>
        </p:sp>
        <p:sp>
          <p:nvSpPr>
            <p:cNvPr id="259" name="Rectangle 83">
              <a:extLst>
                <a:ext uri="{FF2B5EF4-FFF2-40B4-BE49-F238E27FC236}">
                  <a16:creationId xmlns:a16="http://schemas.microsoft.com/office/drawing/2014/main" id="{A5935263-3D0A-11E4-9A9B-0156C60A6DBC}"/>
                </a:ext>
              </a:extLst>
            </p:cNvPr>
            <p:cNvSpPr/>
            <p:nvPr/>
          </p:nvSpPr>
          <p:spPr>
            <a:xfrm>
              <a:off x="2560320" y="2980944"/>
              <a:ext cx="150876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3FB2EA88-5311-B938-B3AB-E11BABF87163}"/>
                </a:ext>
              </a:extLst>
            </p:cNvPr>
            <p:cNvSpPr txBox="1"/>
            <p:nvPr/>
          </p:nvSpPr>
          <p:spPr>
            <a:xfrm>
              <a:off x="2560320" y="298094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[0.740,0.900]</a:t>
              </a:r>
            </a:p>
          </p:txBody>
        </p:sp>
        <p:sp>
          <p:nvSpPr>
            <p:cNvPr id="261" name="Rectangle 85">
              <a:extLst>
                <a:ext uri="{FF2B5EF4-FFF2-40B4-BE49-F238E27FC236}">
                  <a16:creationId xmlns:a16="http://schemas.microsoft.com/office/drawing/2014/main" id="{47147FF4-5C7A-FEE3-C774-ABCE8E7AFF16}"/>
                </a:ext>
              </a:extLst>
            </p:cNvPr>
            <p:cNvSpPr/>
            <p:nvPr/>
          </p:nvSpPr>
          <p:spPr>
            <a:xfrm>
              <a:off x="4114800" y="2980944"/>
              <a:ext cx="96012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D5179AEB-252C-5C33-3B9E-2A651461366B}"/>
                </a:ext>
              </a:extLst>
            </p:cNvPr>
            <p:cNvSpPr txBox="1"/>
            <p:nvPr/>
          </p:nvSpPr>
          <p:spPr>
            <a:xfrm>
              <a:off x="4114800" y="2980944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0.3187</a:t>
              </a:r>
            </a:p>
          </p:txBody>
        </p:sp>
        <p:sp>
          <p:nvSpPr>
            <p:cNvPr id="263" name="Rectangle 87">
              <a:extLst>
                <a:ext uri="{FF2B5EF4-FFF2-40B4-BE49-F238E27FC236}">
                  <a16:creationId xmlns:a16="http://schemas.microsoft.com/office/drawing/2014/main" id="{49760153-69B8-430F-14CB-1A9AF76FAF26}"/>
                </a:ext>
              </a:extLst>
            </p:cNvPr>
            <p:cNvSpPr/>
            <p:nvPr/>
          </p:nvSpPr>
          <p:spPr>
            <a:xfrm>
              <a:off x="5120640" y="2980944"/>
              <a:ext cx="91440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C0731445-C054-6BF4-8DF6-FD482393AD51}"/>
                </a:ext>
              </a:extLst>
            </p:cNvPr>
            <p:cNvSpPr txBox="1"/>
            <p:nvPr/>
          </p:nvSpPr>
          <p:spPr>
            <a:xfrm>
              <a:off x="5120640" y="298094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0.2431</a:t>
              </a:r>
            </a:p>
          </p:txBody>
        </p:sp>
        <p:sp>
          <p:nvSpPr>
            <p:cNvPr id="265" name="Rectangle 89">
              <a:extLst>
                <a:ext uri="{FF2B5EF4-FFF2-40B4-BE49-F238E27FC236}">
                  <a16:creationId xmlns:a16="http://schemas.microsoft.com/office/drawing/2014/main" id="{B67D8F3E-A9B1-FE76-8194-1E016D061892}"/>
                </a:ext>
              </a:extLst>
            </p:cNvPr>
            <p:cNvSpPr/>
            <p:nvPr/>
          </p:nvSpPr>
          <p:spPr>
            <a:xfrm>
              <a:off x="6080760" y="2980944"/>
              <a:ext cx="91440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DAA5B12B-FD7A-2076-5701-0F86EB045621}"/>
                </a:ext>
              </a:extLst>
            </p:cNvPr>
            <p:cNvSpPr txBox="1"/>
            <p:nvPr/>
          </p:nvSpPr>
          <p:spPr>
            <a:xfrm>
              <a:off x="6080760" y="2980944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0.3520</a:t>
              </a:r>
            </a:p>
          </p:txBody>
        </p:sp>
        <p:sp>
          <p:nvSpPr>
            <p:cNvPr id="267" name="Rectangle 91">
              <a:extLst>
                <a:ext uri="{FF2B5EF4-FFF2-40B4-BE49-F238E27FC236}">
                  <a16:creationId xmlns:a16="http://schemas.microsoft.com/office/drawing/2014/main" id="{17982615-5061-F59A-229E-A2E46E39D3B1}"/>
                </a:ext>
              </a:extLst>
            </p:cNvPr>
            <p:cNvSpPr/>
            <p:nvPr/>
          </p:nvSpPr>
          <p:spPr>
            <a:xfrm>
              <a:off x="7040880" y="2980944"/>
              <a:ext cx="150876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53186719-B8EC-F64E-E2C4-BDCD5FCC6F21}"/>
                </a:ext>
              </a:extLst>
            </p:cNvPr>
            <p:cNvSpPr txBox="1"/>
            <p:nvPr/>
          </p:nvSpPr>
          <p:spPr>
            <a:xfrm>
              <a:off x="7040880" y="298094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+0.028</a:t>
              </a:r>
            </a:p>
          </p:txBody>
        </p:sp>
        <p:sp>
          <p:nvSpPr>
            <p:cNvPr id="269" name="Rectangle 93">
              <a:extLst>
                <a:ext uri="{FF2B5EF4-FFF2-40B4-BE49-F238E27FC236}">
                  <a16:creationId xmlns:a16="http://schemas.microsoft.com/office/drawing/2014/main" id="{FF1FF29C-2118-FFB2-5294-6CF542F53151}"/>
                </a:ext>
              </a:extLst>
            </p:cNvPr>
            <p:cNvSpPr/>
            <p:nvPr/>
          </p:nvSpPr>
          <p:spPr>
            <a:xfrm>
              <a:off x="8595360" y="2980944"/>
              <a:ext cx="150876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B66918DA-ED79-A93F-D311-4D661BBD67D3}"/>
                </a:ext>
              </a:extLst>
            </p:cNvPr>
            <p:cNvSpPr txBox="1"/>
            <p:nvPr/>
          </p:nvSpPr>
          <p:spPr>
            <a:xfrm>
              <a:off x="8595360" y="2980944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p=0.252 ns</a:t>
              </a:r>
            </a:p>
          </p:txBody>
        </p:sp>
        <p:sp>
          <p:nvSpPr>
            <p:cNvPr id="271" name="Rectangle 95">
              <a:extLst>
                <a:ext uri="{FF2B5EF4-FFF2-40B4-BE49-F238E27FC236}">
                  <a16:creationId xmlns:a16="http://schemas.microsoft.com/office/drawing/2014/main" id="{2F0A1CAC-85F6-CA73-338A-3CC5E8999A96}"/>
                </a:ext>
              </a:extLst>
            </p:cNvPr>
            <p:cNvSpPr/>
            <p:nvPr/>
          </p:nvSpPr>
          <p:spPr>
            <a:xfrm>
              <a:off x="10149840" y="2980944"/>
              <a:ext cx="1874519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9DAED6D5-E8FC-3F55-D53D-521B9AE93A45}"/>
                </a:ext>
              </a:extLst>
            </p:cNvPr>
            <p:cNvSpPr txBox="1"/>
            <p:nvPr/>
          </p:nvSpPr>
          <p:spPr>
            <a:xfrm>
              <a:off x="10149840" y="2980944"/>
              <a:ext cx="1874519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Clinic+Scn</a:t>
              </a:r>
            </a:p>
          </p:txBody>
        </p:sp>
      </p:grpSp>
      <p:sp>
        <p:nvSpPr>
          <p:cNvPr id="273" name="TextBox 272">
            <a:extLst>
              <a:ext uri="{FF2B5EF4-FFF2-40B4-BE49-F238E27FC236}">
                <a16:creationId xmlns:a16="http://schemas.microsoft.com/office/drawing/2014/main" id="{D20450F8-0723-87EF-7AA5-C2B12ABA0557}"/>
              </a:ext>
            </a:extLst>
          </p:cNvPr>
          <p:cNvSpPr txBox="1"/>
          <p:nvPr/>
        </p:nvSpPr>
        <p:spPr>
          <a:xfrm>
            <a:off x="896666" y="3429000"/>
            <a:ext cx="232146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 dirty="0">
                <a:solidFill>
                  <a:srgbClr val="1A1A2E"/>
                </a:solidFill>
                <a:latin typeface="맑은 고딕"/>
              </a:rPr>
              <a:t>ROC — norm  (M1·M2·M2₂·M3)</a:t>
            </a:r>
          </a:p>
        </p:txBody>
      </p:sp>
      <p:pic>
        <p:nvPicPr>
          <p:cNvPr id="274" name="Picture 98" descr="roc_all_models_norm.png">
            <a:extLst>
              <a:ext uri="{FF2B5EF4-FFF2-40B4-BE49-F238E27FC236}">
                <a16:creationId xmlns:a16="http://schemas.microsoft.com/office/drawing/2014/main" id="{F415799B-22A0-233F-A89B-74EF7A4C1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18560"/>
            <a:ext cx="3566160" cy="2572383"/>
          </a:xfrm>
          <a:prstGeom prst="rect">
            <a:avLst/>
          </a:prstGeom>
        </p:spPr>
      </p:pic>
      <p:sp>
        <p:nvSpPr>
          <p:cNvPr id="275" name="TextBox 274">
            <a:extLst>
              <a:ext uri="{FF2B5EF4-FFF2-40B4-BE49-F238E27FC236}">
                <a16:creationId xmlns:a16="http://schemas.microsoft.com/office/drawing/2014/main" id="{C9D618DC-F59A-4201-4D35-FE14D778D474}"/>
              </a:ext>
            </a:extLst>
          </p:cNvPr>
          <p:cNvSpPr txBox="1"/>
          <p:nvPr/>
        </p:nvSpPr>
        <p:spPr>
          <a:xfrm>
            <a:off x="4949439" y="3429000"/>
            <a:ext cx="162255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 dirty="0">
                <a:solidFill>
                  <a:srgbClr val="1A1A2E"/>
                </a:solidFill>
                <a:latin typeface="맑은 고딕"/>
              </a:rPr>
              <a:t>M2 Confusion Matrix</a:t>
            </a:r>
          </a:p>
        </p:txBody>
      </p:sp>
      <p:pic>
        <p:nvPicPr>
          <p:cNvPr id="276" name="Picture 100" descr="confusion_matrices.png">
            <a:extLst>
              <a:ext uri="{FF2B5EF4-FFF2-40B4-BE49-F238E27FC236}">
                <a16:creationId xmlns:a16="http://schemas.microsoft.com/office/drawing/2014/main" id="{0D47BC68-71D3-6658-2CD9-290B86B00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39" y="3718560"/>
            <a:ext cx="3566160" cy="2572383"/>
          </a:xfrm>
          <a:prstGeom prst="rect">
            <a:avLst/>
          </a:prstGeom>
        </p:spPr>
      </p:pic>
      <p:sp>
        <p:nvSpPr>
          <p:cNvPr id="277" name="Rectangle 101">
            <a:extLst>
              <a:ext uri="{FF2B5EF4-FFF2-40B4-BE49-F238E27FC236}">
                <a16:creationId xmlns:a16="http://schemas.microsoft.com/office/drawing/2014/main" id="{00CEA6B1-F4B6-FE85-24E5-349EEB0E580C}"/>
              </a:ext>
            </a:extLst>
          </p:cNvPr>
          <p:cNvSpPr/>
          <p:nvPr/>
        </p:nvSpPr>
        <p:spPr>
          <a:xfrm>
            <a:off x="8377646" y="3429000"/>
            <a:ext cx="3026954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016D5890-E2A7-F18B-B82F-845391FE2BF8}"/>
              </a:ext>
            </a:extLst>
          </p:cNvPr>
          <p:cNvSpPr txBox="1"/>
          <p:nvPr/>
        </p:nvSpPr>
        <p:spPr>
          <a:xfrm>
            <a:off x="8392237" y="3447288"/>
            <a:ext cx="301236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dirty="0">
                <a:solidFill>
                  <a:srgbClr val="E87400"/>
                </a:solidFill>
                <a:latin typeface="맑은 고딕"/>
              </a:rPr>
              <a:t>※ Calibration — M2  norm  (Brier 0.1912)</a:t>
            </a:r>
          </a:p>
        </p:txBody>
      </p:sp>
      <p:pic>
        <p:nvPicPr>
          <p:cNvPr id="279" name="Picture 103" descr="calibration.png">
            <a:extLst>
              <a:ext uri="{FF2B5EF4-FFF2-40B4-BE49-F238E27FC236}">
                <a16:creationId xmlns:a16="http://schemas.microsoft.com/office/drawing/2014/main" id="{0B6283B0-0B3D-29E9-BFD8-DB48C91B49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3764617"/>
            <a:ext cx="4297680" cy="253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128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BD12-8227-72F7-081A-083621637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153226E1-6892-828B-EDF2-1F4C9AD0F5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2" r="50000"/>
          <a:stretch>
            <a:fillRect/>
          </a:stretch>
        </p:blipFill>
        <p:spPr>
          <a:xfrm>
            <a:off x="8112380" y="2281795"/>
            <a:ext cx="3663404" cy="292459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7760573-F6E4-F2E5-3125-BEEDE5D031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30" r="50000"/>
          <a:stretch>
            <a:fillRect/>
          </a:stretch>
        </p:blipFill>
        <p:spPr>
          <a:xfrm>
            <a:off x="4267537" y="2281796"/>
            <a:ext cx="3669970" cy="292459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212F050-3843-3296-FBFF-5ED0FD916A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94" r="50000"/>
          <a:stretch>
            <a:fillRect/>
          </a:stretch>
        </p:blipFill>
        <p:spPr>
          <a:xfrm>
            <a:off x="420896" y="2281796"/>
            <a:ext cx="3656858" cy="2924597"/>
          </a:xfrm>
          <a:prstGeom prst="rect">
            <a:avLst/>
          </a:prstGeom>
        </p:spPr>
      </p:pic>
      <p:sp>
        <p:nvSpPr>
          <p:cNvPr id="99" name="내용 개체 틀 4">
            <a:extLst>
              <a:ext uri="{FF2B5EF4-FFF2-40B4-BE49-F238E27FC236}">
                <a16:creationId xmlns:a16="http://schemas.microsoft.com/office/drawing/2014/main" id="{98FD5FF1-325D-5DD0-A372-48275B784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ko-KR" altLang="en-US" b="1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모델별</a:t>
            </a:r>
            <a:r>
              <a:rPr lang="ko-KR" altLang="en-US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en-US" altLang="ko-KR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Brier Score, Calibration Plot</a:t>
            </a:r>
            <a:r>
              <a:rPr lang="ko-KR" altLang="en-US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비교</a:t>
            </a:r>
            <a:endParaRPr lang="en-US" altLang="ko-KR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vl="1"/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AEC 128   |   Normalized   |   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BCEWithLogitsLoss</a:t>
            </a:r>
            <a:endParaRPr lang="en-US" altLang="ko-KR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CA129A1-CF86-6A85-1E3D-86C50B53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6F260-F99B-FB82-21A6-E1139282E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759A308-4EA8-BCCC-E73C-87C127E32E68}"/>
              </a:ext>
            </a:extLst>
          </p:cNvPr>
          <p:cNvSpPr txBox="1"/>
          <p:nvPr/>
        </p:nvSpPr>
        <p:spPr>
          <a:xfrm>
            <a:off x="409638" y="5315745"/>
            <a:ext cx="366997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i="0" dirty="0">
                <a:solidFill>
                  <a:srgbClr val="1A1A2E"/>
                </a:solidFill>
                <a:latin typeface="맑은 고딕"/>
              </a:rPr>
              <a:t>Model 1 (Clinic)</a:t>
            </a:r>
            <a:endParaRPr sz="1100" b="1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C7C257F-4D16-69FC-772A-BC79EABEBF84}"/>
              </a:ext>
            </a:extLst>
          </p:cNvPr>
          <p:cNvSpPr txBox="1"/>
          <p:nvPr/>
        </p:nvSpPr>
        <p:spPr>
          <a:xfrm>
            <a:off x="4267536" y="5315745"/>
            <a:ext cx="366997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i="0" dirty="0">
                <a:solidFill>
                  <a:srgbClr val="1A1A2E"/>
                </a:solidFill>
                <a:latin typeface="맑은 고딕"/>
              </a:rPr>
              <a:t>Model 2 (Clinic + AEC)</a:t>
            </a:r>
            <a:endParaRPr sz="1100" b="1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75D5026-321B-8AEA-ABD4-11168A606DBF}"/>
              </a:ext>
            </a:extLst>
          </p:cNvPr>
          <p:cNvSpPr txBox="1"/>
          <p:nvPr/>
        </p:nvSpPr>
        <p:spPr>
          <a:xfrm>
            <a:off x="8203811" y="5315745"/>
            <a:ext cx="366997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i="0" dirty="0">
                <a:solidFill>
                  <a:srgbClr val="1A1A2E"/>
                </a:solidFill>
                <a:latin typeface="맑은 고딕"/>
              </a:rPr>
              <a:t>Model 3 (Clinic + AEC + Scanner)</a:t>
            </a:r>
            <a:endParaRPr sz="1100" b="1" i="0" dirty="0">
              <a:solidFill>
                <a:srgbClr val="1A1A2E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593231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1932A-5A2A-9503-BEC3-00F96EA12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AF78E-F656-C431-6237-E9DAB51D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9CD50-97F0-CF76-C060-719B3AB1E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73C3AE69-F6D4-CF59-5278-A9A358753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(Clinic) vs Model 2 (Clinic + AEC) </a:t>
            </a:r>
            <a:r>
              <a:rPr lang="ko-KR" altLang="en-US" dirty="0"/>
              <a:t>비교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19CD5BBB-45EA-5B34-8845-856BA42531F8}"/>
              </a:ext>
            </a:extLst>
          </p:cNvPr>
          <p:cNvSpPr/>
          <p:nvPr/>
        </p:nvSpPr>
        <p:spPr>
          <a:xfrm>
            <a:off x="361405" y="1698171"/>
            <a:ext cx="5486400" cy="4262361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A44C8B-83FB-7ED1-78B2-7AE2430815D8}"/>
              </a:ext>
            </a:extLst>
          </p:cNvPr>
          <p:cNvSpPr txBox="1"/>
          <p:nvPr/>
        </p:nvSpPr>
        <p:spPr>
          <a:xfrm>
            <a:off x="544285" y="1771323"/>
            <a:ext cx="37708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rgbClr val="1A1A2E"/>
                </a:solidFill>
                <a:latin typeface="맑은 고딕"/>
              </a:rPr>
              <a:t>DeLong Test — M1(LR) vs M2(</a:t>
            </a:r>
            <a:r>
              <a:rPr sz="1400" b="1" i="0" dirty="0" err="1">
                <a:solidFill>
                  <a:srgbClr val="1A1A2E"/>
                </a:solidFill>
                <a:latin typeface="맑은 고딕"/>
              </a:rPr>
              <a:t>CrossAttn</a:t>
            </a:r>
            <a:r>
              <a:rPr sz="1400" b="1" i="0" dirty="0">
                <a:solidFill>
                  <a:srgbClr val="1A1A2E"/>
                </a:solidFill>
                <a:latin typeface="맑은 고딕"/>
              </a:rPr>
              <a:t>)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88CF8F29-D96B-905F-583C-AFDBE9D8351F}"/>
              </a:ext>
            </a:extLst>
          </p:cNvPr>
          <p:cNvSpPr/>
          <p:nvPr/>
        </p:nvSpPr>
        <p:spPr>
          <a:xfrm>
            <a:off x="544285" y="2091363"/>
            <a:ext cx="512064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52E1CA-D1D4-0AB4-F628-C2AA7ADEC2EA}"/>
              </a:ext>
            </a:extLst>
          </p:cNvPr>
          <p:cNvSpPr txBox="1"/>
          <p:nvPr/>
        </p:nvSpPr>
        <p:spPr>
          <a:xfrm>
            <a:off x="544285" y="4086204"/>
            <a:ext cx="25879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 dirty="0">
                <a:solidFill>
                  <a:srgbClr val="1A1A2E"/>
                </a:solidFill>
                <a:latin typeface="맑은 고딕"/>
              </a:rPr>
              <a:t>Bootstrap 95% CI — norm </a:t>
            </a:r>
            <a:r>
              <a:rPr sz="1200" b="1" i="0" dirty="0" err="1">
                <a:solidFill>
                  <a:srgbClr val="1A1A2E"/>
                </a:solidFill>
                <a:latin typeface="맑은 고딕"/>
              </a:rPr>
              <a:t>기준</a:t>
            </a:r>
            <a:endParaRPr sz="1200" b="1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62" name="Rectangle 58">
            <a:extLst>
              <a:ext uri="{FF2B5EF4-FFF2-40B4-BE49-F238E27FC236}">
                <a16:creationId xmlns:a16="http://schemas.microsoft.com/office/drawing/2014/main" id="{1488E483-7323-4356-F259-4DB1D690AFCB}"/>
              </a:ext>
            </a:extLst>
          </p:cNvPr>
          <p:cNvSpPr/>
          <p:nvPr/>
        </p:nvSpPr>
        <p:spPr>
          <a:xfrm>
            <a:off x="544285" y="4335630"/>
            <a:ext cx="5120640" cy="2743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4F793B2-DB05-5E39-A870-A85825E8C515}"/>
              </a:ext>
            </a:extLst>
          </p:cNvPr>
          <p:cNvSpPr txBox="1"/>
          <p:nvPr/>
        </p:nvSpPr>
        <p:spPr>
          <a:xfrm>
            <a:off x="6030685" y="1698171"/>
            <a:ext cx="320818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 dirty="0">
                <a:solidFill>
                  <a:srgbClr val="1A1A2E"/>
                </a:solidFill>
                <a:latin typeface="맑은 고딕"/>
              </a:rPr>
              <a:t>ROC </a:t>
            </a:r>
            <a:r>
              <a:rPr sz="1200" b="1" i="0" dirty="0" err="1">
                <a:solidFill>
                  <a:srgbClr val="1A1A2E"/>
                </a:solidFill>
                <a:latin typeface="맑은 고딕"/>
              </a:rPr>
              <a:t>비교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  (norm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 /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 M1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·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M2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·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M2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_2 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·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M3)</a:t>
            </a:r>
          </a:p>
        </p:txBody>
      </p:sp>
      <p:grpSp>
        <p:nvGrpSpPr>
          <p:cNvPr id="256" name="그룹 255">
            <a:extLst>
              <a:ext uri="{FF2B5EF4-FFF2-40B4-BE49-F238E27FC236}">
                <a16:creationId xmlns:a16="http://schemas.microsoft.com/office/drawing/2014/main" id="{6D984E22-629F-8636-E2CC-ADA40CFC1456}"/>
              </a:ext>
            </a:extLst>
          </p:cNvPr>
          <p:cNvGrpSpPr/>
          <p:nvPr/>
        </p:nvGrpSpPr>
        <p:grpSpPr>
          <a:xfrm>
            <a:off x="544285" y="2152252"/>
            <a:ext cx="5120640" cy="1755648"/>
            <a:chOff x="411480" y="1344168"/>
            <a:chExt cx="5212080" cy="1755648"/>
          </a:xfrm>
        </p:grpSpPr>
        <p:sp>
          <p:nvSpPr>
            <p:cNvPr id="206" name="Rectangle 7">
              <a:extLst>
                <a:ext uri="{FF2B5EF4-FFF2-40B4-BE49-F238E27FC236}">
                  <a16:creationId xmlns:a16="http://schemas.microsoft.com/office/drawing/2014/main" id="{A3E843CD-E2F2-5611-1164-70266AA8DD06}"/>
                </a:ext>
              </a:extLst>
            </p:cNvPr>
            <p:cNvSpPr/>
            <p:nvPr/>
          </p:nvSpPr>
          <p:spPr>
            <a:xfrm>
              <a:off x="411480" y="1344168"/>
              <a:ext cx="14173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95F45814-5BCC-E55F-5A23-F4ED4355282B}"/>
                </a:ext>
              </a:extLst>
            </p:cNvPr>
            <p:cNvSpPr txBox="1"/>
            <p:nvPr/>
          </p:nvSpPr>
          <p:spPr>
            <a:xfrm>
              <a:off x="411480" y="1344168"/>
              <a:ext cx="14173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시나리오</a:t>
              </a:r>
            </a:p>
          </p:txBody>
        </p:sp>
        <p:sp>
          <p:nvSpPr>
            <p:cNvPr id="208" name="Rectangle 9">
              <a:extLst>
                <a:ext uri="{FF2B5EF4-FFF2-40B4-BE49-F238E27FC236}">
                  <a16:creationId xmlns:a16="http://schemas.microsoft.com/office/drawing/2014/main" id="{B4D41834-CB70-687B-0999-A5CA1F948A52}"/>
                </a:ext>
              </a:extLst>
            </p:cNvPr>
            <p:cNvSpPr/>
            <p:nvPr/>
          </p:nvSpPr>
          <p:spPr>
            <a:xfrm>
              <a:off x="1874519" y="1344168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C0E71498-A0BD-B2F2-1BA8-15014589CDCC}"/>
                </a:ext>
              </a:extLst>
            </p:cNvPr>
            <p:cNvSpPr txBox="1"/>
            <p:nvPr/>
          </p:nvSpPr>
          <p:spPr>
            <a:xfrm>
              <a:off x="1874519" y="1344168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 AUC</a:t>
              </a:r>
            </a:p>
          </p:txBody>
        </p:sp>
        <p:sp>
          <p:nvSpPr>
            <p:cNvPr id="210" name="Rectangle 11">
              <a:extLst>
                <a:ext uri="{FF2B5EF4-FFF2-40B4-BE49-F238E27FC236}">
                  <a16:creationId xmlns:a16="http://schemas.microsoft.com/office/drawing/2014/main" id="{B9B7C6D5-FEE8-6966-06BD-66B76ECDD912}"/>
                </a:ext>
              </a:extLst>
            </p:cNvPr>
            <p:cNvSpPr/>
            <p:nvPr/>
          </p:nvSpPr>
          <p:spPr>
            <a:xfrm>
              <a:off x="2834640" y="1344168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5CD19459-716F-F1F5-D12E-E33F8FFFE828}"/>
                </a:ext>
              </a:extLst>
            </p:cNvPr>
            <p:cNvSpPr txBox="1"/>
            <p:nvPr/>
          </p:nvSpPr>
          <p:spPr>
            <a:xfrm>
              <a:off x="2834640" y="1344168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M2 AUC</a:t>
              </a:r>
            </a:p>
          </p:txBody>
        </p:sp>
        <p:sp>
          <p:nvSpPr>
            <p:cNvPr id="212" name="Rectangle 13">
              <a:extLst>
                <a:ext uri="{FF2B5EF4-FFF2-40B4-BE49-F238E27FC236}">
                  <a16:creationId xmlns:a16="http://schemas.microsoft.com/office/drawing/2014/main" id="{ADC0C310-068F-4DC8-B348-6CF894C15782}"/>
                </a:ext>
              </a:extLst>
            </p:cNvPr>
            <p:cNvSpPr/>
            <p:nvPr/>
          </p:nvSpPr>
          <p:spPr>
            <a:xfrm>
              <a:off x="3794760" y="1344168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47440535-2874-B582-B26E-6950336A9C12}"/>
                </a:ext>
              </a:extLst>
            </p:cNvPr>
            <p:cNvSpPr txBox="1"/>
            <p:nvPr/>
          </p:nvSpPr>
          <p:spPr>
            <a:xfrm>
              <a:off x="3794760" y="1344168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 AUC</a:t>
              </a:r>
            </a:p>
          </p:txBody>
        </p:sp>
        <p:sp>
          <p:nvSpPr>
            <p:cNvPr id="214" name="Rectangle 15">
              <a:extLst>
                <a:ext uri="{FF2B5EF4-FFF2-40B4-BE49-F238E27FC236}">
                  <a16:creationId xmlns:a16="http://schemas.microsoft.com/office/drawing/2014/main" id="{0DF17FEC-ED17-8699-3AEC-089AF52031F3}"/>
                </a:ext>
              </a:extLst>
            </p:cNvPr>
            <p:cNvSpPr/>
            <p:nvPr/>
          </p:nvSpPr>
          <p:spPr>
            <a:xfrm>
              <a:off x="4754880" y="1344168"/>
              <a:ext cx="8686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5516D364-B4F2-7C4B-75CE-9F36E2498324}"/>
                </a:ext>
              </a:extLst>
            </p:cNvPr>
            <p:cNvSpPr txBox="1"/>
            <p:nvPr/>
          </p:nvSpPr>
          <p:spPr>
            <a:xfrm>
              <a:off x="4754880" y="1344168"/>
              <a:ext cx="8686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p-val</a:t>
              </a:r>
            </a:p>
          </p:txBody>
        </p:sp>
        <p:sp>
          <p:nvSpPr>
            <p:cNvPr id="216" name="Rectangle 17">
              <a:extLst>
                <a:ext uri="{FF2B5EF4-FFF2-40B4-BE49-F238E27FC236}">
                  <a16:creationId xmlns:a16="http://schemas.microsoft.com/office/drawing/2014/main" id="{DA48DF95-6857-60D3-B4E7-0A9A1465A87C}"/>
                </a:ext>
              </a:extLst>
            </p:cNvPr>
            <p:cNvSpPr/>
            <p:nvPr/>
          </p:nvSpPr>
          <p:spPr>
            <a:xfrm>
              <a:off x="411480" y="1636776"/>
              <a:ext cx="14173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E02DDBE2-46C0-21F1-200D-F68B5E750156}"/>
                </a:ext>
              </a:extLst>
            </p:cNvPr>
            <p:cNvSpPr txBox="1"/>
            <p:nvPr/>
          </p:nvSpPr>
          <p:spPr>
            <a:xfrm>
              <a:off x="411480" y="1636776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 dirty="0">
                  <a:solidFill>
                    <a:srgbClr val="1A1A2E"/>
                  </a:solidFill>
                  <a:latin typeface="맑은 고딕"/>
                </a:rPr>
                <a:t>norm</a:t>
              </a:r>
            </a:p>
          </p:txBody>
        </p:sp>
        <p:sp>
          <p:nvSpPr>
            <p:cNvPr id="218" name="Rectangle 19">
              <a:extLst>
                <a:ext uri="{FF2B5EF4-FFF2-40B4-BE49-F238E27FC236}">
                  <a16:creationId xmlns:a16="http://schemas.microsoft.com/office/drawing/2014/main" id="{6CCA2838-77BE-E977-B79A-9D1D7AF05034}"/>
                </a:ext>
              </a:extLst>
            </p:cNvPr>
            <p:cNvSpPr/>
            <p:nvPr/>
          </p:nvSpPr>
          <p:spPr>
            <a:xfrm>
              <a:off x="1874519" y="1636776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EEACB61E-F3B1-2EF7-B26F-0E91FE5813DB}"/>
                </a:ext>
              </a:extLst>
            </p:cNvPr>
            <p:cNvSpPr txBox="1"/>
            <p:nvPr/>
          </p:nvSpPr>
          <p:spPr>
            <a:xfrm>
              <a:off x="1874519" y="163677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0.8030</a:t>
              </a:r>
            </a:p>
          </p:txBody>
        </p:sp>
        <p:sp>
          <p:nvSpPr>
            <p:cNvPr id="220" name="Rectangle 21">
              <a:extLst>
                <a:ext uri="{FF2B5EF4-FFF2-40B4-BE49-F238E27FC236}">
                  <a16:creationId xmlns:a16="http://schemas.microsoft.com/office/drawing/2014/main" id="{5337CFCB-3E60-6A74-88E6-8D944E4E29E1}"/>
                </a:ext>
              </a:extLst>
            </p:cNvPr>
            <p:cNvSpPr/>
            <p:nvPr/>
          </p:nvSpPr>
          <p:spPr>
            <a:xfrm>
              <a:off x="2834640" y="1636776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4346B0D0-4A9B-7398-B0C3-12868CDC202D}"/>
                </a:ext>
              </a:extLst>
            </p:cNvPr>
            <p:cNvSpPr txBox="1"/>
            <p:nvPr/>
          </p:nvSpPr>
          <p:spPr>
            <a:xfrm>
              <a:off x="2834640" y="163677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0.8350</a:t>
              </a:r>
            </a:p>
          </p:txBody>
        </p:sp>
        <p:sp>
          <p:nvSpPr>
            <p:cNvPr id="222" name="Rectangle 23">
              <a:extLst>
                <a:ext uri="{FF2B5EF4-FFF2-40B4-BE49-F238E27FC236}">
                  <a16:creationId xmlns:a16="http://schemas.microsoft.com/office/drawing/2014/main" id="{71BEDB0D-4055-34EE-38D3-19B03CDAF66F}"/>
                </a:ext>
              </a:extLst>
            </p:cNvPr>
            <p:cNvSpPr/>
            <p:nvPr/>
          </p:nvSpPr>
          <p:spPr>
            <a:xfrm>
              <a:off x="3794760" y="1636776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920BB5C4-D832-A4B2-B8D2-F48F02D401B2}"/>
                </a:ext>
              </a:extLst>
            </p:cNvPr>
            <p:cNvSpPr txBox="1"/>
            <p:nvPr/>
          </p:nvSpPr>
          <p:spPr>
            <a:xfrm>
              <a:off x="3794760" y="163677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+0.032</a:t>
              </a:r>
            </a:p>
          </p:txBody>
        </p:sp>
        <p:sp>
          <p:nvSpPr>
            <p:cNvPr id="224" name="Rectangle 25">
              <a:extLst>
                <a:ext uri="{FF2B5EF4-FFF2-40B4-BE49-F238E27FC236}">
                  <a16:creationId xmlns:a16="http://schemas.microsoft.com/office/drawing/2014/main" id="{C1629B59-0057-80D2-C3C9-4D0F46F0BCE7}"/>
                </a:ext>
              </a:extLst>
            </p:cNvPr>
            <p:cNvSpPr/>
            <p:nvPr/>
          </p:nvSpPr>
          <p:spPr>
            <a:xfrm>
              <a:off x="4754880" y="1636776"/>
              <a:ext cx="8686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85945185-8F6B-8096-1A5D-8CF93DDDDC6E}"/>
                </a:ext>
              </a:extLst>
            </p:cNvPr>
            <p:cNvSpPr txBox="1"/>
            <p:nvPr/>
          </p:nvSpPr>
          <p:spPr>
            <a:xfrm>
              <a:off x="4754880" y="1636776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p=0.055 †</a:t>
              </a:r>
            </a:p>
          </p:txBody>
        </p:sp>
        <p:sp>
          <p:nvSpPr>
            <p:cNvPr id="226" name="Rectangle 27">
              <a:extLst>
                <a:ext uri="{FF2B5EF4-FFF2-40B4-BE49-F238E27FC236}">
                  <a16:creationId xmlns:a16="http://schemas.microsoft.com/office/drawing/2014/main" id="{72CBE096-3ADE-224A-FCF9-DAA01D4270F4}"/>
                </a:ext>
              </a:extLst>
            </p:cNvPr>
            <p:cNvSpPr/>
            <p:nvPr/>
          </p:nvSpPr>
          <p:spPr>
            <a:xfrm>
              <a:off x="411480" y="2002536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D764D19A-0D03-2D39-3F02-43840D12379B}"/>
                </a:ext>
              </a:extLst>
            </p:cNvPr>
            <p:cNvSpPr txBox="1"/>
            <p:nvPr/>
          </p:nvSpPr>
          <p:spPr>
            <a:xfrm>
              <a:off x="411480" y="2002536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len128</a:t>
              </a:r>
            </a:p>
          </p:txBody>
        </p:sp>
        <p:sp>
          <p:nvSpPr>
            <p:cNvPr id="228" name="Rectangle 29">
              <a:extLst>
                <a:ext uri="{FF2B5EF4-FFF2-40B4-BE49-F238E27FC236}">
                  <a16:creationId xmlns:a16="http://schemas.microsoft.com/office/drawing/2014/main" id="{E34B7207-C79C-04FA-7683-361684B793C9}"/>
                </a:ext>
              </a:extLst>
            </p:cNvPr>
            <p:cNvSpPr/>
            <p:nvPr/>
          </p:nvSpPr>
          <p:spPr>
            <a:xfrm>
              <a:off x="1874519" y="2002536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EC9E9C20-8183-3C9E-ECD4-E88C45F1DD48}"/>
                </a:ext>
              </a:extLst>
            </p:cNvPr>
            <p:cNvSpPr txBox="1"/>
            <p:nvPr/>
          </p:nvSpPr>
          <p:spPr>
            <a:xfrm>
              <a:off x="1874519" y="200253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0.8030</a:t>
              </a:r>
            </a:p>
          </p:txBody>
        </p:sp>
        <p:sp>
          <p:nvSpPr>
            <p:cNvPr id="230" name="Rectangle 31">
              <a:extLst>
                <a:ext uri="{FF2B5EF4-FFF2-40B4-BE49-F238E27FC236}">
                  <a16:creationId xmlns:a16="http://schemas.microsoft.com/office/drawing/2014/main" id="{A0515585-E0E6-9655-6C0F-878E5B3E3EB3}"/>
                </a:ext>
              </a:extLst>
            </p:cNvPr>
            <p:cNvSpPr/>
            <p:nvPr/>
          </p:nvSpPr>
          <p:spPr>
            <a:xfrm>
              <a:off x="2834640" y="2002536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CECF5E84-B88A-6AEF-14B3-E2D3FFD9525E}"/>
                </a:ext>
              </a:extLst>
            </p:cNvPr>
            <p:cNvSpPr txBox="1"/>
            <p:nvPr/>
          </p:nvSpPr>
          <p:spPr>
            <a:xfrm>
              <a:off x="2834640" y="200253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0.8106</a:t>
              </a:r>
            </a:p>
          </p:txBody>
        </p:sp>
        <p:sp>
          <p:nvSpPr>
            <p:cNvPr id="232" name="Rectangle 33">
              <a:extLst>
                <a:ext uri="{FF2B5EF4-FFF2-40B4-BE49-F238E27FC236}">
                  <a16:creationId xmlns:a16="http://schemas.microsoft.com/office/drawing/2014/main" id="{65C72F60-28EB-289E-8B71-02D587703D61}"/>
                </a:ext>
              </a:extLst>
            </p:cNvPr>
            <p:cNvSpPr/>
            <p:nvPr/>
          </p:nvSpPr>
          <p:spPr>
            <a:xfrm>
              <a:off x="3794760" y="2002536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198C0669-D7BF-72D4-8D5F-0066FB49707B}"/>
                </a:ext>
              </a:extLst>
            </p:cNvPr>
            <p:cNvSpPr txBox="1"/>
            <p:nvPr/>
          </p:nvSpPr>
          <p:spPr>
            <a:xfrm>
              <a:off x="3794760" y="200253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+0.008</a:t>
              </a:r>
            </a:p>
          </p:txBody>
        </p:sp>
        <p:sp>
          <p:nvSpPr>
            <p:cNvPr id="234" name="Rectangle 35">
              <a:extLst>
                <a:ext uri="{FF2B5EF4-FFF2-40B4-BE49-F238E27FC236}">
                  <a16:creationId xmlns:a16="http://schemas.microsoft.com/office/drawing/2014/main" id="{ACA3E3BA-B428-B36C-891C-031AA8B1CABE}"/>
                </a:ext>
              </a:extLst>
            </p:cNvPr>
            <p:cNvSpPr/>
            <p:nvPr/>
          </p:nvSpPr>
          <p:spPr>
            <a:xfrm>
              <a:off x="4754880" y="2002536"/>
              <a:ext cx="8686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450D0542-8E22-1F6E-E6C4-9976D8FB72A0}"/>
                </a:ext>
              </a:extLst>
            </p:cNvPr>
            <p:cNvSpPr txBox="1"/>
            <p:nvPr/>
          </p:nvSpPr>
          <p:spPr>
            <a:xfrm>
              <a:off x="4754880" y="2002536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p=0.778 ns</a:t>
              </a:r>
            </a:p>
          </p:txBody>
        </p:sp>
        <p:sp>
          <p:nvSpPr>
            <p:cNvPr id="236" name="Rectangle 37">
              <a:extLst>
                <a:ext uri="{FF2B5EF4-FFF2-40B4-BE49-F238E27FC236}">
                  <a16:creationId xmlns:a16="http://schemas.microsoft.com/office/drawing/2014/main" id="{D0723B33-6E89-8649-3972-34A1F0EB6A53}"/>
                </a:ext>
              </a:extLst>
            </p:cNvPr>
            <p:cNvSpPr/>
            <p:nvPr/>
          </p:nvSpPr>
          <p:spPr>
            <a:xfrm>
              <a:off x="411480" y="2368296"/>
              <a:ext cx="14173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62C2D180-136E-8DA2-A025-E8DFA673AA0F}"/>
                </a:ext>
              </a:extLst>
            </p:cNvPr>
            <p:cNvSpPr txBox="1"/>
            <p:nvPr/>
          </p:nvSpPr>
          <p:spPr>
            <a:xfrm>
              <a:off x="411480" y="2368296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crop80</a:t>
              </a:r>
            </a:p>
          </p:txBody>
        </p:sp>
        <p:sp>
          <p:nvSpPr>
            <p:cNvPr id="238" name="Rectangle 39">
              <a:extLst>
                <a:ext uri="{FF2B5EF4-FFF2-40B4-BE49-F238E27FC236}">
                  <a16:creationId xmlns:a16="http://schemas.microsoft.com/office/drawing/2014/main" id="{993D6E14-6150-E288-95A9-D08E635A5A09}"/>
                </a:ext>
              </a:extLst>
            </p:cNvPr>
            <p:cNvSpPr/>
            <p:nvPr/>
          </p:nvSpPr>
          <p:spPr>
            <a:xfrm>
              <a:off x="1874519" y="2368296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5286F0FD-9042-9CB0-3013-2AA0967629C0}"/>
                </a:ext>
              </a:extLst>
            </p:cNvPr>
            <p:cNvSpPr txBox="1"/>
            <p:nvPr/>
          </p:nvSpPr>
          <p:spPr>
            <a:xfrm>
              <a:off x="1874519" y="236829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0.8030</a:t>
              </a:r>
            </a:p>
          </p:txBody>
        </p:sp>
        <p:sp>
          <p:nvSpPr>
            <p:cNvPr id="240" name="Rectangle 41">
              <a:extLst>
                <a:ext uri="{FF2B5EF4-FFF2-40B4-BE49-F238E27FC236}">
                  <a16:creationId xmlns:a16="http://schemas.microsoft.com/office/drawing/2014/main" id="{AFAD3C0E-1D5A-4631-E768-702B63023A5A}"/>
                </a:ext>
              </a:extLst>
            </p:cNvPr>
            <p:cNvSpPr/>
            <p:nvPr/>
          </p:nvSpPr>
          <p:spPr>
            <a:xfrm>
              <a:off x="2834640" y="2368296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DA15D0E8-A757-E6C2-DA92-8EF14953ACEC}"/>
                </a:ext>
              </a:extLst>
            </p:cNvPr>
            <p:cNvSpPr txBox="1"/>
            <p:nvPr/>
          </p:nvSpPr>
          <p:spPr>
            <a:xfrm>
              <a:off x="2834640" y="236829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0.8112</a:t>
              </a:r>
            </a:p>
          </p:txBody>
        </p:sp>
        <p:sp>
          <p:nvSpPr>
            <p:cNvPr id="242" name="Rectangle 43">
              <a:extLst>
                <a:ext uri="{FF2B5EF4-FFF2-40B4-BE49-F238E27FC236}">
                  <a16:creationId xmlns:a16="http://schemas.microsoft.com/office/drawing/2014/main" id="{3D943DF3-29DC-F9DB-E8B7-FE24294616F2}"/>
                </a:ext>
              </a:extLst>
            </p:cNvPr>
            <p:cNvSpPr/>
            <p:nvPr/>
          </p:nvSpPr>
          <p:spPr>
            <a:xfrm>
              <a:off x="3794760" y="2368296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0A84239A-F201-EC79-D607-8D4B8A93C659}"/>
                </a:ext>
              </a:extLst>
            </p:cNvPr>
            <p:cNvSpPr txBox="1"/>
            <p:nvPr/>
          </p:nvSpPr>
          <p:spPr>
            <a:xfrm>
              <a:off x="3794760" y="236829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+0.008</a:t>
              </a:r>
            </a:p>
          </p:txBody>
        </p:sp>
        <p:sp>
          <p:nvSpPr>
            <p:cNvPr id="244" name="Rectangle 45">
              <a:extLst>
                <a:ext uri="{FF2B5EF4-FFF2-40B4-BE49-F238E27FC236}">
                  <a16:creationId xmlns:a16="http://schemas.microsoft.com/office/drawing/2014/main" id="{EDAE0136-2FC1-FEDC-3E68-3821FD9FB464}"/>
                </a:ext>
              </a:extLst>
            </p:cNvPr>
            <p:cNvSpPr/>
            <p:nvPr/>
          </p:nvSpPr>
          <p:spPr>
            <a:xfrm>
              <a:off x="4754880" y="2368296"/>
              <a:ext cx="8686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9FF909C8-4541-55D4-B23F-7107595084A6}"/>
                </a:ext>
              </a:extLst>
            </p:cNvPr>
            <p:cNvSpPr txBox="1"/>
            <p:nvPr/>
          </p:nvSpPr>
          <p:spPr>
            <a:xfrm>
              <a:off x="4754880" y="2368296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p=0.670 ns</a:t>
              </a:r>
            </a:p>
          </p:txBody>
        </p:sp>
        <p:sp>
          <p:nvSpPr>
            <p:cNvPr id="246" name="Rectangle 47">
              <a:extLst>
                <a:ext uri="{FF2B5EF4-FFF2-40B4-BE49-F238E27FC236}">
                  <a16:creationId xmlns:a16="http://schemas.microsoft.com/office/drawing/2014/main" id="{B339CBCA-4442-08CE-FF8C-0BE171BA4855}"/>
                </a:ext>
              </a:extLst>
            </p:cNvPr>
            <p:cNvSpPr/>
            <p:nvPr/>
          </p:nvSpPr>
          <p:spPr>
            <a:xfrm>
              <a:off x="411480" y="2734056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E01B16D6-01D4-BFE7-D853-A760330C55C5}"/>
                </a:ext>
              </a:extLst>
            </p:cNvPr>
            <p:cNvSpPr txBox="1"/>
            <p:nvPr/>
          </p:nvSpPr>
          <p:spPr>
            <a:xfrm>
              <a:off x="411480" y="2734056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crop60</a:t>
              </a:r>
            </a:p>
          </p:txBody>
        </p:sp>
        <p:sp>
          <p:nvSpPr>
            <p:cNvPr id="248" name="Rectangle 49">
              <a:extLst>
                <a:ext uri="{FF2B5EF4-FFF2-40B4-BE49-F238E27FC236}">
                  <a16:creationId xmlns:a16="http://schemas.microsoft.com/office/drawing/2014/main" id="{8B5D3CB5-A12C-C59B-6756-F9A322F46E85}"/>
                </a:ext>
              </a:extLst>
            </p:cNvPr>
            <p:cNvSpPr/>
            <p:nvPr/>
          </p:nvSpPr>
          <p:spPr>
            <a:xfrm>
              <a:off x="1874519" y="2734056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DD623C9C-C310-4434-9119-2377068CEB07}"/>
                </a:ext>
              </a:extLst>
            </p:cNvPr>
            <p:cNvSpPr txBox="1"/>
            <p:nvPr/>
          </p:nvSpPr>
          <p:spPr>
            <a:xfrm>
              <a:off x="1874519" y="273405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0.8030</a:t>
              </a:r>
            </a:p>
          </p:txBody>
        </p:sp>
        <p:sp>
          <p:nvSpPr>
            <p:cNvPr id="250" name="Rectangle 51">
              <a:extLst>
                <a:ext uri="{FF2B5EF4-FFF2-40B4-BE49-F238E27FC236}">
                  <a16:creationId xmlns:a16="http://schemas.microsoft.com/office/drawing/2014/main" id="{4797D19B-2503-F3A5-F5A0-ED8D9EC10E77}"/>
                </a:ext>
              </a:extLst>
            </p:cNvPr>
            <p:cNvSpPr/>
            <p:nvPr/>
          </p:nvSpPr>
          <p:spPr>
            <a:xfrm>
              <a:off x="2834640" y="2734056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78CC6B92-75DD-11D4-29B5-806BE6AE9DA4}"/>
                </a:ext>
              </a:extLst>
            </p:cNvPr>
            <p:cNvSpPr txBox="1"/>
            <p:nvPr/>
          </p:nvSpPr>
          <p:spPr>
            <a:xfrm>
              <a:off x="2834640" y="273405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0.7980</a:t>
              </a:r>
            </a:p>
          </p:txBody>
        </p:sp>
        <p:sp>
          <p:nvSpPr>
            <p:cNvPr id="252" name="Rectangle 53">
              <a:extLst>
                <a:ext uri="{FF2B5EF4-FFF2-40B4-BE49-F238E27FC236}">
                  <a16:creationId xmlns:a16="http://schemas.microsoft.com/office/drawing/2014/main" id="{0327FA37-B669-417D-B10B-EE97DFA93B3A}"/>
                </a:ext>
              </a:extLst>
            </p:cNvPr>
            <p:cNvSpPr/>
            <p:nvPr/>
          </p:nvSpPr>
          <p:spPr>
            <a:xfrm>
              <a:off x="3794760" y="2734056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0CF916F6-4631-94F9-D9CE-5CD1FEE60756}"/>
                </a:ext>
              </a:extLst>
            </p:cNvPr>
            <p:cNvSpPr txBox="1"/>
            <p:nvPr/>
          </p:nvSpPr>
          <p:spPr>
            <a:xfrm>
              <a:off x="3794760" y="273405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−0.005</a:t>
              </a:r>
            </a:p>
          </p:txBody>
        </p:sp>
        <p:sp>
          <p:nvSpPr>
            <p:cNvPr id="254" name="Rectangle 55">
              <a:extLst>
                <a:ext uri="{FF2B5EF4-FFF2-40B4-BE49-F238E27FC236}">
                  <a16:creationId xmlns:a16="http://schemas.microsoft.com/office/drawing/2014/main" id="{DC773676-0588-F533-F993-838F6DBD09AF}"/>
                </a:ext>
              </a:extLst>
            </p:cNvPr>
            <p:cNvSpPr/>
            <p:nvPr/>
          </p:nvSpPr>
          <p:spPr>
            <a:xfrm>
              <a:off x="4754880" y="2734056"/>
              <a:ext cx="8686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11B7CB69-302C-9B70-C5C2-67A4A5B8684B}"/>
                </a:ext>
              </a:extLst>
            </p:cNvPr>
            <p:cNvSpPr txBox="1"/>
            <p:nvPr/>
          </p:nvSpPr>
          <p:spPr>
            <a:xfrm>
              <a:off x="4754880" y="2734056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p=0.806 ns</a:t>
              </a:r>
            </a:p>
          </p:txBody>
        </p:sp>
      </p:grpSp>
      <p:grpSp>
        <p:nvGrpSpPr>
          <p:cNvPr id="297" name="그룹 296">
            <a:extLst>
              <a:ext uri="{FF2B5EF4-FFF2-40B4-BE49-F238E27FC236}">
                <a16:creationId xmlns:a16="http://schemas.microsoft.com/office/drawing/2014/main" id="{AEDEA564-205F-E3F3-9D84-4F288A6133D2}"/>
              </a:ext>
            </a:extLst>
          </p:cNvPr>
          <p:cNvGrpSpPr/>
          <p:nvPr/>
        </p:nvGrpSpPr>
        <p:grpSpPr>
          <a:xfrm>
            <a:off x="544285" y="4418595"/>
            <a:ext cx="5120640" cy="1481328"/>
            <a:chOff x="411480" y="3538728"/>
            <a:chExt cx="5029200" cy="1481328"/>
          </a:xfrm>
        </p:grpSpPr>
        <p:sp>
          <p:nvSpPr>
            <p:cNvPr id="257" name="Rectangle 59">
              <a:extLst>
                <a:ext uri="{FF2B5EF4-FFF2-40B4-BE49-F238E27FC236}">
                  <a16:creationId xmlns:a16="http://schemas.microsoft.com/office/drawing/2014/main" id="{EFD9D279-B21F-CAFE-9CAD-498483AA3C63}"/>
                </a:ext>
              </a:extLst>
            </p:cNvPr>
            <p:cNvSpPr/>
            <p:nvPr/>
          </p:nvSpPr>
          <p:spPr>
            <a:xfrm>
              <a:off x="411480" y="3538728"/>
              <a:ext cx="123444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E2CC995B-C55B-F678-A66D-D725ED98FF9E}"/>
                </a:ext>
              </a:extLst>
            </p:cNvPr>
            <p:cNvSpPr txBox="1"/>
            <p:nvPr/>
          </p:nvSpPr>
          <p:spPr>
            <a:xfrm>
              <a:off x="411480" y="3538728"/>
              <a:ext cx="123444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지표</a:t>
              </a:r>
            </a:p>
          </p:txBody>
        </p:sp>
        <p:sp>
          <p:nvSpPr>
            <p:cNvPr id="259" name="Rectangle 61">
              <a:extLst>
                <a:ext uri="{FF2B5EF4-FFF2-40B4-BE49-F238E27FC236}">
                  <a16:creationId xmlns:a16="http://schemas.microsoft.com/office/drawing/2014/main" id="{5BBB661A-C846-53FB-02FF-DDBEC738F36D}"/>
                </a:ext>
              </a:extLst>
            </p:cNvPr>
            <p:cNvSpPr/>
            <p:nvPr/>
          </p:nvSpPr>
          <p:spPr>
            <a:xfrm>
              <a:off x="1691640" y="3538728"/>
              <a:ext cx="123444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96CAB34-CDF9-5487-63F1-361F66DC9BB0}"/>
                </a:ext>
              </a:extLst>
            </p:cNvPr>
            <p:cNvSpPr txBox="1"/>
            <p:nvPr/>
          </p:nvSpPr>
          <p:spPr>
            <a:xfrm>
              <a:off x="1691640" y="3538728"/>
              <a:ext cx="123444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</a:t>
              </a:r>
            </a:p>
          </p:txBody>
        </p:sp>
        <p:sp>
          <p:nvSpPr>
            <p:cNvPr id="261" name="Rectangle 63">
              <a:extLst>
                <a:ext uri="{FF2B5EF4-FFF2-40B4-BE49-F238E27FC236}">
                  <a16:creationId xmlns:a16="http://schemas.microsoft.com/office/drawing/2014/main" id="{762D23FB-ED97-85DE-F24B-91A4FC4E575B}"/>
                </a:ext>
              </a:extLst>
            </p:cNvPr>
            <p:cNvSpPr/>
            <p:nvPr/>
          </p:nvSpPr>
          <p:spPr>
            <a:xfrm>
              <a:off x="2971800" y="3538728"/>
              <a:ext cx="128016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518565F-5367-6075-F3D0-0891CDD59F00}"/>
                </a:ext>
              </a:extLst>
            </p:cNvPr>
            <p:cNvSpPr txBox="1"/>
            <p:nvPr/>
          </p:nvSpPr>
          <p:spPr>
            <a:xfrm>
              <a:off x="2971800" y="3538728"/>
              <a:ext cx="12801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M2</a:t>
              </a:r>
            </a:p>
          </p:txBody>
        </p:sp>
        <p:sp>
          <p:nvSpPr>
            <p:cNvPr id="263" name="Rectangle 65">
              <a:extLst>
                <a:ext uri="{FF2B5EF4-FFF2-40B4-BE49-F238E27FC236}">
                  <a16:creationId xmlns:a16="http://schemas.microsoft.com/office/drawing/2014/main" id="{C2765FF5-FB12-BB22-1150-4DEC8C0722BE}"/>
                </a:ext>
              </a:extLst>
            </p:cNvPr>
            <p:cNvSpPr/>
            <p:nvPr/>
          </p:nvSpPr>
          <p:spPr>
            <a:xfrm>
              <a:off x="4297680" y="3538728"/>
              <a:ext cx="114300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F1EBE1FC-227D-E118-DCB1-F5CF89C4C27D}"/>
                </a:ext>
              </a:extLst>
            </p:cNvPr>
            <p:cNvSpPr txBox="1"/>
            <p:nvPr/>
          </p:nvSpPr>
          <p:spPr>
            <a:xfrm>
              <a:off x="4297680" y="3538728"/>
              <a:ext cx="11430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Δ(M2-M1)</a:t>
              </a:r>
            </a:p>
          </p:txBody>
        </p:sp>
        <p:sp>
          <p:nvSpPr>
            <p:cNvPr id="265" name="Rectangle 67">
              <a:extLst>
                <a:ext uri="{FF2B5EF4-FFF2-40B4-BE49-F238E27FC236}">
                  <a16:creationId xmlns:a16="http://schemas.microsoft.com/office/drawing/2014/main" id="{749C43B0-9016-77BC-5A0E-C609E91B62A9}"/>
                </a:ext>
              </a:extLst>
            </p:cNvPr>
            <p:cNvSpPr/>
            <p:nvPr/>
          </p:nvSpPr>
          <p:spPr>
            <a:xfrm>
              <a:off x="411480" y="3813048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14C8D3F0-B053-7B82-5939-05C0BB1E1751}"/>
                </a:ext>
              </a:extLst>
            </p:cNvPr>
            <p:cNvSpPr txBox="1"/>
            <p:nvPr/>
          </p:nvSpPr>
          <p:spPr>
            <a:xfrm>
              <a:off x="411480" y="3813048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AUC-ROC</a:t>
              </a:r>
            </a:p>
          </p:txBody>
        </p:sp>
        <p:sp>
          <p:nvSpPr>
            <p:cNvPr id="267" name="Rectangle 69">
              <a:extLst>
                <a:ext uri="{FF2B5EF4-FFF2-40B4-BE49-F238E27FC236}">
                  <a16:creationId xmlns:a16="http://schemas.microsoft.com/office/drawing/2014/main" id="{15D35FCC-5A4C-8DD8-E2E2-2CF176AA14F4}"/>
                </a:ext>
              </a:extLst>
            </p:cNvPr>
            <p:cNvSpPr/>
            <p:nvPr/>
          </p:nvSpPr>
          <p:spPr>
            <a:xfrm>
              <a:off x="1691640" y="3813048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0D7F6450-63E7-2469-4E96-6BE68513AF6F}"/>
                </a:ext>
              </a:extLst>
            </p:cNvPr>
            <p:cNvSpPr txBox="1"/>
            <p:nvPr/>
          </p:nvSpPr>
          <p:spPr>
            <a:xfrm>
              <a:off x="1691640" y="3813048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 [0.720,0.872]</a:t>
              </a:r>
            </a:p>
          </p:txBody>
        </p:sp>
        <p:sp>
          <p:nvSpPr>
            <p:cNvPr id="269" name="Rectangle 71">
              <a:extLst>
                <a:ext uri="{FF2B5EF4-FFF2-40B4-BE49-F238E27FC236}">
                  <a16:creationId xmlns:a16="http://schemas.microsoft.com/office/drawing/2014/main" id="{07FE9298-1446-0133-38AF-A61E957916B5}"/>
                </a:ext>
              </a:extLst>
            </p:cNvPr>
            <p:cNvSpPr/>
            <p:nvPr/>
          </p:nvSpPr>
          <p:spPr>
            <a:xfrm>
              <a:off x="2971800" y="3813048"/>
              <a:ext cx="128016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DFC0EE7F-69C7-957A-6DA6-E8870BA6BEB4}"/>
                </a:ext>
              </a:extLst>
            </p:cNvPr>
            <p:cNvSpPr txBox="1"/>
            <p:nvPr/>
          </p:nvSpPr>
          <p:spPr>
            <a:xfrm>
              <a:off x="2971800" y="3813048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0.835 [0.753,0.899]</a:t>
              </a:r>
            </a:p>
          </p:txBody>
        </p:sp>
        <p:sp>
          <p:nvSpPr>
            <p:cNvPr id="271" name="Rectangle 73">
              <a:extLst>
                <a:ext uri="{FF2B5EF4-FFF2-40B4-BE49-F238E27FC236}">
                  <a16:creationId xmlns:a16="http://schemas.microsoft.com/office/drawing/2014/main" id="{432FBFA9-4F71-10A4-39CB-637F0B6274A1}"/>
                </a:ext>
              </a:extLst>
            </p:cNvPr>
            <p:cNvSpPr/>
            <p:nvPr/>
          </p:nvSpPr>
          <p:spPr>
            <a:xfrm>
              <a:off x="4297680" y="3813048"/>
              <a:ext cx="114300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995AF83A-0A0C-A185-370D-84E175F28AB8}"/>
                </a:ext>
              </a:extLst>
            </p:cNvPr>
            <p:cNvSpPr txBox="1"/>
            <p:nvPr/>
          </p:nvSpPr>
          <p:spPr>
            <a:xfrm>
              <a:off x="4297680" y="3813048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+0.032</a:t>
              </a:r>
            </a:p>
          </p:txBody>
        </p:sp>
        <p:sp>
          <p:nvSpPr>
            <p:cNvPr id="273" name="Rectangle 75">
              <a:extLst>
                <a:ext uri="{FF2B5EF4-FFF2-40B4-BE49-F238E27FC236}">
                  <a16:creationId xmlns:a16="http://schemas.microsoft.com/office/drawing/2014/main" id="{622A2C3F-AD0A-05C9-131E-91273C10A638}"/>
                </a:ext>
              </a:extLst>
            </p:cNvPr>
            <p:cNvSpPr/>
            <p:nvPr/>
          </p:nvSpPr>
          <p:spPr>
            <a:xfrm>
              <a:off x="411480" y="4114800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B8ED61E1-FFE6-3146-ACB6-9140022CEFF0}"/>
                </a:ext>
              </a:extLst>
            </p:cNvPr>
            <p:cNvSpPr txBox="1"/>
            <p:nvPr/>
          </p:nvSpPr>
          <p:spPr>
            <a:xfrm>
              <a:off x="411480" y="4114800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AUPRC</a:t>
              </a:r>
            </a:p>
          </p:txBody>
        </p:sp>
        <p:sp>
          <p:nvSpPr>
            <p:cNvPr id="275" name="Rectangle 77">
              <a:extLst>
                <a:ext uri="{FF2B5EF4-FFF2-40B4-BE49-F238E27FC236}">
                  <a16:creationId xmlns:a16="http://schemas.microsoft.com/office/drawing/2014/main" id="{AB7A63EE-492A-E9C1-DE6C-60473782A9EC}"/>
                </a:ext>
              </a:extLst>
            </p:cNvPr>
            <p:cNvSpPr/>
            <p:nvPr/>
          </p:nvSpPr>
          <p:spPr>
            <a:xfrm>
              <a:off x="1691640" y="4114800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EA9EB4BC-0D42-7C2A-3876-87A682AD8A35}"/>
                </a:ext>
              </a:extLst>
            </p:cNvPr>
            <p:cNvSpPr txBox="1"/>
            <p:nvPr/>
          </p:nvSpPr>
          <p:spPr>
            <a:xfrm>
              <a:off x="1691640" y="4114800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0.312 [0.181,0.496]</a:t>
              </a:r>
            </a:p>
          </p:txBody>
        </p:sp>
        <p:sp>
          <p:nvSpPr>
            <p:cNvPr id="277" name="Rectangle 79">
              <a:extLst>
                <a:ext uri="{FF2B5EF4-FFF2-40B4-BE49-F238E27FC236}">
                  <a16:creationId xmlns:a16="http://schemas.microsoft.com/office/drawing/2014/main" id="{7011D0FF-21A4-6088-1E5B-F49F697571B5}"/>
                </a:ext>
              </a:extLst>
            </p:cNvPr>
            <p:cNvSpPr/>
            <p:nvPr/>
          </p:nvSpPr>
          <p:spPr>
            <a:xfrm>
              <a:off x="2971800" y="4114800"/>
              <a:ext cx="128016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1B6769D2-8868-0858-6D1B-80637EED53D4}"/>
                </a:ext>
              </a:extLst>
            </p:cNvPr>
            <p:cNvSpPr txBox="1"/>
            <p:nvPr/>
          </p:nvSpPr>
          <p:spPr>
            <a:xfrm>
              <a:off x="2971800" y="4114800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0.330 [0.202,0.508]</a:t>
              </a:r>
            </a:p>
          </p:txBody>
        </p:sp>
        <p:sp>
          <p:nvSpPr>
            <p:cNvPr id="279" name="Rectangle 81">
              <a:extLst>
                <a:ext uri="{FF2B5EF4-FFF2-40B4-BE49-F238E27FC236}">
                  <a16:creationId xmlns:a16="http://schemas.microsoft.com/office/drawing/2014/main" id="{B4B46BDC-F532-F865-791F-E7EA07A714C4}"/>
                </a:ext>
              </a:extLst>
            </p:cNvPr>
            <p:cNvSpPr/>
            <p:nvPr/>
          </p:nvSpPr>
          <p:spPr>
            <a:xfrm>
              <a:off x="4297680" y="4114800"/>
              <a:ext cx="114300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4D84CD01-C2B8-D4EF-97C9-FA95D82230A8}"/>
                </a:ext>
              </a:extLst>
            </p:cNvPr>
            <p:cNvSpPr txBox="1"/>
            <p:nvPr/>
          </p:nvSpPr>
          <p:spPr>
            <a:xfrm>
              <a:off x="4297680" y="4114800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+0.018</a:t>
              </a:r>
            </a:p>
          </p:txBody>
        </p:sp>
        <p:sp>
          <p:nvSpPr>
            <p:cNvPr id="281" name="Rectangle 83">
              <a:extLst>
                <a:ext uri="{FF2B5EF4-FFF2-40B4-BE49-F238E27FC236}">
                  <a16:creationId xmlns:a16="http://schemas.microsoft.com/office/drawing/2014/main" id="{418F40E9-8020-F8DF-9929-68F2C1E85577}"/>
                </a:ext>
              </a:extLst>
            </p:cNvPr>
            <p:cNvSpPr/>
            <p:nvPr/>
          </p:nvSpPr>
          <p:spPr>
            <a:xfrm>
              <a:off x="411480" y="4416552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EA150ABA-10DF-1A0F-3D8D-AB27B675E22F}"/>
                </a:ext>
              </a:extLst>
            </p:cNvPr>
            <p:cNvSpPr txBox="1"/>
            <p:nvPr/>
          </p:nvSpPr>
          <p:spPr>
            <a:xfrm>
              <a:off x="411480" y="4416552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Brier</a:t>
              </a:r>
            </a:p>
          </p:txBody>
        </p:sp>
        <p:sp>
          <p:nvSpPr>
            <p:cNvPr id="283" name="Rectangle 85">
              <a:extLst>
                <a:ext uri="{FF2B5EF4-FFF2-40B4-BE49-F238E27FC236}">
                  <a16:creationId xmlns:a16="http://schemas.microsoft.com/office/drawing/2014/main" id="{B32D0AF7-4FBE-88BC-0668-27A0AB09A672}"/>
                </a:ext>
              </a:extLst>
            </p:cNvPr>
            <p:cNvSpPr/>
            <p:nvPr/>
          </p:nvSpPr>
          <p:spPr>
            <a:xfrm>
              <a:off x="1691640" y="4416552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9ABED9A6-1C25-CB9B-531D-2A32B409C661}"/>
                </a:ext>
              </a:extLst>
            </p:cNvPr>
            <p:cNvSpPr txBox="1"/>
            <p:nvPr/>
          </p:nvSpPr>
          <p:spPr>
            <a:xfrm>
              <a:off x="1691640" y="4416552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0.191 [0.165,0.218]</a:t>
              </a:r>
            </a:p>
          </p:txBody>
        </p:sp>
        <p:sp>
          <p:nvSpPr>
            <p:cNvPr id="285" name="Rectangle 87">
              <a:extLst>
                <a:ext uri="{FF2B5EF4-FFF2-40B4-BE49-F238E27FC236}">
                  <a16:creationId xmlns:a16="http://schemas.microsoft.com/office/drawing/2014/main" id="{374990A2-B6D0-7F19-D2E8-AB5626CB5280}"/>
                </a:ext>
              </a:extLst>
            </p:cNvPr>
            <p:cNvSpPr/>
            <p:nvPr/>
          </p:nvSpPr>
          <p:spPr>
            <a:xfrm>
              <a:off x="2971800" y="4416552"/>
              <a:ext cx="128016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11C89070-E5CE-F862-866F-178E79179B1A}"/>
                </a:ext>
              </a:extLst>
            </p:cNvPr>
            <p:cNvSpPr txBox="1"/>
            <p:nvPr/>
          </p:nvSpPr>
          <p:spPr>
            <a:xfrm>
              <a:off x="2971800" y="4416552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0.191 [0.162,0.220]</a:t>
              </a:r>
            </a:p>
          </p:txBody>
        </p:sp>
        <p:sp>
          <p:nvSpPr>
            <p:cNvPr id="287" name="Rectangle 89">
              <a:extLst>
                <a:ext uri="{FF2B5EF4-FFF2-40B4-BE49-F238E27FC236}">
                  <a16:creationId xmlns:a16="http://schemas.microsoft.com/office/drawing/2014/main" id="{5552A51E-24E0-4A02-B9F0-71BA7E1C91D7}"/>
                </a:ext>
              </a:extLst>
            </p:cNvPr>
            <p:cNvSpPr/>
            <p:nvPr/>
          </p:nvSpPr>
          <p:spPr>
            <a:xfrm>
              <a:off x="4297680" y="4416552"/>
              <a:ext cx="114300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201FA3AC-F525-28AC-18D7-8D8FF41414BA}"/>
                </a:ext>
              </a:extLst>
            </p:cNvPr>
            <p:cNvSpPr txBox="1"/>
            <p:nvPr/>
          </p:nvSpPr>
          <p:spPr>
            <a:xfrm>
              <a:off x="4297680" y="4416552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 0.000</a:t>
              </a:r>
            </a:p>
          </p:txBody>
        </p:sp>
        <p:sp>
          <p:nvSpPr>
            <p:cNvPr id="289" name="Rectangle 91">
              <a:extLst>
                <a:ext uri="{FF2B5EF4-FFF2-40B4-BE49-F238E27FC236}">
                  <a16:creationId xmlns:a16="http://schemas.microsoft.com/office/drawing/2014/main" id="{6CA80B9A-A0D5-1803-648E-4616935975C0}"/>
                </a:ext>
              </a:extLst>
            </p:cNvPr>
            <p:cNvSpPr/>
            <p:nvPr/>
          </p:nvSpPr>
          <p:spPr>
            <a:xfrm>
              <a:off x="411480" y="4718304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4DF82BE7-EDDB-EE1B-BA6F-0D96CB21A43E}"/>
                </a:ext>
              </a:extLst>
            </p:cNvPr>
            <p:cNvSpPr txBox="1"/>
            <p:nvPr/>
          </p:nvSpPr>
          <p:spPr>
            <a:xfrm>
              <a:off x="411480" y="4718304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F1</a:t>
              </a:r>
            </a:p>
          </p:txBody>
        </p:sp>
        <p:sp>
          <p:nvSpPr>
            <p:cNvPr id="291" name="Rectangle 93">
              <a:extLst>
                <a:ext uri="{FF2B5EF4-FFF2-40B4-BE49-F238E27FC236}">
                  <a16:creationId xmlns:a16="http://schemas.microsoft.com/office/drawing/2014/main" id="{04667975-0E5B-33A8-C6EB-C449CB1DC83E}"/>
                </a:ext>
              </a:extLst>
            </p:cNvPr>
            <p:cNvSpPr/>
            <p:nvPr/>
          </p:nvSpPr>
          <p:spPr>
            <a:xfrm>
              <a:off x="1691640" y="4718304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C311BC01-8C5E-D50C-4F98-87AEAE460961}"/>
                </a:ext>
              </a:extLst>
            </p:cNvPr>
            <p:cNvSpPr txBox="1"/>
            <p:nvPr/>
          </p:nvSpPr>
          <p:spPr>
            <a:xfrm>
              <a:off x="1691640" y="4718304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0.373 [0.250,0.488]</a:t>
              </a:r>
            </a:p>
          </p:txBody>
        </p:sp>
        <p:sp>
          <p:nvSpPr>
            <p:cNvPr id="293" name="Rectangle 95">
              <a:extLst>
                <a:ext uri="{FF2B5EF4-FFF2-40B4-BE49-F238E27FC236}">
                  <a16:creationId xmlns:a16="http://schemas.microsoft.com/office/drawing/2014/main" id="{E69B9A89-BC7A-8F07-7E16-CA2000CF95C9}"/>
                </a:ext>
              </a:extLst>
            </p:cNvPr>
            <p:cNvSpPr/>
            <p:nvPr/>
          </p:nvSpPr>
          <p:spPr>
            <a:xfrm>
              <a:off x="2971800" y="4718304"/>
              <a:ext cx="128016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6D150A46-AFFD-1A11-8516-00102DCB5598}"/>
                </a:ext>
              </a:extLst>
            </p:cNvPr>
            <p:cNvSpPr txBox="1"/>
            <p:nvPr/>
          </p:nvSpPr>
          <p:spPr>
            <a:xfrm>
              <a:off x="2971800" y="4718304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0.359 [0.250,0.465]</a:t>
              </a:r>
            </a:p>
          </p:txBody>
        </p:sp>
        <p:sp>
          <p:nvSpPr>
            <p:cNvPr id="295" name="Rectangle 97">
              <a:extLst>
                <a:ext uri="{FF2B5EF4-FFF2-40B4-BE49-F238E27FC236}">
                  <a16:creationId xmlns:a16="http://schemas.microsoft.com/office/drawing/2014/main" id="{574A4F62-D52A-210D-FC07-375409676BDE}"/>
                </a:ext>
              </a:extLst>
            </p:cNvPr>
            <p:cNvSpPr/>
            <p:nvPr/>
          </p:nvSpPr>
          <p:spPr>
            <a:xfrm>
              <a:off x="4297680" y="4718304"/>
              <a:ext cx="114300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29031BCC-1715-77E8-B8D9-DD932FD5EA42}"/>
                </a:ext>
              </a:extLst>
            </p:cNvPr>
            <p:cNvSpPr txBox="1"/>
            <p:nvPr/>
          </p:nvSpPr>
          <p:spPr>
            <a:xfrm>
              <a:off x="4297680" y="4718304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−0.013</a:t>
              </a:r>
            </a:p>
          </p:txBody>
        </p:sp>
      </p:grpSp>
      <p:pic>
        <p:nvPicPr>
          <p:cNvPr id="298" name="Picture 100" descr="roc_all_models_norm.png">
            <a:extLst>
              <a:ext uri="{FF2B5EF4-FFF2-40B4-BE49-F238E27FC236}">
                <a16:creationId xmlns:a16="http://schemas.microsoft.com/office/drawing/2014/main" id="{4AA19816-1430-FF4D-E59F-88F0120D8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60" y="1975170"/>
            <a:ext cx="6035040" cy="426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7337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74844-97C8-977F-E6BF-C1CB699D4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2F673A-DFA6-7BA8-F689-89F7035D6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6DF6F6-DDFF-913F-0597-EA9F88A94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84D6DB4-26C0-C412-A838-4D327E28BF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(Clinic) vs Model 3 (Clinic + AEC + Scanner) </a:t>
            </a:r>
            <a:r>
              <a:rPr lang="ko-KR" altLang="en-US" dirty="0"/>
              <a:t>비교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83580486-1EC9-7676-1DC8-EC6428F6E2DE}"/>
              </a:ext>
            </a:extLst>
          </p:cNvPr>
          <p:cNvSpPr/>
          <p:nvPr/>
        </p:nvSpPr>
        <p:spPr>
          <a:xfrm>
            <a:off x="361405" y="1698171"/>
            <a:ext cx="5486400" cy="4262361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F901EE-7518-54FA-4164-93C15C4184E3}"/>
              </a:ext>
            </a:extLst>
          </p:cNvPr>
          <p:cNvSpPr txBox="1"/>
          <p:nvPr/>
        </p:nvSpPr>
        <p:spPr>
          <a:xfrm>
            <a:off x="544285" y="1771323"/>
            <a:ext cx="383496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rgbClr val="1A1A2E"/>
                </a:solidFill>
                <a:latin typeface="맑은 고딕"/>
              </a:rPr>
              <a:t>DeLong Test — M1(LR) vs M</a:t>
            </a:r>
            <a:r>
              <a:rPr lang="en-US" sz="1400" b="1" i="0" dirty="0">
                <a:solidFill>
                  <a:srgbClr val="1A1A2E"/>
                </a:solidFill>
                <a:latin typeface="맑은 고딕"/>
              </a:rPr>
              <a:t>3</a:t>
            </a:r>
            <a:r>
              <a:rPr sz="1400" b="1" i="0" dirty="0">
                <a:solidFill>
                  <a:srgbClr val="1A1A2E"/>
                </a:solidFill>
                <a:latin typeface="맑은 고딕"/>
              </a:rPr>
              <a:t>(</a:t>
            </a:r>
            <a:r>
              <a:rPr sz="1400" b="1" i="0" dirty="0" err="1">
                <a:solidFill>
                  <a:srgbClr val="1A1A2E"/>
                </a:solidFill>
                <a:latin typeface="맑은 고딕"/>
              </a:rPr>
              <a:t>CrossAttn</a:t>
            </a:r>
            <a:r>
              <a:rPr sz="1400" b="1" i="0" dirty="0">
                <a:solidFill>
                  <a:srgbClr val="1A1A2E"/>
                </a:solidFill>
                <a:latin typeface="맑은 고딕"/>
              </a:rPr>
              <a:t>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9E30BA-5AD1-88CC-E121-017E377DFD8C}"/>
              </a:ext>
            </a:extLst>
          </p:cNvPr>
          <p:cNvSpPr txBox="1"/>
          <p:nvPr/>
        </p:nvSpPr>
        <p:spPr>
          <a:xfrm>
            <a:off x="544285" y="4086204"/>
            <a:ext cx="25879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 dirty="0">
                <a:solidFill>
                  <a:srgbClr val="1A1A2E"/>
                </a:solidFill>
                <a:latin typeface="맑은 고딕"/>
              </a:rPr>
              <a:t>Bootstrap 95% CI — norm </a:t>
            </a:r>
            <a:r>
              <a:rPr sz="1200" b="1" i="0" dirty="0" err="1">
                <a:solidFill>
                  <a:srgbClr val="1A1A2E"/>
                </a:solidFill>
                <a:latin typeface="맑은 고딕"/>
              </a:rPr>
              <a:t>기준</a:t>
            </a:r>
            <a:endParaRPr sz="1200" b="1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162" name="Rectangle 6">
            <a:extLst>
              <a:ext uri="{FF2B5EF4-FFF2-40B4-BE49-F238E27FC236}">
                <a16:creationId xmlns:a16="http://schemas.microsoft.com/office/drawing/2014/main" id="{905890AF-CB0A-0FF3-335A-5EB5D054A3BA}"/>
              </a:ext>
            </a:extLst>
          </p:cNvPr>
          <p:cNvSpPr/>
          <p:nvPr/>
        </p:nvSpPr>
        <p:spPr>
          <a:xfrm>
            <a:off x="544285" y="2079100"/>
            <a:ext cx="5120640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Rectangle 58">
            <a:extLst>
              <a:ext uri="{FF2B5EF4-FFF2-40B4-BE49-F238E27FC236}">
                <a16:creationId xmlns:a16="http://schemas.microsoft.com/office/drawing/2014/main" id="{A82D6439-3A4A-1465-79BF-9ECFDA862A25}"/>
              </a:ext>
            </a:extLst>
          </p:cNvPr>
          <p:cNvSpPr/>
          <p:nvPr/>
        </p:nvSpPr>
        <p:spPr>
          <a:xfrm>
            <a:off x="508000" y="4330261"/>
            <a:ext cx="5120640" cy="2743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78543D48-8899-9DF8-0691-505C75418286}"/>
              </a:ext>
            </a:extLst>
          </p:cNvPr>
          <p:cNvGrpSpPr/>
          <p:nvPr/>
        </p:nvGrpSpPr>
        <p:grpSpPr>
          <a:xfrm>
            <a:off x="545947" y="2139426"/>
            <a:ext cx="5118978" cy="1755648"/>
            <a:chOff x="411480" y="1344168"/>
            <a:chExt cx="5212080" cy="1755648"/>
          </a:xfrm>
        </p:grpSpPr>
        <p:sp>
          <p:nvSpPr>
            <p:cNvPr id="3" name="Rectangle 7">
              <a:extLst>
                <a:ext uri="{FF2B5EF4-FFF2-40B4-BE49-F238E27FC236}">
                  <a16:creationId xmlns:a16="http://schemas.microsoft.com/office/drawing/2014/main" id="{6A5F0FD8-4472-730F-0CF1-98D4159FD8AC}"/>
                </a:ext>
              </a:extLst>
            </p:cNvPr>
            <p:cNvSpPr/>
            <p:nvPr/>
          </p:nvSpPr>
          <p:spPr>
            <a:xfrm>
              <a:off x="411480" y="1344168"/>
              <a:ext cx="14173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C0213E-1FA5-EAAB-7991-AD4554C1CADB}"/>
                </a:ext>
              </a:extLst>
            </p:cNvPr>
            <p:cNvSpPr txBox="1"/>
            <p:nvPr/>
          </p:nvSpPr>
          <p:spPr>
            <a:xfrm>
              <a:off x="411480" y="1344168"/>
              <a:ext cx="14173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시나리오</a:t>
              </a: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68D1698F-4753-1D8E-3966-DD074A0CB135}"/>
                </a:ext>
              </a:extLst>
            </p:cNvPr>
            <p:cNvSpPr/>
            <p:nvPr/>
          </p:nvSpPr>
          <p:spPr>
            <a:xfrm>
              <a:off x="1874519" y="1344168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4C4EE9-6E65-83D1-5723-5125925EC25C}"/>
                </a:ext>
              </a:extLst>
            </p:cNvPr>
            <p:cNvSpPr txBox="1"/>
            <p:nvPr/>
          </p:nvSpPr>
          <p:spPr>
            <a:xfrm>
              <a:off x="1874519" y="1344168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 AUC</a:t>
              </a:r>
            </a:p>
          </p:txBody>
        </p:sp>
        <p:sp>
          <p:nvSpPr>
            <p:cNvPr id="11" name="Rectangle 11">
              <a:extLst>
                <a:ext uri="{FF2B5EF4-FFF2-40B4-BE49-F238E27FC236}">
                  <a16:creationId xmlns:a16="http://schemas.microsoft.com/office/drawing/2014/main" id="{DD8AAE1F-B1B4-DAB1-7F75-056A6289AFC9}"/>
                </a:ext>
              </a:extLst>
            </p:cNvPr>
            <p:cNvSpPr/>
            <p:nvPr/>
          </p:nvSpPr>
          <p:spPr>
            <a:xfrm>
              <a:off x="2834640" y="1344168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82A106-3BF7-0658-896F-1DDF8F48980E}"/>
                </a:ext>
              </a:extLst>
            </p:cNvPr>
            <p:cNvSpPr txBox="1"/>
            <p:nvPr/>
          </p:nvSpPr>
          <p:spPr>
            <a:xfrm>
              <a:off x="2834640" y="1344168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M3 AUC</a:t>
              </a:r>
            </a:p>
          </p:txBody>
        </p:sp>
        <p:sp>
          <p:nvSpPr>
            <p:cNvPr id="13" name="Rectangle 13">
              <a:extLst>
                <a:ext uri="{FF2B5EF4-FFF2-40B4-BE49-F238E27FC236}">
                  <a16:creationId xmlns:a16="http://schemas.microsoft.com/office/drawing/2014/main" id="{CA238EF0-2DE9-C268-972E-1BB1449DD7F0}"/>
                </a:ext>
              </a:extLst>
            </p:cNvPr>
            <p:cNvSpPr/>
            <p:nvPr/>
          </p:nvSpPr>
          <p:spPr>
            <a:xfrm>
              <a:off x="3794760" y="1344168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02EEA7B-9AC5-830C-8747-4A3BEDF386A7}"/>
                </a:ext>
              </a:extLst>
            </p:cNvPr>
            <p:cNvSpPr txBox="1"/>
            <p:nvPr/>
          </p:nvSpPr>
          <p:spPr>
            <a:xfrm>
              <a:off x="3794760" y="1344168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 AUC</a:t>
              </a:r>
            </a:p>
          </p:txBody>
        </p:sp>
        <p:sp>
          <p:nvSpPr>
            <p:cNvPr id="15" name="Rectangle 15">
              <a:extLst>
                <a:ext uri="{FF2B5EF4-FFF2-40B4-BE49-F238E27FC236}">
                  <a16:creationId xmlns:a16="http://schemas.microsoft.com/office/drawing/2014/main" id="{07A6F1A1-6B85-427D-6139-6870FC9DC852}"/>
                </a:ext>
              </a:extLst>
            </p:cNvPr>
            <p:cNvSpPr/>
            <p:nvPr/>
          </p:nvSpPr>
          <p:spPr>
            <a:xfrm>
              <a:off x="4754880" y="1344168"/>
              <a:ext cx="8686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472F65E-25A9-105D-D7FA-EFDE502629C5}"/>
                </a:ext>
              </a:extLst>
            </p:cNvPr>
            <p:cNvSpPr txBox="1"/>
            <p:nvPr/>
          </p:nvSpPr>
          <p:spPr>
            <a:xfrm>
              <a:off x="4754880" y="1344168"/>
              <a:ext cx="8686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p-val</a:t>
              </a:r>
            </a:p>
          </p:txBody>
        </p:sp>
        <p:sp>
          <p:nvSpPr>
            <p:cNvPr id="17" name="Rectangle 17">
              <a:extLst>
                <a:ext uri="{FF2B5EF4-FFF2-40B4-BE49-F238E27FC236}">
                  <a16:creationId xmlns:a16="http://schemas.microsoft.com/office/drawing/2014/main" id="{96A8CEB9-CF1C-20BD-1A7B-7C916EA6E070}"/>
                </a:ext>
              </a:extLst>
            </p:cNvPr>
            <p:cNvSpPr/>
            <p:nvPr/>
          </p:nvSpPr>
          <p:spPr>
            <a:xfrm>
              <a:off x="411480" y="1636776"/>
              <a:ext cx="14173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DC3B6BF-1311-3297-3EA4-BFCFD903184C}"/>
                </a:ext>
              </a:extLst>
            </p:cNvPr>
            <p:cNvSpPr txBox="1"/>
            <p:nvPr/>
          </p:nvSpPr>
          <p:spPr>
            <a:xfrm>
              <a:off x="411480" y="1636776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norm</a:t>
              </a:r>
            </a:p>
          </p:txBody>
        </p:sp>
        <p:sp>
          <p:nvSpPr>
            <p:cNvPr id="19" name="Rectangle 19">
              <a:extLst>
                <a:ext uri="{FF2B5EF4-FFF2-40B4-BE49-F238E27FC236}">
                  <a16:creationId xmlns:a16="http://schemas.microsoft.com/office/drawing/2014/main" id="{0485A894-6E0B-FA64-4812-C4F993F42681}"/>
                </a:ext>
              </a:extLst>
            </p:cNvPr>
            <p:cNvSpPr/>
            <p:nvPr/>
          </p:nvSpPr>
          <p:spPr>
            <a:xfrm>
              <a:off x="1874519" y="1636776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497B945-7318-D4BA-461B-767CC6DF0DA1}"/>
                </a:ext>
              </a:extLst>
            </p:cNvPr>
            <p:cNvSpPr txBox="1"/>
            <p:nvPr/>
          </p:nvSpPr>
          <p:spPr>
            <a:xfrm>
              <a:off x="1874519" y="163677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0.8030</a:t>
              </a:r>
            </a:p>
          </p:txBody>
        </p:sp>
        <p:sp>
          <p:nvSpPr>
            <p:cNvPr id="21" name="Rectangle 21">
              <a:extLst>
                <a:ext uri="{FF2B5EF4-FFF2-40B4-BE49-F238E27FC236}">
                  <a16:creationId xmlns:a16="http://schemas.microsoft.com/office/drawing/2014/main" id="{765A3FBD-1354-7BF5-08BE-365CA41A3258}"/>
                </a:ext>
              </a:extLst>
            </p:cNvPr>
            <p:cNvSpPr/>
            <p:nvPr/>
          </p:nvSpPr>
          <p:spPr>
            <a:xfrm>
              <a:off x="2834640" y="1636776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1A488C1-A55A-8EF4-7C86-9ED0AE38FD89}"/>
                </a:ext>
              </a:extLst>
            </p:cNvPr>
            <p:cNvSpPr txBox="1"/>
            <p:nvPr/>
          </p:nvSpPr>
          <p:spPr>
            <a:xfrm>
              <a:off x="2834640" y="163677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E87400"/>
                  </a:solidFill>
                  <a:latin typeface="맑은 고딕"/>
                </a:rPr>
                <a:t>0.8309</a:t>
              </a:r>
            </a:p>
          </p:txBody>
        </p:sp>
        <p:sp>
          <p:nvSpPr>
            <p:cNvPr id="23" name="Rectangle 23">
              <a:extLst>
                <a:ext uri="{FF2B5EF4-FFF2-40B4-BE49-F238E27FC236}">
                  <a16:creationId xmlns:a16="http://schemas.microsoft.com/office/drawing/2014/main" id="{18294DED-F436-0858-B1A0-7FE35FE4EB8D}"/>
                </a:ext>
              </a:extLst>
            </p:cNvPr>
            <p:cNvSpPr/>
            <p:nvPr/>
          </p:nvSpPr>
          <p:spPr>
            <a:xfrm>
              <a:off x="3794760" y="1636776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E975634-32D2-7F67-1457-835AE2983A2F}"/>
                </a:ext>
              </a:extLst>
            </p:cNvPr>
            <p:cNvSpPr txBox="1"/>
            <p:nvPr/>
          </p:nvSpPr>
          <p:spPr>
            <a:xfrm>
              <a:off x="3794760" y="163677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+0.028</a:t>
              </a:r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F6B7417A-2AE7-BDF3-06C8-F209AF5A27E5}"/>
                </a:ext>
              </a:extLst>
            </p:cNvPr>
            <p:cNvSpPr/>
            <p:nvPr/>
          </p:nvSpPr>
          <p:spPr>
            <a:xfrm>
              <a:off x="4754880" y="1636776"/>
              <a:ext cx="8686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E4BDC52-E24E-AA68-46CD-D3358A6FAC8A}"/>
                </a:ext>
              </a:extLst>
            </p:cNvPr>
            <p:cNvSpPr txBox="1"/>
            <p:nvPr/>
          </p:nvSpPr>
          <p:spPr>
            <a:xfrm>
              <a:off x="4754880" y="1636776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p=0.252 ns</a:t>
              </a:r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E76A2819-D1A9-AA3B-7C46-D5D5D8568923}"/>
                </a:ext>
              </a:extLst>
            </p:cNvPr>
            <p:cNvSpPr/>
            <p:nvPr/>
          </p:nvSpPr>
          <p:spPr>
            <a:xfrm>
              <a:off x="411480" y="2002536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550B808-F86F-D859-B375-D0C2FB59E106}"/>
                </a:ext>
              </a:extLst>
            </p:cNvPr>
            <p:cNvSpPr txBox="1"/>
            <p:nvPr/>
          </p:nvSpPr>
          <p:spPr>
            <a:xfrm>
              <a:off x="411480" y="2002536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len128</a:t>
              </a:r>
            </a:p>
          </p:txBody>
        </p:sp>
        <p:sp>
          <p:nvSpPr>
            <p:cNvPr id="29" name="Rectangle 29">
              <a:extLst>
                <a:ext uri="{FF2B5EF4-FFF2-40B4-BE49-F238E27FC236}">
                  <a16:creationId xmlns:a16="http://schemas.microsoft.com/office/drawing/2014/main" id="{3D799803-6164-6EF7-AB00-63BD9219D0B5}"/>
                </a:ext>
              </a:extLst>
            </p:cNvPr>
            <p:cNvSpPr/>
            <p:nvPr/>
          </p:nvSpPr>
          <p:spPr>
            <a:xfrm>
              <a:off x="1874519" y="2002536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F7FDDA6-B607-C398-FCD6-59C5F325F151}"/>
                </a:ext>
              </a:extLst>
            </p:cNvPr>
            <p:cNvSpPr txBox="1"/>
            <p:nvPr/>
          </p:nvSpPr>
          <p:spPr>
            <a:xfrm>
              <a:off x="1874519" y="200253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0.8030</a:t>
              </a:r>
            </a:p>
          </p:txBody>
        </p:sp>
        <p:sp>
          <p:nvSpPr>
            <p:cNvPr id="31" name="Rectangle 31">
              <a:extLst>
                <a:ext uri="{FF2B5EF4-FFF2-40B4-BE49-F238E27FC236}">
                  <a16:creationId xmlns:a16="http://schemas.microsoft.com/office/drawing/2014/main" id="{061C6027-DBC4-F5EF-34B5-CEF1B225BA5B}"/>
                </a:ext>
              </a:extLst>
            </p:cNvPr>
            <p:cNvSpPr/>
            <p:nvPr/>
          </p:nvSpPr>
          <p:spPr>
            <a:xfrm>
              <a:off x="2834640" y="2002536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0830C9F-BDDE-2928-428E-6F70061D3435}"/>
                </a:ext>
              </a:extLst>
            </p:cNvPr>
            <p:cNvSpPr txBox="1"/>
            <p:nvPr/>
          </p:nvSpPr>
          <p:spPr>
            <a:xfrm>
              <a:off x="2834640" y="200253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E87400"/>
                  </a:solidFill>
                  <a:latin typeface="맑은 고딕"/>
                </a:rPr>
                <a:t>0.8047</a:t>
              </a:r>
            </a:p>
          </p:txBody>
        </p:sp>
        <p:sp>
          <p:nvSpPr>
            <p:cNvPr id="33" name="Rectangle 33">
              <a:extLst>
                <a:ext uri="{FF2B5EF4-FFF2-40B4-BE49-F238E27FC236}">
                  <a16:creationId xmlns:a16="http://schemas.microsoft.com/office/drawing/2014/main" id="{E660E05F-2BC2-FC0D-4FA1-9C3DC427F875}"/>
                </a:ext>
              </a:extLst>
            </p:cNvPr>
            <p:cNvSpPr/>
            <p:nvPr/>
          </p:nvSpPr>
          <p:spPr>
            <a:xfrm>
              <a:off x="3794760" y="2002536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D0B11ED-9401-373B-59E0-0310CE4F0FD4}"/>
                </a:ext>
              </a:extLst>
            </p:cNvPr>
            <p:cNvSpPr txBox="1"/>
            <p:nvPr/>
          </p:nvSpPr>
          <p:spPr>
            <a:xfrm>
              <a:off x="3794760" y="200253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+0.002</a:t>
              </a:r>
            </a:p>
          </p:txBody>
        </p:sp>
        <p:sp>
          <p:nvSpPr>
            <p:cNvPr id="35" name="Rectangle 35">
              <a:extLst>
                <a:ext uri="{FF2B5EF4-FFF2-40B4-BE49-F238E27FC236}">
                  <a16:creationId xmlns:a16="http://schemas.microsoft.com/office/drawing/2014/main" id="{1C3D6F92-9599-285D-758F-8CAAF938C795}"/>
                </a:ext>
              </a:extLst>
            </p:cNvPr>
            <p:cNvSpPr/>
            <p:nvPr/>
          </p:nvSpPr>
          <p:spPr>
            <a:xfrm>
              <a:off x="4754880" y="2002536"/>
              <a:ext cx="8686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0569C32-1118-205F-0114-A860F701A9CB}"/>
                </a:ext>
              </a:extLst>
            </p:cNvPr>
            <p:cNvSpPr txBox="1"/>
            <p:nvPr/>
          </p:nvSpPr>
          <p:spPr>
            <a:xfrm>
              <a:off x="4754880" y="2002536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p=0.960 ns</a:t>
              </a:r>
            </a:p>
          </p:txBody>
        </p:sp>
        <p:sp>
          <p:nvSpPr>
            <p:cNvPr id="37" name="Rectangle 37">
              <a:extLst>
                <a:ext uri="{FF2B5EF4-FFF2-40B4-BE49-F238E27FC236}">
                  <a16:creationId xmlns:a16="http://schemas.microsoft.com/office/drawing/2014/main" id="{0FBC70FA-1D2E-81A3-F8B5-AC8D2E35D7FB}"/>
                </a:ext>
              </a:extLst>
            </p:cNvPr>
            <p:cNvSpPr/>
            <p:nvPr/>
          </p:nvSpPr>
          <p:spPr>
            <a:xfrm>
              <a:off x="411480" y="2368296"/>
              <a:ext cx="14173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1FBD4E3-9951-CD9A-29E6-D6C6796F0BBB}"/>
                </a:ext>
              </a:extLst>
            </p:cNvPr>
            <p:cNvSpPr txBox="1"/>
            <p:nvPr/>
          </p:nvSpPr>
          <p:spPr>
            <a:xfrm>
              <a:off x="411480" y="2368296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crop80</a:t>
              </a:r>
            </a:p>
          </p:txBody>
        </p:sp>
        <p:sp>
          <p:nvSpPr>
            <p:cNvPr id="39" name="Rectangle 39">
              <a:extLst>
                <a:ext uri="{FF2B5EF4-FFF2-40B4-BE49-F238E27FC236}">
                  <a16:creationId xmlns:a16="http://schemas.microsoft.com/office/drawing/2014/main" id="{EBA1C534-D2FA-9FA5-F6AA-EC3E57131127}"/>
                </a:ext>
              </a:extLst>
            </p:cNvPr>
            <p:cNvSpPr/>
            <p:nvPr/>
          </p:nvSpPr>
          <p:spPr>
            <a:xfrm>
              <a:off x="1874519" y="2368296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5D22278-D4A3-ACC6-DDA4-229E9E1F1EA2}"/>
                </a:ext>
              </a:extLst>
            </p:cNvPr>
            <p:cNvSpPr txBox="1"/>
            <p:nvPr/>
          </p:nvSpPr>
          <p:spPr>
            <a:xfrm>
              <a:off x="1874519" y="236829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0.8030</a:t>
              </a:r>
            </a:p>
          </p:txBody>
        </p:sp>
        <p:sp>
          <p:nvSpPr>
            <p:cNvPr id="41" name="Rectangle 41">
              <a:extLst>
                <a:ext uri="{FF2B5EF4-FFF2-40B4-BE49-F238E27FC236}">
                  <a16:creationId xmlns:a16="http://schemas.microsoft.com/office/drawing/2014/main" id="{B924B825-6AC7-8666-A19C-965A0BD588E8}"/>
                </a:ext>
              </a:extLst>
            </p:cNvPr>
            <p:cNvSpPr/>
            <p:nvPr/>
          </p:nvSpPr>
          <p:spPr>
            <a:xfrm>
              <a:off x="2834640" y="2368296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31B6EEA-A9D6-3E6F-8958-06333FB0A0B1}"/>
                </a:ext>
              </a:extLst>
            </p:cNvPr>
            <p:cNvSpPr txBox="1"/>
            <p:nvPr/>
          </p:nvSpPr>
          <p:spPr>
            <a:xfrm>
              <a:off x="2834640" y="236829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E87400"/>
                  </a:solidFill>
                  <a:latin typeface="맑은 고딕"/>
                </a:rPr>
                <a:t>0.8010</a:t>
              </a:r>
            </a:p>
          </p:txBody>
        </p:sp>
        <p:sp>
          <p:nvSpPr>
            <p:cNvPr id="43" name="Rectangle 43">
              <a:extLst>
                <a:ext uri="{FF2B5EF4-FFF2-40B4-BE49-F238E27FC236}">
                  <a16:creationId xmlns:a16="http://schemas.microsoft.com/office/drawing/2014/main" id="{C0B54D2D-1981-A4D2-3463-5C0D13DB6686}"/>
                </a:ext>
              </a:extLst>
            </p:cNvPr>
            <p:cNvSpPr/>
            <p:nvPr/>
          </p:nvSpPr>
          <p:spPr>
            <a:xfrm>
              <a:off x="3794760" y="2368296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F01BD8-82C8-7B2B-294A-A213979586D6}"/>
                </a:ext>
              </a:extLst>
            </p:cNvPr>
            <p:cNvSpPr txBox="1"/>
            <p:nvPr/>
          </p:nvSpPr>
          <p:spPr>
            <a:xfrm>
              <a:off x="3794760" y="236829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−0.002</a:t>
              </a:r>
            </a:p>
          </p:txBody>
        </p:sp>
        <p:sp>
          <p:nvSpPr>
            <p:cNvPr id="45" name="Rectangle 45">
              <a:extLst>
                <a:ext uri="{FF2B5EF4-FFF2-40B4-BE49-F238E27FC236}">
                  <a16:creationId xmlns:a16="http://schemas.microsoft.com/office/drawing/2014/main" id="{0AF3B9BF-188D-B581-373D-81F22D401996}"/>
                </a:ext>
              </a:extLst>
            </p:cNvPr>
            <p:cNvSpPr/>
            <p:nvPr/>
          </p:nvSpPr>
          <p:spPr>
            <a:xfrm>
              <a:off x="4754880" y="2368296"/>
              <a:ext cx="8686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B95FE17-0444-9571-C65D-2DD9EB61583F}"/>
                </a:ext>
              </a:extLst>
            </p:cNvPr>
            <p:cNvSpPr txBox="1"/>
            <p:nvPr/>
          </p:nvSpPr>
          <p:spPr>
            <a:xfrm>
              <a:off x="4754880" y="2368296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p=0.942 ns</a:t>
              </a:r>
            </a:p>
          </p:txBody>
        </p:sp>
        <p:sp>
          <p:nvSpPr>
            <p:cNvPr id="47" name="Rectangle 47">
              <a:extLst>
                <a:ext uri="{FF2B5EF4-FFF2-40B4-BE49-F238E27FC236}">
                  <a16:creationId xmlns:a16="http://schemas.microsoft.com/office/drawing/2014/main" id="{ECDE717C-701C-F3CC-D1B2-A4E81F4ED601}"/>
                </a:ext>
              </a:extLst>
            </p:cNvPr>
            <p:cNvSpPr/>
            <p:nvPr/>
          </p:nvSpPr>
          <p:spPr>
            <a:xfrm>
              <a:off x="411480" y="2734056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346E768-4AD1-AA7E-919D-D181125D908C}"/>
                </a:ext>
              </a:extLst>
            </p:cNvPr>
            <p:cNvSpPr txBox="1"/>
            <p:nvPr/>
          </p:nvSpPr>
          <p:spPr>
            <a:xfrm>
              <a:off x="411480" y="2734056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crop60</a:t>
              </a:r>
            </a:p>
          </p:txBody>
        </p:sp>
        <p:sp>
          <p:nvSpPr>
            <p:cNvPr id="49" name="Rectangle 49">
              <a:extLst>
                <a:ext uri="{FF2B5EF4-FFF2-40B4-BE49-F238E27FC236}">
                  <a16:creationId xmlns:a16="http://schemas.microsoft.com/office/drawing/2014/main" id="{680A4C92-B4F6-1F6E-E4D6-2A62BE32803A}"/>
                </a:ext>
              </a:extLst>
            </p:cNvPr>
            <p:cNvSpPr/>
            <p:nvPr/>
          </p:nvSpPr>
          <p:spPr>
            <a:xfrm>
              <a:off x="1874519" y="2734056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BC5D0FA-C875-EDB6-5120-51D7E61DFEBB}"/>
                </a:ext>
              </a:extLst>
            </p:cNvPr>
            <p:cNvSpPr txBox="1"/>
            <p:nvPr/>
          </p:nvSpPr>
          <p:spPr>
            <a:xfrm>
              <a:off x="1874519" y="273405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0.8030</a:t>
              </a:r>
            </a:p>
          </p:txBody>
        </p:sp>
        <p:sp>
          <p:nvSpPr>
            <p:cNvPr id="51" name="Rectangle 51">
              <a:extLst>
                <a:ext uri="{FF2B5EF4-FFF2-40B4-BE49-F238E27FC236}">
                  <a16:creationId xmlns:a16="http://schemas.microsoft.com/office/drawing/2014/main" id="{5016847E-3D38-AB74-8A1C-291D30466DCE}"/>
                </a:ext>
              </a:extLst>
            </p:cNvPr>
            <p:cNvSpPr/>
            <p:nvPr/>
          </p:nvSpPr>
          <p:spPr>
            <a:xfrm>
              <a:off x="2834640" y="2734056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C1F4AFA-58F9-9649-680D-8B1E1E6579FC}"/>
                </a:ext>
              </a:extLst>
            </p:cNvPr>
            <p:cNvSpPr txBox="1"/>
            <p:nvPr/>
          </p:nvSpPr>
          <p:spPr>
            <a:xfrm>
              <a:off x="2834640" y="273405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E87400"/>
                  </a:solidFill>
                  <a:latin typeface="맑은 고딕"/>
                </a:rPr>
                <a:t>0.8065</a:t>
              </a:r>
            </a:p>
          </p:txBody>
        </p:sp>
        <p:sp>
          <p:nvSpPr>
            <p:cNvPr id="53" name="Rectangle 53">
              <a:extLst>
                <a:ext uri="{FF2B5EF4-FFF2-40B4-BE49-F238E27FC236}">
                  <a16:creationId xmlns:a16="http://schemas.microsoft.com/office/drawing/2014/main" id="{3F3C101B-72B8-28A3-678C-1E5FD8165B81}"/>
                </a:ext>
              </a:extLst>
            </p:cNvPr>
            <p:cNvSpPr/>
            <p:nvPr/>
          </p:nvSpPr>
          <p:spPr>
            <a:xfrm>
              <a:off x="3794760" y="2734056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5B5417F-BBBD-09DE-D624-1B990C399DA3}"/>
                </a:ext>
              </a:extLst>
            </p:cNvPr>
            <p:cNvSpPr txBox="1"/>
            <p:nvPr/>
          </p:nvSpPr>
          <p:spPr>
            <a:xfrm>
              <a:off x="3794760" y="2734056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+0.004</a:t>
              </a:r>
            </a:p>
          </p:txBody>
        </p:sp>
        <p:sp>
          <p:nvSpPr>
            <p:cNvPr id="55" name="Rectangle 55">
              <a:extLst>
                <a:ext uri="{FF2B5EF4-FFF2-40B4-BE49-F238E27FC236}">
                  <a16:creationId xmlns:a16="http://schemas.microsoft.com/office/drawing/2014/main" id="{CBF67689-8485-286F-67C1-2A404424695E}"/>
                </a:ext>
              </a:extLst>
            </p:cNvPr>
            <p:cNvSpPr/>
            <p:nvPr/>
          </p:nvSpPr>
          <p:spPr>
            <a:xfrm>
              <a:off x="4754880" y="2734056"/>
              <a:ext cx="8686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9F08608-901D-A26E-2063-FEBD7C402526}"/>
                </a:ext>
              </a:extLst>
            </p:cNvPr>
            <p:cNvSpPr txBox="1"/>
            <p:nvPr/>
          </p:nvSpPr>
          <p:spPr>
            <a:xfrm>
              <a:off x="4754880" y="2734056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p=0.892 ns</a:t>
              </a:r>
            </a:p>
          </p:txBody>
        </p:sp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9490EC01-3E43-FA1E-D69F-22E73D4E7525}"/>
              </a:ext>
            </a:extLst>
          </p:cNvPr>
          <p:cNvGrpSpPr/>
          <p:nvPr/>
        </p:nvGrpSpPr>
        <p:grpSpPr>
          <a:xfrm>
            <a:off x="508000" y="4391605"/>
            <a:ext cx="5120640" cy="1481328"/>
            <a:chOff x="411480" y="3538728"/>
            <a:chExt cx="5029200" cy="1481328"/>
          </a:xfrm>
        </p:grpSpPr>
        <p:sp>
          <p:nvSpPr>
            <p:cNvPr id="58" name="Rectangle 59">
              <a:extLst>
                <a:ext uri="{FF2B5EF4-FFF2-40B4-BE49-F238E27FC236}">
                  <a16:creationId xmlns:a16="http://schemas.microsoft.com/office/drawing/2014/main" id="{7D1F5D0B-862E-215A-6FDF-8F6BB99036C9}"/>
                </a:ext>
              </a:extLst>
            </p:cNvPr>
            <p:cNvSpPr/>
            <p:nvPr/>
          </p:nvSpPr>
          <p:spPr>
            <a:xfrm>
              <a:off x="411480" y="3538728"/>
              <a:ext cx="123444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091DD78-5F11-AF0C-B0D3-85CAB75F2AFD}"/>
                </a:ext>
              </a:extLst>
            </p:cNvPr>
            <p:cNvSpPr txBox="1"/>
            <p:nvPr/>
          </p:nvSpPr>
          <p:spPr>
            <a:xfrm>
              <a:off x="411480" y="3538728"/>
              <a:ext cx="123444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지표</a:t>
              </a:r>
            </a:p>
          </p:txBody>
        </p:sp>
        <p:sp>
          <p:nvSpPr>
            <p:cNvPr id="60" name="Rectangle 61">
              <a:extLst>
                <a:ext uri="{FF2B5EF4-FFF2-40B4-BE49-F238E27FC236}">
                  <a16:creationId xmlns:a16="http://schemas.microsoft.com/office/drawing/2014/main" id="{5725B51E-C496-F1C0-6F38-8FB40FF116E7}"/>
                </a:ext>
              </a:extLst>
            </p:cNvPr>
            <p:cNvSpPr/>
            <p:nvPr/>
          </p:nvSpPr>
          <p:spPr>
            <a:xfrm>
              <a:off x="1691640" y="3538728"/>
              <a:ext cx="123444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440E57B-8E96-549D-378B-8414DC70EC52}"/>
                </a:ext>
              </a:extLst>
            </p:cNvPr>
            <p:cNvSpPr txBox="1"/>
            <p:nvPr/>
          </p:nvSpPr>
          <p:spPr>
            <a:xfrm>
              <a:off x="1691640" y="3538728"/>
              <a:ext cx="123444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</a:t>
              </a:r>
            </a:p>
          </p:txBody>
        </p:sp>
        <p:sp>
          <p:nvSpPr>
            <p:cNvPr id="63" name="Rectangle 63">
              <a:extLst>
                <a:ext uri="{FF2B5EF4-FFF2-40B4-BE49-F238E27FC236}">
                  <a16:creationId xmlns:a16="http://schemas.microsoft.com/office/drawing/2014/main" id="{A7BA6BBB-CFA0-1C91-1D7C-DB7EA0015E17}"/>
                </a:ext>
              </a:extLst>
            </p:cNvPr>
            <p:cNvSpPr/>
            <p:nvPr/>
          </p:nvSpPr>
          <p:spPr>
            <a:xfrm>
              <a:off x="2971800" y="3538728"/>
              <a:ext cx="128016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18B406F-4414-2426-72E1-B0FDD73CE52D}"/>
                </a:ext>
              </a:extLst>
            </p:cNvPr>
            <p:cNvSpPr txBox="1"/>
            <p:nvPr/>
          </p:nvSpPr>
          <p:spPr>
            <a:xfrm>
              <a:off x="2971800" y="3538728"/>
              <a:ext cx="12801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M3</a:t>
              </a:r>
            </a:p>
          </p:txBody>
        </p:sp>
        <p:sp>
          <p:nvSpPr>
            <p:cNvPr id="65" name="Rectangle 65">
              <a:extLst>
                <a:ext uri="{FF2B5EF4-FFF2-40B4-BE49-F238E27FC236}">
                  <a16:creationId xmlns:a16="http://schemas.microsoft.com/office/drawing/2014/main" id="{937F77A3-AC04-8A06-3C8A-4E0ED5005FF1}"/>
                </a:ext>
              </a:extLst>
            </p:cNvPr>
            <p:cNvSpPr/>
            <p:nvPr/>
          </p:nvSpPr>
          <p:spPr>
            <a:xfrm>
              <a:off x="4297680" y="3538728"/>
              <a:ext cx="114300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D090724-8CDC-BD23-9408-603D9A7460B2}"/>
                </a:ext>
              </a:extLst>
            </p:cNvPr>
            <p:cNvSpPr txBox="1"/>
            <p:nvPr/>
          </p:nvSpPr>
          <p:spPr>
            <a:xfrm>
              <a:off x="4297680" y="3538728"/>
              <a:ext cx="11430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Δ(M3-M1)</a:t>
              </a:r>
            </a:p>
          </p:txBody>
        </p:sp>
        <p:sp>
          <p:nvSpPr>
            <p:cNvPr id="67" name="Rectangle 67">
              <a:extLst>
                <a:ext uri="{FF2B5EF4-FFF2-40B4-BE49-F238E27FC236}">
                  <a16:creationId xmlns:a16="http://schemas.microsoft.com/office/drawing/2014/main" id="{D8ED87B2-743E-075F-E20F-3E6D9703C62A}"/>
                </a:ext>
              </a:extLst>
            </p:cNvPr>
            <p:cNvSpPr/>
            <p:nvPr/>
          </p:nvSpPr>
          <p:spPr>
            <a:xfrm>
              <a:off x="411480" y="3813048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6072746-EFEA-03EE-FDBA-D25765572649}"/>
                </a:ext>
              </a:extLst>
            </p:cNvPr>
            <p:cNvSpPr txBox="1"/>
            <p:nvPr/>
          </p:nvSpPr>
          <p:spPr>
            <a:xfrm>
              <a:off x="411480" y="3813048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AUC-ROC</a:t>
              </a:r>
            </a:p>
          </p:txBody>
        </p:sp>
        <p:sp>
          <p:nvSpPr>
            <p:cNvPr id="69" name="Rectangle 69">
              <a:extLst>
                <a:ext uri="{FF2B5EF4-FFF2-40B4-BE49-F238E27FC236}">
                  <a16:creationId xmlns:a16="http://schemas.microsoft.com/office/drawing/2014/main" id="{EB4A4920-6C29-220B-ABA2-51CBEA08275B}"/>
                </a:ext>
              </a:extLst>
            </p:cNvPr>
            <p:cNvSpPr/>
            <p:nvPr/>
          </p:nvSpPr>
          <p:spPr>
            <a:xfrm>
              <a:off x="1691640" y="3813048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2A6AB5E-DF34-871E-C651-FECD31D50789}"/>
                </a:ext>
              </a:extLst>
            </p:cNvPr>
            <p:cNvSpPr txBox="1"/>
            <p:nvPr/>
          </p:nvSpPr>
          <p:spPr>
            <a:xfrm>
              <a:off x="1691640" y="3813048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 [0.720,0.872]</a:t>
              </a:r>
            </a:p>
          </p:txBody>
        </p:sp>
        <p:sp>
          <p:nvSpPr>
            <p:cNvPr id="71" name="Rectangle 71">
              <a:extLst>
                <a:ext uri="{FF2B5EF4-FFF2-40B4-BE49-F238E27FC236}">
                  <a16:creationId xmlns:a16="http://schemas.microsoft.com/office/drawing/2014/main" id="{A9355CB7-B0CF-927A-C983-F89D9FED4E47}"/>
                </a:ext>
              </a:extLst>
            </p:cNvPr>
            <p:cNvSpPr/>
            <p:nvPr/>
          </p:nvSpPr>
          <p:spPr>
            <a:xfrm>
              <a:off x="2971800" y="3813048"/>
              <a:ext cx="128016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3606F50-4561-4081-A8AE-18614396D1E6}"/>
                </a:ext>
              </a:extLst>
            </p:cNvPr>
            <p:cNvSpPr txBox="1"/>
            <p:nvPr/>
          </p:nvSpPr>
          <p:spPr>
            <a:xfrm>
              <a:off x="2971800" y="3813048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0.831 [0.740,0.900]</a:t>
              </a:r>
            </a:p>
          </p:txBody>
        </p:sp>
        <p:sp>
          <p:nvSpPr>
            <p:cNvPr id="73" name="Rectangle 73">
              <a:extLst>
                <a:ext uri="{FF2B5EF4-FFF2-40B4-BE49-F238E27FC236}">
                  <a16:creationId xmlns:a16="http://schemas.microsoft.com/office/drawing/2014/main" id="{44AB4C19-A571-4B75-B156-B55054A0A543}"/>
                </a:ext>
              </a:extLst>
            </p:cNvPr>
            <p:cNvSpPr/>
            <p:nvPr/>
          </p:nvSpPr>
          <p:spPr>
            <a:xfrm>
              <a:off x="4297680" y="3813048"/>
              <a:ext cx="114300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6471DD3-DCC1-8E5D-08B9-3EBB5367CDF3}"/>
                </a:ext>
              </a:extLst>
            </p:cNvPr>
            <p:cNvSpPr txBox="1"/>
            <p:nvPr/>
          </p:nvSpPr>
          <p:spPr>
            <a:xfrm>
              <a:off x="4297680" y="3813048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+0.028</a:t>
              </a:r>
            </a:p>
          </p:txBody>
        </p:sp>
        <p:sp>
          <p:nvSpPr>
            <p:cNvPr id="75" name="Rectangle 75">
              <a:extLst>
                <a:ext uri="{FF2B5EF4-FFF2-40B4-BE49-F238E27FC236}">
                  <a16:creationId xmlns:a16="http://schemas.microsoft.com/office/drawing/2014/main" id="{0028F040-A8DD-1A56-B391-056AAFF4CD66}"/>
                </a:ext>
              </a:extLst>
            </p:cNvPr>
            <p:cNvSpPr/>
            <p:nvPr/>
          </p:nvSpPr>
          <p:spPr>
            <a:xfrm>
              <a:off x="411480" y="4114800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B86EC884-9B88-F710-FB0B-B16E2DC73601}"/>
                </a:ext>
              </a:extLst>
            </p:cNvPr>
            <p:cNvSpPr txBox="1"/>
            <p:nvPr/>
          </p:nvSpPr>
          <p:spPr>
            <a:xfrm>
              <a:off x="411480" y="4114800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AUPRC</a:t>
              </a:r>
            </a:p>
          </p:txBody>
        </p:sp>
        <p:sp>
          <p:nvSpPr>
            <p:cNvPr id="77" name="Rectangle 77">
              <a:extLst>
                <a:ext uri="{FF2B5EF4-FFF2-40B4-BE49-F238E27FC236}">
                  <a16:creationId xmlns:a16="http://schemas.microsoft.com/office/drawing/2014/main" id="{C3C86BC0-C1E0-4C36-29D3-C1E3E2CC8286}"/>
                </a:ext>
              </a:extLst>
            </p:cNvPr>
            <p:cNvSpPr/>
            <p:nvPr/>
          </p:nvSpPr>
          <p:spPr>
            <a:xfrm>
              <a:off x="1691640" y="4114800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F71D70B-E862-B700-FDB2-F5F817611C66}"/>
                </a:ext>
              </a:extLst>
            </p:cNvPr>
            <p:cNvSpPr txBox="1"/>
            <p:nvPr/>
          </p:nvSpPr>
          <p:spPr>
            <a:xfrm>
              <a:off x="1691640" y="4114800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0.312 [0.181,0.496]</a:t>
              </a:r>
            </a:p>
          </p:txBody>
        </p:sp>
        <p:sp>
          <p:nvSpPr>
            <p:cNvPr id="79" name="Rectangle 79">
              <a:extLst>
                <a:ext uri="{FF2B5EF4-FFF2-40B4-BE49-F238E27FC236}">
                  <a16:creationId xmlns:a16="http://schemas.microsoft.com/office/drawing/2014/main" id="{35F61884-0726-2BBE-ABD7-4072460F34E3}"/>
                </a:ext>
              </a:extLst>
            </p:cNvPr>
            <p:cNvSpPr/>
            <p:nvPr/>
          </p:nvSpPr>
          <p:spPr>
            <a:xfrm>
              <a:off x="2971800" y="4114800"/>
              <a:ext cx="128016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16A59151-A5CE-7290-F6AB-21AC0818FDF0}"/>
                </a:ext>
              </a:extLst>
            </p:cNvPr>
            <p:cNvSpPr txBox="1"/>
            <p:nvPr/>
          </p:nvSpPr>
          <p:spPr>
            <a:xfrm>
              <a:off x="2971800" y="4114800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0.319 [0.204,0.518]</a:t>
              </a:r>
            </a:p>
          </p:txBody>
        </p:sp>
        <p:sp>
          <p:nvSpPr>
            <p:cNvPr id="81" name="Rectangle 81">
              <a:extLst>
                <a:ext uri="{FF2B5EF4-FFF2-40B4-BE49-F238E27FC236}">
                  <a16:creationId xmlns:a16="http://schemas.microsoft.com/office/drawing/2014/main" id="{85B29310-F356-BC3D-954E-4C54FA76E3B1}"/>
                </a:ext>
              </a:extLst>
            </p:cNvPr>
            <p:cNvSpPr/>
            <p:nvPr/>
          </p:nvSpPr>
          <p:spPr>
            <a:xfrm>
              <a:off x="4297680" y="4114800"/>
              <a:ext cx="114300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7A78AB58-24AE-BB57-E183-8E6CED1F2243}"/>
                </a:ext>
              </a:extLst>
            </p:cNvPr>
            <p:cNvSpPr txBox="1"/>
            <p:nvPr/>
          </p:nvSpPr>
          <p:spPr>
            <a:xfrm>
              <a:off x="4297680" y="4114800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+0.007</a:t>
              </a:r>
            </a:p>
          </p:txBody>
        </p:sp>
        <p:sp>
          <p:nvSpPr>
            <p:cNvPr id="83" name="Rectangle 83">
              <a:extLst>
                <a:ext uri="{FF2B5EF4-FFF2-40B4-BE49-F238E27FC236}">
                  <a16:creationId xmlns:a16="http://schemas.microsoft.com/office/drawing/2014/main" id="{D2C30A39-35EE-DDA4-D712-A88FF4E6D570}"/>
                </a:ext>
              </a:extLst>
            </p:cNvPr>
            <p:cNvSpPr/>
            <p:nvPr/>
          </p:nvSpPr>
          <p:spPr>
            <a:xfrm>
              <a:off x="411480" y="4416552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532A1B53-8676-02EF-3D73-529CB1611139}"/>
                </a:ext>
              </a:extLst>
            </p:cNvPr>
            <p:cNvSpPr txBox="1"/>
            <p:nvPr/>
          </p:nvSpPr>
          <p:spPr>
            <a:xfrm>
              <a:off x="411480" y="4416552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Brier</a:t>
              </a:r>
            </a:p>
          </p:txBody>
        </p:sp>
        <p:sp>
          <p:nvSpPr>
            <p:cNvPr id="85" name="Rectangle 85">
              <a:extLst>
                <a:ext uri="{FF2B5EF4-FFF2-40B4-BE49-F238E27FC236}">
                  <a16:creationId xmlns:a16="http://schemas.microsoft.com/office/drawing/2014/main" id="{018AAB78-7A97-D0E9-0264-D02C533DA62B}"/>
                </a:ext>
              </a:extLst>
            </p:cNvPr>
            <p:cNvSpPr/>
            <p:nvPr/>
          </p:nvSpPr>
          <p:spPr>
            <a:xfrm>
              <a:off x="1691640" y="4416552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6330AA5-1E4D-79F4-1F61-FC735F311104}"/>
                </a:ext>
              </a:extLst>
            </p:cNvPr>
            <p:cNvSpPr txBox="1"/>
            <p:nvPr/>
          </p:nvSpPr>
          <p:spPr>
            <a:xfrm>
              <a:off x="1691640" y="4416552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0.191 [0.165,0.218]</a:t>
              </a:r>
            </a:p>
          </p:txBody>
        </p:sp>
        <p:sp>
          <p:nvSpPr>
            <p:cNvPr id="87" name="Rectangle 87">
              <a:extLst>
                <a:ext uri="{FF2B5EF4-FFF2-40B4-BE49-F238E27FC236}">
                  <a16:creationId xmlns:a16="http://schemas.microsoft.com/office/drawing/2014/main" id="{1F3DAD04-DD70-4949-CC6A-F462603716A1}"/>
                </a:ext>
              </a:extLst>
            </p:cNvPr>
            <p:cNvSpPr/>
            <p:nvPr/>
          </p:nvSpPr>
          <p:spPr>
            <a:xfrm>
              <a:off x="2971800" y="4416552"/>
              <a:ext cx="128016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C7DCA56A-083A-56D4-9460-57096BC4B469}"/>
                </a:ext>
              </a:extLst>
            </p:cNvPr>
            <p:cNvSpPr txBox="1"/>
            <p:nvPr/>
          </p:nvSpPr>
          <p:spPr>
            <a:xfrm>
              <a:off x="2971800" y="4416552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0.243 [0.208,0.276]</a:t>
              </a:r>
            </a:p>
          </p:txBody>
        </p:sp>
        <p:sp>
          <p:nvSpPr>
            <p:cNvPr id="89" name="Rectangle 89">
              <a:extLst>
                <a:ext uri="{FF2B5EF4-FFF2-40B4-BE49-F238E27FC236}">
                  <a16:creationId xmlns:a16="http://schemas.microsoft.com/office/drawing/2014/main" id="{C850456C-E779-465E-7889-7EFDFAB3938F}"/>
                </a:ext>
              </a:extLst>
            </p:cNvPr>
            <p:cNvSpPr/>
            <p:nvPr/>
          </p:nvSpPr>
          <p:spPr>
            <a:xfrm>
              <a:off x="4297680" y="4416552"/>
              <a:ext cx="114300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7489D45D-FFD4-D79C-B075-342B68D281BD}"/>
                </a:ext>
              </a:extLst>
            </p:cNvPr>
            <p:cNvSpPr txBox="1"/>
            <p:nvPr/>
          </p:nvSpPr>
          <p:spPr>
            <a:xfrm>
              <a:off x="4297680" y="4416552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+0.052</a:t>
              </a:r>
            </a:p>
          </p:txBody>
        </p:sp>
        <p:sp>
          <p:nvSpPr>
            <p:cNvPr id="91" name="Rectangle 91">
              <a:extLst>
                <a:ext uri="{FF2B5EF4-FFF2-40B4-BE49-F238E27FC236}">
                  <a16:creationId xmlns:a16="http://schemas.microsoft.com/office/drawing/2014/main" id="{1D018762-F2FF-CC61-F392-F47637899536}"/>
                </a:ext>
              </a:extLst>
            </p:cNvPr>
            <p:cNvSpPr/>
            <p:nvPr/>
          </p:nvSpPr>
          <p:spPr>
            <a:xfrm>
              <a:off x="411480" y="4718304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9F72FE0-48E1-A0AD-7167-DBB1F196D737}"/>
                </a:ext>
              </a:extLst>
            </p:cNvPr>
            <p:cNvSpPr txBox="1"/>
            <p:nvPr/>
          </p:nvSpPr>
          <p:spPr>
            <a:xfrm>
              <a:off x="411480" y="4718304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F1</a:t>
              </a:r>
            </a:p>
          </p:txBody>
        </p:sp>
        <p:sp>
          <p:nvSpPr>
            <p:cNvPr id="93" name="Rectangle 93">
              <a:extLst>
                <a:ext uri="{FF2B5EF4-FFF2-40B4-BE49-F238E27FC236}">
                  <a16:creationId xmlns:a16="http://schemas.microsoft.com/office/drawing/2014/main" id="{C13CEB99-F005-AFEA-9C77-6B43638CB53E}"/>
                </a:ext>
              </a:extLst>
            </p:cNvPr>
            <p:cNvSpPr/>
            <p:nvPr/>
          </p:nvSpPr>
          <p:spPr>
            <a:xfrm>
              <a:off x="1691640" y="4718304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D4745C1-0C42-B66B-7E65-4C4F481B85D4}"/>
                </a:ext>
              </a:extLst>
            </p:cNvPr>
            <p:cNvSpPr txBox="1"/>
            <p:nvPr/>
          </p:nvSpPr>
          <p:spPr>
            <a:xfrm>
              <a:off x="1691640" y="4718304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0.373 [0.250,0.488]</a:t>
              </a:r>
            </a:p>
          </p:txBody>
        </p:sp>
        <p:sp>
          <p:nvSpPr>
            <p:cNvPr id="95" name="Rectangle 95">
              <a:extLst>
                <a:ext uri="{FF2B5EF4-FFF2-40B4-BE49-F238E27FC236}">
                  <a16:creationId xmlns:a16="http://schemas.microsoft.com/office/drawing/2014/main" id="{7E2D9E40-41AA-F6E5-D231-E60EB8CD51ED}"/>
                </a:ext>
              </a:extLst>
            </p:cNvPr>
            <p:cNvSpPr/>
            <p:nvPr/>
          </p:nvSpPr>
          <p:spPr>
            <a:xfrm>
              <a:off x="2971800" y="4718304"/>
              <a:ext cx="128016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5401A9-5B0A-1076-BFFA-267323CF461C}"/>
                </a:ext>
              </a:extLst>
            </p:cNvPr>
            <p:cNvSpPr txBox="1"/>
            <p:nvPr/>
          </p:nvSpPr>
          <p:spPr>
            <a:xfrm>
              <a:off x="2971800" y="4718304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0.352 [0.242,0.458]</a:t>
              </a:r>
            </a:p>
          </p:txBody>
        </p:sp>
        <p:sp>
          <p:nvSpPr>
            <p:cNvPr id="97" name="Rectangle 97">
              <a:extLst>
                <a:ext uri="{FF2B5EF4-FFF2-40B4-BE49-F238E27FC236}">
                  <a16:creationId xmlns:a16="http://schemas.microsoft.com/office/drawing/2014/main" id="{9FA8AF3B-3DBC-AFE2-47EA-3CD1014E90DA}"/>
                </a:ext>
              </a:extLst>
            </p:cNvPr>
            <p:cNvSpPr/>
            <p:nvPr/>
          </p:nvSpPr>
          <p:spPr>
            <a:xfrm>
              <a:off x="4297680" y="4718304"/>
              <a:ext cx="114300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36F84E95-1193-7748-9589-99B2A248D42B}"/>
                </a:ext>
              </a:extLst>
            </p:cNvPr>
            <p:cNvSpPr txBox="1"/>
            <p:nvPr/>
          </p:nvSpPr>
          <p:spPr>
            <a:xfrm>
              <a:off x="4297680" y="4718304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−0.021</a:t>
              </a:r>
            </a:p>
          </p:txBody>
        </p:sp>
      </p:grpSp>
      <p:sp>
        <p:nvSpPr>
          <p:cNvPr id="100" name="TextBox 99">
            <a:extLst>
              <a:ext uri="{FF2B5EF4-FFF2-40B4-BE49-F238E27FC236}">
                <a16:creationId xmlns:a16="http://schemas.microsoft.com/office/drawing/2014/main" id="{ABFA8739-B882-0C1F-C7BE-AFE5FDC86FA8}"/>
              </a:ext>
            </a:extLst>
          </p:cNvPr>
          <p:cNvSpPr txBox="1"/>
          <p:nvPr/>
        </p:nvSpPr>
        <p:spPr>
          <a:xfrm>
            <a:off x="6030685" y="1698171"/>
            <a:ext cx="320818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 dirty="0">
                <a:solidFill>
                  <a:srgbClr val="1A1A2E"/>
                </a:solidFill>
                <a:latin typeface="맑은 고딕"/>
              </a:rPr>
              <a:t>ROC </a:t>
            </a:r>
            <a:r>
              <a:rPr sz="1200" b="1" i="0" dirty="0" err="1">
                <a:solidFill>
                  <a:srgbClr val="1A1A2E"/>
                </a:solidFill>
                <a:latin typeface="맑은 고딕"/>
              </a:rPr>
              <a:t>비교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  (norm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 /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 M1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·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M2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·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M2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_2 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·</a:t>
            </a:r>
            <a:r>
              <a:rPr lang="en-US" sz="12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200" b="1" i="0" dirty="0">
                <a:solidFill>
                  <a:srgbClr val="1A1A2E"/>
                </a:solidFill>
                <a:latin typeface="맑은 고딕"/>
              </a:rPr>
              <a:t>M3)</a:t>
            </a:r>
          </a:p>
        </p:txBody>
      </p:sp>
      <p:pic>
        <p:nvPicPr>
          <p:cNvPr id="101" name="Picture 100" descr="roc_all_models_norm.png">
            <a:extLst>
              <a:ext uri="{FF2B5EF4-FFF2-40B4-BE49-F238E27FC236}">
                <a16:creationId xmlns:a16="http://schemas.microsoft.com/office/drawing/2014/main" id="{DCC151BA-CDBE-F558-F5C0-49620407FD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60" y="1975170"/>
            <a:ext cx="6035040" cy="426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737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1607A-045E-7965-7092-A93C7BC9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5A664-7C44-261C-21AF-779EC599A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AD2B6D-F9F3-8F7E-AE18-44A9A12E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8E800972-22D1-5252-AEC2-E3DAC81274E5}"/>
              </a:ext>
            </a:extLst>
          </p:cNvPr>
          <p:cNvSpPr/>
          <p:nvPr/>
        </p:nvSpPr>
        <p:spPr>
          <a:xfrm>
            <a:off x="654933" y="897468"/>
            <a:ext cx="3048826" cy="2644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52EE15-34E0-E6AD-A994-B0824538D218}"/>
              </a:ext>
            </a:extLst>
          </p:cNvPr>
          <p:cNvSpPr txBox="1"/>
          <p:nvPr/>
        </p:nvSpPr>
        <p:spPr>
          <a:xfrm>
            <a:off x="713706" y="912161"/>
            <a:ext cx="2938628" cy="2350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norm — 행 방향 정규화</a:t>
            </a:r>
          </a:p>
        </p:txBody>
      </p:sp>
      <p:pic>
        <p:nvPicPr>
          <p:cNvPr id="6" name="Picture 6" descr="roc_all_models_norm.png">
            <a:extLst>
              <a:ext uri="{FF2B5EF4-FFF2-40B4-BE49-F238E27FC236}">
                <a16:creationId xmlns:a16="http://schemas.microsoft.com/office/drawing/2014/main" id="{D7E9A7CF-574C-823C-D7B5-7F33F045C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33" y="1176638"/>
            <a:ext cx="3048826" cy="2556606"/>
          </a:xfrm>
          <a:prstGeom prst="rect">
            <a:avLst/>
          </a:prstGeom>
        </p:spPr>
      </p:pic>
      <p:sp>
        <p:nvSpPr>
          <p:cNvPr id="7" name="Rectangle 7">
            <a:extLst>
              <a:ext uri="{FF2B5EF4-FFF2-40B4-BE49-F238E27FC236}">
                <a16:creationId xmlns:a16="http://schemas.microsoft.com/office/drawing/2014/main" id="{64DA0E92-3400-1E90-E262-BE5D23601623}"/>
              </a:ext>
            </a:extLst>
          </p:cNvPr>
          <p:cNvSpPr/>
          <p:nvPr/>
        </p:nvSpPr>
        <p:spPr>
          <a:xfrm>
            <a:off x="4571588" y="897468"/>
            <a:ext cx="3048826" cy="2644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E0BB05-07EB-44A4-812A-3D4F7D8E453F}"/>
              </a:ext>
            </a:extLst>
          </p:cNvPr>
          <p:cNvSpPr txBox="1"/>
          <p:nvPr/>
        </p:nvSpPr>
        <p:spPr>
          <a:xfrm>
            <a:off x="4630361" y="912161"/>
            <a:ext cx="2938628" cy="2350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crop80 — 중앙 80% 구간</a:t>
            </a:r>
          </a:p>
        </p:txBody>
      </p:sp>
      <p:pic>
        <p:nvPicPr>
          <p:cNvPr id="9" name="Picture 9" descr="roc_all_models_crop80.png">
            <a:extLst>
              <a:ext uri="{FF2B5EF4-FFF2-40B4-BE49-F238E27FC236}">
                <a16:creationId xmlns:a16="http://schemas.microsoft.com/office/drawing/2014/main" id="{B4E6395D-63DA-8B33-F08B-8AA812B40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588" y="1176638"/>
            <a:ext cx="3048826" cy="2556606"/>
          </a:xfrm>
          <a:prstGeom prst="rect">
            <a:avLst/>
          </a:prstGeom>
        </p:spPr>
      </p:pic>
      <p:sp>
        <p:nvSpPr>
          <p:cNvPr id="10" name="Rectangle 10">
            <a:extLst>
              <a:ext uri="{FF2B5EF4-FFF2-40B4-BE49-F238E27FC236}">
                <a16:creationId xmlns:a16="http://schemas.microsoft.com/office/drawing/2014/main" id="{06969D33-4602-1363-87DE-4DE0A60EC082}"/>
              </a:ext>
            </a:extLst>
          </p:cNvPr>
          <p:cNvSpPr/>
          <p:nvPr/>
        </p:nvSpPr>
        <p:spPr>
          <a:xfrm>
            <a:off x="8488244" y="897468"/>
            <a:ext cx="3048826" cy="2644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8D0D35-19D0-89AF-C61C-6E57B93E0300}"/>
              </a:ext>
            </a:extLst>
          </p:cNvPr>
          <p:cNvSpPr txBox="1"/>
          <p:nvPr/>
        </p:nvSpPr>
        <p:spPr>
          <a:xfrm>
            <a:off x="8547017" y="912161"/>
            <a:ext cx="2938628" cy="2350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crop60 — 중앙 60% 구간</a:t>
            </a:r>
          </a:p>
        </p:txBody>
      </p:sp>
      <p:pic>
        <p:nvPicPr>
          <p:cNvPr id="12" name="Picture 12" descr="roc_all_models_crop60.png">
            <a:extLst>
              <a:ext uri="{FF2B5EF4-FFF2-40B4-BE49-F238E27FC236}">
                <a16:creationId xmlns:a16="http://schemas.microsoft.com/office/drawing/2014/main" id="{CF6BBD58-D637-BA15-B7BA-88B35AA8E0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8244" y="1176638"/>
            <a:ext cx="3048826" cy="2556606"/>
          </a:xfrm>
          <a:prstGeom prst="rect">
            <a:avLst/>
          </a:prstGeom>
        </p:spPr>
      </p:pic>
      <p:sp>
        <p:nvSpPr>
          <p:cNvPr id="13" name="Rectangle 13">
            <a:extLst>
              <a:ext uri="{FF2B5EF4-FFF2-40B4-BE49-F238E27FC236}">
                <a16:creationId xmlns:a16="http://schemas.microsoft.com/office/drawing/2014/main" id="{741D4902-5FC3-12FE-7023-FC71339EA656}"/>
              </a:ext>
            </a:extLst>
          </p:cNvPr>
          <p:cNvSpPr/>
          <p:nvPr/>
        </p:nvSpPr>
        <p:spPr>
          <a:xfrm>
            <a:off x="654931" y="3870661"/>
            <a:ext cx="3048827" cy="264476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B024D8-951F-E897-5493-700D392DDA7F}"/>
              </a:ext>
            </a:extLst>
          </p:cNvPr>
          <p:cNvSpPr txBox="1"/>
          <p:nvPr/>
        </p:nvSpPr>
        <p:spPr>
          <a:xfrm>
            <a:off x="713704" y="3885353"/>
            <a:ext cx="2938628" cy="2350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len128 — 선형 보간 128pt</a:t>
            </a:r>
          </a:p>
        </p:txBody>
      </p:sp>
      <p:pic>
        <p:nvPicPr>
          <p:cNvPr id="15" name="Picture 15" descr="roc_all_models_len128.png">
            <a:extLst>
              <a:ext uri="{FF2B5EF4-FFF2-40B4-BE49-F238E27FC236}">
                <a16:creationId xmlns:a16="http://schemas.microsoft.com/office/drawing/2014/main" id="{8224659F-9C67-9A5E-E778-3E9FFBF402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931" y="4149831"/>
            <a:ext cx="3048827" cy="2181931"/>
          </a:xfrm>
          <a:prstGeom prst="rect">
            <a:avLst/>
          </a:prstGeom>
        </p:spPr>
      </p:pic>
      <p:sp>
        <p:nvSpPr>
          <p:cNvPr id="16" name="Rectangle 16">
            <a:extLst>
              <a:ext uri="{FF2B5EF4-FFF2-40B4-BE49-F238E27FC236}">
                <a16:creationId xmlns:a16="http://schemas.microsoft.com/office/drawing/2014/main" id="{4EBCDB56-5689-97FF-13EC-B86A18BD8269}"/>
              </a:ext>
            </a:extLst>
          </p:cNvPr>
          <p:cNvSpPr/>
          <p:nvPr/>
        </p:nvSpPr>
        <p:spPr>
          <a:xfrm>
            <a:off x="4571587" y="3870661"/>
            <a:ext cx="3048827" cy="2644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A77D03-60C0-7F9E-F1B8-7CA4DB4C2693}"/>
              </a:ext>
            </a:extLst>
          </p:cNvPr>
          <p:cNvSpPr txBox="1"/>
          <p:nvPr/>
        </p:nvSpPr>
        <p:spPr>
          <a:xfrm>
            <a:off x="4630360" y="3885353"/>
            <a:ext cx="2938628" cy="2350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excl_extreme — 극단 제외</a:t>
            </a:r>
          </a:p>
        </p:txBody>
      </p:sp>
      <p:pic>
        <p:nvPicPr>
          <p:cNvPr id="31" name="Picture 18" descr="roc_all_models_excl_extreme.png">
            <a:extLst>
              <a:ext uri="{FF2B5EF4-FFF2-40B4-BE49-F238E27FC236}">
                <a16:creationId xmlns:a16="http://schemas.microsoft.com/office/drawing/2014/main" id="{8CB6A433-0697-9984-F870-13FB80A3BE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1587" y="4149831"/>
            <a:ext cx="3048827" cy="2181931"/>
          </a:xfrm>
          <a:prstGeom prst="rect">
            <a:avLst/>
          </a:prstGeom>
        </p:spPr>
      </p:pic>
      <p:sp>
        <p:nvSpPr>
          <p:cNvPr id="32" name="Rectangle 19">
            <a:extLst>
              <a:ext uri="{FF2B5EF4-FFF2-40B4-BE49-F238E27FC236}">
                <a16:creationId xmlns:a16="http://schemas.microsoft.com/office/drawing/2014/main" id="{3535C6B0-E4AE-E8EE-4FA2-226C393C3324}"/>
              </a:ext>
            </a:extLst>
          </p:cNvPr>
          <p:cNvSpPr/>
          <p:nvPr/>
        </p:nvSpPr>
        <p:spPr>
          <a:xfrm>
            <a:off x="8488243" y="3870661"/>
            <a:ext cx="3048827" cy="2461101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35D1A0-C602-D44C-2B1F-7C2255648348}"/>
              </a:ext>
            </a:extLst>
          </p:cNvPr>
          <p:cNvSpPr txBox="1"/>
          <p:nvPr/>
        </p:nvSpPr>
        <p:spPr>
          <a:xfrm>
            <a:off x="8598443" y="3929434"/>
            <a:ext cx="2791697" cy="2203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맑은 고딕"/>
              </a:rPr>
              <a:t>조건별 요약</a:t>
            </a:r>
          </a:p>
        </p:txBody>
      </p:sp>
      <p:sp>
        <p:nvSpPr>
          <p:cNvPr id="34" name="Rectangle 21">
            <a:extLst>
              <a:ext uri="{FF2B5EF4-FFF2-40B4-BE49-F238E27FC236}">
                <a16:creationId xmlns:a16="http://schemas.microsoft.com/office/drawing/2014/main" id="{8A5AA38E-A45E-89D0-D6F0-752ED07F3A61}"/>
              </a:ext>
            </a:extLst>
          </p:cNvPr>
          <p:cNvSpPr/>
          <p:nvPr/>
        </p:nvSpPr>
        <p:spPr>
          <a:xfrm>
            <a:off x="8598443" y="4164524"/>
            <a:ext cx="2791697" cy="2938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982607-EB42-FFC5-5FDC-0DBBBCA3D36E}"/>
              </a:ext>
            </a:extLst>
          </p:cNvPr>
          <p:cNvSpPr txBox="1"/>
          <p:nvPr/>
        </p:nvSpPr>
        <p:spPr>
          <a:xfrm>
            <a:off x="8598443" y="4245336"/>
            <a:ext cx="2791697" cy="2938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맑은 고딕"/>
              </a:rPr>
              <a:t>• norm: M2 최고(0.835), M1→M2 p=0.055 †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478E385-9DAD-4026-CBF5-CF8639ABDB0E}"/>
              </a:ext>
            </a:extLst>
          </p:cNvPr>
          <p:cNvSpPr txBox="1"/>
          <p:nvPr/>
        </p:nvSpPr>
        <p:spPr>
          <a:xfrm>
            <a:off x="8598443" y="4553892"/>
            <a:ext cx="2791697" cy="2938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맑은 고딕"/>
              </a:rPr>
              <a:t>• crop60: M3 약진(0.807), 전 모델 ns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DD9224-1411-C3DD-BFF1-F182D337A4FB}"/>
              </a:ext>
            </a:extLst>
          </p:cNvPr>
          <p:cNvSpPr txBox="1"/>
          <p:nvPr/>
        </p:nvSpPr>
        <p:spPr>
          <a:xfrm>
            <a:off x="8598443" y="4862448"/>
            <a:ext cx="2791697" cy="2938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맑은 고딕"/>
              </a:rPr>
              <a:t>• crop80: M2(0.811), 전 모델 ns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E2D323-7899-926C-AF65-F1A4AFB02D14}"/>
              </a:ext>
            </a:extLst>
          </p:cNvPr>
          <p:cNvSpPr txBox="1"/>
          <p:nvPr/>
        </p:nvSpPr>
        <p:spPr>
          <a:xfrm>
            <a:off x="8598443" y="5171003"/>
            <a:ext cx="2791697" cy="2938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맑은 고딕"/>
              </a:rPr>
              <a:t>• len128: M2(0.811), 전 모델 ns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E7B10B-5FAC-DED0-C77B-6F4EA62C9D52}"/>
              </a:ext>
            </a:extLst>
          </p:cNvPr>
          <p:cNvSpPr txBox="1"/>
          <p:nvPr/>
        </p:nvSpPr>
        <p:spPr>
          <a:xfrm>
            <a:off x="8598443" y="5479559"/>
            <a:ext cx="2791697" cy="2938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맑은 고딕"/>
              </a:rPr>
              <a:t>• excl_extreme: M2 vs M2_2 p&lt;0.001 ***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8EE56C-0A4F-7236-1259-DACF8D5138B2}"/>
              </a:ext>
            </a:extLst>
          </p:cNvPr>
          <p:cNvSpPr txBox="1"/>
          <p:nvPr/>
        </p:nvSpPr>
        <p:spPr>
          <a:xfrm>
            <a:off x="8598443" y="5788115"/>
            <a:ext cx="2791697" cy="2938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맑은 고딕"/>
              </a:rPr>
              <a:t>  (M2_2 AUC 0.450 — 매칭 효과 검증)</a:t>
            </a:r>
          </a:p>
        </p:txBody>
      </p:sp>
    </p:spTree>
    <p:extLst>
      <p:ext uri="{BB962C8B-B14F-4D97-AF65-F5344CB8AC3E}">
        <p14:creationId xmlns:p14="http://schemas.microsoft.com/office/powerpoint/2010/main" val="1308887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80601-9427-6194-DE5F-B0F3CA11A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DF31F016-B903-237A-85DB-F03D7AD2E5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236" y="4161923"/>
            <a:ext cx="5346586" cy="222010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7CC8526-8F25-3571-C03C-64295C9DB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3F79F5-C5D2-C01E-2A78-D09037592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2867D0B9-5BF9-8D77-85B6-84FEEA7FBD33}"/>
              </a:ext>
            </a:extLst>
          </p:cNvPr>
          <p:cNvSpPr/>
          <p:nvPr/>
        </p:nvSpPr>
        <p:spPr>
          <a:xfrm>
            <a:off x="576943" y="897468"/>
            <a:ext cx="5432822" cy="327694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7C30A7-6168-32ED-478A-125370977062}"/>
              </a:ext>
            </a:extLst>
          </p:cNvPr>
          <p:cNvSpPr txBox="1"/>
          <p:nvPr/>
        </p:nvSpPr>
        <p:spPr>
          <a:xfrm>
            <a:off x="663178" y="914715"/>
            <a:ext cx="5260351" cy="29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Model 2  CrossAttn  (Clinic → AEC)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7A8FB1-42AD-E6C8-4CD3-309E47EF0F94}"/>
              </a:ext>
            </a:extLst>
          </p:cNvPr>
          <p:cNvSpPr txBox="1"/>
          <p:nvPr/>
        </p:nvSpPr>
        <p:spPr>
          <a:xfrm>
            <a:off x="663178" y="1268280"/>
            <a:ext cx="2587058" cy="2155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Attention Heatmap (샘플별)</a:t>
            </a:r>
          </a:p>
        </p:txBody>
      </p:sp>
      <p:pic>
        <p:nvPicPr>
          <p:cNvPr id="7" name="Picture 7" descr="attention_heatmap_c2a.png">
            <a:extLst>
              <a:ext uri="{FF2B5EF4-FFF2-40B4-BE49-F238E27FC236}">
                <a16:creationId xmlns:a16="http://schemas.microsoft.com/office/drawing/2014/main" id="{A8FA89AE-B6CF-E1FD-450F-FD837D3C73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" y="1501115"/>
            <a:ext cx="5346586" cy="23714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1A6B08-C250-3970-0939-2ABE51B539A4}"/>
              </a:ext>
            </a:extLst>
          </p:cNvPr>
          <p:cNvSpPr txBox="1"/>
          <p:nvPr/>
        </p:nvSpPr>
        <p:spPr>
          <a:xfrm>
            <a:off x="663178" y="3915702"/>
            <a:ext cx="2587058" cy="2155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Attention Map C→A (평균)</a:t>
            </a:r>
          </a:p>
        </p:txBody>
      </p:sp>
      <p:pic>
        <p:nvPicPr>
          <p:cNvPr id="9" name="Picture 9" descr="attention_map_c2a.png">
            <a:extLst>
              <a:ext uri="{FF2B5EF4-FFF2-40B4-BE49-F238E27FC236}">
                <a16:creationId xmlns:a16="http://schemas.microsoft.com/office/drawing/2014/main" id="{49E0A225-C08A-EF2A-D4CA-A3E94E52E0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43" y="4148538"/>
            <a:ext cx="5346586" cy="2233493"/>
          </a:xfrm>
          <a:prstGeom prst="rect">
            <a:avLst/>
          </a:prstGeom>
        </p:spPr>
      </p:pic>
      <p:sp>
        <p:nvSpPr>
          <p:cNvPr id="10" name="Rectangle 10">
            <a:extLst>
              <a:ext uri="{FF2B5EF4-FFF2-40B4-BE49-F238E27FC236}">
                <a16:creationId xmlns:a16="http://schemas.microsoft.com/office/drawing/2014/main" id="{03B5E7CA-3E56-2170-F7CE-86D70ED6A71F}"/>
              </a:ext>
            </a:extLst>
          </p:cNvPr>
          <p:cNvSpPr/>
          <p:nvPr/>
        </p:nvSpPr>
        <p:spPr>
          <a:xfrm>
            <a:off x="6182235" y="897468"/>
            <a:ext cx="5432822" cy="327694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D864CE-2E68-9CED-3883-AD9EFC2DF752}"/>
              </a:ext>
            </a:extLst>
          </p:cNvPr>
          <p:cNvSpPr txBox="1"/>
          <p:nvPr/>
        </p:nvSpPr>
        <p:spPr>
          <a:xfrm>
            <a:off x="6268470" y="914715"/>
            <a:ext cx="321145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altLang="ko-KR" sz="1400" b="1" dirty="0">
                <a:solidFill>
                  <a:srgbClr val="FFFFFF"/>
                </a:solidFill>
              </a:rPr>
              <a:t>Model 2  CrossAttn  (AEC → Clinic)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7E6E14-A34A-7FF3-4998-1CCA9CFF5D06}"/>
              </a:ext>
            </a:extLst>
          </p:cNvPr>
          <p:cNvSpPr txBox="1"/>
          <p:nvPr/>
        </p:nvSpPr>
        <p:spPr>
          <a:xfrm>
            <a:off x="6268470" y="1268280"/>
            <a:ext cx="2587058" cy="2155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9EA3AB"/>
                </a:solidFill>
                <a:latin typeface="맑은 고딕"/>
              </a:rPr>
              <a:t>Attention Heatmap (샘플별)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4E9A33-BF73-C26D-3082-6D93E353530C}"/>
              </a:ext>
            </a:extLst>
          </p:cNvPr>
          <p:cNvSpPr txBox="1"/>
          <p:nvPr/>
        </p:nvSpPr>
        <p:spPr>
          <a:xfrm>
            <a:off x="6268470" y="3915702"/>
            <a:ext cx="174759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>
                <a:solidFill>
                  <a:srgbClr val="9EA3AB"/>
                </a:solidFill>
                <a:latin typeface="맑은 고딕"/>
              </a:rPr>
              <a:t>Attention Map </a:t>
            </a:r>
            <a:r>
              <a:rPr lang="en-US" sz="1000" b="0" i="0" dirty="0">
                <a:solidFill>
                  <a:srgbClr val="9EA3AB"/>
                </a:solidFill>
                <a:latin typeface="맑은 고딕"/>
              </a:rPr>
              <a:t>A</a:t>
            </a:r>
            <a:r>
              <a:rPr sz="1000" b="0" i="0" dirty="0">
                <a:solidFill>
                  <a:srgbClr val="9EA3AB"/>
                </a:solidFill>
                <a:latin typeface="맑은 고딕"/>
              </a:rPr>
              <a:t>→</a:t>
            </a:r>
            <a:r>
              <a:rPr lang="en-US" sz="1000" b="0" i="0" dirty="0">
                <a:solidFill>
                  <a:srgbClr val="9EA3AB"/>
                </a:solidFill>
                <a:latin typeface="맑은 고딕"/>
              </a:rPr>
              <a:t>C</a:t>
            </a:r>
            <a:r>
              <a:rPr sz="1000" b="0" i="0" dirty="0">
                <a:solidFill>
                  <a:srgbClr val="9EA3AB"/>
                </a:solidFill>
                <a:latin typeface="맑은 고딕"/>
              </a:rPr>
              <a:t> (</a:t>
            </a:r>
            <a:r>
              <a:rPr sz="1000" b="0" i="0" dirty="0" err="1">
                <a:solidFill>
                  <a:srgbClr val="9EA3AB"/>
                </a:solidFill>
                <a:latin typeface="맑은 고딕"/>
              </a:rPr>
              <a:t>평균</a:t>
            </a:r>
            <a:r>
              <a:rPr sz="1000" b="0" i="0" dirty="0">
                <a:solidFill>
                  <a:srgbClr val="9EA3AB"/>
                </a:solidFill>
                <a:latin typeface="맑은 고딕"/>
              </a:rPr>
              <a:t>)</a:t>
            </a: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635273DA-723A-9098-EA19-0CD442C116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235" y="1518957"/>
            <a:ext cx="5432822" cy="233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809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7988D-7DCD-78B2-F8AE-F5075F102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FD7345-1B90-E418-5B40-BDB38F8E7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40262A-0790-53CB-D334-662CBA5CD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C1EDC67E-0300-9524-FD18-3FA70BF4E359}"/>
              </a:ext>
            </a:extLst>
          </p:cNvPr>
          <p:cNvGrpSpPr/>
          <p:nvPr/>
        </p:nvGrpSpPr>
        <p:grpSpPr>
          <a:xfrm>
            <a:off x="576943" y="897468"/>
            <a:ext cx="11038114" cy="5484561"/>
            <a:chOff x="274320" y="905256"/>
            <a:chExt cx="11704321" cy="5815584"/>
          </a:xfrm>
        </p:grpSpPr>
        <p:sp>
          <p:nvSpPr>
            <p:cNvPr id="3" name="Rectangle 4">
              <a:extLst>
                <a:ext uri="{FF2B5EF4-FFF2-40B4-BE49-F238E27FC236}">
                  <a16:creationId xmlns:a16="http://schemas.microsoft.com/office/drawing/2014/main" id="{F0F82086-FFF6-AF28-778D-B573CB8A0898}"/>
                </a:ext>
              </a:extLst>
            </p:cNvPr>
            <p:cNvSpPr/>
            <p:nvPr/>
          </p:nvSpPr>
          <p:spPr>
            <a:xfrm>
              <a:off x="274320" y="905256"/>
              <a:ext cx="5760721" cy="347472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0F47C7B-5F4F-043D-68EC-482A5BF33DE4}"/>
                </a:ext>
              </a:extLst>
            </p:cNvPr>
            <p:cNvSpPr txBox="1"/>
            <p:nvPr/>
          </p:nvSpPr>
          <p:spPr>
            <a:xfrm>
              <a:off x="365760" y="923544"/>
              <a:ext cx="4369044" cy="326353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lang="it-IT" altLang="ko-KR" sz="1400" b="1" dirty="0">
                  <a:solidFill>
                    <a:srgbClr val="FFFFFF"/>
                  </a:solidFill>
                </a:rPr>
                <a:t>Model 3  CrossAttn3  (Clinic+Scanner → AEC)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0A45BC-299F-58CC-F3E2-71FB04C2A83B}"/>
                </a:ext>
              </a:extLst>
            </p:cNvPr>
            <p:cNvSpPr txBox="1"/>
            <p:nvPr/>
          </p:nvSpPr>
          <p:spPr>
            <a:xfrm>
              <a:off x="365760" y="1298449"/>
              <a:ext cx="27432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00" b="0" i="0">
                  <a:solidFill>
                    <a:srgbClr val="9EA3AB"/>
                  </a:solidFill>
                  <a:latin typeface="맑은 고딕"/>
                </a:rPr>
                <a:t>Attention Heatmap (샘플별)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EFACE80-A2E4-7F5C-7B54-C32A1ED8627E}"/>
                </a:ext>
              </a:extLst>
            </p:cNvPr>
            <p:cNvSpPr txBox="1"/>
            <p:nvPr/>
          </p:nvSpPr>
          <p:spPr>
            <a:xfrm>
              <a:off x="365760" y="4105657"/>
              <a:ext cx="27432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00" b="0" i="0">
                  <a:solidFill>
                    <a:srgbClr val="9EA3AB"/>
                  </a:solidFill>
                  <a:latin typeface="맑은 고딕"/>
                </a:rPr>
                <a:t>Attention Map C→A (평균)</a:t>
              </a: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50A2D539-2030-D7C7-671B-B05C43BEC2E5}"/>
                </a:ext>
              </a:extLst>
            </p:cNvPr>
            <p:cNvSpPr/>
            <p:nvPr/>
          </p:nvSpPr>
          <p:spPr>
            <a:xfrm>
              <a:off x="6217920" y="905256"/>
              <a:ext cx="5760721" cy="347472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28DD5D5-DD03-E2A2-8899-A0705EF5F88F}"/>
                </a:ext>
              </a:extLst>
            </p:cNvPr>
            <p:cNvSpPr txBox="1"/>
            <p:nvPr/>
          </p:nvSpPr>
          <p:spPr>
            <a:xfrm>
              <a:off x="6309360" y="923543"/>
              <a:ext cx="4369044" cy="326353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 dirty="0">
                  <a:solidFill>
                    <a:srgbClr val="FFFFFF"/>
                  </a:solidFill>
                  <a:latin typeface="맑은 고딕"/>
                </a:rPr>
                <a:t>Model 3  CrossAttn3  (</a:t>
              </a:r>
              <a:r>
                <a:rPr lang="en-US" sz="1400" b="1" i="0" dirty="0">
                  <a:solidFill>
                    <a:srgbClr val="FFFFFF"/>
                  </a:solidFill>
                  <a:latin typeface="맑은 고딕"/>
                </a:rPr>
                <a:t>AEC </a:t>
              </a:r>
              <a:r>
                <a:rPr lang="ko-KR" altLang="en-US" sz="1400" b="1" i="0" dirty="0">
                  <a:solidFill>
                    <a:srgbClr val="FFFFFF"/>
                  </a:solidFill>
                  <a:latin typeface="맑은 고딕"/>
                </a:rPr>
                <a:t>→ </a:t>
              </a:r>
              <a:r>
                <a:rPr sz="1400" b="1" i="0" dirty="0" err="1">
                  <a:solidFill>
                    <a:srgbClr val="FFFFFF"/>
                  </a:solidFill>
                  <a:latin typeface="맑은 고딕"/>
                </a:rPr>
                <a:t>Clinic+Scanner</a:t>
              </a:r>
              <a:r>
                <a:rPr sz="1400" b="1" i="0" dirty="0">
                  <a:solidFill>
                    <a:srgbClr val="FFFFFF"/>
                  </a:solidFill>
                  <a:latin typeface="맑은 고딕"/>
                </a:rPr>
                <a:t>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48376-E3EE-F850-2AD7-738F9EA82EB5}"/>
                </a:ext>
              </a:extLst>
            </p:cNvPr>
            <p:cNvSpPr txBox="1"/>
            <p:nvPr/>
          </p:nvSpPr>
          <p:spPr>
            <a:xfrm>
              <a:off x="6309360" y="1298448"/>
              <a:ext cx="27432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00" b="0" i="0">
                  <a:solidFill>
                    <a:srgbClr val="9EA3AB"/>
                  </a:solidFill>
                  <a:latin typeface="맑은 고딕"/>
                </a:rPr>
                <a:t>Attention Heatmap (샘플별)</a:t>
              </a:r>
            </a:p>
          </p:txBody>
        </p:sp>
        <p:pic>
          <p:nvPicPr>
            <p:cNvPr id="13" name="Picture 13" descr="attention_heatmap_c2a.png">
              <a:extLst>
                <a:ext uri="{FF2B5EF4-FFF2-40B4-BE49-F238E27FC236}">
                  <a16:creationId xmlns:a16="http://schemas.microsoft.com/office/drawing/2014/main" id="{C00DBF42-19CA-7E57-C6AC-61A5E241AA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2399" y="1545336"/>
              <a:ext cx="5669280" cy="251460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8E7F3DC-86C5-301A-98D9-19F65D0B8CA9}"/>
                </a:ext>
              </a:extLst>
            </p:cNvPr>
            <p:cNvSpPr txBox="1"/>
            <p:nvPr/>
          </p:nvSpPr>
          <p:spPr>
            <a:xfrm>
              <a:off x="6309360" y="4105656"/>
              <a:ext cx="1853070" cy="261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00" b="0" i="0" dirty="0">
                  <a:solidFill>
                    <a:srgbClr val="9EA3AB"/>
                  </a:solidFill>
                  <a:latin typeface="맑은 고딕"/>
                </a:rPr>
                <a:t>Attention Map </a:t>
              </a:r>
              <a:r>
                <a:rPr lang="en-US" sz="1000" b="0" i="0" dirty="0">
                  <a:solidFill>
                    <a:srgbClr val="9EA3AB"/>
                  </a:solidFill>
                  <a:latin typeface="맑은 고딕"/>
                </a:rPr>
                <a:t>A</a:t>
              </a:r>
              <a:r>
                <a:rPr sz="1000" b="0" i="0" dirty="0">
                  <a:solidFill>
                    <a:srgbClr val="9EA3AB"/>
                  </a:solidFill>
                  <a:latin typeface="맑은 고딕"/>
                </a:rPr>
                <a:t>→</a:t>
              </a:r>
              <a:r>
                <a:rPr lang="en-US" sz="1000" b="0" i="0" dirty="0">
                  <a:solidFill>
                    <a:srgbClr val="9EA3AB"/>
                  </a:solidFill>
                  <a:latin typeface="맑은 고딕"/>
                </a:rPr>
                <a:t>C</a:t>
              </a:r>
              <a:r>
                <a:rPr sz="1000" b="0" i="0" dirty="0">
                  <a:solidFill>
                    <a:srgbClr val="9EA3AB"/>
                  </a:solidFill>
                  <a:latin typeface="맑은 고딕"/>
                </a:rPr>
                <a:t> (</a:t>
              </a:r>
              <a:r>
                <a:rPr sz="1000" b="0" i="0" dirty="0" err="1">
                  <a:solidFill>
                    <a:srgbClr val="9EA3AB"/>
                  </a:solidFill>
                  <a:latin typeface="맑은 고딕"/>
                </a:rPr>
                <a:t>평균</a:t>
              </a:r>
              <a:r>
                <a:rPr sz="1000" b="0" i="0" dirty="0">
                  <a:solidFill>
                    <a:srgbClr val="9EA3AB"/>
                  </a:solidFill>
                  <a:latin typeface="맑은 고딕"/>
                </a:rPr>
                <a:t>)</a:t>
              </a:r>
            </a:p>
          </p:txBody>
        </p:sp>
        <p:pic>
          <p:nvPicPr>
            <p:cNvPr id="15" name="Picture 15" descr="attention_map_c2a.png">
              <a:extLst>
                <a:ext uri="{FF2B5EF4-FFF2-40B4-BE49-F238E27FC236}">
                  <a16:creationId xmlns:a16="http://schemas.microsoft.com/office/drawing/2014/main" id="{8AD5DB66-1C46-59C2-FFC3-AEF9B4BD13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2399" y="4352544"/>
              <a:ext cx="5669280" cy="2368296"/>
            </a:xfrm>
            <a:prstGeom prst="rect">
              <a:avLst/>
            </a:prstGeom>
          </p:spPr>
        </p:pic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C9A67823-AEB3-4D19-AE94-8677FEAB27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0533" y="1483868"/>
            <a:ext cx="5434523" cy="238871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B7D79FD-8A0E-B82C-D028-FBB0F8DF2C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8470" y="4161922"/>
            <a:ext cx="5346586" cy="2220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2411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11831-2F5B-EB90-78B3-D728AE530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E84958-BA3B-F21F-AEC1-3D71D986D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796886-438C-E6FC-137F-4524DE06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21D323-4D93-19DE-5982-4126AF9EE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 분리 비교</a:t>
            </a:r>
          </a:p>
        </p:txBody>
      </p:sp>
      <p:grpSp>
        <p:nvGrpSpPr>
          <p:cNvPr id="123" name="그룹 122">
            <a:extLst>
              <a:ext uri="{FF2B5EF4-FFF2-40B4-BE49-F238E27FC236}">
                <a16:creationId xmlns:a16="http://schemas.microsoft.com/office/drawing/2014/main" id="{8D8E3714-21EF-CFA2-6B58-AF497B37ECF0}"/>
              </a:ext>
            </a:extLst>
          </p:cNvPr>
          <p:cNvGrpSpPr/>
          <p:nvPr/>
        </p:nvGrpSpPr>
        <p:grpSpPr>
          <a:xfrm>
            <a:off x="269966" y="3305048"/>
            <a:ext cx="7073537" cy="2760262"/>
            <a:chOff x="274320" y="2825497"/>
            <a:chExt cx="7086600" cy="3496059"/>
          </a:xfrm>
        </p:grpSpPr>
        <p:sp>
          <p:nvSpPr>
            <p:cNvPr id="101" name="Rectangle 77">
              <a:extLst>
                <a:ext uri="{FF2B5EF4-FFF2-40B4-BE49-F238E27FC236}">
                  <a16:creationId xmlns:a16="http://schemas.microsoft.com/office/drawing/2014/main" id="{9E6E85B9-CB55-3DF1-A9E9-A0B37927AD0D}"/>
                </a:ext>
              </a:extLst>
            </p:cNvPr>
            <p:cNvSpPr/>
            <p:nvPr/>
          </p:nvSpPr>
          <p:spPr>
            <a:xfrm>
              <a:off x="274320" y="2825497"/>
              <a:ext cx="3474720" cy="3496059"/>
            </a:xfrm>
            <a:prstGeom prst="rect">
              <a:avLst/>
            </a:prstGeom>
            <a:solidFill>
              <a:srgbClr val="E8F0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2" name="Rectangle 78">
              <a:extLst>
                <a:ext uri="{FF2B5EF4-FFF2-40B4-BE49-F238E27FC236}">
                  <a16:creationId xmlns:a16="http://schemas.microsoft.com/office/drawing/2014/main" id="{9EED86ED-22E3-B353-52F0-3FAEA44C7E8D}"/>
                </a:ext>
              </a:extLst>
            </p:cNvPr>
            <p:cNvSpPr/>
            <p:nvPr/>
          </p:nvSpPr>
          <p:spPr>
            <a:xfrm>
              <a:off x="274321" y="2825497"/>
              <a:ext cx="91439" cy="3496059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57E5390F-BF0E-3B12-3BA5-D544998498E1}"/>
                </a:ext>
              </a:extLst>
            </p:cNvPr>
            <p:cNvSpPr txBox="1"/>
            <p:nvPr/>
          </p:nvSpPr>
          <p:spPr>
            <a:xfrm>
              <a:off x="457200" y="2898648"/>
              <a:ext cx="32004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0F6BBF"/>
                  </a:solidFill>
                  <a:latin typeface="맑은 고딕"/>
                </a:rPr>
                <a:t>남성 비교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35CDFB02-105D-8B36-169E-BB274B1F8231}"/>
                </a:ext>
              </a:extLst>
            </p:cNvPr>
            <p:cNvSpPr txBox="1"/>
            <p:nvPr/>
          </p:nvSpPr>
          <p:spPr>
            <a:xfrm>
              <a:off x="457200" y="3282696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M1→M2: 0.704→0.740  (Δ+0.037)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2138A095-C58F-3EC2-D6B9-9B7765D519A1}"/>
                </a:ext>
              </a:extLst>
            </p:cNvPr>
            <p:cNvSpPr txBox="1"/>
            <p:nvPr/>
          </p:nvSpPr>
          <p:spPr>
            <a:xfrm>
              <a:off x="457200" y="3758183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M1→M3: 0.704→0.722  (Δ+0.019)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07985FBE-5615-8AB7-025D-908F2A893AA1}"/>
                </a:ext>
              </a:extLst>
            </p:cNvPr>
            <p:cNvSpPr txBox="1"/>
            <p:nvPr/>
          </p:nvSpPr>
          <p:spPr>
            <a:xfrm>
              <a:off x="457200" y="4233672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M3 &lt; M2 for male — Scanner 역효과?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AF8D90CE-0A13-3C1F-7396-7547346A54F4}"/>
                </a:ext>
              </a:extLst>
            </p:cNvPr>
            <p:cNvSpPr txBox="1"/>
            <p:nvPr/>
          </p:nvSpPr>
          <p:spPr>
            <a:xfrm>
              <a:off x="457200" y="4709160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유병률 15.9% → AUC 해석 비교적 안정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50492B6B-316D-4D3F-5731-6151D40A2255}"/>
                </a:ext>
              </a:extLst>
            </p:cNvPr>
            <p:cNvSpPr txBox="1"/>
            <p:nvPr/>
          </p:nvSpPr>
          <p:spPr>
            <a:xfrm>
              <a:off x="457200" y="5184648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AUPRC: M1(0.316)→M2(0.350) +10.8%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D79E3571-D6E4-D4C7-28D9-E6D45EA7E42D}"/>
                </a:ext>
              </a:extLst>
            </p:cNvPr>
            <p:cNvSpPr txBox="1"/>
            <p:nvPr/>
          </p:nvSpPr>
          <p:spPr>
            <a:xfrm>
              <a:off x="457200" y="5660136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M3(0.298)로 오히려 감소</a:t>
              </a:r>
            </a:p>
          </p:txBody>
        </p:sp>
        <p:sp>
          <p:nvSpPr>
            <p:cNvPr id="114" name="Rectangle 86">
              <a:extLst>
                <a:ext uri="{FF2B5EF4-FFF2-40B4-BE49-F238E27FC236}">
                  <a16:creationId xmlns:a16="http://schemas.microsoft.com/office/drawing/2014/main" id="{41F36659-3CAD-B709-AC1A-EABD58B2E71D}"/>
                </a:ext>
              </a:extLst>
            </p:cNvPr>
            <p:cNvSpPr/>
            <p:nvPr/>
          </p:nvSpPr>
          <p:spPr>
            <a:xfrm>
              <a:off x="3886200" y="2825497"/>
              <a:ext cx="3474720" cy="3496059"/>
            </a:xfrm>
            <a:prstGeom prst="rect">
              <a:avLst/>
            </a:prstGeom>
            <a:solidFill>
              <a:srgbClr val="FFF0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Rectangle 87">
              <a:extLst>
                <a:ext uri="{FF2B5EF4-FFF2-40B4-BE49-F238E27FC236}">
                  <a16:creationId xmlns:a16="http://schemas.microsoft.com/office/drawing/2014/main" id="{C8968DA5-BF87-BD90-93D8-615F09FEEF0F}"/>
                </a:ext>
              </a:extLst>
            </p:cNvPr>
            <p:cNvSpPr/>
            <p:nvPr/>
          </p:nvSpPr>
          <p:spPr>
            <a:xfrm>
              <a:off x="3886201" y="2825497"/>
              <a:ext cx="91439" cy="3496059"/>
            </a:xfrm>
            <a:prstGeom prst="rect">
              <a:avLst/>
            </a:prstGeom>
            <a:solidFill>
              <a:srgbClr val="C0392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191CDB31-A2D7-E06C-5D14-F0F602D05CC5}"/>
                </a:ext>
              </a:extLst>
            </p:cNvPr>
            <p:cNvSpPr txBox="1"/>
            <p:nvPr/>
          </p:nvSpPr>
          <p:spPr>
            <a:xfrm>
              <a:off x="4069080" y="2898648"/>
              <a:ext cx="32004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C0392B"/>
                  </a:solidFill>
                  <a:latin typeface="맑은 고딕"/>
                </a:rPr>
                <a:t>여성 비교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2A1315F7-0D5D-0AD9-FFA4-7B3D2E668414}"/>
                </a:ext>
              </a:extLst>
            </p:cNvPr>
            <p:cNvSpPr txBox="1"/>
            <p:nvPr/>
          </p:nvSpPr>
          <p:spPr>
            <a:xfrm>
              <a:off x="4069080" y="3282696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M1→M2: 0.848→0.886  (Δ+0.038)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428D27B-339D-F6E8-87D7-EED859ED85EF}"/>
                </a:ext>
              </a:extLst>
            </p:cNvPr>
            <p:cNvSpPr txBox="1"/>
            <p:nvPr/>
          </p:nvSpPr>
          <p:spPr>
            <a:xfrm>
              <a:off x="4069080" y="3758183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M1→M3: 0.848→0.890  (Δ+0.042)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8EE58899-59FD-9AA5-F7F0-AA63FA2BC913}"/>
                </a:ext>
              </a:extLst>
            </p:cNvPr>
            <p:cNvSpPr txBox="1"/>
            <p:nvPr/>
          </p:nvSpPr>
          <p:spPr>
            <a:xfrm>
              <a:off x="4069080" y="4233672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여성에서 AEC 기여 효과가 더 뚜렷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0D28FF1-F674-4219-15E6-005C626D5346}"/>
                </a:ext>
              </a:extLst>
            </p:cNvPr>
            <p:cNvSpPr txBox="1"/>
            <p:nvPr/>
          </p:nvSpPr>
          <p:spPr>
            <a:xfrm>
              <a:off x="4069080" y="4709160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AUPRC: M1(0.475)→M2(0.477) 유지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EEFEEEF8-31C2-ACCF-48A9-D8E1DF10DE26}"/>
                </a:ext>
              </a:extLst>
            </p:cNvPr>
            <p:cNvSpPr txBox="1"/>
            <p:nvPr/>
          </p:nvSpPr>
          <p:spPr>
            <a:xfrm>
              <a:off x="4069080" y="5184648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유병률 7.5% → class imbalance 주의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83C4239F-759C-0965-C8E3-ECAC6DCD7903}"/>
                </a:ext>
              </a:extLst>
            </p:cNvPr>
            <p:cNvSpPr txBox="1"/>
            <p:nvPr/>
          </p:nvSpPr>
          <p:spPr>
            <a:xfrm>
              <a:off x="4069080" y="5660136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AUPRC가 AUC보다 중요한 지표</a:t>
              </a:r>
            </a:p>
          </p:txBody>
        </p:sp>
      </p:grpSp>
      <p:grpSp>
        <p:nvGrpSpPr>
          <p:cNvPr id="270" name="그룹 269">
            <a:extLst>
              <a:ext uri="{FF2B5EF4-FFF2-40B4-BE49-F238E27FC236}">
                <a16:creationId xmlns:a16="http://schemas.microsoft.com/office/drawing/2014/main" id="{173D4F9A-15D7-D223-D540-F10B4A36F3C5}"/>
              </a:ext>
            </a:extLst>
          </p:cNvPr>
          <p:cNvGrpSpPr/>
          <p:nvPr/>
        </p:nvGrpSpPr>
        <p:grpSpPr>
          <a:xfrm>
            <a:off x="268432" y="1528243"/>
            <a:ext cx="11655135" cy="1609344"/>
            <a:chOff x="274320" y="905256"/>
            <a:chExt cx="11795759" cy="1609344"/>
          </a:xfrm>
        </p:grpSpPr>
        <p:sp>
          <p:nvSpPr>
            <p:cNvPr id="197" name="Rectangle 4">
              <a:extLst>
                <a:ext uri="{FF2B5EF4-FFF2-40B4-BE49-F238E27FC236}">
                  <a16:creationId xmlns:a16="http://schemas.microsoft.com/office/drawing/2014/main" id="{3287BDF1-DB20-0D8A-F4C0-22EA7C2D94BB}"/>
                </a:ext>
              </a:extLst>
            </p:cNvPr>
            <p:cNvSpPr/>
            <p:nvPr/>
          </p:nvSpPr>
          <p:spPr>
            <a:xfrm>
              <a:off x="274320" y="905256"/>
              <a:ext cx="11795759" cy="1609344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8" name="Rectangle 5">
              <a:extLst>
                <a:ext uri="{FF2B5EF4-FFF2-40B4-BE49-F238E27FC236}">
                  <a16:creationId xmlns:a16="http://schemas.microsoft.com/office/drawing/2014/main" id="{B169A582-1F1F-9DCA-44ED-754054613B4E}"/>
                </a:ext>
              </a:extLst>
            </p:cNvPr>
            <p:cNvSpPr/>
            <p:nvPr/>
          </p:nvSpPr>
          <p:spPr>
            <a:xfrm>
              <a:off x="365760" y="950976"/>
              <a:ext cx="13258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D1822C4E-A0F2-5838-3F30-3488A95215E2}"/>
                </a:ext>
              </a:extLst>
            </p:cNvPr>
            <p:cNvSpPr txBox="1"/>
            <p:nvPr/>
          </p:nvSpPr>
          <p:spPr>
            <a:xfrm>
              <a:off x="365760" y="950976"/>
              <a:ext cx="13258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모델</a:t>
              </a:r>
            </a:p>
          </p:txBody>
        </p:sp>
        <p:sp>
          <p:nvSpPr>
            <p:cNvPr id="200" name="Rectangle 7">
              <a:extLst>
                <a:ext uri="{FF2B5EF4-FFF2-40B4-BE49-F238E27FC236}">
                  <a16:creationId xmlns:a16="http://schemas.microsoft.com/office/drawing/2014/main" id="{3A2F61D4-8DEE-8348-DB5A-EABF2FAE4790}"/>
                </a:ext>
              </a:extLst>
            </p:cNvPr>
            <p:cNvSpPr/>
            <p:nvPr/>
          </p:nvSpPr>
          <p:spPr>
            <a:xfrm>
              <a:off x="1737360" y="950976"/>
              <a:ext cx="11887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9E9B0814-D9E9-CAC7-8EEC-F1B89AAD81C1}"/>
                </a:ext>
              </a:extLst>
            </p:cNvPr>
            <p:cNvSpPr txBox="1"/>
            <p:nvPr/>
          </p:nvSpPr>
          <p:spPr>
            <a:xfrm>
              <a:off x="1737360" y="950976"/>
              <a:ext cx="11887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전체 AUC</a:t>
              </a:r>
            </a:p>
          </p:txBody>
        </p:sp>
        <p:sp>
          <p:nvSpPr>
            <p:cNvPr id="202" name="Rectangle 9">
              <a:extLst>
                <a:ext uri="{FF2B5EF4-FFF2-40B4-BE49-F238E27FC236}">
                  <a16:creationId xmlns:a16="http://schemas.microsoft.com/office/drawing/2014/main" id="{F3588C63-0879-2200-3722-D2FACDF564A4}"/>
                </a:ext>
              </a:extLst>
            </p:cNvPr>
            <p:cNvSpPr/>
            <p:nvPr/>
          </p:nvSpPr>
          <p:spPr>
            <a:xfrm>
              <a:off x="2971800" y="950976"/>
              <a:ext cx="12344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17EBD6AC-A3CA-C8C6-32CC-B9BC7B152CFF}"/>
                </a:ext>
              </a:extLst>
            </p:cNvPr>
            <p:cNvSpPr txBox="1"/>
            <p:nvPr/>
          </p:nvSpPr>
          <p:spPr>
            <a:xfrm>
              <a:off x="2971800" y="950976"/>
              <a:ext cx="12344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전체 CI</a:t>
              </a:r>
            </a:p>
          </p:txBody>
        </p:sp>
        <p:sp>
          <p:nvSpPr>
            <p:cNvPr id="204" name="Rectangle 11">
              <a:extLst>
                <a:ext uri="{FF2B5EF4-FFF2-40B4-BE49-F238E27FC236}">
                  <a16:creationId xmlns:a16="http://schemas.microsoft.com/office/drawing/2014/main" id="{DF950091-6E3E-22B5-A474-6F8DD33DD784}"/>
                </a:ext>
              </a:extLst>
            </p:cNvPr>
            <p:cNvSpPr/>
            <p:nvPr/>
          </p:nvSpPr>
          <p:spPr>
            <a:xfrm>
              <a:off x="4251960" y="950976"/>
              <a:ext cx="12344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5A53A2CD-D389-962E-F6B1-4ACA7487F0EB}"/>
                </a:ext>
              </a:extLst>
            </p:cNvPr>
            <p:cNvSpPr txBox="1"/>
            <p:nvPr/>
          </p:nvSpPr>
          <p:spPr>
            <a:xfrm>
              <a:off x="4251960" y="950976"/>
              <a:ext cx="12344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남성 AUC</a:t>
              </a:r>
            </a:p>
          </p:txBody>
        </p:sp>
        <p:sp>
          <p:nvSpPr>
            <p:cNvPr id="206" name="Rectangle 13">
              <a:extLst>
                <a:ext uri="{FF2B5EF4-FFF2-40B4-BE49-F238E27FC236}">
                  <a16:creationId xmlns:a16="http://schemas.microsoft.com/office/drawing/2014/main" id="{D182561E-17AA-18F7-2F59-025B16FEC317}"/>
                </a:ext>
              </a:extLst>
            </p:cNvPr>
            <p:cNvSpPr/>
            <p:nvPr/>
          </p:nvSpPr>
          <p:spPr>
            <a:xfrm>
              <a:off x="5532120" y="950976"/>
              <a:ext cx="11887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F4FE49CB-AFAE-5FB9-5EE9-CC14F54F42A0}"/>
                </a:ext>
              </a:extLst>
            </p:cNvPr>
            <p:cNvSpPr txBox="1"/>
            <p:nvPr/>
          </p:nvSpPr>
          <p:spPr>
            <a:xfrm>
              <a:off x="5532120" y="950976"/>
              <a:ext cx="11887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남성 CI</a:t>
              </a:r>
            </a:p>
          </p:txBody>
        </p:sp>
        <p:sp>
          <p:nvSpPr>
            <p:cNvPr id="208" name="Rectangle 15">
              <a:extLst>
                <a:ext uri="{FF2B5EF4-FFF2-40B4-BE49-F238E27FC236}">
                  <a16:creationId xmlns:a16="http://schemas.microsoft.com/office/drawing/2014/main" id="{F06F0F2B-F49E-276D-1AAA-627059D979D1}"/>
                </a:ext>
              </a:extLst>
            </p:cNvPr>
            <p:cNvSpPr/>
            <p:nvPr/>
          </p:nvSpPr>
          <p:spPr>
            <a:xfrm>
              <a:off x="6766560" y="950976"/>
              <a:ext cx="12344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29FD701A-121E-E9DA-7059-6D2CD184D5A4}"/>
                </a:ext>
              </a:extLst>
            </p:cNvPr>
            <p:cNvSpPr txBox="1"/>
            <p:nvPr/>
          </p:nvSpPr>
          <p:spPr>
            <a:xfrm>
              <a:off x="6766560" y="950976"/>
              <a:ext cx="12344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여성 AUC</a:t>
              </a:r>
            </a:p>
          </p:txBody>
        </p:sp>
        <p:sp>
          <p:nvSpPr>
            <p:cNvPr id="210" name="Rectangle 17">
              <a:extLst>
                <a:ext uri="{FF2B5EF4-FFF2-40B4-BE49-F238E27FC236}">
                  <a16:creationId xmlns:a16="http://schemas.microsoft.com/office/drawing/2014/main" id="{82A3D568-D499-7774-BA31-D6EF17C23890}"/>
                </a:ext>
              </a:extLst>
            </p:cNvPr>
            <p:cNvSpPr/>
            <p:nvPr/>
          </p:nvSpPr>
          <p:spPr>
            <a:xfrm>
              <a:off x="8046720" y="950976"/>
              <a:ext cx="12344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EA703517-8197-BEEA-8C67-6EB82ED015D4}"/>
                </a:ext>
              </a:extLst>
            </p:cNvPr>
            <p:cNvSpPr txBox="1"/>
            <p:nvPr/>
          </p:nvSpPr>
          <p:spPr>
            <a:xfrm>
              <a:off x="8046720" y="950976"/>
              <a:ext cx="12344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여성 CI</a:t>
              </a:r>
            </a:p>
          </p:txBody>
        </p:sp>
        <p:sp>
          <p:nvSpPr>
            <p:cNvPr id="212" name="Rectangle 19">
              <a:extLst>
                <a:ext uri="{FF2B5EF4-FFF2-40B4-BE49-F238E27FC236}">
                  <a16:creationId xmlns:a16="http://schemas.microsoft.com/office/drawing/2014/main" id="{26C347CA-6AEF-DD71-F873-EFC8DAD9366A}"/>
                </a:ext>
              </a:extLst>
            </p:cNvPr>
            <p:cNvSpPr/>
            <p:nvPr/>
          </p:nvSpPr>
          <p:spPr>
            <a:xfrm>
              <a:off x="9326880" y="950976"/>
              <a:ext cx="12344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DC2DF498-0004-106A-43D5-64B29F9151BC}"/>
                </a:ext>
              </a:extLst>
            </p:cNvPr>
            <p:cNvSpPr txBox="1"/>
            <p:nvPr/>
          </p:nvSpPr>
          <p:spPr>
            <a:xfrm>
              <a:off x="9326880" y="950976"/>
              <a:ext cx="12344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남 AUPRC</a:t>
              </a:r>
            </a:p>
          </p:txBody>
        </p:sp>
        <p:sp>
          <p:nvSpPr>
            <p:cNvPr id="214" name="Rectangle 21">
              <a:extLst>
                <a:ext uri="{FF2B5EF4-FFF2-40B4-BE49-F238E27FC236}">
                  <a16:creationId xmlns:a16="http://schemas.microsoft.com/office/drawing/2014/main" id="{52046697-E81E-1BE3-F19A-57FA849BF3EA}"/>
                </a:ext>
              </a:extLst>
            </p:cNvPr>
            <p:cNvSpPr/>
            <p:nvPr/>
          </p:nvSpPr>
          <p:spPr>
            <a:xfrm>
              <a:off x="10607040" y="950976"/>
              <a:ext cx="14173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C059AD7E-14A2-4A1B-51D9-38890576160C}"/>
                </a:ext>
              </a:extLst>
            </p:cNvPr>
            <p:cNvSpPr txBox="1"/>
            <p:nvPr/>
          </p:nvSpPr>
          <p:spPr>
            <a:xfrm>
              <a:off x="10607040" y="950976"/>
              <a:ext cx="14173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여 AUPRC</a:t>
              </a:r>
            </a:p>
          </p:txBody>
        </p:sp>
        <p:sp>
          <p:nvSpPr>
            <p:cNvPr id="216" name="Rectangle 23">
              <a:extLst>
                <a:ext uri="{FF2B5EF4-FFF2-40B4-BE49-F238E27FC236}">
                  <a16:creationId xmlns:a16="http://schemas.microsoft.com/office/drawing/2014/main" id="{7F12BDA6-4385-72C8-4CAA-08ED76034E2B}"/>
                </a:ext>
              </a:extLst>
            </p:cNvPr>
            <p:cNvSpPr/>
            <p:nvPr/>
          </p:nvSpPr>
          <p:spPr>
            <a:xfrm>
              <a:off x="365760" y="1243584"/>
              <a:ext cx="1325880" cy="374904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85C9F173-8086-C8CA-3E48-1568A52F97A6}"/>
                </a:ext>
              </a:extLst>
            </p:cNvPr>
            <p:cNvSpPr txBox="1"/>
            <p:nvPr/>
          </p:nvSpPr>
          <p:spPr>
            <a:xfrm>
              <a:off x="365760" y="1243584"/>
              <a:ext cx="132588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 dirty="0">
                  <a:solidFill>
                    <a:srgbClr val="1A1A2E"/>
                  </a:solidFill>
                  <a:latin typeface="맑은 고딕"/>
                </a:rPr>
                <a:t>M1 (LR)</a:t>
              </a:r>
            </a:p>
          </p:txBody>
        </p:sp>
        <p:sp>
          <p:nvSpPr>
            <p:cNvPr id="218" name="Rectangle 25">
              <a:extLst>
                <a:ext uri="{FF2B5EF4-FFF2-40B4-BE49-F238E27FC236}">
                  <a16:creationId xmlns:a16="http://schemas.microsoft.com/office/drawing/2014/main" id="{4897E59A-6373-1283-F377-B600CF468DC5}"/>
                </a:ext>
              </a:extLst>
            </p:cNvPr>
            <p:cNvSpPr/>
            <p:nvPr/>
          </p:nvSpPr>
          <p:spPr>
            <a:xfrm>
              <a:off x="1737360" y="1243584"/>
              <a:ext cx="1188720" cy="374904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D1FF268C-D133-9F1A-5505-FB9A75C6A3E2}"/>
                </a:ext>
              </a:extLst>
            </p:cNvPr>
            <p:cNvSpPr txBox="1"/>
            <p:nvPr/>
          </p:nvSpPr>
          <p:spPr>
            <a:xfrm>
              <a:off x="1737360" y="1243584"/>
              <a:ext cx="118872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0.8030</a:t>
              </a:r>
            </a:p>
          </p:txBody>
        </p:sp>
        <p:sp>
          <p:nvSpPr>
            <p:cNvPr id="220" name="Rectangle 27">
              <a:extLst>
                <a:ext uri="{FF2B5EF4-FFF2-40B4-BE49-F238E27FC236}">
                  <a16:creationId xmlns:a16="http://schemas.microsoft.com/office/drawing/2014/main" id="{F159787E-AD75-1305-1A56-382F8D8FC830}"/>
                </a:ext>
              </a:extLst>
            </p:cNvPr>
            <p:cNvSpPr/>
            <p:nvPr/>
          </p:nvSpPr>
          <p:spPr>
            <a:xfrm>
              <a:off x="2971800" y="1243584"/>
              <a:ext cx="1234440" cy="374904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02F2540E-A826-680A-EE21-4649F063534D}"/>
                </a:ext>
              </a:extLst>
            </p:cNvPr>
            <p:cNvSpPr txBox="1"/>
            <p:nvPr/>
          </p:nvSpPr>
          <p:spPr>
            <a:xfrm>
              <a:off x="2971800" y="1243584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[0.720,0.872]</a:t>
              </a:r>
            </a:p>
          </p:txBody>
        </p:sp>
        <p:sp>
          <p:nvSpPr>
            <p:cNvPr id="222" name="Rectangle 29">
              <a:extLst>
                <a:ext uri="{FF2B5EF4-FFF2-40B4-BE49-F238E27FC236}">
                  <a16:creationId xmlns:a16="http://schemas.microsoft.com/office/drawing/2014/main" id="{67C7C298-FBEF-1DCF-55DF-961FA5C96B39}"/>
                </a:ext>
              </a:extLst>
            </p:cNvPr>
            <p:cNvSpPr/>
            <p:nvPr/>
          </p:nvSpPr>
          <p:spPr>
            <a:xfrm>
              <a:off x="4251960" y="1243584"/>
              <a:ext cx="1234440" cy="374904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17C91FD2-FC84-E99C-9371-C4E9F975888F}"/>
                </a:ext>
              </a:extLst>
            </p:cNvPr>
            <p:cNvSpPr txBox="1"/>
            <p:nvPr/>
          </p:nvSpPr>
          <p:spPr>
            <a:xfrm>
              <a:off x="4251960" y="1243584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0.7035</a:t>
              </a:r>
            </a:p>
          </p:txBody>
        </p:sp>
        <p:sp>
          <p:nvSpPr>
            <p:cNvPr id="224" name="Rectangle 31">
              <a:extLst>
                <a:ext uri="{FF2B5EF4-FFF2-40B4-BE49-F238E27FC236}">
                  <a16:creationId xmlns:a16="http://schemas.microsoft.com/office/drawing/2014/main" id="{CBF1AE71-A39E-1363-F4A6-C3D7FE0EE7A5}"/>
                </a:ext>
              </a:extLst>
            </p:cNvPr>
            <p:cNvSpPr/>
            <p:nvPr/>
          </p:nvSpPr>
          <p:spPr>
            <a:xfrm>
              <a:off x="5532120" y="1243584"/>
              <a:ext cx="1188720" cy="374904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59F4F685-EF9D-51BC-476A-A25F359FCCB7}"/>
                </a:ext>
              </a:extLst>
            </p:cNvPr>
            <p:cNvSpPr txBox="1"/>
            <p:nvPr/>
          </p:nvSpPr>
          <p:spPr>
            <a:xfrm>
              <a:off x="5532120" y="1243584"/>
              <a:ext cx="118872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226" name="Rectangle 33">
              <a:extLst>
                <a:ext uri="{FF2B5EF4-FFF2-40B4-BE49-F238E27FC236}">
                  <a16:creationId xmlns:a16="http://schemas.microsoft.com/office/drawing/2014/main" id="{DCEEDE20-D6C9-4639-4256-F3076A23F993}"/>
                </a:ext>
              </a:extLst>
            </p:cNvPr>
            <p:cNvSpPr/>
            <p:nvPr/>
          </p:nvSpPr>
          <p:spPr>
            <a:xfrm>
              <a:off x="6766560" y="1243584"/>
              <a:ext cx="1234440" cy="374904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ED5CFCDE-514C-E77E-AA11-A35AF1E85096}"/>
                </a:ext>
              </a:extLst>
            </p:cNvPr>
            <p:cNvSpPr txBox="1"/>
            <p:nvPr/>
          </p:nvSpPr>
          <p:spPr>
            <a:xfrm>
              <a:off x="6766560" y="1243584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0.8483</a:t>
              </a:r>
            </a:p>
          </p:txBody>
        </p:sp>
        <p:sp>
          <p:nvSpPr>
            <p:cNvPr id="228" name="Rectangle 35">
              <a:extLst>
                <a:ext uri="{FF2B5EF4-FFF2-40B4-BE49-F238E27FC236}">
                  <a16:creationId xmlns:a16="http://schemas.microsoft.com/office/drawing/2014/main" id="{763BF6E4-34BB-62E2-B18F-3B5BD2ED6963}"/>
                </a:ext>
              </a:extLst>
            </p:cNvPr>
            <p:cNvSpPr/>
            <p:nvPr/>
          </p:nvSpPr>
          <p:spPr>
            <a:xfrm>
              <a:off x="8046720" y="1243584"/>
              <a:ext cx="1234440" cy="374904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32456446-C90E-E556-242B-DA06BD923CA3}"/>
                </a:ext>
              </a:extLst>
            </p:cNvPr>
            <p:cNvSpPr txBox="1"/>
            <p:nvPr/>
          </p:nvSpPr>
          <p:spPr>
            <a:xfrm>
              <a:off x="8046720" y="1243584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230" name="Rectangle 37">
              <a:extLst>
                <a:ext uri="{FF2B5EF4-FFF2-40B4-BE49-F238E27FC236}">
                  <a16:creationId xmlns:a16="http://schemas.microsoft.com/office/drawing/2014/main" id="{FCD1937A-5DC7-563C-A2EA-64B4BF91172F}"/>
                </a:ext>
              </a:extLst>
            </p:cNvPr>
            <p:cNvSpPr/>
            <p:nvPr/>
          </p:nvSpPr>
          <p:spPr>
            <a:xfrm>
              <a:off x="9326880" y="1243584"/>
              <a:ext cx="1234440" cy="374904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529A494E-F77E-765E-B0E0-89271A5A6D16}"/>
                </a:ext>
              </a:extLst>
            </p:cNvPr>
            <p:cNvSpPr txBox="1"/>
            <p:nvPr/>
          </p:nvSpPr>
          <p:spPr>
            <a:xfrm>
              <a:off x="9326880" y="1243584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0.3155</a:t>
              </a:r>
            </a:p>
          </p:txBody>
        </p:sp>
        <p:sp>
          <p:nvSpPr>
            <p:cNvPr id="232" name="Rectangle 39">
              <a:extLst>
                <a:ext uri="{FF2B5EF4-FFF2-40B4-BE49-F238E27FC236}">
                  <a16:creationId xmlns:a16="http://schemas.microsoft.com/office/drawing/2014/main" id="{BE37E444-D7FC-6056-CAB7-D4F89BC24A2C}"/>
                </a:ext>
              </a:extLst>
            </p:cNvPr>
            <p:cNvSpPr/>
            <p:nvPr/>
          </p:nvSpPr>
          <p:spPr>
            <a:xfrm>
              <a:off x="10607040" y="1243584"/>
              <a:ext cx="1417320" cy="374904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49E1A9B2-E35C-25F9-92A7-860EF710B2DD}"/>
                </a:ext>
              </a:extLst>
            </p:cNvPr>
            <p:cNvSpPr txBox="1"/>
            <p:nvPr/>
          </p:nvSpPr>
          <p:spPr>
            <a:xfrm>
              <a:off x="10607040" y="1243584"/>
              <a:ext cx="141732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0.4748</a:t>
              </a:r>
            </a:p>
          </p:txBody>
        </p:sp>
        <p:sp>
          <p:nvSpPr>
            <p:cNvPr id="234" name="Rectangle 41">
              <a:extLst>
                <a:ext uri="{FF2B5EF4-FFF2-40B4-BE49-F238E27FC236}">
                  <a16:creationId xmlns:a16="http://schemas.microsoft.com/office/drawing/2014/main" id="{FB365474-533E-2FF9-4F96-CE6A4B65FD85}"/>
                </a:ext>
              </a:extLst>
            </p:cNvPr>
            <p:cNvSpPr/>
            <p:nvPr/>
          </p:nvSpPr>
          <p:spPr>
            <a:xfrm>
              <a:off x="365760" y="1618488"/>
              <a:ext cx="1325880" cy="374904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801BD331-BAEC-9552-8D70-DA7733F9E5B5}"/>
                </a:ext>
              </a:extLst>
            </p:cNvPr>
            <p:cNvSpPr txBox="1"/>
            <p:nvPr/>
          </p:nvSpPr>
          <p:spPr>
            <a:xfrm>
              <a:off x="365760" y="1618488"/>
              <a:ext cx="132588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M2 (CrossAttn)</a:t>
              </a:r>
            </a:p>
          </p:txBody>
        </p:sp>
        <p:sp>
          <p:nvSpPr>
            <p:cNvPr id="236" name="Rectangle 43">
              <a:extLst>
                <a:ext uri="{FF2B5EF4-FFF2-40B4-BE49-F238E27FC236}">
                  <a16:creationId xmlns:a16="http://schemas.microsoft.com/office/drawing/2014/main" id="{AF58CE62-33E1-8532-E7D6-ADAD87FB6C60}"/>
                </a:ext>
              </a:extLst>
            </p:cNvPr>
            <p:cNvSpPr/>
            <p:nvPr/>
          </p:nvSpPr>
          <p:spPr>
            <a:xfrm>
              <a:off x="1737360" y="1618488"/>
              <a:ext cx="1188720" cy="374904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FC5D1265-60D1-8396-2317-46B99F5E03F0}"/>
                </a:ext>
              </a:extLst>
            </p:cNvPr>
            <p:cNvSpPr txBox="1"/>
            <p:nvPr/>
          </p:nvSpPr>
          <p:spPr>
            <a:xfrm>
              <a:off x="1737360" y="1618488"/>
              <a:ext cx="118872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0.8350</a:t>
              </a:r>
            </a:p>
          </p:txBody>
        </p:sp>
        <p:sp>
          <p:nvSpPr>
            <p:cNvPr id="238" name="Rectangle 45">
              <a:extLst>
                <a:ext uri="{FF2B5EF4-FFF2-40B4-BE49-F238E27FC236}">
                  <a16:creationId xmlns:a16="http://schemas.microsoft.com/office/drawing/2014/main" id="{E3EA46E3-63BA-FA75-FB05-EF1600EBCC7C}"/>
                </a:ext>
              </a:extLst>
            </p:cNvPr>
            <p:cNvSpPr/>
            <p:nvPr/>
          </p:nvSpPr>
          <p:spPr>
            <a:xfrm>
              <a:off x="2971800" y="1618488"/>
              <a:ext cx="1234440" cy="374904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82FFFEC1-23B4-C5F7-728D-A3C0D60ADC5F}"/>
                </a:ext>
              </a:extLst>
            </p:cNvPr>
            <p:cNvSpPr txBox="1"/>
            <p:nvPr/>
          </p:nvSpPr>
          <p:spPr>
            <a:xfrm>
              <a:off x="2971800" y="1618488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[0.753,0.899]</a:t>
              </a:r>
            </a:p>
          </p:txBody>
        </p:sp>
        <p:sp>
          <p:nvSpPr>
            <p:cNvPr id="240" name="Rectangle 47">
              <a:extLst>
                <a:ext uri="{FF2B5EF4-FFF2-40B4-BE49-F238E27FC236}">
                  <a16:creationId xmlns:a16="http://schemas.microsoft.com/office/drawing/2014/main" id="{C368B71A-01BE-3CE7-017C-5052D4F31EB3}"/>
                </a:ext>
              </a:extLst>
            </p:cNvPr>
            <p:cNvSpPr/>
            <p:nvPr/>
          </p:nvSpPr>
          <p:spPr>
            <a:xfrm>
              <a:off x="4251960" y="1618488"/>
              <a:ext cx="1234440" cy="374904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AF43B6ED-55E3-0E60-55E9-3DBE54366330}"/>
                </a:ext>
              </a:extLst>
            </p:cNvPr>
            <p:cNvSpPr txBox="1"/>
            <p:nvPr/>
          </p:nvSpPr>
          <p:spPr>
            <a:xfrm>
              <a:off x="4251960" y="1618488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0.7402</a:t>
              </a:r>
            </a:p>
          </p:txBody>
        </p:sp>
        <p:sp>
          <p:nvSpPr>
            <p:cNvPr id="242" name="Rectangle 49">
              <a:extLst>
                <a:ext uri="{FF2B5EF4-FFF2-40B4-BE49-F238E27FC236}">
                  <a16:creationId xmlns:a16="http://schemas.microsoft.com/office/drawing/2014/main" id="{2240891F-6D67-7D2C-7AD5-1A92B67B87CE}"/>
                </a:ext>
              </a:extLst>
            </p:cNvPr>
            <p:cNvSpPr/>
            <p:nvPr/>
          </p:nvSpPr>
          <p:spPr>
            <a:xfrm>
              <a:off x="5532120" y="1618488"/>
              <a:ext cx="1188720" cy="374904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132D02D5-673E-8228-D20B-DD9AC049F42B}"/>
                </a:ext>
              </a:extLst>
            </p:cNvPr>
            <p:cNvSpPr txBox="1"/>
            <p:nvPr/>
          </p:nvSpPr>
          <p:spPr>
            <a:xfrm>
              <a:off x="5532120" y="1618488"/>
              <a:ext cx="118872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244" name="Rectangle 51">
              <a:extLst>
                <a:ext uri="{FF2B5EF4-FFF2-40B4-BE49-F238E27FC236}">
                  <a16:creationId xmlns:a16="http://schemas.microsoft.com/office/drawing/2014/main" id="{63810977-CF33-A51D-0B6A-F64B43164C53}"/>
                </a:ext>
              </a:extLst>
            </p:cNvPr>
            <p:cNvSpPr/>
            <p:nvPr/>
          </p:nvSpPr>
          <p:spPr>
            <a:xfrm>
              <a:off x="6766560" y="1618488"/>
              <a:ext cx="1234440" cy="374904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4BF5E760-E396-040D-3C27-3469523C634D}"/>
                </a:ext>
              </a:extLst>
            </p:cNvPr>
            <p:cNvSpPr txBox="1"/>
            <p:nvPr/>
          </p:nvSpPr>
          <p:spPr>
            <a:xfrm>
              <a:off x="6766560" y="1618488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0.8864</a:t>
              </a:r>
            </a:p>
          </p:txBody>
        </p:sp>
        <p:sp>
          <p:nvSpPr>
            <p:cNvPr id="246" name="Rectangle 53">
              <a:extLst>
                <a:ext uri="{FF2B5EF4-FFF2-40B4-BE49-F238E27FC236}">
                  <a16:creationId xmlns:a16="http://schemas.microsoft.com/office/drawing/2014/main" id="{C1FF29B8-E4F7-9CFD-AF61-7A9FE2094437}"/>
                </a:ext>
              </a:extLst>
            </p:cNvPr>
            <p:cNvSpPr/>
            <p:nvPr/>
          </p:nvSpPr>
          <p:spPr>
            <a:xfrm>
              <a:off x="8046720" y="1618488"/>
              <a:ext cx="1234440" cy="374904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FE7E76C0-19E1-379E-1A2C-6500CEF4B46B}"/>
                </a:ext>
              </a:extLst>
            </p:cNvPr>
            <p:cNvSpPr txBox="1"/>
            <p:nvPr/>
          </p:nvSpPr>
          <p:spPr>
            <a:xfrm>
              <a:off x="8046720" y="1618488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248" name="Rectangle 55">
              <a:extLst>
                <a:ext uri="{FF2B5EF4-FFF2-40B4-BE49-F238E27FC236}">
                  <a16:creationId xmlns:a16="http://schemas.microsoft.com/office/drawing/2014/main" id="{64F960EE-7221-8FEA-9AC3-71B2E05DB46A}"/>
                </a:ext>
              </a:extLst>
            </p:cNvPr>
            <p:cNvSpPr/>
            <p:nvPr/>
          </p:nvSpPr>
          <p:spPr>
            <a:xfrm>
              <a:off x="9326880" y="1618488"/>
              <a:ext cx="1234440" cy="374904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A9628BE3-7276-5A82-5A21-BF5F3ABE38D8}"/>
                </a:ext>
              </a:extLst>
            </p:cNvPr>
            <p:cNvSpPr txBox="1"/>
            <p:nvPr/>
          </p:nvSpPr>
          <p:spPr>
            <a:xfrm>
              <a:off x="9326880" y="1618488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0.3502</a:t>
              </a:r>
            </a:p>
          </p:txBody>
        </p:sp>
        <p:sp>
          <p:nvSpPr>
            <p:cNvPr id="250" name="Rectangle 57">
              <a:extLst>
                <a:ext uri="{FF2B5EF4-FFF2-40B4-BE49-F238E27FC236}">
                  <a16:creationId xmlns:a16="http://schemas.microsoft.com/office/drawing/2014/main" id="{93D1AF44-D75D-3B31-D83A-2B1155346AC8}"/>
                </a:ext>
              </a:extLst>
            </p:cNvPr>
            <p:cNvSpPr/>
            <p:nvPr/>
          </p:nvSpPr>
          <p:spPr>
            <a:xfrm>
              <a:off x="10607040" y="1618488"/>
              <a:ext cx="1417320" cy="374904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1110320D-3613-3409-A5C8-C2FF8563B570}"/>
                </a:ext>
              </a:extLst>
            </p:cNvPr>
            <p:cNvSpPr txBox="1"/>
            <p:nvPr/>
          </p:nvSpPr>
          <p:spPr>
            <a:xfrm>
              <a:off x="10607040" y="1618488"/>
              <a:ext cx="141732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0.4766</a:t>
              </a:r>
            </a:p>
          </p:txBody>
        </p:sp>
        <p:sp>
          <p:nvSpPr>
            <p:cNvPr id="252" name="Rectangle 59">
              <a:extLst>
                <a:ext uri="{FF2B5EF4-FFF2-40B4-BE49-F238E27FC236}">
                  <a16:creationId xmlns:a16="http://schemas.microsoft.com/office/drawing/2014/main" id="{7AF5DAD7-0A2C-71D7-C737-E312F3BC3C0D}"/>
                </a:ext>
              </a:extLst>
            </p:cNvPr>
            <p:cNvSpPr/>
            <p:nvPr/>
          </p:nvSpPr>
          <p:spPr>
            <a:xfrm>
              <a:off x="365760" y="1993392"/>
              <a:ext cx="1325880" cy="374904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BDFBBAD9-53D5-C584-6895-B919C38F2001}"/>
                </a:ext>
              </a:extLst>
            </p:cNvPr>
            <p:cNvSpPr txBox="1"/>
            <p:nvPr/>
          </p:nvSpPr>
          <p:spPr>
            <a:xfrm>
              <a:off x="365760" y="1993392"/>
              <a:ext cx="132588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M3 (CrossAttn3)</a:t>
              </a:r>
            </a:p>
          </p:txBody>
        </p:sp>
        <p:sp>
          <p:nvSpPr>
            <p:cNvPr id="254" name="Rectangle 61">
              <a:extLst>
                <a:ext uri="{FF2B5EF4-FFF2-40B4-BE49-F238E27FC236}">
                  <a16:creationId xmlns:a16="http://schemas.microsoft.com/office/drawing/2014/main" id="{C9457EDB-9BB8-A403-2C98-43D77D9516F8}"/>
                </a:ext>
              </a:extLst>
            </p:cNvPr>
            <p:cNvSpPr/>
            <p:nvPr/>
          </p:nvSpPr>
          <p:spPr>
            <a:xfrm>
              <a:off x="1737360" y="1993392"/>
              <a:ext cx="1188720" cy="374904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99B2F720-10AF-9F75-D20D-A147B570A706}"/>
                </a:ext>
              </a:extLst>
            </p:cNvPr>
            <p:cNvSpPr txBox="1"/>
            <p:nvPr/>
          </p:nvSpPr>
          <p:spPr>
            <a:xfrm>
              <a:off x="1737360" y="1993392"/>
              <a:ext cx="118872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0.8309</a:t>
              </a:r>
            </a:p>
          </p:txBody>
        </p:sp>
        <p:sp>
          <p:nvSpPr>
            <p:cNvPr id="256" name="Rectangle 63">
              <a:extLst>
                <a:ext uri="{FF2B5EF4-FFF2-40B4-BE49-F238E27FC236}">
                  <a16:creationId xmlns:a16="http://schemas.microsoft.com/office/drawing/2014/main" id="{FDD5D482-D7A9-89D6-7FA6-E47AA060A9C1}"/>
                </a:ext>
              </a:extLst>
            </p:cNvPr>
            <p:cNvSpPr/>
            <p:nvPr/>
          </p:nvSpPr>
          <p:spPr>
            <a:xfrm>
              <a:off x="2971800" y="1993392"/>
              <a:ext cx="1234440" cy="374904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8F10C82C-386C-6A8D-6388-D4015DC94F28}"/>
                </a:ext>
              </a:extLst>
            </p:cNvPr>
            <p:cNvSpPr txBox="1"/>
            <p:nvPr/>
          </p:nvSpPr>
          <p:spPr>
            <a:xfrm>
              <a:off x="2971800" y="1993392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[0.740,0.900]</a:t>
              </a:r>
            </a:p>
          </p:txBody>
        </p:sp>
        <p:sp>
          <p:nvSpPr>
            <p:cNvPr id="258" name="Rectangle 65">
              <a:extLst>
                <a:ext uri="{FF2B5EF4-FFF2-40B4-BE49-F238E27FC236}">
                  <a16:creationId xmlns:a16="http://schemas.microsoft.com/office/drawing/2014/main" id="{199D43A0-782C-79B4-7894-491A65E61D74}"/>
                </a:ext>
              </a:extLst>
            </p:cNvPr>
            <p:cNvSpPr/>
            <p:nvPr/>
          </p:nvSpPr>
          <p:spPr>
            <a:xfrm>
              <a:off x="4251960" y="1993392"/>
              <a:ext cx="1234440" cy="374904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8641235B-C02A-ADD6-FABA-7AC12BDA7D19}"/>
                </a:ext>
              </a:extLst>
            </p:cNvPr>
            <p:cNvSpPr txBox="1"/>
            <p:nvPr/>
          </p:nvSpPr>
          <p:spPr>
            <a:xfrm>
              <a:off x="4251960" y="1993392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0.7224</a:t>
              </a:r>
            </a:p>
          </p:txBody>
        </p:sp>
        <p:sp>
          <p:nvSpPr>
            <p:cNvPr id="260" name="Rectangle 67">
              <a:extLst>
                <a:ext uri="{FF2B5EF4-FFF2-40B4-BE49-F238E27FC236}">
                  <a16:creationId xmlns:a16="http://schemas.microsoft.com/office/drawing/2014/main" id="{7FCE60FE-A3DF-1484-8A9D-2555E16D3E55}"/>
                </a:ext>
              </a:extLst>
            </p:cNvPr>
            <p:cNvSpPr/>
            <p:nvPr/>
          </p:nvSpPr>
          <p:spPr>
            <a:xfrm>
              <a:off x="5532120" y="1993392"/>
              <a:ext cx="1188720" cy="374904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04F792FF-C629-B219-31A9-418F9DF3D932}"/>
                </a:ext>
              </a:extLst>
            </p:cNvPr>
            <p:cNvSpPr txBox="1"/>
            <p:nvPr/>
          </p:nvSpPr>
          <p:spPr>
            <a:xfrm>
              <a:off x="5532120" y="1993392"/>
              <a:ext cx="118872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262" name="Rectangle 69">
              <a:extLst>
                <a:ext uri="{FF2B5EF4-FFF2-40B4-BE49-F238E27FC236}">
                  <a16:creationId xmlns:a16="http://schemas.microsoft.com/office/drawing/2014/main" id="{74313971-679A-E929-419C-5C3EF04A26B2}"/>
                </a:ext>
              </a:extLst>
            </p:cNvPr>
            <p:cNvSpPr/>
            <p:nvPr/>
          </p:nvSpPr>
          <p:spPr>
            <a:xfrm>
              <a:off x="6766560" y="1993392"/>
              <a:ext cx="1234440" cy="374904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35BF18D2-889A-33F3-6381-4938934C5385}"/>
                </a:ext>
              </a:extLst>
            </p:cNvPr>
            <p:cNvSpPr txBox="1"/>
            <p:nvPr/>
          </p:nvSpPr>
          <p:spPr>
            <a:xfrm>
              <a:off x="6766560" y="1993392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0.8904</a:t>
              </a:r>
            </a:p>
          </p:txBody>
        </p:sp>
        <p:sp>
          <p:nvSpPr>
            <p:cNvPr id="264" name="Rectangle 71">
              <a:extLst>
                <a:ext uri="{FF2B5EF4-FFF2-40B4-BE49-F238E27FC236}">
                  <a16:creationId xmlns:a16="http://schemas.microsoft.com/office/drawing/2014/main" id="{E0FFBEB7-7B60-9398-30A9-D7A5ACB06754}"/>
                </a:ext>
              </a:extLst>
            </p:cNvPr>
            <p:cNvSpPr/>
            <p:nvPr/>
          </p:nvSpPr>
          <p:spPr>
            <a:xfrm>
              <a:off x="8046720" y="1993392"/>
              <a:ext cx="1234440" cy="374904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5" name="TextBox 264">
              <a:extLst>
                <a:ext uri="{FF2B5EF4-FFF2-40B4-BE49-F238E27FC236}">
                  <a16:creationId xmlns:a16="http://schemas.microsoft.com/office/drawing/2014/main" id="{AD58B7AF-5898-1A0B-6B07-EED390747642}"/>
                </a:ext>
              </a:extLst>
            </p:cNvPr>
            <p:cNvSpPr txBox="1"/>
            <p:nvPr/>
          </p:nvSpPr>
          <p:spPr>
            <a:xfrm>
              <a:off x="8046720" y="1993392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266" name="Rectangle 73">
              <a:extLst>
                <a:ext uri="{FF2B5EF4-FFF2-40B4-BE49-F238E27FC236}">
                  <a16:creationId xmlns:a16="http://schemas.microsoft.com/office/drawing/2014/main" id="{7127EE8F-09AC-6238-1B7F-DB55A2D68E23}"/>
                </a:ext>
              </a:extLst>
            </p:cNvPr>
            <p:cNvSpPr/>
            <p:nvPr/>
          </p:nvSpPr>
          <p:spPr>
            <a:xfrm>
              <a:off x="9326880" y="1993392"/>
              <a:ext cx="1234440" cy="374904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D619DF36-4445-2AC5-641A-BC46326B516F}"/>
                </a:ext>
              </a:extLst>
            </p:cNvPr>
            <p:cNvSpPr txBox="1"/>
            <p:nvPr/>
          </p:nvSpPr>
          <p:spPr>
            <a:xfrm>
              <a:off x="9326880" y="1993392"/>
              <a:ext cx="123444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0.2984</a:t>
              </a:r>
            </a:p>
          </p:txBody>
        </p:sp>
        <p:sp>
          <p:nvSpPr>
            <p:cNvPr id="268" name="Rectangle 75">
              <a:extLst>
                <a:ext uri="{FF2B5EF4-FFF2-40B4-BE49-F238E27FC236}">
                  <a16:creationId xmlns:a16="http://schemas.microsoft.com/office/drawing/2014/main" id="{060C2E0F-F1FD-3449-0073-3531D365DA31}"/>
                </a:ext>
              </a:extLst>
            </p:cNvPr>
            <p:cNvSpPr/>
            <p:nvPr/>
          </p:nvSpPr>
          <p:spPr>
            <a:xfrm>
              <a:off x="10607040" y="1993392"/>
              <a:ext cx="1417320" cy="374904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E7B01031-1214-DBAB-F5BF-5924434E0BA7}"/>
                </a:ext>
              </a:extLst>
            </p:cNvPr>
            <p:cNvSpPr txBox="1"/>
            <p:nvPr/>
          </p:nvSpPr>
          <p:spPr>
            <a:xfrm>
              <a:off x="10607040" y="1993392"/>
              <a:ext cx="1417320" cy="37490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0.4473</a:t>
              </a:r>
            </a:p>
          </p:txBody>
        </p:sp>
      </p:grpSp>
      <p:grpSp>
        <p:nvGrpSpPr>
          <p:cNvPr id="276" name="그룹 275">
            <a:extLst>
              <a:ext uri="{FF2B5EF4-FFF2-40B4-BE49-F238E27FC236}">
                <a16:creationId xmlns:a16="http://schemas.microsoft.com/office/drawing/2014/main" id="{B89FCAB3-24AA-0477-A9AF-B17CF2408818}"/>
              </a:ext>
            </a:extLst>
          </p:cNvPr>
          <p:cNvGrpSpPr/>
          <p:nvPr/>
        </p:nvGrpSpPr>
        <p:grpSpPr>
          <a:xfrm>
            <a:off x="7471953" y="3295759"/>
            <a:ext cx="4491447" cy="3122458"/>
            <a:chOff x="7498079" y="2825496"/>
            <a:chExt cx="4572000" cy="2423160"/>
          </a:xfrm>
        </p:grpSpPr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BBCF9492-923D-AAD9-ECD6-8D61244C7107}"/>
                </a:ext>
              </a:extLst>
            </p:cNvPr>
            <p:cNvSpPr txBox="1"/>
            <p:nvPr/>
          </p:nvSpPr>
          <p:spPr>
            <a:xfrm>
              <a:off x="8113013" y="2825496"/>
              <a:ext cx="964692" cy="2030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M1  by Sex</a:t>
              </a:r>
            </a:p>
          </p:txBody>
        </p:sp>
        <p:pic>
          <p:nvPicPr>
            <p:cNvPr id="272" name="Picture 96" descr="test_roc_by_sex.png">
              <a:extLst>
                <a:ext uri="{FF2B5EF4-FFF2-40B4-BE49-F238E27FC236}">
                  <a16:creationId xmlns:a16="http://schemas.microsoft.com/office/drawing/2014/main" id="{A411F307-020A-9B27-22EC-F84E1B002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98079" y="3099816"/>
              <a:ext cx="2194560" cy="1828800"/>
            </a:xfrm>
            <a:prstGeom prst="rect">
              <a:avLst/>
            </a:prstGeom>
          </p:spPr>
        </p:pic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45332040-11DC-2348-01B8-2707E24E1E96}"/>
                </a:ext>
              </a:extLst>
            </p:cNvPr>
            <p:cNvSpPr txBox="1"/>
            <p:nvPr/>
          </p:nvSpPr>
          <p:spPr>
            <a:xfrm>
              <a:off x="10444734" y="2825496"/>
              <a:ext cx="964692" cy="2030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100" b="1" i="0">
                  <a:solidFill>
                    <a:srgbClr val="0F9B8A"/>
                  </a:solidFill>
                  <a:latin typeface="맑은 고딕"/>
                </a:rPr>
                <a:t>M2  by Sex</a:t>
              </a:r>
            </a:p>
          </p:txBody>
        </p:sp>
        <p:pic>
          <p:nvPicPr>
            <p:cNvPr id="274" name="Picture 98" descr="test_roc_by_sex.png">
              <a:extLst>
                <a:ext uri="{FF2B5EF4-FFF2-40B4-BE49-F238E27FC236}">
                  <a16:creationId xmlns:a16="http://schemas.microsoft.com/office/drawing/2014/main" id="{50D9E81D-97E0-E89F-5ABF-7678BFA87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29800" y="3099816"/>
              <a:ext cx="2194560" cy="1828800"/>
            </a:xfrm>
            <a:prstGeom prst="rect">
              <a:avLst/>
            </a:prstGeom>
          </p:spPr>
        </p:pic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E5D48477-D5EF-1995-2C9C-1EF437D3842C}"/>
                </a:ext>
              </a:extLst>
            </p:cNvPr>
            <p:cNvSpPr txBox="1"/>
            <p:nvPr/>
          </p:nvSpPr>
          <p:spPr>
            <a:xfrm>
              <a:off x="7498079" y="4974336"/>
              <a:ext cx="45720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△ </a:t>
              </a:r>
              <a:r>
                <a:rPr sz="1100" b="1" i="0" dirty="0" err="1">
                  <a:solidFill>
                    <a:srgbClr val="1A1A2E"/>
                  </a:solidFill>
                  <a:latin typeface="맑은 고딕"/>
                </a:rPr>
                <a:t>여성</a:t>
              </a:r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 AUC 0.848 → 0.886  |  △ </a:t>
              </a:r>
              <a:r>
                <a:rPr sz="1100" b="1" i="0" dirty="0" err="1">
                  <a:solidFill>
                    <a:srgbClr val="1A1A2E"/>
                  </a:solidFill>
                  <a:latin typeface="맑은 고딕"/>
                </a:rPr>
                <a:t>남성</a:t>
              </a:r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 AUC 0.704 → 0.740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63616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54C-5E11-B9C0-57F3-3D89DA268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8B53D9-E496-0B72-5190-043E5711B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9257B-47A5-8ECA-2B20-1BC833105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673CADF-6F03-E505-A6FF-3F033FDBD04A}"/>
              </a:ext>
            </a:extLst>
          </p:cNvPr>
          <p:cNvGrpSpPr/>
          <p:nvPr/>
        </p:nvGrpSpPr>
        <p:grpSpPr>
          <a:xfrm>
            <a:off x="274320" y="905256"/>
            <a:ext cx="11612880" cy="5495544"/>
            <a:chOff x="274320" y="905256"/>
            <a:chExt cx="11612880" cy="549554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362CAA-4F17-2100-B821-5C590A2AB417}"/>
                </a:ext>
              </a:extLst>
            </p:cNvPr>
            <p:cNvSpPr/>
            <p:nvPr/>
          </p:nvSpPr>
          <p:spPr>
            <a:xfrm>
              <a:off x="274320" y="905256"/>
              <a:ext cx="11612880" cy="1325880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5">
              <a:extLst>
                <a:ext uri="{FF2B5EF4-FFF2-40B4-BE49-F238E27FC236}">
                  <a16:creationId xmlns:a16="http://schemas.microsoft.com/office/drawing/2014/main" id="{E2673AA4-6313-BE20-507C-68AB74ACDB0F}"/>
                </a:ext>
              </a:extLst>
            </p:cNvPr>
            <p:cNvSpPr/>
            <p:nvPr/>
          </p:nvSpPr>
          <p:spPr>
            <a:xfrm>
              <a:off x="274320" y="905256"/>
              <a:ext cx="109728" cy="1325880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F427EF6-24AF-A10F-AF2B-23750AF65DA4}"/>
                </a:ext>
              </a:extLst>
            </p:cNvPr>
            <p:cNvSpPr txBox="1"/>
            <p:nvPr/>
          </p:nvSpPr>
          <p:spPr>
            <a:xfrm>
              <a:off x="502920" y="969264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0F6BBF"/>
                  </a:solidFill>
                  <a:latin typeface="맑은 고딕"/>
                </a:rPr>
                <a:t>① AEC 신호는 Clinic 대비 AUC를 향상 — norm 조건에서 marginal 유의성 (†)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0801EC-EA2F-264A-EFD3-FC8BEAB6BE35}"/>
                </a:ext>
              </a:extLst>
            </p:cNvPr>
            <p:cNvSpPr txBox="1"/>
            <p:nvPr/>
          </p:nvSpPr>
          <p:spPr>
            <a:xfrm>
              <a:off x="502920" y="1335024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AEC 128pt + norm: M1→M2 DeLong p=0.055 (†) — 경계적 유의성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2C27886-F1DE-B6E5-104E-8ACD90952A33}"/>
                </a:ext>
              </a:extLst>
            </p:cNvPr>
            <p:cNvSpPr txBox="1"/>
            <p:nvPr/>
          </p:nvSpPr>
          <p:spPr>
            <a:xfrm>
              <a:off x="502920" y="1627632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M1→M3 p=0.252 ns — Scanner 추가 유의성 미확인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704E07A-C177-89EE-99B4-02E36A1FF955}"/>
                </a:ext>
              </a:extLst>
            </p:cNvPr>
            <p:cNvSpPr txBox="1"/>
            <p:nvPr/>
          </p:nvSpPr>
          <p:spPr>
            <a:xfrm>
              <a:off x="6217920" y="1335024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음성 대조군(M2_2 excl_extreme) Δ=+0.306 *** → 매칭 효과 통계 검증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A129193-9FCF-2F06-5A9C-E9B7917C10AF}"/>
                </a:ext>
              </a:extLst>
            </p:cNvPr>
            <p:cNvSpPr txBox="1"/>
            <p:nvPr/>
          </p:nvSpPr>
          <p:spPr>
            <a:xfrm>
              <a:off x="6217920" y="1627632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여성 AUC: M1(0.848)→M2(0.886) — AEC가 여성 예측력에 더 기여</a:t>
              </a:r>
            </a:p>
          </p:txBody>
        </p:sp>
        <p:sp>
          <p:nvSpPr>
            <p:cNvPr id="41" name="Rectangle 11">
              <a:extLst>
                <a:ext uri="{FF2B5EF4-FFF2-40B4-BE49-F238E27FC236}">
                  <a16:creationId xmlns:a16="http://schemas.microsoft.com/office/drawing/2014/main" id="{927ECF69-B829-5E4F-B298-2A95BED626AD}"/>
                </a:ext>
              </a:extLst>
            </p:cNvPr>
            <p:cNvSpPr/>
            <p:nvPr/>
          </p:nvSpPr>
          <p:spPr>
            <a:xfrm>
              <a:off x="274320" y="2295144"/>
              <a:ext cx="11612880" cy="1325880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Rectangle 12">
              <a:extLst>
                <a:ext uri="{FF2B5EF4-FFF2-40B4-BE49-F238E27FC236}">
                  <a16:creationId xmlns:a16="http://schemas.microsoft.com/office/drawing/2014/main" id="{853A0B3D-0BE0-8F22-7345-9180AF852900}"/>
                </a:ext>
              </a:extLst>
            </p:cNvPr>
            <p:cNvSpPr/>
            <p:nvPr/>
          </p:nvSpPr>
          <p:spPr>
            <a:xfrm>
              <a:off x="274320" y="2295144"/>
              <a:ext cx="109728" cy="1325880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9109727-7FA6-A853-F3F3-FE005DE1A929}"/>
                </a:ext>
              </a:extLst>
            </p:cNvPr>
            <p:cNvSpPr txBox="1"/>
            <p:nvPr/>
          </p:nvSpPr>
          <p:spPr>
            <a:xfrm>
              <a:off x="502920" y="2359152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0F9B8A"/>
                  </a:solidFill>
                  <a:latin typeface="맑은 고딕"/>
                </a:rPr>
                <a:t>② norm 전처리 조건이 최적 — 전 조건 중 가장 높은 AUC (0.835)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0FCD420-5ED9-8EDB-5F2E-8D730C5C055B}"/>
                </a:ext>
              </a:extLst>
            </p:cNvPr>
            <p:cNvSpPr txBox="1"/>
            <p:nvPr/>
          </p:nvSpPr>
          <p:spPr>
            <a:xfrm>
              <a:off x="502920" y="2724912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곡선 형태 보존 + 스캐너 간 절대값 차이 제거 → 일관된 최고 AUC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B48FCC4-BEAC-9F08-5E9C-4EF34416B33E}"/>
                </a:ext>
              </a:extLst>
            </p:cNvPr>
            <p:cNvSpPr txBox="1"/>
            <p:nvPr/>
          </p:nvSpPr>
          <p:spPr>
            <a:xfrm>
              <a:off x="502920" y="3017520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crop/len128 조건: 전 모델 ns → 시퀀스 전체 활용이 유리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E0B9D25-5EFC-81BE-D815-3F58D90E5B7D}"/>
                </a:ext>
              </a:extLst>
            </p:cNvPr>
            <p:cNvSpPr txBox="1"/>
            <p:nvPr/>
          </p:nvSpPr>
          <p:spPr>
            <a:xfrm>
              <a:off x="6217920" y="2724912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excl_extreme 조건: AUC 하락 (0.756) but M2 vs M2_2 매칭 효과 가장 극명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077A38D-DB90-B5BD-4B95-BC9CDAEFB40B}"/>
                </a:ext>
              </a:extLst>
            </p:cNvPr>
            <p:cNvSpPr txBox="1"/>
            <p:nvPr/>
          </p:nvSpPr>
          <p:spPr>
            <a:xfrm>
              <a:off x="6217920" y="3017520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→ 매칭 효과 연구에는 excl_extreme이 유용한 음성 대조 설계</a:t>
              </a:r>
            </a:p>
          </p:txBody>
        </p:sp>
        <p:sp>
          <p:nvSpPr>
            <p:cNvPr id="48" name="Rectangle 18">
              <a:extLst>
                <a:ext uri="{FF2B5EF4-FFF2-40B4-BE49-F238E27FC236}">
                  <a16:creationId xmlns:a16="http://schemas.microsoft.com/office/drawing/2014/main" id="{DDC3720A-D3BA-6A86-3BCF-DFA3D8FCCB94}"/>
                </a:ext>
              </a:extLst>
            </p:cNvPr>
            <p:cNvSpPr/>
            <p:nvPr/>
          </p:nvSpPr>
          <p:spPr>
            <a:xfrm>
              <a:off x="274320" y="3685032"/>
              <a:ext cx="11612880" cy="1325880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Rectangle 19">
              <a:extLst>
                <a:ext uri="{FF2B5EF4-FFF2-40B4-BE49-F238E27FC236}">
                  <a16:creationId xmlns:a16="http://schemas.microsoft.com/office/drawing/2014/main" id="{BAD7D913-4F8D-6B41-04EE-EC69A448D3BC}"/>
                </a:ext>
              </a:extLst>
            </p:cNvPr>
            <p:cNvSpPr/>
            <p:nvPr/>
          </p:nvSpPr>
          <p:spPr>
            <a:xfrm>
              <a:off x="274320" y="3685032"/>
              <a:ext cx="109728" cy="1325880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C977072-A319-6ADB-6E59-7F8120508CAB}"/>
                </a:ext>
              </a:extLst>
            </p:cNvPr>
            <p:cNvSpPr txBox="1"/>
            <p:nvPr/>
          </p:nvSpPr>
          <p:spPr>
            <a:xfrm>
              <a:off x="502920" y="3749039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E87400"/>
                  </a:solidFill>
                  <a:latin typeface="맑은 고딕"/>
                </a:rPr>
                <a:t>③ M2 vs M3: Scanner 추가 효과 미입증 — 5개 조건 전체 ns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1414BD9-384C-B586-1254-7026B3D72F9B}"/>
                </a:ext>
              </a:extLst>
            </p:cNvPr>
            <p:cNvSpPr txBox="1"/>
            <p:nvPr/>
          </p:nvSpPr>
          <p:spPr>
            <a:xfrm>
              <a:off x="502920" y="4114800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norm 조건: M2(0.835) vs M3(0.831) p=0.828 ns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882B2B9-6866-DB21-6835-FACFA210C86A}"/>
                </a:ext>
              </a:extLst>
            </p:cNvPr>
            <p:cNvSpPr txBox="1"/>
            <p:nvPr/>
          </p:nvSpPr>
          <p:spPr>
            <a:xfrm>
              <a:off x="502920" y="4407408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남성 AUC에서는 M3 &lt; M2 → Scanner 정보가 도움되지 않을 수 있음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5A6FFD2-6247-1E6B-4E59-146F7EFD85CC}"/>
                </a:ext>
              </a:extLst>
            </p:cNvPr>
            <p:cNvSpPr txBox="1"/>
            <p:nvPr/>
          </p:nvSpPr>
          <p:spPr>
            <a:xfrm>
              <a:off x="6217920" y="4114800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여성에서 M3(0.890) &gt; M2(0.886) 소폭 → 성별별 효과 차별화 가능성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89A4DFA-ACB0-A181-6A9D-15EB9AE5B496}"/>
                </a:ext>
              </a:extLst>
            </p:cNvPr>
            <p:cNvSpPr txBox="1"/>
            <p:nvPr/>
          </p:nvSpPr>
          <p:spPr>
            <a:xfrm>
              <a:off x="6217920" y="4407408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→ 다기관 데이터 확보 시 M3 효과 강화 예상 (단일 기관 한계)</a:t>
              </a:r>
            </a:p>
          </p:txBody>
        </p:sp>
        <p:sp>
          <p:nvSpPr>
            <p:cNvPr id="55" name="Rectangle 25">
              <a:extLst>
                <a:ext uri="{FF2B5EF4-FFF2-40B4-BE49-F238E27FC236}">
                  <a16:creationId xmlns:a16="http://schemas.microsoft.com/office/drawing/2014/main" id="{744CB6FC-35B3-2F03-0B8F-0ECB56B775F4}"/>
                </a:ext>
              </a:extLst>
            </p:cNvPr>
            <p:cNvSpPr/>
            <p:nvPr/>
          </p:nvSpPr>
          <p:spPr>
            <a:xfrm>
              <a:off x="274320" y="5074920"/>
              <a:ext cx="11612880" cy="1325880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Rectangle 26">
              <a:extLst>
                <a:ext uri="{FF2B5EF4-FFF2-40B4-BE49-F238E27FC236}">
                  <a16:creationId xmlns:a16="http://schemas.microsoft.com/office/drawing/2014/main" id="{19735B1D-B14E-0D8A-D02E-A6644EFC8D99}"/>
                </a:ext>
              </a:extLst>
            </p:cNvPr>
            <p:cNvSpPr/>
            <p:nvPr/>
          </p:nvSpPr>
          <p:spPr>
            <a:xfrm>
              <a:off x="274320" y="5074920"/>
              <a:ext cx="109728" cy="1325880"/>
            </a:xfrm>
            <a:prstGeom prst="rect">
              <a:avLst/>
            </a:prstGeom>
            <a:solidFill>
              <a:srgbClr val="1E8B4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3F30CAB-3ADF-D7AD-54EB-6D8A6FEBD2B8}"/>
                </a:ext>
              </a:extLst>
            </p:cNvPr>
            <p:cNvSpPr txBox="1"/>
            <p:nvPr/>
          </p:nvSpPr>
          <p:spPr>
            <a:xfrm>
              <a:off x="502920" y="5138928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1E8B4C"/>
                  </a:solidFill>
                  <a:latin typeface="맑은 고딕"/>
                </a:rPr>
                <a:t>④ Zero-cost AEC로 임상 등급 스크리닝 가능성 확인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19CEB49-B011-A4F3-A57E-9EBC0C3AA901}"/>
                </a:ext>
              </a:extLst>
            </p:cNvPr>
            <p:cNvSpPr txBox="1"/>
            <p:nvPr/>
          </p:nvSpPr>
          <p:spPr>
            <a:xfrm>
              <a:off x="502920" y="5504688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기존 CT 스캔 시 자동 수집 — 추가 비용·검사 없음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5AD148B-DEED-0DE1-C4DE-90D03AE5FC0F}"/>
                </a:ext>
              </a:extLst>
            </p:cNvPr>
            <p:cNvSpPr txBox="1"/>
            <p:nvPr/>
          </p:nvSpPr>
          <p:spPr>
            <a:xfrm>
              <a:off x="502920" y="5797296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전체 AUC 0.835 / 여성 AUC 0.886 → 임상 허용 가능 수준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0C014F0-6EE2-8E50-217F-38DC6E04DD6E}"/>
                </a:ext>
              </a:extLst>
            </p:cNvPr>
            <p:cNvSpPr txBox="1"/>
            <p:nvPr/>
          </p:nvSpPr>
          <p:spPr>
            <a:xfrm>
              <a:off x="6217920" y="5504688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건강검진 프로그램 연동 시 고위험군 조기 선별 가능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81AFC04-0A91-07CE-A36E-1A8E0713EE36}"/>
                </a:ext>
              </a:extLst>
            </p:cNvPr>
            <p:cNvSpPr txBox="1"/>
            <p:nvPr/>
          </p:nvSpPr>
          <p:spPr>
            <a:xfrm>
              <a:off x="6217920" y="5797296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PACS-DICOM AEC 자동 추출 파이프라인 구축 필요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09936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E57D8-1443-8C20-6C2E-FCDCF256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61130-A793-105E-54DE-8EA871F43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Next Plans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B8E210-F4D7-35FA-114D-7BCD328B7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828B7B1-1197-E94B-2DA5-D3E1CF706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ko-KR" altLang="en-US" dirty="0"/>
              <a:t>신촌 데이터 </a:t>
            </a:r>
            <a:r>
              <a:rPr lang="ko-KR" altLang="en-US" dirty="0" err="1"/>
              <a:t>전처리</a:t>
            </a:r>
            <a:r>
              <a:rPr lang="ko-KR" altLang="en-US" dirty="0"/>
              <a:t> </a:t>
            </a:r>
            <a:r>
              <a:rPr lang="en-US" altLang="ko-KR" dirty="0"/>
              <a:t>(Total </a:t>
            </a:r>
            <a:r>
              <a:rPr lang="en-US" altLang="ko-KR" dirty="0" err="1"/>
              <a:t>Segmentator</a:t>
            </a:r>
            <a:r>
              <a:rPr lang="en-US" altLang="ko-KR" dirty="0"/>
              <a:t>, AEC)</a:t>
            </a:r>
          </a:p>
          <a:p>
            <a:r>
              <a:rPr lang="ko-KR" altLang="en-US" dirty="0"/>
              <a:t>다기관 검증 </a:t>
            </a:r>
            <a:r>
              <a:rPr lang="en-US" altLang="ko-KR" dirty="0"/>
              <a:t>(</a:t>
            </a:r>
            <a:r>
              <a:rPr lang="ko-KR" altLang="en-US" dirty="0"/>
              <a:t>신촌 데이터</a:t>
            </a:r>
            <a:r>
              <a:rPr lang="en-US" altLang="ko-KR" dirty="0"/>
              <a:t>) </a:t>
            </a:r>
            <a:r>
              <a:rPr lang="ko-KR" altLang="en-US" dirty="0"/>
              <a:t>→ 일반화 성능</a:t>
            </a:r>
            <a:r>
              <a:rPr lang="en-US" altLang="ko-KR" dirty="0"/>
              <a:t>, DeLong </a:t>
            </a:r>
            <a:r>
              <a:rPr lang="ko-KR" altLang="en-US" dirty="0"/>
              <a:t>유의성 재확인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963848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1809549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부록 </a:t>
            </a:r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– </a:t>
            </a:r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조건별 상세 결과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5E94AB-2FE9-AD66-BD30-0F84BB660640}"/>
              </a:ext>
            </a:extLst>
          </p:cNvPr>
          <p:cNvSpPr txBox="1"/>
          <p:nvPr/>
        </p:nvSpPr>
        <p:spPr>
          <a:xfrm>
            <a:off x="3203300" y="3236976"/>
            <a:ext cx="5782352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 i="0" dirty="0">
                <a:latin typeface="맑은 고딕"/>
              </a:rPr>
              <a:t>AEC 128pt × </a:t>
            </a:r>
            <a:r>
              <a:rPr sz="1700" b="0" i="0" dirty="0" err="1">
                <a:latin typeface="맑은 고딕"/>
              </a:rPr>
              <a:t>전처리</a:t>
            </a:r>
            <a:r>
              <a:rPr sz="1700" b="0" i="0" dirty="0">
                <a:latin typeface="맑은 고딕"/>
              </a:rPr>
              <a:t> 5종  |  M2 · M2_2 · M3 </a:t>
            </a:r>
            <a:r>
              <a:rPr sz="1700" b="0" i="0" dirty="0" err="1">
                <a:latin typeface="맑은 고딕"/>
              </a:rPr>
              <a:t>개별</a:t>
            </a:r>
            <a:r>
              <a:rPr sz="1700" b="0" i="0" dirty="0">
                <a:latin typeface="맑은 고딕"/>
              </a:rPr>
              <a:t> </a:t>
            </a:r>
            <a:r>
              <a:rPr sz="1700" b="0" i="0" dirty="0" err="1">
                <a:latin typeface="맑은 고딕"/>
              </a:rPr>
              <a:t>시각화</a:t>
            </a:r>
            <a:endParaRPr sz="1700" b="0" i="0" dirty="0">
              <a:latin typeface="맑은 고딕"/>
            </a:endParaRPr>
          </a:p>
        </p:txBody>
      </p:sp>
      <p:sp>
        <p:nvSpPr>
          <p:cNvPr id="18" name="Rectangle 6">
            <a:extLst>
              <a:ext uri="{FF2B5EF4-FFF2-40B4-BE49-F238E27FC236}">
                <a16:creationId xmlns:a16="http://schemas.microsoft.com/office/drawing/2014/main" id="{9FD57C18-5779-0BFE-13ED-31F3C15C2926}"/>
              </a:ext>
            </a:extLst>
          </p:cNvPr>
          <p:cNvSpPr/>
          <p:nvPr/>
        </p:nvSpPr>
        <p:spPr>
          <a:xfrm>
            <a:off x="3200400" y="3657600"/>
            <a:ext cx="5788152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382A8EC2-92C7-8CF3-F82A-899E6D0832B6}"/>
              </a:ext>
            </a:extLst>
          </p:cNvPr>
          <p:cNvGrpSpPr/>
          <p:nvPr/>
        </p:nvGrpSpPr>
        <p:grpSpPr>
          <a:xfrm>
            <a:off x="914400" y="3785616"/>
            <a:ext cx="10360152" cy="2286001"/>
            <a:chOff x="914400" y="3977639"/>
            <a:chExt cx="10360152" cy="2286001"/>
          </a:xfrm>
        </p:grpSpPr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2E625089-68A7-4AC1-9E39-4B14B6167085}"/>
                </a:ext>
              </a:extLst>
            </p:cNvPr>
            <p:cNvSpPr/>
            <p:nvPr/>
          </p:nvSpPr>
          <p:spPr>
            <a:xfrm>
              <a:off x="914400" y="3977639"/>
              <a:ext cx="10360152" cy="384048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7B2698E-2ABB-4433-AA43-901216D8A086}"/>
                </a:ext>
              </a:extLst>
            </p:cNvPr>
            <p:cNvSpPr txBox="1"/>
            <p:nvPr/>
          </p:nvSpPr>
          <p:spPr>
            <a:xfrm>
              <a:off x="960120" y="3995928"/>
              <a:ext cx="102412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 dirty="0">
                  <a:solidFill>
                    <a:srgbClr val="FFFFFF"/>
                  </a:solidFill>
                  <a:latin typeface="맑은 고딕"/>
                </a:rPr>
                <a:t>  norm   →  행 </a:t>
              </a:r>
              <a:r>
                <a:rPr sz="1200" b="1" i="0" dirty="0" err="1">
                  <a:solidFill>
                    <a:srgbClr val="FFFFFF"/>
                  </a:solidFill>
                  <a:latin typeface="맑은 고딕"/>
                </a:rPr>
                <a:t>방향</a:t>
              </a:r>
              <a:r>
                <a:rPr sz="1200" b="1" i="0" dirty="0">
                  <a:solidFill>
                    <a:srgbClr val="FFFFFF"/>
                  </a:solidFill>
                  <a:latin typeface="맑은 고딕"/>
                </a:rPr>
                <a:t> </a:t>
              </a:r>
              <a:r>
                <a:rPr sz="1200" b="1" i="0" dirty="0" err="1">
                  <a:solidFill>
                    <a:srgbClr val="FFFFFF"/>
                  </a:solidFill>
                  <a:latin typeface="맑은 고딕"/>
                </a:rPr>
                <a:t>정규화</a:t>
              </a:r>
              <a:r>
                <a:rPr sz="1200" b="1" i="0" dirty="0">
                  <a:solidFill>
                    <a:srgbClr val="FFFFFF"/>
                  </a:solidFill>
                  <a:latin typeface="맑은 고딕"/>
                </a:rPr>
                <a:t> — </a:t>
              </a:r>
              <a:r>
                <a:rPr sz="1200" b="1" i="0" dirty="0" err="1">
                  <a:solidFill>
                    <a:srgbClr val="FFFFFF"/>
                  </a:solidFill>
                  <a:latin typeface="맑은 고딕"/>
                </a:rPr>
                <a:t>최고</a:t>
              </a:r>
              <a:r>
                <a:rPr sz="1200" b="1" i="0" dirty="0">
                  <a:solidFill>
                    <a:srgbClr val="FFFFFF"/>
                  </a:solidFill>
                  <a:latin typeface="맑은 고딕"/>
                </a:rPr>
                <a:t> AUC (M2=0.835)</a:t>
              </a: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A93E87F9-BC03-D74A-5BED-A9A3455CB716}"/>
                </a:ext>
              </a:extLst>
            </p:cNvPr>
            <p:cNvSpPr/>
            <p:nvPr/>
          </p:nvSpPr>
          <p:spPr>
            <a:xfrm>
              <a:off x="914400" y="4453127"/>
              <a:ext cx="10360152" cy="384048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8DF91AB-60C9-875C-00EA-98C3944446EE}"/>
                </a:ext>
              </a:extLst>
            </p:cNvPr>
            <p:cNvSpPr txBox="1"/>
            <p:nvPr/>
          </p:nvSpPr>
          <p:spPr>
            <a:xfrm>
              <a:off x="960120" y="4471416"/>
              <a:ext cx="102412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FFFFFF"/>
                  </a:solidFill>
                  <a:latin typeface="맑은 고딕"/>
                </a:rPr>
                <a:t>  crop80   →  중앙 80% 구간 — 양끝 10% 제거</a:t>
              </a:r>
            </a:p>
          </p:txBody>
        </p:sp>
        <p:sp>
          <p:nvSpPr>
            <p:cNvPr id="23" name="Rectangle 11">
              <a:extLst>
                <a:ext uri="{FF2B5EF4-FFF2-40B4-BE49-F238E27FC236}">
                  <a16:creationId xmlns:a16="http://schemas.microsoft.com/office/drawing/2014/main" id="{E3264B64-D7F1-7C12-43A3-6461E24123F9}"/>
                </a:ext>
              </a:extLst>
            </p:cNvPr>
            <p:cNvSpPr/>
            <p:nvPr/>
          </p:nvSpPr>
          <p:spPr>
            <a:xfrm>
              <a:off x="914400" y="4928616"/>
              <a:ext cx="10360152" cy="384048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6545A26-23B8-9BEF-9D5F-CFBA23AC0787}"/>
                </a:ext>
              </a:extLst>
            </p:cNvPr>
            <p:cNvSpPr txBox="1"/>
            <p:nvPr/>
          </p:nvSpPr>
          <p:spPr>
            <a:xfrm>
              <a:off x="960120" y="4946904"/>
              <a:ext cx="102412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FFFFFF"/>
                  </a:solidFill>
                  <a:latin typeface="맑은 고딕"/>
                </a:rPr>
                <a:t>  crop60   →  중앙 60% 구간 — 양끝 20% 제거</a:t>
              </a:r>
            </a:p>
          </p:txBody>
        </p:sp>
        <p:sp>
          <p:nvSpPr>
            <p:cNvPr id="25" name="Rectangle 13">
              <a:extLst>
                <a:ext uri="{FF2B5EF4-FFF2-40B4-BE49-F238E27FC236}">
                  <a16:creationId xmlns:a16="http://schemas.microsoft.com/office/drawing/2014/main" id="{D1FA376A-02B1-5477-5976-004B7F4DAEAD}"/>
                </a:ext>
              </a:extLst>
            </p:cNvPr>
            <p:cNvSpPr/>
            <p:nvPr/>
          </p:nvSpPr>
          <p:spPr>
            <a:xfrm>
              <a:off x="914400" y="5404104"/>
              <a:ext cx="10360152" cy="384048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87E2DD9-CE34-EB4B-1C64-D8F9076C8340}"/>
                </a:ext>
              </a:extLst>
            </p:cNvPr>
            <p:cNvSpPr txBox="1"/>
            <p:nvPr/>
          </p:nvSpPr>
          <p:spPr>
            <a:xfrm>
              <a:off x="960120" y="5422392"/>
              <a:ext cx="102412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FFFFFF"/>
                  </a:solidFill>
                  <a:latin typeface="맑은 고딕"/>
                </a:rPr>
                <a:t>  len128   →  선형 보간 128pt — baseline 해상도</a:t>
              </a:r>
            </a:p>
          </p:txBody>
        </p:sp>
        <p:sp>
          <p:nvSpPr>
            <p:cNvPr id="27" name="Rectangle 15">
              <a:extLst>
                <a:ext uri="{FF2B5EF4-FFF2-40B4-BE49-F238E27FC236}">
                  <a16:creationId xmlns:a16="http://schemas.microsoft.com/office/drawing/2014/main" id="{02EC315F-E399-0972-0ABA-6666F15633EA}"/>
                </a:ext>
              </a:extLst>
            </p:cNvPr>
            <p:cNvSpPr/>
            <p:nvPr/>
          </p:nvSpPr>
          <p:spPr>
            <a:xfrm>
              <a:off x="914400" y="5879592"/>
              <a:ext cx="10360152" cy="384048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63EA5C8-A741-BBE7-6AE4-32FD33B44D32}"/>
                </a:ext>
              </a:extLst>
            </p:cNvPr>
            <p:cNvSpPr txBox="1"/>
            <p:nvPr/>
          </p:nvSpPr>
          <p:spPr>
            <a:xfrm>
              <a:off x="960120" y="5897880"/>
              <a:ext cx="102412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FFFFFF"/>
                  </a:solidFill>
                  <a:latin typeface="맑은 고딕"/>
                </a:rPr>
                <a:t>  excl_extreme   →  상하위 5% 극단 제거 — M2 vs M2_2 매칭 효과 극명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76809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54865"/>
            <a:ext cx="3086101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AEC 128pt  +  len128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457200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15176" y="6537960"/>
            <a:ext cx="64793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EA3AB"/>
                </a:solidFill>
                <a:latin typeface="맑은 고딕"/>
              </a:rPr>
              <a:t>21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832104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832104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832104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3831336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3831336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3831336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_c2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76809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54865"/>
            <a:ext cx="2910477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AEC 128pt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457200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15176" y="6537960"/>
            <a:ext cx="64793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EA3AB"/>
                </a:solidFill>
                <a:latin typeface="맑은 고딕"/>
              </a:rPr>
              <a:t>18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832104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832104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832104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3831336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3831336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3831336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_c2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76809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54865"/>
            <a:ext cx="3116815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AEC 128pt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457200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15176" y="6537960"/>
            <a:ext cx="64793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EA3AB"/>
                </a:solidFill>
                <a:latin typeface="맑은 고딕"/>
              </a:rPr>
              <a:t>19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832104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832104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832104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3831336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3831336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3831336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_c2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76809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54865"/>
            <a:ext cx="3116815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AEC 128pt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457200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15176" y="6537960"/>
            <a:ext cx="64793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EA3AB"/>
                </a:solidFill>
                <a:latin typeface="맑은 고딕"/>
              </a:rPr>
              <a:t>20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832104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832104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832104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3831336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3831336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3831336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_c2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768096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54865"/>
            <a:ext cx="3927807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AEC 128pt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457200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15176" y="6537960"/>
            <a:ext cx="64793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EA3AB"/>
                </a:solidFill>
                <a:latin typeface="맑은 고딕"/>
              </a:rPr>
              <a:t>22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813816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832104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832104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813816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832104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133856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133856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133856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3813048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3831336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3813048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3831336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3813048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3831336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133087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133087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_c2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133087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76809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54865"/>
            <a:ext cx="3610284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Grad-CAM AEC — len128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457200"/>
            <a:ext cx="6200608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(CrossAttn)  vs  M3 (CrossAttn3)  |  heatmap · individual lines · mean curve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15176" y="6537960"/>
            <a:ext cx="64793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EA3AB"/>
                </a:solidFill>
                <a:latin typeface="맑은 고딕"/>
              </a:rPr>
              <a:t>26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468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58393" y="822960"/>
            <a:ext cx="1938351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cam_aec_heatmap  (샘플별)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99205" y="822960"/>
            <a:ext cx="1848583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cam_aec_lines  (개별 곡선)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5467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52179" y="822960"/>
            <a:ext cx="1952779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cam_aec_mean  (평균 CAM)</a:t>
            </a:r>
          </a:p>
        </p:txBody>
      </p:sp>
      <p:pic>
        <p:nvPicPr>
          <p:cNvPr id="15" name="Picture 14" descr="cam_aec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76" y="1373832"/>
            <a:ext cx="3593592" cy="2514600"/>
          </a:xfrm>
          <a:prstGeom prst="rect">
            <a:avLst/>
          </a:prstGeom>
        </p:spPr>
      </p:pic>
      <p:pic>
        <p:nvPicPr>
          <p:cNvPr id="16" name="Picture 15" descr="cam_aec_li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3004" y="1373832"/>
            <a:ext cx="3593592" cy="2514600"/>
          </a:xfrm>
          <a:prstGeom prst="rect">
            <a:avLst/>
          </a:prstGeom>
        </p:spPr>
      </p:pic>
      <p:pic>
        <p:nvPicPr>
          <p:cNvPr id="17" name="Picture 16" descr="cam_aec_m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076" y="1373832"/>
            <a:ext cx="3593592" cy="2514600"/>
          </a:xfrm>
          <a:prstGeom prst="rect">
            <a:avLst/>
          </a:prstGeom>
        </p:spPr>
      </p:pic>
      <p:pic>
        <p:nvPicPr>
          <p:cNvPr id="20" name="Picture 19" descr="cam_aec_heat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76" y="4190184"/>
            <a:ext cx="3593592" cy="2514600"/>
          </a:xfrm>
          <a:prstGeom prst="rect">
            <a:avLst/>
          </a:prstGeom>
        </p:spPr>
      </p:pic>
      <p:pic>
        <p:nvPicPr>
          <p:cNvPr id="21" name="Picture 20" descr="cam_aec_lin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3004" y="4190184"/>
            <a:ext cx="3593592" cy="2514600"/>
          </a:xfrm>
          <a:prstGeom prst="rect">
            <a:avLst/>
          </a:prstGeom>
        </p:spPr>
      </p:pic>
      <p:pic>
        <p:nvPicPr>
          <p:cNvPr id="22" name="Picture 21" descr="cam_aec_m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8076" y="4190184"/>
            <a:ext cx="3593592" cy="2514600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6684AF9-A95D-20DD-5395-7000EA6604B9}"/>
              </a:ext>
            </a:extLst>
          </p:cNvPr>
          <p:cNvGrpSpPr/>
          <p:nvPr/>
        </p:nvGrpSpPr>
        <p:grpSpPr>
          <a:xfrm>
            <a:off x="184468" y="1104308"/>
            <a:ext cx="3886200" cy="3066199"/>
            <a:chOff x="184468" y="1104308"/>
            <a:chExt cx="3886200" cy="3066199"/>
          </a:xfrm>
        </p:grpSpPr>
        <p:sp>
          <p:nvSpPr>
            <p:cNvPr id="24" name="Rectangle 12">
              <a:extLst>
                <a:ext uri="{FF2B5EF4-FFF2-40B4-BE49-F238E27FC236}">
                  <a16:creationId xmlns:a16="http://schemas.microsoft.com/office/drawing/2014/main" id="{D0E0B68E-2283-2E17-44D5-D653E2324F90}"/>
                </a:ext>
              </a:extLst>
            </p:cNvPr>
            <p:cNvSpPr/>
            <p:nvPr/>
          </p:nvSpPr>
          <p:spPr>
            <a:xfrm>
              <a:off x="184468" y="1115568"/>
              <a:ext cx="3886200" cy="230832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BD9A8AB-06F3-1A93-4E60-25811334DC9D}"/>
                </a:ext>
              </a:extLst>
            </p:cNvPr>
            <p:cNvSpPr txBox="1"/>
            <p:nvPr/>
          </p:nvSpPr>
          <p:spPr>
            <a:xfrm>
              <a:off x="1636888" y="1104308"/>
              <a:ext cx="981359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M2  </a:t>
              </a:r>
              <a:r>
                <a:rPr sz="900" b="1" dirty="0" err="1">
                  <a:solidFill>
                    <a:srgbClr val="FFFFFF"/>
                  </a:solidFill>
                  <a:latin typeface="맑은 고딕"/>
                </a:rPr>
                <a:t>CrossAttn</a:t>
              </a:r>
              <a:endParaRPr sz="900" b="1" dirty="0">
                <a:solidFill>
                  <a:srgbClr val="FFFFFF"/>
                </a:solidFill>
                <a:latin typeface="맑은 고딕"/>
              </a:endParaRPr>
            </a:p>
          </p:txBody>
        </p:sp>
        <p:sp>
          <p:nvSpPr>
            <p:cNvPr id="26" name="Rectangle 17">
              <a:extLst>
                <a:ext uri="{FF2B5EF4-FFF2-40B4-BE49-F238E27FC236}">
                  <a16:creationId xmlns:a16="http://schemas.microsoft.com/office/drawing/2014/main" id="{19C1046A-6A8C-020E-701F-138288F15774}"/>
                </a:ext>
              </a:extLst>
            </p:cNvPr>
            <p:cNvSpPr/>
            <p:nvPr/>
          </p:nvSpPr>
          <p:spPr>
            <a:xfrm>
              <a:off x="184468" y="3931920"/>
              <a:ext cx="3886200" cy="230832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3D0F7CA-C6FA-AAF8-79CB-556C5FB673FB}"/>
                </a:ext>
              </a:extLst>
            </p:cNvPr>
            <p:cNvSpPr txBox="1"/>
            <p:nvPr/>
          </p:nvSpPr>
          <p:spPr>
            <a:xfrm>
              <a:off x="1749529" y="3939675"/>
              <a:ext cx="1048685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M3  CrossAttn3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76809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54865"/>
            <a:ext cx="343465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Grad-CAM AEC —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457200"/>
            <a:ext cx="6200608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(CrossAttn)  vs  M3 (CrossAttn3)  |  heatmap · individual lines · mean curve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15176" y="6537960"/>
            <a:ext cx="64793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EA3AB"/>
                </a:solidFill>
                <a:latin typeface="맑은 고딕"/>
              </a:rPr>
              <a:t>23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468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58393" y="822960"/>
            <a:ext cx="1938351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cam_aec_heatmap  (샘플별)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99205" y="822960"/>
            <a:ext cx="1848583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cam_aec_lines  (개별 곡선)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5467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52179" y="822960"/>
            <a:ext cx="1952779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cam_aec_mean  (평균 CAM)</a:t>
            </a:r>
          </a:p>
        </p:txBody>
      </p:sp>
      <p:pic>
        <p:nvPicPr>
          <p:cNvPr id="15" name="Picture 14" descr="cam_aec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76" y="1373832"/>
            <a:ext cx="3593592" cy="2514600"/>
          </a:xfrm>
          <a:prstGeom prst="rect">
            <a:avLst/>
          </a:prstGeom>
        </p:spPr>
      </p:pic>
      <p:pic>
        <p:nvPicPr>
          <p:cNvPr id="16" name="Picture 15" descr="cam_aec_li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3004" y="1373832"/>
            <a:ext cx="3593592" cy="2514600"/>
          </a:xfrm>
          <a:prstGeom prst="rect">
            <a:avLst/>
          </a:prstGeom>
        </p:spPr>
      </p:pic>
      <p:pic>
        <p:nvPicPr>
          <p:cNvPr id="17" name="Picture 16" descr="cam_aec_m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076" y="1373832"/>
            <a:ext cx="3593592" cy="2514600"/>
          </a:xfrm>
          <a:prstGeom prst="rect">
            <a:avLst/>
          </a:prstGeom>
        </p:spPr>
      </p:pic>
      <p:pic>
        <p:nvPicPr>
          <p:cNvPr id="20" name="Picture 19" descr="cam_aec_heat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76" y="4190184"/>
            <a:ext cx="3593592" cy="2514600"/>
          </a:xfrm>
          <a:prstGeom prst="rect">
            <a:avLst/>
          </a:prstGeom>
        </p:spPr>
      </p:pic>
      <p:pic>
        <p:nvPicPr>
          <p:cNvPr id="21" name="Picture 20" descr="cam_aec_lin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3004" y="4190184"/>
            <a:ext cx="3593592" cy="2514600"/>
          </a:xfrm>
          <a:prstGeom prst="rect">
            <a:avLst/>
          </a:prstGeom>
        </p:spPr>
      </p:pic>
      <p:pic>
        <p:nvPicPr>
          <p:cNvPr id="22" name="Picture 21" descr="cam_aec_m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8076" y="4190184"/>
            <a:ext cx="3593592" cy="2514600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BCA71B1F-6554-F635-EADD-DC99F0472223}"/>
              </a:ext>
            </a:extLst>
          </p:cNvPr>
          <p:cNvGrpSpPr/>
          <p:nvPr/>
        </p:nvGrpSpPr>
        <p:grpSpPr>
          <a:xfrm>
            <a:off x="184468" y="1104308"/>
            <a:ext cx="3886200" cy="3066199"/>
            <a:chOff x="184468" y="1104308"/>
            <a:chExt cx="3886200" cy="3066199"/>
          </a:xfrm>
        </p:grpSpPr>
        <p:sp>
          <p:nvSpPr>
            <p:cNvPr id="24" name="Rectangle 12">
              <a:extLst>
                <a:ext uri="{FF2B5EF4-FFF2-40B4-BE49-F238E27FC236}">
                  <a16:creationId xmlns:a16="http://schemas.microsoft.com/office/drawing/2014/main" id="{D269C151-5358-CD9A-E075-A6412B8D5A8E}"/>
                </a:ext>
              </a:extLst>
            </p:cNvPr>
            <p:cNvSpPr/>
            <p:nvPr/>
          </p:nvSpPr>
          <p:spPr>
            <a:xfrm>
              <a:off x="184468" y="1115568"/>
              <a:ext cx="3886200" cy="230832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CB2F3E0-2279-E4BC-8939-37B0AD670F17}"/>
                </a:ext>
              </a:extLst>
            </p:cNvPr>
            <p:cNvSpPr txBox="1"/>
            <p:nvPr/>
          </p:nvSpPr>
          <p:spPr>
            <a:xfrm>
              <a:off x="1636888" y="1104308"/>
              <a:ext cx="981359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M2  </a:t>
              </a:r>
              <a:r>
                <a:rPr sz="900" b="1" dirty="0" err="1">
                  <a:solidFill>
                    <a:srgbClr val="FFFFFF"/>
                  </a:solidFill>
                  <a:latin typeface="맑은 고딕"/>
                </a:rPr>
                <a:t>CrossAttn</a:t>
              </a:r>
              <a:endParaRPr sz="900" b="1" dirty="0">
                <a:solidFill>
                  <a:srgbClr val="FFFFFF"/>
                </a:solidFill>
                <a:latin typeface="맑은 고딕"/>
              </a:endParaRPr>
            </a:p>
          </p:txBody>
        </p:sp>
        <p:sp>
          <p:nvSpPr>
            <p:cNvPr id="26" name="Rectangle 17">
              <a:extLst>
                <a:ext uri="{FF2B5EF4-FFF2-40B4-BE49-F238E27FC236}">
                  <a16:creationId xmlns:a16="http://schemas.microsoft.com/office/drawing/2014/main" id="{28297977-E8A8-EB8B-7C7A-76E047932030}"/>
                </a:ext>
              </a:extLst>
            </p:cNvPr>
            <p:cNvSpPr/>
            <p:nvPr/>
          </p:nvSpPr>
          <p:spPr>
            <a:xfrm>
              <a:off x="184468" y="3931920"/>
              <a:ext cx="3886200" cy="230832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85A270F-E8EB-B9FD-723F-972EB739767C}"/>
                </a:ext>
              </a:extLst>
            </p:cNvPr>
            <p:cNvSpPr txBox="1"/>
            <p:nvPr/>
          </p:nvSpPr>
          <p:spPr>
            <a:xfrm>
              <a:off x="1749529" y="3939675"/>
              <a:ext cx="1048685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M3  CrossAttn3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76809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54865"/>
            <a:ext cx="3640997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Grad-CAM AEC —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457200"/>
            <a:ext cx="6200608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(CrossAttn)  vs  M3 (CrossAttn3)  |  heatmap · individual lines · mean curve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15176" y="6537960"/>
            <a:ext cx="64793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EA3AB"/>
                </a:solidFill>
                <a:latin typeface="맑은 고딕"/>
              </a:rPr>
              <a:t>24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468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58393" y="822960"/>
            <a:ext cx="1938351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cam_aec_heatmap  (샘플별)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99205" y="822960"/>
            <a:ext cx="1848583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cam_aec_lines  (개별 곡선)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5467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52179" y="822960"/>
            <a:ext cx="1952779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cam_aec_mean  (평균 CAM)</a:t>
            </a:r>
          </a:p>
        </p:txBody>
      </p:sp>
      <p:pic>
        <p:nvPicPr>
          <p:cNvPr id="15" name="Picture 14" descr="cam_aec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76" y="1373832"/>
            <a:ext cx="3593592" cy="2514600"/>
          </a:xfrm>
          <a:prstGeom prst="rect">
            <a:avLst/>
          </a:prstGeom>
        </p:spPr>
      </p:pic>
      <p:pic>
        <p:nvPicPr>
          <p:cNvPr id="16" name="Picture 15" descr="cam_aec_li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3004" y="1373832"/>
            <a:ext cx="3593592" cy="2514600"/>
          </a:xfrm>
          <a:prstGeom prst="rect">
            <a:avLst/>
          </a:prstGeom>
        </p:spPr>
      </p:pic>
      <p:pic>
        <p:nvPicPr>
          <p:cNvPr id="17" name="Picture 16" descr="cam_aec_m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076" y="1373832"/>
            <a:ext cx="3593592" cy="2514600"/>
          </a:xfrm>
          <a:prstGeom prst="rect">
            <a:avLst/>
          </a:prstGeom>
        </p:spPr>
      </p:pic>
      <p:pic>
        <p:nvPicPr>
          <p:cNvPr id="20" name="Picture 19" descr="cam_aec_heat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76" y="4190184"/>
            <a:ext cx="3593592" cy="2514600"/>
          </a:xfrm>
          <a:prstGeom prst="rect">
            <a:avLst/>
          </a:prstGeom>
        </p:spPr>
      </p:pic>
      <p:pic>
        <p:nvPicPr>
          <p:cNvPr id="21" name="Picture 20" descr="cam_aec_lin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3004" y="4190184"/>
            <a:ext cx="3593592" cy="2514600"/>
          </a:xfrm>
          <a:prstGeom prst="rect">
            <a:avLst/>
          </a:prstGeom>
        </p:spPr>
      </p:pic>
      <p:pic>
        <p:nvPicPr>
          <p:cNvPr id="22" name="Picture 21" descr="cam_aec_m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8076" y="4190184"/>
            <a:ext cx="3593592" cy="2514600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3E386A74-3748-4AB8-6F46-066B98615DD5}"/>
              </a:ext>
            </a:extLst>
          </p:cNvPr>
          <p:cNvGrpSpPr/>
          <p:nvPr/>
        </p:nvGrpSpPr>
        <p:grpSpPr>
          <a:xfrm>
            <a:off x="184468" y="1104308"/>
            <a:ext cx="3886200" cy="3066199"/>
            <a:chOff x="184468" y="1104308"/>
            <a:chExt cx="3886200" cy="3066199"/>
          </a:xfrm>
        </p:grpSpPr>
        <p:sp>
          <p:nvSpPr>
            <p:cNvPr id="24" name="Rectangle 12">
              <a:extLst>
                <a:ext uri="{FF2B5EF4-FFF2-40B4-BE49-F238E27FC236}">
                  <a16:creationId xmlns:a16="http://schemas.microsoft.com/office/drawing/2014/main" id="{A9AB7369-D0FF-CA71-C506-41B9127B9F50}"/>
                </a:ext>
              </a:extLst>
            </p:cNvPr>
            <p:cNvSpPr/>
            <p:nvPr/>
          </p:nvSpPr>
          <p:spPr>
            <a:xfrm>
              <a:off x="184468" y="1115568"/>
              <a:ext cx="3886200" cy="230832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EC08649-B107-51C2-44DD-8613A703F16E}"/>
                </a:ext>
              </a:extLst>
            </p:cNvPr>
            <p:cNvSpPr txBox="1"/>
            <p:nvPr/>
          </p:nvSpPr>
          <p:spPr>
            <a:xfrm>
              <a:off x="1636888" y="1104308"/>
              <a:ext cx="981359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M2  </a:t>
              </a:r>
              <a:r>
                <a:rPr sz="900" b="1" dirty="0" err="1">
                  <a:solidFill>
                    <a:srgbClr val="FFFFFF"/>
                  </a:solidFill>
                  <a:latin typeface="맑은 고딕"/>
                </a:rPr>
                <a:t>CrossAttn</a:t>
              </a:r>
              <a:endParaRPr sz="900" b="1" dirty="0">
                <a:solidFill>
                  <a:srgbClr val="FFFFFF"/>
                </a:solidFill>
                <a:latin typeface="맑은 고딕"/>
              </a:endParaRPr>
            </a:p>
          </p:txBody>
        </p:sp>
        <p:sp>
          <p:nvSpPr>
            <p:cNvPr id="26" name="Rectangle 17">
              <a:extLst>
                <a:ext uri="{FF2B5EF4-FFF2-40B4-BE49-F238E27FC236}">
                  <a16:creationId xmlns:a16="http://schemas.microsoft.com/office/drawing/2014/main" id="{59114B1A-93D1-8AE0-E60A-6A835CB85FF6}"/>
                </a:ext>
              </a:extLst>
            </p:cNvPr>
            <p:cNvSpPr/>
            <p:nvPr/>
          </p:nvSpPr>
          <p:spPr>
            <a:xfrm>
              <a:off x="184468" y="3931920"/>
              <a:ext cx="3886200" cy="230832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F062956-093A-ECC7-3609-95B6E62CA936}"/>
                </a:ext>
              </a:extLst>
            </p:cNvPr>
            <p:cNvSpPr txBox="1"/>
            <p:nvPr/>
          </p:nvSpPr>
          <p:spPr>
            <a:xfrm>
              <a:off x="1749529" y="3939675"/>
              <a:ext cx="1048685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M3  CrossAttn3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76809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54865"/>
            <a:ext cx="3640997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Grad-CAM AEC —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457200"/>
            <a:ext cx="6200608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(CrossAttn)  vs  M3 (CrossAttn3)  |  heatmap · individual lines · mean curve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15176" y="6537960"/>
            <a:ext cx="64793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EA3AB"/>
                </a:solidFill>
                <a:latin typeface="맑은 고딕"/>
              </a:rPr>
              <a:t>25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468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58393" y="822960"/>
            <a:ext cx="1938351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cam_aec_heatmap  (샘플별)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99205" y="822960"/>
            <a:ext cx="1848583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cam_aec_lines  (개별 곡선)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5467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52179" y="822960"/>
            <a:ext cx="1952779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cam_aec_mean  (평균 CAM)</a:t>
            </a:r>
          </a:p>
        </p:txBody>
      </p:sp>
      <p:pic>
        <p:nvPicPr>
          <p:cNvPr id="15" name="Picture 14" descr="cam_aec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76" y="1373832"/>
            <a:ext cx="3593592" cy="2514600"/>
          </a:xfrm>
          <a:prstGeom prst="rect">
            <a:avLst/>
          </a:prstGeom>
        </p:spPr>
      </p:pic>
      <p:pic>
        <p:nvPicPr>
          <p:cNvPr id="16" name="Picture 15" descr="cam_aec_li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3004" y="1373832"/>
            <a:ext cx="3593592" cy="2514600"/>
          </a:xfrm>
          <a:prstGeom prst="rect">
            <a:avLst/>
          </a:prstGeom>
        </p:spPr>
      </p:pic>
      <p:pic>
        <p:nvPicPr>
          <p:cNvPr id="17" name="Picture 16" descr="cam_aec_m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076" y="1373832"/>
            <a:ext cx="3593592" cy="2514600"/>
          </a:xfrm>
          <a:prstGeom prst="rect">
            <a:avLst/>
          </a:prstGeom>
        </p:spPr>
      </p:pic>
      <p:pic>
        <p:nvPicPr>
          <p:cNvPr id="20" name="Picture 19" descr="cam_aec_heat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76" y="4190184"/>
            <a:ext cx="3593592" cy="2514600"/>
          </a:xfrm>
          <a:prstGeom prst="rect">
            <a:avLst/>
          </a:prstGeom>
        </p:spPr>
      </p:pic>
      <p:pic>
        <p:nvPicPr>
          <p:cNvPr id="21" name="Picture 20" descr="cam_aec_lin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3004" y="4190184"/>
            <a:ext cx="3593592" cy="2514600"/>
          </a:xfrm>
          <a:prstGeom prst="rect">
            <a:avLst/>
          </a:prstGeom>
        </p:spPr>
      </p:pic>
      <p:pic>
        <p:nvPicPr>
          <p:cNvPr id="22" name="Picture 21" descr="cam_aec_m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8076" y="4190184"/>
            <a:ext cx="3593592" cy="2514600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6F1F2A25-D4D4-4E44-341C-8F506EAF8A68}"/>
              </a:ext>
            </a:extLst>
          </p:cNvPr>
          <p:cNvGrpSpPr/>
          <p:nvPr/>
        </p:nvGrpSpPr>
        <p:grpSpPr>
          <a:xfrm>
            <a:off x="184468" y="1104308"/>
            <a:ext cx="3886200" cy="3066199"/>
            <a:chOff x="184468" y="1104308"/>
            <a:chExt cx="3886200" cy="3066199"/>
          </a:xfrm>
        </p:grpSpPr>
        <p:sp>
          <p:nvSpPr>
            <p:cNvPr id="24" name="Rectangle 12">
              <a:extLst>
                <a:ext uri="{FF2B5EF4-FFF2-40B4-BE49-F238E27FC236}">
                  <a16:creationId xmlns:a16="http://schemas.microsoft.com/office/drawing/2014/main" id="{E8F80F3B-510D-0CB9-E703-CA64D6951887}"/>
                </a:ext>
              </a:extLst>
            </p:cNvPr>
            <p:cNvSpPr/>
            <p:nvPr/>
          </p:nvSpPr>
          <p:spPr>
            <a:xfrm>
              <a:off x="184468" y="1115568"/>
              <a:ext cx="3886200" cy="230832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01EB287-F8A0-4DD8-ECF2-BE3FF9DAD094}"/>
                </a:ext>
              </a:extLst>
            </p:cNvPr>
            <p:cNvSpPr txBox="1"/>
            <p:nvPr/>
          </p:nvSpPr>
          <p:spPr>
            <a:xfrm>
              <a:off x="1636888" y="1104308"/>
              <a:ext cx="981359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M2  </a:t>
              </a:r>
              <a:r>
                <a:rPr sz="900" b="1" dirty="0" err="1">
                  <a:solidFill>
                    <a:srgbClr val="FFFFFF"/>
                  </a:solidFill>
                  <a:latin typeface="맑은 고딕"/>
                </a:rPr>
                <a:t>CrossAttn</a:t>
              </a:r>
              <a:endParaRPr sz="900" b="1" dirty="0">
                <a:solidFill>
                  <a:srgbClr val="FFFFFF"/>
                </a:solidFill>
                <a:latin typeface="맑은 고딕"/>
              </a:endParaRPr>
            </a:p>
          </p:txBody>
        </p:sp>
        <p:sp>
          <p:nvSpPr>
            <p:cNvPr id="26" name="Rectangle 17">
              <a:extLst>
                <a:ext uri="{FF2B5EF4-FFF2-40B4-BE49-F238E27FC236}">
                  <a16:creationId xmlns:a16="http://schemas.microsoft.com/office/drawing/2014/main" id="{E9C9D023-4141-BE6F-D604-4421A2A6706D}"/>
                </a:ext>
              </a:extLst>
            </p:cNvPr>
            <p:cNvSpPr/>
            <p:nvPr/>
          </p:nvSpPr>
          <p:spPr>
            <a:xfrm>
              <a:off x="184468" y="3931920"/>
              <a:ext cx="3886200" cy="230832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EBBB54B-DD2C-6088-2152-9B8530E0062B}"/>
                </a:ext>
              </a:extLst>
            </p:cNvPr>
            <p:cNvSpPr txBox="1"/>
            <p:nvPr/>
          </p:nvSpPr>
          <p:spPr>
            <a:xfrm>
              <a:off x="1749529" y="3939675"/>
              <a:ext cx="1048685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M3  CrossAttn3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768096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768096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54865"/>
            <a:ext cx="445198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Grad-CAM AEC —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457200"/>
            <a:ext cx="6200608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(CrossAttn)  vs  M3 (CrossAttn3)  |  heatmap · individual lines · mean curve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15176" y="6537960"/>
            <a:ext cx="64793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9EA3AB"/>
                </a:solidFill>
                <a:latin typeface="맑은 고딕"/>
              </a:rPr>
              <a:t>27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468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58393" y="822960"/>
            <a:ext cx="1938351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cam_aec_heatmap  (샘플별)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99205" y="822960"/>
            <a:ext cx="1848583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cam_aec_lines  (개별 곡선)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5467" y="813816"/>
            <a:ext cx="3886200" cy="274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52179" y="822960"/>
            <a:ext cx="1952779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cam_aec_mean  (평균 CAM)</a:t>
            </a:r>
          </a:p>
        </p:txBody>
      </p:sp>
      <p:pic>
        <p:nvPicPr>
          <p:cNvPr id="15" name="Picture 14" descr="cam_aec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76" y="1425075"/>
            <a:ext cx="3593592" cy="2514600"/>
          </a:xfrm>
          <a:prstGeom prst="rect">
            <a:avLst/>
          </a:prstGeom>
        </p:spPr>
      </p:pic>
      <p:pic>
        <p:nvPicPr>
          <p:cNvPr id="16" name="Picture 15" descr="cam_aec_li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3004" y="1425075"/>
            <a:ext cx="3593592" cy="2514600"/>
          </a:xfrm>
          <a:prstGeom prst="rect">
            <a:avLst/>
          </a:prstGeom>
        </p:spPr>
      </p:pic>
      <p:pic>
        <p:nvPicPr>
          <p:cNvPr id="17" name="Picture 16" descr="cam_aec_m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076" y="1425075"/>
            <a:ext cx="3593592" cy="2514600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D46D4E9-CB05-450A-FF66-A525084937B3}"/>
              </a:ext>
            </a:extLst>
          </p:cNvPr>
          <p:cNvGrpSpPr/>
          <p:nvPr/>
        </p:nvGrpSpPr>
        <p:grpSpPr>
          <a:xfrm>
            <a:off x="184468" y="1104308"/>
            <a:ext cx="3886200" cy="3066199"/>
            <a:chOff x="184468" y="1104308"/>
            <a:chExt cx="3886200" cy="3066199"/>
          </a:xfrm>
        </p:grpSpPr>
        <p:sp>
          <p:nvSpPr>
            <p:cNvPr id="13" name="Rectangle 12"/>
            <p:cNvSpPr/>
            <p:nvPr/>
          </p:nvSpPr>
          <p:spPr>
            <a:xfrm>
              <a:off x="184468" y="1115568"/>
              <a:ext cx="3886200" cy="230832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636888" y="1104308"/>
              <a:ext cx="981359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M2  </a:t>
              </a:r>
              <a:r>
                <a:rPr sz="900" b="1" dirty="0" err="1">
                  <a:solidFill>
                    <a:srgbClr val="FFFFFF"/>
                  </a:solidFill>
                  <a:latin typeface="맑은 고딕"/>
                </a:rPr>
                <a:t>CrossAttn</a:t>
              </a:r>
              <a:endParaRPr sz="900" b="1" dirty="0">
                <a:solidFill>
                  <a:srgbClr val="FFFFFF"/>
                </a:solidFill>
                <a:latin typeface="맑은 고딕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84468" y="3931920"/>
              <a:ext cx="3886200" cy="230832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749529" y="3939675"/>
              <a:ext cx="1048685" cy="2308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M3  CrossAttn3</a:t>
              </a:r>
            </a:p>
          </p:txBody>
        </p:sp>
      </p:grpSp>
      <p:pic>
        <p:nvPicPr>
          <p:cNvPr id="20" name="Picture 19" descr="cam_aec_heat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76" y="4241427"/>
            <a:ext cx="3593592" cy="2514600"/>
          </a:xfrm>
          <a:prstGeom prst="rect">
            <a:avLst/>
          </a:prstGeom>
        </p:spPr>
      </p:pic>
      <p:pic>
        <p:nvPicPr>
          <p:cNvPr id="21" name="Picture 20" descr="cam_aec_lin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3004" y="4241427"/>
            <a:ext cx="3593592" cy="2514600"/>
          </a:xfrm>
          <a:prstGeom prst="rect">
            <a:avLst/>
          </a:prstGeom>
        </p:spPr>
      </p:pic>
      <p:pic>
        <p:nvPicPr>
          <p:cNvPr id="22" name="Picture 21" descr="cam_aec_m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8076" y="4241427"/>
            <a:ext cx="3593592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3304</TotalTime>
  <Words>2955</Words>
  <Application>Microsoft Office PowerPoint</Application>
  <PresentationFormat>와이드스크린</PresentationFormat>
  <Paragraphs>598</Paragraphs>
  <Slides>33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8" baseType="lpstr">
      <vt:lpstr>KoPub돋움체 Bold</vt:lpstr>
      <vt:lpstr>KoPub돋움체 Medium</vt:lpstr>
      <vt:lpstr>Arial</vt:lpstr>
      <vt:lpstr>맑은 고딕</vt:lpstr>
      <vt:lpstr>Office 테마</vt:lpstr>
      <vt:lpstr>PowerPoint 프레젠테이션</vt:lpstr>
      <vt:lpstr>1. What’s discussed in the last meetings</vt:lpstr>
      <vt:lpstr>2. Research Summary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Conclusion</vt:lpstr>
      <vt:lpstr>5. Next Plans</vt:lpstr>
      <vt:lpstr>부록 – 조건별 상세 결과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311</cp:revision>
  <dcterms:created xsi:type="dcterms:W3CDTF">2026-04-09T07:05:16Z</dcterms:created>
  <dcterms:modified xsi:type="dcterms:W3CDTF">2026-05-28T07:53:09Z</dcterms:modified>
</cp:coreProperties>
</file>