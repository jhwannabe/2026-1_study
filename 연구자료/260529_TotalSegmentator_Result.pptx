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524" r:id="rId3"/>
    <p:sldId id="551" r:id="rId4"/>
    <p:sldId id="569" r:id="rId5"/>
    <p:sldId id="582" r:id="rId6"/>
    <p:sldId id="586" r:id="rId7"/>
    <p:sldId id="561" r:id="rId8"/>
    <p:sldId id="555" r:id="rId9"/>
    <p:sldId id="562" r:id="rId10"/>
    <p:sldId id="563" r:id="rId11"/>
    <p:sldId id="584" r:id="rId12"/>
    <p:sldId id="587" r:id="rId13"/>
    <p:sldId id="588" r:id="rId14"/>
    <p:sldId id="565" r:id="rId15"/>
    <p:sldId id="567" r:id="rId16"/>
    <p:sldId id="568" r:id="rId17"/>
    <p:sldId id="577" r:id="rId18"/>
    <p:sldId id="583" r:id="rId19"/>
    <p:sldId id="585" r:id="rId20"/>
    <p:sldId id="580" r:id="rId21"/>
    <p:sldId id="572" r:id="rId22"/>
    <p:sldId id="574" r:id="rId23"/>
    <p:sldId id="469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479" r:id="rId35"/>
  </p:sldIdLst>
  <p:sldSz cx="12192000" cy="6858000"/>
  <p:notesSz cx="6858000" cy="9144000"/>
  <p:embeddedFontLst>
    <p:embeddedFont>
      <p:font typeface="KoPub돋움체 Bold" panose="00000800000000000000" pitchFamily="2" charset="-127"/>
      <p:bold r:id="rId37"/>
    </p:embeddedFont>
    <p:embeddedFont>
      <p:font typeface="KoPub돋움체 Medium" panose="00000600000000000000" pitchFamily="2" charset="-127"/>
      <p:regular r:id="rId38"/>
    </p:embeddedFont>
    <p:embeddedFont>
      <p:font typeface="맑은 고딕" panose="020B0503020000020004" pitchFamily="50" charset="-127"/>
      <p:regular r:id="rId39"/>
      <p:bold r:id="rId4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69"/>
            <p14:sldId id="582"/>
            <p14:sldId id="586"/>
            <p14:sldId id="561"/>
            <p14:sldId id="555"/>
            <p14:sldId id="562"/>
            <p14:sldId id="563"/>
            <p14:sldId id="584"/>
            <p14:sldId id="587"/>
            <p14:sldId id="588"/>
            <p14:sldId id="565"/>
            <p14:sldId id="567"/>
            <p14:sldId id="568"/>
            <p14:sldId id="577"/>
            <p14:sldId id="583"/>
            <p14:sldId id="585"/>
            <p14:sldId id="580"/>
            <p14:sldId id="572"/>
            <p14:sldId id="574"/>
            <p14:sldId id="469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0"/>
    <a:srgbClr val="17A5AA"/>
    <a:srgbClr val="1F34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50F4-122B-41C8-8B97-E733E2DA839E}" v="104" dt="2026-04-30T01:48:13.387"/>
    <p1510:client id="{59280094-6966-4D40-B0D2-C3AF0E296DD5}" v="33" dt="2026-04-29T05:12:11.973"/>
    <p1510:client id="{F96BF643-3359-45F4-82D4-8AA1E0B6CADD}" v="30" dt="2026-04-29T10:17:24.92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1879" autoAdjust="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2026-05-29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 시작하겠습니다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진행한 연구 결과에 대해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공유드리겠습니다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이번주 연구 요약입니다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핵심은 세 가지 모델 구조의 비교입니다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나이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BMI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만 사용하는 기저모델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임상변수에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시계열 추가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**</a:t>
            </a:r>
            <a:r>
              <a:rPr lang="en-US" altLang="ko-KR" sz="1200" b="1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 + AEC + Scanner**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여기에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제조사 모델명을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임베딩으로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추가</a:t>
            </a:r>
          </a:p>
          <a:p>
            <a:b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</a:br>
            <a:endParaRPr lang="ko-KR" altLang="en-US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SMI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앞서 말씀드린 공식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—`SMI = (TAMA − IMATA) / Height²`—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으로 정의하고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한국인 기준 하위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5% threshold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로 이진 분류를 수행하였습니다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참조한 논문은 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5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편으로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기준에 대해서는 데이터 섹션에서 자세히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설명드리겠습니다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1427D-18AB-FB27-8FFC-A0B6FFCD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EBBC08-1943-2DBE-075E-E8FCBA7F4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942D80-8618-D7E3-0C44-FD1E178E9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A43CCB-D6EA-6323-E4F9-E92A51F7D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069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FF9A8-ACAD-6682-940A-D57BB89DF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14F30B-7F51-6CE2-5914-8A5EF5CD3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428396A-5778-3432-8730-CDC31A723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F616D3-22A2-6636-9E34-674487CCA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083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C4833-AE29-CB0B-CC60-4C01F499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0FCDB2-DEC3-5D51-43A7-D6442E518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988697-304D-D775-8C6A-0CCFFAA9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73DBE-6550-6954-C8C0-999C8654C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799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12615-0334-0285-A650-A668411B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4EA9D-D219-60E3-020F-29B0735E8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B41B85-B40F-D632-CFD5-3FCB8B894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E2E6CE-BA5D-90EC-DBA0-281A8E406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162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CAAC-A43F-15F6-F38E-F4B14F21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B3547B-80AA-6D0D-79FA-1FCDF983F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F9C7F7-4ABD-CFF8-3ED4-082C306D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17007A-A9B5-A594-7165-EBA1B58F6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059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0D9A-6523-D812-D915-B8D3DBA9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079CC-2D42-A96C-B5E8-4C4867CDE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98F159-4291-AE78-8BB6-C96A78675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4A957C-CF48-C2B8-E93D-76728A1F7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937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5072A-57AF-2F56-2988-BAC1BF0BB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19B8DA-7169-60BF-A4C9-01A3C3023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A84043-3191-9E36-3941-6CC71FFC5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C91C0-55F5-F34A-2504-0536881EE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8486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04D3-7096-4A3B-F1BD-C1727355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6BB26A-1A3E-0CC3-53FE-CAC767597F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86A92C-D51F-25D8-B145-E2E17719C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F36E19-D66F-B713-A677-6E2FD5D7D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542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5B193-8799-EB65-9D48-2510241E1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CCA020-01DE-03AD-1B42-F1F9E76F31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0D4A76-E032-4442-F8BA-1A0E850CD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6DD13-3CC4-DC52-30CC-65ABD4BFE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66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522FC-D95C-2811-46CD-DBD671F6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89210-4A13-471D-0F17-2140F1A46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4F8750-2C32-2BE5-8D69-63CC4823F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A63186-6E05-FE98-5E08-72A542128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201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5EBF4-EC6F-1CFF-5ED4-D0BD3EB8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3AAE3E-99BB-C674-861A-63DB2DBEC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EDA680-66E8-0B95-2D60-C536655E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6561BC-6ECE-9AB1-FD83-7574AEC478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0188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36C6-A34E-7C97-D3FB-FB66F1EF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57F21C-7213-F6F3-A53C-2FCEA1F64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24891-6B04-B8A0-10FA-6A1B81EBA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E55A71-013D-8926-501F-770EF40D0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11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874E-124A-FA24-D696-D8E0FE116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28EDE4-D95F-FA53-1DB7-76D62D540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3FFCAC-18BB-9848-59AE-3EF9233A9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2B445A-AF34-EA53-97B5-442A7D596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9626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CED44-58CF-177D-3F31-8DBF802E5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AE2FB1-3457-7736-5BF1-36643F901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B1AA0F-CC3E-6DAC-3E4F-815173BEA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3A4D8F-D045-897F-9124-A791744F5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18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8E28B-7AC3-0CF1-2EA9-034822A72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AD3FDE-AE9C-5BDC-1E4E-ABAB8C1E6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9D788-878B-8FFA-734D-16696C03F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2602F4-EDC9-8B8A-D175-9AAF116B4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916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1C00-5F34-FDE9-08F8-A8ECD8745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AC0985-4163-70C3-BE4E-AEAEA87D9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847E3-5D6B-EF70-ECC3-092EB60B6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6DC6CD-30BF-B660-6FD0-E9FCDD881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0486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4673-77C6-7569-2F80-390E45BDE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A94FF3-9146-25AC-03A3-A397FC800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356876-2210-C5AF-EFE4-74957D0CF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D53BF6-A53A-03C6-A606-BA5239C2B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218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9CC27-819E-E9C6-8612-B4A6EF20A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C5E51-CCB8-54C7-6E23-F5DCCCFA5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0C343B-BAB9-7678-50A0-097E9769D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0221D-ACEA-1496-271C-2665BEA77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573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2F61-CC60-EFC1-9EA4-364BA2D23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26786B-A7ED-B292-1F79-E88ED27DC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798FE6-F1D1-8372-0578-9FB5F5453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176-BAD5-0CE2-8C50-040CEBD15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90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98186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Results of Total </a:t>
            </a:r>
            <a:r>
              <a:rPr lang="en-US" altLang="ko-KR" sz="2500" b="1" dirty="0" err="1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Segmentator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&amp; AEC</a:t>
            </a:r>
            <a:r>
              <a:rPr lang="ko-KR" altLang="en-US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 </a:t>
            </a:r>
            <a:r>
              <a:rPr lang="en-US" altLang="ko-KR" sz="2500" b="1" dirty="0">
                <a:solidFill>
                  <a:schemeClr val="lt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Study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2026. 05. 29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T12 upper,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</a:t>
            </a:r>
          </a:p>
          <a:p>
            <a:pPr lvl="1"/>
            <a:r>
              <a:rPr lang="ko-KR" altLang="en-US" dirty="0"/>
              <a:t>갖고 있는 </a:t>
            </a:r>
            <a:r>
              <a:rPr lang="en-US" altLang="ko-KR" dirty="0"/>
              <a:t>patient 2,054</a:t>
            </a:r>
            <a:r>
              <a:rPr lang="ko-KR" altLang="en-US" dirty="0"/>
              <a:t>에 대해서 </a:t>
            </a:r>
            <a:r>
              <a:rPr lang="en-US" altLang="ko-KR" dirty="0"/>
              <a:t>630</a:t>
            </a:r>
            <a:r>
              <a:rPr lang="ko-KR" altLang="en-US" dirty="0"/>
              <a:t>명의 데이터는 </a:t>
            </a:r>
            <a:r>
              <a:rPr lang="en-US" altLang="ko-KR" dirty="0"/>
              <a:t>T12 missing</a:t>
            </a:r>
            <a:r>
              <a:rPr lang="ko-KR" altLang="en-US" dirty="0"/>
              <a:t>으로 분류</a:t>
            </a:r>
            <a:endParaRPr lang="en-US" altLang="ko-KR" dirty="0"/>
          </a:p>
          <a:p>
            <a:r>
              <a:rPr lang="en-US" altLang="ko-KR" dirty="0"/>
              <a:t>AEC </a:t>
            </a:r>
            <a:r>
              <a:rPr lang="en-US" altLang="ko-KR" dirty="0" err="1"/>
              <a:t>len</a:t>
            </a:r>
            <a:r>
              <a:rPr lang="ko-KR" altLang="en-US" dirty="0"/>
              <a:t>을 </a:t>
            </a:r>
            <a:r>
              <a:rPr lang="en-US" altLang="ko-KR" dirty="0"/>
              <a:t>128, 256</a:t>
            </a:r>
            <a:r>
              <a:rPr lang="ko-KR" altLang="en-US" dirty="0"/>
              <a:t>으로 </a:t>
            </a:r>
            <a:r>
              <a:rPr lang="en-US" altLang="ko-KR" dirty="0"/>
              <a:t>Model </a:t>
            </a:r>
            <a:r>
              <a:rPr lang="en-US" altLang="ko-KR" dirty="0" err="1"/>
              <a:t>Performace</a:t>
            </a:r>
            <a:r>
              <a:rPr lang="en-US" altLang="ko-KR" dirty="0"/>
              <a:t> </a:t>
            </a:r>
            <a:r>
              <a:rPr lang="ko-KR" altLang="en-US" dirty="0"/>
              <a:t>비교</a:t>
            </a:r>
            <a:endParaRPr lang="en-US" altLang="ko-KR" dirty="0"/>
          </a:p>
          <a:p>
            <a:pPr lvl="1"/>
            <a:r>
              <a:rPr lang="en-US" altLang="ko-KR" dirty="0"/>
              <a:t>Clinic + AEC</a:t>
            </a:r>
            <a:r>
              <a:rPr lang="ko-KR" altLang="en-US" dirty="0"/>
              <a:t>가 </a:t>
            </a:r>
            <a:r>
              <a:rPr lang="en-US" altLang="ko-KR" dirty="0"/>
              <a:t>Clinic </a:t>
            </a:r>
            <a:r>
              <a:rPr lang="ko-KR" altLang="en-US" dirty="0"/>
              <a:t>보다 </a:t>
            </a:r>
            <a:r>
              <a:rPr lang="en-US" altLang="ko-KR" dirty="0"/>
              <a:t>test dataset</a:t>
            </a:r>
            <a:r>
              <a:rPr lang="ko-KR" altLang="en-US" dirty="0"/>
              <a:t> </a:t>
            </a:r>
            <a:r>
              <a:rPr lang="en-US" altLang="ko-KR" dirty="0"/>
              <a:t>AUC </a:t>
            </a:r>
            <a:r>
              <a:rPr lang="ko-KR" altLang="en-US" dirty="0"/>
              <a:t>기준 </a:t>
            </a:r>
            <a:r>
              <a:rPr lang="en-US" altLang="ko-KR" dirty="0"/>
              <a:t>0.05 </a:t>
            </a:r>
            <a:r>
              <a:rPr lang="ko-KR" altLang="en-US" dirty="0"/>
              <a:t>향상 </a:t>
            </a:r>
            <a:r>
              <a:rPr lang="en-US" altLang="ko-KR" dirty="0"/>
              <a:t>(</a:t>
            </a:r>
            <a:r>
              <a:rPr lang="en-US" altLang="ko-KR" b="1" dirty="0"/>
              <a:t>best</a:t>
            </a:r>
            <a:r>
              <a:rPr lang="en-US" altLang="ko-KR" dirty="0"/>
              <a:t>. </a:t>
            </a:r>
            <a:r>
              <a:rPr lang="en-US" altLang="ko-KR" b="1" dirty="0"/>
              <a:t>0.833 </a:t>
            </a:r>
            <a:r>
              <a:rPr lang="ko-KR" altLang="en-US" b="1" dirty="0"/>
              <a:t>→ </a:t>
            </a:r>
            <a:r>
              <a:rPr lang="en-US" altLang="ko-KR" b="1" dirty="0"/>
              <a:t>0.887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Clinic + AEC + Scanner</a:t>
            </a:r>
            <a:r>
              <a:rPr lang="ko-KR" altLang="en-US" dirty="0"/>
              <a:t>인 경우에는 조건에 따라 다름</a:t>
            </a:r>
            <a:endParaRPr lang="en-US" altLang="ko-KR" dirty="0"/>
          </a:p>
          <a:p>
            <a:r>
              <a:rPr lang="en-US" altLang="ko-KR" dirty="0"/>
              <a:t>AEC</a:t>
            </a:r>
            <a:r>
              <a:rPr lang="ko-KR" altLang="en-US" dirty="0"/>
              <a:t>가 </a:t>
            </a:r>
            <a:r>
              <a:rPr lang="en-US" altLang="ko-KR" dirty="0"/>
              <a:t>Sarcopenia</a:t>
            </a:r>
            <a:r>
              <a:rPr lang="ko-KR" altLang="en-US" dirty="0"/>
              <a:t>를 분류할 때 영향력이 있다는 결론 도출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Total </a:t>
            </a:r>
            <a:r>
              <a:rPr lang="en-US" altLang="ko-KR" dirty="0" err="1"/>
              <a:t>Segmentator</a:t>
            </a:r>
            <a:r>
              <a:rPr lang="ko-KR" altLang="en-US" dirty="0"/>
              <a:t>를 이용하여 </a:t>
            </a:r>
            <a:r>
              <a:rPr lang="en-US" altLang="ko-KR" dirty="0"/>
              <a:t>Range </a:t>
            </a:r>
            <a:r>
              <a:rPr lang="ko-KR" altLang="en-US" dirty="0"/>
              <a:t>정규화</a:t>
            </a:r>
            <a:endParaRPr lang="en-US" altLang="ko-KR" dirty="0"/>
          </a:p>
          <a:p>
            <a:pPr lvl="1"/>
            <a:r>
              <a:rPr lang="ko-KR" altLang="en-US" dirty="0"/>
              <a:t>상단 </a:t>
            </a:r>
            <a:r>
              <a:rPr lang="en-US" altLang="ko-KR" dirty="0"/>
              <a:t>: </a:t>
            </a:r>
            <a:r>
              <a:rPr lang="en-US" altLang="ko-KR" dirty="0">
                <a:solidFill>
                  <a:srgbClr val="FF0000"/>
                </a:solidFill>
              </a:rPr>
              <a:t>Liver upper</a:t>
            </a:r>
            <a:r>
              <a:rPr lang="en-US" altLang="ko-KR" dirty="0"/>
              <a:t>, </a:t>
            </a:r>
            <a:r>
              <a:rPr lang="ko-KR" altLang="en-US" dirty="0"/>
              <a:t>하단 </a:t>
            </a:r>
            <a:r>
              <a:rPr lang="en-US" altLang="ko-KR" dirty="0"/>
              <a:t>: left/right hip bottom </a:t>
            </a:r>
            <a:r>
              <a:rPr lang="ko-KR" altLang="en-US" dirty="0"/>
              <a:t>→ </a:t>
            </a:r>
            <a:r>
              <a:rPr lang="en-US" altLang="ko-KR" dirty="0"/>
              <a:t>liver missing: 1</a:t>
            </a:r>
          </a:p>
          <a:p>
            <a:pPr lvl="1"/>
            <a:r>
              <a:rPr lang="en-US" altLang="ko-KR" dirty="0"/>
              <a:t>Manual</a:t>
            </a:r>
            <a:r>
              <a:rPr lang="ko-KR" altLang="en-US" dirty="0"/>
              <a:t>하게 </a:t>
            </a:r>
            <a:r>
              <a:rPr lang="en-US" altLang="ko-KR" dirty="0"/>
              <a:t>CT DICOM </a:t>
            </a:r>
            <a:r>
              <a:rPr lang="ko-KR" altLang="en-US" dirty="0"/>
              <a:t>확인하며 검증</a:t>
            </a:r>
            <a:endParaRPr lang="en-US" altLang="ko-KR" dirty="0"/>
          </a:p>
          <a:p>
            <a:r>
              <a:rPr lang="en-US" altLang="ko-KR" dirty="0"/>
              <a:t>Cross Attention</a:t>
            </a:r>
            <a:r>
              <a:rPr lang="ko-KR" altLang="en-US" dirty="0"/>
              <a:t>의 </a:t>
            </a:r>
            <a:r>
              <a:rPr lang="en-US" altLang="ko-KR" dirty="0"/>
              <a:t>AEC Token </a:t>
            </a:r>
            <a:r>
              <a:rPr lang="ko-KR" altLang="en-US" dirty="0"/>
              <a:t>수 비교 </a:t>
            </a:r>
            <a:r>
              <a:rPr lang="en-US" altLang="ko-KR" dirty="0"/>
              <a:t>(32 vs 64)</a:t>
            </a:r>
          </a:p>
          <a:p>
            <a:pPr lvl="1"/>
            <a:r>
              <a:rPr lang="ko-KR" altLang="en-US" dirty="0"/>
              <a:t>유의미한 차이 나타나지 않음</a:t>
            </a:r>
            <a:endParaRPr lang="en-US" altLang="ko-KR" dirty="0"/>
          </a:p>
          <a:p>
            <a:r>
              <a:rPr lang="en-US" altLang="ko-KR" dirty="0"/>
              <a:t>Model Performance </a:t>
            </a:r>
            <a:r>
              <a:rPr lang="ko-KR" altLang="en-US" dirty="0"/>
              <a:t>비교</a:t>
            </a:r>
            <a:endParaRPr lang="en-US" altLang="ko-KR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12B85607-6186-E3B5-ECB4-6E3BEC9F80A7}"/>
              </a:ext>
            </a:extLst>
          </p:cNvPr>
          <p:cNvGrpSpPr/>
          <p:nvPr/>
        </p:nvGrpSpPr>
        <p:grpSpPr>
          <a:xfrm>
            <a:off x="274320" y="4464982"/>
            <a:ext cx="11612880" cy="1773936"/>
            <a:chOff x="274320" y="905256"/>
            <a:chExt cx="11795760" cy="1773936"/>
          </a:xfrm>
        </p:grpSpPr>
        <p:sp>
          <p:nvSpPr>
            <p:cNvPr id="97" name="Rectangle 4">
              <a:extLst>
                <a:ext uri="{FF2B5EF4-FFF2-40B4-BE49-F238E27FC236}">
                  <a16:creationId xmlns:a16="http://schemas.microsoft.com/office/drawing/2014/main" id="{B28BAF33-66A8-8264-7A98-D01BC96D6E90}"/>
                </a:ext>
              </a:extLst>
            </p:cNvPr>
            <p:cNvSpPr/>
            <p:nvPr/>
          </p:nvSpPr>
          <p:spPr>
            <a:xfrm>
              <a:off x="274320" y="905256"/>
              <a:ext cx="14173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649F568-495E-0DC5-5B59-50B826A40DFA}"/>
                </a:ext>
              </a:extLst>
            </p:cNvPr>
            <p:cNvSpPr txBox="1"/>
            <p:nvPr/>
          </p:nvSpPr>
          <p:spPr>
            <a:xfrm>
              <a:off x="274320" y="905256"/>
              <a:ext cx="14173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모델</a:t>
              </a:r>
            </a:p>
          </p:txBody>
        </p:sp>
        <p:sp>
          <p:nvSpPr>
            <p:cNvPr id="99" name="Rectangle 6">
              <a:extLst>
                <a:ext uri="{FF2B5EF4-FFF2-40B4-BE49-F238E27FC236}">
                  <a16:creationId xmlns:a16="http://schemas.microsoft.com/office/drawing/2014/main" id="{1A1AB474-6FDE-B7B9-F6CD-654DF0A4E054}"/>
                </a:ext>
              </a:extLst>
            </p:cNvPr>
            <p:cNvSpPr/>
            <p:nvPr/>
          </p:nvSpPr>
          <p:spPr>
            <a:xfrm>
              <a:off x="1737360" y="905256"/>
              <a:ext cx="10058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63C13E6-6795-4DEC-2AAB-20DAEC8AE40B}"/>
                </a:ext>
              </a:extLst>
            </p:cNvPr>
            <p:cNvSpPr txBox="1"/>
            <p:nvPr/>
          </p:nvSpPr>
          <p:spPr>
            <a:xfrm>
              <a:off x="1737360" y="905256"/>
              <a:ext cx="10058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AUC</a:t>
              </a:r>
            </a:p>
          </p:txBody>
        </p:sp>
        <p:sp>
          <p:nvSpPr>
            <p:cNvPr id="101" name="Rectangle 8">
              <a:extLst>
                <a:ext uri="{FF2B5EF4-FFF2-40B4-BE49-F238E27FC236}">
                  <a16:creationId xmlns:a16="http://schemas.microsoft.com/office/drawing/2014/main" id="{CDC5D56C-AFB5-06CE-9CB3-CE1C9213A8DC}"/>
                </a:ext>
              </a:extLst>
            </p:cNvPr>
            <p:cNvSpPr/>
            <p:nvPr/>
          </p:nvSpPr>
          <p:spPr>
            <a:xfrm>
              <a:off x="2788920" y="905256"/>
              <a:ext cx="137160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5872CD7-FDCB-5BC6-494E-D566EBA1D852}"/>
                </a:ext>
              </a:extLst>
            </p:cNvPr>
            <p:cNvSpPr txBox="1"/>
            <p:nvPr/>
          </p:nvSpPr>
          <p:spPr>
            <a:xfrm>
              <a:off x="2788920" y="905256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95% CI AUC</a:t>
              </a:r>
            </a:p>
          </p:txBody>
        </p:sp>
        <p:sp>
          <p:nvSpPr>
            <p:cNvPr id="103" name="Rectangle 10">
              <a:extLst>
                <a:ext uri="{FF2B5EF4-FFF2-40B4-BE49-F238E27FC236}">
                  <a16:creationId xmlns:a16="http://schemas.microsoft.com/office/drawing/2014/main" id="{BF8213FF-702F-9294-D996-45D7D7674E02}"/>
                </a:ext>
              </a:extLst>
            </p:cNvPr>
            <p:cNvSpPr/>
            <p:nvPr/>
          </p:nvSpPr>
          <p:spPr>
            <a:xfrm>
              <a:off x="4206240" y="905256"/>
              <a:ext cx="10058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6D26710-DBD5-BD99-B6CA-16E3365F8E33}"/>
                </a:ext>
              </a:extLst>
            </p:cNvPr>
            <p:cNvSpPr txBox="1"/>
            <p:nvPr/>
          </p:nvSpPr>
          <p:spPr>
            <a:xfrm>
              <a:off x="4206240" y="905256"/>
              <a:ext cx="10058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105" name="Rectangle 12">
              <a:extLst>
                <a:ext uri="{FF2B5EF4-FFF2-40B4-BE49-F238E27FC236}">
                  <a16:creationId xmlns:a16="http://schemas.microsoft.com/office/drawing/2014/main" id="{FAFC4EED-51E0-0D12-6D49-DC94922485EA}"/>
                </a:ext>
              </a:extLst>
            </p:cNvPr>
            <p:cNvSpPr/>
            <p:nvPr/>
          </p:nvSpPr>
          <p:spPr>
            <a:xfrm>
              <a:off x="5257800" y="905256"/>
              <a:ext cx="9601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B306910-A1B5-47E4-38C1-3186A8162ACA}"/>
                </a:ext>
              </a:extLst>
            </p:cNvPr>
            <p:cNvSpPr txBox="1"/>
            <p:nvPr/>
          </p:nvSpPr>
          <p:spPr>
            <a:xfrm>
              <a:off x="5257800" y="905256"/>
              <a:ext cx="960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107" name="Rectangle 14">
              <a:extLst>
                <a:ext uri="{FF2B5EF4-FFF2-40B4-BE49-F238E27FC236}">
                  <a16:creationId xmlns:a16="http://schemas.microsoft.com/office/drawing/2014/main" id="{77D7C5C9-DD8F-91C8-D619-39DEE6770B73}"/>
                </a:ext>
              </a:extLst>
            </p:cNvPr>
            <p:cNvSpPr/>
            <p:nvPr/>
          </p:nvSpPr>
          <p:spPr>
            <a:xfrm>
              <a:off x="6263640" y="905256"/>
              <a:ext cx="9601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021607F-05C7-F8E5-EC62-52CD29E29DF6}"/>
                </a:ext>
              </a:extLst>
            </p:cNvPr>
            <p:cNvSpPr txBox="1"/>
            <p:nvPr/>
          </p:nvSpPr>
          <p:spPr>
            <a:xfrm>
              <a:off x="6263640" y="905256"/>
              <a:ext cx="960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109" name="Rectangle 16">
              <a:extLst>
                <a:ext uri="{FF2B5EF4-FFF2-40B4-BE49-F238E27FC236}">
                  <a16:creationId xmlns:a16="http://schemas.microsoft.com/office/drawing/2014/main" id="{3AA5DCA9-A034-AABB-9FAB-6A189E21048B}"/>
                </a:ext>
              </a:extLst>
            </p:cNvPr>
            <p:cNvSpPr/>
            <p:nvPr/>
          </p:nvSpPr>
          <p:spPr>
            <a:xfrm>
              <a:off x="7269480" y="905256"/>
              <a:ext cx="150876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35D16982-3278-F713-ECBA-6D0DD87AF138}"/>
                </a:ext>
              </a:extLst>
            </p:cNvPr>
            <p:cNvSpPr txBox="1"/>
            <p:nvPr/>
          </p:nvSpPr>
          <p:spPr>
            <a:xfrm>
              <a:off x="7269480" y="905256"/>
              <a:ext cx="15087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vs M1 Δ AUC</a:t>
              </a:r>
            </a:p>
          </p:txBody>
        </p:sp>
        <p:sp>
          <p:nvSpPr>
            <p:cNvPr id="111" name="Rectangle 18">
              <a:extLst>
                <a:ext uri="{FF2B5EF4-FFF2-40B4-BE49-F238E27FC236}">
                  <a16:creationId xmlns:a16="http://schemas.microsoft.com/office/drawing/2014/main" id="{8A2BBA0D-A86D-EEFE-4489-819AEAFD8ABB}"/>
                </a:ext>
              </a:extLst>
            </p:cNvPr>
            <p:cNvSpPr/>
            <p:nvPr/>
          </p:nvSpPr>
          <p:spPr>
            <a:xfrm>
              <a:off x="8823960" y="905256"/>
              <a:ext cx="150876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2273517D-C784-933D-5E17-0E97EC37CBDB}"/>
                </a:ext>
              </a:extLst>
            </p:cNvPr>
            <p:cNvSpPr txBox="1"/>
            <p:nvPr/>
          </p:nvSpPr>
          <p:spPr>
            <a:xfrm>
              <a:off x="8823960" y="905256"/>
              <a:ext cx="15087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 dirty="0">
                  <a:solidFill>
                    <a:srgbClr val="FFFFFF"/>
                  </a:solidFill>
                  <a:latin typeface="맑은 고딕"/>
                </a:rPr>
                <a:t>vs M1 DeLong p</a:t>
              </a:r>
            </a:p>
          </p:txBody>
        </p:sp>
        <p:sp>
          <p:nvSpPr>
            <p:cNvPr id="113" name="Rectangle 20">
              <a:extLst>
                <a:ext uri="{FF2B5EF4-FFF2-40B4-BE49-F238E27FC236}">
                  <a16:creationId xmlns:a16="http://schemas.microsoft.com/office/drawing/2014/main" id="{044BC587-6310-0FCF-F2DB-4F4A2848D0E5}"/>
                </a:ext>
              </a:extLst>
            </p:cNvPr>
            <p:cNvSpPr/>
            <p:nvPr/>
          </p:nvSpPr>
          <p:spPr>
            <a:xfrm>
              <a:off x="10378440" y="905256"/>
              <a:ext cx="16916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82D0C3D-2853-030D-86D3-61DEDC3805A4}"/>
                </a:ext>
              </a:extLst>
            </p:cNvPr>
            <p:cNvSpPr txBox="1"/>
            <p:nvPr/>
          </p:nvSpPr>
          <p:spPr>
            <a:xfrm>
              <a:off x="10378440" y="905256"/>
              <a:ext cx="1691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비고</a:t>
              </a:r>
            </a:p>
          </p:txBody>
        </p:sp>
        <p:sp>
          <p:nvSpPr>
            <p:cNvPr id="115" name="Rectangle 22">
              <a:extLst>
                <a:ext uri="{FF2B5EF4-FFF2-40B4-BE49-F238E27FC236}">
                  <a16:creationId xmlns:a16="http://schemas.microsoft.com/office/drawing/2014/main" id="{46B00BE5-5596-92F8-3FF0-187B8601D491}"/>
                </a:ext>
              </a:extLst>
            </p:cNvPr>
            <p:cNvSpPr/>
            <p:nvPr/>
          </p:nvSpPr>
          <p:spPr>
            <a:xfrm>
              <a:off x="274320" y="1216152"/>
              <a:ext cx="14173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F923CB0-17CB-3528-80A9-CFC0ED3587D4}"/>
                </a:ext>
              </a:extLst>
            </p:cNvPr>
            <p:cNvSpPr txBox="1"/>
            <p:nvPr/>
          </p:nvSpPr>
          <p:spPr>
            <a:xfrm>
              <a:off x="274320" y="121615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M1 (LR)</a:t>
              </a:r>
            </a:p>
          </p:txBody>
        </p:sp>
        <p:sp>
          <p:nvSpPr>
            <p:cNvPr id="117" name="Rectangle 24">
              <a:extLst>
                <a:ext uri="{FF2B5EF4-FFF2-40B4-BE49-F238E27FC236}">
                  <a16:creationId xmlns:a16="http://schemas.microsoft.com/office/drawing/2014/main" id="{7108C361-1687-2A63-383C-D9064D810456}"/>
                </a:ext>
              </a:extLst>
            </p:cNvPr>
            <p:cNvSpPr/>
            <p:nvPr/>
          </p:nvSpPr>
          <p:spPr>
            <a:xfrm>
              <a:off x="1737360" y="1216152"/>
              <a:ext cx="100584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69476AB-3342-C0B0-F72C-A06E25F377FF}"/>
                </a:ext>
              </a:extLst>
            </p:cNvPr>
            <p:cNvSpPr txBox="1"/>
            <p:nvPr/>
          </p:nvSpPr>
          <p:spPr>
            <a:xfrm>
              <a:off x="1929122" y="1216152"/>
              <a:ext cx="62231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 dirty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119" name="Rectangle 26">
              <a:extLst>
                <a:ext uri="{FF2B5EF4-FFF2-40B4-BE49-F238E27FC236}">
                  <a16:creationId xmlns:a16="http://schemas.microsoft.com/office/drawing/2014/main" id="{023DACA9-B296-2DAB-8B9D-4ABA9CEB5CE5}"/>
                </a:ext>
              </a:extLst>
            </p:cNvPr>
            <p:cNvSpPr/>
            <p:nvPr/>
          </p:nvSpPr>
          <p:spPr>
            <a:xfrm>
              <a:off x="2788920" y="1216152"/>
              <a:ext cx="13716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2414F64-AE86-513D-5B86-79775545D795}"/>
                </a:ext>
              </a:extLst>
            </p:cNvPr>
            <p:cNvSpPr txBox="1"/>
            <p:nvPr/>
          </p:nvSpPr>
          <p:spPr>
            <a:xfrm>
              <a:off x="2788920" y="121615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[0.720,0.872]</a:t>
              </a:r>
            </a:p>
          </p:txBody>
        </p:sp>
        <p:sp>
          <p:nvSpPr>
            <p:cNvPr id="121" name="Rectangle 28">
              <a:extLst>
                <a:ext uri="{FF2B5EF4-FFF2-40B4-BE49-F238E27FC236}">
                  <a16:creationId xmlns:a16="http://schemas.microsoft.com/office/drawing/2014/main" id="{B5972520-492E-6217-1D0E-EDB5E6BD33C2}"/>
                </a:ext>
              </a:extLst>
            </p:cNvPr>
            <p:cNvSpPr/>
            <p:nvPr/>
          </p:nvSpPr>
          <p:spPr>
            <a:xfrm>
              <a:off x="4206240" y="1216152"/>
              <a:ext cx="100584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C8F74D7-2555-69EF-95EA-9A6169EEBB60}"/>
                </a:ext>
              </a:extLst>
            </p:cNvPr>
            <p:cNvSpPr txBox="1"/>
            <p:nvPr/>
          </p:nvSpPr>
          <p:spPr>
            <a:xfrm>
              <a:off x="4206240" y="121615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0.3123</a:t>
              </a:r>
            </a:p>
          </p:txBody>
        </p:sp>
        <p:sp>
          <p:nvSpPr>
            <p:cNvPr id="123" name="Rectangle 30">
              <a:extLst>
                <a:ext uri="{FF2B5EF4-FFF2-40B4-BE49-F238E27FC236}">
                  <a16:creationId xmlns:a16="http://schemas.microsoft.com/office/drawing/2014/main" id="{F00619CC-437C-1D07-8D03-5CDC3D57F6F0}"/>
                </a:ext>
              </a:extLst>
            </p:cNvPr>
            <p:cNvSpPr/>
            <p:nvPr/>
          </p:nvSpPr>
          <p:spPr>
            <a:xfrm>
              <a:off x="5257800" y="1216152"/>
              <a:ext cx="9601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43BFBD9-B7B8-99CF-8304-56CEB954372C}"/>
                </a:ext>
              </a:extLst>
            </p:cNvPr>
            <p:cNvSpPr txBox="1"/>
            <p:nvPr/>
          </p:nvSpPr>
          <p:spPr>
            <a:xfrm>
              <a:off x="5257800" y="121615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0.1913</a:t>
              </a:r>
            </a:p>
          </p:txBody>
        </p:sp>
        <p:sp>
          <p:nvSpPr>
            <p:cNvPr id="125" name="Rectangle 32">
              <a:extLst>
                <a:ext uri="{FF2B5EF4-FFF2-40B4-BE49-F238E27FC236}">
                  <a16:creationId xmlns:a16="http://schemas.microsoft.com/office/drawing/2014/main" id="{D6DF0684-6099-C18D-49F3-4C86757F71B7}"/>
                </a:ext>
              </a:extLst>
            </p:cNvPr>
            <p:cNvSpPr/>
            <p:nvPr/>
          </p:nvSpPr>
          <p:spPr>
            <a:xfrm>
              <a:off x="6263640" y="1216152"/>
              <a:ext cx="9601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620336E-96C3-9F19-245C-2BAC8109AC2E}"/>
                </a:ext>
              </a:extLst>
            </p:cNvPr>
            <p:cNvSpPr txBox="1"/>
            <p:nvPr/>
          </p:nvSpPr>
          <p:spPr>
            <a:xfrm>
              <a:off x="6263640" y="121615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0.3725</a:t>
              </a:r>
            </a:p>
          </p:txBody>
        </p:sp>
        <p:sp>
          <p:nvSpPr>
            <p:cNvPr id="127" name="Rectangle 34">
              <a:extLst>
                <a:ext uri="{FF2B5EF4-FFF2-40B4-BE49-F238E27FC236}">
                  <a16:creationId xmlns:a16="http://schemas.microsoft.com/office/drawing/2014/main" id="{DF87BA9E-7E47-C72C-C6CE-37F0F8F90424}"/>
                </a:ext>
              </a:extLst>
            </p:cNvPr>
            <p:cNvSpPr/>
            <p:nvPr/>
          </p:nvSpPr>
          <p:spPr>
            <a:xfrm>
              <a:off x="7269480" y="1216152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5E16DAB-0E6D-781F-3492-53B54EE38DD1}"/>
                </a:ext>
              </a:extLst>
            </p:cNvPr>
            <p:cNvSpPr txBox="1"/>
            <p:nvPr/>
          </p:nvSpPr>
          <p:spPr>
            <a:xfrm>
              <a:off x="7269480" y="121615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29" name="Rectangle 36">
              <a:extLst>
                <a:ext uri="{FF2B5EF4-FFF2-40B4-BE49-F238E27FC236}">
                  <a16:creationId xmlns:a16="http://schemas.microsoft.com/office/drawing/2014/main" id="{A48C8446-DE16-2E39-61D8-C3AABFE1D1FF}"/>
                </a:ext>
              </a:extLst>
            </p:cNvPr>
            <p:cNvSpPr/>
            <p:nvPr/>
          </p:nvSpPr>
          <p:spPr>
            <a:xfrm>
              <a:off x="8823960" y="1216152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501F8A9-BF7C-107B-69BF-4844D8C5513B}"/>
                </a:ext>
              </a:extLst>
            </p:cNvPr>
            <p:cNvSpPr txBox="1"/>
            <p:nvPr/>
          </p:nvSpPr>
          <p:spPr>
            <a:xfrm>
              <a:off x="8823960" y="121615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기준선</a:t>
              </a:r>
            </a:p>
          </p:txBody>
        </p:sp>
        <p:sp>
          <p:nvSpPr>
            <p:cNvPr id="131" name="Rectangle 38">
              <a:extLst>
                <a:ext uri="{FF2B5EF4-FFF2-40B4-BE49-F238E27FC236}">
                  <a16:creationId xmlns:a16="http://schemas.microsoft.com/office/drawing/2014/main" id="{D2FEB822-2AF1-47D2-FB67-313F9E163117}"/>
                </a:ext>
              </a:extLst>
            </p:cNvPr>
            <p:cNvSpPr/>
            <p:nvPr/>
          </p:nvSpPr>
          <p:spPr>
            <a:xfrm>
              <a:off x="10378440" y="1216152"/>
              <a:ext cx="169164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3139D1A-D9FF-37AC-1E57-5E6922D682B5}"/>
                </a:ext>
              </a:extLst>
            </p:cNvPr>
            <p:cNvSpPr txBox="1"/>
            <p:nvPr/>
          </p:nvSpPr>
          <p:spPr>
            <a:xfrm>
              <a:off x="10378440" y="121615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 Only</a:t>
              </a:r>
            </a:p>
          </p:txBody>
        </p:sp>
        <p:sp>
          <p:nvSpPr>
            <p:cNvPr id="133" name="Rectangle 40">
              <a:extLst>
                <a:ext uri="{FF2B5EF4-FFF2-40B4-BE49-F238E27FC236}">
                  <a16:creationId xmlns:a16="http://schemas.microsoft.com/office/drawing/2014/main" id="{3BAAD06B-C24E-9AA9-9E3B-743F26CB515C}"/>
                </a:ext>
              </a:extLst>
            </p:cNvPr>
            <p:cNvSpPr/>
            <p:nvPr/>
          </p:nvSpPr>
          <p:spPr>
            <a:xfrm>
              <a:off x="274320" y="1581912"/>
              <a:ext cx="14173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9FE7A5AC-DFB6-D0C3-6DA1-AEF849FC76E9}"/>
                </a:ext>
              </a:extLst>
            </p:cNvPr>
            <p:cNvSpPr txBox="1"/>
            <p:nvPr/>
          </p:nvSpPr>
          <p:spPr>
            <a:xfrm>
              <a:off x="274320" y="158191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 (CrossAttn)</a:t>
              </a:r>
            </a:p>
          </p:txBody>
        </p:sp>
        <p:sp>
          <p:nvSpPr>
            <p:cNvPr id="135" name="Rectangle 42">
              <a:extLst>
                <a:ext uri="{FF2B5EF4-FFF2-40B4-BE49-F238E27FC236}">
                  <a16:creationId xmlns:a16="http://schemas.microsoft.com/office/drawing/2014/main" id="{9F964CA8-BB07-4667-85D5-3D271FAC05D0}"/>
                </a:ext>
              </a:extLst>
            </p:cNvPr>
            <p:cNvSpPr/>
            <p:nvPr/>
          </p:nvSpPr>
          <p:spPr>
            <a:xfrm>
              <a:off x="1737360" y="1581912"/>
              <a:ext cx="100584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8142EA3-EAD8-2514-2FE1-F543D55DDBC5}"/>
                </a:ext>
              </a:extLst>
            </p:cNvPr>
            <p:cNvSpPr txBox="1"/>
            <p:nvPr/>
          </p:nvSpPr>
          <p:spPr>
            <a:xfrm>
              <a:off x="1929122" y="1581912"/>
              <a:ext cx="62231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 dirty="0">
                  <a:solidFill>
                    <a:srgbClr val="1A1A2E"/>
                  </a:solidFill>
                  <a:latin typeface="맑은 고딕"/>
                </a:rPr>
                <a:t>0.8435</a:t>
              </a:r>
            </a:p>
          </p:txBody>
        </p:sp>
        <p:sp>
          <p:nvSpPr>
            <p:cNvPr id="137" name="Rectangle 44">
              <a:extLst>
                <a:ext uri="{FF2B5EF4-FFF2-40B4-BE49-F238E27FC236}">
                  <a16:creationId xmlns:a16="http://schemas.microsoft.com/office/drawing/2014/main" id="{3BEB616E-1524-3D7C-AB20-7EAA90EAC605}"/>
                </a:ext>
              </a:extLst>
            </p:cNvPr>
            <p:cNvSpPr/>
            <p:nvPr/>
          </p:nvSpPr>
          <p:spPr>
            <a:xfrm>
              <a:off x="2788920" y="1581912"/>
              <a:ext cx="137160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E9696C0-630D-13D4-96C8-EC292F61D533}"/>
                </a:ext>
              </a:extLst>
            </p:cNvPr>
            <p:cNvSpPr txBox="1"/>
            <p:nvPr/>
          </p:nvSpPr>
          <p:spPr>
            <a:xfrm>
              <a:off x="2788920" y="158191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[0.777,0.901]</a:t>
              </a:r>
            </a:p>
          </p:txBody>
        </p:sp>
        <p:sp>
          <p:nvSpPr>
            <p:cNvPr id="139" name="Rectangle 46">
              <a:extLst>
                <a:ext uri="{FF2B5EF4-FFF2-40B4-BE49-F238E27FC236}">
                  <a16:creationId xmlns:a16="http://schemas.microsoft.com/office/drawing/2014/main" id="{A0EF96D9-CA20-FB02-EBF5-DAC98D9533FD}"/>
                </a:ext>
              </a:extLst>
            </p:cNvPr>
            <p:cNvSpPr/>
            <p:nvPr/>
          </p:nvSpPr>
          <p:spPr>
            <a:xfrm>
              <a:off x="4206240" y="1581912"/>
              <a:ext cx="100584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8EAAACE-8502-676D-920E-03A8E531B107}"/>
                </a:ext>
              </a:extLst>
            </p:cNvPr>
            <p:cNvSpPr txBox="1"/>
            <p:nvPr/>
          </p:nvSpPr>
          <p:spPr>
            <a:xfrm>
              <a:off x="4206240" y="158191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0.3433</a:t>
              </a:r>
            </a:p>
          </p:txBody>
        </p:sp>
        <p:sp>
          <p:nvSpPr>
            <p:cNvPr id="141" name="Rectangle 48">
              <a:extLst>
                <a:ext uri="{FF2B5EF4-FFF2-40B4-BE49-F238E27FC236}">
                  <a16:creationId xmlns:a16="http://schemas.microsoft.com/office/drawing/2014/main" id="{64768322-C0A0-3BA5-5128-BCED22772220}"/>
                </a:ext>
              </a:extLst>
            </p:cNvPr>
            <p:cNvSpPr/>
            <p:nvPr/>
          </p:nvSpPr>
          <p:spPr>
            <a:xfrm>
              <a:off x="5257800" y="1581912"/>
              <a:ext cx="9601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41783C60-BA35-ED65-8755-C5045A467DE4}"/>
                </a:ext>
              </a:extLst>
            </p:cNvPr>
            <p:cNvSpPr txBox="1"/>
            <p:nvPr/>
          </p:nvSpPr>
          <p:spPr>
            <a:xfrm>
              <a:off x="5257800" y="158191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0.1397</a:t>
              </a:r>
            </a:p>
          </p:txBody>
        </p:sp>
        <p:sp>
          <p:nvSpPr>
            <p:cNvPr id="143" name="Rectangle 50">
              <a:extLst>
                <a:ext uri="{FF2B5EF4-FFF2-40B4-BE49-F238E27FC236}">
                  <a16:creationId xmlns:a16="http://schemas.microsoft.com/office/drawing/2014/main" id="{F362A449-947A-B614-12DC-FBC12FD1012B}"/>
                </a:ext>
              </a:extLst>
            </p:cNvPr>
            <p:cNvSpPr/>
            <p:nvPr/>
          </p:nvSpPr>
          <p:spPr>
            <a:xfrm>
              <a:off x="6263640" y="1581912"/>
              <a:ext cx="9601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5C8FF7B-837F-52F7-91BF-013A640163FA}"/>
                </a:ext>
              </a:extLst>
            </p:cNvPr>
            <p:cNvSpPr txBox="1"/>
            <p:nvPr/>
          </p:nvSpPr>
          <p:spPr>
            <a:xfrm>
              <a:off x="6263640" y="158191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0.3396</a:t>
              </a:r>
            </a:p>
          </p:txBody>
        </p:sp>
        <p:sp>
          <p:nvSpPr>
            <p:cNvPr id="145" name="Rectangle 52">
              <a:extLst>
                <a:ext uri="{FF2B5EF4-FFF2-40B4-BE49-F238E27FC236}">
                  <a16:creationId xmlns:a16="http://schemas.microsoft.com/office/drawing/2014/main" id="{F55F72E1-2331-B905-4559-824357B6371E}"/>
                </a:ext>
              </a:extLst>
            </p:cNvPr>
            <p:cNvSpPr/>
            <p:nvPr/>
          </p:nvSpPr>
          <p:spPr>
            <a:xfrm>
              <a:off x="7269480" y="1581912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0141744-7C88-0E16-960C-E496FD6B1363}"/>
                </a:ext>
              </a:extLst>
            </p:cNvPr>
            <p:cNvSpPr txBox="1"/>
            <p:nvPr/>
          </p:nvSpPr>
          <p:spPr>
            <a:xfrm>
              <a:off x="7269480" y="158191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+0.040</a:t>
              </a:r>
            </a:p>
          </p:txBody>
        </p:sp>
        <p:sp>
          <p:nvSpPr>
            <p:cNvPr id="147" name="Rectangle 54">
              <a:extLst>
                <a:ext uri="{FF2B5EF4-FFF2-40B4-BE49-F238E27FC236}">
                  <a16:creationId xmlns:a16="http://schemas.microsoft.com/office/drawing/2014/main" id="{AA8816CF-195A-E12B-82EB-8D675F8713F1}"/>
                </a:ext>
              </a:extLst>
            </p:cNvPr>
            <p:cNvSpPr/>
            <p:nvPr/>
          </p:nvSpPr>
          <p:spPr>
            <a:xfrm>
              <a:off x="8823960" y="1581912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2CC728DF-7F63-50B8-9710-7C5A9FCB6877}"/>
                </a:ext>
              </a:extLst>
            </p:cNvPr>
            <p:cNvSpPr txBox="1"/>
            <p:nvPr/>
          </p:nvSpPr>
          <p:spPr>
            <a:xfrm>
              <a:off x="8823960" y="158191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p=0.051 †</a:t>
              </a:r>
            </a:p>
          </p:txBody>
        </p:sp>
        <p:sp>
          <p:nvSpPr>
            <p:cNvPr id="149" name="Rectangle 56">
              <a:extLst>
                <a:ext uri="{FF2B5EF4-FFF2-40B4-BE49-F238E27FC236}">
                  <a16:creationId xmlns:a16="http://schemas.microsoft.com/office/drawing/2014/main" id="{23199172-9B7C-D22A-078B-13F7DB86F0BC}"/>
                </a:ext>
              </a:extLst>
            </p:cNvPr>
            <p:cNvSpPr/>
            <p:nvPr/>
          </p:nvSpPr>
          <p:spPr>
            <a:xfrm>
              <a:off x="10378440" y="1581912"/>
              <a:ext cx="169164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7D08C7B-B56D-64F4-248C-9D9239BCBA4C}"/>
                </a:ext>
              </a:extLst>
            </p:cNvPr>
            <p:cNvSpPr txBox="1"/>
            <p:nvPr/>
          </p:nvSpPr>
          <p:spPr>
            <a:xfrm>
              <a:off x="10378440" y="158191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Clinic+AEC</a:t>
              </a:r>
            </a:p>
          </p:txBody>
        </p:sp>
        <p:sp>
          <p:nvSpPr>
            <p:cNvPr id="151" name="Rectangle 58">
              <a:extLst>
                <a:ext uri="{FF2B5EF4-FFF2-40B4-BE49-F238E27FC236}">
                  <a16:creationId xmlns:a16="http://schemas.microsoft.com/office/drawing/2014/main" id="{41D9A72C-FF40-AF87-3D58-CFC38D4B067A}"/>
                </a:ext>
              </a:extLst>
            </p:cNvPr>
            <p:cNvSpPr/>
            <p:nvPr/>
          </p:nvSpPr>
          <p:spPr>
            <a:xfrm>
              <a:off x="274320" y="1947672"/>
              <a:ext cx="141732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FA6CE72-9B71-E57C-4F33-55D30DDA2E3C}"/>
                </a:ext>
              </a:extLst>
            </p:cNvPr>
            <p:cNvSpPr txBox="1"/>
            <p:nvPr/>
          </p:nvSpPr>
          <p:spPr>
            <a:xfrm>
              <a:off x="274320" y="194767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 (Neg.Ctrl)</a:t>
              </a:r>
            </a:p>
          </p:txBody>
        </p:sp>
        <p:sp>
          <p:nvSpPr>
            <p:cNvPr id="153" name="Rectangle 60">
              <a:extLst>
                <a:ext uri="{FF2B5EF4-FFF2-40B4-BE49-F238E27FC236}">
                  <a16:creationId xmlns:a16="http://schemas.microsoft.com/office/drawing/2014/main" id="{2D37D177-332D-039A-8ABF-DA15F6E82D74}"/>
                </a:ext>
              </a:extLst>
            </p:cNvPr>
            <p:cNvSpPr/>
            <p:nvPr/>
          </p:nvSpPr>
          <p:spPr>
            <a:xfrm>
              <a:off x="1737360" y="1947672"/>
              <a:ext cx="100584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AD8E359-4ABF-2300-E95D-031B310C28F8}"/>
                </a:ext>
              </a:extLst>
            </p:cNvPr>
            <p:cNvSpPr txBox="1"/>
            <p:nvPr/>
          </p:nvSpPr>
          <p:spPr>
            <a:xfrm>
              <a:off x="1737360" y="194767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0.8264</a:t>
              </a:r>
            </a:p>
          </p:txBody>
        </p:sp>
        <p:sp>
          <p:nvSpPr>
            <p:cNvPr id="155" name="Rectangle 62">
              <a:extLst>
                <a:ext uri="{FF2B5EF4-FFF2-40B4-BE49-F238E27FC236}">
                  <a16:creationId xmlns:a16="http://schemas.microsoft.com/office/drawing/2014/main" id="{A7DAFC73-7A88-6745-2CF0-9474BCE68F59}"/>
                </a:ext>
              </a:extLst>
            </p:cNvPr>
            <p:cNvSpPr/>
            <p:nvPr/>
          </p:nvSpPr>
          <p:spPr>
            <a:xfrm>
              <a:off x="2788920" y="1947672"/>
              <a:ext cx="137160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DE5CF65D-48F8-19C8-BFE1-08E8BA836233}"/>
                </a:ext>
              </a:extLst>
            </p:cNvPr>
            <p:cNvSpPr txBox="1"/>
            <p:nvPr/>
          </p:nvSpPr>
          <p:spPr>
            <a:xfrm>
              <a:off x="2788920" y="194767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[0.744,0.891]</a:t>
              </a:r>
            </a:p>
          </p:txBody>
        </p:sp>
        <p:sp>
          <p:nvSpPr>
            <p:cNvPr id="157" name="Rectangle 64">
              <a:extLst>
                <a:ext uri="{FF2B5EF4-FFF2-40B4-BE49-F238E27FC236}">
                  <a16:creationId xmlns:a16="http://schemas.microsoft.com/office/drawing/2014/main" id="{231544F3-4986-CC3F-EEE0-33459361E43D}"/>
                </a:ext>
              </a:extLst>
            </p:cNvPr>
            <p:cNvSpPr/>
            <p:nvPr/>
          </p:nvSpPr>
          <p:spPr>
            <a:xfrm>
              <a:off x="4206240" y="1947672"/>
              <a:ext cx="100584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9992485-BE2B-0E61-2678-EEDF429830C5}"/>
                </a:ext>
              </a:extLst>
            </p:cNvPr>
            <p:cNvSpPr txBox="1"/>
            <p:nvPr/>
          </p:nvSpPr>
          <p:spPr>
            <a:xfrm>
              <a:off x="4206240" y="194767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0.3204</a:t>
              </a:r>
            </a:p>
          </p:txBody>
        </p:sp>
        <p:sp>
          <p:nvSpPr>
            <p:cNvPr id="159" name="Rectangle 66">
              <a:extLst>
                <a:ext uri="{FF2B5EF4-FFF2-40B4-BE49-F238E27FC236}">
                  <a16:creationId xmlns:a16="http://schemas.microsoft.com/office/drawing/2014/main" id="{D26C0DB2-2B72-AA70-F038-8FD77CEFBDCE}"/>
                </a:ext>
              </a:extLst>
            </p:cNvPr>
            <p:cNvSpPr/>
            <p:nvPr/>
          </p:nvSpPr>
          <p:spPr>
            <a:xfrm>
              <a:off x="5257800" y="1947672"/>
              <a:ext cx="96012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2661EADD-8330-C4CB-D65A-99CC94509BC2}"/>
                </a:ext>
              </a:extLst>
            </p:cNvPr>
            <p:cNvSpPr txBox="1"/>
            <p:nvPr/>
          </p:nvSpPr>
          <p:spPr>
            <a:xfrm>
              <a:off x="5257800" y="194767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0.1887</a:t>
              </a:r>
            </a:p>
          </p:txBody>
        </p:sp>
        <p:sp>
          <p:nvSpPr>
            <p:cNvPr id="161" name="Rectangle 68">
              <a:extLst>
                <a:ext uri="{FF2B5EF4-FFF2-40B4-BE49-F238E27FC236}">
                  <a16:creationId xmlns:a16="http://schemas.microsoft.com/office/drawing/2014/main" id="{98ABE7EC-253A-18F4-37FC-E9AA555DD68B}"/>
                </a:ext>
              </a:extLst>
            </p:cNvPr>
            <p:cNvSpPr/>
            <p:nvPr/>
          </p:nvSpPr>
          <p:spPr>
            <a:xfrm>
              <a:off x="6263640" y="1947672"/>
              <a:ext cx="96012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C5A2E45-2E35-C68F-003E-16FD0A7D5D8B}"/>
                </a:ext>
              </a:extLst>
            </p:cNvPr>
            <p:cNvSpPr txBox="1"/>
            <p:nvPr/>
          </p:nvSpPr>
          <p:spPr>
            <a:xfrm>
              <a:off x="6263640" y="194767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0.3750</a:t>
              </a:r>
            </a:p>
          </p:txBody>
        </p:sp>
        <p:sp>
          <p:nvSpPr>
            <p:cNvPr id="163" name="Rectangle 70">
              <a:extLst>
                <a:ext uri="{FF2B5EF4-FFF2-40B4-BE49-F238E27FC236}">
                  <a16:creationId xmlns:a16="http://schemas.microsoft.com/office/drawing/2014/main" id="{1AB94637-F5C7-46B1-9027-8D1E9B0EE5AB}"/>
                </a:ext>
              </a:extLst>
            </p:cNvPr>
            <p:cNvSpPr/>
            <p:nvPr/>
          </p:nvSpPr>
          <p:spPr>
            <a:xfrm>
              <a:off x="7269480" y="1947672"/>
              <a:ext cx="150876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D97E2CDA-27C6-B474-8CC3-AC061107F68F}"/>
                </a:ext>
              </a:extLst>
            </p:cNvPr>
            <p:cNvSpPr txBox="1"/>
            <p:nvPr/>
          </p:nvSpPr>
          <p:spPr>
            <a:xfrm>
              <a:off x="7269480" y="194767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65" name="Rectangle 72">
              <a:extLst>
                <a:ext uri="{FF2B5EF4-FFF2-40B4-BE49-F238E27FC236}">
                  <a16:creationId xmlns:a16="http://schemas.microsoft.com/office/drawing/2014/main" id="{F6014AC2-019A-1B9F-4920-FF41E5E4E099}"/>
                </a:ext>
              </a:extLst>
            </p:cNvPr>
            <p:cNvSpPr/>
            <p:nvPr/>
          </p:nvSpPr>
          <p:spPr>
            <a:xfrm>
              <a:off x="8823960" y="1947672"/>
              <a:ext cx="150876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D7B3215A-3C6D-1D4B-1F05-6B1FAE96FE4E}"/>
                </a:ext>
              </a:extLst>
            </p:cNvPr>
            <p:cNvSpPr txBox="1"/>
            <p:nvPr/>
          </p:nvSpPr>
          <p:spPr>
            <a:xfrm>
              <a:off x="8823960" y="194767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(neg ctrl)</a:t>
              </a:r>
            </a:p>
          </p:txBody>
        </p:sp>
        <p:sp>
          <p:nvSpPr>
            <p:cNvPr id="167" name="Rectangle 74">
              <a:extLst>
                <a:ext uri="{FF2B5EF4-FFF2-40B4-BE49-F238E27FC236}">
                  <a16:creationId xmlns:a16="http://schemas.microsoft.com/office/drawing/2014/main" id="{A9F8A891-8186-55D3-C654-385BA0322ADA}"/>
                </a:ext>
              </a:extLst>
            </p:cNvPr>
            <p:cNvSpPr/>
            <p:nvPr/>
          </p:nvSpPr>
          <p:spPr>
            <a:xfrm>
              <a:off x="10378440" y="1947672"/>
              <a:ext cx="169164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317E02C-4B48-4BFD-3FE6-79BF2D2FA2C4}"/>
                </a:ext>
              </a:extLst>
            </p:cNvPr>
            <p:cNvSpPr txBox="1"/>
            <p:nvPr/>
          </p:nvSpPr>
          <p:spPr>
            <a:xfrm>
              <a:off x="10378440" y="194767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Unmatched</a:t>
              </a:r>
            </a:p>
          </p:txBody>
        </p:sp>
        <p:sp>
          <p:nvSpPr>
            <p:cNvPr id="169" name="Rectangle 76">
              <a:extLst>
                <a:ext uri="{FF2B5EF4-FFF2-40B4-BE49-F238E27FC236}">
                  <a16:creationId xmlns:a16="http://schemas.microsoft.com/office/drawing/2014/main" id="{F210DFA1-1CCD-2C06-DBD0-75B8DE168B2B}"/>
                </a:ext>
              </a:extLst>
            </p:cNvPr>
            <p:cNvSpPr/>
            <p:nvPr/>
          </p:nvSpPr>
          <p:spPr>
            <a:xfrm>
              <a:off x="274320" y="2313432"/>
              <a:ext cx="14173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1D492DD9-60C1-A18F-C8A7-AEB9F052C4C5}"/>
                </a:ext>
              </a:extLst>
            </p:cNvPr>
            <p:cNvSpPr txBox="1"/>
            <p:nvPr/>
          </p:nvSpPr>
          <p:spPr>
            <a:xfrm>
              <a:off x="274320" y="231343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 (CrossAttn3)</a:t>
              </a:r>
            </a:p>
          </p:txBody>
        </p:sp>
        <p:sp>
          <p:nvSpPr>
            <p:cNvPr id="171" name="Rectangle 78">
              <a:extLst>
                <a:ext uri="{FF2B5EF4-FFF2-40B4-BE49-F238E27FC236}">
                  <a16:creationId xmlns:a16="http://schemas.microsoft.com/office/drawing/2014/main" id="{AB79C0C0-A11D-3001-1861-66C1E880F728}"/>
                </a:ext>
              </a:extLst>
            </p:cNvPr>
            <p:cNvSpPr/>
            <p:nvPr/>
          </p:nvSpPr>
          <p:spPr>
            <a:xfrm>
              <a:off x="1737360" y="2313432"/>
              <a:ext cx="100584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B411546F-4C79-76A1-E64E-F80CCFCE8537}"/>
                </a:ext>
              </a:extLst>
            </p:cNvPr>
            <p:cNvSpPr txBox="1"/>
            <p:nvPr/>
          </p:nvSpPr>
          <p:spPr>
            <a:xfrm>
              <a:off x="1929122" y="2313432"/>
              <a:ext cx="62231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 dirty="0">
                  <a:solidFill>
                    <a:srgbClr val="1A1A2E"/>
                  </a:solidFill>
                  <a:latin typeface="맑은 고딕"/>
                </a:rPr>
                <a:t>0.8455</a:t>
              </a:r>
            </a:p>
          </p:txBody>
        </p:sp>
        <p:sp>
          <p:nvSpPr>
            <p:cNvPr id="173" name="Rectangle 80">
              <a:extLst>
                <a:ext uri="{FF2B5EF4-FFF2-40B4-BE49-F238E27FC236}">
                  <a16:creationId xmlns:a16="http://schemas.microsoft.com/office/drawing/2014/main" id="{D3EFC71A-67EA-196A-E3DD-92C59F2356C7}"/>
                </a:ext>
              </a:extLst>
            </p:cNvPr>
            <p:cNvSpPr/>
            <p:nvPr/>
          </p:nvSpPr>
          <p:spPr>
            <a:xfrm>
              <a:off x="2788920" y="2313432"/>
              <a:ext cx="137160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DB26AF69-5053-C83D-9B4E-612870CA99D1}"/>
                </a:ext>
              </a:extLst>
            </p:cNvPr>
            <p:cNvSpPr txBox="1"/>
            <p:nvPr/>
          </p:nvSpPr>
          <p:spPr>
            <a:xfrm>
              <a:off x="2788920" y="231343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[0.759,0.914]</a:t>
              </a:r>
            </a:p>
          </p:txBody>
        </p:sp>
        <p:sp>
          <p:nvSpPr>
            <p:cNvPr id="175" name="Rectangle 82">
              <a:extLst>
                <a:ext uri="{FF2B5EF4-FFF2-40B4-BE49-F238E27FC236}">
                  <a16:creationId xmlns:a16="http://schemas.microsoft.com/office/drawing/2014/main" id="{A4179A03-49A0-A81F-5D75-F38A7514C054}"/>
                </a:ext>
              </a:extLst>
            </p:cNvPr>
            <p:cNvSpPr/>
            <p:nvPr/>
          </p:nvSpPr>
          <p:spPr>
            <a:xfrm>
              <a:off x="4206240" y="2313432"/>
              <a:ext cx="100584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1BB098A-F3BF-C0D1-F09A-6784040BB02D}"/>
                </a:ext>
              </a:extLst>
            </p:cNvPr>
            <p:cNvSpPr txBox="1"/>
            <p:nvPr/>
          </p:nvSpPr>
          <p:spPr>
            <a:xfrm>
              <a:off x="4206240" y="231343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0.3475</a:t>
              </a:r>
            </a:p>
          </p:txBody>
        </p:sp>
        <p:sp>
          <p:nvSpPr>
            <p:cNvPr id="177" name="Rectangle 84">
              <a:extLst>
                <a:ext uri="{FF2B5EF4-FFF2-40B4-BE49-F238E27FC236}">
                  <a16:creationId xmlns:a16="http://schemas.microsoft.com/office/drawing/2014/main" id="{EBFF662B-ADE2-7F19-B924-FAF4444173BD}"/>
                </a:ext>
              </a:extLst>
            </p:cNvPr>
            <p:cNvSpPr/>
            <p:nvPr/>
          </p:nvSpPr>
          <p:spPr>
            <a:xfrm>
              <a:off x="5257800" y="2313432"/>
              <a:ext cx="9601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6E79D78-F90D-E91F-C757-5BFEA0D97EFF}"/>
                </a:ext>
              </a:extLst>
            </p:cNvPr>
            <p:cNvSpPr txBox="1"/>
            <p:nvPr/>
          </p:nvSpPr>
          <p:spPr>
            <a:xfrm>
              <a:off x="5257800" y="231343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0.1902</a:t>
              </a:r>
            </a:p>
          </p:txBody>
        </p:sp>
        <p:sp>
          <p:nvSpPr>
            <p:cNvPr id="179" name="Rectangle 86">
              <a:extLst>
                <a:ext uri="{FF2B5EF4-FFF2-40B4-BE49-F238E27FC236}">
                  <a16:creationId xmlns:a16="http://schemas.microsoft.com/office/drawing/2014/main" id="{4BC48493-FB6A-F634-D310-9E8206B4C25C}"/>
                </a:ext>
              </a:extLst>
            </p:cNvPr>
            <p:cNvSpPr/>
            <p:nvPr/>
          </p:nvSpPr>
          <p:spPr>
            <a:xfrm>
              <a:off x="6263640" y="2313432"/>
              <a:ext cx="9601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B418F7B9-F71A-AAE7-455E-671EC8DA0FEB}"/>
                </a:ext>
              </a:extLst>
            </p:cNvPr>
            <p:cNvSpPr txBox="1"/>
            <p:nvPr/>
          </p:nvSpPr>
          <p:spPr>
            <a:xfrm>
              <a:off x="6263640" y="231343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0.3793</a:t>
              </a:r>
            </a:p>
          </p:txBody>
        </p:sp>
        <p:sp>
          <p:nvSpPr>
            <p:cNvPr id="181" name="Rectangle 88">
              <a:extLst>
                <a:ext uri="{FF2B5EF4-FFF2-40B4-BE49-F238E27FC236}">
                  <a16:creationId xmlns:a16="http://schemas.microsoft.com/office/drawing/2014/main" id="{0D31FFF7-5BBF-67DC-CBED-D4A3336E0D87}"/>
                </a:ext>
              </a:extLst>
            </p:cNvPr>
            <p:cNvSpPr/>
            <p:nvPr/>
          </p:nvSpPr>
          <p:spPr>
            <a:xfrm>
              <a:off x="7269480" y="2313432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73E1D69B-B95B-AD58-E366-040613C288D1}"/>
                </a:ext>
              </a:extLst>
            </p:cNvPr>
            <p:cNvSpPr txBox="1"/>
            <p:nvPr/>
          </p:nvSpPr>
          <p:spPr>
            <a:xfrm>
              <a:off x="7269480" y="231343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+0.043</a:t>
              </a:r>
            </a:p>
          </p:txBody>
        </p:sp>
        <p:sp>
          <p:nvSpPr>
            <p:cNvPr id="183" name="Rectangle 90">
              <a:extLst>
                <a:ext uri="{FF2B5EF4-FFF2-40B4-BE49-F238E27FC236}">
                  <a16:creationId xmlns:a16="http://schemas.microsoft.com/office/drawing/2014/main" id="{56F81C5F-E8DB-BC47-81B9-00593A8A4D67}"/>
                </a:ext>
              </a:extLst>
            </p:cNvPr>
            <p:cNvSpPr/>
            <p:nvPr/>
          </p:nvSpPr>
          <p:spPr>
            <a:xfrm>
              <a:off x="8823960" y="2313432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D8C621D0-4ED4-EA06-B835-CB9C7C182290}"/>
                </a:ext>
              </a:extLst>
            </p:cNvPr>
            <p:cNvSpPr txBox="1"/>
            <p:nvPr/>
          </p:nvSpPr>
          <p:spPr>
            <a:xfrm>
              <a:off x="8823960" y="231343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p=0.066 †</a:t>
              </a:r>
            </a:p>
          </p:txBody>
        </p:sp>
        <p:sp>
          <p:nvSpPr>
            <p:cNvPr id="185" name="Rectangle 92">
              <a:extLst>
                <a:ext uri="{FF2B5EF4-FFF2-40B4-BE49-F238E27FC236}">
                  <a16:creationId xmlns:a16="http://schemas.microsoft.com/office/drawing/2014/main" id="{F1513CFE-DDF8-7789-656C-85A0C91CC67E}"/>
                </a:ext>
              </a:extLst>
            </p:cNvPr>
            <p:cNvSpPr/>
            <p:nvPr/>
          </p:nvSpPr>
          <p:spPr>
            <a:xfrm>
              <a:off x="10378440" y="2313432"/>
              <a:ext cx="169164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6823C5A7-BECE-2F48-31E5-34088C70D289}"/>
                </a:ext>
              </a:extLst>
            </p:cNvPr>
            <p:cNvSpPr txBox="1"/>
            <p:nvPr/>
          </p:nvSpPr>
          <p:spPr>
            <a:xfrm>
              <a:off x="10378440" y="231343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Clinic+Scn+AEC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CC32-5641-0D56-4EE1-F5AE4629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1A162-FB10-71F8-2866-5300F3B8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2E6304-7EF9-ED4D-337C-C8849320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31FB97D-BA7A-DBC7-BB95-5B9D0B5C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Data Preprocessing Pipeline Work Flow</a:t>
            </a:r>
          </a:p>
          <a:p>
            <a:pPr lvl="1"/>
            <a:r>
              <a:rPr lang="en-US" altLang="ko-KR" dirty="0"/>
              <a:t>Step 1. Clinic Data </a:t>
            </a:r>
            <a:r>
              <a:rPr lang="ko-KR" altLang="en-US" dirty="0"/>
              <a:t>정제 → 중복 제거</a:t>
            </a:r>
            <a:r>
              <a:rPr lang="en-US" altLang="ko-KR" dirty="0"/>
              <a:t>, SMI </a:t>
            </a:r>
            <a:r>
              <a:rPr lang="ko-KR" altLang="en-US" dirty="0"/>
              <a:t>산출 등</a:t>
            </a:r>
            <a:endParaRPr lang="en-US" altLang="ko-KR" dirty="0"/>
          </a:p>
          <a:p>
            <a:pPr lvl="1"/>
            <a:r>
              <a:rPr lang="en-US" altLang="ko-KR" b="1" dirty="0"/>
              <a:t>Step 2. </a:t>
            </a:r>
            <a:r>
              <a:rPr lang="en-US" altLang="ko-KR" b="1" dirty="0" err="1"/>
              <a:t>TotalSegmentator</a:t>
            </a:r>
            <a:r>
              <a:rPr lang="ko-KR" altLang="en-US" b="1" dirty="0"/>
              <a:t>를 이용한 해부학적 경계 추출</a:t>
            </a:r>
            <a:endParaRPr lang="en-US" altLang="ko-KR" b="1" dirty="0"/>
          </a:p>
          <a:p>
            <a:pPr lvl="2"/>
            <a:r>
              <a:rPr lang="en-US" altLang="ko-KR" dirty="0"/>
              <a:t>DICOM </a:t>
            </a:r>
            <a:r>
              <a:rPr lang="ko-KR" altLang="en-US" dirty="0"/>
              <a:t>→ </a:t>
            </a:r>
            <a:r>
              <a:rPr lang="en-US" altLang="ko-KR" dirty="0" err="1"/>
              <a:t>NifTI</a:t>
            </a:r>
            <a:r>
              <a:rPr lang="ko-KR" altLang="en-US" dirty="0"/>
              <a:t> 변환 → </a:t>
            </a:r>
            <a:r>
              <a:rPr lang="en-US" altLang="ko-KR" dirty="0" err="1"/>
              <a:t>totalsegmentator</a:t>
            </a:r>
            <a:r>
              <a:rPr lang="ko-KR" altLang="en-US" dirty="0"/>
              <a:t> </a:t>
            </a:r>
            <a:r>
              <a:rPr lang="en-US" altLang="ko-KR" dirty="0"/>
              <a:t>[“</a:t>
            </a:r>
            <a:r>
              <a:rPr lang="en-US" altLang="ko-KR" dirty="0" err="1"/>
              <a:t>liver_segments</a:t>
            </a:r>
            <a:r>
              <a:rPr lang="en-US" altLang="ko-KR" dirty="0"/>
              <a:t>”, “</a:t>
            </a:r>
            <a:r>
              <a:rPr lang="en-US" altLang="ko-KR" dirty="0" err="1"/>
              <a:t>hip_left</a:t>
            </a:r>
            <a:r>
              <a:rPr lang="en-US" altLang="ko-KR" dirty="0"/>
              <a:t>”, “</a:t>
            </a:r>
            <a:r>
              <a:rPr lang="en-US" altLang="ko-KR" dirty="0" err="1"/>
              <a:t>hip_right</a:t>
            </a:r>
            <a:r>
              <a:rPr lang="en-US" altLang="ko-KR" dirty="0"/>
              <a:t>”] </a:t>
            </a:r>
            <a:r>
              <a:rPr lang="ko-KR" altLang="en-US" dirty="0"/>
              <a:t>진행</a:t>
            </a:r>
            <a:endParaRPr lang="en-US" altLang="ko-KR" dirty="0"/>
          </a:p>
          <a:p>
            <a:pPr lvl="2"/>
            <a:r>
              <a:rPr lang="en-US" altLang="ko-KR" dirty="0">
                <a:solidFill>
                  <a:srgbClr val="FF0000"/>
                </a:solidFill>
              </a:rPr>
              <a:t>L1</a:t>
            </a:r>
            <a:r>
              <a:rPr lang="ko-KR" altLang="en-US" dirty="0">
                <a:solidFill>
                  <a:srgbClr val="FF0000"/>
                </a:solidFill>
              </a:rPr>
              <a:t>에 대해서도 진행했으나 </a:t>
            </a:r>
            <a:r>
              <a:rPr lang="en-US" altLang="ko-KR" dirty="0">
                <a:solidFill>
                  <a:srgbClr val="FF0000"/>
                </a:solidFill>
              </a:rPr>
              <a:t>missing data</a:t>
            </a:r>
            <a:r>
              <a:rPr lang="ko-KR" altLang="en-US" dirty="0">
                <a:solidFill>
                  <a:srgbClr val="FF0000"/>
                </a:solidFill>
              </a:rPr>
              <a:t>가 </a:t>
            </a:r>
            <a:r>
              <a:rPr lang="en-US" altLang="ko-KR" dirty="0">
                <a:solidFill>
                  <a:srgbClr val="FF0000"/>
                </a:solidFill>
              </a:rPr>
              <a:t>t12</a:t>
            </a:r>
            <a:r>
              <a:rPr lang="ko-KR" altLang="en-US" dirty="0">
                <a:solidFill>
                  <a:srgbClr val="FF0000"/>
                </a:solidFill>
              </a:rPr>
              <a:t>와 비슷하여 제외</a:t>
            </a:r>
            <a:endParaRPr lang="en-US" altLang="ko-KR" dirty="0">
              <a:solidFill>
                <a:srgbClr val="FF0000"/>
              </a:solidFill>
            </a:endParaRPr>
          </a:p>
          <a:p>
            <a:pPr lvl="2"/>
            <a:r>
              <a:rPr lang="en-US" altLang="ko-KR" dirty="0"/>
              <a:t>Liver</a:t>
            </a:r>
            <a:r>
              <a:rPr lang="ko-KR" altLang="en-US" dirty="0"/>
              <a:t> </a:t>
            </a:r>
            <a:r>
              <a:rPr lang="en-US" altLang="ko-KR" dirty="0"/>
              <a:t>upper,</a:t>
            </a:r>
            <a:r>
              <a:rPr lang="ko-KR" altLang="en-US" dirty="0"/>
              <a:t> </a:t>
            </a:r>
            <a:r>
              <a:rPr lang="en-US" altLang="ko-KR" dirty="0"/>
              <a:t>pubis bottom</a:t>
            </a:r>
            <a:r>
              <a:rPr lang="ko-KR" altLang="en-US" dirty="0"/>
              <a:t>으로 경계 추출</a:t>
            </a:r>
            <a:endParaRPr lang="en-US" altLang="ko-KR" dirty="0"/>
          </a:p>
          <a:p>
            <a:pPr lvl="2"/>
            <a:r>
              <a:rPr lang="en-US" altLang="ko-KR" dirty="0"/>
              <a:t>Slice </a:t>
            </a:r>
            <a:r>
              <a:rPr lang="ko-KR" altLang="en-US" dirty="0"/>
              <a:t>번호를 확인하여 구간에 대한 </a:t>
            </a:r>
            <a:r>
              <a:rPr lang="en-US" altLang="ko-KR" dirty="0"/>
              <a:t>AEC value</a:t>
            </a:r>
            <a:r>
              <a:rPr lang="ko-KR" altLang="en-US" dirty="0"/>
              <a:t> 확인</a:t>
            </a:r>
            <a:endParaRPr lang="en-US" altLang="ko-KR" dirty="0"/>
          </a:p>
          <a:p>
            <a:pPr lvl="1"/>
            <a:r>
              <a:rPr lang="en-US" altLang="ko-KR" dirty="0"/>
              <a:t>Step 3. AEC crop </a:t>
            </a:r>
            <a:r>
              <a:rPr lang="ko-KR" altLang="en-US" dirty="0"/>
              <a:t>및 </a:t>
            </a:r>
            <a:r>
              <a:rPr lang="en-US" altLang="ko-KR" dirty="0"/>
              <a:t>interpolation</a:t>
            </a:r>
          </a:p>
          <a:p>
            <a:pPr lvl="2"/>
            <a:r>
              <a:rPr lang="en-US" altLang="ko-KR" dirty="0"/>
              <a:t>128, 256 pt</a:t>
            </a:r>
            <a:r>
              <a:rPr lang="ko-KR" altLang="en-US" dirty="0"/>
              <a:t>로 </a:t>
            </a:r>
            <a:r>
              <a:rPr lang="en-US" altLang="ko-KR" dirty="0"/>
              <a:t>interpolation </a:t>
            </a:r>
            <a:r>
              <a:rPr lang="ko-KR" altLang="en-US" dirty="0"/>
              <a:t>진행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26511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E4728-B9DF-1C5D-0136-7AE655B8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602BE-6D22-162A-1828-603C347A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A4F8D-C171-3AC2-2174-2106298A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7608BE9-6682-4591-47F7-3E652CAA8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Data Preprocessing Pipeline Work Flow</a:t>
            </a:r>
          </a:p>
          <a:p>
            <a:pPr lvl="1"/>
            <a:r>
              <a:rPr lang="en-US" altLang="ko-KR" b="1" dirty="0"/>
              <a:t>Step 4. Clinic Data + AEC Data Integration &amp; Filtering (</a:t>
            </a:r>
            <a:r>
              <a:rPr lang="ko-KR" altLang="en-US" b="1" dirty="0"/>
              <a:t>제거 조건</a:t>
            </a:r>
            <a:r>
              <a:rPr lang="en-US" altLang="ko-KR" b="1" dirty="0"/>
              <a:t>)</a:t>
            </a:r>
          </a:p>
          <a:p>
            <a:pPr lvl="2"/>
            <a:r>
              <a:rPr lang="en-US" altLang="ko-KR" dirty="0" err="1"/>
              <a:t>kVp</a:t>
            </a:r>
            <a:r>
              <a:rPr lang="en-US" altLang="ko-KR" dirty="0"/>
              <a:t> != 100</a:t>
            </a:r>
          </a:p>
          <a:p>
            <a:pPr lvl="2"/>
            <a:r>
              <a:rPr lang="en-US" altLang="ko-KR" dirty="0"/>
              <a:t>Age &lt; 20</a:t>
            </a:r>
          </a:p>
          <a:p>
            <a:pPr lvl="2"/>
            <a:r>
              <a:rPr lang="en-US" altLang="ko-KR" dirty="0"/>
              <a:t>Manufacturer Model Name 1% </a:t>
            </a:r>
            <a:r>
              <a:rPr lang="ko-KR" altLang="en-US" dirty="0"/>
              <a:t>미만</a:t>
            </a:r>
            <a:endParaRPr lang="en-US" altLang="ko-KR" dirty="0"/>
          </a:p>
          <a:p>
            <a:pPr lvl="2"/>
            <a:r>
              <a:rPr lang="en-US" altLang="ko-KR" dirty="0"/>
              <a:t>Crop</a:t>
            </a:r>
            <a:r>
              <a:rPr lang="ko-KR" altLang="en-US" dirty="0"/>
              <a:t>된 </a:t>
            </a:r>
            <a:r>
              <a:rPr lang="en-US" altLang="ko-KR" dirty="0"/>
              <a:t>slice </a:t>
            </a:r>
            <a:r>
              <a:rPr lang="ko-KR" altLang="en-US" dirty="0"/>
              <a:t>개수 </a:t>
            </a:r>
            <a:r>
              <a:rPr lang="en-US" altLang="ko-KR" dirty="0"/>
              <a:t>100 </a:t>
            </a:r>
            <a:r>
              <a:rPr lang="ko-KR" altLang="en-US" dirty="0"/>
              <a:t>미만</a:t>
            </a:r>
            <a:endParaRPr lang="en-US" altLang="ko-KR" dirty="0"/>
          </a:p>
          <a:p>
            <a:pPr lvl="2"/>
            <a:r>
              <a:rPr lang="en-US" altLang="ko-KR" dirty="0" err="1"/>
              <a:t>Z_range</a:t>
            </a:r>
            <a:r>
              <a:rPr lang="en-US" altLang="ko-KR" dirty="0"/>
              <a:t> IQR </a:t>
            </a:r>
            <a:r>
              <a:rPr lang="ko-KR" altLang="en-US" dirty="0"/>
              <a:t>이상치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065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B1DF-61C0-5BB5-6DD2-C402D065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F1099-FDA8-E5F5-4A15-150A840C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54EDEF-7D93-C64D-CC9D-C2FE5A5E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14365FE-8EAB-06EB-90CB-CDD5C2F34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Results of Liver Total </a:t>
            </a:r>
            <a:r>
              <a:rPr lang="en-US" altLang="ko-KR" dirty="0" err="1"/>
              <a:t>Segmentator</a:t>
            </a:r>
            <a:endParaRPr lang="en-US" altLang="ko-KR" dirty="0"/>
          </a:p>
          <a:p>
            <a:pPr lvl="1"/>
            <a:r>
              <a:rPr lang="en-US" altLang="ko-KR" dirty="0"/>
              <a:t>Slice</a:t>
            </a:r>
            <a:r>
              <a:rPr lang="ko-KR" altLang="en-US" dirty="0"/>
              <a:t> </a:t>
            </a:r>
            <a:r>
              <a:rPr lang="en-US" altLang="ko-KR" dirty="0"/>
              <a:t>number</a:t>
            </a:r>
            <a:r>
              <a:rPr lang="ko-KR" altLang="en-US" dirty="0"/>
              <a:t>를 표기하여 검증에 용이하도록 진행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84A848-2C0F-CEB5-2CA6-53DA50CC8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109921"/>
            <a:ext cx="11176000" cy="421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773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EE7E-817F-C87E-FB8F-5DC3D305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73284-FE7C-1617-5215-A21962FA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82B2E8-63B2-A9B4-C8F0-7C8F2D1C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09B0CD4-5439-E6B0-4BB1-FB9064D9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en-US" altLang="ko-KR" dirty="0"/>
              <a:t>Data </a:t>
            </a:r>
            <a:r>
              <a:rPr lang="ko-KR" altLang="en-US" dirty="0"/>
              <a:t>정리</a:t>
            </a:r>
            <a:endParaRPr lang="en-US" altLang="ko-KR" dirty="0"/>
          </a:p>
          <a:p>
            <a:pPr lvl="1"/>
            <a:r>
              <a:rPr lang="en-US" altLang="ko-KR" dirty="0"/>
              <a:t>Clinic Data: Patient 3,762 </a:t>
            </a:r>
            <a:r>
              <a:rPr lang="ko-KR" altLang="en-US" dirty="0"/>
              <a:t>→ 중복 제거 </a:t>
            </a:r>
            <a:r>
              <a:rPr lang="en-US" altLang="ko-KR" dirty="0"/>
              <a:t>2,033 </a:t>
            </a:r>
            <a:r>
              <a:rPr lang="ko-KR" altLang="en-US" dirty="0"/>
              <a:t>→ </a:t>
            </a:r>
            <a:r>
              <a:rPr lang="en-US" altLang="ko-KR" dirty="0"/>
              <a:t>BMI, Height, Weight, SMI </a:t>
            </a:r>
            <a:r>
              <a:rPr lang="ko-KR" altLang="en-US" dirty="0" err="1"/>
              <a:t>결측치</a:t>
            </a:r>
            <a:r>
              <a:rPr lang="ko-KR" altLang="en-US" dirty="0"/>
              <a:t> 제거 </a:t>
            </a:r>
            <a:r>
              <a:rPr lang="en-US" altLang="ko-KR" dirty="0"/>
              <a:t>1,458</a:t>
            </a:r>
          </a:p>
          <a:p>
            <a:pPr lvl="1"/>
            <a:r>
              <a:rPr lang="en-US" altLang="ko-KR" dirty="0"/>
              <a:t>AEC: Patient 2,054 (Crop ok : Liver missing = 2,053 : 1)</a:t>
            </a:r>
          </a:p>
          <a:p>
            <a:pPr lvl="1"/>
            <a:r>
              <a:rPr lang="en-US" altLang="ko-KR" dirty="0"/>
              <a:t>Clinic ∩ AEC: 1,273 </a:t>
            </a:r>
            <a:r>
              <a:rPr lang="ko-KR" altLang="en-US" dirty="0"/>
              <a:t>→ 필터링 제거</a:t>
            </a:r>
            <a:r>
              <a:rPr lang="en-US" altLang="ko-KR" dirty="0"/>
              <a:t>(130): </a:t>
            </a:r>
            <a:r>
              <a:rPr lang="en-US" altLang="ko-KR" b="1" dirty="0">
                <a:solidFill>
                  <a:srgbClr val="FF0000"/>
                </a:solidFill>
              </a:rPr>
              <a:t>1,143</a:t>
            </a:r>
          </a:p>
          <a:p>
            <a:pPr lvl="2"/>
            <a:r>
              <a:rPr lang="en-US" altLang="ko-KR" dirty="0" err="1"/>
              <a:t>kVp</a:t>
            </a:r>
            <a:r>
              <a:rPr lang="en-US" altLang="ko-KR" dirty="0"/>
              <a:t> != 100: 92</a:t>
            </a:r>
          </a:p>
          <a:p>
            <a:pPr lvl="2"/>
            <a:r>
              <a:rPr lang="en-US" altLang="ko-KR" dirty="0"/>
              <a:t>Age &lt; 20: 3</a:t>
            </a:r>
          </a:p>
          <a:p>
            <a:pPr lvl="2"/>
            <a:r>
              <a:rPr lang="en-US" altLang="ko-KR" dirty="0"/>
              <a:t>Manufacturer Model Name 1% </a:t>
            </a:r>
            <a:r>
              <a:rPr lang="ko-KR" altLang="en-US" dirty="0"/>
              <a:t>미만</a:t>
            </a:r>
            <a:r>
              <a:rPr lang="en-US" altLang="ko-KR" dirty="0"/>
              <a:t>: 17</a:t>
            </a:r>
          </a:p>
          <a:p>
            <a:pPr lvl="2"/>
            <a:r>
              <a:rPr lang="en-US" altLang="ko-KR" dirty="0"/>
              <a:t>Cropped</a:t>
            </a:r>
            <a:r>
              <a:rPr lang="ko-KR" altLang="en-US" dirty="0"/>
              <a:t> </a:t>
            </a:r>
            <a:r>
              <a:rPr lang="en-US" altLang="ko-KR" dirty="0"/>
              <a:t>slices 100 </a:t>
            </a:r>
            <a:r>
              <a:rPr lang="ko-KR" altLang="en-US" dirty="0"/>
              <a:t>미만</a:t>
            </a:r>
            <a:r>
              <a:rPr lang="en-US" altLang="ko-KR" dirty="0"/>
              <a:t>: 5</a:t>
            </a:r>
          </a:p>
          <a:p>
            <a:pPr lvl="2"/>
            <a:r>
              <a:rPr lang="en-US" altLang="ko-KR" dirty="0"/>
              <a:t>Z range </a:t>
            </a:r>
            <a:r>
              <a:rPr lang="ko-KR" altLang="en-US" dirty="0"/>
              <a:t>이상치</a:t>
            </a:r>
            <a:r>
              <a:rPr lang="en-US" altLang="ko-KR" dirty="0"/>
              <a:t>: 13</a:t>
            </a:r>
          </a:p>
        </p:txBody>
      </p:sp>
    </p:spTree>
    <p:extLst>
      <p:ext uri="{BB962C8B-B14F-4D97-AF65-F5344CB8AC3E}">
        <p14:creationId xmlns:p14="http://schemas.microsoft.com/office/powerpoint/2010/main" val="237576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1C564-C4E3-C7E5-176D-3C71C0D4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90F66-DE53-7F78-BD26-F25903C3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651BCC-0290-4B0F-F77B-B861A831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4AE4587-D9EE-3494-C321-6EC6B13EF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필터링 된 데이터셋의 </a:t>
            </a:r>
            <a:r>
              <a:rPr lang="en-US" altLang="ko-KR" dirty="0"/>
              <a:t>AEC </a:t>
            </a:r>
            <a:r>
              <a:rPr lang="ko-KR" altLang="en-US" dirty="0"/>
              <a:t>관련 데이터 분포 </a:t>
            </a:r>
            <a:r>
              <a:rPr lang="en-US" altLang="ko-KR" dirty="0"/>
              <a:t>(1,143</a:t>
            </a:r>
            <a:r>
              <a:rPr lang="ko-KR" altLang="en-US" dirty="0"/>
              <a:t>개 데이터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Slice thickness</a:t>
            </a:r>
            <a:r>
              <a:rPr lang="ko-KR" altLang="en-US" dirty="0"/>
              <a:t>가 여러 개 존재</a:t>
            </a:r>
            <a:r>
              <a:rPr lang="en-US" altLang="ko-KR" dirty="0"/>
              <a:t>: 2.00mm, 2.50mm, 3.00mm</a:t>
            </a:r>
          </a:p>
          <a:p>
            <a:pPr lvl="1"/>
            <a:r>
              <a:rPr lang="en-US" altLang="ko-KR" dirty="0"/>
              <a:t>Slices Num</a:t>
            </a:r>
            <a:r>
              <a:rPr lang="ko-KR" altLang="en-US" dirty="0"/>
              <a:t>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200</a:t>
            </a:r>
            <a:r>
              <a:rPr lang="ko-KR" altLang="en-US" dirty="0"/>
              <a:t>인 데이터</a:t>
            </a:r>
            <a:r>
              <a:rPr lang="en-US" altLang="ko-KR" dirty="0"/>
              <a:t>: 27</a:t>
            </a:r>
            <a:r>
              <a:rPr lang="ko-KR" altLang="en-US" dirty="0"/>
              <a:t>개 확인 </a:t>
            </a:r>
            <a:r>
              <a:rPr lang="en-US" altLang="ko-KR" dirty="0"/>
              <a:t>(</a:t>
            </a:r>
            <a:r>
              <a:rPr lang="ko-KR" altLang="en-US" dirty="0"/>
              <a:t>모두 </a:t>
            </a:r>
            <a:r>
              <a:rPr lang="en-US" altLang="ko-KR" dirty="0"/>
              <a:t>2.00mm)</a:t>
            </a:r>
          </a:p>
          <a:p>
            <a:pPr lvl="1"/>
            <a:r>
              <a:rPr lang="en-US" altLang="ko-KR" dirty="0"/>
              <a:t>Slices Num</a:t>
            </a:r>
            <a:r>
              <a:rPr lang="ko-KR" altLang="en-US" dirty="0"/>
              <a:t>의 </a:t>
            </a:r>
            <a:r>
              <a:rPr lang="en-US" altLang="ko-KR" dirty="0"/>
              <a:t>Max</a:t>
            </a:r>
            <a:r>
              <a:rPr lang="ko-KR" altLang="en-US" dirty="0"/>
              <a:t> 경우</a:t>
            </a:r>
            <a:r>
              <a:rPr lang="en-US" altLang="ko-KR" dirty="0"/>
              <a:t>, </a:t>
            </a:r>
            <a:r>
              <a:rPr lang="ko-KR" altLang="en-US" dirty="0"/>
              <a:t> </a:t>
            </a:r>
            <a:r>
              <a:rPr lang="en-US" altLang="ko-KR" dirty="0"/>
              <a:t>thickness =</a:t>
            </a:r>
            <a:r>
              <a:rPr lang="ko-KR" altLang="en-US" dirty="0"/>
              <a:t> </a:t>
            </a:r>
            <a:r>
              <a:rPr lang="en-US" altLang="ko-KR" dirty="0"/>
              <a:t>2.00mm</a:t>
            </a:r>
            <a:r>
              <a:rPr lang="ko-KR" altLang="en-US" dirty="0"/>
              <a:t> → </a:t>
            </a:r>
            <a:r>
              <a:rPr lang="en-US" altLang="ko-KR" dirty="0"/>
              <a:t>z range = 476mm</a:t>
            </a:r>
          </a:p>
          <a:p>
            <a:pPr lvl="1"/>
            <a:r>
              <a:rPr lang="en-US" altLang="ko-KR" dirty="0"/>
              <a:t>Slices Num</a:t>
            </a:r>
            <a:r>
              <a:rPr lang="ko-KR" altLang="en-US" dirty="0"/>
              <a:t>의 </a:t>
            </a:r>
            <a:r>
              <a:rPr lang="en-US" altLang="ko-KR" dirty="0"/>
              <a:t>Min</a:t>
            </a:r>
            <a:r>
              <a:rPr lang="ko-KR" altLang="en-US" dirty="0"/>
              <a:t> 경우</a:t>
            </a:r>
            <a:r>
              <a:rPr lang="en-US" altLang="ko-KR" dirty="0"/>
              <a:t>, thickness = 3.00mm</a:t>
            </a:r>
            <a:r>
              <a:rPr lang="ko-KR" altLang="en-US" dirty="0"/>
              <a:t> → </a:t>
            </a:r>
            <a:r>
              <a:rPr lang="en-US" altLang="ko-KR" dirty="0"/>
              <a:t>z range = 327mm</a:t>
            </a:r>
          </a:p>
          <a:p>
            <a:endParaRPr lang="en-US" altLang="ko-KR" dirty="0"/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F296F737-8C82-7794-102A-912EE34FC8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331499"/>
              </p:ext>
            </p:extLst>
          </p:nvPr>
        </p:nvGraphicFramePr>
        <p:xfrm>
          <a:off x="971004" y="1703173"/>
          <a:ext cx="10249992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249">
                  <a:extLst>
                    <a:ext uri="{9D8B030D-6E8A-4147-A177-3AD203B41FA5}">
                      <a16:colId xmlns:a16="http://schemas.microsoft.com/office/drawing/2014/main" val="1286114323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2865512279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198448097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3203679715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2797321821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2812402965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249">
                  <a:extLst>
                    <a:ext uri="{9D8B030D-6E8A-4147-A177-3AD203B41FA5}">
                      <a16:colId xmlns:a16="http://schemas.microsoft.com/office/drawing/2014/main" val="7926044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Median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Slices Num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19.1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5542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 Range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408.9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28.8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427.5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99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842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5F62-1267-C774-42E2-A96C1B5C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25FCC-9ECE-ADE9-222B-BE6E1BA46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091E6F-837A-157A-05A5-E726FECA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3D3B6C9-9925-1415-5F8B-622A5F415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Model </a:t>
            </a:r>
            <a:r>
              <a:rPr lang="ko-KR" altLang="en-US" dirty="0"/>
              <a:t>성능 비교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E88B5CA-6E50-C668-C724-BAF1BEC57535}"/>
              </a:ext>
            </a:extLst>
          </p:cNvPr>
          <p:cNvGrpSpPr/>
          <p:nvPr/>
        </p:nvGrpSpPr>
        <p:grpSpPr>
          <a:xfrm>
            <a:off x="809898" y="1730141"/>
            <a:ext cx="5074920" cy="576071"/>
            <a:chOff x="6035040" y="1572768"/>
            <a:chExt cx="5074920" cy="576071"/>
          </a:xfrm>
        </p:grpSpPr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FD24FB02-AF30-0418-FF3C-50D559C8C02B}"/>
                </a:ext>
              </a:extLst>
            </p:cNvPr>
            <p:cNvSpPr/>
            <p:nvPr/>
          </p:nvSpPr>
          <p:spPr>
            <a:xfrm>
              <a:off x="6035040" y="1572768"/>
              <a:ext cx="73152" cy="508798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475BEE2-1BB7-BB66-3FAD-8DF4CDE85692}"/>
                </a:ext>
              </a:extLst>
            </p:cNvPr>
            <p:cNvSpPr txBox="1"/>
            <p:nvPr/>
          </p:nvSpPr>
          <p:spPr>
            <a:xfrm>
              <a:off x="6172200" y="1591056"/>
              <a:ext cx="49377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 dirty="0">
                  <a:solidFill>
                    <a:srgbClr val="0F6BBF"/>
                  </a:solidFill>
                  <a:latin typeface="맑은 고딕"/>
                </a:rPr>
                <a:t>Model 1 — Baseline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9F97473-9044-F4AF-32E0-B00C0FD4F686}"/>
                </a:ext>
              </a:extLst>
            </p:cNvPr>
            <p:cNvSpPr txBox="1"/>
            <p:nvPr/>
          </p:nvSpPr>
          <p:spPr>
            <a:xfrm>
              <a:off x="6172200" y="1892807"/>
              <a:ext cx="49377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Age, Sex, BMI → Logistic Regression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48E6C1B6-E528-4BCB-2B2A-C278BBFB6FE1}"/>
              </a:ext>
            </a:extLst>
          </p:cNvPr>
          <p:cNvGrpSpPr/>
          <p:nvPr/>
        </p:nvGrpSpPr>
        <p:grpSpPr>
          <a:xfrm>
            <a:off x="809898" y="2444051"/>
            <a:ext cx="5074920" cy="576072"/>
            <a:chOff x="6035040" y="2487168"/>
            <a:chExt cx="5074920" cy="576072"/>
          </a:xfrm>
        </p:grpSpPr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D4B803E1-FE2F-E4E5-9001-4D38786D2252}"/>
                </a:ext>
              </a:extLst>
            </p:cNvPr>
            <p:cNvSpPr/>
            <p:nvPr/>
          </p:nvSpPr>
          <p:spPr>
            <a:xfrm>
              <a:off x="6035040" y="2487168"/>
              <a:ext cx="73152" cy="508798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02D37A3-84E7-EB02-2ABA-1E0C380686F2}"/>
                </a:ext>
              </a:extLst>
            </p:cNvPr>
            <p:cNvSpPr txBox="1"/>
            <p:nvPr/>
          </p:nvSpPr>
          <p:spPr>
            <a:xfrm>
              <a:off x="6172200" y="2505456"/>
              <a:ext cx="49377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0F9B8A"/>
                  </a:solidFill>
                  <a:latin typeface="맑은 고딕"/>
                </a:rPr>
                <a:t>Model 2 — AEC Matched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32E149E-B5FC-2AAE-61C0-99D2C508ADB9}"/>
                </a:ext>
              </a:extLst>
            </p:cNvPr>
            <p:cNvSpPr txBox="1"/>
            <p:nvPr/>
          </p:nvSpPr>
          <p:spPr>
            <a:xfrm>
              <a:off x="6172200" y="2807208"/>
              <a:ext cx="49377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Clinic + AEC(동일환자) → CrossAttention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C76DA82-C0F2-03EF-F0ED-6BC35F00A9DD}"/>
              </a:ext>
            </a:extLst>
          </p:cNvPr>
          <p:cNvGrpSpPr/>
          <p:nvPr/>
        </p:nvGrpSpPr>
        <p:grpSpPr>
          <a:xfrm>
            <a:off x="809898" y="3222604"/>
            <a:ext cx="5074920" cy="576072"/>
            <a:chOff x="6035040" y="3401568"/>
            <a:chExt cx="5074920" cy="576072"/>
          </a:xfrm>
        </p:grpSpPr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B395F68D-12F7-FC01-6698-2C293F1894F6}"/>
                </a:ext>
              </a:extLst>
            </p:cNvPr>
            <p:cNvSpPr/>
            <p:nvPr/>
          </p:nvSpPr>
          <p:spPr>
            <a:xfrm>
              <a:off x="6035040" y="3401568"/>
              <a:ext cx="73152" cy="508798"/>
            </a:xfrm>
            <a:prstGeom prst="rect">
              <a:avLst/>
            </a:prstGeom>
            <a:solidFill>
              <a:srgbClr val="9EA3A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E8C3AB5-FC9E-AD76-2C9E-E35F72F7AF1F}"/>
                </a:ext>
              </a:extLst>
            </p:cNvPr>
            <p:cNvSpPr txBox="1"/>
            <p:nvPr/>
          </p:nvSpPr>
          <p:spPr>
            <a:xfrm>
              <a:off x="6172200" y="3419856"/>
              <a:ext cx="49377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9EA3AB"/>
                  </a:solidFill>
                  <a:latin typeface="맑은 고딕"/>
                </a:rPr>
                <a:t>Model 2_2 — AEC Unmatched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E31D552-F6EC-ADEA-344E-09126834EA03}"/>
                </a:ext>
              </a:extLst>
            </p:cNvPr>
            <p:cNvSpPr txBox="1"/>
            <p:nvPr/>
          </p:nvSpPr>
          <p:spPr>
            <a:xfrm>
              <a:off x="6172200" y="3721608"/>
              <a:ext cx="49377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Clinic + AEC(다른환자) → 음성 대조군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4A86ACC-92A7-F0AB-E6E0-B3A7362E2F90}"/>
              </a:ext>
            </a:extLst>
          </p:cNvPr>
          <p:cNvGrpSpPr/>
          <p:nvPr/>
        </p:nvGrpSpPr>
        <p:grpSpPr>
          <a:xfrm>
            <a:off x="809898" y="3975716"/>
            <a:ext cx="5074920" cy="576072"/>
            <a:chOff x="6035040" y="4315968"/>
            <a:chExt cx="5074920" cy="576072"/>
          </a:xfrm>
        </p:grpSpPr>
        <p:sp>
          <p:nvSpPr>
            <p:cNvPr id="55" name="Rectangle 55">
              <a:extLst>
                <a:ext uri="{FF2B5EF4-FFF2-40B4-BE49-F238E27FC236}">
                  <a16:creationId xmlns:a16="http://schemas.microsoft.com/office/drawing/2014/main" id="{9CF943EE-B343-C41F-CA97-028CA54D7C47}"/>
                </a:ext>
              </a:extLst>
            </p:cNvPr>
            <p:cNvSpPr/>
            <p:nvPr/>
          </p:nvSpPr>
          <p:spPr>
            <a:xfrm>
              <a:off x="6035040" y="4315968"/>
              <a:ext cx="73152" cy="508798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2CB6976-5FA0-99B2-146A-BDCE816EA2D5}"/>
                </a:ext>
              </a:extLst>
            </p:cNvPr>
            <p:cNvSpPr txBox="1"/>
            <p:nvPr/>
          </p:nvSpPr>
          <p:spPr>
            <a:xfrm>
              <a:off x="6172200" y="4334256"/>
              <a:ext cx="49377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E87400"/>
                  </a:solidFill>
                  <a:latin typeface="맑은 고딕"/>
                </a:rPr>
                <a:t>Model 3 — Scanner+AEC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899B524-C6B9-6CA1-EDEC-7606D3993FBD}"/>
                </a:ext>
              </a:extLst>
            </p:cNvPr>
            <p:cNvSpPr txBox="1"/>
            <p:nvPr/>
          </p:nvSpPr>
          <p:spPr>
            <a:xfrm>
              <a:off x="6172200" y="4636008"/>
              <a:ext cx="49377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Clinic + MFR + AEC → CrossAttention3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1FBFD9D-5721-6274-0D6E-CF0AF61BC15F}"/>
              </a:ext>
            </a:extLst>
          </p:cNvPr>
          <p:cNvSpPr txBox="1"/>
          <p:nvPr/>
        </p:nvSpPr>
        <p:spPr>
          <a:xfrm>
            <a:off x="5725524" y="1079739"/>
            <a:ext cx="6117770" cy="623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Parameter </a:t>
            </a:r>
            <a:r>
              <a:rPr lang="ko-KR" altLang="en-US" sz="20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비교</a:t>
            </a:r>
            <a:endParaRPr lang="en-US" altLang="ko-KR" sz="20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154097F-DF6D-0028-77F6-1F11009238A2}"/>
              </a:ext>
            </a:extLst>
          </p:cNvPr>
          <p:cNvGrpSpPr/>
          <p:nvPr/>
        </p:nvGrpSpPr>
        <p:grpSpPr>
          <a:xfrm>
            <a:off x="5884818" y="1801110"/>
            <a:ext cx="5120640" cy="1471351"/>
            <a:chOff x="5884818" y="2136449"/>
            <a:chExt cx="5120640" cy="1471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789539-DFEA-B207-C86A-45220889CA66}"/>
                </a:ext>
              </a:extLst>
            </p:cNvPr>
            <p:cNvSpPr txBox="1"/>
            <p:nvPr/>
          </p:nvSpPr>
          <p:spPr>
            <a:xfrm>
              <a:off x="5884818" y="2885701"/>
              <a:ext cx="15544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0F6BBF"/>
                  </a:solidFill>
                  <a:latin typeface="맑은 고딕"/>
                </a:rPr>
                <a:t>norm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539AFB-55E7-A0B8-021A-8F8E8C638895}"/>
                </a:ext>
              </a:extLst>
            </p:cNvPr>
            <p:cNvSpPr txBox="1"/>
            <p:nvPr/>
          </p:nvSpPr>
          <p:spPr>
            <a:xfrm>
              <a:off x="7439298" y="2862210"/>
              <a:ext cx="35661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원본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AEC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시퀀스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min-max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정규화</a:t>
              </a:r>
              <a:endParaRPr sz="1200" b="0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0D4F52-4CED-01A1-4B49-D058D0FA87A9}"/>
                </a:ext>
              </a:extLst>
            </p:cNvPr>
            <p:cNvSpPr txBox="1"/>
            <p:nvPr/>
          </p:nvSpPr>
          <p:spPr>
            <a:xfrm>
              <a:off x="5884818" y="2511075"/>
              <a:ext cx="15544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0F6BBF"/>
                  </a:solidFill>
                  <a:latin typeface="맑은 고딕"/>
                </a:rPr>
                <a:t>crop80/60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D6BBBC-A7FB-F825-AEE7-73CE2E9B0796}"/>
                </a:ext>
              </a:extLst>
            </p:cNvPr>
            <p:cNvSpPr txBox="1"/>
            <p:nvPr/>
          </p:nvSpPr>
          <p:spPr>
            <a:xfrm>
              <a:off x="7439298" y="2498280"/>
              <a:ext cx="35661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중앙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80% / 60%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구간만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사용</a:t>
              </a:r>
              <a:endParaRPr sz="1200" b="0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789D44-66D9-9342-60A3-3C27C3579953}"/>
                </a:ext>
              </a:extLst>
            </p:cNvPr>
            <p:cNvSpPr txBox="1"/>
            <p:nvPr/>
          </p:nvSpPr>
          <p:spPr>
            <a:xfrm>
              <a:off x="5884818" y="2136449"/>
              <a:ext cx="673582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 dirty="0">
                  <a:solidFill>
                    <a:srgbClr val="0F6BBF"/>
                  </a:solidFill>
                  <a:latin typeface="맑은 고딕"/>
                </a:rPr>
                <a:t>len128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2F73CE-4804-2919-103E-9A2D0FCF9F00}"/>
                </a:ext>
              </a:extLst>
            </p:cNvPr>
            <p:cNvSpPr txBox="1"/>
            <p:nvPr/>
          </p:nvSpPr>
          <p:spPr>
            <a:xfrm>
              <a:off x="7439298" y="2136449"/>
              <a:ext cx="1590500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lang="ko-KR" altLang="en-US" sz="1200" b="0" i="0" dirty="0">
                  <a:solidFill>
                    <a:srgbClr val="1A1A2E"/>
                  </a:solidFill>
                  <a:latin typeface="맑은 고딕"/>
                </a:rPr>
                <a:t>원본 </a:t>
              </a:r>
              <a:r>
                <a:rPr lang="en-US" altLang="ko-KR" sz="1200" b="0" i="0" dirty="0">
                  <a:solidFill>
                    <a:srgbClr val="1A1A2E"/>
                  </a:solidFill>
                  <a:latin typeface="맑은 고딕"/>
                </a:rPr>
                <a:t>AEC </a:t>
              </a:r>
              <a:r>
                <a:rPr lang="ko-KR" altLang="en-US" sz="1200" b="0" i="0" dirty="0">
                  <a:solidFill>
                    <a:srgbClr val="1A1A2E"/>
                  </a:solidFill>
                  <a:latin typeface="맑은 고딕"/>
                </a:rPr>
                <a:t>길이 </a:t>
              </a:r>
              <a:r>
                <a:rPr lang="en-US" altLang="ko-KR" sz="1200" b="0" i="0" dirty="0">
                  <a:solidFill>
                    <a:srgbClr val="1A1A2E"/>
                  </a:solidFill>
                  <a:latin typeface="맑은 고딕"/>
                </a:rPr>
                <a:t>(128)</a:t>
              </a:r>
              <a:endParaRPr sz="1200" b="0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61EF7C-280E-2EB6-F09A-65FD0C63C528}"/>
                </a:ext>
              </a:extLst>
            </p:cNvPr>
            <p:cNvSpPr txBox="1"/>
            <p:nvPr/>
          </p:nvSpPr>
          <p:spPr>
            <a:xfrm>
              <a:off x="5884818" y="3260328"/>
              <a:ext cx="15544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0F6BBF"/>
                  </a:solidFill>
                  <a:latin typeface="맑은 고딕"/>
                </a:rPr>
                <a:t>excl_extreme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069EF3-3A1F-88B3-551A-F09FFB9019C3}"/>
                </a:ext>
              </a:extLst>
            </p:cNvPr>
            <p:cNvSpPr txBox="1"/>
            <p:nvPr/>
          </p:nvSpPr>
          <p:spPr>
            <a:xfrm>
              <a:off x="7439298" y="3260328"/>
              <a:ext cx="356616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상하위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1%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이상치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제거</a:t>
              </a:r>
              <a:r>
                <a:rPr sz="1200" b="0" i="0" dirty="0">
                  <a:solidFill>
                    <a:srgbClr val="1A1A2E"/>
                  </a:solidFill>
                  <a:latin typeface="맑은 고딕"/>
                </a:rPr>
                <a:t> 후 </a:t>
              </a:r>
              <a:r>
                <a:rPr sz="1200" b="0" i="0" dirty="0" err="1">
                  <a:solidFill>
                    <a:srgbClr val="1A1A2E"/>
                  </a:solidFill>
                  <a:latin typeface="맑은 고딕"/>
                </a:rPr>
                <a:t>정규화</a:t>
              </a:r>
              <a:endParaRPr sz="1200" b="0" i="0" dirty="0">
                <a:solidFill>
                  <a:srgbClr val="1A1A2E"/>
                </a:solidFill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18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BDEF-35C7-C11D-0F64-7636B941A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7194BCCB-6785-A6A4-A64E-400FD0A54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ko-KR" altLang="en-US" dirty="0"/>
              <a:t>데이터 셋 구성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FF2745-FF28-6AEC-B91D-BB32ED8B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5617B0-A438-3AF0-7964-D09973ED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815C42-04AB-9F56-27D1-2558D7717352}"/>
              </a:ext>
            </a:extLst>
          </p:cNvPr>
          <p:cNvSpPr/>
          <p:nvPr/>
        </p:nvSpPr>
        <p:spPr>
          <a:xfrm>
            <a:off x="457200" y="1490472"/>
            <a:ext cx="502920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5D62623-EB76-FC59-E0F9-309672EA3147}"/>
              </a:ext>
            </a:extLst>
          </p:cNvPr>
          <p:cNvGrpSpPr/>
          <p:nvPr/>
        </p:nvGrpSpPr>
        <p:grpSpPr>
          <a:xfrm>
            <a:off x="457200" y="1759784"/>
            <a:ext cx="4245429" cy="1669216"/>
            <a:chOff x="457200" y="1344168"/>
            <a:chExt cx="5120640" cy="1243584"/>
          </a:xfrm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3F7C873D-D503-C985-0C6F-DF977BA4F082}"/>
                </a:ext>
              </a:extLst>
            </p:cNvPr>
            <p:cNvSpPr/>
            <p:nvPr/>
          </p:nvSpPr>
          <p:spPr>
            <a:xfrm>
              <a:off x="457200" y="1344168"/>
              <a:ext cx="9601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CE047B5-B074-7B7F-18ED-58FD6BA5FBC0}"/>
                </a:ext>
              </a:extLst>
            </p:cNvPr>
            <p:cNvSpPr txBox="1"/>
            <p:nvPr/>
          </p:nvSpPr>
          <p:spPr>
            <a:xfrm>
              <a:off x="457200" y="1344168"/>
              <a:ext cx="9601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 dirty="0" err="1">
                  <a:solidFill>
                    <a:srgbClr val="FFFFFF"/>
                  </a:solidFill>
                  <a:latin typeface="맑은 고딕"/>
                </a:rPr>
                <a:t>구분</a:t>
              </a:r>
              <a:endParaRPr sz="1000" b="1" i="0" dirty="0">
                <a:solidFill>
                  <a:srgbClr val="FFFFFF"/>
                </a:solidFill>
                <a:latin typeface="맑은 고딕"/>
              </a:endParaRPr>
            </a:p>
          </p:txBody>
        </p:sp>
        <p:sp>
          <p:nvSpPr>
            <p:cNvPr id="34" name="Rectangle 9">
              <a:extLst>
                <a:ext uri="{FF2B5EF4-FFF2-40B4-BE49-F238E27FC236}">
                  <a16:creationId xmlns:a16="http://schemas.microsoft.com/office/drawing/2014/main" id="{7B282BCE-B98D-457B-AFC1-628075BCEEBC}"/>
                </a:ext>
              </a:extLst>
            </p:cNvPr>
            <p:cNvSpPr/>
            <p:nvPr/>
          </p:nvSpPr>
          <p:spPr>
            <a:xfrm>
              <a:off x="1463040" y="1344168"/>
              <a:ext cx="13258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4C19CD8-F52D-3656-7296-4E8F467A14DD}"/>
                </a:ext>
              </a:extLst>
            </p:cNvPr>
            <p:cNvSpPr txBox="1"/>
            <p:nvPr/>
          </p:nvSpPr>
          <p:spPr>
            <a:xfrm>
              <a:off x="1463040" y="1344168"/>
              <a:ext cx="1325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 dirty="0" err="1">
                  <a:solidFill>
                    <a:srgbClr val="FFFFFF"/>
                  </a:solidFill>
                  <a:latin typeface="맑은 고딕"/>
                </a:rPr>
                <a:t>남성</a:t>
              </a:r>
              <a:r>
                <a:rPr sz="1000" b="1" i="0" dirty="0">
                  <a:solidFill>
                    <a:srgbClr val="FFFFFF"/>
                  </a:solidFill>
                  <a:latin typeface="맑은 고딕"/>
                </a:rPr>
                <a:t>(M)</a:t>
              </a:r>
            </a:p>
          </p:txBody>
        </p:sp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95869FC1-361A-16E9-670D-F30D66848D8E}"/>
                </a:ext>
              </a:extLst>
            </p:cNvPr>
            <p:cNvSpPr/>
            <p:nvPr/>
          </p:nvSpPr>
          <p:spPr>
            <a:xfrm>
              <a:off x="2834640" y="1344168"/>
              <a:ext cx="13258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60102D0-C137-4A50-8EF0-B8215EB75331}"/>
                </a:ext>
              </a:extLst>
            </p:cNvPr>
            <p:cNvSpPr txBox="1"/>
            <p:nvPr/>
          </p:nvSpPr>
          <p:spPr>
            <a:xfrm>
              <a:off x="2834640" y="1344168"/>
              <a:ext cx="13258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여성(F)</a:t>
              </a:r>
            </a:p>
          </p:txBody>
        </p:sp>
        <p:sp>
          <p:nvSpPr>
            <p:cNvPr id="38" name="Rectangle 13">
              <a:extLst>
                <a:ext uri="{FF2B5EF4-FFF2-40B4-BE49-F238E27FC236}">
                  <a16:creationId xmlns:a16="http://schemas.microsoft.com/office/drawing/2014/main" id="{D6F1ED25-BB71-B0B4-FF53-DC928F65F1A7}"/>
                </a:ext>
              </a:extLst>
            </p:cNvPr>
            <p:cNvSpPr/>
            <p:nvPr/>
          </p:nvSpPr>
          <p:spPr>
            <a:xfrm>
              <a:off x="4206240" y="1344168"/>
              <a:ext cx="13716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23BA52C-02D8-0481-1524-B1C4FF49A3CD}"/>
                </a:ext>
              </a:extLst>
            </p:cNvPr>
            <p:cNvSpPr txBox="1"/>
            <p:nvPr/>
          </p:nvSpPr>
          <p:spPr>
            <a:xfrm>
              <a:off x="4206240" y="1344168"/>
              <a:ext cx="13716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합계</a:t>
              </a:r>
            </a:p>
          </p:txBody>
        </p:sp>
        <p:sp>
          <p:nvSpPr>
            <p:cNvPr id="40" name="Rectangle 15">
              <a:extLst>
                <a:ext uri="{FF2B5EF4-FFF2-40B4-BE49-F238E27FC236}">
                  <a16:creationId xmlns:a16="http://schemas.microsoft.com/office/drawing/2014/main" id="{8B726830-19C2-FF35-5BC8-D921B6AAEBF5}"/>
                </a:ext>
              </a:extLst>
            </p:cNvPr>
            <p:cNvSpPr/>
            <p:nvPr/>
          </p:nvSpPr>
          <p:spPr>
            <a:xfrm>
              <a:off x="457200" y="1636776"/>
              <a:ext cx="96012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C340496-A640-2C5B-62E4-7B80ABE708F6}"/>
                </a:ext>
              </a:extLst>
            </p:cNvPr>
            <p:cNvSpPr txBox="1"/>
            <p:nvPr/>
          </p:nvSpPr>
          <p:spPr>
            <a:xfrm>
              <a:off x="457200" y="1636776"/>
              <a:ext cx="96012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Train</a:t>
              </a:r>
            </a:p>
          </p:txBody>
        </p:sp>
        <p:sp>
          <p:nvSpPr>
            <p:cNvPr id="42" name="Rectangle 17">
              <a:extLst>
                <a:ext uri="{FF2B5EF4-FFF2-40B4-BE49-F238E27FC236}">
                  <a16:creationId xmlns:a16="http://schemas.microsoft.com/office/drawing/2014/main" id="{B91F3E03-3234-129A-8832-F013510B6345}"/>
                </a:ext>
              </a:extLst>
            </p:cNvPr>
            <p:cNvSpPr/>
            <p:nvPr/>
          </p:nvSpPr>
          <p:spPr>
            <a:xfrm>
              <a:off x="1463040" y="1636776"/>
              <a:ext cx="132588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F0A8F3-7DDA-2A62-0A0B-ED6681B8BB5E}"/>
                </a:ext>
              </a:extLst>
            </p:cNvPr>
            <p:cNvSpPr txBox="1"/>
            <p:nvPr/>
          </p:nvSpPr>
          <p:spPr>
            <a:xfrm>
              <a:off x="1609242" y="1636776"/>
              <a:ext cx="1033476" cy="30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324</a:t>
              </a:r>
              <a:endParaRPr lang="en-US" sz="1050" b="0" i="0" dirty="0">
                <a:solidFill>
                  <a:srgbClr val="1A1A2E"/>
                </a:solidFill>
                <a:latin typeface="맑은 고딕"/>
              </a:endParaRPr>
            </a:p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(Sarco 15.4%)</a:t>
              </a:r>
            </a:p>
          </p:txBody>
        </p:sp>
        <p:sp>
          <p:nvSpPr>
            <p:cNvPr id="44" name="Rectangle 19">
              <a:extLst>
                <a:ext uri="{FF2B5EF4-FFF2-40B4-BE49-F238E27FC236}">
                  <a16:creationId xmlns:a16="http://schemas.microsoft.com/office/drawing/2014/main" id="{7445424A-D841-2A7F-7610-9061426B2EEC}"/>
                </a:ext>
              </a:extLst>
            </p:cNvPr>
            <p:cNvSpPr/>
            <p:nvPr/>
          </p:nvSpPr>
          <p:spPr>
            <a:xfrm>
              <a:off x="2834640" y="1636776"/>
              <a:ext cx="132588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EF172D0-9B68-FACF-F7C4-032A8C4E0CD6}"/>
                </a:ext>
              </a:extLst>
            </p:cNvPr>
            <p:cNvSpPr txBox="1"/>
            <p:nvPr/>
          </p:nvSpPr>
          <p:spPr>
            <a:xfrm>
              <a:off x="3018381" y="1636776"/>
              <a:ext cx="958397" cy="30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590</a:t>
              </a:r>
              <a:endParaRPr lang="en-US" sz="1050" b="0" i="0" dirty="0">
                <a:solidFill>
                  <a:srgbClr val="1A1A2E"/>
                </a:solidFill>
                <a:latin typeface="맑은 고딕"/>
              </a:endParaRPr>
            </a:p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(Sarco 7.8%)</a:t>
              </a:r>
            </a:p>
          </p:txBody>
        </p:sp>
        <p:sp>
          <p:nvSpPr>
            <p:cNvPr id="46" name="Rectangle 21">
              <a:extLst>
                <a:ext uri="{FF2B5EF4-FFF2-40B4-BE49-F238E27FC236}">
                  <a16:creationId xmlns:a16="http://schemas.microsoft.com/office/drawing/2014/main" id="{F4243278-CBDB-57A9-C122-6E79B7836BAC}"/>
                </a:ext>
              </a:extLst>
            </p:cNvPr>
            <p:cNvSpPr/>
            <p:nvPr/>
          </p:nvSpPr>
          <p:spPr>
            <a:xfrm>
              <a:off x="4206240" y="1636776"/>
              <a:ext cx="1371600" cy="3383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52F241D-E265-487C-C789-AD53D602207B}"/>
                </a:ext>
              </a:extLst>
            </p:cNvPr>
            <p:cNvSpPr txBox="1"/>
            <p:nvPr/>
          </p:nvSpPr>
          <p:spPr>
            <a:xfrm>
              <a:off x="4375302" y="1636776"/>
              <a:ext cx="1033476" cy="41549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914 </a:t>
              </a:r>
              <a:endParaRPr lang="en-US" sz="1050" b="0" i="0" dirty="0">
                <a:solidFill>
                  <a:srgbClr val="1A1A2E"/>
                </a:solidFill>
                <a:latin typeface="맑은 고딕"/>
              </a:endParaRPr>
            </a:p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(Sarco 10.5%)</a:t>
              </a: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68886D85-4520-D649-046B-DB96C1FB38BB}"/>
                </a:ext>
              </a:extLst>
            </p:cNvPr>
            <p:cNvSpPr/>
            <p:nvPr/>
          </p:nvSpPr>
          <p:spPr>
            <a:xfrm>
              <a:off x="457200" y="1975104"/>
              <a:ext cx="96012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35B5F86-EA8D-B815-7855-E5728039E929}"/>
                </a:ext>
              </a:extLst>
            </p:cNvPr>
            <p:cNvSpPr txBox="1"/>
            <p:nvPr/>
          </p:nvSpPr>
          <p:spPr>
            <a:xfrm>
              <a:off x="457200" y="1975104"/>
              <a:ext cx="960120" cy="33832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Test</a:t>
              </a:r>
            </a:p>
          </p:txBody>
        </p:sp>
        <p:sp>
          <p:nvSpPr>
            <p:cNvPr id="50" name="Rectangle 25">
              <a:extLst>
                <a:ext uri="{FF2B5EF4-FFF2-40B4-BE49-F238E27FC236}">
                  <a16:creationId xmlns:a16="http://schemas.microsoft.com/office/drawing/2014/main" id="{0BA66DE0-0F59-88A1-B73D-3ACC81C973C7}"/>
                </a:ext>
              </a:extLst>
            </p:cNvPr>
            <p:cNvSpPr/>
            <p:nvPr/>
          </p:nvSpPr>
          <p:spPr>
            <a:xfrm>
              <a:off x="1463040" y="1975104"/>
              <a:ext cx="132588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A0B8B67-4659-25A3-E6E9-F7D0C009C174}"/>
                </a:ext>
              </a:extLst>
            </p:cNvPr>
            <p:cNvSpPr txBox="1"/>
            <p:nvPr/>
          </p:nvSpPr>
          <p:spPr>
            <a:xfrm>
              <a:off x="1609242" y="1975104"/>
              <a:ext cx="1033476" cy="30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8</a:t>
              </a:r>
              <a:r>
                <a:rPr lang="en-US" sz="1050" b="0" i="0" dirty="0">
                  <a:solidFill>
                    <a:srgbClr val="1A1A2E"/>
                  </a:solidFill>
                  <a:latin typeface="맑은 고딕"/>
                </a:rPr>
                <a:t>2</a:t>
              </a:r>
            </a:p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(Sarco 15.9%)</a:t>
              </a:r>
            </a:p>
          </p:txBody>
        </p:sp>
        <p:sp>
          <p:nvSpPr>
            <p:cNvPr id="52" name="Rectangle 27">
              <a:extLst>
                <a:ext uri="{FF2B5EF4-FFF2-40B4-BE49-F238E27FC236}">
                  <a16:creationId xmlns:a16="http://schemas.microsoft.com/office/drawing/2014/main" id="{FBCF2263-EC79-F6FA-9528-0C7112FB4838}"/>
                </a:ext>
              </a:extLst>
            </p:cNvPr>
            <p:cNvSpPr/>
            <p:nvPr/>
          </p:nvSpPr>
          <p:spPr>
            <a:xfrm>
              <a:off x="2834640" y="1975104"/>
              <a:ext cx="132588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82D29CC-8ECD-A282-F59F-B937FA458DE8}"/>
                </a:ext>
              </a:extLst>
            </p:cNvPr>
            <p:cNvSpPr txBox="1"/>
            <p:nvPr/>
          </p:nvSpPr>
          <p:spPr>
            <a:xfrm>
              <a:off x="3018381" y="1975104"/>
              <a:ext cx="958397" cy="30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147</a:t>
              </a:r>
              <a:endParaRPr lang="en-US" sz="1050" b="0" i="0" dirty="0">
                <a:solidFill>
                  <a:srgbClr val="1A1A2E"/>
                </a:solidFill>
                <a:latin typeface="맑은 고딕"/>
              </a:endParaRPr>
            </a:p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(Sarco 7.5%)</a:t>
              </a:r>
            </a:p>
          </p:txBody>
        </p:sp>
        <p:sp>
          <p:nvSpPr>
            <p:cNvPr id="54" name="Rectangle 29">
              <a:extLst>
                <a:ext uri="{FF2B5EF4-FFF2-40B4-BE49-F238E27FC236}">
                  <a16:creationId xmlns:a16="http://schemas.microsoft.com/office/drawing/2014/main" id="{929BD421-3A0B-B4A8-3546-B688CD29B661}"/>
                </a:ext>
              </a:extLst>
            </p:cNvPr>
            <p:cNvSpPr/>
            <p:nvPr/>
          </p:nvSpPr>
          <p:spPr>
            <a:xfrm>
              <a:off x="4206240" y="1975104"/>
              <a:ext cx="1371600" cy="33832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03C8A77-8CD8-5E73-6E47-DA1AAF952490}"/>
                </a:ext>
              </a:extLst>
            </p:cNvPr>
            <p:cNvSpPr txBox="1"/>
            <p:nvPr/>
          </p:nvSpPr>
          <p:spPr>
            <a:xfrm>
              <a:off x="4375301" y="1975104"/>
              <a:ext cx="1033476" cy="30955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229</a:t>
              </a:r>
              <a:endParaRPr lang="en-US" sz="1050" b="0" i="0" dirty="0">
                <a:solidFill>
                  <a:srgbClr val="1A1A2E"/>
                </a:solidFill>
                <a:latin typeface="맑은 고딕"/>
              </a:endParaRPr>
            </a:p>
            <a:p>
              <a:pPr algn="ctr"/>
              <a:r>
                <a:rPr sz="1050" b="0" i="0" dirty="0">
                  <a:solidFill>
                    <a:srgbClr val="1A1A2E"/>
                  </a:solidFill>
                  <a:latin typeface="맑은 고딕"/>
                </a:rPr>
                <a:t>(Sarco 10.5%)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700A8D9-9097-7B33-2AFE-DBD09C01D5A9}"/>
                </a:ext>
              </a:extLst>
            </p:cNvPr>
            <p:cNvSpPr txBox="1"/>
            <p:nvPr/>
          </p:nvSpPr>
          <p:spPr>
            <a:xfrm>
              <a:off x="457200" y="2331720"/>
              <a:ext cx="50292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1" dirty="0" err="1">
                  <a:solidFill>
                    <a:srgbClr val="9EA3AB"/>
                  </a:solidFill>
                  <a:latin typeface="맑은 고딕"/>
                </a:rPr>
                <a:t>연령</a:t>
              </a:r>
              <a:r>
                <a:rPr sz="1100" b="0" i="1" dirty="0">
                  <a:solidFill>
                    <a:srgbClr val="9EA3AB"/>
                  </a:solidFill>
                  <a:latin typeface="맑은 고딕"/>
                </a:rPr>
                <a:t>: 56.95±11.86세  |  BMI: 23.58±3.17 kg/m²  |  </a:t>
              </a:r>
              <a:r>
                <a:rPr sz="1100" b="0" i="1" dirty="0" err="1">
                  <a:solidFill>
                    <a:srgbClr val="9EA3AB"/>
                  </a:solidFill>
                  <a:latin typeface="맑은 고딕"/>
                </a:rPr>
                <a:t>Train:Test</a:t>
              </a:r>
              <a:r>
                <a:rPr sz="1100" b="0" i="1" dirty="0">
                  <a:solidFill>
                    <a:srgbClr val="9EA3AB"/>
                  </a:solidFill>
                  <a:latin typeface="맑은 고딕"/>
                </a:rPr>
                <a:t> = 8:2</a:t>
              </a:r>
            </a:p>
          </p:txBody>
        </p:sp>
      </p:grpSp>
      <p:pic>
        <p:nvPicPr>
          <p:cNvPr id="58" name="Picture 59" descr="data_distribution.png">
            <a:extLst>
              <a:ext uri="{FF2B5EF4-FFF2-40B4-BE49-F238E27FC236}">
                <a16:creationId xmlns:a16="http://schemas.microsoft.com/office/drawing/2014/main" id="{0B3037FC-1708-A520-88E3-A27B90FC4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983" y="1587522"/>
            <a:ext cx="7260771" cy="480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69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BFE73-AAB1-2E33-13FB-54CD6D8B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내용 개체 틀 2">
            <a:extLst>
              <a:ext uri="{FF2B5EF4-FFF2-40B4-BE49-F238E27FC236}">
                <a16:creationId xmlns:a16="http://schemas.microsoft.com/office/drawing/2014/main" id="{BF0A3E9F-FE94-3922-C222-324477F9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AEC Scaling </a:t>
            </a:r>
            <a:r>
              <a:rPr lang="ko-KR" altLang="en-US" dirty="0"/>
              <a:t>비교 </a:t>
            </a:r>
            <a:r>
              <a:rPr lang="en-US" altLang="ko-KR" dirty="0"/>
              <a:t>– Raw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 err="1"/>
              <a:t>StandardScaler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 err="1"/>
              <a:t>StandardScaler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Row</a:t>
            </a:r>
            <a:r>
              <a:rPr lang="ko-KR" altLang="en-US" dirty="0"/>
              <a:t> </a:t>
            </a:r>
            <a:r>
              <a:rPr lang="en-US" altLang="ko-KR" dirty="0"/>
              <a:t>Normalized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58703B-D767-5A9B-4840-AF5E67AF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5F609-BF54-D687-FE10-EB10A496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40B1F54B-F460-636E-B7E7-4485F37689A9}"/>
              </a:ext>
            </a:extLst>
          </p:cNvPr>
          <p:cNvGrpSpPr/>
          <p:nvPr/>
        </p:nvGrpSpPr>
        <p:grpSpPr>
          <a:xfrm>
            <a:off x="508000" y="1598023"/>
            <a:ext cx="11176000" cy="1421677"/>
            <a:chOff x="274320" y="1593233"/>
            <a:chExt cx="11612880" cy="160020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C69511A8-A6F7-5FD3-E8E6-9048ABB557A1}"/>
                </a:ext>
              </a:extLst>
            </p:cNvPr>
            <p:cNvSpPr/>
            <p:nvPr/>
          </p:nvSpPr>
          <p:spPr>
            <a:xfrm>
              <a:off x="274320" y="1593233"/>
              <a:ext cx="11612880" cy="16002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F1BFB6-A98D-03EE-616E-B49F553F1BD8}"/>
                </a:ext>
              </a:extLst>
            </p:cNvPr>
            <p:cNvSpPr txBox="1"/>
            <p:nvPr/>
          </p:nvSpPr>
          <p:spPr>
            <a:xfrm>
              <a:off x="457200" y="1666385"/>
              <a:ext cx="109728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500" b="1" i="0" dirty="0" err="1">
                  <a:solidFill>
                    <a:srgbClr val="1A1A2E"/>
                  </a:solidFill>
                  <a:latin typeface="맑은 고딕"/>
                </a:rPr>
                <a:t>비교</a:t>
              </a:r>
              <a:r>
                <a:rPr sz="1500" b="1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500" b="1" i="0" dirty="0" err="1">
                  <a:solidFill>
                    <a:srgbClr val="1A1A2E"/>
                  </a:solidFill>
                  <a:latin typeface="맑은 고딕"/>
                </a:rPr>
                <a:t>목적</a:t>
              </a:r>
              <a:r>
                <a:rPr sz="1500" b="1" i="0" dirty="0">
                  <a:solidFill>
                    <a:srgbClr val="1A1A2E"/>
                  </a:solidFill>
                  <a:latin typeface="맑은 고딕"/>
                </a:rPr>
                <a:t> 및 </a:t>
              </a:r>
              <a:r>
                <a:rPr sz="1500" b="1" i="0" dirty="0" err="1">
                  <a:solidFill>
                    <a:srgbClr val="1A1A2E"/>
                  </a:solidFill>
                  <a:latin typeface="맑은 고딕"/>
                </a:rPr>
                <a:t>설계</a:t>
              </a:r>
              <a:endParaRPr sz="1500" b="1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269CD8D-2445-5BC1-0081-3C4F20D4147D}"/>
                </a:ext>
              </a:extLst>
            </p:cNvPr>
            <p:cNvSpPr/>
            <p:nvPr/>
          </p:nvSpPr>
          <p:spPr>
            <a:xfrm>
              <a:off x="457200" y="1986425"/>
              <a:ext cx="10972800" cy="36576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BDC02C-66B1-BBA1-12D0-CD71ECAFD426}"/>
                </a:ext>
              </a:extLst>
            </p:cNvPr>
            <p:cNvSpPr txBox="1"/>
            <p:nvPr/>
          </p:nvSpPr>
          <p:spPr>
            <a:xfrm>
              <a:off x="457200" y="2077865"/>
              <a:ext cx="10972800" cy="3108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50" b="0" i="0">
                  <a:solidFill>
                    <a:srgbClr val="1A1A2E"/>
                  </a:solidFill>
                  <a:latin typeface="맑은 고딕"/>
                </a:rPr>
                <a:t>• 모델 학습 시 실제 입력되는 AEC 데이터의 형태를 시각적으로 검증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0DFF55-09CA-2470-88F3-F9EF8DFF83C3}"/>
                </a:ext>
              </a:extLst>
            </p:cNvPr>
            <p:cNvSpPr txBox="1"/>
            <p:nvPr/>
          </p:nvSpPr>
          <p:spPr>
            <a:xfrm>
              <a:off x="457200" y="2407049"/>
              <a:ext cx="10972800" cy="3108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•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StandardScaler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 (열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방향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): 각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시간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포지션별로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표준화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 →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학습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 시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scale_aec</a:t>
              </a:r>
              <a:r>
                <a:rPr sz="1250" b="0" i="0" dirty="0">
                  <a:solidFill>
                    <a:srgbClr val="1A1A2E"/>
                  </a:solidFill>
                  <a:latin typeface="맑은 고딕"/>
                </a:rPr>
                <a:t>=True 와 </a:t>
              </a:r>
              <a:r>
                <a:rPr sz="1250" b="0" i="0" dirty="0" err="1">
                  <a:solidFill>
                    <a:srgbClr val="1A1A2E"/>
                  </a:solidFill>
                  <a:latin typeface="맑은 고딕"/>
                </a:rPr>
                <a:t>동일</a:t>
              </a:r>
              <a:endParaRPr sz="1250" b="0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DA2F23-779C-386C-5D74-22F31E38FBFC}"/>
                </a:ext>
              </a:extLst>
            </p:cNvPr>
            <p:cNvSpPr txBox="1"/>
            <p:nvPr/>
          </p:nvSpPr>
          <p:spPr>
            <a:xfrm>
              <a:off x="457200" y="2736233"/>
              <a:ext cx="10972800" cy="31089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50" b="0" i="0">
                  <a:solidFill>
                    <a:srgbClr val="1A1A2E"/>
                  </a:solidFill>
                  <a:latin typeface="맑은 고딕"/>
                </a:rPr>
                <a:t>• Std+RowNorm: 열 표준화 후 각 환자별 z-score → aec_variant('norm')과 동일한 행 방향 정규화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DCBA7D9-415F-A570-20B7-D36847EC368C}"/>
              </a:ext>
            </a:extLst>
          </p:cNvPr>
          <p:cNvGrpSpPr/>
          <p:nvPr/>
        </p:nvGrpSpPr>
        <p:grpSpPr>
          <a:xfrm>
            <a:off x="508000" y="3116642"/>
            <a:ext cx="11176000" cy="1673925"/>
            <a:chOff x="508000" y="3284873"/>
            <a:chExt cx="8760551" cy="2114716"/>
          </a:xfrm>
        </p:grpSpPr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EE97B7D4-EABF-3312-E0D6-7ECD0ACA76BC}"/>
                </a:ext>
              </a:extLst>
            </p:cNvPr>
            <p:cNvSpPr/>
            <p:nvPr/>
          </p:nvSpPr>
          <p:spPr>
            <a:xfrm>
              <a:off x="508000" y="3284873"/>
              <a:ext cx="1689395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B02DD9-7173-92EF-D51D-D7E409911CE7}"/>
                </a:ext>
              </a:extLst>
            </p:cNvPr>
            <p:cNvSpPr txBox="1"/>
            <p:nvPr/>
          </p:nvSpPr>
          <p:spPr>
            <a:xfrm>
              <a:off x="1080027" y="3284873"/>
              <a:ext cx="54534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시트명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D7B64491-38CD-E073-BAC9-E094300E280F}"/>
                </a:ext>
              </a:extLst>
            </p:cNvPr>
            <p:cNvSpPr/>
            <p:nvPr/>
          </p:nvSpPr>
          <p:spPr>
            <a:xfrm>
              <a:off x="2251063" y="3284873"/>
              <a:ext cx="2382481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4DEE94-0453-78DE-C2DF-3E766F5950AB}"/>
                </a:ext>
              </a:extLst>
            </p:cNvPr>
            <p:cNvSpPr txBox="1"/>
            <p:nvPr/>
          </p:nvSpPr>
          <p:spPr>
            <a:xfrm>
              <a:off x="3089483" y="3284873"/>
              <a:ext cx="70564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처리 방법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F18CC34B-D528-10E5-9476-BE7D6873EF4E}"/>
                </a:ext>
              </a:extLst>
            </p:cNvPr>
            <p:cNvSpPr/>
            <p:nvPr/>
          </p:nvSpPr>
          <p:spPr>
            <a:xfrm>
              <a:off x="4676861" y="3284873"/>
              <a:ext cx="2382481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D9C5943-F3B3-BBF6-8FE2-693D1C540E07}"/>
                </a:ext>
              </a:extLst>
            </p:cNvPr>
            <p:cNvSpPr txBox="1"/>
            <p:nvPr/>
          </p:nvSpPr>
          <p:spPr>
            <a:xfrm>
              <a:off x="5515281" y="3284873"/>
              <a:ext cx="70564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결과 형태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6CCDB14E-E307-1FD3-9425-447A53C99043}"/>
                </a:ext>
              </a:extLst>
            </p:cNvPr>
            <p:cNvSpPr/>
            <p:nvPr/>
          </p:nvSpPr>
          <p:spPr>
            <a:xfrm>
              <a:off x="7102660" y="3284873"/>
              <a:ext cx="2165891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15086F-11A1-2BF5-127D-D48BA6B425D6}"/>
                </a:ext>
              </a:extLst>
            </p:cNvPr>
            <p:cNvSpPr txBox="1"/>
            <p:nvPr/>
          </p:nvSpPr>
          <p:spPr>
            <a:xfrm>
              <a:off x="7832785" y="3284873"/>
              <a:ext cx="705641" cy="2616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>
                  <a:solidFill>
                    <a:srgbClr val="FFFFFF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주요 목적</a:t>
              </a: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05CC3D00-2BE6-5C98-C48E-1C2BFB3DCB15}"/>
                </a:ext>
              </a:extLst>
            </p:cNvPr>
            <p:cNvSpPr/>
            <p:nvPr/>
          </p:nvSpPr>
          <p:spPr>
            <a:xfrm>
              <a:off x="508000" y="3628372"/>
              <a:ext cx="1689395" cy="55647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D49ADC-0FF9-F9E0-C5FB-26C7B40EE928}"/>
                </a:ext>
              </a:extLst>
            </p:cNvPr>
            <p:cNvSpPr txBox="1"/>
            <p:nvPr/>
          </p:nvSpPr>
          <p:spPr>
            <a:xfrm>
              <a:off x="1133695" y="3628372"/>
              <a:ext cx="438005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raw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C54F250F-D542-AE10-633F-0A77211BF534}"/>
                </a:ext>
              </a:extLst>
            </p:cNvPr>
            <p:cNvSpPr/>
            <p:nvPr/>
          </p:nvSpPr>
          <p:spPr>
            <a:xfrm>
              <a:off x="2251063" y="3628372"/>
              <a:ext cx="2382481" cy="55647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E4E1FF0-4FE9-F3C1-D4EE-1C2AE1375A84}"/>
                </a:ext>
              </a:extLst>
            </p:cNvPr>
            <p:cNvSpPr txBox="1"/>
            <p:nvPr/>
          </p:nvSpPr>
          <p:spPr>
            <a:xfrm>
              <a:off x="3215318" y="3628372"/>
              <a:ext cx="453970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없음</a:t>
              </a: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6A2C57B4-8CF0-0B78-993C-D9807B21F718}"/>
                </a:ext>
              </a:extLst>
            </p:cNvPr>
            <p:cNvSpPr/>
            <p:nvPr/>
          </p:nvSpPr>
          <p:spPr>
            <a:xfrm>
              <a:off x="4676861" y="3628372"/>
              <a:ext cx="2382481" cy="55647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F4A963-1DDF-A83B-31F9-4F53E317C8C9}"/>
                </a:ext>
              </a:extLst>
            </p:cNvPr>
            <p:cNvSpPr txBox="1"/>
            <p:nvPr/>
          </p:nvSpPr>
          <p:spPr>
            <a:xfrm>
              <a:off x="5022293" y="3628372"/>
              <a:ext cx="1691617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환자별 절대적 AEC 수준
수치 범위 넓음</a:t>
              </a: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E49E805B-0C49-F487-B5AA-97F85CE4CF4C}"/>
                </a:ext>
              </a:extLst>
            </p:cNvPr>
            <p:cNvSpPr/>
            <p:nvPr/>
          </p:nvSpPr>
          <p:spPr>
            <a:xfrm>
              <a:off x="7102660" y="3628372"/>
              <a:ext cx="2165891" cy="556478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2F8B76-2DC8-2D3D-57C7-73C18BC6C593}"/>
                </a:ext>
              </a:extLst>
            </p:cNvPr>
            <p:cNvSpPr txBox="1"/>
            <p:nvPr/>
          </p:nvSpPr>
          <p:spPr>
            <a:xfrm>
              <a:off x="7487337" y="3628372"/>
              <a:ext cx="1396536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원본 분포 확인
스캐너 간 차이 관찰</a:t>
              </a: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C80E96F8-FFD2-7012-3466-BEB2C84EB444}"/>
                </a:ext>
              </a:extLst>
            </p:cNvPr>
            <p:cNvSpPr/>
            <p:nvPr/>
          </p:nvSpPr>
          <p:spPr>
            <a:xfrm>
              <a:off x="508000" y="4235741"/>
              <a:ext cx="1689395" cy="5564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24F33A-D74B-E4A4-7F39-ADD903F8CBD2}"/>
                </a:ext>
              </a:extLst>
            </p:cNvPr>
            <p:cNvSpPr txBox="1"/>
            <p:nvPr/>
          </p:nvSpPr>
          <p:spPr>
            <a:xfrm>
              <a:off x="745034" y="4235741"/>
              <a:ext cx="1215334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sz="1200" b="0" i="0" dirty="0" err="1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StandardScaler</a:t>
              </a:r>
              <a:endParaRPr sz="1200" b="0" i="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A6461BC7-5BE0-0870-4C7F-D0C5DAF21D9B}"/>
                </a:ext>
              </a:extLst>
            </p:cNvPr>
            <p:cNvSpPr/>
            <p:nvPr/>
          </p:nvSpPr>
          <p:spPr>
            <a:xfrm>
              <a:off x="2251063" y="4235741"/>
              <a:ext cx="2382481" cy="5564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57E86B3-B171-1C3D-DCE3-B491FFEAC74E}"/>
                </a:ext>
              </a:extLst>
            </p:cNvPr>
            <p:cNvSpPr txBox="1"/>
            <p:nvPr/>
          </p:nvSpPr>
          <p:spPr>
            <a:xfrm>
              <a:off x="2587775" y="4235741"/>
              <a:ext cx="170905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열 방향 StandardScaler
(포지션별 μ=0, σ=1)</a:t>
              </a: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C0A03257-5760-359F-8B3F-6C212FF5C5D8}"/>
                </a:ext>
              </a:extLst>
            </p:cNvPr>
            <p:cNvSpPr/>
            <p:nvPr/>
          </p:nvSpPr>
          <p:spPr>
            <a:xfrm>
              <a:off x="4676861" y="4235741"/>
              <a:ext cx="2382481" cy="5564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4740BD-1E7F-653F-24F2-0CDE6E9E8107}"/>
                </a:ext>
              </a:extLst>
            </p:cNvPr>
            <p:cNvSpPr txBox="1"/>
            <p:nvPr/>
          </p:nvSpPr>
          <p:spPr>
            <a:xfrm>
              <a:off x="5102507" y="4235741"/>
              <a:ext cx="153118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각 포지션의 상대적 값
환자 간 비교 가능</a:t>
              </a: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36DDF4AA-77C2-B6D9-46A0-DEC338BF1DED}"/>
                </a:ext>
              </a:extLst>
            </p:cNvPr>
            <p:cNvSpPr/>
            <p:nvPr/>
          </p:nvSpPr>
          <p:spPr>
            <a:xfrm>
              <a:off x="7102660" y="4235741"/>
              <a:ext cx="2165891" cy="55647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2F5C5B-88E8-BAA1-132A-F1543BB4718B}"/>
                </a:ext>
              </a:extLst>
            </p:cNvPr>
            <p:cNvSpPr txBox="1"/>
            <p:nvPr/>
          </p:nvSpPr>
          <p:spPr>
            <a:xfrm>
              <a:off x="7317355" y="4235741"/>
              <a:ext cx="1736501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모델 실제 입력값 확인
모든 AEC 모델 공통 적용</a:t>
              </a: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56541E9D-62C1-FD88-424E-F699C4605128}"/>
                </a:ext>
              </a:extLst>
            </p:cNvPr>
            <p:cNvSpPr/>
            <p:nvPr/>
          </p:nvSpPr>
          <p:spPr>
            <a:xfrm>
              <a:off x="508000" y="4843111"/>
              <a:ext cx="1689395" cy="556478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A82666B-94C9-D5DE-79F7-6C311185C203}"/>
                </a:ext>
              </a:extLst>
            </p:cNvPr>
            <p:cNvSpPr txBox="1"/>
            <p:nvPr/>
          </p:nvSpPr>
          <p:spPr>
            <a:xfrm>
              <a:off x="627724" y="4843111"/>
              <a:ext cx="144994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200" dirty="0" err="1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StandardScaler</a:t>
              </a:r>
              <a:endParaRPr lang="en-US" altLang="ko-KR" sz="1200" dirty="0">
                <a:solidFill>
                  <a:srgbClr val="1A1A2E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/>
              <a:r>
                <a:rPr lang="en-US" altLang="ko-KR" sz="1200" dirty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+ Row Normalized</a:t>
              </a: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EC65A625-6D4C-7D53-5323-EE5AF03B3A8E}"/>
                </a:ext>
              </a:extLst>
            </p:cNvPr>
            <p:cNvSpPr/>
            <p:nvPr/>
          </p:nvSpPr>
          <p:spPr>
            <a:xfrm>
              <a:off x="2251063" y="4843111"/>
              <a:ext cx="2382481" cy="556478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FC2BDF-97C4-4AF4-0064-EDCF179D5942}"/>
                </a:ext>
              </a:extLst>
            </p:cNvPr>
            <p:cNvSpPr txBox="1"/>
            <p:nvPr/>
          </p:nvSpPr>
          <p:spPr>
            <a:xfrm>
              <a:off x="2754455" y="4843111"/>
              <a:ext cx="1375698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+행 방향 z-score
(환자별 μ=0, σ=1)</a:t>
              </a: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EB3A7CE2-774D-EA51-C7A7-745D0FAB57CE}"/>
                </a:ext>
              </a:extLst>
            </p:cNvPr>
            <p:cNvSpPr/>
            <p:nvPr/>
          </p:nvSpPr>
          <p:spPr>
            <a:xfrm>
              <a:off x="4676861" y="4843111"/>
              <a:ext cx="2382481" cy="556478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210ECDE-32BA-4290-2AC6-750665244711}"/>
                </a:ext>
              </a:extLst>
            </p:cNvPr>
            <p:cNvSpPr txBox="1"/>
            <p:nvPr/>
          </p:nvSpPr>
          <p:spPr>
            <a:xfrm>
              <a:off x="5169833" y="4843111"/>
              <a:ext cx="1396536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곡선 형태만 보존
절대 수준 차이 제거</a:t>
              </a: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46CF127C-ED13-64F9-14D9-7EF7F3D75019}"/>
                </a:ext>
              </a:extLst>
            </p:cNvPr>
            <p:cNvSpPr/>
            <p:nvPr/>
          </p:nvSpPr>
          <p:spPr>
            <a:xfrm>
              <a:off x="7102660" y="4843111"/>
              <a:ext cx="2165891" cy="556478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3F99A1-C265-F20B-D120-7E07C8672D2B}"/>
                </a:ext>
              </a:extLst>
            </p:cNvPr>
            <p:cNvSpPr txBox="1"/>
            <p:nvPr/>
          </p:nvSpPr>
          <p:spPr>
            <a:xfrm>
              <a:off x="7262917" y="4843111"/>
              <a:ext cx="1845377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200" b="0" i="0">
                  <a:solidFill>
                    <a:srgbClr val="1A1A2E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norm variant 입력값 확인
스캐너 간 절대값 차이 제거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1C6D6653-8936-7380-C132-478A52F17363}"/>
              </a:ext>
            </a:extLst>
          </p:cNvPr>
          <p:cNvGrpSpPr/>
          <p:nvPr/>
        </p:nvGrpSpPr>
        <p:grpSpPr>
          <a:xfrm>
            <a:off x="508000" y="4916490"/>
            <a:ext cx="11176000" cy="1315257"/>
            <a:chOff x="274320" y="1577122"/>
            <a:chExt cx="11612880" cy="1572768"/>
          </a:xfrm>
        </p:grpSpPr>
        <p:sp>
          <p:nvSpPr>
            <p:cNvPr id="59" name="Rectangle 23">
              <a:extLst>
                <a:ext uri="{FF2B5EF4-FFF2-40B4-BE49-F238E27FC236}">
                  <a16:creationId xmlns:a16="http://schemas.microsoft.com/office/drawing/2014/main" id="{EE2815BF-F6BF-D849-3D92-A3F59FCD9A7D}"/>
                </a:ext>
              </a:extLst>
            </p:cNvPr>
            <p:cNvSpPr/>
            <p:nvPr/>
          </p:nvSpPr>
          <p:spPr>
            <a:xfrm>
              <a:off x="274320" y="1577122"/>
              <a:ext cx="11612880" cy="1572768"/>
            </a:xfrm>
            <a:prstGeom prst="rect">
              <a:avLst/>
            </a:prstGeom>
            <a:solidFill>
              <a:srgbClr val="EEF5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ectangle 24">
              <a:extLst>
                <a:ext uri="{FF2B5EF4-FFF2-40B4-BE49-F238E27FC236}">
                  <a16:creationId xmlns:a16="http://schemas.microsoft.com/office/drawing/2014/main" id="{BFDDC754-211E-9639-51ED-CFC3C282F55D}"/>
                </a:ext>
              </a:extLst>
            </p:cNvPr>
            <p:cNvSpPr/>
            <p:nvPr/>
          </p:nvSpPr>
          <p:spPr>
            <a:xfrm>
              <a:off x="274320" y="1577122"/>
              <a:ext cx="109728" cy="1572768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57DB4D-4512-24D2-1FB0-1EAED0CD8CA5}"/>
                </a:ext>
              </a:extLst>
            </p:cNvPr>
            <p:cNvSpPr txBox="1"/>
            <p:nvPr/>
          </p:nvSpPr>
          <p:spPr>
            <a:xfrm>
              <a:off x="502920" y="1641130"/>
              <a:ext cx="2234907" cy="2923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 dirty="0">
                  <a:solidFill>
                    <a:srgbClr val="1A1A2E"/>
                  </a:solidFill>
                  <a:latin typeface="맑은 고딕"/>
                </a:rPr>
                <a:t>AEC </a:t>
              </a:r>
              <a:r>
                <a:rPr sz="1300" b="1" i="0" dirty="0" err="1">
                  <a:solidFill>
                    <a:srgbClr val="1A1A2E"/>
                  </a:solidFill>
                  <a:latin typeface="맑은 고딕"/>
                </a:rPr>
                <a:t>스케일링</a:t>
              </a:r>
              <a:r>
                <a:rPr sz="1300" b="1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300" b="1" i="0" dirty="0" err="1">
                  <a:solidFill>
                    <a:srgbClr val="1A1A2E"/>
                  </a:solidFill>
                  <a:latin typeface="맑은 고딕"/>
                </a:rPr>
                <a:t>전처리</a:t>
              </a:r>
              <a:r>
                <a:rPr sz="1300" b="1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300" b="1" i="0" dirty="0" err="1">
                  <a:solidFill>
                    <a:srgbClr val="1A1A2E"/>
                  </a:solidFill>
                  <a:latin typeface="맑은 고딕"/>
                </a:rPr>
                <a:t>해석</a:t>
              </a:r>
              <a:endParaRPr sz="1300" b="1" i="0" dirty="0">
                <a:solidFill>
                  <a:srgbClr val="1A1A2E"/>
                </a:solidFill>
                <a:latin typeface="맑은 고딕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15DACFD-1CA6-19F0-65A6-69C68288E045}"/>
                </a:ext>
              </a:extLst>
            </p:cNvPr>
            <p:cNvSpPr txBox="1"/>
            <p:nvPr/>
          </p:nvSpPr>
          <p:spPr>
            <a:xfrm>
              <a:off x="502920" y="1952026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raw: 환자별 절대 AEC 수준 관찰 — 고체중·고BMI 환자에서 mAs 값 높음 (스캐너 자동 보정)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B904057-FFFD-801E-B89A-EECCFFD7E3FE}"/>
                </a:ext>
              </a:extLst>
            </p:cNvPr>
            <p:cNvSpPr txBox="1"/>
            <p:nvPr/>
          </p:nvSpPr>
          <p:spPr>
            <a:xfrm>
              <a:off x="502920" y="2299498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• std_scaled: 포지션별 평균·분산 제거 → 시간축 위치 패턴만 보존 — 모든 AEC 모델 공통 입력 형태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68DE1C2-C84C-0B7C-D42D-032ABF9B1A4E}"/>
                </a:ext>
              </a:extLst>
            </p:cNvPr>
            <p:cNvSpPr txBox="1"/>
            <p:nvPr/>
          </p:nvSpPr>
          <p:spPr>
            <a:xfrm>
              <a:off x="502920" y="2646970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•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std_norm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(norm variant):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환자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개인의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곡선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형태만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보존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→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체형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절대값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차이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제거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후 AEC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곡선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모양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비교</a:t>
              </a:r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</a:t>
              </a:r>
              <a:r>
                <a:rPr sz="1150" b="0" i="0" dirty="0" err="1">
                  <a:solidFill>
                    <a:srgbClr val="1A1A2E"/>
                  </a:solidFill>
                  <a:latin typeface="맑은 고딕"/>
                </a:rPr>
                <a:t>가능</a:t>
              </a:r>
              <a:endParaRPr sz="1150" b="0" i="0" dirty="0">
                <a:solidFill>
                  <a:srgbClr val="1A1A2E"/>
                </a:solidFill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445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37820-2D96-43E8-CE11-10649E79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DF954C-C54B-6EA6-FDCC-2DC1443A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1AD09-2FB6-B7B3-9C35-78543DC62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C8C4FBB-44A3-39B5-16A6-833433A8E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AEC </a:t>
            </a:r>
            <a:r>
              <a:rPr lang="ko-KR" altLang="en-US" dirty="0" err="1"/>
              <a:t>전처리</a:t>
            </a:r>
            <a:r>
              <a:rPr lang="ko-KR" altLang="en-US" dirty="0"/>
              <a:t> 비교</a:t>
            </a:r>
            <a:endParaRPr lang="en-US" altLang="ko-KR" dirty="0"/>
          </a:p>
          <a:p>
            <a:pPr lvl="1"/>
            <a:r>
              <a:rPr lang="en-US" altLang="ko-KR" dirty="0"/>
              <a:t>Scaling </a:t>
            </a:r>
            <a:r>
              <a:rPr lang="ko-KR" altLang="en-US" dirty="0"/>
              <a:t>변환별 평균 </a:t>
            </a:r>
            <a:r>
              <a:rPr lang="en-US" altLang="ko-KR" dirty="0"/>
              <a:t>AEC Curve (len128)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36DD8DB-2379-C8C3-5F6D-93C4356BE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3698"/>
            <a:ext cx="12192000" cy="403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4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9D03-1570-8666-8869-CEA2D810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4B149-F6E7-2374-8659-7031CC51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D490A-D81C-DC93-12C5-B65286655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F3A2CE5-BEA8-8F52-4837-6911B6FB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/>
          </a:bodyPr>
          <a:lstStyle/>
          <a:p>
            <a:r>
              <a:rPr lang="en-US" altLang="ko-KR" dirty="0"/>
              <a:t>AEC </a:t>
            </a:r>
            <a:r>
              <a:rPr lang="ko-KR" altLang="en-US" dirty="0" err="1"/>
              <a:t>전처리</a:t>
            </a:r>
            <a:r>
              <a:rPr lang="ko-KR" altLang="en-US" dirty="0"/>
              <a:t> 비교</a:t>
            </a:r>
            <a:endParaRPr lang="en-US" altLang="ko-KR" dirty="0"/>
          </a:p>
          <a:p>
            <a:pPr lvl="1"/>
            <a:r>
              <a:rPr lang="en-US" altLang="ko-KR" dirty="0"/>
              <a:t>Scaling </a:t>
            </a:r>
            <a:r>
              <a:rPr lang="ko-KR" altLang="en-US" dirty="0"/>
              <a:t>변환별 평균 </a:t>
            </a:r>
            <a:r>
              <a:rPr lang="en-US" altLang="ko-KR" dirty="0"/>
              <a:t>AEC Curve (Crop80)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4BF420-5AD1-ADE0-5EE1-FDDF65105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3698"/>
            <a:ext cx="12192000" cy="403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17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1607A-045E-7965-7092-A93C7BC93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5A664-7C44-261C-21AF-779EC599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AD2B6D-F9F3-8F7E-AE18-44A9A12ED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4D1F5514-20E1-1331-53DD-7A0783B4ADA9}"/>
              </a:ext>
            </a:extLst>
          </p:cNvPr>
          <p:cNvSpPr/>
          <p:nvPr/>
        </p:nvSpPr>
        <p:spPr>
          <a:xfrm>
            <a:off x="228601" y="905256"/>
            <a:ext cx="3789838" cy="304298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C8E665-5826-AE1A-5D57-28A67B8C9108}"/>
              </a:ext>
            </a:extLst>
          </p:cNvPr>
          <p:cNvSpPr txBox="1"/>
          <p:nvPr/>
        </p:nvSpPr>
        <p:spPr>
          <a:xfrm>
            <a:off x="301658" y="922161"/>
            <a:ext cx="3652856" cy="270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norm — 행 방향 정규화</a:t>
            </a:r>
          </a:p>
        </p:txBody>
      </p:sp>
      <p:pic>
        <p:nvPicPr>
          <p:cNvPr id="20" name="Picture 6" descr="roc_all_models_norm.png">
            <a:extLst>
              <a:ext uri="{FF2B5EF4-FFF2-40B4-BE49-F238E27FC236}">
                <a16:creationId xmlns:a16="http://schemas.microsoft.com/office/drawing/2014/main" id="{43AB7DCE-99F4-EFDA-19F8-49E0A056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1226460"/>
            <a:ext cx="3789838" cy="2349854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AD8B2B38-3D48-7F04-068E-3722DD7A00BE}"/>
              </a:ext>
            </a:extLst>
          </p:cNvPr>
          <p:cNvSpPr/>
          <p:nvPr/>
        </p:nvSpPr>
        <p:spPr>
          <a:xfrm>
            <a:off x="4201082" y="905256"/>
            <a:ext cx="3789838" cy="304298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72E0E6-9058-A347-D10D-9039070EAAF4}"/>
              </a:ext>
            </a:extLst>
          </p:cNvPr>
          <p:cNvSpPr txBox="1"/>
          <p:nvPr/>
        </p:nvSpPr>
        <p:spPr>
          <a:xfrm>
            <a:off x="4274139" y="922161"/>
            <a:ext cx="3652856" cy="270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crop80 — 중앙 80% 구간</a:t>
            </a:r>
          </a:p>
        </p:txBody>
      </p:sp>
      <p:pic>
        <p:nvPicPr>
          <p:cNvPr id="23" name="Picture 9" descr="roc_all_models_crop80.png">
            <a:extLst>
              <a:ext uri="{FF2B5EF4-FFF2-40B4-BE49-F238E27FC236}">
                <a16:creationId xmlns:a16="http://schemas.microsoft.com/office/drawing/2014/main" id="{1CEBAB5D-E555-CA1B-AF63-752AE4927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082" y="1226460"/>
            <a:ext cx="3789838" cy="2349854"/>
          </a:xfrm>
          <a:prstGeom prst="rect">
            <a:avLst/>
          </a:prstGeom>
        </p:spPr>
      </p:pic>
      <p:sp>
        <p:nvSpPr>
          <p:cNvPr id="24" name="Rectangle 10">
            <a:extLst>
              <a:ext uri="{FF2B5EF4-FFF2-40B4-BE49-F238E27FC236}">
                <a16:creationId xmlns:a16="http://schemas.microsoft.com/office/drawing/2014/main" id="{FABB0F31-801D-3A84-4639-1BCB8B2152AC}"/>
              </a:ext>
            </a:extLst>
          </p:cNvPr>
          <p:cNvSpPr/>
          <p:nvPr/>
        </p:nvSpPr>
        <p:spPr>
          <a:xfrm>
            <a:off x="8173563" y="905256"/>
            <a:ext cx="3789838" cy="304298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C64C24-343A-246F-2730-AF5F29C1B98C}"/>
              </a:ext>
            </a:extLst>
          </p:cNvPr>
          <p:cNvSpPr txBox="1"/>
          <p:nvPr/>
        </p:nvSpPr>
        <p:spPr>
          <a:xfrm>
            <a:off x="8246620" y="922161"/>
            <a:ext cx="3652856" cy="270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crop60 — 중앙 60% 구간</a:t>
            </a:r>
          </a:p>
        </p:txBody>
      </p:sp>
      <p:pic>
        <p:nvPicPr>
          <p:cNvPr id="26" name="Picture 12" descr="roc_all_models_crop60.png">
            <a:extLst>
              <a:ext uri="{FF2B5EF4-FFF2-40B4-BE49-F238E27FC236}">
                <a16:creationId xmlns:a16="http://schemas.microsoft.com/office/drawing/2014/main" id="{E6B1AAA2-11AB-10E6-AD9F-4D8F37B90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3563" y="1226460"/>
            <a:ext cx="3789838" cy="2349854"/>
          </a:xfrm>
          <a:prstGeom prst="rect">
            <a:avLst/>
          </a:prstGeom>
        </p:spPr>
      </p:pic>
      <p:sp>
        <p:nvSpPr>
          <p:cNvPr id="27" name="Rectangle 13">
            <a:extLst>
              <a:ext uri="{FF2B5EF4-FFF2-40B4-BE49-F238E27FC236}">
                <a16:creationId xmlns:a16="http://schemas.microsoft.com/office/drawing/2014/main" id="{69D377B7-C6EC-3C51-182A-4FF8E7601ECE}"/>
              </a:ext>
            </a:extLst>
          </p:cNvPr>
          <p:cNvSpPr/>
          <p:nvPr/>
        </p:nvSpPr>
        <p:spPr>
          <a:xfrm>
            <a:off x="228601" y="3616102"/>
            <a:ext cx="3789838" cy="30429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C724E3-18F2-D8B8-D709-5D7A741608BF}"/>
              </a:ext>
            </a:extLst>
          </p:cNvPr>
          <p:cNvSpPr txBox="1"/>
          <p:nvPr/>
        </p:nvSpPr>
        <p:spPr>
          <a:xfrm>
            <a:off x="301658" y="3627030"/>
            <a:ext cx="3652856" cy="270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len128 — 선형 보간 128pt</a:t>
            </a:r>
          </a:p>
        </p:txBody>
      </p:sp>
      <p:pic>
        <p:nvPicPr>
          <p:cNvPr id="29" name="Picture 15" descr="roc_all_models_len128.png">
            <a:extLst>
              <a:ext uri="{FF2B5EF4-FFF2-40B4-BE49-F238E27FC236}">
                <a16:creationId xmlns:a16="http://schemas.microsoft.com/office/drawing/2014/main" id="{25A16CFA-E885-30E1-F0CF-326A5BC082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1" y="3956686"/>
            <a:ext cx="3789838" cy="2400571"/>
          </a:xfrm>
          <a:prstGeom prst="rect">
            <a:avLst/>
          </a:prstGeom>
        </p:spPr>
      </p:pic>
      <p:sp>
        <p:nvSpPr>
          <p:cNvPr id="30" name="Rectangle 16">
            <a:extLst>
              <a:ext uri="{FF2B5EF4-FFF2-40B4-BE49-F238E27FC236}">
                <a16:creationId xmlns:a16="http://schemas.microsoft.com/office/drawing/2014/main" id="{8D6B0BF6-310F-B806-0296-D89237861048}"/>
              </a:ext>
            </a:extLst>
          </p:cNvPr>
          <p:cNvSpPr/>
          <p:nvPr/>
        </p:nvSpPr>
        <p:spPr>
          <a:xfrm>
            <a:off x="4201082" y="3616102"/>
            <a:ext cx="3789838" cy="30429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2434DC-8180-EAD1-816B-73C6462B1B61}"/>
              </a:ext>
            </a:extLst>
          </p:cNvPr>
          <p:cNvSpPr txBox="1"/>
          <p:nvPr/>
        </p:nvSpPr>
        <p:spPr>
          <a:xfrm>
            <a:off x="4274139" y="3627030"/>
            <a:ext cx="3652856" cy="270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excl_extreme — 극단 제외</a:t>
            </a:r>
          </a:p>
        </p:txBody>
      </p:sp>
      <p:pic>
        <p:nvPicPr>
          <p:cNvPr id="42" name="Picture 18" descr="roc_all_models_excl_extreme.png">
            <a:extLst>
              <a:ext uri="{FF2B5EF4-FFF2-40B4-BE49-F238E27FC236}">
                <a16:creationId xmlns:a16="http://schemas.microsoft.com/office/drawing/2014/main" id="{C97CB356-6257-34A8-C898-795D7B1041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1082" y="3956686"/>
            <a:ext cx="3789838" cy="2400571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71E11902-BAD0-F1CA-1979-4F14F1CB3932}"/>
              </a:ext>
            </a:extLst>
          </p:cNvPr>
          <p:cNvGrpSpPr/>
          <p:nvPr/>
        </p:nvGrpSpPr>
        <p:grpSpPr>
          <a:xfrm>
            <a:off x="8173563" y="3627030"/>
            <a:ext cx="3789838" cy="2730227"/>
            <a:chOff x="8173563" y="3525598"/>
            <a:chExt cx="3789838" cy="2831659"/>
          </a:xfrm>
        </p:grpSpPr>
        <p:sp>
          <p:nvSpPr>
            <p:cNvPr id="43" name="Rectangle 19">
              <a:extLst>
                <a:ext uri="{FF2B5EF4-FFF2-40B4-BE49-F238E27FC236}">
                  <a16:creationId xmlns:a16="http://schemas.microsoft.com/office/drawing/2014/main" id="{F6BF19DE-B46F-FD9D-A89F-133AB9B6C55B}"/>
                </a:ext>
              </a:extLst>
            </p:cNvPr>
            <p:cNvSpPr/>
            <p:nvPr/>
          </p:nvSpPr>
          <p:spPr>
            <a:xfrm>
              <a:off x="8173563" y="3525598"/>
              <a:ext cx="3789838" cy="2831659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4DC8333-D7C4-3A85-38CA-5C356868CBA4}"/>
                </a:ext>
              </a:extLst>
            </p:cNvPr>
            <p:cNvSpPr txBox="1"/>
            <p:nvPr/>
          </p:nvSpPr>
          <p:spPr>
            <a:xfrm>
              <a:off x="8310546" y="3593219"/>
              <a:ext cx="3470214" cy="25358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00" b="1" i="0">
                  <a:solidFill>
                    <a:srgbClr val="1A1A2E"/>
                  </a:solidFill>
                  <a:latin typeface="맑은 고딕"/>
                </a:rPr>
                <a:t>조건별 요약</a:t>
              </a:r>
            </a:p>
          </p:txBody>
        </p:sp>
        <p:sp>
          <p:nvSpPr>
            <p:cNvPr id="45" name="Rectangle 21">
              <a:extLst>
                <a:ext uri="{FF2B5EF4-FFF2-40B4-BE49-F238E27FC236}">
                  <a16:creationId xmlns:a16="http://schemas.microsoft.com/office/drawing/2014/main" id="{47DFB220-1E0D-DFE7-2BA8-64EEA50C4C3D}"/>
                </a:ext>
              </a:extLst>
            </p:cNvPr>
            <p:cNvSpPr/>
            <p:nvPr/>
          </p:nvSpPr>
          <p:spPr>
            <a:xfrm>
              <a:off x="8310546" y="3863706"/>
              <a:ext cx="3470214" cy="33811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B5ED531-7389-8461-7ECB-6AF71ADC9D10}"/>
                </a:ext>
              </a:extLst>
            </p:cNvPr>
            <p:cNvSpPr txBox="1"/>
            <p:nvPr/>
          </p:nvSpPr>
          <p:spPr>
            <a:xfrm>
              <a:off x="8310546" y="3956686"/>
              <a:ext cx="3470214" cy="3381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맑은 고딕"/>
                </a:rPr>
                <a:t>• norm: M3(0.846) p=0.066 †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C36C42E-E90F-CA3D-CAC4-1F50F1146651}"/>
                </a:ext>
              </a:extLst>
            </p:cNvPr>
            <p:cNvSpPr txBox="1"/>
            <p:nvPr/>
          </p:nvSpPr>
          <p:spPr>
            <a:xfrm>
              <a:off x="8310546" y="4311700"/>
              <a:ext cx="3470214" cy="3381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 dirty="0">
                  <a:solidFill>
                    <a:srgbClr val="1A1A2E"/>
                  </a:solidFill>
                  <a:latin typeface="맑은 고딕"/>
                </a:rPr>
                <a:t>• len128: M2(0.791) M3(0.803), ns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D051018-7D01-5ADB-1052-F30A417070DC}"/>
                </a:ext>
              </a:extLst>
            </p:cNvPr>
            <p:cNvSpPr txBox="1"/>
            <p:nvPr/>
          </p:nvSpPr>
          <p:spPr>
            <a:xfrm>
              <a:off x="8310546" y="4666714"/>
              <a:ext cx="3470214" cy="3381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맑은 고딕"/>
                </a:rPr>
                <a:t>• crop80: M2(0.769) M3(0.783), ns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36308C-57B0-9A7A-DAA9-9C4148BBE92D}"/>
                </a:ext>
              </a:extLst>
            </p:cNvPr>
            <p:cNvSpPr txBox="1"/>
            <p:nvPr/>
          </p:nvSpPr>
          <p:spPr>
            <a:xfrm>
              <a:off x="8310546" y="5021727"/>
              <a:ext cx="3470214" cy="3381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맑은 고딕"/>
                </a:rPr>
                <a:t>• crop60: M2(0.793)&gt;M3(0.789), p=0.870 ns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A573D3E-4AD4-78E9-9C1D-9538053442B1}"/>
                </a:ext>
              </a:extLst>
            </p:cNvPr>
            <p:cNvSpPr txBox="1"/>
            <p:nvPr/>
          </p:nvSpPr>
          <p:spPr>
            <a:xfrm>
              <a:off x="8310546" y="5376741"/>
              <a:ext cx="3470214" cy="3381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맑은 고딕"/>
                </a:rPr>
                <a:t>• excl_extreme: M2 vs M2_2 p&lt;0.001 ***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1D134F1-3F83-F822-312B-C6572CDDEB32}"/>
                </a:ext>
              </a:extLst>
            </p:cNvPr>
            <p:cNvSpPr txBox="1"/>
            <p:nvPr/>
          </p:nvSpPr>
          <p:spPr>
            <a:xfrm>
              <a:off x="8310546" y="5731755"/>
              <a:ext cx="3470214" cy="33810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00" b="0" i="0">
                  <a:solidFill>
                    <a:srgbClr val="1A1A2E"/>
                  </a:solidFill>
                  <a:latin typeface="맑은 고딕"/>
                </a:rPr>
                <a:t>  (M2_2 AUC 0.806 — 매칭 효과 검증)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88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9F3BA-1ED7-3DA1-7A91-EF6E11A16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Picture 95" descr="roc_all_models_norm.png">
            <a:extLst>
              <a:ext uri="{FF2B5EF4-FFF2-40B4-BE49-F238E27FC236}">
                <a16:creationId xmlns:a16="http://schemas.microsoft.com/office/drawing/2014/main" id="{E6BD9125-EEEA-0E09-D275-F44FC477D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8" y="3708898"/>
            <a:ext cx="3566160" cy="257238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EEBD04-4480-D036-7AC8-ADDD10A2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303ECC-83DE-3243-5347-60109977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80" name="Rectangle 4">
            <a:extLst>
              <a:ext uri="{FF2B5EF4-FFF2-40B4-BE49-F238E27FC236}">
                <a16:creationId xmlns:a16="http://schemas.microsoft.com/office/drawing/2014/main" id="{278E5181-8D52-7AEC-3541-88794D7D0AEF}"/>
              </a:ext>
            </a:extLst>
          </p:cNvPr>
          <p:cNvSpPr/>
          <p:nvPr/>
        </p:nvSpPr>
        <p:spPr>
          <a:xfrm>
            <a:off x="274320" y="905256"/>
            <a:ext cx="11612880" cy="59436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56D62FA1-B4B4-D71D-3D84-5A86E1B48828}"/>
              </a:ext>
            </a:extLst>
          </p:cNvPr>
          <p:cNvSpPr/>
          <p:nvPr/>
        </p:nvSpPr>
        <p:spPr>
          <a:xfrm>
            <a:off x="274320" y="905256"/>
            <a:ext cx="109728" cy="5943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B19BB67-B302-4A46-A4DB-3180B216EFBD}"/>
              </a:ext>
            </a:extLst>
          </p:cNvPr>
          <p:cNvSpPr txBox="1"/>
          <p:nvPr/>
        </p:nvSpPr>
        <p:spPr>
          <a:xfrm>
            <a:off x="502920" y="1056354"/>
            <a:ext cx="79651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 dirty="0">
                <a:solidFill>
                  <a:srgbClr val="1A1A2E"/>
                </a:solidFill>
                <a:latin typeface="맑은 고딕"/>
              </a:rPr>
              <a:t>AEC 128pt + norm:  M1→M2 p=0.05</a:t>
            </a:r>
            <a:r>
              <a:rPr lang="en-US" sz="1300" b="1" i="0" dirty="0">
                <a:solidFill>
                  <a:srgbClr val="1A1A2E"/>
                </a:solidFill>
                <a:latin typeface="맑은 고딕"/>
              </a:rPr>
              <a:t>1</a:t>
            </a:r>
            <a:r>
              <a:rPr sz="1300" b="1" i="0" dirty="0">
                <a:solidFill>
                  <a:srgbClr val="1A1A2E"/>
                </a:solidFill>
                <a:latin typeface="맑은 고딕"/>
              </a:rPr>
              <a:t> (†) — marginal significance  |  M</a:t>
            </a:r>
            <a:r>
              <a:rPr lang="en-US" sz="1300" b="1" i="0" dirty="0">
                <a:solidFill>
                  <a:srgbClr val="1A1A2E"/>
                </a:solidFill>
                <a:latin typeface="맑은 고딕"/>
              </a:rPr>
              <a:t>2</a:t>
            </a:r>
            <a:r>
              <a:rPr sz="1300" b="1" i="0" dirty="0">
                <a:solidFill>
                  <a:srgbClr val="1A1A2E"/>
                </a:solidFill>
                <a:latin typeface="맑은 고딕"/>
              </a:rPr>
              <a:t> best overall AUC 0.8</a:t>
            </a:r>
            <a:r>
              <a:rPr lang="en-US" sz="1300" b="1" i="0" dirty="0">
                <a:solidFill>
                  <a:srgbClr val="1A1A2E"/>
                </a:solidFill>
                <a:latin typeface="맑은 고딕"/>
              </a:rPr>
              <a:t>43</a:t>
            </a:r>
            <a:r>
              <a:rPr sz="1300" b="1" i="0" dirty="0">
                <a:solidFill>
                  <a:srgbClr val="1A1A2E"/>
                </a:solidFill>
                <a:latin typeface="맑은 고딕"/>
              </a:rPr>
              <a:t>5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D20450F8-0723-87EF-7AA5-C2B12ABA0557}"/>
              </a:ext>
            </a:extLst>
          </p:cNvPr>
          <p:cNvSpPr txBox="1"/>
          <p:nvPr/>
        </p:nvSpPr>
        <p:spPr>
          <a:xfrm>
            <a:off x="896666" y="3429000"/>
            <a:ext cx="23214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 dirty="0">
                <a:solidFill>
                  <a:srgbClr val="1A1A2E"/>
                </a:solidFill>
                <a:latin typeface="맑은 고딕"/>
              </a:rPr>
              <a:t>ROC — norm  (M1·M2·M2₂·M3)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016D5890-E2A7-F18B-B82F-845391FE2BF8}"/>
              </a:ext>
            </a:extLst>
          </p:cNvPr>
          <p:cNvSpPr txBox="1"/>
          <p:nvPr/>
        </p:nvSpPr>
        <p:spPr>
          <a:xfrm>
            <a:off x="4627956" y="3447288"/>
            <a:ext cx="28504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 dirty="0">
                <a:latin typeface="맑은 고딕"/>
              </a:rPr>
              <a:t>Calibration — M</a:t>
            </a:r>
            <a:r>
              <a:rPr lang="en-US" sz="1100" b="1" i="0" dirty="0">
                <a:latin typeface="맑은 고딕"/>
              </a:rPr>
              <a:t>3</a:t>
            </a:r>
            <a:r>
              <a:rPr sz="1100" b="1" i="0" dirty="0">
                <a:latin typeface="맑은 고딕"/>
              </a:rPr>
              <a:t>  norm  (Brier 0.19</a:t>
            </a:r>
            <a:r>
              <a:rPr lang="en-US" sz="1100" b="1" i="0" dirty="0">
                <a:latin typeface="맑은 고딕"/>
              </a:rPr>
              <a:t>0</a:t>
            </a:r>
            <a:r>
              <a:rPr sz="1100" b="1" i="0" dirty="0">
                <a:latin typeface="맑은 고딕"/>
              </a:rPr>
              <a:t>2)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1098BF14-8A90-7E70-8A99-133341CBE267}"/>
              </a:ext>
            </a:extLst>
          </p:cNvPr>
          <p:cNvGrpSpPr/>
          <p:nvPr/>
        </p:nvGrpSpPr>
        <p:grpSpPr>
          <a:xfrm>
            <a:off x="274320" y="1577340"/>
            <a:ext cx="11612880" cy="1773936"/>
            <a:chOff x="274320" y="905256"/>
            <a:chExt cx="11795760" cy="1773936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E1C5E023-2BEE-DEB9-B800-715665B50951}"/>
                </a:ext>
              </a:extLst>
            </p:cNvPr>
            <p:cNvSpPr/>
            <p:nvPr/>
          </p:nvSpPr>
          <p:spPr>
            <a:xfrm>
              <a:off x="274320" y="905256"/>
              <a:ext cx="14173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A5C0EFE-8A4B-239C-0657-48CC69B38DF9}"/>
                </a:ext>
              </a:extLst>
            </p:cNvPr>
            <p:cNvSpPr txBox="1"/>
            <p:nvPr/>
          </p:nvSpPr>
          <p:spPr>
            <a:xfrm>
              <a:off x="274320" y="905256"/>
              <a:ext cx="14173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모델</a:t>
              </a: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BD217ECF-D90A-7D67-8E5F-B176F5FD4923}"/>
                </a:ext>
              </a:extLst>
            </p:cNvPr>
            <p:cNvSpPr/>
            <p:nvPr/>
          </p:nvSpPr>
          <p:spPr>
            <a:xfrm>
              <a:off x="1737360" y="905256"/>
              <a:ext cx="10058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B19448-26DB-77FC-A9BE-6AF5F207D54B}"/>
                </a:ext>
              </a:extLst>
            </p:cNvPr>
            <p:cNvSpPr txBox="1"/>
            <p:nvPr/>
          </p:nvSpPr>
          <p:spPr>
            <a:xfrm>
              <a:off x="1737360" y="905256"/>
              <a:ext cx="10058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AUC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47B6481C-EFB2-AB14-DCB8-69E26A53E502}"/>
                </a:ext>
              </a:extLst>
            </p:cNvPr>
            <p:cNvSpPr/>
            <p:nvPr/>
          </p:nvSpPr>
          <p:spPr>
            <a:xfrm>
              <a:off x="2788920" y="905256"/>
              <a:ext cx="137160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FAFB95-980E-8D51-ABFF-6D958CFD419E}"/>
                </a:ext>
              </a:extLst>
            </p:cNvPr>
            <p:cNvSpPr txBox="1"/>
            <p:nvPr/>
          </p:nvSpPr>
          <p:spPr>
            <a:xfrm>
              <a:off x="2788920" y="905256"/>
              <a:ext cx="13716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95% CI AUC</a:t>
              </a: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12A49C0D-9829-A655-4B75-A7B692FD1006}"/>
                </a:ext>
              </a:extLst>
            </p:cNvPr>
            <p:cNvSpPr/>
            <p:nvPr/>
          </p:nvSpPr>
          <p:spPr>
            <a:xfrm>
              <a:off x="4206240" y="905256"/>
              <a:ext cx="10058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4C9C5A-AC0B-4997-67EA-3D4848D24C8A}"/>
                </a:ext>
              </a:extLst>
            </p:cNvPr>
            <p:cNvSpPr txBox="1"/>
            <p:nvPr/>
          </p:nvSpPr>
          <p:spPr>
            <a:xfrm>
              <a:off x="4206240" y="905256"/>
              <a:ext cx="10058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9472DA80-720C-F20E-DE3F-A654956C3A11}"/>
                </a:ext>
              </a:extLst>
            </p:cNvPr>
            <p:cNvSpPr/>
            <p:nvPr/>
          </p:nvSpPr>
          <p:spPr>
            <a:xfrm>
              <a:off x="5257800" y="905256"/>
              <a:ext cx="9601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4E85ED3-A97F-6A8E-00E1-41095D719985}"/>
                </a:ext>
              </a:extLst>
            </p:cNvPr>
            <p:cNvSpPr txBox="1"/>
            <p:nvPr/>
          </p:nvSpPr>
          <p:spPr>
            <a:xfrm>
              <a:off x="5257800" y="905256"/>
              <a:ext cx="960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67179DBB-CB00-6A19-1EFB-E1A47CACD12D}"/>
                </a:ext>
              </a:extLst>
            </p:cNvPr>
            <p:cNvSpPr/>
            <p:nvPr/>
          </p:nvSpPr>
          <p:spPr>
            <a:xfrm>
              <a:off x="6263640" y="905256"/>
              <a:ext cx="96012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0E829E-235B-064C-25DB-B9CC1E916413}"/>
                </a:ext>
              </a:extLst>
            </p:cNvPr>
            <p:cNvSpPr txBox="1"/>
            <p:nvPr/>
          </p:nvSpPr>
          <p:spPr>
            <a:xfrm>
              <a:off x="6263640" y="905256"/>
              <a:ext cx="96012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E67EDEA5-1C86-7557-8D13-3D238193D26E}"/>
                </a:ext>
              </a:extLst>
            </p:cNvPr>
            <p:cNvSpPr/>
            <p:nvPr/>
          </p:nvSpPr>
          <p:spPr>
            <a:xfrm>
              <a:off x="7269480" y="905256"/>
              <a:ext cx="150876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5288EA-A98C-6A9C-4709-1F6B8A1118ED}"/>
                </a:ext>
              </a:extLst>
            </p:cNvPr>
            <p:cNvSpPr txBox="1"/>
            <p:nvPr/>
          </p:nvSpPr>
          <p:spPr>
            <a:xfrm>
              <a:off x="7269480" y="905256"/>
              <a:ext cx="15087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vs M1 Δ AUC</a:t>
              </a:r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CDA64B56-44F7-9670-50DB-87C8D771542B}"/>
                </a:ext>
              </a:extLst>
            </p:cNvPr>
            <p:cNvSpPr/>
            <p:nvPr/>
          </p:nvSpPr>
          <p:spPr>
            <a:xfrm>
              <a:off x="8823960" y="905256"/>
              <a:ext cx="150876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0CE4BD4-AAC1-3563-7EBF-7A8F4FA4999D}"/>
                </a:ext>
              </a:extLst>
            </p:cNvPr>
            <p:cNvSpPr txBox="1"/>
            <p:nvPr/>
          </p:nvSpPr>
          <p:spPr>
            <a:xfrm>
              <a:off x="8823960" y="905256"/>
              <a:ext cx="150876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 dirty="0">
                  <a:solidFill>
                    <a:srgbClr val="FFFFFF"/>
                  </a:solidFill>
                  <a:latin typeface="맑은 고딕"/>
                </a:rPr>
                <a:t>vs M1 DeLong p</a:t>
              </a:r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46B5176A-FE61-6983-4E32-16CFE4FF6AC3}"/>
                </a:ext>
              </a:extLst>
            </p:cNvPr>
            <p:cNvSpPr/>
            <p:nvPr/>
          </p:nvSpPr>
          <p:spPr>
            <a:xfrm>
              <a:off x="10378440" y="905256"/>
              <a:ext cx="1691640" cy="292608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027518-B5D8-0AD7-F58A-4AAB7F773EDC}"/>
                </a:ext>
              </a:extLst>
            </p:cNvPr>
            <p:cNvSpPr txBox="1"/>
            <p:nvPr/>
          </p:nvSpPr>
          <p:spPr>
            <a:xfrm>
              <a:off x="10378440" y="905256"/>
              <a:ext cx="169164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비고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8B1F314F-019A-C1E6-FDBE-9BE2C86C9134}"/>
                </a:ext>
              </a:extLst>
            </p:cNvPr>
            <p:cNvSpPr/>
            <p:nvPr/>
          </p:nvSpPr>
          <p:spPr>
            <a:xfrm>
              <a:off x="274320" y="1216152"/>
              <a:ext cx="14173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61FE78E-43FD-54E7-0DFC-1185C79ABA4C}"/>
                </a:ext>
              </a:extLst>
            </p:cNvPr>
            <p:cNvSpPr txBox="1"/>
            <p:nvPr/>
          </p:nvSpPr>
          <p:spPr>
            <a:xfrm>
              <a:off x="274320" y="121615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M1 (LR)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60E5072D-859E-6AD9-1D7E-A721186F3C0B}"/>
                </a:ext>
              </a:extLst>
            </p:cNvPr>
            <p:cNvSpPr/>
            <p:nvPr/>
          </p:nvSpPr>
          <p:spPr>
            <a:xfrm>
              <a:off x="1737360" y="1216152"/>
              <a:ext cx="100584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F117EA0-909D-115A-0697-969DF82C9781}"/>
                </a:ext>
              </a:extLst>
            </p:cNvPr>
            <p:cNvSpPr txBox="1"/>
            <p:nvPr/>
          </p:nvSpPr>
          <p:spPr>
            <a:xfrm>
              <a:off x="1929122" y="1216152"/>
              <a:ext cx="62231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 dirty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F977DEE3-ABD4-5C67-DE48-8371614EF517}"/>
                </a:ext>
              </a:extLst>
            </p:cNvPr>
            <p:cNvSpPr/>
            <p:nvPr/>
          </p:nvSpPr>
          <p:spPr>
            <a:xfrm>
              <a:off x="2788920" y="1216152"/>
              <a:ext cx="13716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E134E08-EEC3-052A-4D73-0642F4691122}"/>
                </a:ext>
              </a:extLst>
            </p:cNvPr>
            <p:cNvSpPr txBox="1"/>
            <p:nvPr/>
          </p:nvSpPr>
          <p:spPr>
            <a:xfrm>
              <a:off x="2788920" y="121615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[0.720,0.872]</a:t>
              </a: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31F20CB2-DCC4-6BF9-3DE1-7B9F54711008}"/>
                </a:ext>
              </a:extLst>
            </p:cNvPr>
            <p:cNvSpPr/>
            <p:nvPr/>
          </p:nvSpPr>
          <p:spPr>
            <a:xfrm>
              <a:off x="4206240" y="1216152"/>
              <a:ext cx="100584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032708B-B176-DE88-F663-D32A141887DF}"/>
                </a:ext>
              </a:extLst>
            </p:cNvPr>
            <p:cNvSpPr txBox="1"/>
            <p:nvPr/>
          </p:nvSpPr>
          <p:spPr>
            <a:xfrm>
              <a:off x="4206240" y="121615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0.3123</a:t>
              </a: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E64B3C54-4DDE-A42C-F0B0-399320057810}"/>
                </a:ext>
              </a:extLst>
            </p:cNvPr>
            <p:cNvSpPr/>
            <p:nvPr/>
          </p:nvSpPr>
          <p:spPr>
            <a:xfrm>
              <a:off x="5257800" y="1216152"/>
              <a:ext cx="9601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6E104C-E57C-A62F-74A4-959A0009D432}"/>
                </a:ext>
              </a:extLst>
            </p:cNvPr>
            <p:cNvSpPr txBox="1"/>
            <p:nvPr/>
          </p:nvSpPr>
          <p:spPr>
            <a:xfrm>
              <a:off x="5257800" y="121615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0.1913</a:t>
              </a: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348C9EF9-48E8-4A5B-04CC-BF95AEA2F70A}"/>
                </a:ext>
              </a:extLst>
            </p:cNvPr>
            <p:cNvSpPr/>
            <p:nvPr/>
          </p:nvSpPr>
          <p:spPr>
            <a:xfrm>
              <a:off x="6263640" y="1216152"/>
              <a:ext cx="9601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55D08C-9781-65F1-C50B-71FBA9CC189D}"/>
                </a:ext>
              </a:extLst>
            </p:cNvPr>
            <p:cNvSpPr txBox="1"/>
            <p:nvPr/>
          </p:nvSpPr>
          <p:spPr>
            <a:xfrm>
              <a:off x="6263640" y="121615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0.3725</a:t>
              </a: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594D328B-DFC9-A0D6-F8FE-1C3CC68ECB0D}"/>
                </a:ext>
              </a:extLst>
            </p:cNvPr>
            <p:cNvSpPr/>
            <p:nvPr/>
          </p:nvSpPr>
          <p:spPr>
            <a:xfrm>
              <a:off x="7269480" y="1216152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70E057E-4538-1472-B3F3-61AA9983A4AE}"/>
                </a:ext>
              </a:extLst>
            </p:cNvPr>
            <p:cNvSpPr txBox="1"/>
            <p:nvPr/>
          </p:nvSpPr>
          <p:spPr>
            <a:xfrm>
              <a:off x="7269480" y="121615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217B8548-2D42-34B9-5533-9F33E777909C}"/>
                </a:ext>
              </a:extLst>
            </p:cNvPr>
            <p:cNvSpPr/>
            <p:nvPr/>
          </p:nvSpPr>
          <p:spPr>
            <a:xfrm>
              <a:off x="8823960" y="1216152"/>
              <a:ext cx="150876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4EECEE-9605-C163-D616-3EEFFA353826}"/>
                </a:ext>
              </a:extLst>
            </p:cNvPr>
            <p:cNvSpPr txBox="1"/>
            <p:nvPr/>
          </p:nvSpPr>
          <p:spPr>
            <a:xfrm>
              <a:off x="8823960" y="121615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기준선</a:t>
              </a: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78653788-1931-4EA7-90A9-3487EE8D0AE7}"/>
                </a:ext>
              </a:extLst>
            </p:cNvPr>
            <p:cNvSpPr/>
            <p:nvPr/>
          </p:nvSpPr>
          <p:spPr>
            <a:xfrm>
              <a:off x="10378440" y="1216152"/>
              <a:ext cx="169164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64A91E2-16E2-C9D6-1057-6C97E05744D9}"/>
                </a:ext>
              </a:extLst>
            </p:cNvPr>
            <p:cNvSpPr txBox="1"/>
            <p:nvPr/>
          </p:nvSpPr>
          <p:spPr>
            <a:xfrm>
              <a:off x="10378440" y="121615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 Only</a:t>
              </a: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0FE3E6F6-1233-0BAC-461A-EFC649960F13}"/>
                </a:ext>
              </a:extLst>
            </p:cNvPr>
            <p:cNvSpPr/>
            <p:nvPr/>
          </p:nvSpPr>
          <p:spPr>
            <a:xfrm>
              <a:off x="274320" y="1581912"/>
              <a:ext cx="14173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964D0FA-9DBF-4CA3-13BA-6CE94BACF38A}"/>
                </a:ext>
              </a:extLst>
            </p:cNvPr>
            <p:cNvSpPr txBox="1"/>
            <p:nvPr/>
          </p:nvSpPr>
          <p:spPr>
            <a:xfrm>
              <a:off x="274320" y="158191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 (CrossAttn)</a:t>
              </a: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905F4229-EC39-BC67-1DE0-F04ADB1B5C1A}"/>
                </a:ext>
              </a:extLst>
            </p:cNvPr>
            <p:cNvSpPr/>
            <p:nvPr/>
          </p:nvSpPr>
          <p:spPr>
            <a:xfrm>
              <a:off x="1737360" y="1581912"/>
              <a:ext cx="100584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5088445-D7CC-6FD1-11AA-3571A175E63B}"/>
                </a:ext>
              </a:extLst>
            </p:cNvPr>
            <p:cNvSpPr txBox="1"/>
            <p:nvPr/>
          </p:nvSpPr>
          <p:spPr>
            <a:xfrm>
              <a:off x="1929122" y="1581912"/>
              <a:ext cx="62231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 dirty="0">
                  <a:solidFill>
                    <a:srgbClr val="1A1A2E"/>
                  </a:solidFill>
                  <a:latin typeface="맑은 고딕"/>
                </a:rPr>
                <a:t>0.8435</a:t>
              </a: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F65764EB-40F6-42CF-8F57-8793F6C0EBC3}"/>
                </a:ext>
              </a:extLst>
            </p:cNvPr>
            <p:cNvSpPr/>
            <p:nvPr/>
          </p:nvSpPr>
          <p:spPr>
            <a:xfrm>
              <a:off x="2788920" y="1581912"/>
              <a:ext cx="137160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9BC549B-469F-78BB-B256-1B702E0BD6F9}"/>
                </a:ext>
              </a:extLst>
            </p:cNvPr>
            <p:cNvSpPr txBox="1"/>
            <p:nvPr/>
          </p:nvSpPr>
          <p:spPr>
            <a:xfrm>
              <a:off x="2788920" y="158191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[0.777,0.901]</a:t>
              </a: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2BFD9019-5D7E-881B-2037-70C0DB66E020}"/>
                </a:ext>
              </a:extLst>
            </p:cNvPr>
            <p:cNvSpPr/>
            <p:nvPr/>
          </p:nvSpPr>
          <p:spPr>
            <a:xfrm>
              <a:off x="4206240" y="1581912"/>
              <a:ext cx="100584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0F428B0-7EAC-72E2-BF44-2ED4C2BC16FC}"/>
                </a:ext>
              </a:extLst>
            </p:cNvPr>
            <p:cNvSpPr txBox="1"/>
            <p:nvPr/>
          </p:nvSpPr>
          <p:spPr>
            <a:xfrm>
              <a:off x="4206240" y="158191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0.3433</a:t>
              </a: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6100A672-6774-40C5-9505-BD3626841BA2}"/>
                </a:ext>
              </a:extLst>
            </p:cNvPr>
            <p:cNvSpPr/>
            <p:nvPr/>
          </p:nvSpPr>
          <p:spPr>
            <a:xfrm>
              <a:off x="5257800" y="1581912"/>
              <a:ext cx="9601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FFEA62B-A66B-2AC9-5A74-5499A230E814}"/>
                </a:ext>
              </a:extLst>
            </p:cNvPr>
            <p:cNvSpPr txBox="1"/>
            <p:nvPr/>
          </p:nvSpPr>
          <p:spPr>
            <a:xfrm>
              <a:off x="5257800" y="158191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0.1397</a:t>
              </a: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0A1E1D08-CCBA-3F4F-00E9-4F99C519523D}"/>
                </a:ext>
              </a:extLst>
            </p:cNvPr>
            <p:cNvSpPr/>
            <p:nvPr/>
          </p:nvSpPr>
          <p:spPr>
            <a:xfrm>
              <a:off x="6263640" y="1581912"/>
              <a:ext cx="96012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923602-F7AB-2A9B-1391-37E091DA24B7}"/>
                </a:ext>
              </a:extLst>
            </p:cNvPr>
            <p:cNvSpPr txBox="1"/>
            <p:nvPr/>
          </p:nvSpPr>
          <p:spPr>
            <a:xfrm>
              <a:off x="6263640" y="158191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0.3396</a:t>
              </a:r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DF66F7A8-A5D7-7AF4-885E-098A25897E3F}"/>
                </a:ext>
              </a:extLst>
            </p:cNvPr>
            <p:cNvSpPr/>
            <p:nvPr/>
          </p:nvSpPr>
          <p:spPr>
            <a:xfrm>
              <a:off x="7269480" y="1581912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5270C2C-F737-3597-A7E0-AF00F4ADD4DB}"/>
                </a:ext>
              </a:extLst>
            </p:cNvPr>
            <p:cNvSpPr txBox="1"/>
            <p:nvPr/>
          </p:nvSpPr>
          <p:spPr>
            <a:xfrm>
              <a:off x="7269480" y="158191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+0.040</a:t>
              </a:r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16AA7C57-1B1D-B20A-FEDC-0A3C0F00FB69}"/>
                </a:ext>
              </a:extLst>
            </p:cNvPr>
            <p:cNvSpPr/>
            <p:nvPr/>
          </p:nvSpPr>
          <p:spPr>
            <a:xfrm>
              <a:off x="8823960" y="1581912"/>
              <a:ext cx="150876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7DB645D-4950-CA21-D498-F95A46DA5817}"/>
                </a:ext>
              </a:extLst>
            </p:cNvPr>
            <p:cNvSpPr txBox="1"/>
            <p:nvPr/>
          </p:nvSpPr>
          <p:spPr>
            <a:xfrm>
              <a:off x="8823960" y="158191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p=0.051 †</a:t>
              </a:r>
            </a:p>
          </p:txBody>
        </p:sp>
        <p:sp>
          <p:nvSpPr>
            <p:cNvPr id="56" name="Rectangle 56">
              <a:extLst>
                <a:ext uri="{FF2B5EF4-FFF2-40B4-BE49-F238E27FC236}">
                  <a16:creationId xmlns:a16="http://schemas.microsoft.com/office/drawing/2014/main" id="{A984052D-5631-8783-6855-68E392607677}"/>
                </a:ext>
              </a:extLst>
            </p:cNvPr>
            <p:cNvSpPr/>
            <p:nvPr/>
          </p:nvSpPr>
          <p:spPr>
            <a:xfrm>
              <a:off x="10378440" y="1581912"/>
              <a:ext cx="1691640" cy="365760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AE3F7C5-A97A-2110-FB5B-B78B20D6BB8C}"/>
                </a:ext>
              </a:extLst>
            </p:cNvPr>
            <p:cNvSpPr txBox="1"/>
            <p:nvPr/>
          </p:nvSpPr>
          <p:spPr>
            <a:xfrm>
              <a:off x="10378440" y="158191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Clinic+AEC</a:t>
              </a:r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B15EA55B-AF8B-1833-65F5-AC09B6C577A9}"/>
                </a:ext>
              </a:extLst>
            </p:cNvPr>
            <p:cNvSpPr/>
            <p:nvPr/>
          </p:nvSpPr>
          <p:spPr>
            <a:xfrm>
              <a:off x="274320" y="1947672"/>
              <a:ext cx="141732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A50572F-9D05-5C4A-7D9F-A7C783BAFA11}"/>
                </a:ext>
              </a:extLst>
            </p:cNvPr>
            <p:cNvSpPr txBox="1"/>
            <p:nvPr/>
          </p:nvSpPr>
          <p:spPr>
            <a:xfrm>
              <a:off x="274320" y="194767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M2_2 (Neg.Ctrl)</a:t>
              </a:r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FFECB3EB-5D9F-50EF-D06D-2FB856FC0D70}"/>
                </a:ext>
              </a:extLst>
            </p:cNvPr>
            <p:cNvSpPr/>
            <p:nvPr/>
          </p:nvSpPr>
          <p:spPr>
            <a:xfrm>
              <a:off x="1737360" y="1947672"/>
              <a:ext cx="100584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5F4C7A7-5B43-C5F9-2B62-DDC66FCBF368}"/>
                </a:ext>
              </a:extLst>
            </p:cNvPr>
            <p:cNvSpPr txBox="1"/>
            <p:nvPr/>
          </p:nvSpPr>
          <p:spPr>
            <a:xfrm>
              <a:off x="1737360" y="194767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0.8264</a:t>
              </a:r>
            </a:p>
          </p:txBody>
        </p:sp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D54701D7-1AC1-1260-BBCD-5BB149835D37}"/>
                </a:ext>
              </a:extLst>
            </p:cNvPr>
            <p:cNvSpPr/>
            <p:nvPr/>
          </p:nvSpPr>
          <p:spPr>
            <a:xfrm>
              <a:off x="2788920" y="1947672"/>
              <a:ext cx="137160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2592FD-1D8E-0EAA-4A23-C3A2A067C5EA}"/>
                </a:ext>
              </a:extLst>
            </p:cNvPr>
            <p:cNvSpPr txBox="1"/>
            <p:nvPr/>
          </p:nvSpPr>
          <p:spPr>
            <a:xfrm>
              <a:off x="2788920" y="194767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[0.744,0.891]</a:t>
              </a:r>
            </a:p>
          </p:txBody>
        </p:sp>
        <p:sp>
          <p:nvSpPr>
            <p:cNvPr id="128" name="Rectangle 64">
              <a:extLst>
                <a:ext uri="{FF2B5EF4-FFF2-40B4-BE49-F238E27FC236}">
                  <a16:creationId xmlns:a16="http://schemas.microsoft.com/office/drawing/2014/main" id="{7D828B89-DEBF-29DE-206B-4021CF898E5F}"/>
                </a:ext>
              </a:extLst>
            </p:cNvPr>
            <p:cNvSpPr/>
            <p:nvPr/>
          </p:nvSpPr>
          <p:spPr>
            <a:xfrm>
              <a:off x="4206240" y="1947672"/>
              <a:ext cx="100584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43D35F2-3893-C413-5928-30B69300C2BA}"/>
                </a:ext>
              </a:extLst>
            </p:cNvPr>
            <p:cNvSpPr txBox="1"/>
            <p:nvPr/>
          </p:nvSpPr>
          <p:spPr>
            <a:xfrm>
              <a:off x="4206240" y="194767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0.3204</a:t>
              </a:r>
            </a:p>
          </p:txBody>
        </p:sp>
        <p:sp>
          <p:nvSpPr>
            <p:cNvPr id="130" name="Rectangle 66">
              <a:extLst>
                <a:ext uri="{FF2B5EF4-FFF2-40B4-BE49-F238E27FC236}">
                  <a16:creationId xmlns:a16="http://schemas.microsoft.com/office/drawing/2014/main" id="{511374CD-8CC7-A882-0BC8-F283E749950E}"/>
                </a:ext>
              </a:extLst>
            </p:cNvPr>
            <p:cNvSpPr/>
            <p:nvPr/>
          </p:nvSpPr>
          <p:spPr>
            <a:xfrm>
              <a:off x="5257800" y="1947672"/>
              <a:ext cx="96012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A9A5E7F-308E-4424-857B-A017FF826F69}"/>
                </a:ext>
              </a:extLst>
            </p:cNvPr>
            <p:cNvSpPr txBox="1"/>
            <p:nvPr/>
          </p:nvSpPr>
          <p:spPr>
            <a:xfrm>
              <a:off x="5257800" y="194767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0.1887</a:t>
              </a:r>
            </a:p>
          </p:txBody>
        </p:sp>
        <p:sp>
          <p:nvSpPr>
            <p:cNvPr id="132" name="Rectangle 68">
              <a:extLst>
                <a:ext uri="{FF2B5EF4-FFF2-40B4-BE49-F238E27FC236}">
                  <a16:creationId xmlns:a16="http://schemas.microsoft.com/office/drawing/2014/main" id="{00D73A39-386A-DF16-B53B-D70B4BDE4F7A}"/>
                </a:ext>
              </a:extLst>
            </p:cNvPr>
            <p:cNvSpPr/>
            <p:nvPr/>
          </p:nvSpPr>
          <p:spPr>
            <a:xfrm>
              <a:off x="6263640" y="1947672"/>
              <a:ext cx="96012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F962632-0B06-A152-6BE5-2ED35AFD8E01}"/>
                </a:ext>
              </a:extLst>
            </p:cNvPr>
            <p:cNvSpPr txBox="1"/>
            <p:nvPr/>
          </p:nvSpPr>
          <p:spPr>
            <a:xfrm>
              <a:off x="6263640" y="194767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0.3750</a:t>
              </a:r>
            </a:p>
          </p:txBody>
        </p:sp>
        <p:sp>
          <p:nvSpPr>
            <p:cNvPr id="134" name="Rectangle 70">
              <a:extLst>
                <a:ext uri="{FF2B5EF4-FFF2-40B4-BE49-F238E27FC236}">
                  <a16:creationId xmlns:a16="http://schemas.microsoft.com/office/drawing/2014/main" id="{FE50F81B-0E10-8EEF-FEFB-AEA71DA9EA87}"/>
                </a:ext>
              </a:extLst>
            </p:cNvPr>
            <p:cNvSpPr/>
            <p:nvPr/>
          </p:nvSpPr>
          <p:spPr>
            <a:xfrm>
              <a:off x="7269480" y="1947672"/>
              <a:ext cx="150876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EDE91465-4EDC-E888-3F0D-3AD99AD7B211}"/>
                </a:ext>
              </a:extLst>
            </p:cNvPr>
            <p:cNvSpPr txBox="1"/>
            <p:nvPr/>
          </p:nvSpPr>
          <p:spPr>
            <a:xfrm>
              <a:off x="7269480" y="194767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136" name="Rectangle 72">
              <a:extLst>
                <a:ext uri="{FF2B5EF4-FFF2-40B4-BE49-F238E27FC236}">
                  <a16:creationId xmlns:a16="http://schemas.microsoft.com/office/drawing/2014/main" id="{C9358AB7-B3B4-5FF6-9349-AA82E32C74BF}"/>
                </a:ext>
              </a:extLst>
            </p:cNvPr>
            <p:cNvSpPr/>
            <p:nvPr/>
          </p:nvSpPr>
          <p:spPr>
            <a:xfrm>
              <a:off x="8823960" y="1947672"/>
              <a:ext cx="150876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A67134D-9654-965F-817D-09DFBB2A1C0D}"/>
                </a:ext>
              </a:extLst>
            </p:cNvPr>
            <p:cNvSpPr txBox="1"/>
            <p:nvPr/>
          </p:nvSpPr>
          <p:spPr>
            <a:xfrm>
              <a:off x="8823960" y="194767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(neg ctrl)</a:t>
              </a:r>
            </a:p>
          </p:txBody>
        </p:sp>
        <p:sp>
          <p:nvSpPr>
            <p:cNvPr id="138" name="Rectangle 74">
              <a:extLst>
                <a:ext uri="{FF2B5EF4-FFF2-40B4-BE49-F238E27FC236}">
                  <a16:creationId xmlns:a16="http://schemas.microsoft.com/office/drawing/2014/main" id="{D69826FC-12BA-0A28-C3FF-3AE891448DE1}"/>
                </a:ext>
              </a:extLst>
            </p:cNvPr>
            <p:cNvSpPr/>
            <p:nvPr/>
          </p:nvSpPr>
          <p:spPr>
            <a:xfrm>
              <a:off x="10378440" y="1947672"/>
              <a:ext cx="1691640" cy="365760"/>
            </a:xfrm>
            <a:prstGeom prst="rect">
              <a:avLst/>
            </a:prstGeom>
            <a:solidFill>
              <a:srgbClr val="F5F5F5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7D05A8F3-2482-D5A0-A3A0-7218C5C3AC50}"/>
                </a:ext>
              </a:extLst>
            </p:cNvPr>
            <p:cNvSpPr txBox="1"/>
            <p:nvPr/>
          </p:nvSpPr>
          <p:spPr>
            <a:xfrm>
              <a:off x="10378440" y="194767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Unmatched</a:t>
              </a:r>
            </a:p>
          </p:txBody>
        </p:sp>
        <p:sp>
          <p:nvSpPr>
            <p:cNvPr id="140" name="Rectangle 76">
              <a:extLst>
                <a:ext uri="{FF2B5EF4-FFF2-40B4-BE49-F238E27FC236}">
                  <a16:creationId xmlns:a16="http://schemas.microsoft.com/office/drawing/2014/main" id="{3E18F9FB-8234-F799-B222-5217B712F851}"/>
                </a:ext>
              </a:extLst>
            </p:cNvPr>
            <p:cNvSpPr/>
            <p:nvPr/>
          </p:nvSpPr>
          <p:spPr>
            <a:xfrm>
              <a:off x="274320" y="2313432"/>
              <a:ext cx="14173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96FB0467-3B76-A215-EDF8-F72D8C0D4549}"/>
                </a:ext>
              </a:extLst>
            </p:cNvPr>
            <p:cNvSpPr txBox="1"/>
            <p:nvPr/>
          </p:nvSpPr>
          <p:spPr>
            <a:xfrm>
              <a:off x="274320" y="2313432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M3 (CrossAttn3)</a:t>
              </a:r>
            </a:p>
          </p:txBody>
        </p:sp>
        <p:sp>
          <p:nvSpPr>
            <p:cNvPr id="142" name="Rectangle 78">
              <a:extLst>
                <a:ext uri="{FF2B5EF4-FFF2-40B4-BE49-F238E27FC236}">
                  <a16:creationId xmlns:a16="http://schemas.microsoft.com/office/drawing/2014/main" id="{641948EE-261E-6172-98D5-2B8AB3020C0C}"/>
                </a:ext>
              </a:extLst>
            </p:cNvPr>
            <p:cNvSpPr/>
            <p:nvPr/>
          </p:nvSpPr>
          <p:spPr>
            <a:xfrm>
              <a:off x="1737360" y="2313432"/>
              <a:ext cx="100584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8D2E053-236C-FE71-ED17-4A0A65DFD156}"/>
                </a:ext>
              </a:extLst>
            </p:cNvPr>
            <p:cNvSpPr txBox="1"/>
            <p:nvPr/>
          </p:nvSpPr>
          <p:spPr>
            <a:xfrm>
              <a:off x="1929122" y="2313432"/>
              <a:ext cx="622316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 dirty="0">
                  <a:solidFill>
                    <a:srgbClr val="1A1A2E"/>
                  </a:solidFill>
                  <a:latin typeface="맑은 고딕"/>
                </a:rPr>
                <a:t>0.8455</a:t>
              </a:r>
            </a:p>
          </p:txBody>
        </p:sp>
        <p:sp>
          <p:nvSpPr>
            <p:cNvPr id="144" name="Rectangle 80">
              <a:extLst>
                <a:ext uri="{FF2B5EF4-FFF2-40B4-BE49-F238E27FC236}">
                  <a16:creationId xmlns:a16="http://schemas.microsoft.com/office/drawing/2014/main" id="{0E479A34-A5EF-2512-4617-B271F6E21969}"/>
                </a:ext>
              </a:extLst>
            </p:cNvPr>
            <p:cNvSpPr/>
            <p:nvPr/>
          </p:nvSpPr>
          <p:spPr>
            <a:xfrm>
              <a:off x="2788920" y="2313432"/>
              <a:ext cx="137160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07F60CC-3BBC-066B-7335-D9CEB404D2A6}"/>
                </a:ext>
              </a:extLst>
            </p:cNvPr>
            <p:cNvSpPr txBox="1"/>
            <p:nvPr/>
          </p:nvSpPr>
          <p:spPr>
            <a:xfrm>
              <a:off x="2788920" y="2313432"/>
              <a:ext cx="13716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[0.759,0.914]</a:t>
              </a:r>
            </a:p>
          </p:txBody>
        </p:sp>
        <p:sp>
          <p:nvSpPr>
            <p:cNvPr id="146" name="Rectangle 82">
              <a:extLst>
                <a:ext uri="{FF2B5EF4-FFF2-40B4-BE49-F238E27FC236}">
                  <a16:creationId xmlns:a16="http://schemas.microsoft.com/office/drawing/2014/main" id="{3A82D7C6-B440-CB2F-29F4-6C3298A1668D}"/>
                </a:ext>
              </a:extLst>
            </p:cNvPr>
            <p:cNvSpPr/>
            <p:nvPr/>
          </p:nvSpPr>
          <p:spPr>
            <a:xfrm>
              <a:off x="4206240" y="2313432"/>
              <a:ext cx="100584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2219A47-DB94-9A93-B5CD-B8169FCC2C4C}"/>
                </a:ext>
              </a:extLst>
            </p:cNvPr>
            <p:cNvSpPr txBox="1"/>
            <p:nvPr/>
          </p:nvSpPr>
          <p:spPr>
            <a:xfrm>
              <a:off x="4206240" y="2313432"/>
              <a:ext cx="10058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0.3475</a:t>
              </a:r>
            </a:p>
          </p:txBody>
        </p:sp>
        <p:sp>
          <p:nvSpPr>
            <p:cNvPr id="148" name="Rectangle 84">
              <a:extLst>
                <a:ext uri="{FF2B5EF4-FFF2-40B4-BE49-F238E27FC236}">
                  <a16:creationId xmlns:a16="http://schemas.microsoft.com/office/drawing/2014/main" id="{97045E3B-F2F4-BAF2-3B5A-66177527BFCB}"/>
                </a:ext>
              </a:extLst>
            </p:cNvPr>
            <p:cNvSpPr/>
            <p:nvPr/>
          </p:nvSpPr>
          <p:spPr>
            <a:xfrm>
              <a:off x="5257800" y="2313432"/>
              <a:ext cx="9601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8B1B297-152F-3B7C-B924-F4A461267513}"/>
                </a:ext>
              </a:extLst>
            </p:cNvPr>
            <p:cNvSpPr txBox="1"/>
            <p:nvPr/>
          </p:nvSpPr>
          <p:spPr>
            <a:xfrm>
              <a:off x="5257800" y="231343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0.1902</a:t>
              </a:r>
            </a:p>
          </p:txBody>
        </p:sp>
        <p:sp>
          <p:nvSpPr>
            <p:cNvPr id="150" name="Rectangle 86">
              <a:extLst>
                <a:ext uri="{FF2B5EF4-FFF2-40B4-BE49-F238E27FC236}">
                  <a16:creationId xmlns:a16="http://schemas.microsoft.com/office/drawing/2014/main" id="{FF263A5B-F3A6-8296-EEC7-4357DE45EAD5}"/>
                </a:ext>
              </a:extLst>
            </p:cNvPr>
            <p:cNvSpPr/>
            <p:nvPr/>
          </p:nvSpPr>
          <p:spPr>
            <a:xfrm>
              <a:off x="6263640" y="2313432"/>
              <a:ext cx="96012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DD3284A-EF9B-A09A-37F0-6901A8B00E18}"/>
                </a:ext>
              </a:extLst>
            </p:cNvPr>
            <p:cNvSpPr txBox="1"/>
            <p:nvPr/>
          </p:nvSpPr>
          <p:spPr>
            <a:xfrm>
              <a:off x="6263640" y="2313432"/>
              <a:ext cx="9601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0.3793</a:t>
              </a:r>
            </a:p>
          </p:txBody>
        </p:sp>
        <p:sp>
          <p:nvSpPr>
            <p:cNvPr id="152" name="Rectangle 88">
              <a:extLst>
                <a:ext uri="{FF2B5EF4-FFF2-40B4-BE49-F238E27FC236}">
                  <a16:creationId xmlns:a16="http://schemas.microsoft.com/office/drawing/2014/main" id="{4BE62742-6631-E856-9C9B-60E257CFC47D}"/>
                </a:ext>
              </a:extLst>
            </p:cNvPr>
            <p:cNvSpPr/>
            <p:nvPr/>
          </p:nvSpPr>
          <p:spPr>
            <a:xfrm>
              <a:off x="7269480" y="2313432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03D205BF-6032-6D41-FDA4-5E0F15ABD469}"/>
                </a:ext>
              </a:extLst>
            </p:cNvPr>
            <p:cNvSpPr txBox="1"/>
            <p:nvPr/>
          </p:nvSpPr>
          <p:spPr>
            <a:xfrm>
              <a:off x="7269480" y="231343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+0.043</a:t>
              </a:r>
            </a:p>
          </p:txBody>
        </p:sp>
        <p:sp>
          <p:nvSpPr>
            <p:cNvPr id="154" name="Rectangle 90">
              <a:extLst>
                <a:ext uri="{FF2B5EF4-FFF2-40B4-BE49-F238E27FC236}">
                  <a16:creationId xmlns:a16="http://schemas.microsoft.com/office/drawing/2014/main" id="{6EF05D7E-B79C-5424-ECF9-7D514387E008}"/>
                </a:ext>
              </a:extLst>
            </p:cNvPr>
            <p:cNvSpPr/>
            <p:nvPr/>
          </p:nvSpPr>
          <p:spPr>
            <a:xfrm>
              <a:off x="8823960" y="2313432"/>
              <a:ext cx="150876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4F2D26B-E57D-125E-5060-93FCE35073B9}"/>
                </a:ext>
              </a:extLst>
            </p:cNvPr>
            <p:cNvSpPr txBox="1"/>
            <p:nvPr/>
          </p:nvSpPr>
          <p:spPr>
            <a:xfrm>
              <a:off x="8823960" y="2313432"/>
              <a:ext cx="150876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p=0.066 †</a:t>
              </a:r>
            </a:p>
          </p:txBody>
        </p:sp>
        <p:sp>
          <p:nvSpPr>
            <p:cNvPr id="156" name="Rectangle 92">
              <a:extLst>
                <a:ext uri="{FF2B5EF4-FFF2-40B4-BE49-F238E27FC236}">
                  <a16:creationId xmlns:a16="http://schemas.microsoft.com/office/drawing/2014/main" id="{3A87E809-1356-284A-122D-F7FBAABB2FA9}"/>
                </a:ext>
              </a:extLst>
            </p:cNvPr>
            <p:cNvSpPr/>
            <p:nvPr/>
          </p:nvSpPr>
          <p:spPr>
            <a:xfrm>
              <a:off x="10378440" y="2313432"/>
              <a:ext cx="1691640" cy="365760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F9FEC4E-4939-9967-4806-EBFC02D55306}"/>
                </a:ext>
              </a:extLst>
            </p:cNvPr>
            <p:cNvSpPr txBox="1"/>
            <p:nvPr/>
          </p:nvSpPr>
          <p:spPr>
            <a:xfrm>
              <a:off x="10378440" y="2313432"/>
              <a:ext cx="169164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Clinic+Scn+AEC</a:t>
              </a:r>
            </a:p>
          </p:txBody>
        </p:sp>
      </p:grpSp>
      <p:pic>
        <p:nvPicPr>
          <p:cNvPr id="160" name="Picture 107" descr="calibration.png">
            <a:extLst>
              <a:ext uri="{FF2B5EF4-FFF2-40B4-BE49-F238E27FC236}">
                <a16:creationId xmlns:a16="http://schemas.microsoft.com/office/drawing/2014/main" id="{17382650-B4F4-6BDD-E99F-335665564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3765" y="3705872"/>
            <a:ext cx="4210594" cy="2575409"/>
          </a:xfrm>
          <a:prstGeom prst="rect">
            <a:avLst/>
          </a:prstGeom>
        </p:spPr>
      </p:pic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7E3C713D-1BFA-5884-8F4A-53BB043EA61F}"/>
              </a:ext>
            </a:extLst>
          </p:cNvPr>
          <p:cNvGrpSpPr/>
          <p:nvPr/>
        </p:nvGrpSpPr>
        <p:grpSpPr>
          <a:xfrm>
            <a:off x="8371869" y="3447287"/>
            <a:ext cx="3515331" cy="2833993"/>
            <a:chOff x="4572000" y="3538728"/>
            <a:chExt cx="3749039" cy="3136392"/>
          </a:xfrm>
        </p:grpSpPr>
        <p:sp>
          <p:nvSpPr>
            <p:cNvPr id="161" name="Rectangle 96">
              <a:extLst>
                <a:ext uri="{FF2B5EF4-FFF2-40B4-BE49-F238E27FC236}">
                  <a16:creationId xmlns:a16="http://schemas.microsoft.com/office/drawing/2014/main" id="{9AC49AB0-074A-3B98-0495-65BF3268E45E}"/>
                </a:ext>
              </a:extLst>
            </p:cNvPr>
            <p:cNvSpPr/>
            <p:nvPr/>
          </p:nvSpPr>
          <p:spPr>
            <a:xfrm>
              <a:off x="4572000" y="3538728"/>
              <a:ext cx="3749039" cy="3136392"/>
            </a:xfrm>
            <a:prstGeom prst="rect">
              <a:avLst/>
            </a:prstGeom>
            <a:solidFill>
              <a:srgbClr val="E8F8E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Rectangle 97">
              <a:extLst>
                <a:ext uri="{FF2B5EF4-FFF2-40B4-BE49-F238E27FC236}">
                  <a16:creationId xmlns:a16="http://schemas.microsoft.com/office/drawing/2014/main" id="{7E163976-26DD-D4A8-EA26-29AD4DA41A47}"/>
                </a:ext>
              </a:extLst>
            </p:cNvPr>
            <p:cNvSpPr/>
            <p:nvPr/>
          </p:nvSpPr>
          <p:spPr>
            <a:xfrm>
              <a:off x="4572000" y="3538728"/>
              <a:ext cx="91440" cy="3136392"/>
            </a:xfrm>
            <a:prstGeom prst="rect">
              <a:avLst/>
            </a:prstGeom>
            <a:solidFill>
              <a:srgbClr val="1E8B4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9A53B85-D8D8-4E83-BE66-E77D851BA9DF}"/>
                </a:ext>
              </a:extLst>
            </p:cNvPr>
            <p:cNvSpPr txBox="1"/>
            <p:nvPr/>
          </p:nvSpPr>
          <p:spPr>
            <a:xfrm>
              <a:off x="4754880" y="3611880"/>
              <a:ext cx="338328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1E8B4C"/>
                  </a:solidFill>
                  <a:latin typeface="맑은 고딕"/>
                </a:rPr>
                <a:t>비교 핵심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88916104-6805-4F56-972F-EAD7401E66CA}"/>
                </a:ext>
              </a:extLst>
            </p:cNvPr>
            <p:cNvSpPr txBox="1"/>
            <p:nvPr/>
          </p:nvSpPr>
          <p:spPr>
            <a:xfrm>
              <a:off x="4754880" y="3986784"/>
              <a:ext cx="338328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M1→M2: Δ AUC +0.040, p=0.051 †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358B31A-6470-2C0C-9FBF-06FDA89C2F18}"/>
                </a:ext>
              </a:extLst>
            </p:cNvPr>
            <p:cNvSpPr txBox="1"/>
            <p:nvPr/>
          </p:nvSpPr>
          <p:spPr>
            <a:xfrm>
              <a:off x="4754880" y="4398264"/>
              <a:ext cx="338328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M1→M3: Δ AUC +0.043, p=0.066 †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E27DB80-AF5D-A1C0-DF51-5FB8990DAC07}"/>
                </a:ext>
              </a:extLst>
            </p:cNvPr>
            <p:cNvSpPr txBox="1"/>
            <p:nvPr/>
          </p:nvSpPr>
          <p:spPr>
            <a:xfrm>
              <a:off x="4754880" y="4809744"/>
              <a:ext cx="338328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M2→M3 norm: Δ=+0.002, p=0.923 ns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0910747-6459-BED6-58F2-4F9328A5AF38}"/>
                </a:ext>
              </a:extLst>
            </p:cNvPr>
            <p:cNvSpPr txBox="1"/>
            <p:nvPr/>
          </p:nvSpPr>
          <p:spPr>
            <a:xfrm>
              <a:off x="4754880" y="5221224"/>
              <a:ext cx="338328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AUPRC: M1(0.312)→M2(0.343) +9.9%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28CF328-04A5-0E79-8F4D-C2BA5B8D82C3}"/>
                </a:ext>
              </a:extLst>
            </p:cNvPr>
            <p:cNvSpPr txBox="1"/>
            <p:nvPr/>
          </p:nvSpPr>
          <p:spPr>
            <a:xfrm>
              <a:off x="4754880" y="5632704"/>
              <a:ext cx="338328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M2&gt;M2_2 excl_extreme: Δ=0.310 ***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C997A608-C47F-A894-A422-A8B00B41AD9B}"/>
                </a:ext>
              </a:extLst>
            </p:cNvPr>
            <p:cNvSpPr txBox="1"/>
            <p:nvPr/>
          </p:nvSpPr>
          <p:spPr>
            <a:xfrm>
              <a:off x="4754880" y="6044184"/>
              <a:ext cx="338328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여성 AUC: M1(0.848)→M3(0.904) 큰 개선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128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1932A-5A2A-9503-BEC3-00F96EA12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0" descr="roc_all_models_norm.png">
            <a:extLst>
              <a:ext uri="{FF2B5EF4-FFF2-40B4-BE49-F238E27FC236}">
                <a16:creationId xmlns:a16="http://schemas.microsoft.com/office/drawing/2014/main" id="{31022552-FBB3-10D3-587D-E4DE405F5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1975169"/>
            <a:ext cx="6035040" cy="426235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80AF78E-F656-C431-6237-E9DAB51D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B9CD50-97F0-CF76-C060-719B3AB1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3C3AE69-F6D4-CF59-5278-A9A358753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(Clinic) vs Model 2 (Clinic + AEC) </a:t>
            </a:r>
            <a:r>
              <a:rPr lang="ko-KR" altLang="en-US" dirty="0"/>
              <a:t>비교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9CD5BBB-45EA-5B34-8845-856BA42531F8}"/>
              </a:ext>
            </a:extLst>
          </p:cNvPr>
          <p:cNvSpPr/>
          <p:nvPr/>
        </p:nvSpPr>
        <p:spPr>
          <a:xfrm>
            <a:off x="361405" y="1698171"/>
            <a:ext cx="5486400" cy="4262361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44C8B-83FB-7ED1-78B2-7AE2430815D8}"/>
              </a:ext>
            </a:extLst>
          </p:cNvPr>
          <p:cNvSpPr txBox="1"/>
          <p:nvPr/>
        </p:nvSpPr>
        <p:spPr>
          <a:xfrm>
            <a:off x="544285" y="1771323"/>
            <a:ext cx="37708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 dirty="0">
                <a:solidFill>
                  <a:srgbClr val="1A1A2E"/>
                </a:solidFill>
                <a:latin typeface="맑은 고딕"/>
              </a:rPr>
              <a:t>DeLong Test — M1(LR) vs M2(</a:t>
            </a:r>
            <a:r>
              <a:rPr sz="1400" b="1" i="0" dirty="0" err="1">
                <a:solidFill>
                  <a:srgbClr val="1A1A2E"/>
                </a:solidFill>
                <a:latin typeface="맑은 고딕"/>
              </a:rPr>
              <a:t>CrossAttn</a:t>
            </a:r>
            <a:r>
              <a:rPr sz="1400" b="1" i="0" dirty="0">
                <a:solidFill>
                  <a:srgbClr val="1A1A2E"/>
                </a:solidFill>
                <a:latin typeface="맑은 고딕"/>
              </a:rPr>
              <a:t>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8CF8F29-D96B-905F-583C-AFDBE9D8351F}"/>
              </a:ext>
            </a:extLst>
          </p:cNvPr>
          <p:cNvSpPr/>
          <p:nvPr/>
        </p:nvSpPr>
        <p:spPr>
          <a:xfrm>
            <a:off x="544285" y="2091363"/>
            <a:ext cx="5120640" cy="3657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52E1CA-D1D4-0AB4-F628-C2AA7ADEC2EA}"/>
              </a:ext>
            </a:extLst>
          </p:cNvPr>
          <p:cNvSpPr txBox="1"/>
          <p:nvPr/>
        </p:nvSpPr>
        <p:spPr>
          <a:xfrm>
            <a:off x="544285" y="4086204"/>
            <a:ext cx="25879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 dirty="0">
                <a:solidFill>
                  <a:srgbClr val="1A1A2E"/>
                </a:solidFill>
                <a:latin typeface="맑은 고딕"/>
              </a:rPr>
              <a:t>Bootstrap 95% CI — norm </a:t>
            </a:r>
            <a:r>
              <a:rPr sz="1200" b="1" i="0" dirty="0" err="1">
                <a:solidFill>
                  <a:srgbClr val="1A1A2E"/>
                </a:solidFill>
                <a:latin typeface="맑은 고딕"/>
              </a:rPr>
              <a:t>기준</a:t>
            </a:r>
            <a:endParaRPr sz="12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62" name="Rectangle 58">
            <a:extLst>
              <a:ext uri="{FF2B5EF4-FFF2-40B4-BE49-F238E27FC236}">
                <a16:creationId xmlns:a16="http://schemas.microsoft.com/office/drawing/2014/main" id="{1488E483-7323-4356-F259-4DB1D690AFCB}"/>
              </a:ext>
            </a:extLst>
          </p:cNvPr>
          <p:cNvSpPr/>
          <p:nvPr/>
        </p:nvSpPr>
        <p:spPr>
          <a:xfrm>
            <a:off x="544285" y="4335630"/>
            <a:ext cx="5120640" cy="2743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4F793B2-DB05-5E39-A870-A85825E8C515}"/>
              </a:ext>
            </a:extLst>
          </p:cNvPr>
          <p:cNvSpPr txBox="1"/>
          <p:nvPr/>
        </p:nvSpPr>
        <p:spPr>
          <a:xfrm>
            <a:off x="6030685" y="1698171"/>
            <a:ext cx="32081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 dirty="0">
                <a:solidFill>
                  <a:srgbClr val="1A1A2E"/>
                </a:solidFill>
                <a:latin typeface="맑은 고딕"/>
              </a:rPr>
              <a:t>ROC </a:t>
            </a:r>
            <a:r>
              <a:rPr sz="1200" b="1" i="0" dirty="0" err="1">
                <a:solidFill>
                  <a:srgbClr val="1A1A2E"/>
                </a:solidFill>
                <a:latin typeface="맑은 고딕"/>
              </a:rPr>
              <a:t>비교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  (norm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/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 M1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·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M2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·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M2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_2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·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M3)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4727A39-629D-6EDC-0BD8-0AD6924B68B1}"/>
              </a:ext>
            </a:extLst>
          </p:cNvPr>
          <p:cNvGrpSpPr/>
          <p:nvPr/>
        </p:nvGrpSpPr>
        <p:grpSpPr>
          <a:xfrm>
            <a:off x="544284" y="2146227"/>
            <a:ext cx="5120640" cy="1755648"/>
            <a:chOff x="411480" y="1344168"/>
            <a:chExt cx="5212080" cy="1755648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6962B7F9-D78D-8970-4020-B9A3889BAD23}"/>
                </a:ext>
              </a:extLst>
            </p:cNvPr>
            <p:cNvSpPr/>
            <p:nvPr/>
          </p:nvSpPr>
          <p:spPr>
            <a:xfrm>
              <a:off x="411480" y="1344168"/>
              <a:ext cx="14173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894A52-2B0E-4C5A-892A-DAE97C11F21C}"/>
                </a:ext>
              </a:extLst>
            </p:cNvPr>
            <p:cNvSpPr txBox="1"/>
            <p:nvPr/>
          </p:nvSpPr>
          <p:spPr>
            <a:xfrm>
              <a:off x="411480" y="1344168"/>
              <a:ext cx="14173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시나리오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8552643-D46A-BFCB-E187-D1883388B649}"/>
                </a:ext>
              </a:extLst>
            </p:cNvPr>
            <p:cNvSpPr/>
            <p:nvPr/>
          </p:nvSpPr>
          <p:spPr>
            <a:xfrm>
              <a:off x="1874519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CA850F-325B-A957-EA24-8FFD7A03C09D}"/>
                </a:ext>
              </a:extLst>
            </p:cNvPr>
            <p:cNvSpPr txBox="1"/>
            <p:nvPr/>
          </p:nvSpPr>
          <p:spPr>
            <a:xfrm>
              <a:off x="1874519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M1 AUC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50C132-F931-815D-943B-1480DF602602}"/>
                </a:ext>
              </a:extLst>
            </p:cNvPr>
            <p:cNvSpPr/>
            <p:nvPr/>
          </p:nvSpPr>
          <p:spPr>
            <a:xfrm>
              <a:off x="2834640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31845FA-43E5-EDE6-23A7-9F3BBA0B0C7A}"/>
                </a:ext>
              </a:extLst>
            </p:cNvPr>
            <p:cNvSpPr txBox="1"/>
            <p:nvPr/>
          </p:nvSpPr>
          <p:spPr>
            <a:xfrm>
              <a:off x="2834640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M2 AUC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41FEDD-63AE-6539-6727-05836CE4DB06}"/>
                </a:ext>
              </a:extLst>
            </p:cNvPr>
            <p:cNvSpPr/>
            <p:nvPr/>
          </p:nvSpPr>
          <p:spPr>
            <a:xfrm>
              <a:off x="3794760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EB8092-C148-A09E-960B-CA10459813AC}"/>
                </a:ext>
              </a:extLst>
            </p:cNvPr>
            <p:cNvSpPr txBox="1"/>
            <p:nvPr/>
          </p:nvSpPr>
          <p:spPr>
            <a:xfrm>
              <a:off x="3794760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Δ AUC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FD3ED2B-5EAA-950A-1A81-ABC1EFE8C3C5}"/>
                </a:ext>
              </a:extLst>
            </p:cNvPr>
            <p:cNvSpPr/>
            <p:nvPr/>
          </p:nvSpPr>
          <p:spPr>
            <a:xfrm>
              <a:off x="4754880" y="1344168"/>
              <a:ext cx="8686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A00FB9-721A-8133-D296-F1DEFD9EE287}"/>
                </a:ext>
              </a:extLst>
            </p:cNvPr>
            <p:cNvSpPr txBox="1"/>
            <p:nvPr/>
          </p:nvSpPr>
          <p:spPr>
            <a:xfrm>
              <a:off x="4754880" y="1344168"/>
              <a:ext cx="8686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p-val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D162BF-BC7B-FB80-9BCF-AB1FA056B0FB}"/>
                </a:ext>
              </a:extLst>
            </p:cNvPr>
            <p:cNvSpPr/>
            <p:nvPr/>
          </p:nvSpPr>
          <p:spPr>
            <a:xfrm>
              <a:off x="411480" y="1636776"/>
              <a:ext cx="14173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DF5EFA6-A300-D556-1D90-CA930CAE1807}"/>
                </a:ext>
              </a:extLst>
            </p:cNvPr>
            <p:cNvSpPr txBox="1"/>
            <p:nvPr/>
          </p:nvSpPr>
          <p:spPr>
            <a:xfrm>
              <a:off x="411480" y="163677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norm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F6FEFC7-466D-8265-54BF-9453736D35EA}"/>
                </a:ext>
              </a:extLst>
            </p:cNvPr>
            <p:cNvSpPr/>
            <p:nvPr/>
          </p:nvSpPr>
          <p:spPr>
            <a:xfrm>
              <a:off x="1874519" y="163677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FA596E-279D-C242-96AA-C54D1195236B}"/>
                </a:ext>
              </a:extLst>
            </p:cNvPr>
            <p:cNvSpPr txBox="1"/>
            <p:nvPr/>
          </p:nvSpPr>
          <p:spPr>
            <a:xfrm>
              <a:off x="1874519" y="163677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567168E-4319-9D22-1E20-8CB8D95DD350}"/>
                </a:ext>
              </a:extLst>
            </p:cNvPr>
            <p:cNvSpPr/>
            <p:nvPr/>
          </p:nvSpPr>
          <p:spPr>
            <a:xfrm>
              <a:off x="2834640" y="163677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E21C3EF-2FFA-86AC-41EE-DE99277CC7C4}"/>
                </a:ext>
              </a:extLst>
            </p:cNvPr>
            <p:cNvSpPr txBox="1"/>
            <p:nvPr/>
          </p:nvSpPr>
          <p:spPr>
            <a:xfrm>
              <a:off x="2995535" y="1636776"/>
              <a:ext cx="59260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chemeClr val="accent2"/>
                  </a:solidFill>
                  <a:latin typeface="맑은 고딕"/>
                </a:rPr>
                <a:t>0.8435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2DB1440-08F0-3677-9EB3-0CFF3E4D84C1}"/>
                </a:ext>
              </a:extLst>
            </p:cNvPr>
            <p:cNvSpPr/>
            <p:nvPr/>
          </p:nvSpPr>
          <p:spPr>
            <a:xfrm>
              <a:off x="3794760" y="163677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F37E6E-1E49-614E-2401-B22CEBE74850}"/>
                </a:ext>
              </a:extLst>
            </p:cNvPr>
            <p:cNvSpPr txBox="1"/>
            <p:nvPr/>
          </p:nvSpPr>
          <p:spPr>
            <a:xfrm>
              <a:off x="3945050" y="1636776"/>
              <a:ext cx="613819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chemeClr val="accent2"/>
                  </a:solidFill>
                  <a:latin typeface="맑은 고딕"/>
                </a:rPr>
                <a:t>+0.040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0F8EAF-D968-1FF1-2121-0D6C0D751EBA}"/>
                </a:ext>
              </a:extLst>
            </p:cNvPr>
            <p:cNvSpPr/>
            <p:nvPr/>
          </p:nvSpPr>
          <p:spPr>
            <a:xfrm>
              <a:off x="4754880" y="1636776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21AA47D-B480-C72F-66A8-9D250B4DC87B}"/>
                </a:ext>
              </a:extLst>
            </p:cNvPr>
            <p:cNvSpPr txBox="1"/>
            <p:nvPr/>
          </p:nvSpPr>
          <p:spPr>
            <a:xfrm>
              <a:off x="4754880" y="163677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p=0.051 †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0E32F7-29DD-2D36-7AA8-A39DA2CD6D2F}"/>
                </a:ext>
              </a:extLst>
            </p:cNvPr>
            <p:cNvSpPr/>
            <p:nvPr/>
          </p:nvSpPr>
          <p:spPr>
            <a:xfrm>
              <a:off x="411480" y="2002536"/>
              <a:ext cx="14173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DFFCFE-6347-A3EF-45C1-9B62004B35DC}"/>
                </a:ext>
              </a:extLst>
            </p:cNvPr>
            <p:cNvSpPr txBox="1"/>
            <p:nvPr/>
          </p:nvSpPr>
          <p:spPr>
            <a:xfrm>
              <a:off x="411480" y="200253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len128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F89A1B3-2D5E-F381-D7CF-724884354226}"/>
                </a:ext>
              </a:extLst>
            </p:cNvPr>
            <p:cNvSpPr/>
            <p:nvPr/>
          </p:nvSpPr>
          <p:spPr>
            <a:xfrm>
              <a:off x="1874519" y="200253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3B2671-51DF-2E8D-DE88-B8617C3AC787}"/>
                </a:ext>
              </a:extLst>
            </p:cNvPr>
            <p:cNvSpPr txBox="1"/>
            <p:nvPr/>
          </p:nvSpPr>
          <p:spPr>
            <a:xfrm>
              <a:off x="1874519" y="200253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F670324-FA5B-EA06-4981-E31D1B016389}"/>
                </a:ext>
              </a:extLst>
            </p:cNvPr>
            <p:cNvSpPr/>
            <p:nvPr/>
          </p:nvSpPr>
          <p:spPr>
            <a:xfrm>
              <a:off x="2834640" y="200253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52C0D21-A3E1-0DAA-9D87-0FFA6D62CD72}"/>
                </a:ext>
              </a:extLst>
            </p:cNvPr>
            <p:cNvSpPr txBox="1"/>
            <p:nvPr/>
          </p:nvSpPr>
          <p:spPr>
            <a:xfrm>
              <a:off x="2834640" y="200253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0.7913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56D5032-FAFF-91C5-33FE-344001D9D5BA}"/>
                </a:ext>
              </a:extLst>
            </p:cNvPr>
            <p:cNvSpPr/>
            <p:nvPr/>
          </p:nvSpPr>
          <p:spPr>
            <a:xfrm>
              <a:off x="3794760" y="200253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1023193-18E7-2EBE-6E48-C049FB7E062F}"/>
                </a:ext>
              </a:extLst>
            </p:cNvPr>
            <p:cNvSpPr txBox="1"/>
            <p:nvPr/>
          </p:nvSpPr>
          <p:spPr>
            <a:xfrm>
              <a:off x="3794760" y="200253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−0.012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8DE11B6-65FF-6C0C-F4F9-6EDC2CDDC230}"/>
                </a:ext>
              </a:extLst>
            </p:cNvPr>
            <p:cNvSpPr/>
            <p:nvPr/>
          </p:nvSpPr>
          <p:spPr>
            <a:xfrm>
              <a:off x="4754880" y="2002536"/>
              <a:ext cx="86868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ACF1891-0A96-990A-4518-2A55DE5CEE97}"/>
                </a:ext>
              </a:extLst>
            </p:cNvPr>
            <p:cNvSpPr txBox="1"/>
            <p:nvPr/>
          </p:nvSpPr>
          <p:spPr>
            <a:xfrm>
              <a:off x="4754880" y="200253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p=0.682 ns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79F9ADF-20C1-5B8C-11BB-E73F631F91AE}"/>
                </a:ext>
              </a:extLst>
            </p:cNvPr>
            <p:cNvSpPr/>
            <p:nvPr/>
          </p:nvSpPr>
          <p:spPr>
            <a:xfrm>
              <a:off x="411480" y="2368296"/>
              <a:ext cx="14173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E6D34B8-D52B-2932-556A-238209B9D65B}"/>
                </a:ext>
              </a:extLst>
            </p:cNvPr>
            <p:cNvSpPr txBox="1"/>
            <p:nvPr/>
          </p:nvSpPr>
          <p:spPr>
            <a:xfrm>
              <a:off x="411480" y="236829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crop80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C5D2E2E-991F-5969-CC3D-F360F0656A7F}"/>
                </a:ext>
              </a:extLst>
            </p:cNvPr>
            <p:cNvSpPr/>
            <p:nvPr/>
          </p:nvSpPr>
          <p:spPr>
            <a:xfrm>
              <a:off x="1874519" y="236829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F8B11D9-19C5-C202-966F-4F6B3F730DBA}"/>
                </a:ext>
              </a:extLst>
            </p:cNvPr>
            <p:cNvSpPr txBox="1"/>
            <p:nvPr/>
          </p:nvSpPr>
          <p:spPr>
            <a:xfrm>
              <a:off x="1874519" y="236829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B1281F8-68FE-B684-E0E1-643E96F6C082}"/>
                </a:ext>
              </a:extLst>
            </p:cNvPr>
            <p:cNvSpPr/>
            <p:nvPr/>
          </p:nvSpPr>
          <p:spPr>
            <a:xfrm>
              <a:off x="2834640" y="236829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7CE2A68-D73F-6A44-B335-A80D732AF840}"/>
                </a:ext>
              </a:extLst>
            </p:cNvPr>
            <p:cNvSpPr txBox="1"/>
            <p:nvPr/>
          </p:nvSpPr>
          <p:spPr>
            <a:xfrm>
              <a:off x="2834640" y="236829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0.7689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D7E80BA-7256-E74E-5D07-F0244B6742DD}"/>
                </a:ext>
              </a:extLst>
            </p:cNvPr>
            <p:cNvSpPr/>
            <p:nvPr/>
          </p:nvSpPr>
          <p:spPr>
            <a:xfrm>
              <a:off x="3794760" y="236829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1A5E064-5B1D-0CC8-2DBA-F3E6C6B21C79}"/>
                </a:ext>
              </a:extLst>
            </p:cNvPr>
            <p:cNvSpPr txBox="1"/>
            <p:nvPr/>
          </p:nvSpPr>
          <p:spPr>
            <a:xfrm>
              <a:off x="3794760" y="236829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−0.034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DF32932-83C4-7D95-B56A-AED5BB3FCAF5}"/>
                </a:ext>
              </a:extLst>
            </p:cNvPr>
            <p:cNvSpPr/>
            <p:nvPr/>
          </p:nvSpPr>
          <p:spPr>
            <a:xfrm>
              <a:off x="4754880" y="2368296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7C5A98A-C857-B60B-89C2-7B25C0C2062B}"/>
                </a:ext>
              </a:extLst>
            </p:cNvPr>
            <p:cNvSpPr txBox="1"/>
            <p:nvPr/>
          </p:nvSpPr>
          <p:spPr>
            <a:xfrm>
              <a:off x="4754880" y="236829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p=0.303 ns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6709A30-23F6-288C-F480-79452D63ACBC}"/>
                </a:ext>
              </a:extLst>
            </p:cNvPr>
            <p:cNvSpPr/>
            <p:nvPr/>
          </p:nvSpPr>
          <p:spPr>
            <a:xfrm>
              <a:off x="411480" y="2734056"/>
              <a:ext cx="14173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9DB26AD-1916-9B95-EF54-20396688BE0F}"/>
                </a:ext>
              </a:extLst>
            </p:cNvPr>
            <p:cNvSpPr txBox="1"/>
            <p:nvPr/>
          </p:nvSpPr>
          <p:spPr>
            <a:xfrm>
              <a:off x="411480" y="273405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crop60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8541F7A-D4EB-F501-EE3F-A808A1D0EED2}"/>
                </a:ext>
              </a:extLst>
            </p:cNvPr>
            <p:cNvSpPr/>
            <p:nvPr/>
          </p:nvSpPr>
          <p:spPr>
            <a:xfrm>
              <a:off x="1874519" y="273405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041CB18-4BCA-3920-3592-A08B5B826672}"/>
                </a:ext>
              </a:extLst>
            </p:cNvPr>
            <p:cNvSpPr txBox="1"/>
            <p:nvPr/>
          </p:nvSpPr>
          <p:spPr>
            <a:xfrm>
              <a:off x="1874519" y="273405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3187860-6ED5-DD2A-7DDF-BCB3CDB7CD8A}"/>
                </a:ext>
              </a:extLst>
            </p:cNvPr>
            <p:cNvSpPr/>
            <p:nvPr/>
          </p:nvSpPr>
          <p:spPr>
            <a:xfrm>
              <a:off x="2834640" y="273405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732D069-00AB-C7FD-7FC3-9F01CDDEFB2B}"/>
                </a:ext>
              </a:extLst>
            </p:cNvPr>
            <p:cNvSpPr txBox="1"/>
            <p:nvPr/>
          </p:nvSpPr>
          <p:spPr>
            <a:xfrm>
              <a:off x="2834640" y="273405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0.7933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B722BD27-CF09-07C9-47BE-285EF916233D}"/>
                </a:ext>
              </a:extLst>
            </p:cNvPr>
            <p:cNvSpPr/>
            <p:nvPr/>
          </p:nvSpPr>
          <p:spPr>
            <a:xfrm>
              <a:off x="3794760" y="273405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3AC7BCA-BB44-97C3-A845-19693C958832}"/>
                </a:ext>
              </a:extLst>
            </p:cNvPr>
            <p:cNvSpPr txBox="1"/>
            <p:nvPr/>
          </p:nvSpPr>
          <p:spPr>
            <a:xfrm>
              <a:off x="3794760" y="273405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−0.010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86C9BAF-1DAA-7562-69E1-D1B49A6F9F54}"/>
                </a:ext>
              </a:extLst>
            </p:cNvPr>
            <p:cNvSpPr/>
            <p:nvPr/>
          </p:nvSpPr>
          <p:spPr>
            <a:xfrm>
              <a:off x="4754880" y="2734056"/>
              <a:ext cx="86868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3F2D8F6-5BFA-1BD3-398E-39B0DA314579}"/>
                </a:ext>
              </a:extLst>
            </p:cNvPr>
            <p:cNvSpPr txBox="1"/>
            <p:nvPr/>
          </p:nvSpPr>
          <p:spPr>
            <a:xfrm>
              <a:off x="4754880" y="273405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p=0.780 ns</a:t>
              </a: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2F7A5B1-88F3-DD6E-35BB-B06FC36774DE}"/>
              </a:ext>
            </a:extLst>
          </p:cNvPr>
          <p:cNvGrpSpPr/>
          <p:nvPr/>
        </p:nvGrpSpPr>
        <p:grpSpPr>
          <a:xfrm>
            <a:off x="544284" y="4386297"/>
            <a:ext cx="5120640" cy="1481328"/>
            <a:chOff x="411480" y="3538728"/>
            <a:chExt cx="5029200" cy="1481328"/>
          </a:xfrm>
        </p:grpSpPr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B0C1AF38-F7A0-CF39-FAF2-6ADB68FC9B61}"/>
                </a:ext>
              </a:extLst>
            </p:cNvPr>
            <p:cNvSpPr/>
            <p:nvPr/>
          </p:nvSpPr>
          <p:spPr>
            <a:xfrm>
              <a:off x="411480" y="3538728"/>
              <a:ext cx="123444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C84C602-EB81-C9A7-9682-9C0AC4F623F0}"/>
                </a:ext>
              </a:extLst>
            </p:cNvPr>
            <p:cNvSpPr txBox="1"/>
            <p:nvPr/>
          </p:nvSpPr>
          <p:spPr>
            <a:xfrm>
              <a:off x="411480" y="3538728"/>
              <a:ext cx="123444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지표</a:t>
              </a:r>
            </a:p>
          </p:txBody>
        </p:sp>
        <p:sp>
          <p:nvSpPr>
            <p:cNvPr id="63" name="Rectangle 61">
              <a:extLst>
                <a:ext uri="{FF2B5EF4-FFF2-40B4-BE49-F238E27FC236}">
                  <a16:creationId xmlns:a16="http://schemas.microsoft.com/office/drawing/2014/main" id="{A589BE41-F566-BC0E-5DB7-0C20F5C38AEE}"/>
                </a:ext>
              </a:extLst>
            </p:cNvPr>
            <p:cNvSpPr/>
            <p:nvPr/>
          </p:nvSpPr>
          <p:spPr>
            <a:xfrm>
              <a:off x="1691640" y="3538728"/>
              <a:ext cx="123444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A62C404-EF27-869E-0D6D-99706A24A971}"/>
                </a:ext>
              </a:extLst>
            </p:cNvPr>
            <p:cNvSpPr txBox="1"/>
            <p:nvPr/>
          </p:nvSpPr>
          <p:spPr>
            <a:xfrm>
              <a:off x="1691640" y="3538728"/>
              <a:ext cx="123444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M1</a:t>
              </a:r>
            </a:p>
          </p:txBody>
        </p:sp>
        <p:sp>
          <p:nvSpPr>
            <p:cNvPr id="65" name="Rectangle 63">
              <a:extLst>
                <a:ext uri="{FF2B5EF4-FFF2-40B4-BE49-F238E27FC236}">
                  <a16:creationId xmlns:a16="http://schemas.microsoft.com/office/drawing/2014/main" id="{949A52C2-4AC8-9B04-E452-EC286F9E9AD3}"/>
                </a:ext>
              </a:extLst>
            </p:cNvPr>
            <p:cNvSpPr/>
            <p:nvPr/>
          </p:nvSpPr>
          <p:spPr>
            <a:xfrm>
              <a:off x="2971800" y="3538728"/>
              <a:ext cx="128016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DEBE6D8-0396-99DF-3DF6-2ECE8F741C52}"/>
                </a:ext>
              </a:extLst>
            </p:cNvPr>
            <p:cNvSpPr txBox="1"/>
            <p:nvPr/>
          </p:nvSpPr>
          <p:spPr>
            <a:xfrm>
              <a:off x="2971800" y="3538728"/>
              <a:ext cx="12801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M2</a:t>
              </a:r>
            </a:p>
          </p:txBody>
        </p:sp>
        <p:sp>
          <p:nvSpPr>
            <p:cNvPr id="67" name="Rectangle 65">
              <a:extLst>
                <a:ext uri="{FF2B5EF4-FFF2-40B4-BE49-F238E27FC236}">
                  <a16:creationId xmlns:a16="http://schemas.microsoft.com/office/drawing/2014/main" id="{095B2766-DD0E-CA9F-C744-200AD7E519E0}"/>
                </a:ext>
              </a:extLst>
            </p:cNvPr>
            <p:cNvSpPr/>
            <p:nvPr/>
          </p:nvSpPr>
          <p:spPr>
            <a:xfrm>
              <a:off x="4297680" y="3538728"/>
              <a:ext cx="114300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50A2D55-5FFD-F440-991B-6F493A9AE730}"/>
                </a:ext>
              </a:extLst>
            </p:cNvPr>
            <p:cNvSpPr txBox="1"/>
            <p:nvPr/>
          </p:nvSpPr>
          <p:spPr>
            <a:xfrm>
              <a:off x="4297680" y="3538728"/>
              <a:ext cx="11430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Δ(M2-M1)</a:t>
              </a:r>
            </a:p>
          </p:txBody>
        </p:sp>
        <p:sp>
          <p:nvSpPr>
            <p:cNvPr id="69" name="Rectangle 67">
              <a:extLst>
                <a:ext uri="{FF2B5EF4-FFF2-40B4-BE49-F238E27FC236}">
                  <a16:creationId xmlns:a16="http://schemas.microsoft.com/office/drawing/2014/main" id="{B923909F-DEB5-3931-49A3-4EB153C5CC65}"/>
                </a:ext>
              </a:extLst>
            </p:cNvPr>
            <p:cNvSpPr/>
            <p:nvPr/>
          </p:nvSpPr>
          <p:spPr>
            <a:xfrm>
              <a:off x="411480" y="3813048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8FCBA36-7669-9DA9-F1B2-45137FC37E91}"/>
                </a:ext>
              </a:extLst>
            </p:cNvPr>
            <p:cNvSpPr txBox="1"/>
            <p:nvPr/>
          </p:nvSpPr>
          <p:spPr>
            <a:xfrm>
              <a:off x="411480" y="3813048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AUC-ROC</a:t>
              </a:r>
            </a:p>
          </p:txBody>
        </p:sp>
        <p:sp>
          <p:nvSpPr>
            <p:cNvPr id="71" name="Rectangle 69">
              <a:extLst>
                <a:ext uri="{FF2B5EF4-FFF2-40B4-BE49-F238E27FC236}">
                  <a16:creationId xmlns:a16="http://schemas.microsoft.com/office/drawing/2014/main" id="{ECD0C3DD-A532-171B-61B3-062640CA9847}"/>
                </a:ext>
              </a:extLst>
            </p:cNvPr>
            <p:cNvSpPr/>
            <p:nvPr/>
          </p:nvSpPr>
          <p:spPr>
            <a:xfrm>
              <a:off x="1691640" y="3813048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E8414FF-0A82-3EFC-CF52-BE516732D4EF}"/>
                </a:ext>
              </a:extLst>
            </p:cNvPr>
            <p:cNvSpPr txBox="1"/>
            <p:nvPr/>
          </p:nvSpPr>
          <p:spPr>
            <a:xfrm>
              <a:off x="1691640" y="3813048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 [0.720,0.872]</a:t>
              </a:r>
            </a:p>
          </p:txBody>
        </p:sp>
        <p:sp>
          <p:nvSpPr>
            <p:cNvPr id="73" name="Rectangle 71">
              <a:extLst>
                <a:ext uri="{FF2B5EF4-FFF2-40B4-BE49-F238E27FC236}">
                  <a16:creationId xmlns:a16="http://schemas.microsoft.com/office/drawing/2014/main" id="{659C11FF-607B-319C-D5D5-9ACD537927D3}"/>
                </a:ext>
              </a:extLst>
            </p:cNvPr>
            <p:cNvSpPr/>
            <p:nvPr/>
          </p:nvSpPr>
          <p:spPr>
            <a:xfrm>
              <a:off x="2971800" y="3813048"/>
              <a:ext cx="12801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9C3B8D9-A35B-BC0F-182E-986F15835B07}"/>
                </a:ext>
              </a:extLst>
            </p:cNvPr>
            <p:cNvSpPr txBox="1"/>
            <p:nvPr/>
          </p:nvSpPr>
          <p:spPr>
            <a:xfrm>
              <a:off x="2971800" y="3813048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0.844 [0.777,0.901]</a:t>
              </a:r>
            </a:p>
          </p:txBody>
        </p:sp>
        <p:sp>
          <p:nvSpPr>
            <p:cNvPr id="75" name="Rectangle 73">
              <a:extLst>
                <a:ext uri="{FF2B5EF4-FFF2-40B4-BE49-F238E27FC236}">
                  <a16:creationId xmlns:a16="http://schemas.microsoft.com/office/drawing/2014/main" id="{CE5235AE-53D8-B7BD-7907-4D920FEC7DD6}"/>
                </a:ext>
              </a:extLst>
            </p:cNvPr>
            <p:cNvSpPr/>
            <p:nvPr/>
          </p:nvSpPr>
          <p:spPr>
            <a:xfrm>
              <a:off x="4297680" y="3813048"/>
              <a:ext cx="1143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68DB03E-45A2-1884-988C-0760451DC95C}"/>
                </a:ext>
              </a:extLst>
            </p:cNvPr>
            <p:cNvSpPr txBox="1"/>
            <p:nvPr/>
          </p:nvSpPr>
          <p:spPr>
            <a:xfrm>
              <a:off x="4297680" y="3813048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+0.040</a:t>
              </a:r>
            </a:p>
          </p:txBody>
        </p:sp>
        <p:sp>
          <p:nvSpPr>
            <p:cNvPr id="77" name="Rectangle 75">
              <a:extLst>
                <a:ext uri="{FF2B5EF4-FFF2-40B4-BE49-F238E27FC236}">
                  <a16:creationId xmlns:a16="http://schemas.microsoft.com/office/drawing/2014/main" id="{100E4541-CE52-633E-69C8-F6F4A346DC31}"/>
                </a:ext>
              </a:extLst>
            </p:cNvPr>
            <p:cNvSpPr/>
            <p:nvPr/>
          </p:nvSpPr>
          <p:spPr>
            <a:xfrm>
              <a:off x="411480" y="4114800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C3ABBE3-3672-F4C7-F2BC-EBAF3DF19D7E}"/>
                </a:ext>
              </a:extLst>
            </p:cNvPr>
            <p:cNvSpPr txBox="1"/>
            <p:nvPr/>
          </p:nvSpPr>
          <p:spPr>
            <a:xfrm>
              <a:off x="411480" y="4114800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79" name="Rectangle 77">
              <a:extLst>
                <a:ext uri="{FF2B5EF4-FFF2-40B4-BE49-F238E27FC236}">
                  <a16:creationId xmlns:a16="http://schemas.microsoft.com/office/drawing/2014/main" id="{C96F56C8-CB14-ED1F-6F10-05B1971CB08F}"/>
                </a:ext>
              </a:extLst>
            </p:cNvPr>
            <p:cNvSpPr/>
            <p:nvPr/>
          </p:nvSpPr>
          <p:spPr>
            <a:xfrm>
              <a:off x="1691640" y="4114800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2372421-D73D-E19F-9F69-AE05D8873D6A}"/>
                </a:ext>
              </a:extLst>
            </p:cNvPr>
            <p:cNvSpPr txBox="1"/>
            <p:nvPr/>
          </p:nvSpPr>
          <p:spPr>
            <a:xfrm>
              <a:off x="1691640" y="4114800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 [0.181,0.495]</a:t>
              </a:r>
            </a:p>
          </p:txBody>
        </p:sp>
        <p:sp>
          <p:nvSpPr>
            <p:cNvPr id="81" name="Rectangle 79">
              <a:extLst>
                <a:ext uri="{FF2B5EF4-FFF2-40B4-BE49-F238E27FC236}">
                  <a16:creationId xmlns:a16="http://schemas.microsoft.com/office/drawing/2014/main" id="{B27C5FF7-676B-EC84-4435-7D745401E4C4}"/>
                </a:ext>
              </a:extLst>
            </p:cNvPr>
            <p:cNvSpPr/>
            <p:nvPr/>
          </p:nvSpPr>
          <p:spPr>
            <a:xfrm>
              <a:off x="2971800" y="4114800"/>
              <a:ext cx="12801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A5F7AEF-C606-E671-3DB5-CDFA757D7DB7}"/>
                </a:ext>
              </a:extLst>
            </p:cNvPr>
            <p:cNvSpPr txBox="1"/>
            <p:nvPr/>
          </p:nvSpPr>
          <p:spPr>
            <a:xfrm>
              <a:off x="2971800" y="4114800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0.343 [0.207,0.528]</a:t>
              </a:r>
            </a:p>
          </p:txBody>
        </p:sp>
        <p:sp>
          <p:nvSpPr>
            <p:cNvPr id="83" name="Rectangle 81">
              <a:extLst>
                <a:ext uri="{FF2B5EF4-FFF2-40B4-BE49-F238E27FC236}">
                  <a16:creationId xmlns:a16="http://schemas.microsoft.com/office/drawing/2014/main" id="{3FBF4DEB-5FD1-7081-4EE2-F55D8E759A2A}"/>
                </a:ext>
              </a:extLst>
            </p:cNvPr>
            <p:cNvSpPr/>
            <p:nvPr/>
          </p:nvSpPr>
          <p:spPr>
            <a:xfrm>
              <a:off x="4297680" y="4114800"/>
              <a:ext cx="1143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85CC877-62CE-A9FF-195C-22A99A46D12F}"/>
                </a:ext>
              </a:extLst>
            </p:cNvPr>
            <p:cNvSpPr txBox="1"/>
            <p:nvPr/>
          </p:nvSpPr>
          <p:spPr>
            <a:xfrm>
              <a:off x="4297680" y="4114800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+0.031</a:t>
              </a:r>
            </a:p>
          </p:txBody>
        </p:sp>
        <p:sp>
          <p:nvSpPr>
            <p:cNvPr id="85" name="Rectangle 83">
              <a:extLst>
                <a:ext uri="{FF2B5EF4-FFF2-40B4-BE49-F238E27FC236}">
                  <a16:creationId xmlns:a16="http://schemas.microsoft.com/office/drawing/2014/main" id="{6CA5E0CD-20FA-0225-9EB5-8776C0BE58F6}"/>
                </a:ext>
              </a:extLst>
            </p:cNvPr>
            <p:cNvSpPr/>
            <p:nvPr/>
          </p:nvSpPr>
          <p:spPr>
            <a:xfrm>
              <a:off x="411480" y="4416552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E98C823-4D40-6C8E-ECB1-1580326B903E}"/>
                </a:ext>
              </a:extLst>
            </p:cNvPr>
            <p:cNvSpPr txBox="1"/>
            <p:nvPr/>
          </p:nvSpPr>
          <p:spPr>
            <a:xfrm>
              <a:off x="411480" y="4416552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87" name="Rectangle 85">
              <a:extLst>
                <a:ext uri="{FF2B5EF4-FFF2-40B4-BE49-F238E27FC236}">
                  <a16:creationId xmlns:a16="http://schemas.microsoft.com/office/drawing/2014/main" id="{865D5801-1D9A-A4F3-11A1-95B5825FBC18}"/>
                </a:ext>
              </a:extLst>
            </p:cNvPr>
            <p:cNvSpPr/>
            <p:nvPr/>
          </p:nvSpPr>
          <p:spPr>
            <a:xfrm>
              <a:off x="1691640" y="4416552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0CC80C7-7999-EB4D-4EAA-6212348179E0}"/>
                </a:ext>
              </a:extLst>
            </p:cNvPr>
            <p:cNvSpPr txBox="1"/>
            <p:nvPr/>
          </p:nvSpPr>
          <p:spPr>
            <a:xfrm>
              <a:off x="1691640" y="4416552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0.191 [0.165,0.217]</a:t>
              </a:r>
            </a:p>
          </p:txBody>
        </p:sp>
        <p:sp>
          <p:nvSpPr>
            <p:cNvPr id="89" name="Rectangle 87">
              <a:extLst>
                <a:ext uri="{FF2B5EF4-FFF2-40B4-BE49-F238E27FC236}">
                  <a16:creationId xmlns:a16="http://schemas.microsoft.com/office/drawing/2014/main" id="{C963B9D5-9D71-CFF6-463B-526714055319}"/>
                </a:ext>
              </a:extLst>
            </p:cNvPr>
            <p:cNvSpPr/>
            <p:nvPr/>
          </p:nvSpPr>
          <p:spPr>
            <a:xfrm>
              <a:off x="2971800" y="4416552"/>
              <a:ext cx="12801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E19C147-E900-8FAB-9A2B-FDF0B768591A}"/>
                </a:ext>
              </a:extLst>
            </p:cNvPr>
            <p:cNvSpPr txBox="1"/>
            <p:nvPr/>
          </p:nvSpPr>
          <p:spPr>
            <a:xfrm>
              <a:off x="2971800" y="4416552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0.140 [0.116,0.162]</a:t>
              </a:r>
            </a:p>
          </p:txBody>
        </p:sp>
        <p:sp>
          <p:nvSpPr>
            <p:cNvPr id="91" name="Rectangle 89">
              <a:extLst>
                <a:ext uri="{FF2B5EF4-FFF2-40B4-BE49-F238E27FC236}">
                  <a16:creationId xmlns:a16="http://schemas.microsoft.com/office/drawing/2014/main" id="{23B7D650-AD45-8886-0CFF-7B510C1CF14D}"/>
                </a:ext>
              </a:extLst>
            </p:cNvPr>
            <p:cNvSpPr/>
            <p:nvPr/>
          </p:nvSpPr>
          <p:spPr>
            <a:xfrm>
              <a:off x="4297680" y="4416552"/>
              <a:ext cx="1143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4DC0C52-FDD9-67A1-186D-E50E09494E91}"/>
                </a:ext>
              </a:extLst>
            </p:cNvPr>
            <p:cNvSpPr txBox="1"/>
            <p:nvPr/>
          </p:nvSpPr>
          <p:spPr>
            <a:xfrm>
              <a:off x="4297680" y="4416552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−0.052</a:t>
              </a:r>
            </a:p>
          </p:txBody>
        </p:sp>
        <p:sp>
          <p:nvSpPr>
            <p:cNvPr id="93" name="Rectangle 91">
              <a:extLst>
                <a:ext uri="{FF2B5EF4-FFF2-40B4-BE49-F238E27FC236}">
                  <a16:creationId xmlns:a16="http://schemas.microsoft.com/office/drawing/2014/main" id="{1696FC22-77F9-8AC3-E98C-CEAADE9DD5F1}"/>
                </a:ext>
              </a:extLst>
            </p:cNvPr>
            <p:cNvSpPr/>
            <p:nvPr/>
          </p:nvSpPr>
          <p:spPr>
            <a:xfrm>
              <a:off x="411480" y="4718304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D1AD8A7-45FD-A99D-83C1-DFC10334F86B}"/>
                </a:ext>
              </a:extLst>
            </p:cNvPr>
            <p:cNvSpPr txBox="1"/>
            <p:nvPr/>
          </p:nvSpPr>
          <p:spPr>
            <a:xfrm>
              <a:off x="411480" y="4718304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95" name="Rectangle 93">
              <a:extLst>
                <a:ext uri="{FF2B5EF4-FFF2-40B4-BE49-F238E27FC236}">
                  <a16:creationId xmlns:a16="http://schemas.microsoft.com/office/drawing/2014/main" id="{72571C0D-4B40-23BD-998F-73F5FE182CB2}"/>
                </a:ext>
              </a:extLst>
            </p:cNvPr>
            <p:cNvSpPr/>
            <p:nvPr/>
          </p:nvSpPr>
          <p:spPr>
            <a:xfrm>
              <a:off x="1691640" y="4718304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71B89DD-505A-4D64-BA0B-F15E90A0F9E7}"/>
                </a:ext>
              </a:extLst>
            </p:cNvPr>
            <p:cNvSpPr txBox="1"/>
            <p:nvPr/>
          </p:nvSpPr>
          <p:spPr>
            <a:xfrm>
              <a:off x="1691640" y="4718304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 [0.250,0.488]</a:t>
              </a:r>
            </a:p>
          </p:txBody>
        </p:sp>
        <p:sp>
          <p:nvSpPr>
            <p:cNvPr id="97" name="Rectangle 95">
              <a:extLst>
                <a:ext uri="{FF2B5EF4-FFF2-40B4-BE49-F238E27FC236}">
                  <a16:creationId xmlns:a16="http://schemas.microsoft.com/office/drawing/2014/main" id="{418E5CB8-6304-AB2E-CD66-5AEAC97E8094}"/>
                </a:ext>
              </a:extLst>
            </p:cNvPr>
            <p:cNvSpPr/>
            <p:nvPr/>
          </p:nvSpPr>
          <p:spPr>
            <a:xfrm>
              <a:off x="2971800" y="4718304"/>
              <a:ext cx="12801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6115564-3CDF-4527-E267-47D6E75A5ABF}"/>
                </a:ext>
              </a:extLst>
            </p:cNvPr>
            <p:cNvSpPr txBox="1"/>
            <p:nvPr/>
          </p:nvSpPr>
          <p:spPr>
            <a:xfrm>
              <a:off x="2971800" y="4718304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0.340 [0.170,0.491]</a:t>
              </a:r>
            </a:p>
          </p:txBody>
        </p:sp>
        <p:sp>
          <p:nvSpPr>
            <p:cNvPr id="99" name="Rectangle 97">
              <a:extLst>
                <a:ext uri="{FF2B5EF4-FFF2-40B4-BE49-F238E27FC236}">
                  <a16:creationId xmlns:a16="http://schemas.microsoft.com/office/drawing/2014/main" id="{5F0D0AF1-1785-E444-DAC2-E791E99F9D9E}"/>
                </a:ext>
              </a:extLst>
            </p:cNvPr>
            <p:cNvSpPr/>
            <p:nvPr/>
          </p:nvSpPr>
          <p:spPr>
            <a:xfrm>
              <a:off x="4297680" y="4718304"/>
              <a:ext cx="1143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D2B74A2-4674-6A9A-E434-C14F4A1B46F5}"/>
                </a:ext>
              </a:extLst>
            </p:cNvPr>
            <p:cNvSpPr txBox="1"/>
            <p:nvPr/>
          </p:nvSpPr>
          <p:spPr>
            <a:xfrm>
              <a:off x="4297680" y="4718304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−0.033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273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74844-97C8-977F-E6BF-C1CB699D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F673A-DFA6-7BA8-F689-89F7035D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DF6F6-DDFF-913F-0597-EA9F88A9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84D6DB4-26C0-C412-A838-4D327E28B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1 (Clinic) vs Model 3 (Clinic + AEC + Scanner) </a:t>
            </a:r>
            <a:r>
              <a:rPr lang="ko-KR" altLang="en-US" dirty="0"/>
              <a:t>비교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3580486-1EC9-7676-1DC8-EC6428F6E2DE}"/>
              </a:ext>
            </a:extLst>
          </p:cNvPr>
          <p:cNvSpPr/>
          <p:nvPr/>
        </p:nvSpPr>
        <p:spPr>
          <a:xfrm>
            <a:off x="361405" y="1698171"/>
            <a:ext cx="5486400" cy="4262361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F901EE-7518-54FA-4164-93C15C4184E3}"/>
              </a:ext>
            </a:extLst>
          </p:cNvPr>
          <p:cNvSpPr txBox="1"/>
          <p:nvPr/>
        </p:nvSpPr>
        <p:spPr>
          <a:xfrm>
            <a:off x="544285" y="1771323"/>
            <a:ext cx="38349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 dirty="0">
                <a:solidFill>
                  <a:srgbClr val="1A1A2E"/>
                </a:solidFill>
                <a:latin typeface="맑은 고딕"/>
              </a:rPr>
              <a:t>DeLong Test — M1(LR) vs M</a:t>
            </a:r>
            <a:r>
              <a:rPr lang="en-US" sz="1400" b="1" i="0" dirty="0">
                <a:solidFill>
                  <a:srgbClr val="1A1A2E"/>
                </a:solidFill>
                <a:latin typeface="맑은 고딕"/>
              </a:rPr>
              <a:t>3</a:t>
            </a:r>
            <a:r>
              <a:rPr sz="1400" b="1" i="0" dirty="0">
                <a:solidFill>
                  <a:srgbClr val="1A1A2E"/>
                </a:solidFill>
                <a:latin typeface="맑은 고딕"/>
              </a:rPr>
              <a:t>(</a:t>
            </a:r>
            <a:r>
              <a:rPr sz="1400" b="1" i="0" dirty="0" err="1">
                <a:solidFill>
                  <a:srgbClr val="1A1A2E"/>
                </a:solidFill>
                <a:latin typeface="맑은 고딕"/>
              </a:rPr>
              <a:t>CrossAttn</a:t>
            </a:r>
            <a:r>
              <a:rPr sz="1400" b="1" i="0" dirty="0">
                <a:solidFill>
                  <a:srgbClr val="1A1A2E"/>
                </a:solidFill>
                <a:latin typeface="맑은 고딕"/>
              </a:rPr>
              <a:t>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9E30BA-5AD1-88CC-E121-017E377DFD8C}"/>
              </a:ext>
            </a:extLst>
          </p:cNvPr>
          <p:cNvSpPr txBox="1"/>
          <p:nvPr/>
        </p:nvSpPr>
        <p:spPr>
          <a:xfrm>
            <a:off x="544285" y="4086204"/>
            <a:ext cx="25879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 dirty="0">
                <a:solidFill>
                  <a:srgbClr val="1A1A2E"/>
                </a:solidFill>
                <a:latin typeface="맑은 고딕"/>
              </a:rPr>
              <a:t>Bootstrap 95% CI — norm </a:t>
            </a:r>
            <a:r>
              <a:rPr sz="1200" b="1" i="0" dirty="0" err="1">
                <a:solidFill>
                  <a:srgbClr val="1A1A2E"/>
                </a:solidFill>
                <a:latin typeface="맑은 고딕"/>
              </a:rPr>
              <a:t>기준</a:t>
            </a:r>
            <a:endParaRPr sz="1200" b="1" i="0" dirty="0">
              <a:solidFill>
                <a:srgbClr val="1A1A2E"/>
              </a:solidFill>
              <a:latin typeface="맑은 고딕"/>
            </a:endParaRPr>
          </a:p>
        </p:txBody>
      </p:sp>
      <p:sp>
        <p:nvSpPr>
          <p:cNvPr id="162" name="Rectangle 6">
            <a:extLst>
              <a:ext uri="{FF2B5EF4-FFF2-40B4-BE49-F238E27FC236}">
                <a16:creationId xmlns:a16="http://schemas.microsoft.com/office/drawing/2014/main" id="{905890AF-CB0A-0FF3-335A-5EB5D054A3BA}"/>
              </a:ext>
            </a:extLst>
          </p:cNvPr>
          <p:cNvSpPr/>
          <p:nvPr/>
        </p:nvSpPr>
        <p:spPr>
          <a:xfrm>
            <a:off x="544285" y="2079100"/>
            <a:ext cx="5120640" cy="3657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Rectangle 58">
            <a:extLst>
              <a:ext uri="{FF2B5EF4-FFF2-40B4-BE49-F238E27FC236}">
                <a16:creationId xmlns:a16="http://schemas.microsoft.com/office/drawing/2014/main" id="{A82D6439-3A4A-1465-79BF-9ECFDA862A25}"/>
              </a:ext>
            </a:extLst>
          </p:cNvPr>
          <p:cNvSpPr/>
          <p:nvPr/>
        </p:nvSpPr>
        <p:spPr>
          <a:xfrm>
            <a:off x="508000" y="4330261"/>
            <a:ext cx="5120640" cy="2743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BFA8739-B882-0C1F-C7BE-AFE5FDC86FA8}"/>
              </a:ext>
            </a:extLst>
          </p:cNvPr>
          <p:cNvSpPr txBox="1"/>
          <p:nvPr/>
        </p:nvSpPr>
        <p:spPr>
          <a:xfrm>
            <a:off x="6030685" y="1698171"/>
            <a:ext cx="320818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 dirty="0">
                <a:solidFill>
                  <a:srgbClr val="1A1A2E"/>
                </a:solidFill>
                <a:latin typeface="맑은 고딕"/>
              </a:rPr>
              <a:t>ROC </a:t>
            </a:r>
            <a:r>
              <a:rPr sz="1200" b="1" i="0" dirty="0" err="1">
                <a:solidFill>
                  <a:srgbClr val="1A1A2E"/>
                </a:solidFill>
                <a:latin typeface="맑은 고딕"/>
              </a:rPr>
              <a:t>비교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  (norm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/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 M1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·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M2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·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M2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_2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·</a:t>
            </a:r>
            <a:r>
              <a:rPr lang="en-US" sz="1200" b="1" i="0" dirty="0">
                <a:solidFill>
                  <a:srgbClr val="1A1A2E"/>
                </a:solidFill>
                <a:latin typeface="맑은 고딕"/>
              </a:rPr>
              <a:t> </a:t>
            </a:r>
            <a:r>
              <a:rPr sz="1200" b="1" i="0" dirty="0">
                <a:solidFill>
                  <a:srgbClr val="1A1A2E"/>
                </a:solidFill>
                <a:latin typeface="맑은 고딕"/>
              </a:rPr>
              <a:t>M3)</a:t>
            </a:r>
          </a:p>
        </p:txBody>
      </p:sp>
      <p:pic>
        <p:nvPicPr>
          <p:cNvPr id="102" name="Picture 100" descr="roc_all_models_norm.png">
            <a:extLst>
              <a:ext uri="{FF2B5EF4-FFF2-40B4-BE49-F238E27FC236}">
                <a16:creationId xmlns:a16="http://schemas.microsoft.com/office/drawing/2014/main" id="{A88D542E-870F-190E-490E-0DBBF6083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1975169"/>
            <a:ext cx="6035040" cy="4262359"/>
          </a:xfrm>
          <a:prstGeom prst="rect">
            <a:avLst/>
          </a:prstGeom>
        </p:spPr>
      </p:pic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85DCA33E-13EA-B546-68FF-841A4EF55580}"/>
              </a:ext>
            </a:extLst>
          </p:cNvPr>
          <p:cNvGrpSpPr/>
          <p:nvPr/>
        </p:nvGrpSpPr>
        <p:grpSpPr>
          <a:xfrm>
            <a:off x="544285" y="2133964"/>
            <a:ext cx="5120640" cy="1755648"/>
            <a:chOff x="411480" y="1344168"/>
            <a:chExt cx="5212080" cy="1755648"/>
          </a:xfrm>
        </p:grpSpPr>
        <p:sp>
          <p:nvSpPr>
            <p:cNvPr id="103" name="Rectangle 7">
              <a:extLst>
                <a:ext uri="{FF2B5EF4-FFF2-40B4-BE49-F238E27FC236}">
                  <a16:creationId xmlns:a16="http://schemas.microsoft.com/office/drawing/2014/main" id="{77BBA93A-50D3-7988-BFE2-FBDA178D771F}"/>
                </a:ext>
              </a:extLst>
            </p:cNvPr>
            <p:cNvSpPr/>
            <p:nvPr/>
          </p:nvSpPr>
          <p:spPr>
            <a:xfrm>
              <a:off x="411480" y="1344168"/>
              <a:ext cx="141732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63FB969-7DE7-0BB5-87DC-4418082443E5}"/>
                </a:ext>
              </a:extLst>
            </p:cNvPr>
            <p:cNvSpPr txBox="1"/>
            <p:nvPr/>
          </p:nvSpPr>
          <p:spPr>
            <a:xfrm>
              <a:off x="411480" y="1344168"/>
              <a:ext cx="141732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시나리오</a:t>
              </a:r>
            </a:p>
          </p:txBody>
        </p:sp>
        <p:sp>
          <p:nvSpPr>
            <p:cNvPr id="105" name="Rectangle 9">
              <a:extLst>
                <a:ext uri="{FF2B5EF4-FFF2-40B4-BE49-F238E27FC236}">
                  <a16:creationId xmlns:a16="http://schemas.microsoft.com/office/drawing/2014/main" id="{EE333681-FDDB-6972-F5FE-ACC9622F6AFD}"/>
                </a:ext>
              </a:extLst>
            </p:cNvPr>
            <p:cNvSpPr/>
            <p:nvPr/>
          </p:nvSpPr>
          <p:spPr>
            <a:xfrm>
              <a:off x="1874519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1E43882-2173-BD7C-905C-E115615A615D}"/>
                </a:ext>
              </a:extLst>
            </p:cNvPr>
            <p:cNvSpPr txBox="1"/>
            <p:nvPr/>
          </p:nvSpPr>
          <p:spPr>
            <a:xfrm>
              <a:off x="1874519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M1 AUC</a:t>
              </a:r>
            </a:p>
          </p:txBody>
        </p:sp>
        <p:sp>
          <p:nvSpPr>
            <p:cNvPr id="107" name="Rectangle 11">
              <a:extLst>
                <a:ext uri="{FF2B5EF4-FFF2-40B4-BE49-F238E27FC236}">
                  <a16:creationId xmlns:a16="http://schemas.microsoft.com/office/drawing/2014/main" id="{4CAE3153-9617-403E-DBCA-DBFEC554C1DC}"/>
                </a:ext>
              </a:extLst>
            </p:cNvPr>
            <p:cNvSpPr/>
            <p:nvPr/>
          </p:nvSpPr>
          <p:spPr>
            <a:xfrm>
              <a:off x="2834640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B5A8C26-2988-556E-C9D5-416ED59D2F7E}"/>
                </a:ext>
              </a:extLst>
            </p:cNvPr>
            <p:cNvSpPr txBox="1"/>
            <p:nvPr/>
          </p:nvSpPr>
          <p:spPr>
            <a:xfrm>
              <a:off x="2834640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M3 AUC</a:t>
              </a:r>
            </a:p>
          </p:txBody>
        </p:sp>
        <p:sp>
          <p:nvSpPr>
            <p:cNvPr id="109" name="Rectangle 13">
              <a:extLst>
                <a:ext uri="{FF2B5EF4-FFF2-40B4-BE49-F238E27FC236}">
                  <a16:creationId xmlns:a16="http://schemas.microsoft.com/office/drawing/2014/main" id="{F4867565-F2CA-C9BC-C53C-54691A0D3FDA}"/>
                </a:ext>
              </a:extLst>
            </p:cNvPr>
            <p:cNvSpPr/>
            <p:nvPr/>
          </p:nvSpPr>
          <p:spPr>
            <a:xfrm>
              <a:off x="3794760" y="1344168"/>
              <a:ext cx="91440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52953A9-2B7C-A99B-B96D-0CF84FB17BF8}"/>
                </a:ext>
              </a:extLst>
            </p:cNvPr>
            <p:cNvSpPr txBox="1"/>
            <p:nvPr/>
          </p:nvSpPr>
          <p:spPr>
            <a:xfrm>
              <a:off x="3794760" y="1344168"/>
              <a:ext cx="914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Δ AUC</a:t>
              </a:r>
            </a:p>
          </p:txBody>
        </p:sp>
        <p:sp>
          <p:nvSpPr>
            <p:cNvPr id="111" name="Rectangle 15">
              <a:extLst>
                <a:ext uri="{FF2B5EF4-FFF2-40B4-BE49-F238E27FC236}">
                  <a16:creationId xmlns:a16="http://schemas.microsoft.com/office/drawing/2014/main" id="{0189D416-2673-6214-D68B-011D2426E0A7}"/>
                </a:ext>
              </a:extLst>
            </p:cNvPr>
            <p:cNvSpPr/>
            <p:nvPr/>
          </p:nvSpPr>
          <p:spPr>
            <a:xfrm>
              <a:off x="4754880" y="1344168"/>
              <a:ext cx="86868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B0AE9DD-8544-ECB2-3003-4227A76A00ED}"/>
                </a:ext>
              </a:extLst>
            </p:cNvPr>
            <p:cNvSpPr txBox="1"/>
            <p:nvPr/>
          </p:nvSpPr>
          <p:spPr>
            <a:xfrm>
              <a:off x="4754880" y="1344168"/>
              <a:ext cx="86868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p-val</a:t>
              </a:r>
            </a:p>
          </p:txBody>
        </p:sp>
        <p:sp>
          <p:nvSpPr>
            <p:cNvPr id="113" name="Rectangle 17">
              <a:extLst>
                <a:ext uri="{FF2B5EF4-FFF2-40B4-BE49-F238E27FC236}">
                  <a16:creationId xmlns:a16="http://schemas.microsoft.com/office/drawing/2014/main" id="{2ABBF445-6178-7722-C57E-0463B7B7BFED}"/>
                </a:ext>
              </a:extLst>
            </p:cNvPr>
            <p:cNvSpPr/>
            <p:nvPr/>
          </p:nvSpPr>
          <p:spPr>
            <a:xfrm>
              <a:off x="411480" y="1636776"/>
              <a:ext cx="14173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ECB159E-F536-1FDE-1FFF-15D74CB55D95}"/>
                </a:ext>
              </a:extLst>
            </p:cNvPr>
            <p:cNvSpPr txBox="1"/>
            <p:nvPr/>
          </p:nvSpPr>
          <p:spPr>
            <a:xfrm>
              <a:off x="411480" y="163677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norm</a:t>
              </a:r>
            </a:p>
          </p:txBody>
        </p:sp>
        <p:sp>
          <p:nvSpPr>
            <p:cNvPr id="115" name="Rectangle 19">
              <a:extLst>
                <a:ext uri="{FF2B5EF4-FFF2-40B4-BE49-F238E27FC236}">
                  <a16:creationId xmlns:a16="http://schemas.microsoft.com/office/drawing/2014/main" id="{9BBF3251-A078-7C0F-6A7A-1E1C12C85E3B}"/>
                </a:ext>
              </a:extLst>
            </p:cNvPr>
            <p:cNvSpPr/>
            <p:nvPr/>
          </p:nvSpPr>
          <p:spPr>
            <a:xfrm>
              <a:off x="1874519" y="163677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3B66110-B53A-7F11-42B4-ED8E2EF8B107}"/>
                </a:ext>
              </a:extLst>
            </p:cNvPr>
            <p:cNvSpPr txBox="1"/>
            <p:nvPr/>
          </p:nvSpPr>
          <p:spPr>
            <a:xfrm>
              <a:off x="1874519" y="163677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117" name="Rectangle 21">
              <a:extLst>
                <a:ext uri="{FF2B5EF4-FFF2-40B4-BE49-F238E27FC236}">
                  <a16:creationId xmlns:a16="http://schemas.microsoft.com/office/drawing/2014/main" id="{24744A0E-A217-8CF0-58D4-76C6CF4B5383}"/>
                </a:ext>
              </a:extLst>
            </p:cNvPr>
            <p:cNvSpPr/>
            <p:nvPr/>
          </p:nvSpPr>
          <p:spPr>
            <a:xfrm>
              <a:off x="2834640" y="163677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C2C01B5-B8A9-A298-A5BB-F45142D52993}"/>
                </a:ext>
              </a:extLst>
            </p:cNvPr>
            <p:cNvSpPr txBox="1"/>
            <p:nvPr/>
          </p:nvSpPr>
          <p:spPr>
            <a:xfrm>
              <a:off x="2834640" y="163677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0.8455</a:t>
              </a:r>
            </a:p>
          </p:txBody>
        </p:sp>
        <p:sp>
          <p:nvSpPr>
            <p:cNvPr id="119" name="Rectangle 23">
              <a:extLst>
                <a:ext uri="{FF2B5EF4-FFF2-40B4-BE49-F238E27FC236}">
                  <a16:creationId xmlns:a16="http://schemas.microsoft.com/office/drawing/2014/main" id="{90DE2C17-9084-7B16-D925-A407BBB748D3}"/>
                </a:ext>
              </a:extLst>
            </p:cNvPr>
            <p:cNvSpPr/>
            <p:nvPr/>
          </p:nvSpPr>
          <p:spPr>
            <a:xfrm>
              <a:off x="3794760" y="163677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7F8BDB3-A04E-AED9-842F-87A0C5B57A08}"/>
                </a:ext>
              </a:extLst>
            </p:cNvPr>
            <p:cNvSpPr txBox="1"/>
            <p:nvPr/>
          </p:nvSpPr>
          <p:spPr>
            <a:xfrm>
              <a:off x="3945050" y="1636776"/>
              <a:ext cx="613819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chemeClr val="accent2"/>
                  </a:solidFill>
                  <a:latin typeface="맑은 고딕"/>
                </a:rPr>
                <a:t>+0.043</a:t>
              </a:r>
            </a:p>
          </p:txBody>
        </p:sp>
        <p:sp>
          <p:nvSpPr>
            <p:cNvPr id="121" name="Rectangle 25">
              <a:extLst>
                <a:ext uri="{FF2B5EF4-FFF2-40B4-BE49-F238E27FC236}">
                  <a16:creationId xmlns:a16="http://schemas.microsoft.com/office/drawing/2014/main" id="{CDAC02F2-C869-B3E0-E13F-2429FDFC8878}"/>
                </a:ext>
              </a:extLst>
            </p:cNvPr>
            <p:cNvSpPr/>
            <p:nvPr/>
          </p:nvSpPr>
          <p:spPr>
            <a:xfrm>
              <a:off x="4754880" y="1636776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D30AEC8-16AC-E72E-2988-17390D095440}"/>
                </a:ext>
              </a:extLst>
            </p:cNvPr>
            <p:cNvSpPr txBox="1"/>
            <p:nvPr/>
          </p:nvSpPr>
          <p:spPr>
            <a:xfrm>
              <a:off x="4754880" y="163677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p=0.066 †</a:t>
              </a:r>
            </a:p>
          </p:txBody>
        </p:sp>
        <p:sp>
          <p:nvSpPr>
            <p:cNvPr id="123" name="Rectangle 27">
              <a:extLst>
                <a:ext uri="{FF2B5EF4-FFF2-40B4-BE49-F238E27FC236}">
                  <a16:creationId xmlns:a16="http://schemas.microsoft.com/office/drawing/2014/main" id="{CB7940AF-1397-2ABF-C0FA-2D6E0DF3FB5C}"/>
                </a:ext>
              </a:extLst>
            </p:cNvPr>
            <p:cNvSpPr/>
            <p:nvPr/>
          </p:nvSpPr>
          <p:spPr>
            <a:xfrm>
              <a:off x="411480" y="2002536"/>
              <a:ext cx="14173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1AD1667-E7F6-C4F2-D1A3-5058836518D1}"/>
                </a:ext>
              </a:extLst>
            </p:cNvPr>
            <p:cNvSpPr txBox="1"/>
            <p:nvPr/>
          </p:nvSpPr>
          <p:spPr>
            <a:xfrm>
              <a:off x="411480" y="200253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len128</a:t>
              </a:r>
            </a:p>
          </p:txBody>
        </p:sp>
        <p:sp>
          <p:nvSpPr>
            <p:cNvPr id="125" name="Rectangle 29">
              <a:extLst>
                <a:ext uri="{FF2B5EF4-FFF2-40B4-BE49-F238E27FC236}">
                  <a16:creationId xmlns:a16="http://schemas.microsoft.com/office/drawing/2014/main" id="{A14EADDA-0392-7298-F3AB-15A53E5B0757}"/>
                </a:ext>
              </a:extLst>
            </p:cNvPr>
            <p:cNvSpPr/>
            <p:nvPr/>
          </p:nvSpPr>
          <p:spPr>
            <a:xfrm>
              <a:off x="1874519" y="200253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83B17FBA-F6A3-FD89-736C-6DB07CFD035B}"/>
                </a:ext>
              </a:extLst>
            </p:cNvPr>
            <p:cNvSpPr txBox="1"/>
            <p:nvPr/>
          </p:nvSpPr>
          <p:spPr>
            <a:xfrm>
              <a:off x="1874519" y="200253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127" name="Rectangle 31">
              <a:extLst>
                <a:ext uri="{FF2B5EF4-FFF2-40B4-BE49-F238E27FC236}">
                  <a16:creationId xmlns:a16="http://schemas.microsoft.com/office/drawing/2014/main" id="{26C3E1D0-A353-66D4-16C1-89DD80A60D18}"/>
                </a:ext>
              </a:extLst>
            </p:cNvPr>
            <p:cNvSpPr/>
            <p:nvPr/>
          </p:nvSpPr>
          <p:spPr>
            <a:xfrm>
              <a:off x="2834640" y="200253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F3CAEFB-E138-E053-DEC2-357AF4D8408C}"/>
                </a:ext>
              </a:extLst>
            </p:cNvPr>
            <p:cNvSpPr txBox="1"/>
            <p:nvPr/>
          </p:nvSpPr>
          <p:spPr>
            <a:xfrm>
              <a:off x="2834640" y="200253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E87400"/>
                  </a:solidFill>
                  <a:latin typeface="맑은 고딕"/>
                </a:rPr>
                <a:t>0.8033</a:t>
              </a:r>
            </a:p>
          </p:txBody>
        </p:sp>
        <p:sp>
          <p:nvSpPr>
            <p:cNvPr id="129" name="Rectangle 33">
              <a:extLst>
                <a:ext uri="{FF2B5EF4-FFF2-40B4-BE49-F238E27FC236}">
                  <a16:creationId xmlns:a16="http://schemas.microsoft.com/office/drawing/2014/main" id="{72B2D48C-CFF3-48B4-5E67-9570C0A52E23}"/>
                </a:ext>
              </a:extLst>
            </p:cNvPr>
            <p:cNvSpPr/>
            <p:nvPr/>
          </p:nvSpPr>
          <p:spPr>
            <a:xfrm>
              <a:off x="3794760" y="200253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E0DFDD6B-844D-9B3B-5CC3-48D8CD6D0825}"/>
                </a:ext>
              </a:extLst>
            </p:cNvPr>
            <p:cNvSpPr txBox="1"/>
            <p:nvPr/>
          </p:nvSpPr>
          <p:spPr>
            <a:xfrm>
              <a:off x="3945050" y="2002536"/>
              <a:ext cx="613819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chemeClr val="accent2"/>
                  </a:solidFill>
                  <a:latin typeface="맑은 고딕"/>
                </a:rPr>
                <a:t>+0.000</a:t>
              </a:r>
            </a:p>
          </p:txBody>
        </p:sp>
        <p:sp>
          <p:nvSpPr>
            <p:cNvPr id="131" name="Rectangle 35">
              <a:extLst>
                <a:ext uri="{FF2B5EF4-FFF2-40B4-BE49-F238E27FC236}">
                  <a16:creationId xmlns:a16="http://schemas.microsoft.com/office/drawing/2014/main" id="{BE2791C5-EFE2-0156-D887-D57931B28BE9}"/>
                </a:ext>
              </a:extLst>
            </p:cNvPr>
            <p:cNvSpPr/>
            <p:nvPr/>
          </p:nvSpPr>
          <p:spPr>
            <a:xfrm>
              <a:off x="4754880" y="2002536"/>
              <a:ext cx="86868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03CCF2A-F5DB-F5C3-22CD-59858F6F804C}"/>
                </a:ext>
              </a:extLst>
            </p:cNvPr>
            <p:cNvSpPr txBox="1"/>
            <p:nvPr/>
          </p:nvSpPr>
          <p:spPr>
            <a:xfrm>
              <a:off x="4754880" y="200253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p=0.995 ns</a:t>
              </a:r>
            </a:p>
          </p:txBody>
        </p:sp>
        <p:sp>
          <p:nvSpPr>
            <p:cNvPr id="133" name="Rectangle 37">
              <a:extLst>
                <a:ext uri="{FF2B5EF4-FFF2-40B4-BE49-F238E27FC236}">
                  <a16:creationId xmlns:a16="http://schemas.microsoft.com/office/drawing/2014/main" id="{2024571A-550B-1B2C-9FA2-95DD359AA2B0}"/>
                </a:ext>
              </a:extLst>
            </p:cNvPr>
            <p:cNvSpPr/>
            <p:nvPr/>
          </p:nvSpPr>
          <p:spPr>
            <a:xfrm>
              <a:off x="411480" y="2368296"/>
              <a:ext cx="141732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5A114F0-05FE-7D24-999C-3544F59363F1}"/>
                </a:ext>
              </a:extLst>
            </p:cNvPr>
            <p:cNvSpPr txBox="1"/>
            <p:nvPr/>
          </p:nvSpPr>
          <p:spPr>
            <a:xfrm>
              <a:off x="411480" y="236829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crop80</a:t>
              </a:r>
            </a:p>
          </p:txBody>
        </p:sp>
        <p:sp>
          <p:nvSpPr>
            <p:cNvPr id="135" name="Rectangle 39">
              <a:extLst>
                <a:ext uri="{FF2B5EF4-FFF2-40B4-BE49-F238E27FC236}">
                  <a16:creationId xmlns:a16="http://schemas.microsoft.com/office/drawing/2014/main" id="{2691BA96-9EA8-1FA9-9397-1B9A8283AB32}"/>
                </a:ext>
              </a:extLst>
            </p:cNvPr>
            <p:cNvSpPr/>
            <p:nvPr/>
          </p:nvSpPr>
          <p:spPr>
            <a:xfrm>
              <a:off x="1874519" y="236829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80FB987-38ED-673B-43FC-A4415166263A}"/>
                </a:ext>
              </a:extLst>
            </p:cNvPr>
            <p:cNvSpPr txBox="1"/>
            <p:nvPr/>
          </p:nvSpPr>
          <p:spPr>
            <a:xfrm>
              <a:off x="1874519" y="236829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137" name="Rectangle 41">
              <a:extLst>
                <a:ext uri="{FF2B5EF4-FFF2-40B4-BE49-F238E27FC236}">
                  <a16:creationId xmlns:a16="http://schemas.microsoft.com/office/drawing/2014/main" id="{DBFC3C8B-62B0-C015-B00E-F79A65A2AFEC}"/>
                </a:ext>
              </a:extLst>
            </p:cNvPr>
            <p:cNvSpPr/>
            <p:nvPr/>
          </p:nvSpPr>
          <p:spPr>
            <a:xfrm>
              <a:off x="2834640" y="236829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250FF74-99B3-B533-D5A4-60327527E4BB}"/>
                </a:ext>
              </a:extLst>
            </p:cNvPr>
            <p:cNvSpPr txBox="1"/>
            <p:nvPr/>
          </p:nvSpPr>
          <p:spPr>
            <a:xfrm>
              <a:off x="2995535" y="2368296"/>
              <a:ext cx="59260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0070C0"/>
                  </a:solidFill>
                  <a:latin typeface="맑은 고딕"/>
                </a:rPr>
                <a:t>0.7835</a:t>
              </a:r>
            </a:p>
          </p:txBody>
        </p:sp>
        <p:sp>
          <p:nvSpPr>
            <p:cNvPr id="139" name="Rectangle 43">
              <a:extLst>
                <a:ext uri="{FF2B5EF4-FFF2-40B4-BE49-F238E27FC236}">
                  <a16:creationId xmlns:a16="http://schemas.microsoft.com/office/drawing/2014/main" id="{FD31A9B2-8C20-DDB1-FF65-487E1576E174}"/>
                </a:ext>
              </a:extLst>
            </p:cNvPr>
            <p:cNvSpPr/>
            <p:nvPr/>
          </p:nvSpPr>
          <p:spPr>
            <a:xfrm>
              <a:off x="3794760" y="2368296"/>
              <a:ext cx="91440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30E1DCD-1DA2-93D0-FAB6-CDB98AEBF788}"/>
                </a:ext>
              </a:extLst>
            </p:cNvPr>
            <p:cNvSpPr txBox="1"/>
            <p:nvPr/>
          </p:nvSpPr>
          <p:spPr>
            <a:xfrm>
              <a:off x="3794760" y="236829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0F6BBF"/>
                  </a:solidFill>
                  <a:latin typeface="맑은 고딕"/>
                </a:rPr>
                <a:t>−0.019</a:t>
              </a:r>
            </a:p>
          </p:txBody>
        </p:sp>
        <p:sp>
          <p:nvSpPr>
            <p:cNvPr id="141" name="Rectangle 45">
              <a:extLst>
                <a:ext uri="{FF2B5EF4-FFF2-40B4-BE49-F238E27FC236}">
                  <a16:creationId xmlns:a16="http://schemas.microsoft.com/office/drawing/2014/main" id="{002107A7-A745-623F-8DE3-2F292A5F98D8}"/>
                </a:ext>
              </a:extLst>
            </p:cNvPr>
            <p:cNvSpPr/>
            <p:nvPr/>
          </p:nvSpPr>
          <p:spPr>
            <a:xfrm>
              <a:off x="4754880" y="2368296"/>
              <a:ext cx="868680" cy="365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FA07BFD-B439-21D1-E629-FD075D806DF6}"/>
                </a:ext>
              </a:extLst>
            </p:cNvPr>
            <p:cNvSpPr txBox="1"/>
            <p:nvPr/>
          </p:nvSpPr>
          <p:spPr>
            <a:xfrm>
              <a:off x="4754880" y="236829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p=0.406 ns</a:t>
              </a:r>
            </a:p>
          </p:txBody>
        </p:sp>
        <p:sp>
          <p:nvSpPr>
            <p:cNvPr id="143" name="Rectangle 47">
              <a:extLst>
                <a:ext uri="{FF2B5EF4-FFF2-40B4-BE49-F238E27FC236}">
                  <a16:creationId xmlns:a16="http://schemas.microsoft.com/office/drawing/2014/main" id="{633809A1-11A9-5666-E000-40A64F9D0E2E}"/>
                </a:ext>
              </a:extLst>
            </p:cNvPr>
            <p:cNvSpPr/>
            <p:nvPr/>
          </p:nvSpPr>
          <p:spPr>
            <a:xfrm>
              <a:off x="411480" y="2734056"/>
              <a:ext cx="141732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94781F6-007F-6ADA-BEE2-65D49ECEF218}"/>
                </a:ext>
              </a:extLst>
            </p:cNvPr>
            <p:cNvSpPr txBox="1"/>
            <p:nvPr/>
          </p:nvSpPr>
          <p:spPr>
            <a:xfrm>
              <a:off x="411480" y="2734056"/>
              <a:ext cx="141732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crop60</a:t>
              </a:r>
            </a:p>
          </p:txBody>
        </p:sp>
        <p:sp>
          <p:nvSpPr>
            <p:cNvPr id="145" name="Rectangle 49">
              <a:extLst>
                <a:ext uri="{FF2B5EF4-FFF2-40B4-BE49-F238E27FC236}">
                  <a16:creationId xmlns:a16="http://schemas.microsoft.com/office/drawing/2014/main" id="{F32EAC8A-AC25-5008-784C-BE4F3A17A100}"/>
                </a:ext>
              </a:extLst>
            </p:cNvPr>
            <p:cNvSpPr/>
            <p:nvPr/>
          </p:nvSpPr>
          <p:spPr>
            <a:xfrm>
              <a:off x="1874519" y="273405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A3CA07BB-0EFD-FDFF-3912-170559FB080E}"/>
                </a:ext>
              </a:extLst>
            </p:cNvPr>
            <p:cNvSpPr txBox="1"/>
            <p:nvPr/>
          </p:nvSpPr>
          <p:spPr>
            <a:xfrm>
              <a:off x="1874519" y="273405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147" name="Rectangle 51">
              <a:extLst>
                <a:ext uri="{FF2B5EF4-FFF2-40B4-BE49-F238E27FC236}">
                  <a16:creationId xmlns:a16="http://schemas.microsoft.com/office/drawing/2014/main" id="{9EB6CC93-4524-8C33-D93A-7849DF0FF2B0}"/>
                </a:ext>
              </a:extLst>
            </p:cNvPr>
            <p:cNvSpPr/>
            <p:nvPr/>
          </p:nvSpPr>
          <p:spPr>
            <a:xfrm>
              <a:off x="2834640" y="273405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654DE32-8821-4A29-FA3C-3462AE4AEC06}"/>
                </a:ext>
              </a:extLst>
            </p:cNvPr>
            <p:cNvSpPr txBox="1"/>
            <p:nvPr/>
          </p:nvSpPr>
          <p:spPr>
            <a:xfrm>
              <a:off x="2995535" y="2734056"/>
              <a:ext cx="59260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 dirty="0">
                  <a:solidFill>
                    <a:srgbClr val="0070C0"/>
                  </a:solidFill>
                  <a:latin typeface="맑은 고딕"/>
                </a:rPr>
                <a:t>0.7886</a:t>
              </a:r>
            </a:p>
          </p:txBody>
        </p:sp>
        <p:sp>
          <p:nvSpPr>
            <p:cNvPr id="149" name="Rectangle 53">
              <a:extLst>
                <a:ext uri="{FF2B5EF4-FFF2-40B4-BE49-F238E27FC236}">
                  <a16:creationId xmlns:a16="http://schemas.microsoft.com/office/drawing/2014/main" id="{BEA0F55F-2E8A-1AD9-18EA-C2B9ABEF073B}"/>
                </a:ext>
              </a:extLst>
            </p:cNvPr>
            <p:cNvSpPr/>
            <p:nvPr/>
          </p:nvSpPr>
          <p:spPr>
            <a:xfrm>
              <a:off x="3794760" y="2734056"/>
              <a:ext cx="91440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4910EBFE-24F2-FE45-158C-08CAE08DEF8C}"/>
                </a:ext>
              </a:extLst>
            </p:cNvPr>
            <p:cNvSpPr txBox="1"/>
            <p:nvPr/>
          </p:nvSpPr>
          <p:spPr>
            <a:xfrm>
              <a:off x="3794760" y="2734056"/>
              <a:ext cx="91440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0F6BBF"/>
                  </a:solidFill>
                  <a:latin typeface="맑은 고딕"/>
                </a:rPr>
                <a:t>−0.014</a:t>
              </a:r>
            </a:p>
          </p:txBody>
        </p:sp>
        <p:sp>
          <p:nvSpPr>
            <p:cNvPr id="151" name="Rectangle 55">
              <a:extLst>
                <a:ext uri="{FF2B5EF4-FFF2-40B4-BE49-F238E27FC236}">
                  <a16:creationId xmlns:a16="http://schemas.microsoft.com/office/drawing/2014/main" id="{5BDAA282-CA25-CFAD-EBFB-A47DA31718A6}"/>
                </a:ext>
              </a:extLst>
            </p:cNvPr>
            <p:cNvSpPr/>
            <p:nvPr/>
          </p:nvSpPr>
          <p:spPr>
            <a:xfrm>
              <a:off x="4754880" y="2734056"/>
              <a:ext cx="868680" cy="365760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54A9626-1EEC-C3B4-102A-D6179C87B4EB}"/>
                </a:ext>
              </a:extLst>
            </p:cNvPr>
            <p:cNvSpPr txBox="1"/>
            <p:nvPr/>
          </p:nvSpPr>
          <p:spPr>
            <a:xfrm>
              <a:off x="4754880" y="2734056"/>
              <a:ext cx="868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9EA3AB"/>
                  </a:solidFill>
                  <a:latin typeface="맑은 고딕"/>
                </a:rPr>
                <a:t>p=0.646 ns</a:t>
              </a: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D51CBE6A-51A7-BF20-E36E-AA8067442851}"/>
              </a:ext>
            </a:extLst>
          </p:cNvPr>
          <p:cNvGrpSpPr/>
          <p:nvPr/>
        </p:nvGrpSpPr>
        <p:grpSpPr>
          <a:xfrm>
            <a:off x="508000" y="4387956"/>
            <a:ext cx="5120640" cy="1481328"/>
            <a:chOff x="411480" y="3538728"/>
            <a:chExt cx="5029200" cy="1481328"/>
          </a:xfrm>
        </p:grpSpPr>
        <p:sp>
          <p:nvSpPr>
            <p:cNvPr id="154" name="Rectangle 59">
              <a:extLst>
                <a:ext uri="{FF2B5EF4-FFF2-40B4-BE49-F238E27FC236}">
                  <a16:creationId xmlns:a16="http://schemas.microsoft.com/office/drawing/2014/main" id="{E8D14240-92FE-D17F-5582-3A2F6BA3484D}"/>
                </a:ext>
              </a:extLst>
            </p:cNvPr>
            <p:cNvSpPr/>
            <p:nvPr/>
          </p:nvSpPr>
          <p:spPr>
            <a:xfrm>
              <a:off x="411480" y="3538728"/>
              <a:ext cx="123444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819457D-A282-5546-F186-8BC91BE0AD26}"/>
                </a:ext>
              </a:extLst>
            </p:cNvPr>
            <p:cNvSpPr txBox="1"/>
            <p:nvPr/>
          </p:nvSpPr>
          <p:spPr>
            <a:xfrm>
              <a:off x="411480" y="3538728"/>
              <a:ext cx="123444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지표</a:t>
              </a:r>
            </a:p>
          </p:txBody>
        </p:sp>
        <p:sp>
          <p:nvSpPr>
            <p:cNvPr id="156" name="Rectangle 61">
              <a:extLst>
                <a:ext uri="{FF2B5EF4-FFF2-40B4-BE49-F238E27FC236}">
                  <a16:creationId xmlns:a16="http://schemas.microsoft.com/office/drawing/2014/main" id="{21DF5643-80A8-81F6-BAB5-5F8C7AADB1CA}"/>
                </a:ext>
              </a:extLst>
            </p:cNvPr>
            <p:cNvSpPr/>
            <p:nvPr/>
          </p:nvSpPr>
          <p:spPr>
            <a:xfrm>
              <a:off x="1691640" y="3538728"/>
              <a:ext cx="123444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A9DDD48-BEEA-B749-A987-39A1B517574C}"/>
                </a:ext>
              </a:extLst>
            </p:cNvPr>
            <p:cNvSpPr txBox="1"/>
            <p:nvPr/>
          </p:nvSpPr>
          <p:spPr>
            <a:xfrm>
              <a:off x="1691640" y="3538728"/>
              <a:ext cx="123444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M1</a:t>
              </a:r>
            </a:p>
          </p:txBody>
        </p:sp>
        <p:sp>
          <p:nvSpPr>
            <p:cNvPr id="158" name="Rectangle 63">
              <a:extLst>
                <a:ext uri="{FF2B5EF4-FFF2-40B4-BE49-F238E27FC236}">
                  <a16:creationId xmlns:a16="http://schemas.microsoft.com/office/drawing/2014/main" id="{0B398ADC-69D5-6050-B3E1-3FD8D87DBF3F}"/>
                </a:ext>
              </a:extLst>
            </p:cNvPr>
            <p:cNvSpPr/>
            <p:nvPr/>
          </p:nvSpPr>
          <p:spPr>
            <a:xfrm>
              <a:off x="2971800" y="3538728"/>
              <a:ext cx="128016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C4B0A381-880C-25D3-369C-165FC0B185F4}"/>
                </a:ext>
              </a:extLst>
            </p:cNvPr>
            <p:cNvSpPr txBox="1"/>
            <p:nvPr/>
          </p:nvSpPr>
          <p:spPr>
            <a:xfrm>
              <a:off x="2971800" y="3538728"/>
              <a:ext cx="128016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M3</a:t>
              </a:r>
            </a:p>
          </p:txBody>
        </p:sp>
        <p:sp>
          <p:nvSpPr>
            <p:cNvPr id="160" name="Rectangle 65">
              <a:extLst>
                <a:ext uri="{FF2B5EF4-FFF2-40B4-BE49-F238E27FC236}">
                  <a16:creationId xmlns:a16="http://schemas.microsoft.com/office/drawing/2014/main" id="{3A295A16-ADC2-B1B2-EE83-7AA931344EA1}"/>
                </a:ext>
              </a:extLst>
            </p:cNvPr>
            <p:cNvSpPr/>
            <p:nvPr/>
          </p:nvSpPr>
          <p:spPr>
            <a:xfrm>
              <a:off x="4297680" y="3538728"/>
              <a:ext cx="1143000" cy="256032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4F2653-4C90-DA2E-560D-02A7214761F0}"/>
                </a:ext>
              </a:extLst>
            </p:cNvPr>
            <p:cNvSpPr txBox="1"/>
            <p:nvPr/>
          </p:nvSpPr>
          <p:spPr>
            <a:xfrm>
              <a:off x="4297680" y="3538728"/>
              <a:ext cx="1143000" cy="25603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Δ(M3-M1)</a:t>
              </a:r>
            </a:p>
          </p:txBody>
        </p:sp>
        <p:sp>
          <p:nvSpPr>
            <p:cNvPr id="163" name="Rectangle 67">
              <a:extLst>
                <a:ext uri="{FF2B5EF4-FFF2-40B4-BE49-F238E27FC236}">
                  <a16:creationId xmlns:a16="http://schemas.microsoft.com/office/drawing/2014/main" id="{39120BC0-4170-66E2-7329-C78D07ACA621}"/>
                </a:ext>
              </a:extLst>
            </p:cNvPr>
            <p:cNvSpPr/>
            <p:nvPr/>
          </p:nvSpPr>
          <p:spPr>
            <a:xfrm>
              <a:off x="411480" y="3813048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FDBD670-EA76-BA04-9DB7-5DD34AFF3685}"/>
                </a:ext>
              </a:extLst>
            </p:cNvPr>
            <p:cNvSpPr txBox="1"/>
            <p:nvPr/>
          </p:nvSpPr>
          <p:spPr>
            <a:xfrm>
              <a:off x="411480" y="3813048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AUC-ROC</a:t>
              </a:r>
            </a:p>
          </p:txBody>
        </p:sp>
        <p:sp>
          <p:nvSpPr>
            <p:cNvPr id="165" name="Rectangle 69">
              <a:extLst>
                <a:ext uri="{FF2B5EF4-FFF2-40B4-BE49-F238E27FC236}">
                  <a16:creationId xmlns:a16="http://schemas.microsoft.com/office/drawing/2014/main" id="{77D5BB9C-CF19-E4E2-E830-89E65FF15F73}"/>
                </a:ext>
              </a:extLst>
            </p:cNvPr>
            <p:cNvSpPr/>
            <p:nvPr/>
          </p:nvSpPr>
          <p:spPr>
            <a:xfrm>
              <a:off x="1691640" y="3813048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8E413228-0FAC-6885-E036-ACF2B9673B49}"/>
                </a:ext>
              </a:extLst>
            </p:cNvPr>
            <p:cNvSpPr txBox="1"/>
            <p:nvPr/>
          </p:nvSpPr>
          <p:spPr>
            <a:xfrm>
              <a:off x="1691640" y="3813048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0.803 [0.720,0.872]</a:t>
              </a:r>
            </a:p>
          </p:txBody>
        </p:sp>
        <p:sp>
          <p:nvSpPr>
            <p:cNvPr id="167" name="Rectangle 71">
              <a:extLst>
                <a:ext uri="{FF2B5EF4-FFF2-40B4-BE49-F238E27FC236}">
                  <a16:creationId xmlns:a16="http://schemas.microsoft.com/office/drawing/2014/main" id="{D908E9F5-7EBF-C0AD-0B0D-473ACD9D15C2}"/>
                </a:ext>
              </a:extLst>
            </p:cNvPr>
            <p:cNvSpPr/>
            <p:nvPr/>
          </p:nvSpPr>
          <p:spPr>
            <a:xfrm>
              <a:off x="2971800" y="3813048"/>
              <a:ext cx="12801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226E648-DC39-E677-660D-6484C3906B96}"/>
                </a:ext>
              </a:extLst>
            </p:cNvPr>
            <p:cNvSpPr txBox="1"/>
            <p:nvPr/>
          </p:nvSpPr>
          <p:spPr>
            <a:xfrm>
              <a:off x="2971800" y="3813048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0.846 [0.759,0.914]</a:t>
              </a:r>
            </a:p>
          </p:txBody>
        </p:sp>
        <p:sp>
          <p:nvSpPr>
            <p:cNvPr id="169" name="Rectangle 73">
              <a:extLst>
                <a:ext uri="{FF2B5EF4-FFF2-40B4-BE49-F238E27FC236}">
                  <a16:creationId xmlns:a16="http://schemas.microsoft.com/office/drawing/2014/main" id="{ACF3E539-2295-274B-CE1A-0FD4FA7882D7}"/>
                </a:ext>
              </a:extLst>
            </p:cNvPr>
            <p:cNvSpPr/>
            <p:nvPr/>
          </p:nvSpPr>
          <p:spPr>
            <a:xfrm>
              <a:off x="4297680" y="3813048"/>
              <a:ext cx="1143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773EACD8-98FF-709F-236A-1286630D63E2}"/>
                </a:ext>
              </a:extLst>
            </p:cNvPr>
            <p:cNvSpPr txBox="1"/>
            <p:nvPr/>
          </p:nvSpPr>
          <p:spPr>
            <a:xfrm>
              <a:off x="4297680" y="3813048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+0.042</a:t>
              </a:r>
            </a:p>
          </p:txBody>
        </p:sp>
        <p:sp>
          <p:nvSpPr>
            <p:cNvPr id="171" name="Rectangle 75">
              <a:extLst>
                <a:ext uri="{FF2B5EF4-FFF2-40B4-BE49-F238E27FC236}">
                  <a16:creationId xmlns:a16="http://schemas.microsoft.com/office/drawing/2014/main" id="{4BDC530D-4A80-91D0-B6EB-4AFB6BD9F6EB}"/>
                </a:ext>
              </a:extLst>
            </p:cNvPr>
            <p:cNvSpPr/>
            <p:nvPr/>
          </p:nvSpPr>
          <p:spPr>
            <a:xfrm>
              <a:off x="411480" y="4114800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552C7E0E-0E88-1B8F-5140-AC53042AD7A7}"/>
                </a:ext>
              </a:extLst>
            </p:cNvPr>
            <p:cNvSpPr txBox="1"/>
            <p:nvPr/>
          </p:nvSpPr>
          <p:spPr>
            <a:xfrm>
              <a:off x="411480" y="4114800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AUPRC</a:t>
              </a:r>
            </a:p>
          </p:txBody>
        </p:sp>
        <p:sp>
          <p:nvSpPr>
            <p:cNvPr id="173" name="Rectangle 77">
              <a:extLst>
                <a:ext uri="{FF2B5EF4-FFF2-40B4-BE49-F238E27FC236}">
                  <a16:creationId xmlns:a16="http://schemas.microsoft.com/office/drawing/2014/main" id="{BFD9CB9A-E046-5B5A-4241-F30A65C667C1}"/>
                </a:ext>
              </a:extLst>
            </p:cNvPr>
            <p:cNvSpPr/>
            <p:nvPr/>
          </p:nvSpPr>
          <p:spPr>
            <a:xfrm>
              <a:off x="1691640" y="4114800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C813801E-B510-0C27-4FEC-776944CDB9F5}"/>
                </a:ext>
              </a:extLst>
            </p:cNvPr>
            <p:cNvSpPr txBox="1"/>
            <p:nvPr/>
          </p:nvSpPr>
          <p:spPr>
            <a:xfrm>
              <a:off x="1691640" y="4114800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0.312 [0.181,0.495]</a:t>
              </a:r>
            </a:p>
          </p:txBody>
        </p:sp>
        <p:sp>
          <p:nvSpPr>
            <p:cNvPr id="175" name="Rectangle 79">
              <a:extLst>
                <a:ext uri="{FF2B5EF4-FFF2-40B4-BE49-F238E27FC236}">
                  <a16:creationId xmlns:a16="http://schemas.microsoft.com/office/drawing/2014/main" id="{B46D13E8-7162-A2D8-4B27-11F7369CFA93}"/>
                </a:ext>
              </a:extLst>
            </p:cNvPr>
            <p:cNvSpPr/>
            <p:nvPr/>
          </p:nvSpPr>
          <p:spPr>
            <a:xfrm>
              <a:off x="2971800" y="4114800"/>
              <a:ext cx="12801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02C4E2B9-D838-AB4A-9D5E-2B6027C5DE62}"/>
                </a:ext>
              </a:extLst>
            </p:cNvPr>
            <p:cNvSpPr txBox="1"/>
            <p:nvPr/>
          </p:nvSpPr>
          <p:spPr>
            <a:xfrm>
              <a:off x="2971800" y="4114800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0.347 [0.227,0.552]</a:t>
              </a:r>
            </a:p>
          </p:txBody>
        </p:sp>
        <p:sp>
          <p:nvSpPr>
            <p:cNvPr id="177" name="Rectangle 81">
              <a:extLst>
                <a:ext uri="{FF2B5EF4-FFF2-40B4-BE49-F238E27FC236}">
                  <a16:creationId xmlns:a16="http://schemas.microsoft.com/office/drawing/2014/main" id="{638935A5-324C-56BC-E2CD-6F71E212ED28}"/>
                </a:ext>
              </a:extLst>
            </p:cNvPr>
            <p:cNvSpPr/>
            <p:nvPr/>
          </p:nvSpPr>
          <p:spPr>
            <a:xfrm>
              <a:off x="4297680" y="4114800"/>
              <a:ext cx="1143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1F229A8-21B1-230C-9E9E-776824A0E9EE}"/>
                </a:ext>
              </a:extLst>
            </p:cNvPr>
            <p:cNvSpPr txBox="1"/>
            <p:nvPr/>
          </p:nvSpPr>
          <p:spPr>
            <a:xfrm>
              <a:off x="4297680" y="4114800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+0.035</a:t>
              </a:r>
            </a:p>
          </p:txBody>
        </p:sp>
        <p:sp>
          <p:nvSpPr>
            <p:cNvPr id="179" name="Rectangle 83">
              <a:extLst>
                <a:ext uri="{FF2B5EF4-FFF2-40B4-BE49-F238E27FC236}">
                  <a16:creationId xmlns:a16="http://schemas.microsoft.com/office/drawing/2014/main" id="{8AAFC852-F890-A616-5978-5E93A0B81A53}"/>
                </a:ext>
              </a:extLst>
            </p:cNvPr>
            <p:cNvSpPr/>
            <p:nvPr/>
          </p:nvSpPr>
          <p:spPr>
            <a:xfrm>
              <a:off x="411480" y="4416552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29029C41-C90B-3771-C05B-F175EDDDBD18}"/>
                </a:ext>
              </a:extLst>
            </p:cNvPr>
            <p:cNvSpPr txBox="1"/>
            <p:nvPr/>
          </p:nvSpPr>
          <p:spPr>
            <a:xfrm>
              <a:off x="411480" y="4416552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Brier</a:t>
              </a:r>
            </a:p>
          </p:txBody>
        </p:sp>
        <p:sp>
          <p:nvSpPr>
            <p:cNvPr id="181" name="Rectangle 85">
              <a:extLst>
                <a:ext uri="{FF2B5EF4-FFF2-40B4-BE49-F238E27FC236}">
                  <a16:creationId xmlns:a16="http://schemas.microsoft.com/office/drawing/2014/main" id="{26A06A7A-9B5F-F153-C3C3-0D8BC7ECCD01}"/>
                </a:ext>
              </a:extLst>
            </p:cNvPr>
            <p:cNvSpPr/>
            <p:nvPr/>
          </p:nvSpPr>
          <p:spPr>
            <a:xfrm>
              <a:off x="1691640" y="4416552"/>
              <a:ext cx="123444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DBF70B5-5B1F-B32F-0274-1330C4C86108}"/>
                </a:ext>
              </a:extLst>
            </p:cNvPr>
            <p:cNvSpPr txBox="1"/>
            <p:nvPr/>
          </p:nvSpPr>
          <p:spPr>
            <a:xfrm>
              <a:off x="1691640" y="4416552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0.191 [0.165,0.217]</a:t>
              </a:r>
            </a:p>
          </p:txBody>
        </p:sp>
        <p:sp>
          <p:nvSpPr>
            <p:cNvPr id="183" name="Rectangle 87">
              <a:extLst>
                <a:ext uri="{FF2B5EF4-FFF2-40B4-BE49-F238E27FC236}">
                  <a16:creationId xmlns:a16="http://schemas.microsoft.com/office/drawing/2014/main" id="{F53CEC4E-C2AA-70D1-6D4D-D08DFECAECE6}"/>
                </a:ext>
              </a:extLst>
            </p:cNvPr>
            <p:cNvSpPr/>
            <p:nvPr/>
          </p:nvSpPr>
          <p:spPr>
            <a:xfrm>
              <a:off x="2971800" y="4416552"/>
              <a:ext cx="128016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F29AE0B3-2442-8438-E108-CE287F2D1E96}"/>
                </a:ext>
              </a:extLst>
            </p:cNvPr>
            <p:cNvSpPr txBox="1"/>
            <p:nvPr/>
          </p:nvSpPr>
          <p:spPr>
            <a:xfrm>
              <a:off x="2971800" y="4416552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0.190 [0.161,0.218]</a:t>
              </a:r>
            </a:p>
          </p:txBody>
        </p:sp>
        <p:sp>
          <p:nvSpPr>
            <p:cNvPr id="185" name="Rectangle 89">
              <a:extLst>
                <a:ext uri="{FF2B5EF4-FFF2-40B4-BE49-F238E27FC236}">
                  <a16:creationId xmlns:a16="http://schemas.microsoft.com/office/drawing/2014/main" id="{32BE69FC-F85B-8C37-7ED4-C1641DAD8F4C}"/>
                </a:ext>
              </a:extLst>
            </p:cNvPr>
            <p:cNvSpPr/>
            <p:nvPr/>
          </p:nvSpPr>
          <p:spPr>
            <a:xfrm>
              <a:off x="4297680" y="4416552"/>
              <a:ext cx="1143000" cy="30175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E957940D-6596-ADFD-3153-13FBB5CE40F8}"/>
                </a:ext>
              </a:extLst>
            </p:cNvPr>
            <p:cNvSpPr txBox="1"/>
            <p:nvPr/>
          </p:nvSpPr>
          <p:spPr>
            <a:xfrm>
              <a:off x="4297680" y="4416552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−0.001</a:t>
              </a:r>
            </a:p>
          </p:txBody>
        </p:sp>
        <p:sp>
          <p:nvSpPr>
            <p:cNvPr id="187" name="Rectangle 91">
              <a:extLst>
                <a:ext uri="{FF2B5EF4-FFF2-40B4-BE49-F238E27FC236}">
                  <a16:creationId xmlns:a16="http://schemas.microsoft.com/office/drawing/2014/main" id="{6303E1B9-1781-9F34-C02F-86BAB2B41916}"/>
                </a:ext>
              </a:extLst>
            </p:cNvPr>
            <p:cNvSpPr/>
            <p:nvPr/>
          </p:nvSpPr>
          <p:spPr>
            <a:xfrm>
              <a:off x="411480" y="4718304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3B5AEAF6-C8EB-9E8B-C209-A43FE13FCBA2}"/>
                </a:ext>
              </a:extLst>
            </p:cNvPr>
            <p:cNvSpPr txBox="1"/>
            <p:nvPr/>
          </p:nvSpPr>
          <p:spPr>
            <a:xfrm>
              <a:off x="411480" y="4718304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F1</a:t>
              </a:r>
            </a:p>
          </p:txBody>
        </p:sp>
        <p:sp>
          <p:nvSpPr>
            <p:cNvPr id="189" name="Rectangle 93">
              <a:extLst>
                <a:ext uri="{FF2B5EF4-FFF2-40B4-BE49-F238E27FC236}">
                  <a16:creationId xmlns:a16="http://schemas.microsoft.com/office/drawing/2014/main" id="{265C5BF8-5293-88A1-2499-392FA133E8C4}"/>
                </a:ext>
              </a:extLst>
            </p:cNvPr>
            <p:cNvSpPr/>
            <p:nvPr/>
          </p:nvSpPr>
          <p:spPr>
            <a:xfrm>
              <a:off x="1691640" y="4718304"/>
              <a:ext cx="123444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24DA5E1-D584-620A-3D73-2F2E71EA4B12}"/>
                </a:ext>
              </a:extLst>
            </p:cNvPr>
            <p:cNvSpPr txBox="1"/>
            <p:nvPr/>
          </p:nvSpPr>
          <p:spPr>
            <a:xfrm>
              <a:off x="1691640" y="4718304"/>
              <a:ext cx="123444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0.372 [0.250,0.488]</a:t>
              </a:r>
            </a:p>
          </p:txBody>
        </p:sp>
        <p:sp>
          <p:nvSpPr>
            <p:cNvPr id="191" name="Rectangle 95">
              <a:extLst>
                <a:ext uri="{FF2B5EF4-FFF2-40B4-BE49-F238E27FC236}">
                  <a16:creationId xmlns:a16="http://schemas.microsoft.com/office/drawing/2014/main" id="{F2FB39D4-1820-B5B9-B935-79D41FDEBC71}"/>
                </a:ext>
              </a:extLst>
            </p:cNvPr>
            <p:cNvSpPr/>
            <p:nvPr/>
          </p:nvSpPr>
          <p:spPr>
            <a:xfrm>
              <a:off x="2971800" y="4718304"/>
              <a:ext cx="128016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24B62AAD-76C3-677B-F74B-2CD4EF238F10}"/>
                </a:ext>
              </a:extLst>
            </p:cNvPr>
            <p:cNvSpPr txBox="1"/>
            <p:nvPr/>
          </p:nvSpPr>
          <p:spPr>
            <a:xfrm>
              <a:off x="2971800" y="4718304"/>
              <a:ext cx="128016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0.379 [0.263,0.488]</a:t>
              </a:r>
            </a:p>
          </p:txBody>
        </p:sp>
        <p:sp>
          <p:nvSpPr>
            <p:cNvPr id="193" name="Rectangle 97">
              <a:extLst>
                <a:ext uri="{FF2B5EF4-FFF2-40B4-BE49-F238E27FC236}">
                  <a16:creationId xmlns:a16="http://schemas.microsoft.com/office/drawing/2014/main" id="{A28433B1-8F77-D9AE-18B9-CD06A829BB00}"/>
                </a:ext>
              </a:extLst>
            </p:cNvPr>
            <p:cNvSpPr/>
            <p:nvPr/>
          </p:nvSpPr>
          <p:spPr>
            <a:xfrm>
              <a:off x="4297680" y="4718304"/>
              <a:ext cx="1143000" cy="301752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0CC5B85-C60C-9D44-1091-E00F4D6065F0}"/>
                </a:ext>
              </a:extLst>
            </p:cNvPr>
            <p:cNvSpPr txBox="1"/>
            <p:nvPr/>
          </p:nvSpPr>
          <p:spPr>
            <a:xfrm>
              <a:off x="4297680" y="4718304"/>
              <a:ext cx="1143000" cy="3017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0" i="0">
                  <a:solidFill>
                    <a:srgbClr val="1A1A2E"/>
                  </a:solidFill>
                  <a:latin typeface="맑은 고딕"/>
                </a:rPr>
                <a:t>+0.007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737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80601-9427-6194-DE5F-B0F3CA11A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C8526-8F25-3571-C03C-64295C9D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3F79F5-C5D2-C01E-2A78-D0903759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867D0B9-5BF9-8D77-85B6-84FEEA7FBD33}"/>
              </a:ext>
            </a:extLst>
          </p:cNvPr>
          <p:cNvSpPr/>
          <p:nvPr/>
        </p:nvSpPr>
        <p:spPr>
          <a:xfrm>
            <a:off x="576943" y="897468"/>
            <a:ext cx="5432822" cy="327694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C30A7-6168-32ED-478A-125370977062}"/>
              </a:ext>
            </a:extLst>
          </p:cNvPr>
          <p:cNvSpPr txBox="1"/>
          <p:nvPr/>
        </p:nvSpPr>
        <p:spPr>
          <a:xfrm>
            <a:off x="663178" y="914715"/>
            <a:ext cx="5260351" cy="2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맑은 고딕"/>
              </a:rPr>
              <a:t>Model 2  CrossAttn  (Clinic → AEC)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A8FB1-42AD-E6C8-4CD3-309E47EF0F94}"/>
              </a:ext>
            </a:extLst>
          </p:cNvPr>
          <p:cNvSpPr txBox="1"/>
          <p:nvPr/>
        </p:nvSpPr>
        <p:spPr>
          <a:xfrm>
            <a:off x="663178" y="1268280"/>
            <a:ext cx="2587058" cy="215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Heatmap (샘플별)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A6B08-C250-3970-0939-2ABE51B539A4}"/>
              </a:ext>
            </a:extLst>
          </p:cNvPr>
          <p:cNvSpPr txBox="1"/>
          <p:nvPr/>
        </p:nvSpPr>
        <p:spPr>
          <a:xfrm>
            <a:off x="663178" y="3915702"/>
            <a:ext cx="2587058" cy="215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Map C→A (평균)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3B5E7CA-3E56-2170-F7CE-86D70ED6A71F}"/>
              </a:ext>
            </a:extLst>
          </p:cNvPr>
          <p:cNvSpPr/>
          <p:nvPr/>
        </p:nvSpPr>
        <p:spPr>
          <a:xfrm>
            <a:off x="6182235" y="897468"/>
            <a:ext cx="5432822" cy="32769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864CE-2E68-9CED-3883-AD9EFC2DF752}"/>
              </a:ext>
            </a:extLst>
          </p:cNvPr>
          <p:cNvSpPr txBox="1"/>
          <p:nvPr/>
        </p:nvSpPr>
        <p:spPr>
          <a:xfrm>
            <a:off x="6268470" y="914715"/>
            <a:ext cx="32114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altLang="ko-KR" sz="1400" b="1" dirty="0">
                <a:solidFill>
                  <a:srgbClr val="FFFFFF"/>
                </a:solidFill>
              </a:rPr>
              <a:t>Model 2  CrossAttn  (AEC → Clinic)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7E6E14-A34A-7FF3-4998-1CCA9CFF5D06}"/>
              </a:ext>
            </a:extLst>
          </p:cNvPr>
          <p:cNvSpPr txBox="1"/>
          <p:nvPr/>
        </p:nvSpPr>
        <p:spPr>
          <a:xfrm>
            <a:off x="6268470" y="1268280"/>
            <a:ext cx="2587058" cy="215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Heatmap (샘플별)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E9A33-BF73-C26D-3082-6D93E353530C}"/>
              </a:ext>
            </a:extLst>
          </p:cNvPr>
          <p:cNvSpPr txBox="1"/>
          <p:nvPr/>
        </p:nvSpPr>
        <p:spPr>
          <a:xfrm>
            <a:off x="6268470" y="3915702"/>
            <a:ext cx="174759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9EA3AB"/>
                </a:solidFill>
                <a:latin typeface="맑은 고딕"/>
              </a:rPr>
              <a:t>Attention Map </a:t>
            </a:r>
            <a:r>
              <a:rPr lang="en-US" sz="1000" b="0" i="0" dirty="0">
                <a:solidFill>
                  <a:srgbClr val="9EA3AB"/>
                </a:solidFill>
                <a:latin typeface="맑은 고딕"/>
              </a:rPr>
              <a:t>A</a:t>
            </a:r>
            <a:r>
              <a:rPr sz="1000" b="0" i="0" dirty="0">
                <a:solidFill>
                  <a:srgbClr val="9EA3AB"/>
                </a:solidFill>
                <a:latin typeface="맑은 고딕"/>
              </a:rPr>
              <a:t>→</a:t>
            </a:r>
            <a:r>
              <a:rPr lang="en-US" sz="1000" b="0" i="0" dirty="0">
                <a:solidFill>
                  <a:srgbClr val="9EA3AB"/>
                </a:solidFill>
                <a:latin typeface="맑은 고딕"/>
              </a:rPr>
              <a:t>C</a:t>
            </a:r>
            <a:r>
              <a:rPr sz="1000" b="0" i="0" dirty="0">
                <a:solidFill>
                  <a:srgbClr val="9EA3AB"/>
                </a:solidFill>
                <a:latin typeface="맑은 고딕"/>
              </a:rPr>
              <a:t> (</a:t>
            </a:r>
            <a:r>
              <a:rPr sz="1000" b="0" i="0" dirty="0" err="1">
                <a:solidFill>
                  <a:srgbClr val="9EA3AB"/>
                </a:solidFill>
                <a:latin typeface="맑은 고딕"/>
              </a:rPr>
              <a:t>평균</a:t>
            </a:r>
            <a:r>
              <a:rPr sz="1000" b="0" i="0" dirty="0">
                <a:solidFill>
                  <a:srgbClr val="9EA3AB"/>
                </a:solidFill>
                <a:latin typeface="맑은 고딕"/>
              </a:rPr>
              <a:t>)</a:t>
            </a:r>
          </a:p>
        </p:txBody>
      </p:sp>
      <p:pic>
        <p:nvPicPr>
          <p:cNvPr id="13" name="Picture 12" descr="attention_heatmap_c2a.png">
            <a:extLst>
              <a:ext uri="{FF2B5EF4-FFF2-40B4-BE49-F238E27FC236}">
                <a16:creationId xmlns:a16="http://schemas.microsoft.com/office/drawing/2014/main" id="{6DC9DC16-2048-FF53-DEE6-B50BE655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3" y="1526985"/>
            <a:ext cx="5432822" cy="2388716"/>
          </a:xfrm>
          <a:prstGeom prst="rect">
            <a:avLst/>
          </a:prstGeom>
        </p:spPr>
      </p:pic>
      <p:pic>
        <p:nvPicPr>
          <p:cNvPr id="15" name="Picture 14" descr="attention_map_c2a.png">
            <a:extLst>
              <a:ext uri="{FF2B5EF4-FFF2-40B4-BE49-F238E27FC236}">
                <a16:creationId xmlns:a16="http://schemas.microsoft.com/office/drawing/2014/main" id="{95DB1312-7B00-C177-D802-B6DC6A211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43" y="4161922"/>
            <a:ext cx="5346586" cy="2142495"/>
          </a:xfrm>
          <a:prstGeom prst="rect">
            <a:avLst/>
          </a:prstGeom>
        </p:spPr>
      </p:pic>
      <p:pic>
        <p:nvPicPr>
          <p:cNvPr id="16" name="Picture 15" descr="attention_heatmap_a2c.png">
            <a:extLst>
              <a:ext uri="{FF2B5EF4-FFF2-40B4-BE49-F238E27FC236}">
                <a16:creationId xmlns:a16="http://schemas.microsoft.com/office/drawing/2014/main" id="{1606A560-5C4B-634F-98CC-B4F378B80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234" y="1526986"/>
            <a:ext cx="5432822" cy="2388716"/>
          </a:xfrm>
          <a:prstGeom prst="rect">
            <a:avLst/>
          </a:prstGeom>
        </p:spPr>
      </p:pic>
      <p:pic>
        <p:nvPicPr>
          <p:cNvPr id="17" name="Picture 17" descr="attention_map_a2c.png">
            <a:extLst>
              <a:ext uri="{FF2B5EF4-FFF2-40B4-BE49-F238E27FC236}">
                <a16:creationId xmlns:a16="http://schemas.microsoft.com/office/drawing/2014/main" id="{223483BD-129B-6460-2DD1-73903B33C4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234" y="4217526"/>
            <a:ext cx="5432823" cy="20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09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988D-7DCD-78B2-F8AE-F5075F10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FD7345-1B90-E418-5B40-BDB38F8E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40262A-0790-53CB-D334-662CBA5C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F82086-FFF6-AF28-778D-B573CB8A0898}"/>
              </a:ext>
            </a:extLst>
          </p:cNvPr>
          <p:cNvSpPr/>
          <p:nvPr/>
        </p:nvSpPr>
        <p:spPr>
          <a:xfrm>
            <a:off x="576943" y="897468"/>
            <a:ext cx="5432822" cy="327694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47C7B-5F4F-043D-68EC-482A5BF33DE4}"/>
              </a:ext>
            </a:extLst>
          </p:cNvPr>
          <p:cNvSpPr txBox="1"/>
          <p:nvPr/>
        </p:nvSpPr>
        <p:spPr>
          <a:xfrm>
            <a:off x="663178" y="914715"/>
            <a:ext cx="41203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altLang="ko-KR" sz="1400" b="1" dirty="0">
                <a:solidFill>
                  <a:srgbClr val="FFFFFF"/>
                </a:solidFill>
              </a:rPr>
              <a:t>Model 3  CrossAttn3  (Clinic+Scanner → AEC)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A45BC-299F-58CC-F3E2-71FB04C2A83B}"/>
              </a:ext>
            </a:extLst>
          </p:cNvPr>
          <p:cNvSpPr txBox="1"/>
          <p:nvPr/>
        </p:nvSpPr>
        <p:spPr>
          <a:xfrm>
            <a:off x="663178" y="1268280"/>
            <a:ext cx="2587058" cy="215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Heatmap (샘플별)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FACE80-A2E4-7F5C-7B54-C32A1ED8627E}"/>
              </a:ext>
            </a:extLst>
          </p:cNvPr>
          <p:cNvSpPr txBox="1"/>
          <p:nvPr/>
        </p:nvSpPr>
        <p:spPr>
          <a:xfrm>
            <a:off x="663178" y="3915702"/>
            <a:ext cx="2587058" cy="215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Map C→A (평균)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50A2D539-2030-D7C7-671B-B05C43BEC2E5}"/>
              </a:ext>
            </a:extLst>
          </p:cNvPr>
          <p:cNvSpPr/>
          <p:nvPr/>
        </p:nvSpPr>
        <p:spPr>
          <a:xfrm>
            <a:off x="6182235" y="897468"/>
            <a:ext cx="5432822" cy="327694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8DD5D5-DD03-E2A2-8899-A0705EF5F88F}"/>
              </a:ext>
            </a:extLst>
          </p:cNvPr>
          <p:cNvSpPr txBox="1"/>
          <p:nvPr/>
        </p:nvSpPr>
        <p:spPr>
          <a:xfrm>
            <a:off x="6268470" y="914714"/>
            <a:ext cx="41203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맑은 고딕"/>
              </a:rPr>
              <a:t>Model 3  CrossAttn3  (</a:t>
            </a:r>
            <a:r>
              <a:rPr lang="en-US" sz="1400" b="1" i="0" dirty="0">
                <a:solidFill>
                  <a:srgbClr val="FFFFFF"/>
                </a:solidFill>
                <a:latin typeface="맑은 고딕"/>
              </a:rPr>
              <a:t>AEC </a:t>
            </a:r>
            <a:r>
              <a:rPr lang="ko-KR" altLang="en-US" sz="1400" b="1" i="0" dirty="0">
                <a:solidFill>
                  <a:srgbClr val="FFFFFF"/>
                </a:solidFill>
                <a:latin typeface="맑은 고딕"/>
              </a:rPr>
              <a:t>→ </a:t>
            </a:r>
            <a:r>
              <a:rPr sz="1400" b="1" i="0" dirty="0" err="1">
                <a:solidFill>
                  <a:srgbClr val="FFFFFF"/>
                </a:solidFill>
                <a:latin typeface="맑은 고딕"/>
              </a:rPr>
              <a:t>Clinic+Scanner</a:t>
            </a:r>
            <a:r>
              <a:rPr sz="1400" b="1" i="0" dirty="0">
                <a:solidFill>
                  <a:srgbClr val="FFFFFF"/>
                </a:solidFill>
                <a:latin typeface="맑은 고딕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48376-E3EE-F850-2AD7-738F9EA82EB5}"/>
              </a:ext>
            </a:extLst>
          </p:cNvPr>
          <p:cNvSpPr txBox="1"/>
          <p:nvPr/>
        </p:nvSpPr>
        <p:spPr>
          <a:xfrm>
            <a:off x="6268470" y="1268280"/>
            <a:ext cx="2587058" cy="215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9EA3AB"/>
                </a:solidFill>
                <a:latin typeface="맑은 고딕"/>
              </a:rPr>
              <a:t>Attention Heatmap (샘플별)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E7F3DC-86C5-301A-98D9-19F65D0B8CA9}"/>
              </a:ext>
            </a:extLst>
          </p:cNvPr>
          <p:cNvSpPr txBox="1"/>
          <p:nvPr/>
        </p:nvSpPr>
        <p:spPr>
          <a:xfrm>
            <a:off x="6268470" y="3915701"/>
            <a:ext cx="174759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9EA3AB"/>
                </a:solidFill>
                <a:latin typeface="맑은 고딕"/>
              </a:rPr>
              <a:t>Attention Map </a:t>
            </a:r>
            <a:r>
              <a:rPr lang="en-US" sz="1000" b="0" i="0" dirty="0">
                <a:solidFill>
                  <a:srgbClr val="9EA3AB"/>
                </a:solidFill>
                <a:latin typeface="맑은 고딕"/>
              </a:rPr>
              <a:t>A</a:t>
            </a:r>
            <a:r>
              <a:rPr sz="1000" b="0" i="0" dirty="0">
                <a:solidFill>
                  <a:srgbClr val="9EA3AB"/>
                </a:solidFill>
                <a:latin typeface="맑은 고딕"/>
              </a:rPr>
              <a:t>→</a:t>
            </a:r>
            <a:r>
              <a:rPr lang="en-US" sz="1000" b="0" i="0" dirty="0">
                <a:solidFill>
                  <a:srgbClr val="9EA3AB"/>
                </a:solidFill>
                <a:latin typeface="맑은 고딕"/>
              </a:rPr>
              <a:t>C</a:t>
            </a:r>
            <a:r>
              <a:rPr sz="1000" b="0" i="0" dirty="0">
                <a:solidFill>
                  <a:srgbClr val="9EA3AB"/>
                </a:solidFill>
                <a:latin typeface="맑은 고딕"/>
              </a:rPr>
              <a:t> (</a:t>
            </a:r>
            <a:r>
              <a:rPr sz="1000" b="0" i="0" dirty="0" err="1">
                <a:solidFill>
                  <a:srgbClr val="9EA3AB"/>
                </a:solidFill>
                <a:latin typeface="맑은 고딕"/>
              </a:rPr>
              <a:t>평균</a:t>
            </a:r>
            <a:r>
              <a:rPr sz="1000" b="0" i="0" dirty="0">
                <a:solidFill>
                  <a:srgbClr val="9EA3AB"/>
                </a:solidFill>
                <a:latin typeface="맑은 고딕"/>
              </a:rPr>
              <a:t>)</a:t>
            </a:r>
          </a:p>
        </p:txBody>
      </p:sp>
      <p:pic>
        <p:nvPicPr>
          <p:cNvPr id="7" name="Picture 23" descr="attention_heatmap_c2a.png">
            <a:extLst>
              <a:ext uri="{FF2B5EF4-FFF2-40B4-BE49-F238E27FC236}">
                <a16:creationId xmlns:a16="http://schemas.microsoft.com/office/drawing/2014/main" id="{8C190EB6-352C-5B98-F12A-7C9DF6BF9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43" y="1526985"/>
            <a:ext cx="5583221" cy="2388715"/>
          </a:xfrm>
          <a:prstGeom prst="rect">
            <a:avLst/>
          </a:prstGeom>
        </p:spPr>
      </p:pic>
      <p:pic>
        <p:nvPicPr>
          <p:cNvPr id="9" name="Picture 25" descr="attention_map_c2a.png">
            <a:extLst>
              <a:ext uri="{FF2B5EF4-FFF2-40B4-BE49-F238E27FC236}">
                <a16:creationId xmlns:a16="http://schemas.microsoft.com/office/drawing/2014/main" id="{F21044DA-7922-3E93-C153-7CD607168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44" y="4161921"/>
            <a:ext cx="5583220" cy="2195335"/>
          </a:xfrm>
          <a:prstGeom prst="rect">
            <a:avLst/>
          </a:prstGeom>
        </p:spPr>
      </p:pic>
      <p:pic>
        <p:nvPicPr>
          <p:cNvPr id="17" name="Picture 26" descr="attention_heatmap_a2c.png">
            <a:extLst>
              <a:ext uri="{FF2B5EF4-FFF2-40B4-BE49-F238E27FC236}">
                <a16:creationId xmlns:a16="http://schemas.microsoft.com/office/drawing/2014/main" id="{8F908418-ADF7-3873-E9C5-1DA531467C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2235" y="1526986"/>
            <a:ext cx="5432822" cy="2388714"/>
          </a:xfrm>
          <a:prstGeom prst="rect">
            <a:avLst/>
          </a:prstGeom>
        </p:spPr>
      </p:pic>
      <p:pic>
        <p:nvPicPr>
          <p:cNvPr id="18" name="Picture 28" descr="attention_map_a2c.png">
            <a:extLst>
              <a:ext uri="{FF2B5EF4-FFF2-40B4-BE49-F238E27FC236}">
                <a16:creationId xmlns:a16="http://schemas.microsoft.com/office/drawing/2014/main" id="{A165455F-890B-7931-6754-11C560FE39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2235" y="4161921"/>
            <a:ext cx="5432822" cy="21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41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11831-2F5B-EB90-78B3-D728AE53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E84958-BA3B-F21F-AEC1-3D71D986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796886-438C-E6FC-137F-4524DE06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21D323-4D93-19DE-5982-4126AF9EE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성별 분리 비교</a:t>
            </a: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C4404DCD-A8A3-E66A-529F-2CF7DBEE0FCA}"/>
              </a:ext>
            </a:extLst>
          </p:cNvPr>
          <p:cNvGrpSpPr/>
          <p:nvPr/>
        </p:nvGrpSpPr>
        <p:grpSpPr>
          <a:xfrm>
            <a:off x="315602" y="1494396"/>
            <a:ext cx="11562386" cy="1561899"/>
            <a:chOff x="304802" y="1451266"/>
            <a:chExt cx="11562386" cy="1561899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30890448-2AE8-7E3F-9552-566944322869}"/>
                </a:ext>
              </a:extLst>
            </p:cNvPr>
            <p:cNvSpPr/>
            <p:nvPr/>
          </p:nvSpPr>
          <p:spPr>
            <a:xfrm>
              <a:off x="304802" y="1451266"/>
              <a:ext cx="11562386" cy="1561899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37E4AB4-7D8C-E8CC-6B8A-552E2A33298E}"/>
                </a:ext>
              </a:extLst>
            </p:cNvPr>
            <p:cNvSpPr/>
            <p:nvPr/>
          </p:nvSpPr>
          <p:spPr>
            <a:xfrm>
              <a:off x="359648" y="1514404"/>
              <a:ext cx="1300382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86E726-17A5-E984-E9EF-B0AFB18C81B4}"/>
                </a:ext>
              </a:extLst>
            </p:cNvPr>
            <p:cNvSpPr txBox="1"/>
            <p:nvPr/>
          </p:nvSpPr>
          <p:spPr>
            <a:xfrm>
              <a:off x="789266" y="1514404"/>
              <a:ext cx="441146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모델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273BD2-D212-8638-4AF5-3FF2DBF49FB1}"/>
                </a:ext>
              </a:extLst>
            </p:cNvPr>
            <p:cNvSpPr/>
            <p:nvPr/>
          </p:nvSpPr>
          <p:spPr>
            <a:xfrm>
              <a:off x="1704871" y="1514404"/>
              <a:ext cx="11658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4E32287-D137-74F2-3BB9-AE4501BFA4D7}"/>
                </a:ext>
              </a:extLst>
            </p:cNvPr>
            <p:cNvSpPr txBox="1"/>
            <p:nvPr/>
          </p:nvSpPr>
          <p:spPr>
            <a:xfrm>
              <a:off x="1912538" y="1514404"/>
              <a:ext cx="750525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전체 AUC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A3A2DCD-B556-9720-2872-22F9F1BC6B67}"/>
                </a:ext>
              </a:extLst>
            </p:cNvPr>
            <p:cNvSpPr/>
            <p:nvPr/>
          </p:nvSpPr>
          <p:spPr>
            <a:xfrm>
              <a:off x="2915571" y="1514404"/>
              <a:ext cx="1210701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760435-D32D-D932-6BDA-9295D38108B2}"/>
                </a:ext>
              </a:extLst>
            </p:cNvPr>
            <p:cNvSpPr txBox="1"/>
            <p:nvPr/>
          </p:nvSpPr>
          <p:spPr>
            <a:xfrm>
              <a:off x="3216992" y="1514404"/>
              <a:ext cx="607859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전체 CI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1F286-FA0E-BA06-BE53-389D770335C0}"/>
                </a:ext>
              </a:extLst>
            </p:cNvPr>
            <p:cNvSpPr/>
            <p:nvPr/>
          </p:nvSpPr>
          <p:spPr>
            <a:xfrm>
              <a:off x="4171113" y="1514404"/>
              <a:ext cx="1210701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B64428F-0F5A-CD7C-B3AE-A6B7760B8FDD}"/>
                </a:ext>
              </a:extLst>
            </p:cNvPr>
            <p:cNvSpPr txBox="1"/>
            <p:nvPr/>
          </p:nvSpPr>
          <p:spPr>
            <a:xfrm>
              <a:off x="4401201" y="1514404"/>
              <a:ext cx="750525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남성 AUC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D1868B5-C240-1686-FF98-53BAD75FD795}"/>
                </a:ext>
              </a:extLst>
            </p:cNvPr>
            <p:cNvSpPr/>
            <p:nvPr/>
          </p:nvSpPr>
          <p:spPr>
            <a:xfrm>
              <a:off x="5426654" y="1514404"/>
              <a:ext cx="1165860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CE6AFC0-3181-FD77-27B4-4B7C350AA6E1}"/>
                </a:ext>
              </a:extLst>
            </p:cNvPr>
            <p:cNvSpPr txBox="1"/>
            <p:nvPr/>
          </p:nvSpPr>
          <p:spPr>
            <a:xfrm>
              <a:off x="5705654" y="1514404"/>
              <a:ext cx="607859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남성 CI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B000390-5755-C80B-6F64-3D5D374E6B56}"/>
                </a:ext>
              </a:extLst>
            </p:cNvPr>
            <p:cNvSpPr/>
            <p:nvPr/>
          </p:nvSpPr>
          <p:spPr>
            <a:xfrm>
              <a:off x="6637355" y="1514404"/>
              <a:ext cx="1210701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11010E-D9D9-8472-145E-5AA8E3959D13}"/>
                </a:ext>
              </a:extLst>
            </p:cNvPr>
            <p:cNvSpPr txBox="1"/>
            <p:nvPr/>
          </p:nvSpPr>
          <p:spPr>
            <a:xfrm>
              <a:off x="6867443" y="1514404"/>
              <a:ext cx="750525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여성 AUC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8BAC93-A8C2-C153-8F57-5F78710717E2}"/>
                </a:ext>
              </a:extLst>
            </p:cNvPr>
            <p:cNvSpPr/>
            <p:nvPr/>
          </p:nvSpPr>
          <p:spPr>
            <a:xfrm>
              <a:off x="7892897" y="1514404"/>
              <a:ext cx="1210701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341E3D-4102-51DE-ECCD-97CFBFBC47F4}"/>
                </a:ext>
              </a:extLst>
            </p:cNvPr>
            <p:cNvSpPr txBox="1"/>
            <p:nvPr/>
          </p:nvSpPr>
          <p:spPr>
            <a:xfrm>
              <a:off x="8194318" y="1514404"/>
              <a:ext cx="607859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여성 CI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0BD8702-6895-28BE-A8BB-BFAF5B950467}"/>
                </a:ext>
              </a:extLst>
            </p:cNvPr>
            <p:cNvSpPr/>
            <p:nvPr/>
          </p:nvSpPr>
          <p:spPr>
            <a:xfrm>
              <a:off x="9148438" y="1514404"/>
              <a:ext cx="1210701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ED78E5-6E17-8EDC-D0D1-9FEF24D95CE4}"/>
                </a:ext>
              </a:extLst>
            </p:cNvPr>
            <p:cNvSpPr txBox="1"/>
            <p:nvPr/>
          </p:nvSpPr>
          <p:spPr>
            <a:xfrm>
              <a:off x="9361694" y="1514404"/>
              <a:ext cx="784189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남 AUPRC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F6DE9A3-94E6-820E-2019-D7117CCD8FF9}"/>
                </a:ext>
              </a:extLst>
            </p:cNvPr>
            <p:cNvSpPr/>
            <p:nvPr/>
          </p:nvSpPr>
          <p:spPr>
            <a:xfrm>
              <a:off x="10403980" y="1514404"/>
              <a:ext cx="1390064" cy="274320"/>
            </a:xfrm>
            <a:prstGeom prst="rect">
              <a:avLst/>
            </a:prstGeom>
            <a:solidFill>
              <a:srgbClr val="1A1A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D31FEED-EF4F-4FB1-42C5-E656012C40CC}"/>
                </a:ext>
              </a:extLst>
            </p:cNvPr>
            <p:cNvSpPr txBox="1"/>
            <p:nvPr/>
          </p:nvSpPr>
          <p:spPr>
            <a:xfrm>
              <a:off x="10706917" y="1514404"/>
              <a:ext cx="784189" cy="24622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00" b="1" i="0">
                  <a:solidFill>
                    <a:srgbClr val="FFFFFF"/>
                  </a:solidFill>
                  <a:latin typeface="맑은 고딕"/>
                </a:rPr>
                <a:t>여 AUPRC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D7D848-F8E1-D976-FE79-505777379FE8}"/>
                </a:ext>
              </a:extLst>
            </p:cNvPr>
            <p:cNvSpPr/>
            <p:nvPr/>
          </p:nvSpPr>
          <p:spPr>
            <a:xfrm>
              <a:off x="359648" y="1807012"/>
              <a:ext cx="1300382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DB2EA17-5715-A2C5-9A2F-6CA488454882}"/>
                </a:ext>
              </a:extLst>
            </p:cNvPr>
            <p:cNvSpPr txBox="1"/>
            <p:nvPr/>
          </p:nvSpPr>
          <p:spPr>
            <a:xfrm>
              <a:off x="662628" y="1807012"/>
              <a:ext cx="69442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M1 (LR)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95A94F-30A4-57B4-56B3-96E32CD47784}"/>
                </a:ext>
              </a:extLst>
            </p:cNvPr>
            <p:cNvSpPr/>
            <p:nvPr/>
          </p:nvSpPr>
          <p:spPr>
            <a:xfrm>
              <a:off x="1704871" y="1807012"/>
              <a:ext cx="1165860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B039E42-285D-3C93-8050-5F09C9CF5386}"/>
                </a:ext>
              </a:extLst>
            </p:cNvPr>
            <p:cNvSpPr txBox="1"/>
            <p:nvPr/>
          </p:nvSpPr>
          <p:spPr>
            <a:xfrm>
              <a:off x="1981467" y="1807012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0.8030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1F97B51-9FBC-67FD-7458-C4BC2CD5CB5F}"/>
                </a:ext>
              </a:extLst>
            </p:cNvPr>
            <p:cNvSpPr/>
            <p:nvPr/>
          </p:nvSpPr>
          <p:spPr>
            <a:xfrm>
              <a:off x="2915571" y="1807012"/>
              <a:ext cx="1210701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1D2A74-F00E-E426-3DCB-A4C9EF1B5963}"/>
                </a:ext>
              </a:extLst>
            </p:cNvPr>
            <p:cNvSpPr txBox="1"/>
            <p:nvPr/>
          </p:nvSpPr>
          <p:spPr>
            <a:xfrm>
              <a:off x="3013411" y="1807012"/>
              <a:ext cx="101502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[0.720,0.872]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3769694-5C1A-0084-3B5D-DE9572BB6730}"/>
                </a:ext>
              </a:extLst>
            </p:cNvPr>
            <p:cNvSpPr/>
            <p:nvPr/>
          </p:nvSpPr>
          <p:spPr>
            <a:xfrm>
              <a:off x="4171113" y="1807012"/>
              <a:ext cx="1210701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66A6C8A-A12A-54B2-FEA7-90E9577ADD9C}"/>
                </a:ext>
              </a:extLst>
            </p:cNvPr>
            <p:cNvSpPr txBox="1"/>
            <p:nvPr/>
          </p:nvSpPr>
          <p:spPr>
            <a:xfrm>
              <a:off x="4470129" y="1807012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0.7035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4365C4-F721-D923-F92F-1229790D6824}"/>
                </a:ext>
              </a:extLst>
            </p:cNvPr>
            <p:cNvSpPr/>
            <p:nvPr/>
          </p:nvSpPr>
          <p:spPr>
            <a:xfrm>
              <a:off x="5426654" y="1807012"/>
              <a:ext cx="1165860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CBD84F4-A592-D0E2-2B25-555B29EC93DC}"/>
                </a:ext>
              </a:extLst>
            </p:cNvPr>
            <p:cNvSpPr txBox="1"/>
            <p:nvPr/>
          </p:nvSpPr>
          <p:spPr>
            <a:xfrm>
              <a:off x="5848322" y="1807012"/>
              <a:ext cx="32252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A6B302-5B83-C6FD-63D1-822AC1C56DFD}"/>
                </a:ext>
              </a:extLst>
            </p:cNvPr>
            <p:cNvSpPr/>
            <p:nvPr/>
          </p:nvSpPr>
          <p:spPr>
            <a:xfrm>
              <a:off x="6637355" y="1807012"/>
              <a:ext cx="1210701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889607B-FAB3-0555-332A-76440C606593}"/>
                </a:ext>
              </a:extLst>
            </p:cNvPr>
            <p:cNvSpPr txBox="1"/>
            <p:nvPr/>
          </p:nvSpPr>
          <p:spPr>
            <a:xfrm>
              <a:off x="6936371" y="1807012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0.8483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1EBC7C-F12B-B19F-D939-89A3D018FC32}"/>
                </a:ext>
              </a:extLst>
            </p:cNvPr>
            <p:cNvSpPr/>
            <p:nvPr/>
          </p:nvSpPr>
          <p:spPr>
            <a:xfrm>
              <a:off x="7892897" y="1807012"/>
              <a:ext cx="1210701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2B2A9A5-E700-248C-3FD6-19B25BFFBCFC}"/>
                </a:ext>
              </a:extLst>
            </p:cNvPr>
            <p:cNvSpPr txBox="1"/>
            <p:nvPr/>
          </p:nvSpPr>
          <p:spPr>
            <a:xfrm>
              <a:off x="8336985" y="1807012"/>
              <a:ext cx="32252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BB2DF2-BD7A-1D97-B11F-A47904E64292}"/>
                </a:ext>
              </a:extLst>
            </p:cNvPr>
            <p:cNvSpPr/>
            <p:nvPr/>
          </p:nvSpPr>
          <p:spPr>
            <a:xfrm>
              <a:off x="9148438" y="1807012"/>
              <a:ext cx="1210701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B21FA96-B875-2AEB-31D7-F4BF63D0371E}"/>
                </a:ext>
              </a:extLst>
            </p:cNvPr>
            <p:cNvSpPr txBox="1"/>
            <p:nvPr/>
          </p:nvSpPr>
          <p:spPr>
            <a:xfrm>
              <a:off x="9447454" y="1807012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0.3155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0FCE297-1EF6-DF4F-09D4-11183EC44000}"/>
                </a:ext>
              </a:extLst>
            </p:cNvPr>
            <p:cNvSpPr/>
            <p:nvPr/>
          </p:nvSpPr>
          <p:spPr>
            <a:xfrm>
              <a:off x="10403980" y="1807012"/>
              <a:ext cx="1390064" cy="374904"/>
            </a:xfrm>
            <a:prstGeom prst="rect">
              <a:avLst/>
            </a:prstGeom>
            <a:solidFill>
              <a:srgbClr val="F0F4F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DCCBB69-6C2F-5636-D518-A577C434FEFE}"/>
                </a:ext>
              </a:extLst>
            </p:cNvPr>
            <p:cNvSpPr txBox="1"/>
            <p:nvPr/>
          </p:nvSpPr>
          <p:spPr>
            <a:xfrm>
              <a:off x="10792678" y="1807012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0.4748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009353A-DB77-0825-0347-BD57016BEA48}"/>
                </a:ext>
              </a:extLst>
            </p:cNvPr>
            <p:cNvSpPr/>
            <p:nvPr/>
          </p:nvSpPr>
          <p:spPr>
            <a:xfrm>
              <a:off x="359648" y="2181916"/>
              <a:ext cx="1300382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FF2F40E-3059-6A20-1239-123A47A99026}"/>
                </a:ext>
              </a:extLst>
            </p:cNvPr>
            <p:cNvSpPr txBox="1"/>
            <p:nvPr/>
          </p:nvSpPr>
          <p:spPr>
            <a:xfrm>
              <a:off x="427788" y="2181916"/>
              <a:ext cx="116410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M2 (CrossAttn)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2AE28A06-3C74-232E-C27F-E6BD1F40BD30}"/>
                </a:ext>
              </a:extLst>
            </p:cNvPr>
            <p:cNvSpPr/>
            <p:nvPr/>
          </p:nvSpPr>
          <p:spPr>
            <a:xfrm>
              <a:off x="1704871" y="2181916"/>
              <a:ext cx="1165860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FD27422-83B4-07FA-EA0E-66B875F06804}"/>
                </a:ext>
              </a:extLst>
            </p:cNvPr>
            <p:cNvSpPr txBox="1"/>
            <p:nvPr/>
          </p:nvSpPr>
          <p:spPr>
            <a:xfrm>
              <a:off x="1981467" y="2181916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0.8435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4E0E254-4A84-E58A-3C69-2843DBD2714B}"/>
                </a:ext>
              </a:extLst>
            </p:cNvPr>
            <p:cNvSpPr/>
            <p:nvPr/>
          </p:nvSpPr>
          <p:spPr>
            <a:xfrm>
              <a:off x="2915571" y="2181916"/>
              <a:ext cx="1210701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1DA4707-1866-B7DE-CC53-D555CF44C81A}"/>
                </a:ext>
              </a:extLst>
            </p:cNvPr>
            <p:cNvSpPr txBox="1"/>
            <p:nvPr/>
          </p:nvSpPr>
          <p:spPr>
            <a:xfrm>
              <a:off x="3013411" y="2181916"/>
              <a:ext cx="101502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[0.777,0.901]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D54A749-7DB0-94A4-41F7-9EA2F6246078}"/>
                </a:ext>
              </a:extLst>
            </p:cNvPr>
            <p:cNvSpPr/>
            <p:nvPr/>
          </p:nvSpPr>
          <p:spPr>
            <a:xfrm>
              <a:off x="4171113" y="2181916"/>
              <a:ext cx="1210701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8D853D-521B-7EAF-026A-20EA633048C8}"/>
                </a:ext>
              </a:extLst>
            </p:cNvPr>
            <p:cNvSpPr txBox="1"/>
            <p:nvPr/>
          </p:nvSpPr>
          <p:spPr>
            <a:xfrm>
              <a:off x="4470129" y="2181916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0.7391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B7BFA47-66A2-C58A-6E10-04D49D8E1CF8}"/>
                </a:ext>
              </a:extLst>
            </p:cNvPr>
            <p:cNvSpPr/>
            <p:nvPr/>
          </p:nvSpPr>
          <p:spPr>
            <a:xfrm>
              <a:off x="5426654" y="2181916"/>
              <a:ext cx="1165860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2E441B6-624F-FADA-23D3-7F9542197D4F}"/>
                </a:ext>
              </a:extLst>
            </p:cNvPr>
            <p:cNvSpPr txBox="1"/>
            <p:nvPr/>
          </p:nvSpPr>
          <p:spPr>
            <a:xfrm>
              <a:off x="5848322" y="2181916"/>
              <a:ext cx="32252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2829835-E9A1-A742-6C06-A0481AAAB368}"/>
                </a:ext>
              </a:extLst>
            </p:cNvPr>
            <p:cNvSpPr/>
            <p:nvPr/>
          </p:nvSpPr>
          <p:spPr>
            <a:xfrm>
              <a:off x="6637355" y="2181916"/>
              <a:ext cx="1210701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EA2AD84-8D2B-A759-2379-535961F687BF}"/>
                </a:ext>
              </a:extLst>
            </p:cNvPr>
            <p:cNvSpPr txBox="1"/>
            <p:nvPr/>
          </p:nvSpPr>
          <p:spPr>
            <a:xfrm>
              <a:off x="6936371" y="2181916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0.8937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827672C-B212-DBD2-C52F-9FA6DA76208A}"/>
                </a:ext>
              </a:extLst>
            </p:cNvPr>
            <p:cNvSpPr/>
            <p:nvPr/>
          </p:nvSpPr>
          <p:spPr>
            <a:xfrm>
              <a:off x="7892897" y="2181916"/>
              <a:ext cx="1210701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7C7800B-161C-5A41-A8EE-06A3198C2AEA}"/>
                </a:ext>
              </a:extLst>
            </p:cNvPr>
            <p:cNvSpPr txBox="1"/>
            <p:nvPr/>
          </p:nvSpPr>
          <p:spPr>
            <a:xfrm>
              <a:off x="8336985" y="2181916"/>
              <a:ext cx="32252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A581C29-6105-E9FC-C5D9-8905BCB0A6B4}"/>
                </a:ext>
              </a:extLst>
            </p:cNvPr>
            <p:cNvSpPr/>
            <p:nvPr/>
          </p:nvSpPr>
          <p:spPr>
            <a:xfrm>
              <a:off x="9148438" y="2181916"/>
              <a:ext cx="1210701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847486-7B6C-5B33-A8B5-53E17004707A}"/>
                </a:ext>
              </a:extLst>
            </p:cNvPr>
            <p:cNvSpPr txBox="1"/>
            <p:nvPr/>
          </p:nvSpPr>
          <p:spPr>
            <a:xfrm>
              <a:off x="9447454" y="2181916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0.3433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8F49AC2-69A2-4193-8C3D-0EF944657B71}"/>
                </a:ext>
              </a:extLst>
            </p:cNvPr>
            <p:cNvSpPr/>
            <p:nvPr/>
          </p:nvSpPr>
          <p:spPr>
            <a:xfrm>
              <a:off x="10403980" y="2181916"/>
              <a:ext cx="1390064" cy="374904"/>
            </a:xfrm>
            <a:prstGeom prst="rect">
              <a:avLst/>
            </a:prstGeom>
            <a:solidFill>
              <a:srgbClr val="E8F4E8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3299AE-259F-9011-A44D-B3DE8E1BEF04}"/>
                </a:ext>
              </a:extLst>
            </p:cNvPr>
            <p:cNvSpPr txBox="1"/>
            <p:nvPr/>
          </p:nvSpPr>
          <p:spPr>
            <a:xfrm>
              <a:off x="10792678" y="2181916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0.4751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9C4F4FA-401E-91C6-DC52-389B76605C9E}"/>
                </a:ext>
              </a:extLst>
            </p:cNvPr>
            <p:cNvSpPr/>
            <p:nvPr/>
          </p:nvSpPr>
          <p:spPr>
            <a:xfrm>
              <a:off x="359648" y="2556820"/>
              <a:ext cx="1300382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A83BCAB-64EF-69B5-3F3E-B7BB24138AC2}"/>
                </a:ext>
              </a:extLst>
            </p:cNvPr>
            <p:cNvSpPr txBox="1"/>
            <p:nvPr/>
          </p:nvSpPr>
          <p:spPr>
            <a:xfrm>
              <a:off x="388515" y="2556820"/>
              <a:ext cx="124264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M3 (CrossAttn3)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8352C32-E51F-1377-D85F-7F5C9614C9F5}"/>
                </a:ext>
              </a:extLst>
            </p:cNvPr>
            <p:cNvSpPr/>
            <p:nvPr/>
          </p:nvSpPr>
          <p:spPr>
            <a:xfrm>
              <a:off x="1704871" y="2556820"/>
              <a:ext cx="1165860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069111F-9F6E-9E4C-652A-F588C89C005E}"/>
                </a:ext>
              </a:extLst>
            </p:cNvPr>
            <p:cNvSpPr txBox="1"/>
            <p:nvPr/>
          </p:nvSpPr>
          <p:spPr>
            <a:xfrm>
              <a:off x="1981467" y="2556820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0.8455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34C7D75-AD2D-23CF-708F-232D8D6C31BC}"/>
                </a:ext>
              </a:extLst>
            </p:cNvPr>
            <p:cNvSpPr/>
            <p:nvPr/>
          </p:nvSpPr>
          <p:spPr>
            <a:xfrm>
              <a:off x="2915571" y="2556820"/>
              <a:ext cx="1210701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B07F828-5F76-5443-4528-9877EEC80113}"/>
                </a:ext>
              </a:extLst>
            </p:cNvPr>
            <p:cNvSpPr txBox="1"/>
            <p:nvPr/>
          </p:nvSpPr>
          <p:spPr>
            <a:xfrm>
              <a:off x="3013411" y="2556820"/>
              <a:ext cx="1015021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[0.759,0.914]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E54BC0C-CC92-B3EB-8DF5-A179CC976550}"/>
                </a:ext>
              </a:extLst>
            </p:cNvPr>
            <p:cNvSpPr/>
            <p:nvPr/>
          </p:nvSpPr>
          <p:spPr>
            <a:xfrm>
              <a:off x="4171113" y="2556820"/>
              <a:ext cx="1210701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5B3E2-BF2B-6C96-6A53-DD871E7B0111}"/>
                </a:ext>
              </a:extLst>
            </p:cNvPr>
            <p:cNvSpPr txBox="1"/>
            <p:nvPr/>
          </p:nvSpPr>
          <p:spPr>
            <a:xfrm>
              <a:off x="4470129" y="2556820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0.7380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D2761EA-97F1-2BD3-7638-3546D09A7AF3}"/>
                </a:ext>
              </a:extLst>
            </p:cNvPr>
            <p:cNvSpPr/>
            <p:nvPr/>
          </p:nvSpPr>
          <p:spPr>
            <a:xfrm>
              <a:off x="5426654" y="2556820"/>
              <a:ext cx="1165860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2D3C744-D106-8BB0-715E-F5A29FC6727E}"/>
                </a:ext>
              </a:extLst>
            </p:cNvPr>
            <p:cNvSpPr txBox="1"/>
            <p:nvPr/>
          </p:nvSpPr>
          <p:spPr>
            <a:xfrm>
              <a:off x="5848322" y="2556820"/>
              <a:ext cx="32252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136F590-937F-C16E-9DE7-2692680E0B14}"/>
                </a:ext>
              </a:extLst>
            </p:cNvPr>
            <p:cNvSpPr/>
            <p:nvPr/>
          </p:nvSpPr>
          <p:spPr>
            <a:xfrm>
              <a:off x="6637355" y="2556820"/>
              <a:ext cx="1210701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8226581-F481-7D9C-E89D-2676A0378853}"/>
                </a:ext>
              </a:extLst>
            </p:cNvPr>
            <p:cNvSpPr txBox="1"/>
            <p:nvPr/>
          </p:nvSpPr>
          <p:spPr>
            <a:xfrm>
              <a:off x="6936371" y="2556820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0.9044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C774A0B-F07C-8E0A-7872-60355BE487B6}"/>
                </a:ext>
              </a:extLst>
            </p:cNvPr>
            <p:cNvSpPr/>
            <p:nvPr/>
          </p:nvSpPr>
          <p:spPr>
            <a:xfrm>
              <a:off x="7892897" y="2556820"/>
              <a:ext cx="1210701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357D85D-ED0A-FA13-FDDF-52571F830E97}"/>
                </a:ext>
              </a:extLst>
            </p:cNvPr>
            <p:cNvSpPr txBox="1"/>
            <p:nvPr/>
          </p:nvSpPr>
          <p:spPr>
            <a:xfrm>
              <a:off x="8336985" y="2556820"/>
              <a:ext cx="322524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—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1485DD5-34D1-BEAB-B745-E62C1091A3CB}"/>
                </a:ext>
              </a:extLst>
            </p:cNvPr>
            <p:cNvSpPr/>
            <p:nvPr/>
          </p:nvSpPr>
          <p:spPr>
            <a:xfrm>
              <a:off x="9148438" y="2556820"/>
              <a:ext cx="1210701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59D863C-414C-82FE-A2C4-9AB1E04DE906}"/>
                </a:ext>
              </a:extLst>
            </p:cNvPr>
            <p:cNvSpPr txBox="1"/>
            <p:nvPr/>
          </p:nvSpPr>
          <p:spPr>
            <a:xfrm>
              <a:off x="9447454" y="2556820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0.3055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F009DC2-2340-723F-66FA-58895682737C}"/>
                </a:ext>
              </a:extLst>
            </p:cNvPr>
            <p:cNvSpPr/>
            <p:nvPr/>
          </p:nvSpPr>
          <p:spPr>
            <a:xfrm>
              <a:off x="10403980" y="2556820"/>
              <a:ext cx="1390064" cy="374904"/>
            </a:xfrm>
            <a:prstGeom prst="rect">
              <a:avLst/>
            </a:prstGeom>
            <a:solidFill>
              <a:srgbClr val="FFF3E0"/>
            </a:solidFill>
            <a:ln w="6350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b="1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FF31C9A-516E-2FE0-2D90-2A3C7C393FD6}"/>
                </a:ext>
              </a:extLst>
            </p:cNvPr>
            <p:cNvSpPr txBox="1"/>
            <p:nvPr/>
          </p:nvSpPr>
          <p:spPr>
            <a:xfrm>
              <a:off x="10792678" y="2556820"/>
              <a:ext cx="612668" cy="25391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050" b="1" i="0">
                  <a:solidFill>
                    <a:srgbClr val="1A1A2E"/>
                  </a:solidFill>
                  <a:latin typeface="맑은 고딕"/>
                </a:rPr>
                <a:t>0.5076</a:t>
              </a: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55319CE5-0820-504E-F94C-ADED70BD058C}"/>
              </a:ext>
            </a:extLst>
          </p:cNvPr>
          <p:cNvGrpSpPr/>
          <p:nvPr/>
        </p:nvGrpSpPr>
        <p:grpSpPr>
          <a:xfrm>
            <a:off x="274320" y="3204753"/>
            <a:ext cx="7086600" cy="3091544"/>
            <a:chOff x="274320" y="2825496"/>
            <a:chExt cx="7086600" cy="3712463"/>
          </a:xfrm>
        </p:grpSpPr>
        <p:sp>
          <p:nvSpPr>
            <p:cNvPr id="80" name="Rectangle 77">
              <a:extLst>
                <a:ext uri="{FF2B5EF4-FFF2-40B4-BE49-F238E27FC236}">
                  <a16:creationId xmlns:a16="http://schemas.microsoft.com/office/drawing/2014/main" id="{20D16A77-4DE3-AB80-F0B8-A0E8E43EA908}"/>
                </a:ext>
              </a:extLst>
            </p:cNvPr>
            <p:cNvSpPr/>
            <p:nvPr/>
          </p:nvSpPr>
          <p:spPr>
            <a:xfrm>
              <a:off x="274320" y="2825496"/>
              <a:ext cx="3474720" cy="3712463"/>
            </a:xfrm>
            <a:prstGeom prst="rect">
              <a:avLst/>
            </a:prstGeom>
            <a:solidFill>
              <a:srgbClr val="E8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ectangle 78">
              <a:extLst>
                <a:ext uri="{FF2B5EF4-FFF2-40B4-BE49-F238E27FC236}">
                  <a16:creationId xmlns:a16="http://schemas.microsoft.com/office/drawing/2014/main" id="{32C39DC7-666D-40F6-3BC3-36F0E4BA00CB}"/>
                </a:ext>
              </a:extLst>
            </p:cNvPr>
            <p:cNvSpPr/>
            <p:nvPr/>
          </p:nvSpPr>
          <p:spPr>
            <a:xfrm>
              <a:off x="274320" y="2825496"/>
              <a:ext cx="91440" cy="3712463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E1DADA4-5785-A678-4968-30D41A71ACDC}"/>
                </a:ext>
              </a:extLst>
            </p:cNvPr>
            <p:cNvSpPr txBox="1"/>
            <p:nvPr/>
          </p:nvSpPr>
          <p:spPr>
            <a:xfrm>
              <a:off x="457200" y="2898648"/>
              <a:ext cx="32004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0F6BBF"/>
                  </a:solidFill>
                  <a:latin typeface="맑은 고딕"/>
                </a:rPr>
                <a:t>남성 비교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1CFDF8F-0C25-223B-33DC-CCADA9E7F009}"/>
                </a:ext>
              </a:extLst>
            </p:cNvPr>
            <p:cNvSpPr txBox="1"/>
            <p:nvPr/>
          </p:nvSpPr>
          <p:spPr>
            <a:xfrm>
              <a:off x="457200" y="3282696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M1→M2: 0.704→0.739  (Δ+0.036)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21DEFD3-ECD9-65E8-A35B-779888F905C4}"/>
                </a:ext>
              </a:extLst>
            </p:cNvPr>
            <p:cNvSpPr txBox="1"/>
            <p:nvPr/>
          </p:nvSpPr>
          <p:spPr>
            <a:xfrm>
              <a:off x="457200" y="3758183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M1→M3: 0.704→0.738  (Δ+0.034)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6F663A1-8737-AA4C-3ED2-250DE03C1A01}"/>
                </a:ext>
              </a:extLst>
            </p:cNvPr>
            <p:cNvSpPr txBox="1"/>
            <p:nvPr/>
          </p:nvSpPr>
          <p:spPr>
            <a:xfrm>
              <a:off x="457200" y="4233672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M3 &gt; M2 for male — Scanner 남성에 기여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8E8CFD7-AA43-BEFF-AF35-17F860444BC2}"/>
                </a:ext>
              </a:extLst>
            </p:cNvPr>
            <p:cNvSpPr txBox="1"/>
            <p:nvPr/>
          </p:nvSpPr>
          <p:spPr>
            <a:xfrm>
              <a:off x="457200" y="4709160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유병률 15.9% → AUC 해석 비교적 안정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F27BEC6-65F5-68A6-17F9-1D55E707A539}"/>
                </a:ext>
              </a:extLst>
            </p:cNvPr>
            <p:cNvSpPr txBox="1"/>
            <p:nvPr/>
          </p:nvSpPr>
          <p:spPr>
            <a:xfrm>
              <a:off x="457200" y="5184648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AUPRC: M1(0.316)→M3(0.305)</a:t>
              </a:r>
            </a:p>
          </p:txBody>
        </p:sp>
        <p:sp>
          <p:nvSpPr>
            <p:cNvPr id="88" name="Rectangle 85">
              <a:extLst>
                <a:ext uri="{FF2B5EF4-FFF2-40B4-BE49-F238E27FC236}">
                  <a16:creationId xmlns:a16="http://schemas.microsoft.com/office/drawing/2014/main" id="{BA68A09A-0231-CFBB-7790-0C74ABE8F725}"/>
                </a:ext>
              </a:extLst>
            </p:cNvPr>
            <p:cNvSpPr/>
            <p:nvPr/>
          </p:nvSpPr>
          <p:spPr>
            <a:xfrm>
              <a:off x="3886200" y="2825496"/>
              <a:ext cx="3474720" cy="3712463"/>
            </a:xfrm>
            <a:prstGeom prst="rect">
              <a:avLst/>
            </a:prstGeom>
            <a:solidFill>
              <a:srgbClr val="FF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ectangle 86">
              <a:extLst>
                <a:ext uri="{FF2B5EF4-FFF2-40B4-BE49-F238E27FC236}">
                  <a16:creationId xmlns:a16="http://schemas.microsoft.com/office/drawing/2014/main" id="{2F77D73B-9B8E-D20A-D137-CA5179164FFD}"/>
                </a:ext>
              </a:extLst>
            </p:cNvPr>
            <p:cNvSpPr/>
            <p:nvPr/>
          </p:nvSpPr>
          <p:spPr>
            <a:xfrm>
              <a:off x="3886200" y="2825496"/>
              <a:ext cx="91440" cy="3712463"/>
            </a:xfrm>
            <a:prstGeom prst="rect">
              <a:avLst/>
            </a:prstGeom>
            <a:solidFill>
              <a:srgbClr val="C0392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510FFF4-D4EE-8756-6C44-5DA295C4970F}"/>
                </a:ext>
              </a:extLst>
            </p:cNvPr>
            <p:cNvSpPr txBox="1"/>
            <p:nvPr/>
          </p:nvSpPr>
          <p:spPr>
            <a:xfrm>
              <a:off x="4069080" y="2898648"/>
              <a:ext cx="3200400" cy="2926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400" b="1" i="0">
                  <a:solidFill>
                    <a:srgbClr val="C0392B"/>
                  </a:solidFill>
                  <a:latin typeface="맑은 고딕"/>
                </a:rPr>
                <a:t>여성 비교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91513DD-5011-CC09-F474-D0A2DB427209}"/>
                </a:ext>
              </a:extLst>
            </p:cNvPr>
            <p:cNvSpPr txBox="1"/>
            <p:nvPr/>
          </p:nvSpPr>
          <p:spPr>
            <a:xfrm>
              <a:off x="4069080" y="3282696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M1→M2: 0.848→0.894  (Δ+0.045)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81D19F7-F5DF-7E44-966C-627DA25869A4}"/>
                </a:ext>
              </a:extLst>
            </p:cNvPr>
            <p:cNvSpPr txBox="1"/>
            <p:nvPr/>
          </p:nvSpPr>
          <p:spPr>
            <a:xfrm>
              <a:off x="4069080" y="3758183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M1→M3: 0.848→0.904  (Δ+0.056)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02D7025-B844-99A9-A735-8D8E2DA55E9C}"/>
                </a:ext>
              </a:extLst>
            </p:cNvPr>
            <p:cNvSpPr txBox="1"/>
            <p:nvPr/>
          </p:nvSpPr>
          <p:spPr>
            <a:xfrm>
              <a:off x="4069080" y="4233672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  → 여성에서 M3(Scanner+AEC) 기여 뚜렷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9884113-D3EB-B427-3344-D8C6CD0C9E54}"/>
                </a:ext>
              </a:extLst>
            </p:cNvPr>
            <p:cNvSpPr txBox="1"/>
            <p:nvPr/>
          </p:nvSpPr>
          <p:spPr>
            <a:xfrm>
              <a:off x="4069080" y="4709160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AUPRC: M1(0.475)→M3(0.508)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DA82ACC-EF06-4775-8DF4-35BDB02C5F56}"/>
                </a:ext>
              </a:extLst>
            </p:cNvPr>
            <p:cNvSpPr txBox="1"/>
            <p:nvPr/>
          </p:nvSpPr>
          <p:spPr>
            <a:xfrm>
              <a:off x="4069080" y="5184648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• 유병률 7.5% → class imbalance 주의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5099396-6BA3-CDAF-71C4-E7B3B6C0536D}"/>
                </a:ext>
              </a:extLst>
            </p:cNvPr>
            <p:cNvSpPr txBox="1"/>
            <p:nvPr/>
          </p:nvSpPr>
          <p:spPr>
            <a:xfrm>
              <a:off x="4069080" y="5660136"/>
              <a:ext cx="329184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0" i="0">
                  <a:solidFill>
                    <a:srgbClr val="1A1A2E"/>
                  </a:solidFill>
                  <a:latin typeface="맑은 고딕"/>
                </a:rPr>
                <a:t>  → AUPRC가 AUC보다 중요한 지표</a:t>
              </a: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CC09F2E6-9F5B-65D8-A4CB-4F8CD97A0966}"/>
              </a:ext>
            </a:extLst>
          </p:cNvPr>
          <p:cNvGrpSpPr/>
          <p:nvPr/>
        </p:nvGrpSpPr>
        <p:grpSpPr>
          <a:xfrm>
            <a:off x="7498079" y="3200048"/>
            <a:ext cx="4572000" cy="3209461"/>
            <a:chOff x="7498079" y="3188456"/>
            <a:chExt cx="4572000" cy="238938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B68715F-782C-E46D-AC78-D296DE9F3235}"/>
                </a:ext>
              </a:extLst>
            </p:cNvPr>
            <p:cNvSpPr txBox="1"/>
            <p:nvPr/>
          </p:nvSpPr>
          <p:spPr>
            <a:xfrm>
              <a:off x="8243431" y="3188456"/>
              <a:ext cx="947695" cy="1947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 dirty="0">
                  <a:solidFill>
                    <a:srgbClr val="1A1A2E"/>
                  </a:solidFill>
                  <a:latin typeface="맑은 고딕"/>
                </a:rPr>
                <a:t>M1  by Sex</a:t>
              </a:r>
            </a:p>
          </p:txBody>
        </p:sp>
        <p:pic>
          <p:nvPicPr>
            <p:cNvPr id="99" name="Picture 95" descr="test_roc_by_sex.png">
              <a:extLst>
                <a:ext uri="{FF2B5EF4-FFF2-40B4-BE49-F238E27FC236}">
                  <a16:creationId xmlns:a16="http://schemas.microsoft.com/office/drawing/2014/main" id="{EDDD1C01-A40E-30D8-7F9B-A7E375DEF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98079" y="3429000"/>
              <a:ext cx="2194560" cy="1828800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1C699F3B-5B50-288D-0A49-C995968CC1EC}"/>
                </a:ext>
              </a:extLst>
            </p:cNvPr>
            <p:cNvSpPr txBox="1"/>
            <p:nvPr/>
          </p:nvSpPr>
          <p:spPr>
            <a:xfrm>
              <a:off x="10575152" y="3188457"/>
              <a:ext cx="947695" cy="19476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 dirty="0">
                  <a:latin typeface="맑은 고딕"/>
                </a:rPr>
                <a:t>M2  by Sex</a:t>
              </a:r>
            </a:p>
          </p:txBody>
        </p:sp>
        <p:pic>
          <p:nvPicPr>
            <p:cNvPr id="103" name="Picture 97" descr="test_roc_by_sex.png">
              <a:extLst>
                <a:ext uri="{FF2B5EF4-FFF2-40B4-BE49-F238E27FC236}">
                  <a16:creationId xmlns:a16="http://schemas.microsoft.com/office/drawing/2014/main" id="{0BABFF48-B40E-87FD-9002-3A11EE3C9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29800" y="3429000"/>
              <a:ext cx="2194560" cy="1828800"/>
            </a:xfrm>
            <a:prstGeom prst="rect">
              <a:avLst/>
            </a:prstGeom>
          </p:spPr>
        </p:pic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C7CC78-9019-A806-C9C7-BEB96CA56583}"/>
                </a:ext>
              </a:extLst>
            </p:cNvPr>
            <p:cNvSpPr txBox="1"/>
            <p:nvPr/>
          </p:nvSpPr>
          <p:spPr>
            <a:xfrm>
              <a:off x="7498079" y="5303520"/>
              <a:ext cx="45720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100" b="1" i="0">
                  <a:solidFill>
                    <a:srgbClr val="1A1A2E"/>
                  </a:solidFill>
                  <a:latin typeface="맑은 고딕"/>
                </a:rPr>
                <a:t>△ 여성 AUC 0.848 → 0.904(M3)  |  △ 남성 AUC 0.704 → 0.738(M3)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6361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B54C-5E11-B9C0-57F3-3D89DA26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B53D9-E496-0B72-5190-043E5711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9257B-47A5-8ECA-2B20-1BC83310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12F2531-8B53-3E74-303A-9CC7F379E495}"/>
              </a:ext>
            </a:extLst>
          </p:cNvPr>
          <p:cNvGrpSpPr/>
          <p:nvPr/>
        </p:nvGrpSpPr>
        <p:grpSpPr>
          <a:xfrm>
            <a:off x="289560" y="1159738"/>
            <a:ext cx="11612880" cy="1325880"/>
            <a:chOff x="289560" y="1043165"/>
            <a:chExt cx="11612880" cy="1325880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77694D45-0E87-11B0-277E-59A0C9C24214}"/>
                </a:ext>
              </a:extLst>
            </p:cNvPr>
            <p:cNvSpPr/>
            <p:nvPr/>
          </p:nvSpPr>
          <p:spPr>
            <a:xfrm>
              <a:off x="289560" y="1043165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93CC8A09-A31E-02AC-7518-75423FAE7605}"/>
                </a:ext>
              </a:extLst>
            </p:cNvPr>
            <p:cNvSpPr/>
            <p:nvPr/>
          </p:nvSpPr>
          <p:spPr>
            <a:xfrm>
              <a:off x="289560" y="1043165"/>
              <a:ext cx="109728" cy="1325880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15C610-011F-00F5-ECF7-66C6795744AB}"/>
                </a:ext>
              </a:extLst>
            </p:cNvPr>
            <p:cNvSpPr txBox="1"/>
            <p:nvPr/>
          </p:nvSpPr>
          <p:spPr>
            <a:xfrm>
              <a:off x="518160" y="1107173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50" b="1" i="0">
                  <a:solidFill>
                    <a:srgbClr val="0F6BBF"/>
                  </a:solidFill>
                  <a:latin typeface="맑은 고딕"/>
                </a:rPr>
                <a:t>① M3(Clinic+Scanner+AEC) norm: M1 대비 통계적 유의한 향상 (p=0.066 †)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170BC6-578C-6CED-3166-1BD6DFA1E062}"/>
                </a:ext>
              </a:extLst>
            </p:cNvPr>
            <p:cNvSpPr txBox="1"/>
            <p:nvPr/>
          </p:nvSpPr>
          <p:spPr>
            <a:xfrm>
              <a:off x="518160" y="1814841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 • M1→M3 norm: AUC 0.8030→0.8455, DeLong p=0.066 †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1430A0-8C0B-169A-A57D-FF2E202897D1}"/>
                </a:ext>
              </a:extLst>
            </p:cNvPr>
            <p:cNvSpPr txBox="1"/>
            <p:nvPr/>
          </p:nvSpPr>
          <p:spPr>
            <a:xfrm>
              <a:off x="518160" y="1524891"/>
              <a:ext cx="3570208" cy="26930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 dirty="0">
                  <a:solidFill>
                    <a:srgbClr val="1A1A2E"/>
                  </a:solidFill>
                  <a:latin typeface="맑은 고딕"/>
                </a:rPr>
                <a:t>  • M1→M2 norm: AUC 0.8030→0.8435, p=0.051 †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D13DAA-1412-FC83-32BE-41379ADB8875}"/>
                </a:ext>
              </a:extLst>
            </p:cNvPr>
            <p:cNvSpPr txBox="1"/>
            <p:nvPr/>
          </p:nvSpPr>
          <p:spPr>
            <a:xfrm>
              <a:off x="6233160" y="1527797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음성 대조군 excl_extreme: M2(0.809) vs M2_2(0.499) Δ=0.310 ***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12C582-5A50-6178-E8FD-65F55D5B92C1}"/>
                </a:ext>
              </a:extLst>
            </p:cNvPr>
            <p:cNvSpPr txBox="1"/>
            <p:nvPr/>
          </p:nvSpPr>
          <p:spPr>
            <a:xfrm>
              <a:off x="6233160" y="1820405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여성 AUC: M1(0.848)→M3(0.904) — M3 기여 뚜렷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2C32EA2-0E69-6054-AC36-86B2E11643D4}"/>
              </a:ext>
            </a:extLst>
          </p:cNvPr>
          <p:cNvGrpSpPr/>
          <p:nvPr/>
        </p:nvGrpSpPr>
        <p:grpSpPr>
          <a:xfrm>
            <a:off x="289560" y="2824347"/>
            <a:ext cx="11612880" cy="1325880"/>
            <a:chOff x="289560" y="2766060"/>
            <a:chExt cx="11612880" cy="1325880"/>
          </a:xfrm>
        </p:grpSpPr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EDEC4B96-182B-2E55-696A-EAF629DA79C5}"/>
                </a:ext>
              </a:extLst>
            </p:cNvPr>
            <p:cNvSpPr/>
            <p:nvPr/>
          </p:nvSpPr>
          <p:spPr>
            <a:xfrm>
              <a:off x="289560" y="2766060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C6139DB5-39EF-8A76-E0BE-EB09CD3EE1D3}"/>
                </a:ext>
              </a:extLst>
            </p:cNvPr>
            <p:cNvSpPr/>
            <p:nvPr/>
          </p:nvSpPr>
          <p:spPr>
            <a:xfrm>
              <a:off x="289560" y="2766060"/>
              <a:ext cx="109728" cy="1325880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576435E-2C03-FDC7-656E-652B1D77F3CD}"/>
                </a:ext>
              </a:extLst>
            </p:cNvPr>
            <p:cNvSpPr txBox="1"/>
            <p:nvPr/>
          </p:nvSpPr>
          <p:spPr>
            <a:xfrm>
              <a:off x="518160" y="2830068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50" b="1" i="0">
                  <a:solidFill>
                    <a:srgbClr val="0F9B8A"/>
                  </a:solidFill>
                  <a:latin typeface="맑은 고딕"/>
                </a:rPr>
                <a:t>② norm 전처리 조건 최우수 — M3 norm 전체 최고 AUC (0.8455)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419A5D-ADD2-FE4F-392E-2D6620B436C6}"/>
                </a:ext>
              </a:extLst>
            </p:cNvPr>
            <p:cNvSpPr txBox="1"/>
            <p:nvPr/>
          </p:nvSpPr>
          <p:spPr>
            <a:xfrm>
              <a:off x="518160" y="3259837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M3 norm: AUC 0.8455, Brier 0.1902 — 전 조건 최우수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4917B1-EF8D-4F1C-BD9B-E839ACBE7E9A}"/>
                </a:ext>
              </a:extLst>
            </p:cNvPr>
            <p:cNvSpPr txBox="1"/>
            <p:nvPr/>
          </p:nvSpPr>
          <p:spPr>
            <a:xfrm>
              <a:off x="518160" y="3552445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M2 crop60: AUC 0.7933 — M2 중 최고, 중앙 구간 집중 유리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72A1B7D-A60F-9CF2-6894-F363654972C3}"/>
                </a:ext>
              </a:extLst>
            </p:cNvPr>
            <p:cNvSpPr txBox="1"/>
            <p:nvPr/>
          </p:nvSpPr>
          <p:spPr>
            <a:xfrm>
              <a:off x="6233160" y="3259837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excl_extreme: M2 vs M2_2 매칭 효과 가장 극명 (Δ=0.310***)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0E268CF-EA1F-DB19-43C8-9AF14C25A908}"/>
                </a:ext>
              </a:extLst>
            </p:cNvPr>
            <p:cNvSpPr txBox="1"/>
            <p:nvPr/>
          </p:nvSpPr>
          <p:spPr>
            <a:xfrm>
              <a:off x="6233160" y="3552445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→ 매칭 효과 연구에는 excl_extreme이 유용한 음성 대조 설계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8B334F6-308E-961F-4677-DD10C592E1B7}"/>
              </a:ext>
            </a:extLst>
          </p:cNvPr>
          <p:cNvGrpSpPr/>
          <p:nvPr/>
        </p:nvGrpSpPr>
        <p:grpSpPr>
          <a:xfrm>
            <a:off x="289560" y="4488955"/>
            <a:ext cx="11612880" cy="1325880"/>
            <a:chOff x="289560" y="4488955"/>
            <a:chExt cx="11612880" cy="1325880"/>
          </a:xfrm>
        </p:grpSpPr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5F58B308-2995-86D8-4775-BAE8B90D554B}"/>
                </a:ext>
              </a:extLst>
            </p:cNvPr>
            <p:cNvSpPr/>
            <p:nvPr/>
          </p:nvSpPr>
          <p:spPr>
            <a:xfrm>
              <a:off x="289560" y="4488955"/>
              <a:ext cx="11612880" cy="132588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D6EA577-93B4-DC3C-508C-D17D94253DBA}"/>
                </a:ext>
              </a:extLst>
            </p:cNvPr>
            <p:cNvSpPr/>
            <p:nvPr/>
          </p:nvSpPr>
          <p:spPr>
            <a:xfrm>
              <a:off x="289560" y="4488955"/>
              <a:ext cx="109728" cy="1325880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8BF6B4-6F58-5AC2-F7D8-609D042C5E16}"/>
                </a:ext>
              </a:extLst>
            </p:cNvPr>
            <p:cNvSpPr txBox="1"/>
            <p:nvPr/>
          </p:nvSpPr>
          <p:spPr>
            <a:xfrm>
              <a:off x="518160" y="4552962"/>
              <a:ext cx="11064240" cy="32918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350" b="1" i="0">
                  <a:solidFill>
                    <a:srgbClr val="E87400"/>
                  </a:solidFill>
                  <a:latin typeface="맑은 고딕"/>
                </a:rPr>
                <a:t>③ M2 vs M3: norm은 M3 유리(p=0.923 ns), crop60는 M2 유리(p=0.870 ns)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900BC5-0D6C-4F66-CF4F-98D007AE70B3}"/>
                </a:ext>
              </a:extLst>
            </p:cNvPr>
            <p:cNvSpPr txBox="1"/>
            <p:nvPr/>
          </p:nvSpPr>
          <p:spPr>
            <a:xfrm>
              <a:off x="518160" y="4986553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norm: M2(0.844) vs M3(0.846) Δ=+0.002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A0C1B40-BC67-BF39-961D-6CF94FC392C9}"/>
                </a:ext>
              </a:extLst>
            </p:cNvPr>
            <p:cNvSpPr txBox="1"/>
            <p:nvPr/>
          </p:nvSpPr>
          <p:spPr>
            <a:xfrm>
              <a:off x="518160" y="5279161"/>
              <a:ext cx="548640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crop60: M2(0.793) vs M3(0.789) Δ=−0.005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5B451E-D2A8-6DFA-D118-0DAC305B0F0C}"/>
                </a:ext>
              </a:extLst>
            </p:cNvPr>
            <p:cNvSpPr txBox="1"/>
            <p:nvPr/>
          </p:nvSpPr>
          <p:spPr>
            <a:xfrm>
              <a:off x="6233160" y="4986553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남성 M3(0.738) &gt; M2(0.739) — norm에서 Scanner 기여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89F2DC-73E8-7995-4F15-2A866D612C4F}"/>
                </a:ext>
              </a:extLst>
            </p:cNvPr>
            <p:cNvSpPr txBox="1"/>
            <p:nvPr/>
          </p:nvSpPr>
          <p:spPr>
            <a:xfrm>
              <a:off x="6233160" y="5279161"/>
              <a:ext cx="55778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150" b="0" i="0">
                  <a:solidFill>
                    <a:srgbClr val="1A1A2E"/>
                  </a:solidFill>
                  <a:latin typeface="맑은 고딕"/>
                </a:rPr>
                <a:t>  • 여성 M3(0.904) &gt; M2(0.894) — 성별 불문 M3 우위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9936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57D8-1443-8C20-6C2E-FCDCF256B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61130-A793-105E-54DE-8EA871F43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B8E210-F4D7-35FA-114D-7BCD328B7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28B7B1-1197-E94B-2DA5-D3E1CF706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lang="ko-KR" altLang="en-US" dirty="0"/>
              <a:t>신촌 데이터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(Total </a:t>
            </a:r>
            <a:r>
              <a:rPr lang="en-US" altLang="ko-KR" dirty="0" err="1"/>
              <a:t>Segmentator</a:t>
            </a:r>
            <a:r>
              <a:rPr lang="en-US" altLang="ko-KR" dirty="0"/>
              <a:t>, AEC)</a:t>
            </a:r>
          </a:p>
          <a:p>
            <a:r>
              <a:rPr lang="ko-KR" altLang="en-US" dirty="0"/>
              <a:t>다기관 검증 </a:t>
            </a:r>
            <a:r>
              <a:rPr lang="en-US" altLang="ko-KR" dirty="0"/>
              <a:t>(</a:t>
            </a:r>
            <a:r>
              <a:rPr lang="ko-KR" altLang="en-US" dirty="0"/>
              <a:t>신촌 데이터</a:t>
            </a:r>
            <a:r>
              <a:rPr lang="en-US" altLang="ko-KR" dirty="0"/>
              <a:t>) </a:t>
            </a:r>
            <a:r>
              <a:rPr lang="ko-KR" altLang="en-US" dirty="0"/>
              <a:t>→ 일반화 성능</a:t>
            </a:r>
            <a:r>
              <a:rPr lang="en-US" altLang="ko-KR" dirty="0"/>
              <a:t>, DeLong </a:t>
            </a:r>
            <a:r>
              <a:rPr lang="ko-KR" altLang="en-US" dirty="0"/>
              <a:t>유의성 재확인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6384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0C8C8-C4B1-4336-9468-E6803A595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1809549"/>
            <a:ext cx="11176000" cy="532342"/>
          </a:xfrm>
        </p:spPr>
        <p:txBody>
          <a:bodyPr>
            <a:noAutofit/>
          </a:bodyPr>
          <a:lstStyle/>
          <a:p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부록 </a:t>
            </a:r>
            <a:r>
              <a:rPr lang="en-US" altLang="ko-KR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– </a:t>
            </a:r>
            <a:r>
              <a:rPr lang="ko-KR" altLang="en-US" sz="4000" dirty="0">
                <a:latin typeface="KoPub돋움체 Bold" panose="00000800000000000000" pitchFamily="2" charset="-127"/>
                <a:ea typeface="KoPub돋움체 Bold" panose="00000800000000000000" pitchFamily="2" charset="-127"/>
                <a:cs typeface="KoPubWorld돋움체 Bold" panose="00000800000000000000" pitchFamily="2" charset="-127"/>
              </a:rPr>
              <a:t>조건별 상세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768F2-76AD-4898-ABAE-26C15888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5E94AB-2FE9-AD66-BD30-0F84BB660640}"/>
              </a:ext>
            </a:extLst>
          </p:cNvPr>
          <p:cNvSpPr txBox="1"/>
          <p:nvPr/>
        </p:nvSpPr>
        <p:spPr>
          <a:xfrm>
            <a:off x="3203300" y="3236976"/>
            <a:ext cx="578235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 i="0" dirty="0">
                <a:latin typeface="맑은 고딕"/>
              </a:rPr>
              <a:t>AEC 128pt × </a:t>
            </a:r>
            <a:r>
              <a:rPr sz="1700" b="0" i="0" dirty="0" err="1">
                <a:latin typeface="맑은 고딕"/>
              </a:rPr>
              <a:t>전처리</a:t>
            </a:r>
            <a:r>
              <a:rPr sz="1700" b="0" i="0" dirty="0">
                <a:latin typeface="맑은 고딕"/>
              </a:rPr>
              <a:t> 5종  |  M2 · M2_2 · M3 </a:t>
            </a:r>
            <a:r>
              <a:rPr sz="1700" b="0" i="0" dirty="0" err="1">
                <a:latin typeface="맑은 고딕"/>
              </a:rPr>
              <a:t>개별</a:t>
            </a:r>
            <a:r>
              <a:rPr sz="1700" b="0" i="0" dirty="0">
                <a:latin typeface="맑은 고딕"/>
              </a:rPr>
              <a:t> </a:t>
            </a:r>
            <a:r>
              <a:rPr sz="1700" b="0" i="0" dirty="0" err="1">
                <a:latin typeface="맑은 고딕"/>
              </a:rPr>
              <a:t>시각화</a:t>
            </a:r>
            <a:endParaRPr sz="1700" b="0" i="0" dirty="0">
              <a:latin typeface="맑은 고딕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9FD57C18-5779-0BFE-13ED-31F3C15C2926}"/>
              </a:ext>
            </a:extLst>
          </p:cNvPr>
          <p:cNvSpPr/>
          <p:nvPr/>
        </p:nvSpPr>
        <p:spPr>
          <a:xfrm>
            <a:off x="3200400" y="3657600"/>
            <a:ext cx="5788152" cy="3657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17C7305-F0CE-82DA-89E5-AF416D8EAC0F}"/>
              </a:ext>
            </a:extLst>
          </p:cNvPr>
          <p:cNvGrpSpPr/>
          <p:nvPr/>
        </p:nvGrpSpPr>
        <p:grpSpPr>
          <a:xfrm>
            <a:off x="914400" y="3866884"/>
            <a:ext cx="10360152" cy="2286001"/>
            <a:chOff x="914400" y="3977639"/>
            <a:chExt cx="10360152" cy="2286001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3E5966D7-21B0-968D-83B6-7183A831E2C5}"/>
                </a:ext>
              </a:extLst>
            </p:cNvPr>
            <p:cNvSpPr/>
            <p:nvPr/>
          </p:nvSpPr>
          <p:spPr>
            <a:xfrm>
              <a:off x="914400" y="3977639"/>
              <a:ext cx="10360152" cy="384048"/>
            </a:xfrm>
            <a:prstGeom prst="rect">
              <a:avLst/>
            </a:prstGeom>
            <a:solidFill>
              <a:srgbClr val="0F6BB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6F0805-1EFF-8E62-8C98-A5744C8415A7}"/>
                </a:ext>
              </a:extLst>
            </p:cNvPr>
            <p:cNvSpPr txBox="1"/>
            <p:nvPr/>
          </p:nvSpPr>
          <p:spPr>
            <a:xfrm>
              <a:off x="960120" y="3995928"/>
              <a:ext cx="10241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맑은 고딕"/>
                </a:rPr>
                <a:t>  norm   →  행 방향 정규화 — M3 최고 AUC (0.8455), M1→M3 p=0.066 †</a:t>
              </a: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D3EDDDDD-2C65-5439-2132-83E93EFCDE8E}"/>
                </a:ext>
              </a:extLst>
            </p:cNvPr>
            <p:cNvSpPr/>
            <p:nvPr/>
          </p:nvSpPr>
          <p:spPr>
            <a:xfrm>
              <a:off x="914400" y="4453127"/>
              <a:ext cx="10360152" cy="384048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6F82CB-2609-F1DB-F5F6-2C332D5CAC10}"/>
                </a:ext>
              </a:extLst>
            </p:cNvPr>
            <p:cNvSpPr txBox="1"/>
            <p:nvPr/>
          </p:nvSpPr>
          <p:spPr>
            <a:xfrm>
              <a:off x="960120" y="4471416"/>
              <a:ext cx="10241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맑은 고딕"/>
                </a:rPr>
                <a:t>  crop80   →  중앙 80% 구간 — 양끝 10% 제거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371A5284-85E5-BACB-A3E0-504BA2077E0E}"/>
                </a:ext>
              </a:extLst>
            </p:cNvPr>
            <p:cNvSpPr/>
            <p:nvPr/>
          </p:nvSpPr>
          <p:spPr>
            <a:xfrm>
              <a:off x="914400" y="4928616"/>
              <a:ext cx="10360152" cy="384048"/>
            </a:xfrm>
            <a:prstGeom prst="rect">
              <a:avLst/>
            </a:prstGeom>
            <a:solidFill>
              <a:srgbClr val="0F9B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E6748E-878C-92B8-90AE-137F97AAFBEF}"/>
                </a:ext>
              </a:extLst>
            </p:cNvPr>
            <p:cNvSpPr txBox="1"/>
            <p:nvPr/>
          </p:nvSpPr>
          <p:spPr>
            <a:xfrm>
              <a:off x="960120" y="4946904"/>
              <a:ext cx="10241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맑은 고딕"/>
                </a:rPr>
                <a:t>  crop60   →  중앙 60% 구간 — M2(0.7933) M2 vs M3 p=0.870 ns</a:t>
              </a:r>
            </a:p>
          </p:txBody>
        </p:sp>
        <p:sp>
          <p:nvSpPr>
            <p:cNvPr id="10" name="Rectangle 13">
              <a:extLst>
                <a:ext uri="{FF2B5EF4-FFF2-40B4-BE49-F238E27FC236}">
                  <a16:creationId xmlns:a16="http://schemas.microsoft.com/office/drawing/2014/main" id="{21FEAE89-E1F8-2304-4D86-33F6EA28B8F5}"/>
                </a:ext>
              </a:extLst>
            </p:cNvPr>
            <p:cNvSpPr/>
            <p:nvPr/>
          </p:nvSpPr>
          <p:spPr>
            <a:xfrm>
              <a:off x="914400" y="5404104"/>
              <a:ext cx="10360152" cy="384048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D7ECA8-7CAA-EECD-0ACC-E2B9DB74D116}"/>
                </a:ext>
              </a:extLst>
            </p:cNvPr>
            <p:cNvSpPr txBox="1"/>
            <p:nvPr/>
          </p:nvSpPr>
          <p:spPr>
            <a:xfrm>
              <a:off x="960120" y="5422392"/>
              <a:ext cx="10241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맑은 고딕"/>
                </a:rPr>
                <a:t>  len128   →  선형 보간 128pt — baseline 해상도</a:t>
              </a:r>
            </a:p>
          </p:txBody>
        </p:sp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7B6CF496-E0E5-D2B1-CBF8-D1A0798FFE47}"/>
                </a:ext>
              </a:extLst>
            </p:cNvPr>
            <p:cNvSpPr/>
            <p:nvPr/>
          </p:nvSpPr>
          <p:spPr>
            <a:xfrm>
              <a:off x="914400" y="5879592"/>
              <a:ext cx="10360152" cy="384048"/>
            </a:xfrm>
            <a:prstGeom prst="rect">
              <a:avLst/>
            </a:prstGeom>
            <a:solidFill>
              <a:srgbClr val="E874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FC410FE-ABAB-5290-B659-0D1FE4485765}"/>
                </a:ext>
              </a:extLst>
            </p:cNvPr>
            <p:cNvSpPr txBox="1"/>
            <p:nvPr/>
          </p:nvSpPr>
          <p:spPr>
            <a:xfrm>
              <a:off x="960120" y="5897880"/>
              <a:ext cx="10241280" cy="34747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 i="0">
                  <a:solidFill>
                    <a:srgbClr val="FFFFFF"/>
                  </a:solidFill>
                  <a:latin typeface="맑은 고딕"/>
                </a:rPr>
                <a:t>  excl_extreme   →  상하위 5% 극단 제거 — M2 vs M2_2 매칭 효과 극명 (Δ=0.310***)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776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291047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AUC=0.8435  |  M3 AUC=0.8455  |  M2vM3: p=0.923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18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9506" y="832104"/>
            <a:ext cx="25218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0.1397)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0.1902)</a:t>
            </a:r>
          </a:p>
        </p:txBody>
      </p:sp>
      <p:pic>
        <p:nvPicPr>
          <p:cNvPr id="13" name="Picture 12" descr="roc_all_models_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1168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crop60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AUC=0.7933  |  M3 AUC=0.7886  |  M2vM3: p=0.870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19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9506" y="832104"/>
            <a:ext cx="25218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0.2389)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0.1830)</a:t>
            </a:r>
          </a:p>
        </p:txBody>
      </p:sp>
      <p:pic>
        <p:nvPicPr>
          <p:cNvPr id="13" name="Picture 12" descr="roc_all_models_crop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1168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crop80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AUC=0.7689  |  M3 AUC=0.7835  |  M2vM3: p=0.463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20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9506" y="832104"/>
            <a:ext cx="25218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0.2108)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0.2055)</a:t>
            </a:r>
          </a:p>
        </p:txBody>
      </p:sp>
      <p:pic>
        <p:nvPicPr>
          <p:cNvPr id="13" name="Picture 12" descr="roc_all_models_crop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08610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len128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7372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AUC=0.7913  |  M3 AUC=0.8033  |  M2vM3: p=0.659 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21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9506" y="832104"/>
            <a:ext cx="25218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0.1847)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0.1701)</a:t>
            </a:r>
          </a:p>
        </p:txBody>
      </p:sp>
      <p:pic>
        <p:nvPicPr>
          <p:cNvPr id="13" name="Picture 12" descr="roc_all_models_len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64698" y="3831336"/>
            <a:ext cx="175400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Attention Heatmap</a:t>
            </a:r>
          </a:p>
        </p:txBody>
      </p:sp>
      <p:pic>
        <p:nvPicPr>
          <p:cNvPr id="24" name="Picture 23" descr="attention_heatmap_c2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92780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AEC 128pt  +  excl_extreme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9" y="457200"/>
            <a:ext cx="463947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AUC=0.8095  |  M3 AUC=0.7688  |  M2vM3: p=0.047 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22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188" y="813816"/>
            <a:ext cx="3840480" cy="3017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9506" y="832104"/>
            <a:ext cx="252184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전모델 ROC 비교  (M1·M2·M2₂·M3)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2419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Calibration  (Brier 0.2065)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1460" y="813816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43483" y="832104"/>
            <a:ext cx="219643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Calibration  (Brier 0.1770)</a:t>
            </a:r>
          </a:p>
        </p:txBody>
      </p:sp>
      <p:pic>
        <p:nvPicPr>
          <p:cNvPr id="13" name="Picture 12" descr="roc_all_models_excl_extr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88" y="1133856"/>
            <a:ext cx="3840480" cy="2606040"/>
          </a:xfrm>
          <a:prstGeom prst="rect">
            <a:avLst/>
          </a:prstGeom>
        </p:spPr>
      </p:pic>
      <p:pic>
        <p:nvPicPr>
          <p:cNvPr id="14" name="Picture 13" descr="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96" y="1133856"/>
            <a:ext cx="3840480" cy="2606040"/>
          </a:xfrm>
          <a:prstGeom prst="rect">
            <a:avLst/>
          </a:prstGeom>
        </p:spPr>
      </p:pic>
      <p:pic>
        <p:nvPicPr>
          <p:cNvPr id="15" name="Picture 14" descr="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460" y="1133856"/>
            <a:ext cx="3840480" cy="26060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30188" y="3813048"/>
            <a:ext cx="3840480" cy="301752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9148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M2 Confusion Matrix</a:t>
            </a:r>
          </a:p>
        </p:txBody>
      </p:sp>
      <p:pic>
        <p:nvPicPr>
          <p:cNvPr id="18" name="Picture 17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188" y="4133087"/>
            <a:ext cx="3840480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80396" y="3813048"/>
            <a:ext cx="3840480" cy="301752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9356" y="3831336"/>
            <a:ext cx="16225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M3 Confusion Matrix</a:t>
            </a:r>
          </a:p>
        </p:txBody>
      </p:sp>
      <p:pic>
        <p:nvPicPr>
          <p:cNvPr id="21" name="Picture 20" descr="confusion_matri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0396" y="4133087"/>
            <a:ext cx="3840480" cy="239572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121460" y="3813048"/>
            <a:ext cx="3840480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03220" y="3831336"/>
            <a:ext cx="247696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데이터 분포 (excl_extreme 필터 후)</a:t>
            </a:r>
          </a:p>
        </p:txBody>
      </p:sp>
      <p:pic>
        <p:nvPicPr>
          <p:cNvPr id="24" name="Picture 23" descr="data_distribu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460" y="4133087"/>
            <a:ext cx="3840480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54865"/>
            <a:ext cx="343465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norm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23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470" y="1938528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9470" y="4754880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6409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crop60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24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471" y="1938528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9470" y="4754880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9" y="54865"/>
            <a:ext cx="36409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crop80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25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471" y="1938528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9470" y="4754880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54865"/>
            <a:ext cx="361028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len128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26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469" y="1938528"/>
            <a:ext cx="36260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</a:t>
            </a:r>
            <a:r>
              <a:rPr lang="en-US" sz="900" b="1" dirty="0">
                <a:solidFill>
                  <a:srgbClr val="FFFFFF"/>
                </a:solidFill>
                <a:latin typeface="맑은 고딕"/>
              </a:rPr>
              <a:t>2</a:t>
            </a:r>
            <a:endParaRPr sz="900" b="1" dirty="0">
              <a:solidFill>
                <a:srgbClr val="FFFFFF"/>
              </a:solidFill>
              <a:latin typeface="맑은 고딕"/>
            </a:endParaRP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9469" y="4754880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7680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320040" cy="768096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3068" y="54865"/>
            <a:ext cx="445198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Grad-CAM AEC — excl_extreme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068" y="457200"/>
            <a:ext cx="620060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9EA3AB"/>
                </a:solidFill>
                <a:latin typeface="맑은 고딕"/>
              </a:rPr>
              <a:t>M2 (CrossAttn)  vs  M3 (CrossAttn3)  |  heatmap · individual lines · mean curve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15176" y="6537960"/>
            <a:ext cx="6479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9EA3AB"/>
                </a:solidFill>
                <a:latin typeface="맑은 고딕"/>
              </a:rPr>
              <a:t>27 / 29</a:t>
            </a:r>
          </a:p>
        </p:txBody>
      </p:sp>
      <p:sp>
        <p:nvSpPr>
          <p:cNvPr id="7" name="Rectangle 6"/>
          <p:cNvSpPr/>
          <p:nvPr/>
        </p:nvSpPr>
        <p:spPr>
          <a:xfrm>
            <a:off x="184468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8393" y="822960"/>
            <a:ext cx="193835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cam_aec_heatmap  (샘플별)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396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99205" y="822960"/>
            <a:ext cx="18485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cam_aec_lines  (개별 곡선)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5467" y="813816"/>
            <a:ext cx="3886200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52179" y="822960"/>
            <a:ext cx="195277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cam_aec_mean  (평균 CAM)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468" y="1115568"/>
            <a:ext cx="274320" cy="2514600"/>
          </a:xfrm>
          <a:prstGeom prst="rect">
            <a:avLst/>
          </a:prstGeom>
          <a:solidFill>
            <a:srgbClr val="0F9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9470" y="1938528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M2</a:t>
            </a:r>
          </a:p>
        </p:txBody>
      </p:sp>
      <p:pic>
        <p:nvPicPr>
          <p:cNvPr id="15" name="Picture 14" descr="cam_a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6" y="1115568"/>
            <a:ext cx="3593592" cy="2514600"/>
          </a:xfrm>
          <a:prstGeom prst="rect">
            <a:avLst/>
          </a:prstGeom>
        </p:spPr>
      </p:pic>
      <p:pic>
        <p:nvPicPr>
          <p:cNvPr id="16" name="Picture 15" descr="cam_aec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004" y="1115568"/>
            <a:ext cx="3593592" cy="2514600"/>
          </a:xfrm>
          <a:prstGeom prst="rect">
            <a:avLst/>
          </a:prstGeom>
        </p:spPr>
      </p:pic>
      <p:pic>
        <p:nvPicPr>
          <p:cNvPr id="17" name="Picture 16" descr="cam_aec_m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076" y="1115568"/>
            <a:ext cx="3593592" cy="2514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4468" y="3931920"/>
            <a:ext cx="274320" cy="2514600"/>
          </a:xfrm>
          <a:prstGeom prst="rect">
            <a:avLst/>
          </a:prstGeom>
          <a:solidFill>
            <a:srgbClr val="E8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9469" y="4754880"/>
            <a:ext cx="36259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맑은 고딕"/>
              </a:rPr>
              <a:t>M3</a:t>
            </a:r>
          </a:p>
        </p:txBody>
      </p:sp>
      <p:pic>
        <p:nvPicPr>
          <p:cNvPr id="20" name="Picture 19" descr="cam_aec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6" y="3931920"/>
            <a:ext cx="3593592" cy="2514600"/>
          </a:xfrm>
          <a:prstGeom prst="rect">
            <a:avLst/>
          </a:prstGeom>
        </p:spPr>
      </p:pic>
      <p:pic>
        <p:nvPicPr>
          <p:cNvPr id="21" name="Picture 20" descr="cam_aec_lin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3004" y="3931920"/>
            <a:ext cx="3593592" cy="2514600"/>
          </a:xfrm>
          <a:prstGeom prst="rect">
            <a:avLst/>
          </a:prstGeom>
        </p:spPr>
      </p:pic>
      <p:pic>
        <p:nvPicPr>
          <p:cNvPr id="22" name="Picture 21" descr="cam_aec_me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076" y="3931920"/>
            <a:ext cx="3593592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3391</TotalTime>
  <Words>3017</Words>
  <Application>Microsoft Office PowerPoint</Application>
  <PresentationFormat>와이드스크린</PresentationFormat>
  <Paragraphs>603</Paragraphs>
  <Slides>34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9" baseType="lpstr">
      <vt:lpstr>KoPub돋움체 Medium</vt:lpstr>
      <vt:lpstr>Arial</vt:lpstr>
      <vt:lpstr>맑은 고딕</vt:lpstr>
      <vt:lpstr>KoPub돋움체 Bold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Plans</vt:lpstr>
      <vt:lpstr>부록 – 조건별 상세 결과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321</cp:revision>
  <dcterms:created xsi:type="dcterms:W3CDTF">2026-04-09T07:05:16Z</dcterms:created>
  <dcterms:modified xsi:type="dcterms:W3CDTF">2026-05-29T02:40:53Z</dcterms:modified>
</cp:coreProperties>
</file>