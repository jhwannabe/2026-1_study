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524" r:id="rId3"/>
    <p:sldId id="551" r:id="rId4"/>
    <p:sldId id="583" r:id="rId5"/>
    <p:sldId id="569" r:id="rId6"/>
    <p:sldId id="582" r:id="rId7"/>
    <p:sldId id="570" r:id="rId8"/>
    <p:sldId id="573" r:id="rId9"/>
    <p:sldId id="587" r:id="rId10"/>
    <p:sldId id="589" r:id="rId11"/>
    <p:sldId id="584" r:id="rId12"/>
    <p:sldId id="585" r:id="rId13"/>
    <p:sldId id="586" r:id="rId14"/>
    <p:sldId id="588" r:id="rId15"/>
    <p:sldId id="590" r:id="rId16"/>
    <p:sldId id="581" r:id="rId17"/>
    <p:sldId id="479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embeddedFontLst>
    <p:embeddedFont>
      <p:font typeface="KoPub돋움체 Bold" panose="00000800000000000000" pitchFamily="2" charset="-127"/>
      <p:bold r:id="rId27"/>
    </p:embeddedFont>
    <p:embeddedFont>
      <p:font typeface="KoPub돋움체 Medium" panose="00000600000000000000" pitchFamily="2" charset="-127"/>
      <p:regular r:id="rId28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83"/>
            <p14:sldId id="569"/>
            <p14:sldId id="582"/>
            <p14:sldId id="570"/>
            <p14:sldId id="573"/>
            <p14:sldId id="587"/>
            <p14:sldId id="589"/>
            <p14:sldId id="584"/>
            <p14:sldId id="585"/>
            <p14:sldId id="586"/>
            <p14:sldId id="588"/>
            <p14:sldId id="590"/>
            <p14:sldId id="581"/>
            <p14:sldId id="479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2EB1-956A-16D6-9C8D-3824DC40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794BB5-EA96-4291-8A35-941D1E37E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9E4831-721D-009B-2557-1942619FF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788AF-1969-CC23-89E7-E624B8071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40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427D-18AB-FB27-8FFC-A0B6FFCD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EBBC08-1943-2DBE-075E-E8FCBA7F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942D80-8618-D7E3-0C44-FD1E178E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43CCB-D6EA-6323-E4F9-E92A51F7D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69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7274-0C13-F77F-402B-41CC66F7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708BBE-B183-E029-B80F-E0DB9C52F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D0F125-6EDD-72FD-483F-CD06DC87F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D1597-DEBD-6C00-7872-5A1E16D11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908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269F-7961-CDFD-6331-670F802F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789056-5956-2D27-8212-3012CB493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160AC9-5857-ECFF-94E3-96E2DC754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E0113-0E6E-54CB-CBDB-04D625394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9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29B9-4393-5E92-2705-1F78FD07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BF9241-9CDA-19B9-68ED-FB4E91519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01F2D1-981C-E494-4749-1BB21F3D7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16171-CCAA-17EA-C65B-DD33C8837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888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0FEE-205D-7340-E8BF-235B5E53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5A28BD-E3DB-2C68-41B5-FA008A599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AA880-AADD-6143-CF19-E9E7F036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D6CE3-F2B9-44EF-7C7B-8A1784EE4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51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4C4C-3691-B342-6F74-3D61F082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894B0-37BE-BE7B-BC74-BBAA40BAE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175959-5F7A-5D82-98B8-1B8FDD614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25434-F3C0-FD2F-C341-471B86BBB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00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2329-949E-2D9A-29CB-ED6C0A51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41F121-75D9-7063-5D1E-32B1CFCD4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8624D5-64CE-57D5-ACC3-89F5746DC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E2E81E-96CF-7604-B321-389F35267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96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8980-94CD-5374-14E7-DB161DBB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500755-7236-9AD3-5B99-735B1BF30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5B7ACA-A176-050B-8AEF-C27E3286E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6E34A-DE83-A866-0A57-10A8044F3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503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6002-7477-C11D-B7F2-7579BA24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DA0F61-B130-CC72-8884-723833FA7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88323C-FD0C-BD1E-C0DC-D4FE9B256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3ED8B-FF65-0164-926C-4E6739E27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423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5830-73CC-875F-4A54-BE2A821B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575E1F-6CAD-11FE-B3B9-2DD557571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459E9-F3DC-396E-8DFF-652D799F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6D248-971A-EFC1-CBF2-509A0B636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563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2381-C117-5D9B-6D8D-B4F3E39C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7720BF-91B6-5D13-726F-17D94B7E1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CC8FA5-8443-3618-D1DC-0C57DD85B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951BEE-DA7B-9FDE-B9F2-DAAC112E6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51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F278-D914-DD13-A377-E2FC87AB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935A1-0223-5453-9076-73D26D709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374981-1B53-FF37-67F3-3D2E107E2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BE2DD-9CDC-F3EF-12D9-623E40A55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37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Results of 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&amp; AEC</a:t>
            </a:r>
            <a:r>
              <a:rPr lang="ko-KR" altLang="en-US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Study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2026. 06. 12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Train/Valid Loss </a:t>
            </a:r>
            <a:r>
              <a:rPr lang="ko-KR" altLang="en-US" dirty="0"/>
              <a:t>증가</a:t>
            </a:r>
            <a:r>
              <a:rPr lang="en-US" altLang="ko-KR" dirty="0"/>
              <a:t>, AUC </a:t>
            </a:r>
            <a:r>
              <a:rPr lang="ko-KR" altLang="en-US" dirty="0"/>
              <a:t>감소 문제 해결 </a:t>
            </a:r>
            <a:r>
              <a:rPr lang="en-US" altLang="ko-KR" dirty="0"/>
              <a:t>(LR=1e-3 </a:t>
            </a:r>
            <a:r>
              <a:rPr lang="ko-KR" altLang="en-US" dirty="0"/>
              <a:t>→ </a:t>
            </a:r>
            <a:r>
              <a:rPr lang="en-US" altLang="ko-KR" dirty="0"/>
              <a:t>1e-5)</a:t>
            </a:r>
          </a:p>
          <a:p>
            <a:r>
              <a:rPr lang="ko-KR" altLang="en-US" dirty="0"/>
              <a:t>다른 </a:t>
            </a:r>
            <a:r>
              <a:rPr lang="en-US" altLang="ko-KR" dirty="0"/>
              <a:t>Parameter</a:t>
            </a:r>
            <a:r>
              <a:rPr lang="ko-KR" altLang="en-US" dirty="0"/>
              <a:t>를 변경하면서 성능 향상이 되는지 비교 확인</a:t>
            </a:r>
            <a:endParaRPr lang="en-US" altLang="ko-KR" dirty="0"/>
          </a:p>
          <a:p>
            <a:r>
              <a:rPr lang="en-US" altLang="ko-KR" dirty="0"/>
              <a:t>AEC Data</a:t>
            </a:r>
            <a:r>
              <a:rPr lang="ko-KR" altLang="en-US" dirty="0"/>
              <a:t> </a:t>
            </a:r>
            <a:r>
              <a:rPr lang="en-US" altLang="ko-KR" dirty="0"/>
              <a:t>Preprocessing</a:t>
            </a:r>
          </a:p>
          <a:p>
            <a:pPr lvl="1"/>
            <a:r>
              <a:rPr lang="en-US" altLang="ko-KR" dirty="0"/>
              <a:t>Raw Data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(point</a:t>
            </a:r>
            <a:r>
              <a:rPr lang="ko-KR" altLang="en-US" dirty="0"/>
              <a:t>별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Normalized (</a:t>
            </a:r>
            <a:r>
              <a:rPr lang="ko-KR" altLang="en-US" b="1" dirty="0" err="1"/>
              <a:t>환자별</a:t>
            </a:r>
            <a:r>
              <a:rPr lang="ko-KR" altLang="en-US" b="1" dirty="0"/>
              <a:t> 정규화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Global </a:t>
            </a:r>
            <a:r>
              <a:rPr lang="en-US" altLang="ko-KR" dirty="0" err="1"/>
              <a:t>Zscore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ko-KR" altLang="ko-KR" dirty="0"/>
              <a:t>AEC </a:t>
            </a:r>
            <a:r>
              <a:rPr lang="ko-KR" altLang="ko-KR" dirty="0" err="1"/>
              <a:t>Raw</a:t>
            </a:r>
            <a:r>
              <a:rPr lang="ko-KR" altLang="ko-KR" dirty="0"/>
              <a:t> Data 내 초반 갭 데이터(</a:t>
            </a:r>
            <a:r>
              <a:rPr lang="ko-KR" altLang="ko-KR" dirty="0" err="1"/>
              <a:t>slice</a:t>
            </a:r>
            <a:r>
              <a:rPr lang="ko-KR" altLang="ko-KR" dirty="0"/>
              <a:t> 수 / </a:t>
            </a:r>
            <a:r>
              <a:rPr lang="ko-KR" altLang="ko-KR" dirty="0" err="1"/>
              <a:t>z_range</a:t>
            </a:r>
            <a:r>
              <a:rPr lang="ko-KR" altLang="ko-KR" dirty="0"/>
              <a:t> 혼입) 제거 후 </a:t>
            </a:r>
            <a:r>
              <a:rPr lang="ko-KR" altLang="ko-KR" dirty="0" err="1"/>
              <a:t>재실험</a:t>
            </a:r>
            <a:endParaRPr lang="ko-KR" altLang="ko-KR" dirty="0"/>
          </a:p>
          <a:p>
            <a:r>
              <a:rPr lang="ko-KR" altLang="ko-KR" dirty="0"/>
              <a:t>AEC + </a:t>
            </a:r>
            <a:r>
              <a:rPr lang="ko-KR" altLang="ko-KR" dirty="0" err="1"/>
              <a:t>Clinic</a:t>
            </a:r>
            <a:r>
              <a:rPr lang="ko-KR" altLang="ko-KR" dirty="0"/>
              <a:t> 통합 모델(M2/M3): </a:t>
            </a:r>
            <a:r>
              <a:rPr lang="ko-KR" altLang="ko-KR" dirty="0" err="1"/>
              <a:t>Baseline</a:t>
            </a:r>
            <a:r>
              <a:rPr lang="ko-KR" altLang="ko-KR" dirty="0"/>
              <a:t>(M1, AUC 0.803)과 유사한 성능 달성</a:t>
            </a:r>
          </a:p>
          <a:p>
            <a:pPr lvl="1"/>
            <a:r>
              <a:rPr lang="ko-KR" altLang="ko-KR" dirty="0"/>
              <a:t>M2(</a:t>
            </a:r>
            <a:r>
              <a:rPr lang="ko-KR" altLang="ko-KR" dirty="0" err="1"/>
              <a:t>norm</a:t>
            </a:r>
            <a:r>
              <a:rPr lang="ko-KR" altLang="ko-KR" dirty="0"/>
              <a:t>) AUC 0.8118, M3(</a:t>
            </a:r>
            <a:r>
              <a:rPr lang="ko-KR" altLang="ko-KR" dirty="0" err="1"/>
              <a:t>norm</a:t>
            </a:r>
            <a:r>
              <a:rPr lang="ko-KR" altLang="ko-KR" dirty="0"/>
              <a:t>) AUC 0.8209 / 통계적 유의차 없음</a:t>
            </a:r>
          </a:p>
          <a:p>
            <a:r>
              <a:rPr lang="ko-KR" altLang="ko-KR" dirty="0"/>
              <a:t>AEC 단독 모델(M4): </a:t>
            </a:r>
            <a:r>
              <a:rPr lang="ko-KR" altLang="ko-KR" dirty="0" err="1"/>
              <a:t>Baseline</a:t>
            </a:r>
            <a:r>
              <a:rPr lang="ko-KR" altLang="ko-KR" dirty="0"/>
              <a:t> 대비 유의하게 낮음</a:t>
            </a:r>
          </a:p>
          <a:p>
            <a:pPr lvl="1"/>
            <a:r>
              <a:rPr lang="ko-KR" altLang="ko-KR" dirty="0" err="1"/>
              <a:t>raw</a:t>
            </a:r>
            <a:r>
              <a:rPr lang="ko-KR" altLang="ko-KR" dirty="0"/>
              <a:t> 5-fold 평균 AUC 0.679, </a:t>
            </a:r>
            <a:r>
              <a:rPr lang="ko-KR" altLang="ko-KR" dirty="0" err="1"/>
              <a:t>global_zscore</a:t>
            </a:r>
            <a:r>
              <a:rPr lang="ko-KR" altLang="ko-KR" dirty="0"/>
              <a:t> AUC 0.586 (M1 대비 </a:t>
            </a:r>
            <a:r>
              <a:rPr lang="ko-KR" altLang="ko-KR" dirty="0" err="1"/>
              <a:t>p</a:t>
            </a:r>
            <a:r>
              <a:rPr lang="ko-KR" altLang="ko-KR" dirty="0"/>
              <a:t>=0.002**)</a:t>
            </a:r>
          </a:p>
          <a:p>
            <a:r>
              <a:rPr lang="ko-KR" altLang="ko-KR" dirty="0"/>
              <a:t>AEC-</a:t>
            </a:r>
            <a:r>
              <a:rPr lang="ko-KR" altLang="ko-KR" dirty="0" err="1"/>
              <a:t>Clinic</a:t>
            </a:r>
            <a:r>
              <a:rPr lang="ko-KR" altLang="ko-KR" dirty="0"/>
              <a:t> 간 </a:t>
            </a:r>
            <a:r>
              <a:rPr lang="ko-KR" altLang="ko-KR" dirty="0" err="1"/>
              <a:t>Correlation</a:t>
            </a:r>
            <a:r>
              <a:rPr lang="ko-KR" altLang="ko-KR" dirty="0"/>
              <a:t> 자체는 높지 않으나, </a:t>
            </a:r>
            <a:r>
              <a:rPr lang="ko-KR" altLang="ko-KR" dirty="0" err="1"/>
              <a:t>Cross</a:t>
            </a:r>
            <a:r>
              <a:rPr lang="en-US" altLang="ko-KR" dirty="0"/>
              <a:t> </a:t>
            </a:r>
            <a:r>
              <a:rPr lang="ko-KR" altLang="ko-KR" dirty="0" err="1"/>
              <a:t>Attention이</a:t>
            </a:r>
            <a:r>
              <a:rPr lang="ko-KR" altLang="ko-KR" dirty="0"/>
              <a:t> 유용한 패턴 학습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1C9B-EC9B-B05E-83AE-9C293B40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FCCBB-AD1A-B784-6FC0-C2614035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F1246-D92A-A404-39AE-932FBAE6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C7AB7116-2CF4-888F-66AB-7D6C9839A645}"/>
              </a:ext>
            </a:extLst>
          </p:cNvPr>
          <p:cNvSpPr/>
          <p:nvPr/>
        </p:nvSpPr>
        <p:spPr>
          <a:xfrm>
            <a:off x="563880" y="3466229"/>
            <a:ext cx="5394960" cy="20898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91F283B-D277-EF53-5A0A-76C0E6C9B55C}"/>
              </a:ext>
            </a:extLst>
          </p:cNvPr>
          <p:cNvSpPr/>
          <p:nvPr/>
        </p:nvSpPr>
        <p:spPr>
          <a:xfrm>
            <a:off x="563880" y="1462604"/>
            <a:ext cx="5394960" cy="17282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9AF2A-09A0-1FDF-EE72-839D9D048417}"/>
              </a:ext>
            </a:extLst>
          </p:cNvPr>
          <p:cNvSpPr txBox="1"/>
          <p:nvPr/>
        </p:nvSpPr>
        <p:spPr>
          <a:xfrm>
            <a:off x="746760" y="1535756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1A379F-0DD1-8563-0854-39A700AB4514}"/>
              </a:ext>
            </a:extLst>
          </p:cNvPr>
          <p:cNvSpPr/>
          <p:nvPr/>
        </p:nvSpPr>
        <p:spPr>
          <a:xfrm>
            <a:off x="746760" y="1855796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AF06A7E-3392-0E8C-409C-55542C82152A}"/>
              </a:ext>
            </a:extLst>
          </p:cNvPr>
          <p:cNvGrpSpPr/>
          <p:nvPr/>
        </p:nvGrpSpPr>
        <p:grpSpPr>
          <a:xfrm>
            <a:off x="746760" y="1901516"/>
            <a:ext cx="5029200" cy="969264"/>
            <a:chOff x="746760" y="1901516"/>
            <a:chExt cx="5120640" cy="969264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49DCBB1B-073F-C258-1A59-4DCBB17468AF}"/>
                </a:ext>
              </a:extLst>
            </p:cNvPr>
            <p:cNvSpPr/>
            <p:nvPr/>
          </p:nvSpPr>
          <p:spPr>
            <a:xfrm>
              <a:off x="746760" y="1901516"/>
              <a:ext cx="9601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F39C38-5B5E-30B1-AF68-EE16E1B150A2}"/>
                </a:ext>
              </a:extLst>
            </p:cNvPr>
            <p:cNvSpPr txBox="1"/>
            <p:nvPr/>
          </p:nvSpPr>
          <p:spPr>
            <a:xfrm>
              <a:off x="746760" y="1901516"/>
              <a:ext cx="9601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구분</a:t>
              </a: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5E6A20E3-5AC1-5833-DD1C-5CB7130BC33C}"/>
                </a:ext>
              </a:extLst>
            </p:cNvPr>
            <p:cNvSpPr/>
            <p:nvPr/>
          </p:nvSpPr>
          <p:spPr>
            <a:xfrm>
              <a:off x="1752600" y="1901516"/>
              <a:ext cx="13258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B026D8-528B-A691-F529-FD740B725339}"/>
                </a:ext>
              </a:extLst>
            </p:cNvPr>
            <p:cNvSpPr txBox="1"/>
            <p:nvPr/>
          </p:nvSpPr>
          <p:spPr>
            <a:xfrm>
              <a:off x="1752600" y="1901516"/>
              <a:ext cx="13258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남성(M)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8124F01E-50EF-C1C9-525C-B2F9566992A1}"/>
                </a:ext>
              </a:extLst>
            </p:cNvPr>
            <p:cNvSpPr/>
            <p:nvPr/>
          </p:nvSpPr>
          <p:spPr>
            <a:xfrm>
              <a:off x="3124200" y="1901516"/>
              <a:ext cx="13258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667E5AD-090C-7096-3160-3551323105F8}"/>
                </a:ext>
              </a:extLst>
            </p:cNvPr>
            <p:cNvSpPr txBox="1"/>
            <p:nvPr/>
          </p:nvSpPr>
          <p:spPr>
            <a:xfrm>
              <a:off x="3124200" y="1901516"/>
              <a:ext cx="13258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여성(F)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06FC101E-571E-8777-67E5-6198DF9087EA}"/>
                </a:ext>
              </a:extLst>
            </p:cNvPr>
            <p:cNvSpPr/>
            <p:nvPr/>
          </p:nvSpPr>
          <p:spPr>
            <a:xfrm>
              <a:off x="4495800" y="1901516"/>
              <a:ext cx="13716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1A6060-898E-DD19-6719-29FFC60C9C6C}"/>
                </a:ext>
              </a:extLst>
            </p:cNvPr>
            <p:cNvSpPr txBox="1"/>
            <p:nvPr/>
          </p:nvSpPr>
          <p:spPr>
            <a:xfrm>
              <a:off x="4495800" y="1901516"/>
              <a:ext cx="13716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합계</a:t>
              </a: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3D3E5DD1-65E7-FB2B-8E45-EEF5683FBE1A}"/>
                </a:ext>
              </a:extLst>
            </p:cNvPr>
            <p:cNvSpPr/>
            <p:nvPr/>
          </p:nvSpPr>
          <p:spPr>
            <a:xfrm>
              <a:off x="746760" y="2194124"/>
              <a:ext cx="96012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AAF6CA-7B22-FD61-D10B-7123777BFFDD}"/>
                </a:ext>
              </a:extLst>
            </p:cNvPr>
            <p:cNvSpPr txBox="1"/>
            <p:nvPr/>
          </p:nvSpPr>
          <p:spPr>
            <a:xfrm>
              <a:off x="746760" y="2194124"/>
              <a:ext cx="96012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Train</a:t>
              </a: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A57CA212-8FF5-C45A-ADEF-ECC54EC39318}"/>
                </a:ext>
              </a:extLst>
            </p:cNvPr>
            <p:cNvSpPr/>
            <p:nvPr/>
          </p:nvSpPr>
          <p:spPr>
            <a:xfrm>
              <a:off x="1752600" y="2194124"/>
              <a:ext cx="132588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20C18C-0749-0265-F758-CC779D2086F9}"/>
                </a:ext>
              </a:extLst>
            </p:cNvPr>
            <p:cNvSpPr txBox="1"/>
            <p:nvPr/>
          </p:nvSpPr>
          <p:spPr>
            <a:xfrm>
              <a:off x="1752600" y="2194124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324 (Sarco 15.4%)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1937E186-4E41-F68D-CDE7-C09535F42313}"/>
                </a:ext>
              </a:extLst>
            </p:cNvPr>
            <p:cNvSpPr/>
            <p:nvPr/>
          </p:nvSpPr>
          <p:spPr>
            <a:xfrm>
              <a:off x="3124200" y="2194124"/>
              <a:ext cx="132588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D2B640-DFC0-64F4-5450-5C3C3044C17E}"/>
                </a:ext>
              </a:extLst>
            </p:cNvPr>
            <p:cNvSpPr txBox="1"/>
            <p:nvPr/>
          </p:nvSpPr>
          <p:spPr>
            <a:xfrm>
              <a:off x="3124200" y="2194124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590 (Sarco 7.8%)</a:t>
              </a: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1EB29FF4-E3FF-AA90-A378-96B157AF8207}"/>
                </a:ext>
              </a:extLst>
            </p:cNvPr>
            <p:cNvSpPr/>
            <p:nvPr/>
          </p:nvSpPr>
          <p:spPr>
            <a:xfrm>
              <a:off x="4495800" y="2194124"/>
              <a:ext cx="137160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91A023-54D2-522E-C28D-9E5BC9DD7D55}"/>
                </a:ext>
              </a:extLst>
            </p:cNvPr>
            <p:cNvSpPr txBox="1"/>
            <p:nvPr/>
          </p:nvSpPr>
          <p:spPr>
            <a:xfrm>
              <a:off x="4495800" y="2194124"/>
              <a:ext cx="13716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914 (Sarco 10.5%)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547184D-7543-B384-28C6-3409B5A304E2}"/>
                </a:ext>
              </a:extLst>
            </p:cNvPr>
            <p:cNvSpPr/>
            <p:nvPr/>
          </p:nvSpPr>
          <p:spPr>
            <a:xfrm>
              <a:off x="746760" y="2532452"/>
              <a:ext cx="96012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3DB64D-0BF2-52F4-61B9-1240D7C50258}"/>
                </a:ext>
              </a:extLst>
            </p:cNvPr>
            <p:cNvSpPr txBox="1"/>
            <p:nvPr/>
          </p:nvSpPr>
          <p:spPr>
            <a:xfrm>
              <a:off x="746760" y="2532452"/>
              <a:ext cx="96012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Test</a:t>
              </a: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E5065701-CABF-10CE-10A0-BDC26B9A893E}"/>
                </a:ext>
              </a:extLst>
            </p:cNvPr>
            <p:cNvSpPr/>
            <p:nvPr/>
          </p:nvSpPr>
          <p:spPr>
            <a:xfrm>
              <a:off x="1752600" y="2532452"/>
              <a:ext cx="132588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6DA7AA-C4F1-91E8-191B-C92A536E3B1E}"/>
                </a:ext>
              </a:extLst>
            </p:cNvPr>
            <p:cNvSpPr txBox="1"/>
            <p:nvPr/>
          </p:nvSpPr>
          <p:spPr>
            <a:xfrm>
              <a:off x="1752600" y="2532452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82  (Sarco 15.9%)</a:t>
              </a: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A7A732DE-415B-6FAC-4072-DB04286B0D18}"/>
                </a:ext>
              </a:extLst>
            </p:cNvPr>
            <p:cNvSpPr/>
            <p:nvPr/>
          </p:nvSpPr>
          <p:spPr>
            <a:xfrm>
              <a:off x="3124200" y="2532452"/>
              <a:ext cx="132588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760E86-83B2-1695-464E-54F224624E08}"/>
                </a:ext>
              </a:extLst>
            </p:cNvPr>
            <p:cNvSpPr txBox="1"/>
            <p:nvPr/>
          </p:nvSpPr>
          <p:spPr>
            <a:xfrm>
              <a:off x="3124200" y="2532452"/>
              <a:ext cx="132588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147 (Sarco 7.5%)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2DD4B0C7-D281-07DA-4113-88257AF19668}"/>
                </a:ext>
              </a:extLst>
            </p:cNvPr>
            <p:cNvSpPr/>
            <p:nvPr/>
          </p:nvSpPr>
          <p:spPr>
            <a:xfrm>
              <a:off x="4495800" y="2532452"/>
              <a:ext cx="137160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F1A2DB-2510-3837-5AC3-481C980E1FA8}"/>
                </a:ext>
              </a:extLst>
            </p:cNvPr>
            <p:cNvSpPr txBox="1"/>
            <p:nvPr/>
          </p:nvSpPr>
          <p:spPr>
            <a:xfrm>
              <a:off x="4495800" y="2532452"/>
              <a:ext cx="13716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229 (Sarco 10.5%)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5003545-B04E-3F2B-853F-2EDC7B49314E}"/>
              </a:ext>
            </a:extLst>
          </p:cNvPr>
          <p:cNvSpPr txBox="1"/>
          <p:nvPr/>
        </p:nvSpPr>
        <p:spPr>
          <a:xfrm>
            <a:off x="746760" y="28890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연령: 56.95±11.86세  |  BMI: 23.58±3.17 kg/m²  |  Train:Test = 8:2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DE829-BBAC-73BA-4456-C1290995778E}"/>
              </a:ext>
            </a:extLst>
          </p:cNvPr>
          <p:cNvSpPr txBox="1"/>
          <p:nvPr/>
        </p:nvSpPr>
        <p:spPr>
          <a:xfrm>
            <a:off x="746760" y="3543954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AEC 전처리 조건 (3종)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4E3506B5-ED91-D647-EC36-C0502C492843}"/>
              </a:ext>
            </a:extLst>
          </p:cNvPr>
          <p:cNvSpPr/>
          <p:nvPr/>
        </p:nvSpPr>
        <p:spPr>
          <a:xfrm>
            <a:off x="746760" y="3863994"/>
            <a:ext cx="502920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5F733E-5ECA-7CBF-6938-B4519F84A2E1}"/>
              </a:ext>
            </a:extLst>
          </p:cNvPr>
          <p:cNvSpPr txBox="1"/>
          <p:nvPr/>
        </p:nvSpPr>
        <p:spPr>
          <a:xfrm>
            <a:off x="746760" y="394629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raw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3F90A2-6647-5262-69A0-B00AA304A701}"/>
              </a:ext>
            </a:extLst>
          </p:cNvPr>
          <p:cNvSpPr txBox="1"/>
          <p:nvPr/>
        </p:nvSpPr>
        <p:spPr>
          <a:xfrm>
            <a:off x="2484120" y="394629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전처리 없음 — 원본 AEC 절대값 그대로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E0B59E-D836-CDB4-1AE0-471C9CD94CD2}"/>
              </a:ext>
            </a:extLst>
          </p:cNvPr>
          <p:cNvSpPr txBox="1"/>
          <p:nvPr/>
        </p:nvSpPr>
        <p:spPr>
          <a:xfrm>
            <a:off x="746760" y="4330338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norm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496962-8A40-483A-23AD-626CC3A4CB8D}"/>
              </a:ext>
            </a:extLst>
          </p:cNvPr>
          <p:cNvSpPr txBox="1"/>
          <p:nvPr/>
        </p:nvSpPr>
        <p:spPr>
          <a:xfrm>
            <a:off x="2484120" y="4330338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행 방향 z-score (환자별 절대 선량 제거)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961CBD-5BF8-3FFC-0094-D1CBB3B92DC9}"/>
              </a:ext>
            </a:extLst>
          </p:cNvPr>
          <p:cNvSpPr txBox="1"/>
          <p:nvPr/>
        </p:nvSpPr>
        <p:spPr>
          <a:xfrm>
            <a:off x="746760" y="471438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global_zscore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536B5C-5313-C2E7-6959-1445F7B18242}"/>
              </a:ext>
            </a:extLst>
          </p:cNvPr>
          <p:cNvSpPr txBox="1"/>
          <p:nvPr/>
        </p:nvSpPr>
        <p:spPr>
          <a:xfrm>
            <a:off x="2484120" y="4714386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Train 전체 단일 μ/σ로 z-score 정규화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D46BD7-FE86-E257-22E8-65A03E2A1DA2}"/>
              </a:ext>
            </a:extLst>
          </p:cNvPr>
          <p:cNvSpPr txBox="1"/>
          <p:nvPr/>
        </p:nvSpPr>
        <p:spPr>
          <a:xfrm>
            <a:off x="746760" y="512586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AEC 128pt × 3 전처리 조건 비교</a:t>
            </a:r>
          </a:p>
        </p:txBody>
      </p:sp>
      <p:sp>
        <p:nvSpPr>
          <p:cNvPr id="44" name="Rectangle 41">
            <a:extLst>
              <a:ext uri="{FF2B5EF4-FFF2-40B4-BE49-F238E27FC236}">
                <a16:creationId xmlns:a16="http://schemas.microsoft.com/office/drawing/2014/main" id="{C2F9097C-EC27-40C8-73B9-96612A70E504}"/>
              </a:ext>
            </a:extLst>
          </p:cNvPr>
          <p:cNvSpPr/>
          <p:nvPr/>
        </p:nvSpPr>
        <p:spPr>
          <a:xfrm>
            <a:off x="6233160" y="1462604"/>
            <a:ext cx="5394960" cy="40934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F7BA11-E3E8-7C51-D628-A6CED9639D6C}"/>
              </a:ext>
            </a:extLst>
          </p:cNvPr>
          <p:cNvSpPr txBox="1"/>
          <p:nvPr/>
        </p:nvSpPr>
        <p:spPr>
          <a:xfrm>
            <a:off x="6416040" y="1535756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모델 구성</a:t>
            </a:r>
          </a:p>
        </p:txBody>
      </p:sp>
      <p:sp>
        <p:nvSpPr>
          <p:cNvPr id="46" name="Rectangle 43">
            <a:extLst>
              <a:ext uri="{FF2B5EF4-FFF2-40B4-BE49-F238E27FC236}">
                <a16:creationId xmlns:a16="http://schemas.microsoft.com/office/drawing/2014/main" id="{68C34A4E-114D-28F0-EF5A-0E6363FE4947}"/>
              </a:ext>
            </a:extLst>
          </p:cNvPr>
          <p:cNvSpPr/>
          <p:nvPr/>
        </p:nvSpPr>
        <p:spPr>
          <a:xfrm>
            <a:off x="6416040" y="1855796"/>
            <a:ext cx="502920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4">
            <a:extLst>
              <a:ext uri="{FF2B5EF4-FFF2-40B4-BE49-F238E27FC236}">
                <a16:creationId xmlns:a16="http://schemas.microsoft.com/office/drawing/2014/main" id="{D5DDD920-D0A7-A8C9-702C-346D8FFE9901}"/>
              </a:ext>
            </a:extLst>
          </p:cNvPr>
          <p:cNvSpPr/>
          <p:nvPr/>
        </p:nvSpPr>
        <p:spPr>
          <a:xfrm>
            <a:off x="6324600" y="2002100"/>
            <a:ext cx="73152" cy="58521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F7F50E-A942-EDC3-D9FB-E03BED6914C3}"/>
              </a:ext>
            </a:extLst>
          </p:cNvPr>
          <p:cNvSpPr txBox="1"/>
          <p:nvPr/>
        </p:nvSpPr>
        <p:spPr>
          <a:xfrm>
            <a:off x="6461760" y="202038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6BBF"/>
                </a:solidFill>
                <a:latin typeface="맑은 고딕"/>
              </a:rPr>
              <a:t>Model 1 — Baseline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094449-14B8-ECCD-56D0-A6C6071A8358}"/>
              </a:ext>
            </a:extLst>
          </p:cNvPr>
          <p:cNvSpPr txBox="1"/>
          <p:nvPr/>
        </p:nvSpPr>
        <p:spPr>
          <a:xfrm>
            <a:off x="6461760" y="2294708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Age, Sex, BMI → Logistic Regression</a:t>
            </a: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2ACF4D6B-A664-3859-7177-9AC966D4D679}"/>
              </a:ext>
            </a:extLst>
          </p:cNvPr>
          <p:cNvSpPr/>
          <p:nvPr/>
        </p:nvSpPr>
        <p:spPr>
          <a:xfrm>
            <a:off x="6324600" y="2715332"/>
            <a:ext cx="73152" cy="58521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73A97-D784-2129-FDC2-12A4F9E7465F}"/>
              </a:ext>
            </a:extLst>
          </p:cNvPr>
          <p:cNvSpPr txBox="1"/>
          <p:nvPr/>
        </p:nvSpPr>
        <p:spPr>
          <a:xfrm>
            <a:off x="6461760" y="27336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0F9B8A"/>
                </a:solidFill>
                <a:latin typeface="맑은 고딕"/>
              </a:rPr>
              <a:t>Model 2 — AEC Matched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B31C68-A129-4FE9-7898-89D41846490F}"/>
              </a:ext>
            </a:extLst>
          </p:cNvPr>
          <p:cNvSpPr txBox="1"/>
          <p:nvPr/>
        </p:nvSpPr>
        <p:spPr>
          <a:xfrm>
            <a:off x="6461760" y="3007940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AEC(동일환자) → CrossAttention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5182A9B3-E2F4-B631-907E-2BB646CF3E5B}"/>
              </a:ext>
            </a:extLst>
          </p:cNvPr>
          <p:cNvSpPr/>
          <p:nvPr/>
        </p:nvSpPr>
        <p:spPr>
          <a:xfrm>
            <a:off x="6324600" y="3428564"/>
            <a:ext cx="73152" cy="58521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5F1045-3129-2419-D83F-E5E1DFBC119A}"/>
              </a:ext>
            </a:extLst>
          </p:cNvPr>
          <p:cNvSpPr txBox="1"/>
          <p:nvPr/>
        </p:nvSpPr>
        <p:spPr>
          <a:xfrm>
            <a:off x="6461760" y="344685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9EA3AB"/>
                </a:solidFill>
                <a:latin typeface="맑은 고딕"/>
              </a:rPr>
              <a:t>Model 2_2 — AEC Unmatched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C3F6EE-3429-CEB9-C4C7-57ACA49D2CC6}"/>
              </a:ext>
            </a:extLst>
          </p:cNvPr>
          <p:cNvSpPr txBox="1"/>
          <p:nvPr/>
        </p:nvSpPr>
        <p:spPr>
          <a:xfrm>
            <a:off x="6461760" y="3721172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AEC(다른환자) → 음성 대조군</a:t>
            </a:r>
          </a:p>
        </p:txBody>
      </p:sp>
      <p:sp>
        <p:nvSpPr>
          <p:cNvPr id="56" name="Rectangle 53">
            <a:extLst>
              <a:ext uri="{FF2B5EF4-FFF2-40B4-BE49-F238E27FC236}">
                <a16:creationId xmlns:a16="http://schemas.microsoft.com/office/drawing/2014/main" id="{A2A42A5C-F04D-E47A-301D-C9BF81E6793C}"/>
              </a:ext>
            </a:extLst>
          </p:cNvPr>
          <p:cNvSpPr/>
          <p:nvPr/>
        </p:nvSpPr>
        <p:spPr>
          <a:xfrm>
            <a:off x="6324600" y="4141795"/>
            <a:ext cx="73152" cy="58521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B849C6-9B94-2F0B-216A-52B553992873}"/>
              </a:ext>
            </a:extLst>
          </p:cNvPr>
          <p:cNvSpPr txBox="1"/>
          <p:nvPr/>
        </p:nvSpPr>
        <p:spPr>
          <a:xfrm>
            <a:off x="6461760" y="416008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E87400"/>
                </a:solidFill>
                <a:latin typeface="맑은 고딕"/>
              </a:rPr>
              <a:t>Model 3 — Scanner+AEC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589E47-F78C-7ECA-6D0E-79549F8E24BB}"/>
              </a:ext>
            </a:extLst>
          </p:cNvPr>
          <p:cNvSpPr txBox="1"/>
          <p:nvPr/>
        </p:nvSpPr>
        <p:spPr>
          <a:xfrm>
            <a:off x="6461760" y="4434404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Clinic + MFR + AEC → CrossAttention3</a:t>
            </a:r>
          </a:p>
        </p:txBody>
      </p:sp>
      <p:sp>
        <p:nvSpPr>
          <p:cNvPr id="59" name="Rectangle 56">
            <a:extLst>
              <a:ext uri="{FF2B5EF4-FFF2-40B4-BE49-F238E27FC236}">
                <a16:creationId xmlns:a16="http://schemas.microsoft.com/office/drawing/2014/main" id="{08085990-FDB7-4109-A2CF-5EBA434C6EB4}"/>
              </a:ext>
            </a:extLst>
          </p:cNvPr>
          <p:cNvSpPr/>
          <p:nvPr/>
        </p:nvSpPr>
        <p:spPr>
          <a:xfrm>
            <a:off x="6324600" y="4855028"/>
            <a:ext cx="73152" cy="58521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CE9888-6E6A-7643-0204-8878DEC81487}"/>
              </a:ext>
            </a:extLst>
          </p:cNvPr>
          <p:cNvSpPr txBox="1"/>
          <p:nvPr/>
        </p:nvSpPr>
        <p:spPr>
          <a:xfrm>
            <a:off x="6461760" y="4873316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 i="0">
                <a:solidFill>
                  <a:srgbClr val="7B2FBE"/>
                </a:solidFill>
                <a:latin typeface="맑은 고딕"/>
              </a:rPr>
              <a:t>Model 4 — AEC Only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DEEC79-EC52-4F58-3C13-8BAD8C50BF8F}"/>
              </a:ext>
            </a:extLst>
          </p:cNvPr>
          <p:cNvSpPr txBox="1"/>
          <p:nvPr/>
        </p:nvSpPr>
        <p:spPr>
          <a:xfrm>
            <a:off x="6461760" y="5147636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AEC 시퀀스만 → AECOnlyNet (임상특징 없음)</a:t>
            </a:r>
          </a:p>
        </p:txBody>
      </p:sp>
    </p:spTree>
    <p:extLst>
      <p:ext uri="{BB962C8B-B14F-4D97-AF65-F5344CB8AC3E}">
        <p14:creationId xmlns:p14="http://schemas.microsoft.com/office/powerpoint/2010/main" val="8533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CC32-5641-0D56-4EE1-F5AE4629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1A162-FB10-71F8-2866-5300F3B8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E6304-7EF9-ED4D-337C-C884932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31FB97D-BA7A-DBC7-BB95-5B9D0B5C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해당 그래프 데이터 확인 결과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1E0700-E7A8-1624-8238-131937CC3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9" r="74643"/>
          <a:stretch>
            <a:fillRect/>
          </a:stretch>
        </p:blipFill>
        <p:spPr bwMode="auto">
          <a:xfrm>
            <a:off x="508000" y="1896821"/>
            <a:ext cx="4986408" cy="374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7EF170-0F00-1634-C8D9-A123A3B78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94524"/>
              </p:ext>
            </p:extLst>
          </p:nvPr>
        </p:nvGraphicFramePr>
        <p:xfrm>
          <a:off x="5730240" y="2131423"/>
          <a:ext cx="5953760" cy="3276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44220">
                  <a:extLst>
                    <a:ext uri="{9D8B030D-6E8A-4147-A177-3AD203B41FA5}">
                      <a16:colId xmlns:a16="http://schemas.microsoft.com/office/drawing/2014/main" val="63309565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3636064879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1244976899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3780277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3556496615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4108271096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2808149965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3142475427"/>
                    </a:ext>
                  </a:extLst>
                </a:gridCol>
              </a:tblGrid>
              <a:tr h="46297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PatientID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n_slices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z_range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aec_1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aec_2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aec_3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aec_4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aec_5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281070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136174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291.22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292.67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293.76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32185112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248989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298.86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301.72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302.86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303.81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842923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280328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402.5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193.27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195.07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196.8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9273622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300279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163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346.28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348.65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352.48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354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2239792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305343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402.5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294.54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297.07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298.8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301.14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1136093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307070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347.99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347.02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348.95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8870940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367771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368.95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368.05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368.91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1960491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400017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337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337.99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338.98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338.02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340.91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870977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430440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139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473.17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9575397"/>
                  </a:ext>
                </a:extLst>
              </a:tr>
              <a:tr h="2813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433117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163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344.55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346.55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347.83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349.2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85312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108EC9D-683F-841B-76C9-CD2CBBC0809C}"/>
              </a:ext>
            </a:extLst>
          </p:cNvPr>
          <p:cNvSpPr/>
          <p:nvPr/>
        </p:nvSpPr>
        <p:spPr>
          <a:xfrm>
            <a:off x="6496594" y="2046514"/>
            <a:ext cx="1436915" cy="3448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D705D0-2AC1-4947-8896-48DAD1819EF8}"/>
              </a:ext>
            </a:extLst>
          </p:cNvPr>
          <p:cNvSpPr txBox="1"/>
          <p:nvPr/>
        </p:nvSpPr>
        <p:spPr>
          <a:xfrm>
            <a:off x="6108167" y="1675005"/>
            <a:ext cx="2213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데이터들이 포함</a:t>
            </a:r>
            <a:endParaRPr lang="ko-KR" altLang="en-US" sz="14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651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643-33F2-65BA-B93A-2DB09252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C4343F0-2E68-E5A9-1066-3C709753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8" r="66362"/>
          <a:stretch>
            <a:fillRect/>
          </a:stretch>
        </p:blipFill>
        <p:spPr>
          <a:xfrm>
            <a:off x="6471064" y="1940144"/>
            <a:ext cx="4933536" cy="36591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03B862-482C-05A4-3A74-06C20EAC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EE7E6-F8C0-024D-10CA-A2B2BCBF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E769D37-7C7F-BC5A-96F3-19C03761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데이터 수정 후 그래프 데이터 확인 결과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EC6E5-CE36-7512-E551-4CC1D20DC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9" r="74643"/>
          <a:stretch>
            <a:fillRect/>
          </a:stretch>
        </p:blipFill>
        <p:spPr bwMode="auto">
          <a:xfrm>
            <a:off x="508000" y="1896821"/>
            <a:ext cx="4986408" cy="374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217CF9C-32B8-E92A-6BAC-6F6A5DAB1CDE}"/>
              </a:ext>
            </a:extLst>
          </p:cNvPr>
          <p:cNvSpPr/>
          <p:nvPr/>
        </p:nvSpPr>
        <p:spPr>
          <a:xfrm>
            <a:off x="5651758" y="3443151"/>
            <a:ext cx="705394" cy="653143"/>
          </a:xfrm>
          <a:prstGeom prst="rightArrow">
            <a:avLst/>
          </a:prstGeom>
          <a:solidFill>
            <a:srgbClr val="5C7DD0"/>
          </a:solidFill>
          <a:ln w="38100">
            <a:solidFill>
              <a:srgbClr val="1F34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6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4898-1EA8-CF07-7E02-26048CE9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02EF17F-F1CE-B5EE-DFFE-B78AB934E28E}"/>
              </a:ext>
            </a:extLst>
          </p:cNvPr>
          <p:cNvGrpSpPr/>
          <p:nvPr/>
        </p:nvGrpSpPr>
        <p:grpSpPr>
          <a:xfrm>
            <a:off x="1323703" y="1356294"/>
            <a:ext cx="9544594" cy="5039565"/>
            <a:chOff x="0" y="-65043"/>
            <a:chExt cx="12192000" cy="643740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B555D0F-0924-1A7B-4557-216D81E98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65043"/>
              <a:ext cx="12192000" cy="341577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E8683D-33E6-D902-8AB2-8BAB5FAC2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350729"/>
              <a:ext cx="12192000" cy="3021629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2BCD2D-7782-9D76-BA25-5330E4D5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E68D5-46F8-923E-317D-05B78C02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222E321-62CA-171F-C2E6-CDAB810A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 Data Preprocessing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58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1C4B-54E6-011E-EFFD-A2A15D89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B6598-FA5F-E38E-F43F-E69D93D2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3CC87-060F-3656-B804-C3B36565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11327F-0EB3-74ED-6CFE-5ADDF2E2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 &amp; Clinic Data Correlation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6CDE48-FD9D-4183-EC7D-85FDA1103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48305"/>
            <a:ext cx="5789023" cy="29587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6D2579-881D-FE9B-2C82-1BDDCC1A7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48305"/>
            <a:ext cx="6096000" cy="344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A1E4-FE87-C151-6AA0-379CD9F3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90A76-FA43-5C83-B909-B2A45DEE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2A088-D2B2-8DDB-F98F-65C8F3A8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9" name="Picture 6" descr="roc_all_models_raw.png">
            <a:extLst>
              <a:ext uri="{FF2B5EF4-FFF2-40B4-BE49-F238E27FC236}">
                <a16:creationId xmlns:a16="http://schemas.microsoft.com/office/drawing/2014/main" id="{7B68A6EE-5C85-DAD9-5783-7262A237E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8888"/>
            <a:ext cx="3840480" cy="5212080"/>
          </a:xfrm>
          <a:prstGeom prst="rect">
            <a:avLst/>
          </a:prstGeom>
        </p:spPr>
      </p:pic>
      <p:pic>
        <p:nvPicPr>
          <p:cNvPr id="10" name="Picture 9" descr="roc_all_models_norm.png">
            <a:extLst>
              <a:ext uri="{FF2B5EF4-FFF2-40B4-BE49-F238E27FC236}">
                <a16:creationId xmlns:a16="http://schemas.microsoft.com/office/drawing/2014/main" id="{22B8CCDB-046A-78B2-A018-41F2A3C8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008888"/>
            <a:ext cx="3840480" cy="5212080"/>
          </a:xfrm>
          <a:prstGeom prst="rect">
            <a:avLst/>
          </a:prstGeom>
        </p:spPr>
      </p:pic>
      <p:pic>
        <p:nvPicPr>
          <p:cNvPr id="11" name="Picture 12" descr="roc_all_models_global_zscore.png">
            <a:extLst>
              <a:ext uri="{FF2B5EF4-FFF2-40B4-BE49-F238E27FC236}">
                <a16:creationId xmlns:a16="http://schemas.microsoft.com/office/drawing/2014/main" id="{235B40BC-EC67-9413-31BB-E98E66EF3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008888"/>
            <a:ext cx="38404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8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D6C1-74F2-C68F-A268-DDED15467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542D8-F289-441C-640D-A4AE38BC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B55A7-0245-3D26-F213-111911CE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706EEE8-4030-1D2F-5711-21653112485A}"/>
              </a:ext>
            </a:extLst>
          </p:cNvPr>
          <p:cNvSpPr/>
          <p:nvPr/>
        </p:nvSpPr>
        <p:spPr>
          <a:xfrm>
            <a:off x="274320" y="905256"/>
            <a:ext cx="11612880" cy="59436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8E094BD-B3FF-1956-A653-B10EE0D1BDB5}"/>
              </a:ext>
            </a:extLst>
          </p:cNvPr>
          <p:cNvSpPr/>
          <p:nvPr/>
        </p:nvSpPr>
        <p:spPr>
          <a:xfrm>
            <a:off x="274320" y="905256"/>
            <a:ext cx="109728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29358-E767-E3CD-576D-7037152C8C17}"/>
              </a:ext>
            </a:extLst>
          </p:cNvPr>
          <p:cNvSpPr txBox="1"/>
          <p:nvPr/>
        </p:nvSpPr>
        <p:spPr>
          <a:xfrm>
            <a:off x="508000" y="1051775"/>
            <a:ext cx="110308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  <a:latin typeface="맑은 고딕"/>
              </a:rPr>
              <a:t>AEC 128pt + norm:  M1→M2 p=0.697 ns  |  M1→M3 p=0.486 ns  |  M2 best AUC 0.8118  |  M3 best AUC 0.8209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4E7CBB80-4AC5-B6AC-1BD8-BB46BDBDFA89}"/>
              </a:ext>
            </a:extLst>
          </p:cNvPr>
          <p:cNvGrpSpPr/>
          <p:nvPr/>
        </p:nvGrpSpPr>
        <p:grpSpPr>
          <a:xfrm>
            <a:off x="274320" y="1591056"/>
            <a:ext cx="11612881" cy="1755648"/>
            <a:chOff x="274320" y="1591056"/>
            <a:chExt cx="11750039" cy="1755648"/>
          </a:xfrm>
        </p:grpSpPr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8A6BD238-B77A-857F-75FF-B865C94996F2}"/>
                </a:ext>
              </a:extLst>
            </p:cNvPr>
            <p:cNvSpPr/>
            <p:nvPr/>
          </p:nvSpPr>
          <p:spPr>
            <a:xfrm>
              <a:off x="274320" y="1591056"/>
              <a:ext cx="10972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783709-5425-C8B8-5F39-9EA15CAF3204}"/>
                </a:ext>
              </a:extLst>
            </p:cNvPr>
            <p:cNvSpPr txBox="1"/>
            <p:nvPr/>
          </p:nvSpPr>
          <p:spPr>
            <a:xfrm>
              <a:off x="274320" y="1591056"/>
              <a:ext cx="10972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</a:t>
              </a: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3A30AD3C-DDC6-90B9-03DC-4A8A6542A56C}"/>
                </a:ext>
              </a:extLst>
            </p:cNvPr>
            <p:cNvSpPr/>
            <p:nvPr/>
          </p:nvSpPr>
          <p:spPr>
            <a:xfrm>
              <a:off x="1417320" y="1591056"/>
              <a:ext cx="10972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0E94664-5E74-C561-44F8-8826F1748C9F}"/>
                </a:ext>
              </a:extLst>
            </p:cNvPr>
            <p:cNvSpPr txBox="1"/>
            <p:nvPr/>
          </p:nvSpPr>
          <p:spPr>
            <a:xfrm>
              <a:off x="1417320" y="1591056"/>
              <a:ext cx="10972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</a:t>
              </a: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3FB4041-EA8A-6D16-C8C9-AF0E40756886}"/>
                </a:ext>
              </a:extLst>
            </p:cNvPr>
            <p:cNvSpPr/>
            <p:nvPr/>
          </p:nvSpPr>
          <p:spPr>
            <a:xfrm>
              <a:off x="2560320" y="1591056"/>
              <a:ext cx="15087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D64603F-58F5-CFF4-33F3-8D4D56CF7EEC}"/>
                </a:ext>
              </a:extLst>
            </p:cNvPr>
            <p:cNvSpPr txBox="1"/>
            <p:nvPr/>
          </p:nvSpPr>
          <p:spPr>
            <a:xfrm>
              <a:off x="2560320" y="1591056"/>
              <a:ext cx="15087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</a:t>
              </a:r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4387CA7D-E785-E504-37CB-2CF52E546A87}"/>
                </a:ext>
              </a:extLst>
            </p:cNvPr>
            <p:cNvSpPr/>
            <p:nvPr/>
          </p:nvSpPr>
          <p:spPr>
            <a:xfrm>
              <a:off x="4114800" y="1591056"/>
              <a:ext cx="9601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9051B37-A02F-1DF4-0251-7F7195214853}"/>
                </a:ext>
              </a:extLst>
            </p:cNvPr>
            <p:cNvSpPr txBox="1"/>
            <p:nvPr/>
          </p:nvSpPr>
          <p:spPr>
            <a:xfrm>
              <a:off x="4114800" y="1591056"/>
              <a:ext cx="9601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65B8CC19-17FA-64D3-AA00-C4917E2CA80A}"/>
                </a:ext>
              </a:extLst>
            </p:cNvPr>
            <p:cNvSpPr/>
            <p:nvPr/>
          </p:nvSpPr>
          <p:spPr>
            <a:xfrm>
              <a:off x="5120640" y="1591056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A607AE-E046-DD4A-DCBD-2215A7589C3E}"/>
                </a:ext>
              </a:extLst>
            </p:cNvPr>
            <p:cNvSpPr txBox="1"/>
            <p:nvPr/>
          </p:nvSpPr>
          <p:spPr>
            <a:xfrm>
              <a:off x="5120640" y="1591056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46" name="Rectangle 17">
              <a:extLst>
                <a:ext uri="{FF2B5EF4-FFF2-40B4-BE49-F238E27FC236}">
                  <a16:creationId xmlns:a16="http://schemas.microsoft.com/office/drawing/2014/main" id="{29D13643-04A1-0C02-DCA2-97BD26C691BF}"/>
                </a:ext>
              </a:extLst>
            </p:cNvPr>
            <p:cNvSpPr/>
            <p:nvPr/>
          </p:nvSpPr>
          <p:spPr>
            <a:xfrm>
              <a:off x="6080760" y="1591056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471062C-0B59-B23D-38A2-868700E92BC5}"/>
                </a:ext>
              </a:extLst>
            </p:cNvPr>
            <p:cNvSpPr txBox="1"/>
            <p:nvPr/>
          </p:nvSpPr>
          <p:spPr>
            <a:xfrm>
              <a:off x="6080760" y="1591056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48" name="Rectangle 19">
              <a:extLst>
                <a:ext uri="{FF2B5EF4-FFF2-40B4-BE49-F238E27FC236}">
                  <a16:creationId xmlns:a16="http://schemas.microsoft.com/office/drawing/2014/main" id="{A48B61A8-FD0C-99D8-A6FC-795990F3C834}"/>
                </a:ext>
              </a:extLst>
            </p:cNvPr>
            <p:cNvSpPr/>
            <p:nvPr/>
          </p:nvSpPr>
          <p:spPr>
            <a:xfrm>
              <a:off x="7040880" y="1591056"/>
              <a:ext cx="15087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D2DF4DA-8E1D-B485-8F0A-3DF7BA1B3B49}"/>
                </a:ext>
              </a:extLst>
            </p:cNvPr>
            <p:cNvSpPr txBox="1"/>
            <p:nvPr/>
          </p:nvSpPr>
          <p:spPr>
            <a:xfrm>
              <a:off x="7040880" y="1591056"/>
              <a:ext cx="15087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Δ AUC vs M1</a:t>
              </a:r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D5D6E69-625E-6D5D-4BEB-C4949DF4007C}"/>
                </a:ext>
              </a:extLst>
            </p:cNvPr>
            <p:cNvSpPr/>
            <p:nvPr/>
          </p:nvSpPr>
          <p:spPr>
            <a:xfrm>
              <a:off x="8595360" y="1591056"/>
              <a:ext cx="15087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6862A75-0C18-B42D-4982-2DC8502CB6BE}"/>
                </a:ext>
              </a:extLst>
            </p:cNvPr>
            <p:cNvSpPr txBox="1"/>
            <p:nvPr/>
          </p:nvSpPr>
          <p:spPr>
            <a:xfrm>
              <a:off x="8595360" y="1591056"/>
              <a:ext cx="15087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DeLong p</a:t>
              </a: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CC901DE5-D608-1098-18FB-71E95AB6F30C}"/>
                </a:ext>
              </a:extLst>
            </p:cNvPr>
            <p:cNvSpPr/>
            <p:nvPr/>
          </p:nvSpPr>
          <p:spPr>
            <a:xfrm>
              <a:off x="10149840" y="1591056"/>
              <a:ext cx="1874519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8A00A58-7742-DB2B-2B03-F5EC2BD6D9E6}"/>
                </a:ext>
              </a:extLst>
            </p:cNvPr>
            <p:cNvSpPr txBox="1"/>
            <p:nvPr/>
          </p:nvSpPr>
          <p:spPr>
            <a:xfrm>
              <a:off x="10149840" y="1591056"/>
              <a:ext cx="1874519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비고</a:t>
              </a:r>
            </a:p>
          </p:txBody>
        </p:sp>
        <p:sp>
          <p:nvSpPr>
            <p:cNvPr id="54" name="Rectangle 25">
              <a:extLst>
                <a:ext uri="{FF2B5EF4-FFF2-40B4-BE49-F238E27FC236}">
                  <a16:creationId xmlns:a16="http://schemas.microsoft.com/office/drawing/2014/main" id="{8880E7B0-2BAF-5E07-FBEC-FBD3991E842D}"/>
                </a:ext>
              </a:extLst>
            </p:cNvPr>
            <p:cNvSpPr/>
            <p:nvPr/>
          </p:nvSpPr>
          <p:spPr>
            <a:xfrm>
              <a:off x="274320" y="1883664"/>
              <a:ext cx="10972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73E553-72D2-993C-2404-D0DB30743863}"/>
                </a:ext>
              </a:extLst>
            </p:cNvPr>
            <p:cNvSpPr txBox="1"/>
            <p:nvPr/>
          </p:nvSpPr>
          <p:spPr>
            <a:xfrm>
              <a:off x="274320" y="188366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M1 (LR)</a:t>
              </a:r>
            </a:p>
          </p:txBody>
        </p:sp>
        <p:sp>
          <p:nvSpPr>
            <p:cNvPr id="56" name="Rectangle 27">
              <a:extLst>
                <a:ext uri="{FF2B5EF4-FFF2-40B4-BE49-F238E27FC236}">
                  <a16:creationId xmlns:a16="http://schemas.microsoft.com/office/drawing/2014/main" id="{BCAB1D00-817C-3F20-8319-934717311122}"/>
                </a:ext>
              </a:extLst>
            </p:cNvPr>
            <p:cNvSpPr/>
            <p:nvPr/>
          </p:nvSpPr>
          <p:spPr>
            <a:xfrm>
              <a:off x="1417320" y="1883664"/>
              <a:ext cx="10972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8167ADE-1762-BAB2-532D-1DE8BD2B742D}"/>
                </a:ext>
              </a:extLst>
            </p:cNvPr>
            <p:cNvSpPr txBox="1"/>
            <p:nvPr/>
          </p:nvSpPr>
          <p:spPr>
            <a:xfrm>
              <a:off x="1417320" y="188366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58" name="Rectangle 29">
              <a:extLst>
                <a:ext uri="{FF2B5EF4-FFF2-40B4-BE49-F238E27FC236}">
                  <a16:creationId xmlns:a16="http://schemas.microsoft.com/office/drawing/2014/main" id="{475C2938-936C-407B-7F75-1DD7DEF89F00}"/>
                </a:ext>
              </a:extLst>
            </p:cNvPr>
            <p:cNvSpPr/>
            <p:nvPr/>
          </p:nvSpPr>
          <p:spPr>
            <a:xfrm>
              <a:off x="2560320" y="1883664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5E6212E-1B5C-7212-DE57-3D2E15ADF5FF}"/>
                </a:ext>
              </a:extLst>
            </p:cNvPr>
            <p:cNvSpPr txBox="1"/>
            <p:nvPr/>
          </p:nvSpPr>
          <p:spPr>
            <a:xfrm>
              <a:off x="2560320" y="188366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60" name="Rectangle 31">
              <a:extLst>
                <a:ext uri="{FF2B5EF4-FFF2-40B4-BE49-F238E27FC236}">
                  <a16:creationId xmlns:a16="http://schemas.microsoft.com/office/drawing/2014/main" id="{F077C4B7-1616-9C05-0DD7-27771EEB0214}"/>
                </a:ext>
              </a:extLst>
            </p:cNvPr>
            <p:cNvSpPr/>
            <p:nvPr/>
          </p:nvSpPr>
          <p:spPr>
            <a:xfrm>
              <a:off x="4114800" y="1883664"/>
              <a:ext cx="9601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019CA77-38EA-2516-B276-DE921D75D98F}"/>
                </a:ext>
              </a:extLst>
            </p:cNvPr>
            <p:cNvSpPr txBox="1"/>
            <p:nvPr/>
          </p:nvSpPr>
          <p:spPr>
            <a:xfrm>
              <a:off x="4114800" y="1883664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0.3123</a:t>
              </a:r>
            </a:p>
          </p:txBody>
        </p:sp>
        <p:sp>
          <p:nvSpPr>
            <p:cNvPr id="62" name="Rectangle 33">
              <a:extLst>
                <a:ext uri="{FF2B5EF4-FFF2-40B4-BE49-F238E27FC236}">
                  <a16:creationId xmlns:a16="http://schemas.microsoft.com/office/drawing/2014/main" id="{4DDE9FF8-926A-B529-B970-A3B90A06577A}"/>
                </a:ext>
              </a:extLst>
            </p:cNvPr>
            <p:cNvSpPr/>
            <p:nvPr/>
          </p:nvSpPr>
          <p:spPr>
            <a:xfrm>
              <a:off x="5120640" y="1883664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4DBEE1B-1CE7-9365-3286-86DB58212C52}"/>
                </a:ext>
              </a:extLst>
            </p:cNvPr>
            <p:cNvSpPr txBox="1"/>
            <p:nvPr/>
          </p:nvSpPr>
          <p:spPr>
            <a:xfrm>
              <a:off x="5120640" y="188366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0.1913</a:t>
              </a:r>
            </a:p>
          </p:txBody>
        </p:sp>
        <p:sp>
          <p:nvSpPr>
            <p:cNvPr id="64" name="Rectangle 35">
              <a:extLst>
                <a:ext uri="{FF2B5EF4-FFF2-40B4-BE49-F238E27FC236}">
                  <a16:creationId xmlns:a16="http://schemas.microsoft.com/office/drawing/2014/main" id="{4B9DDAFD-3A80-DD5B-6A86-9DC538F198E9}"/>
                </a:ext>
              </a:extLst>
            </p:cNvPr>
            <p:cNvSpPr/>
            <p:nvPr/>
          </p:nvSpPr>
          <p:spPr>
            <a:xfrm>
              <a:off x="6080760" y="1883664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C767F75-EAE2-0E3B-4CEC-26883E457AB6}"/>
                </a:ext>
              </a:extLst>
            </p:cNvPr>
            <p:cNvSpPr txBox="1"/>
            <p:nvPr/>
          </p:nvSpPr>
          <p:spPr>
            <a:xfrm>
              <a:off x="6080760" y="188366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0.3725</a:t>
              </a:r>
            </a:p>
          </p:txBody>
        </p: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8C7DEFE0-2CFB-D5B3-D523-8DBEA4E1E048}"/>
                </a:ext>
              </a:extLst>
            </p:cNvPr>
            <p:cNvSpPr/>
            <p:nvPr/>
          </p:nvSpPr>
          <p:spPr>
            <a:xfrm>
              <a:off x="7040880" y="1883664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3301394-4A3E-B303-F8CC-C0E3C0A700BB}"/>
                </a:ext>
              </a:extLst>
            </p:cNvPr>
            <p:cNvSpPr txBox="1"/>
            <p:nvPr/>
          </p:nvSpPr>
          <p:spPr>
            <a:xfrm>
              <a:off x="7040880" y="188366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68" name="Rectangle 39">
              <a:extLst>
                <a:ext uri="{FF2B5EF4-FFF2-40B4-BE49-F238E27FC236}">
                  <a16:creationId xmlns:a16="http://schemas.microsoft.com/office/drawing/2014/main" id="{D8E76BBC-320F-F986-8969-BC5C9EF115C6}"/>
                </a:ext>
              </a:extLst>
            </p:cNvPr>
            <p:cNvSpPr/>
            <p:nvPr/>
          </p:nvSpPr>
          <p:spPr>
            <a:xfrm>
              <a:off x="8595360" y="1883664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CADCB8C-E021-EF73-46BE-C71360153C36}"/>
                </a:ext>
              </a:extLst>
            </p:cNvPr>
            <p:cNvSpPr txBox="1"/>
            <p:nvPr/>
          </p:nvSpPr>
          <p:spPr>
            <a:xfrm>
              <a:off x="8595360" y="188366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70" name="Rectangle 41">
              <a:extLst>
                <a:ext uri="{FF2B5EF4-FFF2-40B4-BE49-F238E27FC236}">
                  <a16:creationId xmlns:a16="http://schemas.microsoft.com/office/drawing/2014/main" id="{A47E0452-E812-832B-33A3-57D64C8CD763}"/>
                </a:ext>
              </a:extLst>
            </p:cNvPr>
            <p:cNvSpPr/>
            <p:nvPr/>
          </p:nvSpPr>
          <p:spPr>
            <a:xfrm>
              <a:off x="10149840" y="1883664"/>
              <a:ext cx="1874519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4850DCD-83FC-8554-7DB3-1D9EEF37774B}"/>
                </a:ext>
              </a:extLst>
            </p:cNvPr>
            <p:cNvSpPr txBox="1"/>
            <p:nvPr/>
          </p:nvSpPr>
          <p:spPr>
            <a:xfrm>
              <a:off x="10149840" y="1883664"/>
              <a:ext cx="1874519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 Only</a:t>
              </a:r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72ECD40C-3094-AAA5-AFCB-4B9896A70269}"/>
                </a:ext>
              </a:extLst>
            </p:cNvPr>
            <p:cNvSpPr/>
            <p:nvPr/>
          </p:nvSpPr>
          <p:spPr>
            <a:xfrm>
              <a:off x="274320" y="2249424"/>
              <a:ext cx="109728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97FB35E-6FC1-F73C-4837-1C6228C94663}"/>
                </a:ext>
              </a:extLst>
            </p:cNvPr>
            <p:cNvSpPr txBox="1"/>
            <p:nvPr/>
          </p:nvSpPr>
          <p:spPr>
            <a:xfrm>
              <a:off x="274320" y="224942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 (CrossAttn)</a:t>
              </a:r>
            </a:p>
          </p:txBody>
        </p:sp>
        <p:sp>
          <p:nvSpPr>
            <p:cNvPr id="74" name="Rectangle 45">
              <a:extLst>
                <a:ext uri="{FF2B5EF4-FFF2-40B4-BE49-F238E27FC236}">
                  <a16:creationId xmlns:a16="http://schemas.microsoft.com/office/drawing/2014/main" id="{0E663B7C-9178-4781-0AC9-0D3862F2D2E8}"/>
                </a:ext>
              </a:extLst>
            </p:cNvPr>
            <p:cNvSpPr/>
            <p:nvPr/>
          </p:nvSpPr>
          <p:spPr>
            <a:xfrm>
              <a:off x="1417320" y="2249424"/>
              <a:ext cx="109728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161D01-5E39-25CE-7295-54FE2DD5DFBE}"/>
                </a:ext>
              </a:extLst>
            </p:cNvPr>
            <p:cNvSpPr txBox="1"/>
            <p:nvPr/>
          </p:nvSpPr>
          <p:spPr>
            <a:xfrm>
              <a:off x="1417320" y="224942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0.8118</a:t>
              </a:r>
            </a:p>
          </p:txBody>
        </p:sp>
        <p:sp>
          <p:nvSpPr>
            <p:cNvPr id="76" name="Rectangle 47">
              <a:extLst>
                <a:ext uri="{FF2B5EF4-FFF2-40B4-BE49-F238E27FC236}">
                  <a16:creationId xmlns:a16="http://schemas.microsoft.com/office/drawing/2014/main" id="{0267953E-04D3-12F0-3519-53A14B1B8DE2}"/>
                </a:ext>
              </a:extLst>
            </p:cNvPr>
            <p:cNvSpPr/>
            <p:nvPr/>
          </p:nvSpPr>
          <p:spPr>
            <a:xfrm>
              <a:off x="2560320" y="2249424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8DA0706-F692-6109-FDD5-A67500836892}"/>
                </a:ext>
              </a:extLst>
            </p:cNvPr>
            <p:cNvSpPr txBox="1"/>
            <p:nvPr/>
          </p:nvSpPr>
          <p:spPr>
            <a:xfrm>
              <a:off x="2560320" y="224942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[0.741,0.877]</a:t>
              </a:r>
            </a:p>
          </p:txBody>
        </p:sp>
        <p:sp>
          <p:nvSpPr>
            <p:cNvPr id="78" name="Rectangle 49">
              <a:extLst>
                <a:ext uri="{FF2B5EF4-FFF2-40B4-BE49-F238E27FC236}">
                  <a16:creationId xmlns:a16="http://schemas.microsoft.com/office/drawing/2014/main" id="{5D518000-FBA8-5E47-8321-5188953911FB}"/>
                </a:ext>
              </a:extLst>
            </p:cNvPr>
            <p:cNvSpPr/>
            <p:nvPr/>
          </p:nvSpPr>
          <p:spPr>
            <a:xfrm>
              <a:off x="4114800" y="2249424"/>
              <a:ext cx="9601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643623-EAD9-AB8A-EBAC-41AEBFF4C011}"/>
                </a:ext>
              </a:extLst>
            </p:cNvPr>
            <p:cNvSpPr txBox="1"/>
            <p:nvPr/>
          </p:nvSpPr>
          <p:spPr>
            <a:xfrm>
              <a:off x="4114800" y="2249424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0.3599</a:t>
              </a:r>
            </a:p>
          </p:txBody>
        </p:sp>
        <p:sp>
          <p:nvSpPr>
            <p:cNvPr id="80" name="Rectangle 51">
              <a:extLst>
                <a:ext uri="{FF2B5EF4-FFF2-40B4-BE49-F238E27FC236}">
                  <a16:creationId xmlns:a16="http://schemas.microsoft.com/office/drawing/2014/main" id="{4A85C3FF-E2F4-9F6B-F341-87B1FAD24F7E}"/>
                </a:ext>
              </a:extLst>
            </p:cNvPr>
            <p:cNvSpPr/>
            <p:nvPr/>
          </p:nvSpPr>
          <p:spPr>
            <a:xfrm>
              <a:off x="5120640" y="2249424"/>
              <a:ext cx="91440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BDD8133-C5DB-12AC-5EB8-11A69E7AFF5C}"/>
                </a:ext>
              </a:extLst>
            </p:cNvPr>
            <p:cNvSpPr txBox="1"/>
            <p:nvPr/>
          </p:nvSpPr>
          <p:spPr>
            <a:xfrm>
              <a:off x="5120640" y="224942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0.2581</a:t>
              </a:r>
            </a:p>
          </p:txBody>
        </p:sp>
        <p:sp>
          <p:nvSpPr>
            <p:cNvPr id="82" name="Rectangle 53">
              <a:extLst>
                <a:ext uri="{FF2B5EF4-FFF2-40B4-BE49-F238E27FC236}">
                  <a16:creationId xmlns:a16="http://schemas.microsoft.com/office/drawing/2014/main" id="{587B3B82-69B9-A7A4-DCD7-8C3C95DF311B}"/>
                </a:ext>
              </a:extLst>
            </p:cNvPr>
            <p:cNvSpPr/>
            <p:nvPr/>
          </p:nvSpPr>
          <p:spPr>
            <a:xfrm>
              <a:off x="6080760" y="2249424"/>
              <a:ext cx="91440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D864B8C-DA86-1B12-1389-2937706E9747}"/>
                </a:ext>
              </a:extLst>
            </p:cNvPr>
            <p:cNvSpPr txBox="1"/>
            <p:nvPr/>
          </p:nvSpPr>
          <p:spPr>
            <a:xfrm>
              <a:off x="6080760" y="224942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0.3519</a:t>
              </a:r>
            </a:p>
          </p:txBody>
        </p:sp>
        <p:sp>
          <p:nvSpPr>
            <p:cNvPr id="84" name="Rectangle 55">
              <a:extLst>
                <a:ext uri="{FF2B5EF4-FFF2-40B4-BE49-F238E27FC236}">
                  <a16:creationId xmlns:a16="http://schemas.microsoft.com/office/drawing/2014/main" id="{7190410F-2A47-70D0-2A94-02104E3A6C31}"/>
                </a:ext>
              </a:extLst>
            </p:cNvPr>
            <p:cNvSpPr/>
            <p:nvPr/>
          </p:nvSpPr>
          <p:spPr>
            <a:xfrm>
              <a:off x="7040880" y="2249424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FCC0374-B6EF-284B-F39C-FD3D7D280F81}"/>
                </a:ext>
              </a:extLst>
            </p:cNvPr>
            <p:cNvSpPr txBox="1"/>
            <p:nvPr/>
          </p:nvSpPr>
          <p:spPr>
            <a:xfrm>
              <a:off x="7040880" y="224942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+0.009</a:t>
              </a:r>
            </a:p>
          </p:txBody>
        </p:sp>
        <p:sp>
          <p:nvSpPr>
            <p:cNvPr id="86" name="Rectangle 57">
              <a:extLst>
                <a:ext uri="{FF2B5EF4-FFF2-40B4-BE49-F238E27FC236}">
                  <a16:creationId xmlns:a16="http://schemas.microsoft.com/office/drawing/2014/main" id="{F60A1F23-F0E2-536C-489F-F0EA5ADFAFE5}"/>
                </a:ext>
              </a:extLst>
            </p:cNvPr>
            <p:cNvSpPr/>
            <p:nvPr/>
          </p:nvSpPr>
          <p:spPr>
            <a:xfrm>
              <a:off x="8595360" y="2249424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47015EE-2C9E-2EFE-719D-CEFB720018EC}"/>
                </a:ext>
              </a:extLst>
            </p:cNvPr>
            <p:cNvSpPr txBox="1"/>
            <p:nvPr/>
          </p:nvSpPr>
          <p:spPr>
            <a:xfrm>
              <a:off x="8595360" y="224942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p=0.697 ns</a:t>
              </a:r>
            </a:p>
          </p:txBody>
        </p:sp>
        <p:sp>
          <p:nvSpPr>
            <p:cNvPr id="88" name="Rectangle 59">
              <a:extLst>
                <a:ext uri="{FF2B5EF4-FFF2-40B4-BE49-F238E27FC236}">
                  <a16:creationId xmlns:a16="http://schemas.microsoft.com/office/drawing/2014/main" id="{CEF60A3B-5832-AFBB-6328-4C3EE186A733}"/>
                </a:ext>
              </a:extLst>
            </p:cNvPr>
            <p:cNvSpPr/>
            <p:nvPr/>
          </p:nvSpPr>
          <p:spPr>
            <a:xfrm>
              <a:off x="10149840" y="2249424"/>
              <a:ext cx="1874519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7086D71-6A31-89D1-950F-D57F8870BD3D}"/>
                </a:ext>
              </a:extLst>
            </p:cNvPr>
            <p:cNvSpPr txBox="1"/>
            <p:nvPr/>
          </p:nvSpPr>
          <p:spPr>
            <a:xfrm>
              <a:off x="10149840" y="2249424"/>
              <a:ext cx="1874519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Clinic+AEC</a:t>
              </a:r>
            </a:p>
          </p:txBody>
        </p:sp>
        <p:sp>
          <p:nvSpPr>
            <p:cNvPr id="90" name="Rectangle 61">
              <a:extLst>
                <a:ext uri="{FF2B5EF4-FFF2-40B4-BE49-F238E27FC236}">
                  <a16:creationId xmlns:a16="http://schemas.microsoft.com/office/drawing/2014/main" id="{E48AC65D-F079-942A-C4A9-C6E55AF05DB2}"/>
                </a:ext>
              </a:extLst>
            </p:cNvPr>
            <p:cNvSpPr/>
            <p:nvPr/>
          </p:nvSpPr>
          <p:spPr>
            <a:xfrm>
              <a:off x="274320" y="2615184"/>
              <a:ext cx="10972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470181-EA10-ECB6-407A-0BE772AFC4F9}"/>
                </a:ext>
              </a:extLst>
            </p:cNvPr>
            <p:cNvSpPr txBox="1"/>
            <p:nvPr/>
          </p:nvSpPr>
          <p:spPr>
            <a:xfrm>
              <a:off x="274320" y="261518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 (Neg)</a:t>
              </a:r>
            </a:p>
          </p:txBody>
        </p:sp>
        <p:sp>
          <p:nvSpPr>
            <p:cNvPr id="92" name="Rectangle 63">
              <a:extLst>
                <a:ext uri="{FF2B5EF4-FFF2-40B4-BE49-F238E27FC236}">
                  <a16:creationId xmlns:a16="http://schemas.microsoft.com/office/drawing/2014/main" id="{4BCFA554-DD85-BC67-9E6E-45E4740F610E}"/>
                </a:ext>
              </a:extLst>
            </p:cNvPr>
            <p:cNvSpPr/>
            <p:nvPr/>
          </p:nvSpPr>
          <p:spPr>
            <a:xfrm>
              <a:off x="1417320" y="2615184"/>
              <a:ext cx="10972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00B541-167A-F91E-BD6E-B3C3119894FF}"/>
                </a:ext>
              </a:extLst>
            </p:cNvPr>
            <p:cNvSpPr txBox="1"/>
            <p:nvPr/>
          </p:nvSpPr>
          <p:spPr>
            <a:xfrm>
              <a:off x="1417320" y="261518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0.8059</a:t>
              </a:r>
            </a:p>
          </p:txBody>
        </p:sp>
        <p:sp>
          <p:nvSpPr>
            <p:cNvPr id="94" name="Rectangle 65">
              <a:extLst>
                <a:ext uri="{FF2B5EF4-FFF2-40B4-BE49-F238E27FC236}">
                  <a16:creationId xmlns:a16="http://schemas.microsoft.com/office/drawing/2014/main" id="{93780D75-00CF-90FD-0DBD-CAAF2D8B005F}"/>
                </a:ext>
              </a:extLst>
            </p:cNvPr>
            <p:cNvSpPr/>
            <p:nvPr/>
          </p:nvSpPr>
          <p:spPr>
            <a:xfrm>
              <a:off x="2560320" y="2615184"/>
              <a:ext cx="15087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90E9335-4746-1D13-0125-B7C8E14E18EF}"/>
                </a:ext>
              </a:extLst>
            </p:cNvPr>
            <p:cNvSpPr txBox="1"/>
            <p:nvPr/>
          </p:nvSpPr>
          <p:spPr>
            <a:xfrm>
              <a:off x="2560320" y="261518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[0.720,0.876]</a:t>
              </a:r>
            </a:p>
          </p:txBody>
        </p:sp>
        <p:sp>
          <p:nvSpPr>
            <p:cNvPr id="96" name="Rectangle 67">
              <a:extLst>
                <a:ext uri="{FF2B5EF4-FFF2-40B4-BE49-F238E27FC236}">
                  <a16:creationId xmlns:a16="http://schemas.microsoft.com/office/drawing/2014/main" id="{2EA907AB-DC43-C50E-A407-8465595BD0CC}"/>
                </a:ext>
              </a:extLst>
            </p:cNvPr>
            <p:cNvSpPr/>
            <p:nvPr/>
          </p:nvSpPr>
          <p:spPr>
            <a:xfrm>
              <a:off x="4114800" y="2615184"/>
              <a:ext cx="9601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6603DA2-4FDC-581F-9BE0-6F8F9E8AB108}"/>
                </a:ext>
              </a:extLst>
            </p:cNvPr>
            <p:cNvSpPr txBox="1"/>
            <p:nvPr/>
          </p:nvSpPr>
          <p:spPr>
            <a:xfrm>
              <a:off x="4114800" y="2615184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0.2782</a:t>
              </a:r>
            </a:p>
          </p:txBody>
        </p:sp>
        <p:sp>
          <p:nvSpPr>
            <p:cNvPr id="98" name="Rectangle 69">
              <a:extLst>
                <a:ext uri="{FF2B5EF4-FFF2-40B4-BE49-F238E27FC236}">
                  <a16:creationId xmlns:a16="http://schemas.microsoft.com/office/drawing/2014/main" id="{DB6811D9-DE54-5EFE-583A-D1C9DE6231C9}"/>
                </a:ext>
              </a:extLst>
            </p:cNvPr>
            <p:cNvSpPr/>
            <p:nvPr/>
          </p:nvSpPr>
          <p:spPr>
            <a:xfrm>
              <a:off x="5120640" y="2615184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5988B9A-E5EE-71AC-9BF9-F7F15125FB14}"/>
                </a:ext>
              </a:extLst>
            </p:cNvPr>
            <p:cNvSpPr txBox="1"/>
            <p:nvPr/>
          </p:nvSpPr>
          <p:spPr>
            <a:xfrm>
              <a:off x="5120640" y="261518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0.2627</a:t>
              </a:r>
            </a:p>
          </p:txBody>
        </p:sp>
        <p:sp>
          <p:nvSpPr>
            <p:cNvPr id="100" name="Rectangle 71">
              <a:extLst>
                <a:ext uri="{FF2B5EF4-FFF2-40B4-BE49-F238E27FC236}">
                  <a16:creationId xmlns:a16="http://schemas.microsoft.com/office/drawing/2014/main" id="{1A288CAE-B3C1-40C0-6A2D-C368C14BEBD0}"/>
                </a:ext>
              </a:extLst>
            </p:cNvPr>
            <p:cNvSpPr/>
            <p:nvPr/>
          </p:nvSpPr>
          <p:spPr>
            <a:xfrm>
              <a:off x="6080760" y="2615184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8D57197-2333-8404-FD8E-6BDF14419208}"/>
                </a:ext>
              </a:extLst>
            </p:cNvPr>
            <p:cNvSpPr txBox="1"/>
            <p:nvPr/>
          </p:nvSpPr>
          <p:spPr>
            <a:xfrm>
              <a:off x="6080760" y="261518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0.3704</a:t>
              </a:r>
            </a:p>
          </p:txBody>
        </p:sp>
        <p:sp>
          <p:nvSpPr>
            <p:cNvPr id="102" name="Rectangle 73">
              <a:extLst>
                <a:ext uri="{FF2B5EF4-FFF2-40B4-BE49-F238E27FC236}">
                  <a16:creationId xmlns:a16="http://schemas.microsoft.com/office/drawing/2014/main" id="{BA2C5F06-7B74-00D3-8E16-BEE8DB153F81}"/>
                </a:ext>
              </a:extLst>
            </p:cNvPr>
            <p:cNvSpPr/>
            <p:nvPr/>
          </p:nvSpPr>
          <p:spPr>
            <a:xfrm>
              <a:off x="7040880" y="2615184"/>
              <a:ext cx="15087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5FF99FF-BEA8-62BB-C156-15CFE6C39E98}"/>
                </a:ext>
              </a:extLst>
            </p:cNvPr>
            <p:cNvSpPr txBox="1"/>
            <p:nvPr/>
          </p:nvSpPr>
          <p:spPr>
            <a:xfrm>
              <a:off x="7040880" y="261518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04" name="Rectangle 75">
              <a:extLst>
                <a:ext uri="{FF2B5EF4-FFF2-40B4-BE49-F238E27FC236}">
                  <a16:creationId xmlns:a16="http://schemas.microsoft.com/office/drawing/2014/main" id="{16919AC0-6954-599B-5AF3-ABBB5973F601}"/>
                </a:ext>
              </a:extLst>
            </p:cNvPr>
            <p:cNvSpPr/>
            <p:nvPr/>
          </p:nvSpPr>
          <p:spPr>
            <a:xfrm>
              <a:off x="8595360" y="2615184"/>
              <a:ext cx="15087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E47B0EB-02E0-B25F-7E43-9591DCCE06CB}"/>
                </a:ext>
              </a:extLst>
            </p:cNvPr>
            <p:cNvSpPr txBox="1"/>
            <p:nvPr/>
          </p:nvSpPr>
          <p:spPr>
            <a:xfrm>
              <a:off x="8595360" y="261518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(neg ctrl)</a:t>
              </a:r>
            </a:p>
          </p:txBody>
        </p:sp>
        <p:sp>
          <p:nvSpPr>
            <p:cNvPr id="106" name="Rectangle 77">
              <a:extLst>
                <a:ext uri="{FF2B5EF4-FFF2-40B4-BE49-F238E27FC236}">
                  <a16:creationId xmlns:a16="http://schemas.microsoft.com/office/drawing/2014/main" id="{54415FF9-9181-D583-F077-0A2AC5EAA569}"/>
                </a:ext>
              </a:extLst>
            </p:cNvPr>
            <p:cNvSpPr/>
            <p:nvPr/>
          </p:nvSpPr>
          <p:spPr>
            <a:xfrm>
              <a:off x="10149840" y="2615184"/>
              <a:ext cx="1874519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687576F-395A-354A-56ED-2C9B20B2A2CF}"/>
                </a:ext>
              </a:extLst>
            </p:cNvPr>
            <p:cNvSpPr txBox="1"/>
            <p:nvPr/>
          </p:nvSpPr>
          <p:spPr>
            <a:xfrm>
              <a:off x="10149840" y="2615184"/>
              <a:ext cx="1874519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Unmatched</a:t>
              </a:r>
            </a:p>
          </p:txBody>
        </p:sp>
        <p:sp>
          <p:nvSpPr>
            <p:cNvPr id="108" name="Rectangle 79">
              <a:extLst>
                <a:ext uri="{FF2B5EF4-FFF2-40B4-BE49-F238E27FC236}">
                  <a16:creationId xmlns:a16="http://schemas.microsoft.com/office/drawing/2014/main" id="{85127DB8-474E-AAC6-DFF1-6DA9E2CF5677}"/>
                </a:ext>
              </a:extLst>
            </p:cNvPr>
            <p:cNvSpPr/>
            <p:nvPr/>
          </p:nvSpPr>
          <p:spPr>
            <a:xfrm>
              <a:off x="274320" y="2980944"/>
              <a:ext cx="109728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5CC58B1-A338-C0EE-ADF2-E2D65F3A1FBD}"/>
                </a:ext>
              </a:extLst>
            </p:cNvPr>
            <p:cNvSpPr txBox="1"/>
            <p:nvPr/>
          </p:nvSpPr>
          <p:spPr>
            <a:xfrm>
              <a:off x="274320" y="298094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 (CrossAttn3)</a:t>
              </a:r>
            </a:p>
          </p:txBody>
        </p:sp>
        <p:sp>
          <p:nvSpPr>
            <p:cNvPr id="110" name="Rectangle 81">
              <a:extLst>
                <a:ext uri="{FF2B5EF4-FFF2-40B4-BE49-F238E27FC236}">
                  <a16:creationId xmlns:a16="http://schemas.microsoft.com/office/drawing/2014/main" id="{F83136D3-F3AC-653D-643A-A6BAFC36F8B7}"/>
                </a:ext>
              </a:extLst>
            </p:cNvPr>
            <p:cNvSpPr/>
            <p:nvPr/>
          </p:nvSpPr>
          <p:spPr>
            <a:xfrm>
              <a:off x="1417320" y="2980944"/>
              <a:ext cx="109728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5155698-2838-1255-68AF-108DA09E6B75}"/>
                </a:ext>
              </a:extLst>
            </p:cNvPr>
            <p:cNvSpPr txBox="1"/>
            <p:nvPr/>
          </p:nvSpPr>
          <p:spPr>
            <a:xfrm>
              <a:off x="1417320" y="2980944"/>
              <a:ext cx="10972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0.8209</a:t>
              </a:r>
            </a:p>
          </p:txBody>
        </p:sp>
        <p:sp>
          <p:nvSpPr>
            <p:cNvPr id="112" name="Rectangle 83">
              <a:extLst>
                <a:ext uri="{FF2B5EF4-FFF2-40B4-BE49-F238E27FC236}">
                  <a16:creationId xmlns:a16="http://schemas.microsoft.com/office/drawing/2014/main" id="{6B6AE7D2-5368-EF51-7103-6816422C6701}"/>
                </a:ext>
              </a:extLst>
            </p:cNvPr>
            <p:cNvSpPr/>
            <p:nvPr/>
          </p:nvSpPr>
          <p:spPr>
            <a:xfrm>
              <a:off x="2560320" y="2980944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9D68170-DAE9-69EA-F586-9AB9BC9A5920}"/>
                </a:ext>
              </a:extLst>
            </p:cNvPr>
            <p:cNvSpPr txBox="1"/>
            <p:nvPr/>
          </p:nvSpPr>
          <p:spPr>
            <a:xfrm>
              <a:off x="2560320" y="298094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[0.740,0.889]</a:t>
              </a:r>
            </a:p>
          </p:txBody>
        </p:sp>
        <p:sp>
          <p:nvSpPr>
            <p:cNvPr id="114" name="Rectangle 85">
              <a:extLst>
                <a:ext uri="{FF2B5EF4-FFF2-40B4-BE49-F238E27FC236}">
                  <a16:creationId xmlns:a16="http://schemas.microsoft.com/office/drawing/2014/main" id="{5F2A2BD0-A027-46A2-2058-1960E264A0BE}"/>
                </a:ext>
              </a:extLst>
            </p:cNvPr>
            <p:cNvSpPr/>
            <p:nvPr/>
          </p:nvSpPr>
          <p:spPr>
            <a:xfrm>
              <a:off x="4114800" y="2980944"/>
              <a:ext cx="9601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372844E-4230-10F6-EF80-9A2ACEC552EA}"/>
                </a:ext>
              </a:extLst>
            </p:cNvPr>
            <p:cNvSpPr txBox="1"/>
            <p:nvPr/>
          </p:nvSpPr>
          <p:spPr>
            <a:xfrm>
              <a:off x="4114800" y="2980944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0.3141</a:t>
              </a:r>
            </a:p>
          </p:txBody>
        </p:sp>
        <p:sp>
          <p:nvSpPr>
            <p:cNvPr id="116" name="Rectangle 87">
              <a:extLst>
                <a:ext uri="{FF2B5EF4-FFF2-40B4-BE49-F238E27FC236}">
                  <a16:creationId xmlns:a16="http://schemas.microsoft.com/office/drawing/2014/main" id="{7B7E1980-0C62-7330-7400-D8DD5F0D294D}"/>
                </a:ext>
              </a:extLst>
            </p:cNvPr>
            <p:cNvSpPr/>
            <p:nvPr/>
          </p:nvSpPr>
          <p:spPr>
            <a:xfrm>
              <a:off x="5120640" y="2980944"/>
              <a:ext cx="91440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84AE6D2-5569-18AD-ED72-72EA174C0EBB}"/>
                </a:ext>
              </a:extLst>
            </p:cNvPr>
            <p:cNvSpPr txBox="1"/>
            <p:nvPr/>
          </p:nvSpPr>
          <p:spPr>
            <a:xfrm>
              <a:off x="5120640" y="298094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0.2645</a:t>
              </a:r>
            </a:p>
          </p:txBody>
        </p:sp>
        <p:sp>
          <p:nvSpPr>
            <p:cNvPr id="118" name="Rectangle 89">
              <a:extLst>
                <a:ext uri="{FF2B5EF4-FFF2-40B4-BE49-F238E27FC236}">
                  <a16:creationId xmlns:a16="http://schemas.microsoft.com/office/drawing/2014/main" id="{A4300974-6945-5D47-BBE9-86250E506184}"/>
                </a:ext>
              </a:extLst>
            </p:cNvPr>
            <p:cNvSpPr/>
            <p:nvPr/>
          </p:nvSpPr>
          <p:spPr>
            <a:xfrm>
              <a:off x="6080760" y="2980944"/>
              <a:ext cx="91440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697FA4F-A429-2ED2-F60F-E7C640AEFB5B}"/>
                </a:ext>
              </a:extLst>
            </p:cNvPr>
            <p:cNvSpPr txBox="1"/>
            <p:nvPr/>
          </p:nvSpPr>
          <p:spPr>
            <a:xfrm>
              <a:off x="6080760" y="2980944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0.4040</a:t>
              </a:r>
            </a:p>
          </p:txBody>
        </p:sp>
        <p:sp>
          <p:nvSpPr>
            <p:cNvPr id="120" name="Rectangle 91">
              <a:extLst>
                <a:ext uri="{FF2B5EF4-FFF2-40B4-BE49-F238E27FC236}">
                  <a16:creationId xmlns:a16="http://schemas.microsoft.com/office/drawing/2014/main" id="{D1CA8AD9-5DB0-5DEE-5E3A-1620C59A2177}"/>
                </a:ext>
              </a:extLst>
            </p:cNvPr>
            <p:cNvSpPr/>
            <p:nvPr/>
          </p:nvSpPr>
          <p:spPr>
            <a:xfrm>
              <a:off x="7040880" y="2980944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ED405E1-9A64-DB16-679A-20B162A8ECAB}"/>
                </a:ext>
              </a:extLst>
            </p:cNvPr>
            <p:cNvSpPr txBox="1"/>
            <p:nvPr/>
          </p:nvSpPr>
          <p:spPr>
            <a:xfrm>
              <a:off x="7040880" y="298094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+0.018</a:t>
              </a:r>
            </a:p>
          </p:txBody>
        </p:sp>
        <p:sp>
          <p:nvSpPr>
            <p:cNvPr id="122" name="Rectangle 93">
              <a:extLst>
                <a:ext uri="{FF2B5EF4-FFF2-40B4-BE49-F238E27FC236}">
                  <a16:creationId xmlns:a16="http://schemas.microsoft.com/office/drawing/2014/main" id="{B7EBEFD6-15F5-EE11-26D3-FD5CADD94CB3}"/>
                </a:ext>
              </a:extLst>
            </p:cNvPr>
            <p:cNvSpPr/>
            <p:nvPr/>
          </p:nvSpPr>
          <p:spPr>
            <a:xfrm>
              <a:off x="8595360" y="2980944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E21DC5B-E347-DE0F-AD7B-8041DDD94647}"/>
                </a:ext>
              </a:extLst>
            </p:cNvPr>
            <p:cNvSpPr txBox="1"/>
            <p:nvPr/>
          </p:nvSpPr>
          <p:spPr>
            <a:xfrm>
              <a:off x="8595360" y="2980944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p=0.486 ns</a:t>
              </a:r>
            </a:p>
          </p:txBody>
        </p:sp>
        <p:sp>
          <p:nvSpPr>
            <p:cNvPr id="124" name="Rectangle 95">
              <a:extLst>
                <a:ext uri="{FF2B5EF4-FFF2-40B4-BE49-F238E27FC236}">
                  <a16:creationId xmlns:a16="http://schemas.microsoft.com/office/drawing/2014/main" id="{8B126130-21C1-6449-B7B3-82C0EDFDE12E}"/>
                </a:ext>
              </a:extLst>
            </p:cNvPr>
            <p:cNvSpPr/>
            <p:nvPr/>
          </p:nvSpPr>
          <p:spPr>
            <a:xfrm>
              <a:off x="10149840" y="2980944"/>
              <a:ext cx="1874519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518DCD3-D81C-69DA-29D2-E9970C31C33B}"/>
                </a:ext>
              </a:extLst>
            </p:cNvPr>
            <p:cNvSpPr txBox="1"/>
            <p:nvPr/>
          </p:nvSpPr>
          <p:spPr>
            <a:xfrm>
              <a:off x="10149840" y="2980944"/>
              <a:ext cx="1874519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Clinic+Scn</a:t>
              </a: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802F1CEE-39D6-ABF9-5047-23666D35EF78}"/>
              </a:ext>
            </a:extLst>
          </p:cNvPr>
          <p:cNvSpPr txBox="1"/>
          <p:nvPr/>
        </p:nvSpPr>
        <p:spPr>
          <a:xfrm>
            <a:off x="274320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ROC — norm  (M1·M2·M2₂·M3·M4)</a:t>
            </a:r>
          </a:p>
        </p:txBody>
      </p:sp>
      <p:pic>
        <p:nvPicPr>
          <p:cNvPr id="127" name="Picture 98" descr="roc_all_models_norm.png">
            <a:extLst>
              <a:ext uri="{FF2B5EF4-FFF2-40B4-BE49-F238E27FC236}">
                <a16:creationId xmlns:a16="http://schemas.microsoft.com/office/drawing/2014/main" id="{589D4627-AD5C-BB53-47C7-A2C053A17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39896"/>
            <a:ext cx="3566160" cy="2657230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806C87D8-1601-839E-CFD3-5FC18654796A}"/>
              </a:ext>
            </a:extLst>
          </p:cNvPr>
          <p:cNvSpPr txBox="1"/>
          <p:nvPr/>
        </p:nvSpPr>
        <p:spPr>
          <a:xfrm>
            <a:off x="3977639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29" name="Picture 100" descr="confusion_matrices.png">
            <a:extLst>
              <a:ext uri="{FF2B5EF4-FFF2-40B4-BE49-F238E27FC236}">
                <a16:creationId xmlns:a16="http://schemas.microsoft.com/office/drawing/2014/main" id="{4E455A85-A774-CB5B-4ED6-024FE9C2F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3739896"/>
            <a:ext cx="3566160" cy="2657230"/>
          </a:xfrm>
          <a:prstGeom prst="rect">
            <a:avLst/>
          </a:prstGeom>
        </p:spPr>
      </p:pic>
      <p:sp>
        <p:nvSpPr>
          <p:cNvPr id="130" name="Rectangle 101">
            <a:extLst>
              <a:ext uri="{FF2B5EF4-FFF2-40B4-BE49-F238E27FC236}">
                <a16:creationId xmlns:a16="http://schemas.microsoft.com/office/drawing/2014/main" id="{0AF152CB-9148-85A6-B2BC-992C15EDBA06}"/>
              </a:ext>
            </a:extLst>
          </p:cNvPr>
          <p:cNvSpPr/>
          <p:nvPr/>
        </p:nvSpPr>
        <p:spPr>
          <a:xfrm>
            <a:off x="7680960" y="3465576"/>
            <a:ext cx="429768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9A39180-3BA1-D801-44B8-898E7E7881FB}"/>
              </a:ext>
            </a:extLst>
          </p:cNvPr>
          <p:cNvSpPr txBox="1"/>
          <p:nvPr/>
        </p:nvSpPr>
        <p:spPr>
          <a:xfrm>
            <a:off x="7754112" y="3483864"/>
            <a:ext cx="41879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0.2645)  (Brier 보정 품질 확인)</a:t>
            </a:r>
          </a:p>
        </p:txBody>
      </p:sp>
      <p:pic>
        <p:nvPicPr>
          <p:cNvPr id="132" name="Picture 103" descr="calibration_.png">
            <a:extLst>
              <a:ext uri="{FF2B5EF4-FFF2-40B4-BE49-F238E27FC236}">
                <a16:creationId xmlns:a16="http://schemas.microsoft.com/office/drawing/2014/main" id="{7936E33F-238B-5472-2B26-E4A271A5D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785615"/>
            <a:ext cx="4297680" cy="261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0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91E0-3204-134C-FFA0-F476D6AE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904F2-452A-3E58-1C5D-ED3412D8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AB09E-B939-C98D-6C79-AF6AFD6A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336" name="그룹 335">
            <a:extLst>
              <a:ext uri="{FF2B5EF4-FFF2-40B4-BE49-F238E27FC236}">
                <a16:creationId xmlns:a16="http://schemas.microsoft.com/office/drawing/2014/main" id="{2CB2C2F5-3CF7-2C93-A819-8AB71315A5D5}"/>
              </a:ext>
            </a:extLst>
          </p:cNvPr>
          <p:cNvGrpSpPr/>
          <p:nvPr/>
        </p:nvGrpSpPr>
        <p:grpSpPr>
          <a:xfrm>
            <a:off x="289560" y="1105554"/>
            <a:ext cx="11612880" cy="5047488"/>
            <a:chOff x="274320" y="905256"/>
            <a:chExt cx="11612880" cy="5047488"/>
          </a:xfrm>
        </p:grpSpPr>
        <p:sp>
          <p:nvSpPr>
            <p:cNvPr id="172" name="Rectangle 4">
              <a:extLst>
                <a:ext uri="{FF2B5EF4-FFF2-40B4-BE49-F238E27FC236}">
                  <a16:creationId xmlns:a16="http://schemas.microsoft.com/office/drawing/2014/main" id="{0B9414C3-901E-DC4F-ED00-E4A4D7C4E1DA}"/>
                </a:ext>
              </a:extLst>
            </p:cNvPr>
            <p:cNvSpPr/>
            <p:nvPr/>
          </p:nvSpPr>
          <p:spPr>
            <a:xfrm>
              <a:off x="274320" y="905256"/>
              <a:ext cx="5394960" cy="27079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62D4266D-D422-A1A6-20B6-7935C986CECF}"/>
                </a:ext>
              </a:extLst>
            </p:cNvPr>
            <p:cNvSpPr txBox="1"/>
            <p:nvPr/>
          </p:nvSpPr>
          <p:spPr>
            <a:xfrm>
              <a:off x="457200" y="978408"/>
              <a:ext cx="50292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1A1A2E"/>
                  </a:solidFill>
                  <a:latin typeface="맑은 고딕"/>
                </a:rPr>
                <a:t>Raw AEC 상관계수  (절대 선량 수준)</a:t>
              </a:r>
            </a:p>
          </p:txBody>
        </p:sp>
        <p:sp>
          <p:nvSpPr>
            <p:cNvPr id="174" name="Rectangle 6">
              <a:extLst>
                <a:ext uri="{FF2B5EF4-FFF2-40B4-BE49-F238E27FC236}">
                  <a16:creationId xmlns:a16="http://schemas.microsoft.com/office/drawing/2014/main" id="{1DE99043-F2BA-5336-92D4-7CA8AE3116C9}"/>
                </a:ext>
              </a:extLst>
            </p:cNvPr>
            <p:cNvSpPr/>
            <p:nvPr/>
          </p:nvSpPr>
          <p:spPr>
            <a:xfrm>
              <a:off x="457200" y="1298448"/>
              <a:ext cx="5029200" cy="36576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" name="Rectangle 9">
              <a:extLst>
                <a:ext uri="{FF2B5EF4-FFF2-40B4-BE49-F238E27FC236}">
                  <a16:creationId xmlns:a16="http://schemas.microsoft.com/office/drawing/2014/main" id="{3C1616AD-33BF-43D5-C7AE-51B5AD1D48A0}"/>
                </a:ext>
              </a:extLst>
            </p:cNvPr>
            <p:cNvSpPr/>
            <p:nvPr/>
          </p:nvSpPr>
          <p:spPr>
            <a:xfrm>
              <a:off x="1676400" y="1344168"/>
              <a:ext cx="76200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B1E0661-6E94-3438-3D6D-F64BDBCF9552}"/>
                </a:ext>
              </a:extLst>
            </p:cNvPr>
            <p:cNvSpPr txBox="1"/>
            <p:nvPr/>
          </p:nvSpPr>
          <p:spPr>
            <a:xfrm>
              <a:off x="1676400" y="1344168"/>
              <a:ext cx="7620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평균 r</a:t>
              </a:r>
            </a:p>
          </p:txBody>
        </p:sp>
        <p:sp>
          <p:nvSpPr>
            <p:cNvPr id="179" name="Rectangle 11">
              <a:extLst>
                <a:ext uri="{FF2B5EF4-FFF2-40B4-BE49-F238E27FC236}">
                  <a16:creationId xmlns:a16="http://schemas.microsoft.com/office/drawing/2014/main" id="{EE1E37AA-510A-AEE7-7EFC-EC7E6DB3AA01}"/>
                </a:ext>
              </a:extLst>
            </p:cNvPr>
            <p:cNvSpPr/>
            <p:nvPr/>
          </p:nvSpPr>
          <p:spPr>
            <a:xfrm>
              <a:off x="2484120" y="1344168"/>
              <a:ext cx="68580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6818BFB-F27C-D4E3-3CDB-95709F63BA1F}"/>
                </a:ext>
              </a:extLst>
            </p:cNvPr>
            <p:cNvSpPr txBox="1"/>
            <p:nvPr/>
          </p:nvSpPr>
          <p:spPr>
            <a:xfrm>
              <a:off x="2484120" y="1344168"/>
              <a:ext cx="6858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최대 |r|</a:t>
              </a:r>
            </a:p>
          </p:txBody>
        </p:sp>
        <p:sp>
          <p:nvSpPr>
            <p:cNvPr id="181" name="Rectangle 13">
              <a:extLst>
                <a:ext uri="{FF2B5EF4-FFF2-40B4-BE49-F238E27FC236}">
                  <a16:creationId xmlns:a16="http://schemas.microsoft.com/office/drawing/2014/main" id="{2FC235D3-6F09-8DD5-3BF6-CF11EDEBB90B}"/>
                </a:ext>
              </a:extLst>
            </p:cNvPr>
            <p:cNvSpPr/>
            <p:nvPr/>
          </p:nvSpPr>
          <p:spPr>
            <a:xfrm>
              <a:off x="3208020" y="1344168"/>
              <a:ext cx="68580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82D9FB8-82C6-AF0F-5616-ED3E41BDFBCC}"/>
                </a:ext>
              </a:extLst>
            </p:cNvPr>
            <p:cNvSpPr txBox="1"/>
            <p:nvPr/>
          </p:nvSpPr>
          <p:spPr>
            <a:xfrm>
              <a:off x="3208020" y="1344168"/>
              <a:ext cx="6858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위치</a:t>
              </a:r>
            </a:p>
          </p:txBody>
        </p:sp>
        <p:sp>
          <p:nvSpPr>
            <p:cNvPr id="183" name="Rectangle 15">
              <a:extLst>
                <a:ext uri="{FF2B5EF4-FFF2-40B4-BE49-F238E27FC236}">
                  <a16:creationId xmlns:a16="http://schemas.microsoft.com/office/drawing/2014/main" id="{2FF60276-D3C6-0ABB-4AB5-B52CFF6C9637}"/>
                </a:ext>
              </a:extLst>
            </p:cNvPr>
            <p:cNvSpPr/>
            <p:nvPr/>
          </p:nvSpPr>
          <p:spPr>
            <a:xfrm>
              <a:off x="3939540" y="1344168"/>
              <a:ext cx="154686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E288D43-30E5-D947-7FE4-F0B3F8021863}"/>
                </a:ext>
              </a:extLst>
            </p:cNvPr>
            <p:cNvSpPr txBox="1"/>
            <p:nvPr/>
          </p:nvSpPr>
          <p:spPr>
            <a:xfrm>
              <a:off x="3939540" y="1344168"/>
              <a:ext cx="15468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해석</a:t>
              </a:r>
            </a:p>
          </p:txBody>
        </p:sp>
        <p:sp>
          <p:nvSpPr>
            <p:cNvPr id="187" name="Rectangle 19">
              <a:extLst>
                <a:ext uri="{FF2B5EF4-FFF2-40B4-BE49-F238E27FC236}">
                  <a16:creationId xmlns:a16="http://schemas.microsoft.com/office/drawing/2014/main" id="{86A8BEA8-C66E-9148-C2BC-3885478666C0}"/>
                </a:ext>
              </a:extLst>
            </p:cNvPr>
            <p:cNvSpPr/>
            <p:nvPr/>
          </p:nvSpPr>
          <p:spPr>
            <a:xfrm>
              <a:off x="1676400" y="1618488"/>
              <a:ext cx="762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383043D-B4D5-D843-E446-212913F0EA04}"/>
                </a:ext>
              </a:extLst>
            </p:cNvPr>
            <p:cNvSpPr txBox="1"/>
            <p:nvPr/>
          </p:nvSpPr>
          <p:spPr>
            <a:xfrm>
              <a:off x="1676400" y="1618488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+0.500</a:t>
              </a:r>
            </a:p>
          </p:txBody>
        </p:sp>
        <p:sp>
          <p:nvSpPr>
            <p:cNvPr id="189" name="Rectangle 21">
              <a:extLst>
                <a:ext uri="{FF2B5EF4-FFF2-40B4-BE49-F238E27FC236}">
                  <a16:creationId xmlns:a16="http://schemas.microsoft.com/office/drawing/2014/main" id="{8BECBB17-F942-598A-C791-4BD9F4759B40}"/>
                </a:ext>
              </a:extLst>
            </p:cNvPr>
            <p:cNvSpPr/>
            <p:nvPr/>
          </p:nvSpPr>
          <p:spPr>
            <a:xfrm>
              <a:off x="2484120" y="1618488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CCEC769A-265C-351C-D75A-250C8B435357}"/>
                </a:ext>
              </a:extLst>
            </p:cNvPr>
            <p:cNvSpPr txBox="1"/>
            <p:nvPr/>
          </p:nvSpPr>
          <p:spPr>
            <a:xfrm>
              <a:off x="2484120" y="1618488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+0.616</a:t>
              </a:r>
            </a:p>
          </p:txBody>
        </p:sp>
        <p:sp>
          <p:nvSpPr>
            <p:cNvPr id="191" name="Rectangle 23">
              <a:extLst>
                <a:ext uri="{FF2B5EF4-FFF2-40B4-BE49-F238E27FC236}">
                  <a16:creationId xmlns:a16="http://schemas.microsoft.com/office/drawing/2014/main" id="{780B3AD1-2716-B653-E9BE-5008C576F71E}"/>
                </a:ext>
              </a:extLst>
            </p:cNvPr>
            <p:cNvSpPr/>
            <p:nvPr/>
          </p:nvSpPr>
          <p:spPr>
            <a:xfrm>
              <a:off x="3208020" y="1618488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36AD65E-8E53-66F1-15DA-2D89F1573842}"/>
                </a:ext>
              </a:extLst>
            </p:cNvPr>
            <p:cNvSpPr txBox="1"/>
            <p:nvPr/>
          </p:nvSpPr>
          <p:spPr>
            <a:xfrm>
              <a:off x="3208020" y="1618488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pt80</a:t>
              </a:r>
            </a:p>
          </p:txBody>
        </p:sp>
        <p:sp>
          <p:nvSpPr>
            <p:cNvPr id="193" name="Rectangle 25">
              <a:extLst>
                <a:ext uri="{FF2B5EF4-FFF2-40B4-BE49-F238E27FC236}">
                  <a16:creationId xmlns:a16="http://schemas.microsoft.com/office/drawing/2014/main" id="{99A80C4D-9711-4EBE-FC66-624B59FB6677}"/>
                </a:ext>
              </a:extLst>
            </p:cNvPr>
            <p:cNvSpPr/>
            <p:nvPr/>
          </p:nvSpPr>
          <p:spPr>
            <a:xfrm>
              <a:off x="3939540" y="1618488"/>
              <a:ext cx="15468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1ED97B5-E493-F987-7C9A-5C8C179196AC}"/>
                </a:ext>
              </a:extLst>
            </p:cNvPr>
            <p:cNvSpPr txBox="1"/>
            <p:nvPr/>
          </p:nvSpPr>
          <p:spPr>
            <a:xfrm>
              <a:off x="3939540" y="1618488"/>
              <a:ext cx="1546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체중·체격 주반영</a:t>
              </a:r>
            </a:p>
          </p:txBody>
        </p:sp>
        <p:sp>
          <p:nvSpPr>
            <p:cNvPr id="197" name="Rectangle 29">
              <a:extLst>
                <a:ext uri="{FF2B5EF4-FFF2-40B4-BE49-F238E27FC236}">
                  <a16:creationId xmlns:a16="http://schemas.microsoft.com/office/drawing/2014/main" id="{50867B64-6CF7-5310-1DA3-2C8938B61C24}"/>
                </a:ext>
              </a:extLst>
            </p:cNvPr>
            <p:cNvSpPr/>
            <p:nvPr/>
          </p:nvSpPr>
          <p:spPr>
            <a:xfrm>
              <a:off x="1676400" y="1920240"/>
              <a:ext cx="762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766A84A-906F-1CCC-A2F4-5034F016786B}"/>
                </a:ext>
              </a:extLst>
            </p:cNvPr>
            <p:cNvSpPr txBox="1"/>
            <p:nvPr/>
          </p:nvSpPr>
          <p:spPr>
            <a:xfrm>
              <a:off x="1676400" y="1920240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+0.308</a:t>
              </a:r>
            </a:p>
          </p:txBody>
        </p:sp>
        <p:sp>
          <p:nvSpPr>
            <p:cNvPr id="199" name="Rectangle 31">
              <a:extLst>
                <a:ext uri="{FF2B5EF4-FFF2-40B4-BE49-F238E27FC236}">
                  <a16:creationId xmlns:a16="http://schemas.microsoft.com/office/drawing/2014/main" id="{ED9AC224-6008-9371-31BF-2C1AC22B2C18}"/>
                </a:ext>
              </a:extLst>
            </p:cNvPr>
            <p:cNvSpPr/>
            <p:nvPr/>
          </p:nvSpPr>
          <p:spPr>
            <a:xfrm>
              <a:off x="2484120" y="1920240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29C4163-D377-E885-B65F-6E647116742D}"/>
                </a:ext>
              </a:extLst>
            </p:cNvPr>
            <p:cNvSpPr txBox="1"/>
            <p:nvPr/>
          </p:nvSpPr>
          <p:spPr>
            <a:xfrm>
              <a:off x="2484120" y="1920240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+0.489</a:t>
              </a:r>
            </a:p>
          </p:txBody>
        </p:sp>
        <p:sp>
          <p:nvSpPr>
            <p:cNvPr id="201" name="Rectangle 33">
              <a:extLst>
                <a:ext uri="{FF2B5EF4-FFF2-40B4-BE49-F238E27FC236}">
                  <a16:creationId xmlns:a16="http://schemas.microsoft.com/office/drawing/2014/main" id="{084738B6-D20F-82EA-E35C-8AC258B924AE}"/>
                </a:ext>
              </a:extLst>
            </p:cNvPr>
            <p:cNvSpPr/>
            <p:nvPr/>
          </p:nvSpPr>
          <p:spPr>
            <a:xfrm>
              <a:off x="3208020" y="1920240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33BC975-5AB7-C515-A394-EF00233C98F9}"/>
                </a:ext>
              </a:extLst>
            </p:cNvPr>
            <p:cNvSpPr txBox="1"/>
            <p:nvPr/>
          </p:nvSpPr>
          <p:spPr>
            <a:xfrm>
              <a:off x="3208020" y="1920240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pt107</a:t>
              </a:r>
            </a:p>
          </p:txBody>
        </p:sp>
        <p:sp>
          <p:nvSpPr>
            <p:cNvPr id="203" name="Rectangle 35">
              <a:extLst>
                <a:ext uri="{FF2B5EF4-FFF2-40B4-BE49-F238E27FC236}">
                  <a16:creationId xmlns:a16="http://schemas.microsoft.com/office/drawing/2014/main" id="{C99B924A-2A86-ECE6-ABBA-805A1A0ABE9F}"/>
                </a:ext>
              </a:extLst>
            </p:cNvPr>
            <p:cNvSpPr/>
            <p:nvPr/>
          </p:nvSpPr>
          <p:spPr>
            <a:xfrm>
              <a:off x="3939540" y="1920240"/>
              <a:ext cx="15468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07257CCE-B011-F35E-D127-004ABF60FB23}"/>
                </a:ext>
              </a:extLst>
            </p:cNvPr>
            <p:cNvSpPr txBox="1"/>
            <p:nvPr/>
          </p:nvSpPr>
          <p:spPr>
            <a:xfrm>
              <a:off x="3939540" y="1920240"/>
              <a:ext cx="1546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근육단면적 중간 상관</a:t>
              </a:r>
            </a:p>
          </p:txBody>
        </p:sp>
        <p:sp>
          <p:nvSpPr>
            <p:cNvPr id="207" name="Rectangle 39">
              <a:extLst>
                <a:ext uri="{FF2B5EF4-FFF2-40B4-BE49-F238E27FC236}">
                  <a16:creationId xmlns:a16="http://schemas.microsoft.com/office/drawing/2014/main" id="{6C2AB616-7781-A61B-C0B4-C4AD64941FF0}"/>
                </a:ext>
              </a:extLst>
            </p:cNvPr>
            <p:cNvSpPr/>
            <p:nvPr/>
          </p:nvSpPr>
          <p:spPr>
            <a:xfrm>
              <a:off x="1676400" y="2221992"/>
              <a:ext cx="762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F440A65-CB43-04AE-D6A7-A94425F5A750}"/>
                </a:ext>
              </a:extLst>
            </p:cNvPr>
            <p:cNvSpPr txBox="1"/>
            <p:nvPr/>
          </p:nvSpPr>
          <p:spPr>
            <a:xfrm>
              <a:off x="1676400" y="2221992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+0.268</a:t>
              </a:r>
            </a:p>
          </p:txBody>
        </p:sp>
        <p:sp>
          <p:nvSpPr>
            <p:cNvPr id="209" name="Rectangle 41">
              <a:extLst>
                <a:ext uri="{FF2B5EF4-FFF2-40B4-BE49-F238E27FC236}">
                  <a16:creationId xmlns:a16="http://schemas.microsoft.com/office/drawing/2014/main" id="{3D3840C1-C843-22E2-FC2B-25D7BB276B74}"/>
                </a:ext>
              </a:extLst>
            </p:cNvPr>
            <p:cNvSpPr/>
            <p:nvPr/>
          </p:nvSpPr>
          <p:spPr>
            <a:xfrm>
              <a:off x="2484120" y="2221992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AE238121-5682-14B1-7C5D-C0B8391AD252}"/>
                </a:ext>
              </a:extLst>
            </p:cNvPr>
            <p:cNvSpPr txBox="1"/>
            <p:nvPr/>
          </p:nvSpPr>
          <p:spPr>
            <a:xfrm>
              <a:off x="2484120" y="2221992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+0.435</a:t>
              </a:r>
            </a:p>
          </p:txBody>
        </p:sp>
        <p:sp>
          <p:nvSpPr>
            <p:cNvPr id="211" name="Rectangle 43">
              <a:extLst>
                <a:ext uri="{FF2B5EF4-FFF2-40B4-BE49-F238E27FC236}">
                  <a16:creationId xmlns:a16="http://schemas.microsoft.com/office/drawing/2014/main" id="{017C983F-D664-857D-FB5B-C2DDD650F9D0}"/>
                </a:ext>
              </a:extLst>
            </p:cNvPr>
            <p:cNvSpPr/>
            <p:nvPr/>
          </p:nvSpPr>
          <p:spPr>
            <a:xfrm>
              <a:off x="3208020" y="2221992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6FF3B485-D6C8-8A2C-B7C8-C46B435A4655}"/>
                </a:ext>
              </a:extLst>
            </p:cNvPr>
            <p:cNvSpPr txBox="1"/>
            <p:nvPr/>
          </p:nvSpPr>
          <p:spPr>
            <a:xfrm>
              <a:off x="3208020" y="2221992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pt107</a:t>
              </a:r>
            </a:p>
          </p:txBody>
        </p:sp>
        <p:sp>
          <p:nvSpPr>
            <p:cNvPr id="213" name="Rectangle 45">
              <a:extLst>
                <a:ext uri="{FF2B5EF4-FFF2-40B4-BE49-F238E27FC236}">
                  <a16:creationId xmlns:a16="http://schemas.microsoft.com/office/drawing/2014/main" id="{10A3396A-E324-2EEB-BA3D-A6EB4CD6E675}"/>
                </a:ext>
              </a:extLst>
            </p:cNvPr>
            <p:cNvSpPr/>
            <p:nvPr/>
          </p:nvSpPr>
          <p:spPr>
            <a:xfrm>
              <a:off x="3939540" y="2221992"/>
              <a:ext cx="15468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46F292E-0150-8E9A-CA64-450967B2185C}"/>
                </a:ext>
              </a:extLst>
            </p:cNvPr>
            <p:cNvSpPr txBox="1"/>
            <p:nvPr/>
          </p:nvSpPr>
          <p:spPr>
            <a:xfrm>
              <a:off x="3939540" y="2221992"/>
              <a:ext cx="1546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근육지수 양의 상관</a:t>
              </a:r>
            </a:p>
          </p:txBody>
        </p:sp>
        <p:sp>
          <p:nvSpPr>
            <p:cNvPr id="217" name="Rectangle 49">
              <a:extLst>
                <a:ext uri="{FF2B5EF4-FFF2-40B4-BE49-F238E27FC236}">
                  <a16:creationId xmlns:a16="http://schemas.microsoft.com/office/drawing/2014/main" id="{DEC5F9D8-FC82-C781-6881-36525629328A}"/>
                </a:ext>
              </a:extLst>
            </p:cNvPr>
            <p:cNvSpPr/>
            <p:nvPr/>
          </p:nvSpPr>
          <p:spPr>
            <a:xfrm>
              <a:off x="1676400" y="2523744"/>
              <a:ext cx="762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6F16728C-1618-CA25-E090-6890B215E41C}"/>
                </a:ext>
              </a:extLst>
            </p:cNvPr>
            <p:cNvSpPr txBox="1"/>
            <p:nvPr/>
          </p:nvSpPr>
          <p:spPr>
            <a:xfrm>
              <a:off x="1676400" y="2523744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+0.123</a:t>
              </a:r>
            </a:p>
          </p:txBody>
        </p:sp>
        <p:sp>
          <p:nvSpPr>
            <p:cNvPr id="219" name="Rectangle 51">
              <a:extLst>
                <a:ext uri="{FF2B5EF4-FFF2-40B4-BE49-F238E27FC236}">
                  <a16:creationId xmlns:a16="http://schemas.microsoft.com/office/drawing/2014/main" id="{160E28BA-2DA1-030F-FC5F-74C8D2AD69F8}"/>
                </a:ext>
              </a:extLst>
            </p:cNvPr>
            <p:cNvSpPr/>
            <p:nvPr/>
          </p:nvSpPr>
          <p:spPr>
            <a:xfrm>
              <a:off x="2484120" y="2523744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4FDF9CE-9D23-09E7-EA77-7E0F6986CC3A}"/>
                </a:ext>
              </a:extLst>
            </p:cNvPr>
            <p:cNvSpPr txBox="1"/>
            <p:nvPr/>
          </p:nvSpPr>
          <p:spPr>
            <a:xfrm>
              <a:off x="2484120" y="2523744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+0.362</a:t>
              </a:r>
            </a:p>
          </p:txBody>
        </p:sp>
        <p:sp>
          <p:nvSpPr>
            <p:cNvPr id="221" name="Rectangle 53">
              <a:extLst>
                <a:ext uri="{FF2B5EF4-FFF2-40B4-BE49-F238E27FC236}">
                  <a16:creationId xmlns:a16="http://schemas.microsoft.com/office/drawing/2014/main" id="{8F1D4A45-AB35-9C9F-CCE7-1B58A972AF01}"/>
                </a:ext>
              </a:extLst>
            </p:cNvPr>
            <p:cNvSpPr/>
            <p:nvPr/>
          </p:nvSpPr>
          <p:spPr>
            <a:xfrm>
              <a:off x="3208020" y="2523744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E46E392-C05C-DCF7-F012-BF42B15A0772}"/>
                </a:ext>
              </a:extLst>
            </p:cNvPr>
            <p:cNvSpPr txBox="1"/>
            <p:nvPr/>
          </p:nvSpPr>
          <p:spPr>
            <a:xfrm>
              <a:off x="3208020" y="2523744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pt109</a:t>
              </a:r>
            </a:p>
          </p:txBody>
        </p:sp>
        <p:sp>
          <p:nvSpPr>
            <p:cNvPr id="223" name="Rectangle 55">
              <a:extLst>
                <a:ext uri="{FF2B5EF4-FFF2-40B4-BE49-F238E27FC236}">
                  <a16:creationId xmlns:a16="http://schemas.microsoft.com/office/drawing/2014/main" id="{FDCFC41E-9D5C-D6A4-33D7-11A4AEEBBD82}"/>
                </a:ext>
              </a:extLst>
            </p:cNvPr>
            <p:cNvSpPr/>
            <p:nvPr/>
          </p:nvSpPr>
          <p:spPr>
            <a:xfrm>
              <a:off x="3939540" y="2523744"/>
              <a:ext cx="15468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7FD24DF4-5A47-E10E-EC60-80E7BBEB3CFC}"/>
                </a:ext>
              </a:extLst>
            </p:cNvPr>
            <p:cNvSpPr txBox="1"/>
            <p:nvPr/>
          </p:nvSpPr>
          <p:spPr>
            <a:xfrm>
              <a:off x="3939540" y="2523744"/>
              <a:ext cx="1546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남성 선량↑ (체격)</a:t>
              </a:r>
            </a:p>
          </p:txBody>
        </p:sp>
        <p:sp>
          <p:nvSpPr>
            <p:cNvPr id="227" name="Rectangle 59">
              <a:extLst>
                <a:ext uri="{FF2B5EF4-FFF2-40B4-BE49-F238E27FC236}">
                  <a16:creationId xmlns:a16="http://schemas.microsoft.com/office/drawing/2014/main" id="{4F029E59-C8F7-A356-DA41-9DE5AD4158EE}"/>
                </a:ext>
              </a:extLst>
            </p:cNvPr>
            <p:cNvSpPr/>
            <p:nvPr/>
          </p:nvSpPr>
          <p:spPr>
            <a:xfrm>
              <a:off x="1676400" y="2825496"/>
              <a:ext cx="762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575FFCCB-2967-B29E-8BF3-39F7A7D37C5B}"/>
                </a:ext>
              </a:extLst>
            </p:cNvPr>
            <p:cNvSpPr txBox="1"/>
            <p:nvPr/>
          </p:nvSpPr>
          <p:spPr>
            <a:xfrm>
              <a:off x="1676400" y="2825496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+0.111</a:t>
              </a:r>
            </a:p>
          </p:txBody>
        </p:sp>
        <p:sp>
          <p:nvSpPr>
            <p:cNvPr id="229" name="Rectangle 61">
              <a:extLst>
                <a:ext uri="{FF2B5EF4-FFF2-40B4-BE49-F238E27FC236}">
                  <a16:creationId xmlns:a16="http://schemas.microsoft.com/office/drawing/2014/main" id="{46DB0BAF-D790-1EDF-F6F0-6FA7A542B304}"/>
                </a:ext>
              </a:extLst>
            </p:cNvPr>
            <p:cNvSpPr/>
            <p:nvPr/>
          </p:nvSpPr>
          <p:spPr>
            <a:xfrm>
              <a:off x="2484120" y="2825496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7D642D34-DBBA-46E9-C1D2-86DC64232720}"/>
                </a:ext>
              </a:extLst>
            </p:cNvPr>
            <p:cNvSpPr txBox="1"/>
            <p:nvPr/>
          </p:nvSpPr>
          <p:spPr>
            <a:xfrm>
              <a:off x="2484120" y="2825496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+0.242</a:t>
              </a:r>
            </a:p>
          </p:txBody>
        </p:sp>
        <p:sp>
          <p:nvSpPr>
            <p:cNvPr id="231" name="Rectangle 63">
              <a:extLst>
                <a:ext uri="{FF2B5EF4-FFF2-40B4-BE49-F238E27FC236}">
                  <a16:creationId xmlns:a16="http://schemas.microsoft.com/office/drawing/2014/main" id="{9C4C7E06-AE0D-CCF7-2583-05A77BBCA35E}"/>
                </a:ext>
              </a:extLst>
            </p:cNvPr>
            <p:cNvSpPr/>
            <p:nvPr/>
          </p:nvSpPr>
          <p:spPr>
            <a:xfrm>
              <a:off x="3208020" y="2825496"/>
              <a:ext cx="6858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AAF2EE8-705B-D832-B1F0-5E729E5E4A7C}"/>
                </a:ext>
              </a:extLst>
            </p:cNvPr>
            <p:cNvSpPr txBox="1"/>
            <p:nvPr/>
          </p:nvSpPr>
          <p:spPr>
            <a:xfrm>
              <a:off x="3208020" y="2825496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pt88</a:t>
              </a:r>
            </a:p>
          </p:txBody>
        </p:sp>
        <p:sp>
          <p:nvSpPr>
            <p:cNvPr id="233" name="Rectangle 65">
              <a:extLst>
                <a:ext uri="{FF2B5EF4-FFF2-40B4-BE49-F238E27FC236}">
                  <a16:creationId xmlns:a16="http://schemas.microsoft.com/office/drawing/2014/main" id="{83EF259D-C450-0832-CB14-69A3F278EEF2}"/>
                </a:ext>
              </a:extLst>
            </p:cNvPr>
            <p:cNvSpPr/>
            <p:nvPr/>
          </p:nvSpPr>
          <p:spPr>
            <a:xfrm>
              <a:off x="3939540" y="2825496"/>
              <a:ext cx="15468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5AFD3EAF-E19C-A82D-CE8E-FBB53040E0EE}"/>
                </a:ext>
              </a:extLst>
            </p:cNvPr>
            <p:cNvSpPr txBox="1"/>
            <p:nvPr/>
          </p:nvSpPr>
          <p:spPr>
            <a:xfrm>
              <a:off x="3939540" y="2850812"/>
              <a:ext cx="1546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약한 양의 상관</a:t>
              </a:r>
            </a:p>
          </p:txBody>
        </p:sp>
        <p:grpSp>
          <p:nvGrpSpPr>
            <p:cNvPr id="335" name="그룹 334">
              <a:extLst>
                <a:ext uri="{FF2B5EF4-FFF2-40B4-BE49-F238E27FC236}">
                  <a16:creationId xmlns:a16="http://schemas.microsoft.com/office/drawing/2014/main" id="{1CAA3F4D-FBD1-D544-B41B-0EA35A5952FE}"/>
                </a:ext>
              </a:extLst>
            </p:cNvPr>
            <p:cNvGrpSpPr/>
            <p:nvPr/>
          </p:nvGrpSpPr>
          <p:grpSpPr>
            <a:xfrm>
              <a:off x="457200" y="1344168"/>
              <a:ext cx="1188720" cy="2084832"/>
              <a:chOff x="365760" y="1344168"/>
              <a:chExt cx="1691640" cy="2084832"/>
            </a:xfrm>
          </p:grpSpPr>
          <p:sp>
            <p:nvSpPr>
              <p:cNvPr id="175" name="Rectangle 7">
                <a:extLst>
                  <a:ext uri="{FF2B5EF4-FFF2-40B4-BE49-F238E27FC236}">
                    <a16:creationId xmlns:a16="http://schemas.microsoft.com/office/drawing/2014/main" id="{915D1A81-4788-FC05-E6ED-CF6266D5EDB0}"/>
                  </a:ext>
                </a:extLst>
              </p:cNvPr>
              <p:cNvSpPr/>
              <p:nvPr/>
            </p:nvSpPr>
            <p:spPr>
              <a:xfrm>
                <a:off x="365760" y="1344168"/>
                <a:ext cx="1691640" cy="256032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0E1C7FE5-7A3C-95CB-ED19-94D0B83BE31E}"/>
                  </a:ext>
                </a:extLst>
              </p:cNvPr>
              <p:cNvSpPr txBox="1"/>
              <p:nvPr/>
            </p:nvSpPr>
            <p:spPr>
              <a:xfrm>
                <a:off x="365760" y="1344168"/>
                <a:ext cx="1691640" cy="2560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변수</a:t>
                </a:r>
              </a:p>
            </p:txBody>
          </p:sp>
          <p:sp>
            <p:nvSpPr>
              <p:cNvPr id="185" name="Rectangle 17">
                <a:extLst>
                  <a:ext uri="{FF2B5EF4-FFF2-40B4-BE49-F238E27FC236}">
                    <a16:creationId xmlns:a16="http://schemas.microsoft.com/office/drawing/2014/main" id="{4A0C429C-9901-5253-769D-ACADA1A5AB56}"/>
                  </a:ext>
                </a:extLst>
              </p:cNvPr>
              <p:cNvSpPr/>
              <p:nvPr/>
            </p:nvSpPr>
            <p:spPr>
              <a:xfrm>
                <a:off x="365760" y="1618488"/>
                <a:ext cx="1691640" cy="30175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3CEDFA75-FE53-9BA9-41B5-07D7DA9DEE6A}"/>
                  </a:ext>
                </a:extLst>
              </p:cNvPr>
              <p:cNvSpPr txBox="1"/>
              <p:nvPr/>
            </p:nvSpPr>
            <p:spPr>
              <a:xfrm>
                <a:off x="365760" y="1618488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E87400"/>
                    </a:solidFill>
                    <a:latin typeface="맑은 고딕"/>
                  </a:rPr>
                  <a:t>BMI</a:t>
                </a:r>
              </a:p>
            </p:txBody>
          </p:sp>
          <p:sp>
            <p:nvSpPr>
              <p:cNvPr id="195" name="Rectangle 27">
                <a:extLst>
                  <a:ext uri="{FF2B5EF4-FFF2-40B4-BE49-F238E27FC236}">
                    <a16:creationId xmlns:a16="http://schemas.microsoft.com/office/drawing/2014/main" id="{0CA87ACF-0B44-4C13-3A5A-E87C86FB2386}"/>
                  </a:ext>
                </a:extLst>
              </p:cNvPr>
              <p:cNvSpPr/>
              <p:nvPr/>
            </p:nvSpPr>
            <p:spPr>
              <a:xfrm>
                <a:off x="365760" y="1920240"/>
                <a:ext cx="1691640" cy="301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1AE1761-0D21-AE93-9679-23FF6B8C1169}"/>
                  </a:ext>
                </a:extLst>
              </p:cNvPr>
              <p:cNvSpPr txBox="1"/>
              <p:nvPr/>
            </p:nvSpPr>
            <p:spPr>
              <a:xfrm>
                <a:off x="365760" y="1920240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TAMA</a:t>
                </a:r>
              </a:p>
            </p:txBody>
          </p:sp>
          <p:sp>
            <p:nvSpPr>
              <p:cNvPr id="205" name="Rectangle 37">
                <a:extLst>
                  <a:ext uri="{FF2B5EF4-FFF2-40B4-BE49-F238E27FC236}">
                    <a16:creationId xmlns:a16="http://schemas.microsoft.com/office/drawing/2014/main" id="{2C636DE3-7829-746F-2C42-5F4DD0A04F87}"/>
                  </a:ext>
                </a:extLst>
              </p:cNvPr>
              <p:cNvSpPr/>
              <p:nvPr/>
            </p:nvSpPr>
            <p:spPr>
              <a:xfrm>
                <a:off x="365760" y="2221992"/>
                <a:ext cx="1691640" cy="30175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3C87FBFD-396A-93DD-F9B1-E74D32DC12BB}"/>
                  </a:ext>
                </a:extLst>
              </p:cNvPr>
              <p:cNvSpPr txBox="1"/>
              <p:nvPr/>
            </p:nvSpPr>
            <p:spPr>
              <a:xfrm>
                <a:off x="365760" y="2221992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0F9B8A"/>
                    </a:solidFill>
                    <a:latin typeface="맑은 고딕"/>
                  </a:rPr>
                  <a:t>SMI</a:t>
                </a:r>
              </a:p>
            </p:txBody>
          </p:sp>
          <p:sp>
            <p:nvSpPr>
              <p:cNvPr id="215" name="Rectangle 47">
                <a:extLst>
                  <a:ext uri="{FF2B5EF4-FFF2-40B4-BE49-F238E27FC236}">
                    <a16:creationId xmlns:a16="http://schemas.microsoft.com/office/drawing/2014/main" id="{C1F2B25C-D788-9915-9955-25796FCFA0BA}"/>
                  </a:ext>
                </a:extLst>
              </p:cNvPr>
              <p:cNvSpPr/>
              <p:nvPr/>
            </p:nvSpPr>
            <p:spPr>
              <a:xfrm>
                <a:off x="365760" y="2523744"/>
                <a:ext cx="1691640" cy="301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18E1BD9D-7A42-9A9B-4497-C6BE658A5BF4}"/>
                  </a:ext>
                </a:extLst>
              </p:cNvPr>
              <p:cNvSpPr txBox="1"/>
              <p:nvPr/>
            </p:nvSpPr>
            <p:spPr>
              <a:xfrm>
                <a:off x="365760" y="2523744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Sex(M=1)</a:t>
                </a:r>
              </a:p>
            </p:txBody>
          </p:sp>
          <p:sp>
            <p:nvSpPr>
              <p:cNvPr id="225" name="Rectangle 57">
                <a:extLst>
                  <a:ext uri="{FF2B5EF4-FFF2-40B4-BE49-F238E27FC236}">
                    <a16:creationId xmlns:a16="http://schemas.microsoft.com/office/drawing/2014/main" id="{5F90DB05-849E-9DB6-F66C-096FEFD77D8B}"/>
                  </a:ext>
                </a:extLst>
              </p:cNvPr>
              <p:cNvSpPr/>
              <p:nvPr/>
            </p:nvSpPr>
            <p:spPr>
              <a:xfrm>
                <a:off x="365760" y="2825496"/>
                <a:ext cx="1691640" cy="301752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210F86B-EA89-2AF7-2841-5216F876D9E5}"/>
                  </a:ext>
                </a:extLst>
              </p:cNvPr>
              <p:cNvSpPr txBox="1"/>
              <p:nvPr/>
            </p:nvSpPr>
            <p:spPr>
              <a:xfrm>
                <a:off x="365760" y="2825496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9EA3AB"/>
                    </a:solidFill>
                    <a:latin typeface="맑은 고딕"/>
                  </a:rPr>
                  <a:t>Age</a:t>
                </a:r>
              </a:p>
            </p:txBody>
          </p:sp>
          <p:sp>
            <p:nvSpPr>
              <p:cNvPr id="235" name="Rectangle 67">
                <a:extLst>
                  <a:ext uri="{FF2B5EF4-FFF2-40B4-BE49-F238E27FC236}">
                    <a16:creationId xmlns:a16="http://schemas.microsoft.com/office/drawing/2014/main" id="{8A2E8BBC-DC3B-38D3-E771-662737D93DF2}"/>
                  </a:ext>
                </a:extLst>
              </p:cNvPr>
              <p:cNvSpPr/>
              <p:nvPr/>
            </p:nvSpPr>
            <p:spPr>
              <a:xfrm>
                <a:off x="365760" y="3127248"/>
                <a:ext cx="1691640" cy="3017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7F9B7595-9834-CC39-B79A-22FDA1A30E5E}"/>
                  </a:ext>
                </a:extLst>
              </p:cNvPr>
              <p:cNvSpPr txBox="1"/>
              <p:nvPr/>
            </p:nvSpPr>
            <p:spPr>
              <a:xfrm>
                <a:off x="365760" y="3127248"/>
                <a:ext cx="1691640" cy="30175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C0392B"/>
                    </a:solidFill>
                    <a:latin typeface="맑은 고딕"/>
                  </a:rPr>
                  <a:t>Sarcopenia</a:t>
                </a:r>
              </a:p>
            </p:txBody>
          </p:sp>
        </p:grpSp>
        <p:sp>
          <p:nvSpPr>
            <p:cNvPr id="237" name="Rectangle 69">
              <a:extLst>
                <a:ext uri="{FF2B5EF4-FFF2-40B4-BE49-F238E27FC236}">
                  <a16:creationId xmlns:a16="http://schemas.microsoft.com/office/drawing/2014/main" id="{B0D23685-7891-96EF-8AD0-07CE8A528169}"/>
                </a:ext>
              </a:extLst>
            </p:cNvPr>
            <p:cNvSpPr/>
            <p:nvPr/>
          </p:nvSpPr>
          <p:spPr>
            <a:xfrm>
              <a:off x="1676400" y="3127248"/>
              <a:ext cx="762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5B7FA7C9-0883-3F2E-CA1E-AD97B6B1B6D6}"/>
                </a:ext>
              </a:extLst>
            </p:cNvPr>
            <p:cNvSpPr txBox="1"/>
            <p:nvPr/>
          </p:nvSpPr>
          <p:spPr>
            <a:xfrm>
              <a:off x="1676400" y="3127248"/>
              <a:ext cx="7620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-0.129</a:t>
              </a:r>
            </a:p>
          </p:txBody>
        </p:sp>
        <p:sp>
          <p:nvSpPr>
            <p:cNvPr id="239" name="Rectangle 71">
              <a:extLst>
                <a:ext uri="{FF2B5EF4-FFF2-40B4-BE49-F238E27FC236}">
                  <a16:creationId xmlns:a16="http://schemas.microsoft.com/office/drawing/2014/main" id="{D9BFEC1C-4111-C0DE-30D6-FE9D111BCF31}"/>
                </a:ext>
              </a:extLst>
            </p:cNvPr>
            <p:cNvSpPr/>
            <p:nvPr/>
          </p:nvSpPr>
          <p:spPr>
            <a:xfrm>
              <a:off x="2484120" y="3127248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5D9E3C97-4648-4DF3-106C-21F0F39804B2}"/>
                </a:ext>
              </a:extLst>
            </p:cNvPr>
            <p:cNvSpPr txBox="1"/>
            <p:nvPr/>
          </p:nvSpPr>
          <p:spPr>
            <a:xfrm>
              <a:off x="2484120" y="3127248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-0.158</a:t>
              </a:r>
            </a:p>
          </p:txBody>
        </p:sp>
        <p:sp>
          <p:nvSpPr>
            <p:cNvPr id="241" name="Rectangle 73">
              <a:extLst>
                <a:ext uri="{FF2B5EF4-FFF2-40B4-BE49-F238E27FC236}">
                  <a16:creationId xmlns:a16="http://schemas.microsoft.com/office/drawing/2014/main" id="{09229475-54D6-C25D-6224-B6A58E50EEE2}"/>
                </a:ext>
              </a:extLst>
            </p:cNvPr>
            <p:cNvSpPr/>
            <p:nvPr/>
          </p:nvSpPr>
          <p:spPr>
            <a:xfrm>
              <a:off x="3208020" y="3127248"/>
              <a:ext cx="6858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6B1C89BB-0512-B6F5-96A6-AE7B6E7E656A}"/>
                </a:ext>
              </a:extLst>
            </p:cNvPr>
            <p:cNvSpPr txBox="1"/>
            <p:nvPr/>
          </p:nvSpPr>
          <p:spPr>
            <a:xfrm>
              <a:off x="3208020" y="3127248"/>
              <a:ext cx="685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</a:t>
              </a:r>
            </a:p>
          </p:txBody>
        </p:sp>
        <p:sp>
          <p:nvSpPr>
            <p:cNvPr id="243" name="Rectangle 75">
              <a:extLst>
                <a:ext uri="{FF2B5EF4-FFF2-40B4-BE49-F238E27FC236}">
                  <a16:creationId xmlns:a16="http://schemas.microsoft.com/office/drawing/2014/main" id="{F30D74E2-36B7-6D76-6558-851D0B606E79}"/>
                </a:ext>
              </a:extLst>
            </p:cNvPr>
            <p:cNvSpPr/>
            <p:nvPr/>
          </p:nvSpPr>
          <p:spPr>
            <a:xfrm>
              <a:off x="3939540" y="3127248"/>
              <a:ext cx="15468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229ABF99-3D21-84E9-B4C2-E3BA1EEB66F8}"/>
                </a:ext>
              </a:extLst>
            </p:cNvPr>
            <p:cNvSpPr txBox="1"/>
            <p:nvPr/>
          </p:nvSpPr>
          <p:spPr>
            <a:xfrm>
              <a:off x="3939540" y="3173961"/>
              <a:ext cx="15468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 dirty="0" err="1">
                  <a:solidFill>
                    <a:srgbClr val="1A1A2E"/>
                  </a:solidFill>
                  <a:latin typeface="맑은 고딕"/>
                </a:rPr>
                <a:t>근감소증→선량</a:t>
              </a:r>
              <a:r>
                <a:rPr sz="900" b="0" i="0" dirty="0">
                  <a:solidFill>
                    <a:srgbClr val="1A1A2E"/>
                  </a:solidFill>
                  <a:latin typeface="맑은 고딕"/>
                </a:rPr>
                <a:t>↓ (</a:t>
              </a:r>
              <a:r>
                <a:rPr sz="900" b="0" i="0" dirty="0" err="1">
                  <a:solidFill>
                    <a:srgbClr val="1A1A2E"/>
                  </a:solidFill>
                  <a:latin typeface="맑은 고딕"/>
                </a:rPr>
                <a:t>약함</a:t>
              </a:r>
              <a:r>
                <a:rPr sz="900" b="0" i="0" dirty="0">
                  <a:solidFill>
                    <a:srgbClr val="1A1A2E"/>
                  </a:solidFill>
                  <a:latin typeface="맑은 고딕"/>
                </a:rPr>
                <a:t>)</a:t>
              </a:r>
            </a:p>
          </p:txBody>
        </p:sp>
        <p:sp>
          <p:nvSpPr>
            <p:cNvPr id="245" name="Rectangle 77">
              <a:extLst>
                <a:ext uri="{FF2B5EF4-FFF2-40B4-BE49-F238E27FC236}">
                  <a16:creationId xmlns:a16="http://schemas.microsoft.com/office/drawing/2014/main" id="{5423B98E-95A1-32A9-416C-51C4DAF565B6}"/>
                </a:ext>
              </a:extLst>
            </p:cNvPr>
            <p:cNvSpPr/>
            <p:nvPr/>
          </p:nvSpPr>
          <p:spPr>
            <a:xfrm>
              <a:off x="274320" y="3721608"/>
              <a:ext cx="5394960" cy="2231136"/>
            </a:xfrm>
            <a:prstGeom prst="rect">
              <a:avLst/>
            </a:prstGeom>
            <a:solidFill>
              <a:srgbClr val="FFF0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6" name="Rectangle 78">
              <a:extLst>
                <a:ext uri="{FF2B5EF4-FFF2-40B4-BE49-F238E27FC236}">
                  <a16:creationId xmlns:a16="http://schemas.microsoft.com/office/drawing/2014/main" id="{F920D2EC-FAA2-8EF9-CE8D-33CF83521B0D}"/>
                </a:ext>
              </a:extLst>
            </p:cNvPr>
            <p:cNvSpPr/>
            <p:nvPr/>
          </p:nvSpPr>
          <p:spPr>
            <a:xfrm>
              <a:off x="274320" y="3721608"/>
              <a:ext cx="91440" cy="2231136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EAF5C9A9-F51F-CBB6-3E8B-44E0DFEB06BD}"/>
                </a:ext>
              </a:extLst>
            </p:cNvPr>
            <p:cNvSpPr txBox="1"/>
            <p:nvPr/>
          </p:nvSpPr>
          <p:spPr>
            <a:xfrm>
              <a:off x="457200" y="3794760"/>
              <a:ext cx="50292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E87400"/>
                  </a:solidFill>
                  <a:latin typeface="맑은 고딕"/>
                </a:rPr>
                <a:t>Raw AEC 핵심 발견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DF500C3-9604-BEA5-AB71-98037B44E659}"/>
                </a:ext>
              </a:extLst>
            </p:cNvPr>
            <p:cNvSpPr txBox="1"/>
            <p:nvPr/>
          </p:nvSpPr>
          <p:spPr>
            <a:xfrm>
              <a:off x="457200" y="4114800"/>
              <a:ext cx="502920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AEC raw값은 BMI(r=0.50)와 가장 강하게 상관 → 주로 체격 반영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CFCD14CB-584B-9887-EC3B-7676907E9A55}"/>
                </a:ext>
              </a:extLst>
            </p:cNvPr>
            <p:cNvSpPr txBox="1"/>
            <p:nvPr/>
          </p:nvSpPr>
          <p:spPr>
            <a:xfrm>
              <a:off x="457200" y="4517136"/>
              <a:ext cx="502920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Sarcopenia 직접 신호: r=-0.13 (약함) → Clinic의 BMI와 중복 정보 많음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9B7F5D0C-B3F0-ED3B-ECF2-7B643C8007D4}"/>
                </a:ext>
              </a:extLst>
            </p:cNvPr>
            <p:cNvSpPr txBox="1"/>
            <p:nvPr/>
          </p:nvSpPr>
          <p:spPr>
            <a:xfrm>
              <a:off x="457200" y="4919472"/>
              <a:ext cx="502920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복부 초반 슬라이스(pt10)에서 Sarcopenia 상관이 가장 높음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21926385-62B5-D0CC-4731-80079529BABD}"/>
                </a:ext>
              </a:extLst>
            </p:cNvPr>
            <p:cNvSpPr txBox="1"/>
            <p:nvPr/>
          </p:nvSpPr>
          <p:spPr>
            <a:xfrm>
              <a:off x="457200" y="5321808"/>
              <a:ext cx="502920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TAMA/SMI는 중간 상관 → AEC에 근육 정보가 간접 포함</a:t>
              </a:r>
            </a:p>
          </p:txBody>
        </p:sp>
        <p:sp>
          <p:nvSpPr>
            <p:cNvPr id="252" name="Rectangle 84">
              <a:extLst>
                <a:ext uri="{FF2B5EF4-FFF2-40B4-BE49-F238E27FC236}">
                  <a16:creationId xmlns:a16="http://schemas.microsoft.com/office/drawing/2014/main" id="{DF086DCA-994F-F2D0-160F-1E00B32AA035}"/>
                </a:ext>
              </a:extLst>
            </p:cNvPr>
            <p:cNvSpPr/>
            <p:nvPr/>
          </p:nvSpPr>
          <p:spPr>
            <a:xfrm>
              <a:off x="5943600" y="905256"/>
              <a:ext cx="5943600" cy="27079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DFBF9374-852F-6B2A-5A37-BCCFB0D32270}"/>
                </a:ext>
              </a:extLst>
            </p:cNvPr>
            <p:cNvSpPr txBox="1"/>
            <p:nvPr/>
          </p:nvSpPr>
          <p:spPr>
            <a:xfrm>
              <a:off x="6126480" y="978408"/>
              <a:ext cx="55778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1A1A2E"/>
                  </a:solidFill>
                  <a:latin typeface="맑은 고딕"/>
                </a:rPr>
                <a:t>Norm AEC 상관계수  (개인별 z-score 후)</a:t>
              </a:r>
            </a:p>
          </p:txBody>
        </p:sp>
        <p:sp>
          <p:nvSpPr>
            <p:cNvPr id="254" name="Rectangle 86">
              <a:extLst>
                <a:ext uri="{FF2B5EF4-FFF2-40B4-BE49-F238E27FC236}">
                  <a16:creationId xmlns:a16="http://schemas.microsoft.com/office/drawing/2014/main" id="{0D33D6CF-C034-90A8-8887-82C631D29580}"/>
                </a:ext>
              </a:extLst>
            </p:cNvPr>
            <p:cNvSpPr/>
            <p:nvPr/>
          </p:nvSpPr>
          <p:spPr>
            <a:xfrm>
              <a:off x="6126480" y="1298448"/>
              <a:ext cx="5577840" cy="36576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Rectangle 87">
              <a:extLst>
                <a:ext uri="{FF2B5EF4-FFF2-40B4-BE49-F238E27FC236}">
                  <a16:creationId xmlns:a16="http://schemas.microsoft.com/office/drawing/2014/main" id="{C2A5EB90-2A6C-CD0A-C3E1-7E07058F9876}"/>
                </a:ext>
              </a:extLst>
            </p:cNvPr>
            <p:cNvSpPr/>
            <p:nvPr/>
          </p:nvSpPr>
          <p:spPr>
            <a:xfrm>
              <a:off x="6126480" y="1344168"/>
              <a:ext cx="1084217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4DB19EB2-C0BA-30B2-83C6-8D13BFADB536}"/>
                </a:ext>
              </a:extLst>
            </p:cNvPr>
            <p:cNvSpPr txBox="1"/>
            <p:nvPr/>
          </p:nvSpPr>
          <p:spPr>
            <a:xfrm>
              <a:off x="6126480" y="1344168"/>
              <a:ext cx="1084217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변수</a:t>
              </a:r>
            </a:p>
          </p:txBody>
        </p:sp>
        <p:sp>
          <p:nvSpPr>
            <p:cNvPr id="257" name="Rectangle 89">
              <a:extLst>
                <a:ext uri="{FF2B5EF4-FFF2-40B4-BE49-F238E27FC236}">
                  <a16:creationId xmlns:a16="http://schemas.microsoft.com/office/drawing/2014/main" id="{973E8FD1-C957-1FCB-A03E-4D3BC9D440B6}"/>
                </a:ext>
              </a:extLst>
            </p:cNvPr>
            <p:cNvSpPr/>
            <p:nvPr/>
          </p:nvSpPr>
          <p:spPr>
            <a:xfrm>
              <a:off x="7244443" y="1344168"/>
              <a:ext cx="722372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B1725FE0-AADB-27D4-A81F-D824EA26EBCD}"/>
                </a:ext>
              </a:extLst>
            </p:cNvPr>
            <p:cNvSpPr txBox="1"/>
            <p:nvPr/>
          </p:nvSpPr>
          <p:spPr>
            <a:xfrm>
              <a:off x="7244443" y="1344168"/>
              <a:ext cx="72237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평균 r</a:t>
              </a:r>
            </a:p>
          </p:txBody>
        </p:sp>
        <p:sp>
          <p:nvSpPr>
            <p:cNvPr id="259" name="Rectangle 91">
              <a:extLst>
                <a:ext uri="{FF2B5EF4-FFF2-40B4-BE49-F238E27FC236}">
                  <a16:creationId xmlns:a16="http://schemas.microsoft.com/office/drawing/2014/main" id="{40D6EA36-B124-810A-AC89-961227AB77E6}"/>
                </a:ext>
              </a:extLst>
            </p:cNvPr>
            <p:cNvSpPr/>
            <p:nvPr/>
          </p:nvSpPr>
          <p:spPr>
            <a:xfrm>
              <a:off x="8018124" y="1344168"/>
              <a:ext cx="722372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2DC487C3-C18C-C6FA-BD33-54F00507A848}"/>
                </a:ext>
              </a:extLst>
            </p:cNvPr>
            <p:cNvSpPr txBox="1"/>
            <p:nvPr/>
          </p:nvSpPr>
          <p:spPr>
            <a:xfrm>
              <a:off x="8018124" y="1344168"/>
              <a:ext cx="7223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최대 |r|</a:t>
              </a:r>
            </a:p>
          </p:txBody>
        </p:sp>
        <p:sp>
          <p:nvSpPr>
            <p:cNvPr id="261" name="Rectangle 93">
              <a:extLst>
                <a:ext uri="{FF2B5EF4-FFF2-40B4-BE49-F238E27FC236}">
                  <a16:creationId xmlns:a16="http://schemas.microsoft.com/office/drawing/2014/main" id="{EAEA6123-3D2B-F860-2244-3287912D4AA8}"/>
                </a:ext>
              </a:extLst>
            </p:cNvPr>
            <p:cNvSpPr/>
            <p:nvPr/>
          </p:nvSpPr>
          <p:spPr>
            <a:xfrm>
              <a:off x="8775347" y="1344168"/>
              <a:ext cx="722372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972B394-3DEA-C2CA-6E73-202D80487535}"/>
                </a:ext>
              </a:extLst>
            </p:cNvPr>
            <p:cNvSpPr txBox="1"/>
            <p:nvPr/>
          </p:nvSpPr>
          <p:spPr>
            <a:xfrm>
              <a:off x="8775347" y="1344168"/>
              <a:ext cx="72237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위치</a:t>
              </a:r>
            </a:p>
          </p:txBody>
        </p:sp>
        <p:sp>
          <p:nvSpPr>
            <p:cNvPr id="263" name="Rectangle 95">
              <a:extLst>
                <a:ext uri="{FF2B5EF4-FFF2-40B4-BE49-F238E27FC236}">
                  <a16:creationId xmlns:a16="http://schemas.microsoft.com/office/drawing/2014/main" id="{82C2AE4A-7B95-6B75-D6E0-F4CE26CC132A}"/>
                </a:ext>
              </a:extLst>
            </p:cNvPr>
            <p:cNvSpPr/>
            <p:nvPr/>
          </p:nvSpPr>
          <p:spPr>
            <a:xfrm>
              <a:off x="9537337" y="1344168"/>
              <a:ext cx="2146663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F5F4D71C-CB84-B5D8-082A-5AF63EC54BF6}"/>
                </a:ext>
              </a:extLst>
            </p:cNvPr>
            <p:cNvSpPr txBox="1"/>
            <p:nvPr/>
          </p:nvSpPr>
          <p:spPr>
            <a:xfrm>
              <a:off x="9537337" y="1344168"/>
              <a:ext cx="2146663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해석</a:t>
              </a:r>
            </a:p>
          </p:txBody>
        </p:sp>
        <p:sp>
          <p:nvSpPr>
            <p:cNvPr id="265" name="Rectangle 97">
              <a:extLst>
                <a:ext uri="{FF2B5EF4-FFF2-40B4-BE49-F238E27FC236}">
                  <a16:creationId xmlns:a16="http://schemas.microsoft.com/office/drawing/2014/main" id="{08F832FA-D03A-4514-662E-BCEB1DAF27FA}"/>
                </a:ext>
              </a:extLst>
            </p:cNvPr>
            <p:cNvSpPr/>
            <p:nvPr/>
          </p:nvSpPr>
          <p:spPr>
            <a:xfrm>
              <a:off x="6126480" y="1618488"/>
              <a:ext cx="1084217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A120C81E-F68D-DA20-4386-E897E0972BA6}"/>
                </a:ext>
              </a:extLst>
            </p:cNvPr>
            <p:cNvSpPr txBox="1"/>
            <p:nvPr/>
          </p:nvSpPr>
          <p:spPr>
            <a:xfrm>
              <a:off x="6126480" y="1618488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Sex(M=1)</a:t>
              </a:r>
            </a:p>
          </p:txBody>
        </p:sp>
        <p:sp>
          <p:nvSpPr>
            <p:cNvPr id="267" name="Rectangle 99">
              <a:extLst>
                <a:ext uri="{FF2B5EF4-FFF2-40B4-BE49-F238E27FC236}">
                  <a16:creationId xmlns:a16="http://schemas.microsoft.com/office/drawing/2014/main" id="{7F6FAC73-FC05-0F90-00D9-8D6D5C800890}"/>
                </a:ext>
              </a:extLst>
            </p:cNvPr>
            <p:cNvSpPr/>
            <p:nvPr/>
          </p:nvSpPr>
          <p:spPr>
            <a:xfrm>
              <a:off x="7244443" y="1618488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CDA501D-392C-6B3B-FC36-FD22B53D0EB0}"/>
                </a:ext>
              </a:extLst>
            </p:cNvPr>
            <p:cNvSpPr txBox="1"/>
            <p:nvPr/>
          </p:nvSpPr>
          <p:spPr>
            <a:xfrm>
              <a:off x="7244443" y="161848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-0.028</a:t>
              </a:r>
            </a:p>
          </p:txBody>
        </p:sp>
        <p:sp>
          <p:nvSpPr>
            <p:cNvPr id="269" name="Rectangle 101">
              <a:extLst>
                <a:ext uri="{FF2B5EF4-FFF2-40B4-BE49-F238E27FC236}">
                  <a16:creationId xmlns:a16="http://schemas.microsoft.com/office/drawing/2014/main" id="{9BE2EA1C-4943-650D-E505-C6C80830101F}"/>
                </a:ext>
              </a:extLst>
            </p:cNvPr>
            <p:cNvSpPr/>
            <p:nvPr/>
          </p:nvSpPr>
          <p:spPr>
            <a:xfrm>
              <a:off x="8018124" y="1618488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7BA95DC4-04EB-BB07-B7BC-83969C0BE77C}"/>
                </a:ext>
              </a:extLst>
            </p:cNvPr>
            <p:cNvSpPr txBox="1"/>
            <p:nvPr/>
          </p:nvSpPr>
          <p:spPr>
            <a:xfrm>
              <a:off x="8018124" y="161848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+0.652</a:t>
              </a:r>
            </a:p>
          </p:txBody>
        </p:sp>
        <p:sp>
          <p:nvSpPr>
            <p:cNvPr id="271" name="Rectangle 103">
              <a:extLst>
                <a:ext uri="{FF2B5EF4-FFF2-40B4-BE49-F238E27FC236}">
                  <a16:creationId xmlns:a16="http://schemas.microsoft.com/office/drawing/2014/main" id="{3BC280A1-FDEF-0ADA-3724-DF9D3825DB9C}"/>
                </a:ext>
              </a:extLst>
            </p:cNvPr>
            <p:cNvSpPr/>
            <p:nvPr/>
          </p:nvSpPr>
          <p:spPr>
            <a:xfrm>
              <a:off x="8775347" y="1618488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B0E9760C-78A4-7778-2E8D-3D258024D549}"/>
                </a:ext>
              </a:extLst>
            </p:cNvPr>
            <p:cNvSpPr txBox="1"/>
            <p:nvPr/>
          </p:nvSpPr>
          <p:spPr>
            <a:xfrm>
              <a:off x="8775347" y="161848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pt105</a:t>
              </a:r>
            </a:p>
          </p:txBody>
        </p:sp>
        <p:sp>
          <p:nvSpPr>
            <p:cNvPr id="273" name="Rectangle 105">
              <a:extLst>
                <a:ext uri="{FF2B5EF4-FFF2-40B4-BE49-F238E27FC236}">
                  <a16:creationId xmlns:a16="http://schemas.microsoft.com/office/drawing/2014/main" id="{EC3E1A9F-3461-2936-E108-FEC2EC972B7B}"/>
                </a:ext>
              </a:extLst>
            </p:cNvPr>
            <p:cNvSpPr/>
            <p:nvPr/>
          </p:nvSpPr>
          <p:spPr>
            <a:xfrm>
              <a:off x="9537337" y="1618488"/>
              <a:ext cx="2146663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544F442D-2990-058E-1471-E9CF7CD749B9}"/>
                </a:ext>
              </a:extLst>
            </p:cNvPr>
            <p:cNvSpPr txBox="1"/>
            <p:nvPr/>
          </p:nvSpPr>
          <p:spPr>
            <a:xfrm>
              <a:off x="9537337" y="1618488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성별 곡선 형태 차이 大</a:t>
              </a:r>
            </a:p>
          </p:txBody>
        </p:sp>
        <p:sp>
          <p:nvSpPr>
            <p:cNvPr id="275" name="Rectangle 107">
              <a:extLst>
                <a:ext uri="{FF2B5EF4-FFF2-40B4-BE49-F238E27FC236}">
                  <a16:creationId xmlns:a16="http://schemas.microsoft.com/office/drawing/2014/main" id="{1DFD3CAC-FF6F-9A70-A4D5-75B2BBD86377}"/>
                </a:ext>
              </a:extLst>
            </p:cNvPr>
            <p:cNvSpPr/>
            <p:nvPr/>
          </p:nvSpPr>
          <p:spPr>
            <a:xfrm>
              <a:off x="6126480" y="1920240"/>
              <a:ext cx="1084217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4B4D3B53-BE8C-4518-3900-6D749B895195}"/>
                </a:ext>
              </a:extLst>
            </p:cNvPr>
            <p:cNvSpPr txBox="1"/>
            <p:nvPr/>
          </p:nvSpPr>
          <p:spPr>
            <a:xfrm>
              <a:off x="6126480" y="1920240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0F9B8A"/>
                  </a:solidFill>
                  <a:latin typeface="맑은 고딕"/>
                </a:rPr>
                <a:t>SMI</a:t>
              </a:r>
            </a:p>
          </p:txBody>
        </p:sp>
        <p:sp>
          <p:nvSpPr>
            <p:cNvPr id="277" name="Rectangle 109">
              <a:extLst>
                <a:ext uri="{FF2B5EF4-FFF2-40B4-BE49-F238E27FC236}">
                  <a16:creationId xmlns:a16="http://schemas.microsoft.com/office/drawing/2014/main" id="{969E3B00-E0AE-5B72-D718-A3CC391D2800}"/>
                </a:ext>
              </a:extLst>
            </p:cNvPr>
            <p:cNvSpPr/>
            <p:nvPr/>
          </p:nvSpPr>
          <p:spPr>
            <a:xfrm>
              <a:off x="7244443" y="1920240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B4FD4501-79DD-45E1-F287-2086FFB0966A}"/>
                </a:ext>
              </a:extLst>
            </p:cNvPr>
            <p:cNvSpPr txBox="1"/>
            <p:nvPr/>
          </p:nvSpPr>
          <p:spPr>
            <a:xfrm>
              <a:off x="7244443" y="1920240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-0.019</a:t>
              </a:r>
            </a:p>
          </p:txBody>
        </p:sp>
        <p:sp>
          <p:nvSpPr>
            <p:cNvPr id="279" name="Rectangle 111">
              <a:extLst>
                <a:ext uri="{FF2B5EF4-FFF2-40B4-BE49-F238E27FC236}">
                  <a16:creationId xmlns:a16="http://schemas.microsoft.com/office/drawing/2014/main" id="{9C8795DA-0597-4DD2-2659-FC2D82ADE2B6}"/>
                </a:ext>
              </a:extLst>
            </p:cNvPr>
            <p:cNvSpPr/>
            <p:nvPr/>
          </p:nvSpPr>
          <p:spPr>
            <a:xfrm>
              <a:off x="8018124" y="1920240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1DC0228E-177C-7B21-0248-4BAD302DCA46}"/>
                </a:ext>
              </a:extLst>
            </p:cNvPr>
            <p:cNvSpPr txBox="1"/>
            <p:nvPr/>
          </p:nvSpPr>
          <p:spPr>
            <a:xfrm>
              <a:off x="8018124" y="1920240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+0.501</a:t>
              </a:r>
            </a:p>
          </p:txBody>
        </p:sp>
        <p:sp>
          <p:nvSpPr>
            <p:cNvPr id="281" name="Rectangle 113">
              <a:extLst>
                <a:ext uri="{FF2B5EF4-FFF2-40B4-BE49-F238E27FC236}">
                  <a16:creationId xmlns:a16="http://schemas.microsoft.com/office/drawing/2014/main" id="{A4DF8037-F27F-8AF7-FE16-6BB331920ECD}"/>
                </a:ext>
              </a:extLst>
            </p:cNvPr>
            <p:cNvSpPr/>
            <p:nvPr/>
          </p:nvSpPr>
          <p:spPr>
            <a:xfrm>
              <a:off x="8775347" y="1920240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35148349-9BE9-82B4-D547-3AE60AE20FDC}"/>
                </a:ext>
              </a:extLst>
            </p:cNvPr>
            <p:cNvSpPr txBox="1"/>
            <p:nvPr/>
          </p:nvSpPr>
          <p:spPr>
            <a:xfrm>
              <a:off x="8775347" y="1920240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pt102</a:t>
              </a:r>
            </a:p>
          </p:txBody>
        </p:sp>
        <p:sp>
          <p:nvSpPr>
            <p:cNvPr id="283" name="Rectangle 115">
              <a:extLst>
                <a:ext uri="{FF2B5EF4-FFF2-40B4-BE49-F238E27FC236}">
                  <a16:creationId xmlns:a16="http://schemas.microsoft.com/office/drawing/2014/main" id="{E90F9376-7B7F-DD4D-D226-1B4796E0C736}"/>
                </a:ext>
              </a:extLst>
            </p:cNvPr>
            <p:cNvSpPr/>
            <p:nvPr/>
          </p:nvSpPr>
          <p:spPr>
            <a:xfrm>
              <a:off x="9537337" y="1920240"/>
              <a:ext cx="2146663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AD8C774D-98A5-04A6-7547-05E64BB7A6A9}"/>
                </a:ext>
              </a:extLst>
            </p:cNvPr>
            <p:cNvSpPr txBox="1"/>
            <p:nvPr/>
          </p:nvSpPr>
          <p:spPr>
            <a:xfrm>
              <a:off x="9537337" y="1920240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특정 구간에서만 상관</a:t>
              </a:r>
            </a:p>
          </p:txBody>
        </p:sp>
        <p:sp>
          <p:nvSpPr>
            <p:cNvPr id="285" name="Rectangle 117">
              <a:extLst>
                <a:ext uri="{FF2B5EF4-FFF2-40B4-BE49-F238E27FC236}">
                  <a16:creationId xmlns:a16="http://schemas.microsoft.com/office/drawing/2014/main" id="{2CC34773-9C35-2553-EA37-8F7FF8F6CEF0}"/>
                </a:ext>
              </a:extLst>
            </p:cNvPr>
            <p:cNvSpPr/>
            <p:nvPr/>
          </p:nvSpPr>
          <p:spPr>
            <a:xfrm>
              <a:off x="6126480" y="2221992"/>
              <a:ext cx="1084217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882E247-D75B-6FBE-6315-01F3856A5319}"/>
                </a:ext>
              </a:extLst>
            </p:cNvPr>
            <p:cNvSpPr txBox="1"/>
            <p:nvPr/>
          </p:nvSpPr>
          <p:spPr>
            <a:xfrm>
              <a:off x="6126480" y="2221992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0F9B8A"/>
                  </a:solidFill>
                  <a:latin typeface="맑은 고딕"/>
                </a:rPr>
                <a:t>TAMA</a:t>
              </a:r>
            </a:p>
          </p:txBody>
        </p:sp>
        <p:sp>
          <p:nvSpPr>
            <p:cNvPr id="287" name="Rectangle 119">
              <a:extLst>
                <a:ext uri="{FF2B5EF4-FFF2-40B4-BE49-F238E27FC236}">
                  <a16:creationId xmlns:a16="http://schemas.microsoft.com/office/drawing/2014/main" id="{683FFE4F-21D1-1774-3B2C-B35B97852E99}"/>
                </a:ext>
              </a:extLst>
            </p:cNvPr>
            <p:cNvSpPr/>
            <p:nvPr/>
          </p:nvSpPr>
          <p:spPr>
            <a:xfrm>
              <a:off x="7244443" y="2221992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06C10055-DB0B-43AE-8D02-4086FC5EDBDA}"/>
                </a:ext>
              </a:extLst>
            </p:cNvPr>
            <p:cNvSpPr txBox="1"/>
            <p:nvPr/>
          </p:nvSpPr>
          <p:spPr>
            <a:xfrm>
              <a:off x="7244443" y="2221992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-0.021</a:t>
              </a:r>
            </a:p>
          </p:txBody>
        </p:sp>
        <p:sp>
          <p:nvSpPr>
            <p:cNvPr id="289" name="Rectangle 121">
              <a:extLst>
                <a:ext uri="{FF2B5EF4-FFF2-40B4-BE49-F238E27FC236}">
                  <a16:creationId xmlns:a16="http://schemas.microsoft.com/office/drawing/2014/main" id="{CA199226-C41A-33BE-6E44-A14C2D4C0AD6}"/>
                </a:ext>
              </a:extLst>
            </p:cNvPr>
            <p:cNvSpPr/>
            <p:nvPr/>
          </p:nvSpPr>
          <p:spPr>
            <a:xfrm>
              <a:off x="8018124" y="2221992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C79B6A74-20F3-6155-A53D-8DA7BAE65C1F}"/>
                </a:ext>
              </a:extLst>
            </p:cNvPr>
            <p:cNvSpPr txBox="1"/>
            <p:nvPr/>
          </p:nvSpPr>
          <p:spPr>
            <a:xfrm>
              <a:off x="8018124" y="2221992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+0.554</a:t>
              </a:r>
            </a:p>
          </p:txBody>
        </p:sp>
        <p:sp>
          <p:nvSpPr>
            <p:cNvPr id="291" name="Rectangle 123">
              <a:extLst>
                <a:ext uri="{FF2B5EF4-FFF2-40B4-BE49-F238E27FC236}">
                  <a16:creationId xmlns:a16="http://schemas.microsoft.com/office/drawing/2014/main" id="{B86882EB-DE6F-2CE9-B343-FA02362F0A94}"/>
                </a:ext>
              </a:extLst>
            </p:cNvPr>
            <p:cNvSpPr/>
            <p:nvPr/>
          </p:nvSpPr>
          <p:spPr>
            <a:xfrm>
              <a:off x="8775347" y="2221992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D9F1BA75-4797-EC70-30CC-217719FFA62C}"/>
                </a:ext>
              </a:extLst>
            </p:cNvPr>
            <p:cNvSpPr txBox="1"/>
            <p:nvPr/>
          </p:nvSpPr>
          <p:spPr>
            <a:xfrm>
              <a:off x="8775347" y="2221992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pt102</a:t>
              </a:r>
            </a:p>
          </p:txBody>
        </p:sp>
        <p:sp>
          <p:nvSpPr>
            <p:cNvPr id="293" name="Rectangle 125">
              <a:extLst>
                <a:ext uri="{FF2B5EF4-FFF2-40B4-BE49-F238E27FC236}">
                  <a16:creationId xmlns:a16="http://schemas.microsoft.com/office/drawing/2014/main" id="{9267EDC6-9EE7-BA38-5994-D0E1F5BD9EE0}"/>
                </a:ext>
              </a:extLst>
            </p:cNvPr>
            <p:cNvSpPr/>
            <p:nvPr/>
          </p:nvSpPr>
          <p:spPr>
            <a:xfrm>
              <a:off x="9537337" y="2221992"/>
              <a:ext cx="2146663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8F935B59-CC49-A4C3-7ABC-8C7B425B7858}"/>
                </a:ext>
              </a:extLst>
            </p:cNvPr>
            <p:cNvSpPr txBox="1"/>
            <p:nvPr/>
          </p:nvSpPr>
          <p:spPr>
            <a:xfrm>
              <a:off x="9537337" y="2221992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골반/복부 하부 중요</a:t>
              </a:r>
            </a:p>
          </p:txBody>
        </p:sp>
        <p:sp>
          <p:nvSpPr>
            <p:cNvPr id="295" name="Rectangle 127">
              <a:extLst>
                <a:ext uri="{FF2B5EF4-FFF2-40B4-BE49-F238E27FC236}">
                  <a16:creationId xmlns:a16="http://schemas.microsoft.com/office/drawing/2014/main" id="{8985CAD9-9905-849B-ACC4-16F9DB783593}"/>
                </a:ext>
              </a:extLst>
            </p:cNvPr>
            <p:cNvSpPr/>
            <p:nvPr/>
          </p:nvSpPr>
          <p:spPr>
            <a:xfrm>
              <a:off x="6126480" y="2523744"/>
              <a:ext cx="1084217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2AA6A907-A476-66B2-10F1-3EB1CD9844AB}"/>
                </a:ext>
              </a:extLst>
            </p:cNvPr>
            <p:cNvSpPr txBox="1"/>
            <p:nvPr/>
          </p:nvSpPr>
          <p:spPr>
            <a:xfrm>
              <a:off x="6126480" y="2523744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BMI</a:t>
              </a:r>
            </a:p>
          </p:txBody>
        </p:sp>
        <p:sp>
          <p:nvSpPr>
            <p:cNvPr id="297" name="Rectangle 129">
              <a:extLst>
                <a:ext uri="{FF2B5EF4-FFF2-40B4-BE49-F238E27FC236}">
                  <a16:creationId xmlns:a16="http://schemas.microsoft.com/office/drawing/2014/main" id="{477885EE-74FE-B193-A583-AE977AE45E8E}"/>
                </a:ext>
              </a:extLst>
            </p:cNvPr>
            <p:cNvSpPr/>
            <p:nvPr/>
          </p:nvSpPr>
          <p:spPr>
            <a:xfrm>
              <a:off x="7244443" y="2523744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E9C2FF63-FF98-DDC4-F240-11C3FFBC74C3}"/>
                </a:ext>
              </a:extLst>
            </p:cNvPr>
            <p:cNvSpPr txBox="1"/>
            <p:nvPr/>
          </p:nvSpPr>
          <p:spPr>
            <a:xfrm>
              <a:off x="7244443" y="2523744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-0.010</a:t>
              </a:r>
            </a:p>
          </p:txBody>
        </p:sp>
        <p:sp>
          <p:nvSpPr>
            <p:cNvPr id="299" name="Rectangle 131">
              <a:extLst>
                <a:ext uri="{FF2B5EF4-FFF2-40B4-BE49-F238E27FC236}">
                  <a16:creationId xmlns:a16="http://schemas.microsoft.com/office/drawing/2014/main" id="{B38CBF7B-04B7-E82F-00AC-FE68742D2D6A}"/>
                </a:ext>
              </a:extLst>
            </p:cNvPr>
            <p:cNvSpPr/>
            <p:nvPr/>
          </p:nvSpPr>
          <p:spPr>
            <a:xfrm>
              <a:off x="8018124" y="2523744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19459812-97A3-74E7-1E1E-3F1C93B1C246}"/>
                </a:ext>
              </a:extLst>
            </p:cNvPr>
            <p:cNvSpPr txBox="1"/>
            <p:nvPr/>
          </p:nvSpPr>
          <p:spPr>
            <a:xfrm>
              <a:off x="8018124" y="2523744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+0.452</a:t>
              </a:r>
            </a:p>
          </p:txBody>
        </p:sp>
        <p:sp>
          <p:nvSpPr>
            <p:cNvPr id="301" name="Rectangle 133">
              <a:extLst>
                <a:ext uri="{FF2B5EF4-FFF2-40B4-BE49-F238E27FC236}">
                  <a16:creationId xmlns:a16="http://schemas.microsoft.com/office/drawing/2014/main" id="{28245994-F4E1-65C2-660C-68F7AD6B0970}"/>
                </a:ext>
              </a:extLst>
            </p:cNvPr>
            <p:cNvSpPr/>
            <p:nvPr/>
          </p:nvSpPr>
          <p:spPr>
            <a:xfrm>
              <a:off x="8775347" y="2523744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DF45B970-73D3-D2B4-52CA-0F3255982E5E}"/>
                </a:ext>
              </a:extLst>
            </p:cNvPr>
            <p:cNvSpPr txBox="1"/>
            <p:nvPr/>
          </p:nvSpPr>
          <p:spPr>
            <a:xfrm>
              <a:off x="8775347" y="2523744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pt85</a:t>
              </a:r>
            </a:p>
          </p:txBody>
        </p:sp>
        <p:sp>
          <p:nvSpPr>
            <p:cNvPr id="303" name="Rectangle 135">
              <a:extLst>
                <a:ext uri="{FF2B5EF4-FFF2-40B4-BE49-F238E27FC236}">
                  <a16:creationId xmlns:a16="http://schemas.microsoft.com/office/drawing/2014/main" id="{F74142B6-9EC2-A81D-16B2-644F836C8F27}"/>
                </a:ext>
              </a:extLst>
            </p:cNvPr>
            <p:cNvSpPr/>
            <p:nvPr/>
          </p:nvSpPr>
          <p:spPr>
            <a:xfrm>
              <a:off x="9537337" y="2523744"/>
              <a:ext cx="2146663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C2EA88FE-5A8D-EC36-EC45-394AF069D3AD}"/>
                </a:ext>
              </a:extLst>
            </p:cNvPr>
            <p:cNvSpPr txBox="1"/>
            <p:nvPr/>
          </p:nvSpPr>
          <p:spPr>
            <a:xfrm>
              <a:off x="9537337" y="2523744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허리 부위 BMI 상관</a:t>
              </a:r>
            </a:p>
          </p:txBody>
        </p:sp>
        <p:sp>
          <p:nvSpPr>
            <p:cNvPr id="305" name="Rectangle 137">
              <a:extLst>
                <a:ext uri="{FF2B5EF4-FFF2-40B4-BE49-F238E27FC236}">
                  <a16:creationId xmlns:a16="http://schemas.microsoft.com/office/drawing/2014/main" id="{EED71AB7-C100-0024-48A8-38BC344D4745}"/>
                </a:ext>
              </a:extLst>
            </p:cNvPr>
            <p:cNvSpPr/>
            <p:nvPr/>
          </p:nvSpPr>
          <p:spPr>
            <a:xfrm>
              <a:off x="6126480" y="2825496"/>
              <a:ext cx="1084217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3F15E87F-3E63-A78F-2495-51166D705323}"/>
                </a:ext>
              </a:extLst>
            </p:cNvPr>
            <p:cNvSpPr txBox="1"/>
            <p:nvPr/>
          </p:nvSpPr>
          <p:spPr>
            <a:xfrm>
              <a:off x="6126480" y="2825496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Age</a:t>
              </a:r>
            </a:p>
          </p:txBody>
        </p:sp>
        <p:sp>
          <p:nvSpPr>
            <p:cNvPr id="307" name="Rectangle 139">
              <a:extLst>
                <a:ext uri="{FF2B5EF4-FFF2-40B4-BE49-F238E27FC236}">
                  <a16:creationId xmlns:a16="http://schemas.microsoft.com/office/drawing/2014/main" id="{85490D72-D50F-CC64-F0D9-D3DBA79B9E17}"/>
                </a:ext>
              </a:extLst>
            </p:cNvPr>
            <p:cNvSpPr/>
            <p:nvPr/>
          </p:nvSpPr>
          <p:spPr>
            <a:xfrm>
              <a:off x="7244443" y="2825496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09A218D8-3890-F23F-1866-3830F826FA1B}"/>
                </a:ext>
              </a:extLst>
            </p:cNvPr>
            <p:cNvSpPr txBox="1"/>
            <p:nvPr/>
          </p:nvSpPr>
          <p:spPr>
            <a:xfrm>
              <a:off x="7244443" y="2825496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-0.009</a:t>
              </a:r>
            </a:p>
          </p:txBody>
        </p:sp>
        <p:sp>
          <p:nvSpPr>
            <p:cNvPr id="309" name="Rectangle 141">
              <a:extLst>
                <a:ext uri="{FF2B5EF4-FFF2-40B4-BE49-F238E27FC236}">
                  <a16:creationId xmlns:a16="http://schemas.microsoft.com/office/drawing/2014/main" id="{CCAE42F5-EA24-BCD5-1803-A2D8CF60AA95}"/>
                </a:ext>
              </a:extLst>
            </p:cNvPr>
            <p:cNvSpPr/>
            <p:nvPr/>
          </p:nvSpPr>
          <p:spPr>
            <a:xfrm>
              <a:off x="8018124" y="2825496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141B8A96-9849-DDC2-2A3B-14A1783C57D2}"/>
                </a:ext>
              </a:extLst>
            </p:cNvPr>
            <p:cNvSpPr txBox="1"/>
            <p:nvPr/>
          </p:nvSpPr>
          <p:spPr>
            <a:xfrm>
              <a:off x="8018124" y="2825496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-0.341</a:t>
              </a:r>
            </a:p>
          </p:txBody>
        </p:sp>
        <p:sp>
          <p:nvSpPr>
            <p:cNvPr id="311" name="Rectangle 143">
              <a:extLst>
                <a:ext uri="{FF2B5EF4-FFF2-40B4-BE49-F238E27FC236}">
                  <a16:creationId xmlns:a16="http://schemas.microsoft.com/office/drawing/2014/main" id="{D6765528-7D77-3BB0-E5DF-7A8968F14ECD}"/>
                </a:ext>
              </a:extLst>
            </p:cNvPr>
            <p:cNvSpPr/>
            <p:nvPr/>
          </p:nvSpPr>
          <p:spPr>
            <a:xfrm>
              <a:off x="8775347" y="2825496"/>
              <a:ext cx="722372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40C0F7E6-B088-35DF-EA26-39F8175D3EB6}"/>
                </a:ext>
              </a:extLst>
            </p:cNvPr>
            <p:cNvSpPr txBox="1"/>
            <p:nvPr/>
          </p:nvSpPr>
          <p:spPr>
            <a:xfrm>
              <a:off x="8775347" y="2825496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pt13</a:t>
              </a:r>
            </a:p>
          </p:txBody>
        </p:sp>
        <p:sp>
          <p:nvSpPr>
            <p:cNvPr id="313" name="Rectangle 145">
              <a:extLst>
                <a:ext uri="{FF2B5EF4-FFF2-40B4-BE49-F238E27FC236}">
                  <a16:creationId xmlns:a16="http://schemas.microsoft.com/office/drawing/2014/main" id="{63D35E19-209D-7DD6-6314-32EC7232C418}"/>
                </a:ext>
              </a:extLst>
            </p:cNvPr>
            <p:cNvSpPr/>
            <p:nvPr/>
          </p:nvSpPr>
          <p:spPr>
            <a:xfrm>
              <a:off x="9537337" y="2825496"/>
              <a:ext cx="2146663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78F7B993-0DE3-A5EB-ED84-75C7929947ED}"/>
                </a:ext>
              </a:extLst>
            </p:cNvPr>
            <p:cNvSpPr txBox="1"/>
            <p:nvPr/>
          </p:nvSpPr>
          <p:spPr>
            <a:xfrm>
              <a:off x="9537337" y="2825496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초반 슬라이스 Age 상관</a:t>
              </a:r>
            </a:p>
          </p:txBody>
        </p:sp>
        <p:sp>
          <p:nvSpPr>
            <p:cNvPr id="315" name="Rectangle 147">
              <a:extLst>
                <a:ext uri="{FF2B5EF4-FFF2-40B4-BE49-F238E27FC236}">
                  <a16:creationId xmlns:a16="http://schemas.microsoft.com/office/drawing/2014/main" id="{6FD82481-AE50-175E-2684-89C875782BF1}"/>
                </a:ext>
              </a:extLst>
            </p:cNvPr>
            <p:cNvSpPr/>
            <p:nvPr/>
          </p:nvSpPr>
          <p:spPr>
            <a:xfrm>
              <a:off x="6126480" y="3127248"/>
              <a:ext cx="1084217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3EE730FE-47FB-E93D-2B2A-F72C9CA4D218}"/>
                </a:ext>
              </a:extLst>
            </p:cNvPr>
            <p:cNvSpPr txBox="1"/>
            <p:nvPr/>
          </p:nvSpPr>
          <p:spPr>
            <a:xfrm>
              <a:off x="6126480" y="3127248"/>
              <a:ext cx="10842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C0392B"/>
                  </a:solidFill>
                  <a:latin typeface="맑은 고딕"/>
                </a:rPr>
                <a:t>Sarcopenia</a:t>
              </a:r>
            </a:p>
          </p:txBody>
        </p:sp>
        <p:sp>
          <p:nvSpPr>
            <p:cNvPr id="317" name="Rectangle 149">
              <a:extLst>
                <a:ext uri="{FF2B5EF4-FFF2-40B4-BE49-F238E27FC236}">
                  <a16:creationId xmlns:a16="http://schemas.microsoft.com/office/drawing/2014/main" id="{D863A212-594D-6A94-9B79-FDD5ABFDC711}"/>
                </a:ext>
              </a:extLst>
            </p:cNvPr>
            <p:cNvSpPr/>
            <p:nvPr/>
          </p:nvSpPr>
          <p:spPr>
            <a:xfrm>
              <a:off x="7244443" y="3127248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F7D75B5-D0E9-3B1B-0795-180B6690EE17}"/>
                </a:ext>
              </a:extLst>
            </p:cNvPr>
            <p:cNvSpPr txBox="1"/>
            <p:nvPr/>
          </p:nvSpPr>
          <p:spPr>
            <a:xfrm>
              <a:off x="7244443" y="312724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-0.002</a:t>
              </a:r>
            </a:p>
          </p:txBody>
        </p:sp>
        <p:sp>
          <p:nvSpPr>
            <p:cNvPr id="319" name="Rectangle 151">
              <a:extLst>
                <a:ext uri="{FF2B5EF4-FFF2-40B4-BE49-F238E27FC236}">
                  <a16:creationId xmlns:a16="http://schemas.microsoft.com/office/drawing/2014/main" id="{E90E3EDB-71D7-5728-A5D5-8C4B40A7877C}"/>
                </a:ext>
              </a:extLst>
            </p:cNvPr>
            <p:cNvSpPr/>
            <p:nvPr/>
          </p:nvSpPr>
          <p:spPr>
            <a:xfrm>
              <a:off x="8018124" y="3127248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BD13DD53-766A-A71D-1F5D-6163ACFFD1FA}"/>
                </a:ext>
              </a:extLst>
            </p:cNvPr>
            <p:cNvSpPr txBox="1"/>
            <p:nvPr/>
          </p:nvSpPr>
          <p:spPr>
            <a:xfrm>
              <a:off x="8018124" y="312724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+0.064</a:t>
              </a:r>
            </a:p>
          </p:txBody>
        </p:sp>
        <p:sp>
          <p:nvSpPr>
            <p:cNvPr id="321" name="Rectangle 153">
              <a:extLst>
                <a:ext uri="{FF2B5EF4-FFF2-40B4-BE49-F238E27FC236}">
                  <a16:creationId xmlns:a16="http://schemas.microsoft.com/office/drawing/2014/main" id="{27DDE702-959C-100C-22DA-CAD9D5AD1D10}"/>
                </a:ext>
              </a:extLst>
            </p:cNvPr>
            <p:cNvSpPr/>
            <p:nvPr/>
          </p:nvSpPr>
          <p:spPr>
            <a:xfrm>
              <a:off x="8775347" y="3127248"/>
              <a:ext cx="722372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847427A2-720B-07BD-0088-03D1D3863B65}"/>
                </a:ext>
              </a:extLst>
            </p:cNvPr>
            <p:cNvSpPr txBox="1"/>
            <p:nvPr/>
          </p:nvSpPr>
          <p:spPr>
            <a:xfrm>
              <a:off x="8775347" y="3127248"/>
              <a:ext cx="72237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pt119</a:t>
              </a:r>
            </a:p>
          </p:txBody>
        </p:sp>
        <p:sp>
          <p:nvSpPr>
            <p:cNvPr id="323" name="Rectangle 155">
              <a:extLst>
                <a:ext uri="{FF2B5EF4-FFF2-40B4-BE49-F238E27FC236}">
                  <a16:creationId xmlns:a16="http://schemas.microsoft.com/office/drawing/2014/main" id="{6730C2CE-E821-C954-73DD-CE9694BFC4F3}"/>
                </a:ext>
              </a:extLst>
            </p:cNvPr>
            <p:cNvSpPr/>
            <p:nvPr/>
          </p:nvSpPr>
          <p:spPr>
            <a:xfrm>
              <a:off x="9537337" y="3127248"/>
              <a:ext cx="2146663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A560F294-91B3-156F-82BD-068B35AFE4AF}"/>
                </a:ext>
              </a:extLst>
            </p:cNvPr>
            <p:cNvSpPr txBox="1"/>
            <p:nvPr/>
          </p:nvSpPr>
          <p:spPr>
            <a:xfrm>
              <a:off x="9537337" y="3127248"/>
              <a:ext cx="21466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정규화 후 신호 소실!</a:t>
              </a:r>
            </a:p>
          </p:txBody>
        </p:sp>
        <p:sp>
          <p:nvSpPr>
            <p:cNvPr id="325" name="Rectangle 157">
              <a:extLst>
                <a:ext uri="{FF2B5EF4-FFF2-40B4-BE49-F238E27FC236}">
                  <a16:creationId xmlns:a16="http://schemas.microsoft.com/office/drawing/2014/main" id="{B7FCC839-6AA3-4578-287F-AC4BC44912B8}"/>
                </a:ext>
              </a:extLst>
            </p:cNvPr>
            <p:cNvSpPr/>
            <p:nvPr/>
          </p:nvSpPr>
          <p:spPr>
            <a:xfrm>
              <a:off x="5943600" y="3721608"/>
              <a:ext cx="5943600" cy="2231136"/>
            </a:xfrm>
            <a:prstGeom prst="rect">
              <a:avLst/>
            </a:prstGeom>
            <a:solidFill>
              <a:srgbClr val="E8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6" name="Rectangle 158">
              <a:extLst>
                <a:ext uri="{FF2B5EF4-FFF2-40B4-BE49-F238E27FC236}">
                  <a16:creationId xmlns:a16="http://schemas.microsoft.com/office/drawing/2014/main" id="{FCAD2FC6-527C-5AD9-8D5E-C3C692DAE642}"/>
                </a:ext>
              </a:extLst>
            </p:cNvPr>
            <p:cNvSpPr/>
            <p:nvPr/>
          </p:nvSpPr>
          <p:spPr>
            <a:xfrm>
              <a:off x="5943600" y="3721608"/>
              <a:ext cx="91440" cy="2231136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B7DA1254-395C-EFBE-547F-F1478CBDC322}"/>
                </a:ext>
              </a:extLst>
            </p:cNvPr>
            <p:cNvSpPr txBox="1"/>
            <p:nvPr/>
          </p:nvSpPr>
          <p:spPr>
            <a:xfrm>
              <a:off x="6126480" y="3794760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6BBF"/>
                  </a:solidFill>
                  <a:latin typeface="맑은 고딕"/>
                </a:rPr>
                <a:t>Norm AEC 핵심 발견 — 모델 성능 해석에 결정적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A395DD4A-A483-D0D2-29D6-2781F7B3672B}"/>
                </a:ext>
              </a:extLst>
            </p:cNvPr>
            <p:cNvSpPr txBox="1"/>
            <p:nvPr/>
          </p:nvSpPr>
          <p:spPr>
            <a:xfrm>
              <a:off x="6126480" y="4114800"/>
              <a:ext cx="5577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평균 r ≈ 0 → 정규화로 개인 절대 선량 제거됨 (의도한 효과)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D4FDE131-2D3D-E1E2-68C7-B189FD3CDC25}"/>
                </a:ext>
              </a:extLst>
            </p:cNvPr>
            <p:cNvSpPr txBox="1"/>
            <p:nvPr/>
          </p:nvSpPr>
          <p:spPr>
            <a:xfrm>
              <a:off x="6126480" y="4480560"/>
              <a:ext cx="5577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특정 슬라이스(pt102-105)에서 성별/TAMA/SMI와 강한 상관 잔존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222552F1-A22F-827D-4210-285C80E33BBD}"/>
                </a:ext>
              </a:extLst>
            </p:cNvPr>
            <p:cNvSpPr txBox="1"/>
            <p:nvPr/>
          </p:nvSpPr>
          <p:spPr>
            <a:xfrm>
              <a:off x="6126480" y="4846320"/>
              <a:ext cx="5577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Sarcopenia 상관: mean=-0.002, max=+0.064 → 거의 소실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29B371FE-EBC8-84C8-B636-65246D5FF636}"/>
                </a:ext>
              </a:extLst>
            </p:cNvPr>
            <p:cNvSpPr txBox="1"/>
            <p:nvPr/>
          </p:nvSpPr>
          <p:spPr>
            <a:xfrm>
              <a:off x="6126480" y="5212080"/>
              <a:ext cx="5577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이것이 M2 norm 성능이 M2 raw보다 낮은 이유를 설명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02A6FB03-597D-6514-2BF8-1E672E4F77AC}"/>
                </a:ext>
              </a:extLst>
            </p:cNvPr>
            <p:cNvSpPr txBox="1"/>
            <p:nvPr/>
          </p:nvSpPr>
          <p:spPr>
            <a:xfrm>
              <a:off x="6126480" y="5577840"/>
              <a:ext cx="5577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norm이 BMI 정보를 제거하면서 Sarcopenia 신호도 같이 줄어듦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55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B205-3899-258B-7902-A4E91E90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9A063-D1AF-7FC5-457F-2D646ED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60A5A-CA89-0D92-3341-DA7443957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856B8-00D2-93FC-B4D6-BBBC0804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전체 모델 성능 비교 </a:t>
            </a:r>
            <a:r>
              <a:rPr lang="en-US" altLang="ko-KR" dirty="0"/>
              <a:t>(normalized)</a:t>
            </a: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5B3D4DF1-5B21-F457-9D7D-A11FC329F2E0}"/>
              </a:ext>
            </a:extLst>
          </p:cNvPr>
          <p:cNvGrpSpPr/>
          <p:nvPr/>
        </p:nvGrpSpPr>
        <p:grpSpPr>
          <a:xfrm>
            <a:off x="508000" y="1567108"/>
            <a:ext cx="11091817" cy="2395728"/>
            <a:chOff x="274320" y="905256"/>
            <a:chExt cx="11795760" cy="23957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3DB9C5-C149-5E67-3B04-2C858BAAD414}"/>
                </a:ext>
              </a:extLst>
            </p:cNvPr>
            <p:cNvSpPr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1DA82A-091F-D146-1D58-61E50A80D910}"/>
                </a:ext>
              </a:extLst>
            </p:cNvPr>
            <p:cNvSpPr txBox="1"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9E31C3-FE35-19D1-F5AC-C00DC8C45C59}"/>
                </a:ext>
              </a:extLst>
            </p:cNvPr>
            <p:cNvSpPr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0FB0EB-D8FE-9B8C-B607-53B5A3C4DF93}"/>
                </a:ext>
              </a:extLst>
            </p:cNvPr>
            <p:cNvSpPr txBox="1"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D641BC-E9EA-A6E5-8731-73F6F8F03FCD}"/>
                </a:ext>
              </a:extLst>
            </p:cNvPr>
            <p:cNvSpPr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3CDC89-C442-E383-8C0C-37898DBDE301}"/>
                </a:ext>
              </a:extLst>
            </p:cNvPr>
            <p:cNvSpPr txBox="1"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 AUC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732CC7-C02E-E835-5B81-DFDF63E5C716}"/>
                </a:ext>
              </a:extLst>
            </p:cNvPr>
            <p:cNvSpPr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612DE2-9934-4054-8860-74D9126A62C0}"/>
                </a:ext>
              </a:extLst>
            </p:cNvPr>
            <p:cNvSpPr txBox="1"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12E94E-607D-735D-90EE-ECE3FA640674}"/>
                </a:ext>
              </a:extLst>
            </p:cNvPr>
            <p:cNvSpPr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5F7E45-A896-2ED9-7CE7-8BFB66E73930}"/>
                </a:ext>
              </a:extLst>
            </p:cNvPr>
            <p:cNvSpPr txBox="1"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52CDAE-D042-12C8-3EFF-216FB88CE1F3}"/>
                </a:ext>
              </a:extLst>
            </p:cNvPr>
            <p:cNvSpPr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E8BEE4-FB94-22BB-3DCB-BCDDCDE072A7}"/>
                </a:ext>
              </a:extLst>
            </p:cNvPr>
            <p:cNvSpPr txBox="1"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1F7C31D-3F90-36E6-23A7-65720D414FFD}"/>
                </a:ext>
              </a:extLst>
            </p:cNvPr>
            <p:cNvSpPr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D702FB5-64BD-BB1D-2ACB-EDBA93FA7D62}"/>
                </a:ext>
              </a:extLst>
            </p:cNvPr>
            <p:cNvSpPr txBox="1"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Δ AUC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A9D9F7-D40D-6F73-FF0F-BAC5B5360C82}"/>
                </a:ext>
              </a:extLst>
            </p:cNvPr>
            <p:cNvSpPr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10F52F-A28A-7CCF-DF0B-0B418E0EFC5A}"/>
                </a:ext>
              </a:extLst>
            </p:cNvPr>
            <p:cNvSpPr txBox="1"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DeLong p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01DDF3-E4CB-24AB-AF2C-4CC150F0FCE4}"/>
                </a:ext>
              </a:extLst>
            </p:cNvPr>
            <p:cNvSpPr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F9C04B-5211-C232-2F8A-5F5A4ABB9711}"/>
                </a:ext>
              </a:extLst>
            </p:cNvPr>
            <p:cNvSpPr txBox="1"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비고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6F54DD-787A-C830-E414-3C2A4F60E353}"/>
                </a:ext>
              </a:extLst>
            </p:cNvPr>
            <p:cNvSpPr/>
            <p:nvPr/>
          </p:nvSpPr>
          <p:spPr>
            <a:xfrm>
              <a:off x="274320" y="1216152"/>
              <a:ext cx="141732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AEAE34-790F-3DAF-26A5-8787E8BD8CE0}"/>
                </a:ext>
              </a:extLst>
            </p:cNvPr>
            <p:cNvSpPr txBox="1"/>
            <p:nvPr/>
          </p:nvSpPr>
          <p:spPr>
            <a:xfrm>
              <a:off x="274320" y="1216152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M1 (LR)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73DFE9A-4994-BF95-9DB5-B5009BC2E6DC}"/>
                </a:ext>
              </a:extLst>
            </p:cNvPr>
            <p:cNvSpPr/>
            <p:nvPr/>
          </p:nvSpPr>
          <p:spPr>
            <a:xfrm>
              <a:off x="1737360" y="1216152"/>
              <a:ext cx="100584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38D565E-197E-4954-AFEB-F982B8873342}"/>
                </a:ext>
              </a:extLst>
            </p:cNvPr>
            <p:cNvSpPr txBox="1"/>
            <p:nvPr/>
          </p:nvSpPr>
          <p:spPr>
            <a:xfrm>
              <a:off x="1737360" y="1216152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CB18482-1B6F-291A-CB49-1120E3A20DA1}"/>
                </a:ext>
              </a:extLst>
            </p:cNvPr>
            <p:cNvSpPr/>
            <p:nvPr/>
          </p:nvSpPr>
          <p:spPr>
            <a:xfrm>
              <a:off x="2788920" y="1216152"/>
              <a:ext cx="137160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010434-1FDA-3E9B-45C4-4A70A222BF7A}"/>
                </a:ext>
              </a:extLst>
            </p:cNvPr>
            <p:cNvSpPr txBox="1"/>
            <p:nvPr/>
          </p:nvSpPr>
          <p:spPr>
            <a:xfrm>
              <a:off x="2788920" y="1216152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F65CFD-19AF-DB9E-B0AF-B0921F426940}"/>
                </a:ext>
              </a:extLst>
            </p:cNvPr>
            <p:cNvSpPr/>
            <p:nvPr/>
          </p:nvSpPr>
          <p:spPr>
            <a:xfrm>
              <a:off x="4206240" y="1216152"/>
              <a:ext cx="100584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C96EC4-D327-4A3A-D941-E9F58A790F9C}"/>
                </a:ext>
              </a:extLst>
            </p:cNvPr>
            <p:cNvSpPr txBox="1"/>
            <p:nvPr/>
          </p:nvSpPr>
          <p:spPr>
            <a:xfrm>
              <a:off x="4206240" y="1216152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7AE9EB7-3F38-7C44-FF0D-F6BE50ED4E82}"/>
                </a:ext>
              </a:extLst>
            </p:cNvPr>
            <p:cNvSpPr/>
            <p:nvPr/>
          </p:nvSpPr>
          <p:spPr>
            <a:xfrm>
              <a:off x="5257800" y="1216152"/>
              <a:ext cx="96012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4220F1-992E-70DA-0585-CD8EB4DC782D}"/>
                </a:ext>
              </a:extLst>
            </p:cNvPr>
            <p:cNvSpPr txBox="1"/>
            <p:nvPr/>
          </p:nvSpPr>
          <p:spPr>
            <a:xfrm>
              <a:off x="5257800" y="1216152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0.1913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EF4C4A-450F-AE8A-5C53-9C4F5DD39DAC}"/>
                </a:ext>
              </a:extLst>
            </p:cNvPr>
            <p:cNvSpPr/>
            <p:nvPr/>
          </p:nvSpPr>
          <p:spPr>
            <a:xfrm>
              <a:off x="6263640" y="1216152"/>
              <a:ext cx="96012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CD0ADEB-EA8D-34E9-BB42-96A765638842}"/>
                </a:ext>
              </a:extLst>
            </p:cNvPr>
            <p:cNvSpPr txBox="1"/>
            <p:nvPr/>
          </p:nvSpPr>
          <p:spPr>
            <a:xfrm>
              <a:off x="6263640" y="1216152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0.3725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6E4F9C2-7806-6BB2-E884-DB7EE724EFD7}"/>
                </a:ext>
              </a:extLst>
            </p:cNvPr>
            <p:cNvSpPr/>
            <p:nvPr/>
          </p:nvSpPr>
          <p:spPr>
            <a:xfrm>
              <a:off x="7269480" y="1216152"/>
              <a:ext cx="150876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A34ABC-94BD-98DB-DAF3-A688C275B963}"/>
                </a:ext>
              </a:extLst>
            </p:cNvPr>
            <p:cNvSpPr txBox="1"/>
            <p:nvPr/>
          </p:nvSpPr>
          <p:spPr>
            <a:xfrm>
              <a:off x="7269480" y="1216152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68277E-4F33-4A7F-5C34-B6A9E69688ED}"/>
                </a:ext>
              </a:extLst>
            </p:cNvPr>
            <p:cNvSpPr/>
            <p:nvPr/>
          </p:nvSpPr>
          <p:spPr>
            <a:xfrm>
              <a:off x="8823960" y="1216152"/>
              <a:ext cx="150876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63BDC4-7B8C-39C9-48A3-7DEF1E76CCEB}"/>
                </a:ext>
              </a:extLst>
            </p:cNvPr>
            <p:cNvSpPr txBox="1"/>
            <p:nvPr/>
          </p:nvSpPr>
          <p:spPr>
            <a:xfrm>
              <a:off x="8823960" y="1216152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40F377-3C82-0ADC-F8A5-6ED7DFCE60A9}"/>
                </a:ext>
              </a:extLst>
            </p:cNvPr>
            <p:cNvSpPr/>
            <p:nvPr/>
          </p:nvSpPr>
          <p:spPr>
            <a:xfrm>
              <a:off x="10378440" y="1216152"/>
              <a:ext cx="169164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A4AA6A-C1F6-1801-D814-BCC36BCF8EC5}"/>
                </a:ext>
              </a:extLst>
            </p:cNvPr>
            <p:cNvSpPr txBox="1"/>
            <p:nvPr/>
          </p:nvSpPr>
          <p:spPr>
            <a:xfrm>
              <a:off x="10378440" y="1216152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 Only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D0AEA1-A50A-76CE-5D23-C509160DF427}"/>
                </a:ext>
              </a:extLst>
            </p:cNvPr>
            <p:cNvSpPr/>
            <p:nvPr/>
          </p:nvSpPr>
          <p:spPr>
            <a:xfrm>
              <a:off x="274320" y="1563624"/>
              <a:ext cx="141732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EC5409-95D8-0055-F5CB-571EEB2D4071}"/>
                </a:ext>
              </a:extLst>
            </p:cNvPr>
            <p:cNvSpPr txBox="1"/>
            <p:nvPr/>
          </p:nvSpPr>
          <p:spPr>
            <a:xfrm>
              <a:off x="274320" y="1563624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 (CrossAttn)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296C96D-3793-7C11-DC09-C1043C180C0B}"/>
                </a:ext>
              </a:extLst>
            </p:cNvPr>
            <p:cNvSpPr/>
            <p:nvPr/>
          </p:nvSpPr>
          <p:spPr>
            <a:xfrm>
              <a:off x="1737360" y="1563624"/>
              <a:ext cx="100584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C533DC-C235-A7F3-6D8D-05F7FEFFB55A}"/>
                </a:ext>
              </a:extLst>
            </p:cNvPr>
            <p:cNvSpPr txBox="1"/>
            <p:nvPr/>
          </p:nvSpPr>
          <p:spPr>
            <a:xfrm>
              <a:off x="1737360" y="1563624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0.8118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38FFE5-33DC-CEFD-9036-2DE159F4B17B}"/>
                </a:ext>
              </a:extLst>
            </p:cNvPr>
            <p:cNvSpPr/>
            <p:nvPr/>
          </p:nvSpPr>
          <p:spPr>
            <a:xfrm>
              <a:off x="2788920" y="1563624"/>
              <a:ext cx="137160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D70FD49-DAEF-F9DA-CFEA-3B14C2846129}"/>
                </a:ext>
              </a:extLst>
            </p:cNvPr>
            <p:cNvSpPr txBox="1"/>
            <p:nvPr/>
          </p:nvSpPr>
          <p:spPr>
            <a:xfrm>
              <a:off x="2788920" y="1563624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[0.741,0.877]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5A1E3EE-2651-9D19-DAEA-7A524A0EC4C5}"/>
                </a:ext>
              </a:extLst>
            </p:cNvPr>
            <p:cNvSpPr/>
            <p:nvPr/>
          </p:nvSpPr>
          <p:spPr>
            <a:xfrm>
              <a:off x="4206240" y="1563624"/>
              <a:ext cx="100584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4C2120-469B-E9A5-F592-24A1F4C2F6F7}"/>
                </a:ext>
              </a:extLst>
            </p:cNvPr>
            <p:cNvSpPr txBox="1"/>
            <p:nvPr/>
          </p:nvSpPr>
          <p:spPr>
            <a:xfrm>
              <a:off x="4206240" y="1563624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0.3599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66226CC-5856-E717-492C-794663F31467}"/>
                </a:ext>
              </a:extLst>
            </p:cNvPr>
            <p:cNvSpPr/>
            <p:nvPr/>
          </p:nvSpPr>
          <p:spPr>
            <a:xfrm>
              <a:off x="5257800" y="1563624"/>
              <a:ext cx="96012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815CC3-97CA-0B50-B52B-9084CCB8F81A}"/>
                </a:ext>
              </a:extLst>
            </p:cNvPr>
            <p:cNvSpPr txBox="1"/>
            <p:nvPr/>
          </p:nvSpPr>
          <p:spPr>
            <a:xfrm>
              <a:off x="5257800" y="1563624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0.2581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F3A2C3-8DB3-482A-4482-7BE4933D821D}"/>
                </a:ext>
              </a:extLst>
            </p:cNvPr>
            <p:cNvSpPr/>
            <p:nvPr/>
          </p:nvSpPr>
          <p:spPr>
            <a:xfrm>
              <a:off x="6263640" y="1563624"/>
              <a:ext cx="96012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4A980E-A633-691B-F994-7F803FED9265}"/>
                </a:ext>
              </a:extLst>
            </p:cNvPr>
            <p:cNvSpPr txBox="1"/>
            <p:nvPr/>
          </p:nvSpPr>
          <p:spPr>
            <a:xfrm>
              <a:off x="6263640" y="1563624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0.3519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9A8B9E2-DC0D-1AF9-D80E-36FF5A66F43E}"/>
                </a:ext>
              </a:extLst>
            </p:cNvPr>
            <p:cNvSpPr/>
            <p:nvPr/>
          </p:nvSpPr>
          <p:spPr>
            <a:xfrm>
              <a:off x="7269480" y="1563624"/>
              <a:ext cx="150876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E01E9B-920C-BFBA-AB30-010884AE473A}"/>
                </a:ext>
              </a:extLst>
            </p:cNvPr>
            <p:cNvSpPr txBox="1"/>
            <p:nvPr/>
          </p:nvSpPr>
          <p:spPr>
            <a:xfrm>
              <a:off x="7269480" y="1563624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+0.009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CFBE188-984B-AD77-2B5B-A2B56B86DEDC}"/>
                </a:ext>
              </a:extLst>
            </p:cNvPr>
            <p:cNvSpPr/>
            <p:nvPr/>
          </p:nvSpPr>
          <p:spPr>
            <a:xfrm>
              <a:off x="8823960" y="1563624"/>
              <a:ext cx="150876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88D3860-41D4-B8F6-0764-2A2C746955AA}"/>
                </a:ext>
              </a:extLst>
            </p:cNvPr>
            <p:cNvSpPr txBox="1"/>
            <p:nvPr/>
          </p:nvSpPr>
          <p:spPr>
            <a:xfrm>
              <a:off x="8823960" y="1563624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p=0.697 ns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AD89655-C409-799A-EBA7-FCC0D335D12B}"/>
                </a:ext>
              </a:extLst>
            </p:cNvPr>
            <p:cNvSpPr/>
            <p:nvPr/>
          </p:nvSpPr>
          <p:spPr>
            <a:xfrm>
              <a:off x="10378440" y="1563624"/>
              <a:ext cx="1691640" cy="347472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3B3E7CE-7004-AE8B-448E-A6A4A0C66D25}"/>
                </a:ext>
              </a:extLst>
            </p:cNvPr>
            <p:cNvSpPr txBox="1"/>
            <p:nvPr/>
          </p:nvSpPr>
          <p:spPr>
            <a:xfrm>
              <a:off x="10378440" y="1563624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Clinic+AEC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8E7C6D3-DB7F-C3A5-48D8-32AB3D50C57C}"/>
                </a:ext>
              </a:extLst>
            </p:cNvPr>
            <p:cNvSpPr/>
            <p:nvPr/>
          </p:nvSpPr>
          <p:spPr>
            <a:xfrm>
              <a:off x="274320" y="1911095"/>
              <a:ext cx="141732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3121E46-49A9-B97F-86AA-01C800327192}"/>
                </a:ext>
              </a:extLst>
            </p:cNvPr>
            <p:cNvSpPr txBox="1"/>
            <p:nvPr/>
          </p:nvSpPr>
          <p:spPr>
            <a:xfrm>
              <a:off x="274320" y="1911095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 (Neg.Ctrl)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6496FA-F22D-174D-1A1E-BD5A865C9A9E}"/>
                </a:ext>
              </a:extLst>
            </p:cNvPr>
            <p:cNvSpPr/>
            <p:nvPr/>
          </p:nvSpPr>
          <p:spPr>
            <a:xfrm>
              <a:off x="1737360" y="1911095"/>
              <a:ext cx="100584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1261E7-80D5-168D-66D2-EDB7818ADAAD}"/>
                </a:ext>
              </a:extLst>
            </p:cNvPr>
            <p:cNvSpPr txBox="1"/>
            <p:nvPr/>
          </p:nvSpPr>
          <p:spPr>
            <a:xfrm>
              <a:off x="1737360" y="1911095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0.8059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3745D71-EB0D-B4A6-07CA-2D2E05F32EF9}"/>
                </a:ext>
              </a:extLst>
            </p:cNvPr>
            <p:cNvSpPr/>
            <p:nvPr/>
          </p:nvSpPr>
          <p:spPr>
            <a:xfrm>
              <a:off x="2788920" y="1911095"/>
              <a:ext cx="137160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88BF4B-116C-9D70-446A-EA71B320408F}"/>
                </a:ext>
              </a:extLst>
            </p:cNvPr>
            <p:cNvSpPr txBox="1"/>
            <p:nvPr/>
          </p:nvSpPr>
          <p:spPr>
            <a:xfrm>
              <a:off x="2788920" y="1911095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[0.720,0.876]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764A8C3-2E19-67A0-AAA0-E5F588D5AD12}"/>
                </a:ext>
              </a:extLst>
            </p:cNvPr>
            <p:cNvSpPr/>
            <p:nvPr/>
          </p:nvSpPr>
          <p:spPr>
            <a:xfrm>
              <a:off x="4206240" y="1911095"/>
              <a:ext cx="100584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E00A686-A382-731F-6993-3D3161851C9D}"/>
                </a:ext>
              </a:extLst>
            </p:cNvPr>
            <p:cNvSpPr txBox="1"/>
            <p:nvPr/>
          </p:nvSpPr>
          <p:spPr>
            <a:xfrm>
              <a:off x="4206240" y="1911095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0.2782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5274C40-D425-984F-74CA-1EF121DF4704}"/>
                </a:ext>
              </a:extLst>
            </p:cNvPr>
            <p:cNvSpPr/>
            <p:nvPr/>
          </p:nvSpPr>
          <p:spPr>
            <a:xfrm>
              <a:off x="5257800" y="1911095"/>
              <a:ext cx="96012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0115E7-7637-81A6-05B6-39F469B90168}"/>
                </a:ext>
              </a:extLst>
            </p:cNvPr>
            <p:cNvSpPr txBox="1"/>
            <p:nvPr/>
          </p:nvSpPr>
          <p:spPr>
            <a:xfrm>
              <a:off x="5257800" y="1911095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0.2627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27CEAC5-84FD-2522-317E-25EE2FB1277A}"/>
                </a:ext>
              </a:extLst>
            </p:cNvPr>
            <p:cNvSpPr/>
            <p:nvPr/>
          </p:nvSpPr>
          <p:spPr>
            <a:xfrm>
              <a:off x="6263640" y="1911095"/>
              <a:ext cx="96012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187E94-2204-CA26-55C7-A141633D07E7}"/>
                </a:ext>
              </a:extLst>
            </p:cNvPr>
            <p:cNvSpPr txBox="1"/>
            <p:nvPr/>
          </p:nvSpPr>
          <p:spPr>
            <a:xfrm>
              <a:off x="6263640" y="1911095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0.3704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04E76D5-F10B-00D6-EB14-92BB5394CB51}"/>
                </a:ext>
              </a:extLst>
            </p:cNvPr>
            <p:cNvSpPr/>
            <p:nvPr/>
          </p:nvSpPr>
          <p:spPr>
            <a:xfrm>
              <a:off x="7269480" y="1911095"/>
              <a:ext cx="150876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6E318B-B24A-1CC5-4692-802045A4165E}"/>
                </a:ext>
              </a:extLst>
            </p:cNvPr>
            <p:cNvSpPr txBox="1"/>
            <p:nvPr/>
          </p:nvSpPr>
          <p:spPr>
            <a:xfrm>
              <a:off x="7269480" y="1911095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83B1CFD-5E00-53C9-85FE-249F79C33BD7}"/>
                </a:ext>
              </a:extLst>
            </p:cNvPr>
            <p:cNvSpPr/>
            <p:nvPr/>
          </p:nvSpPr>
          <p:spPr>
            <a:xfrm>
              <a:off x="8823960" y="1911095"/>
              <a:ext cx="150876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2F5C0-0613-5F30-EB0B-5E3BB02A9F0B}"/>
                </a:ext>
              </a:extLst>
            </p:cNvPr>
            <p:cNvSpPr txBox="1"/>
            <p:nvPr/>
          </p:nvSpPr>
          <p:spPr>
            <a:xfrm>
              <a:off x="8823960" y="1911095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(neg ctrl)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CC22756-C4DF-C1D9-D76A-5468D2467339}"/>
                </a:ext>
              </a:extLst>
            </p:cNvPr>
            <p:cNvSpPr/>
            <p:nvPr/>
          </p:nvSpPr>
          <p:spPr>
            <a:xfrm>
              <a:off x="10378440" y="1911095"/>
              <a:ext cx="169164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8D72145-989E-B35C-0708-C53A433179F0}"/>
                </a:ext>
              </a:extLst>
            </p:cNvPr>
            <p:cNvSpPr txBox="1"/>
            <p:nvPr/>
          </p:nvSpPr>
          <p:spPr>
            <a:xfrm>
              <a:off x="10378440" y="1911095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Unmatched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2278F1B-43D9-2CF0-BD05-39F7768679E1}"/>
                </a:ext>
              </a:extLst>
            </p:cNvPr>
            <p:cNvSpPr/>
            <p:nvPr/>
          </p:nvSpPr>
          <p:spPr>
            <a:xfrm>
              <a:off x="274320" y="2258568"/>
              <a:ext cx="141732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F97862-32BC-AEB9-B3A0-EB0EE5556DC8}"/>
                </a:ext>
              </a:extLst>
            </p:cNvPr>
            <p:cNvSpPr txBox="1"/>
            <p:nvPr/>
          </p:nvSpPr>
          <p:spPr>
            <a:xfrm>
              <a:off x="274320" y="2258568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 (CrossAttn3)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4232B6D-C310-4615-ED01-4D483BA9D7D0}"/>
                </a:ext>
              </a:extLst>
            </p:cNvPr>
            <p:cNvSpPr/>
            <p:nvPr/>
          </p:nvSpPr>
          <p:spPr>
            <a:xfrm>
              <a:off x="1737360" y="2258568"/>
              <a:ext cx="100584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D8FE0DD-831D-7E6F-6BA9-943C18F5F016}"/>
                </a:ext>
              </a:extLst>
            </p:cNvPr>
            <p:cNvSpPr txBox="1"/>
            <p:nvPr/>
          </p:nvSpPr>
          <p:spPr>
            <a:xfrm>
              <a:off x="1737360" y="2258568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0.8209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FDC08BC-B580-42D6-23E1-9840E0D63B3B}"/>
                </a:ext>
              </a:extLst>
            </p:cNvPr>
            <p:cNvSpPr/>
            <p:nvPr/>
          </p:nvSpPr>
          <p:spPr>
            <a:xfrm>
              <a:off x="2788920" y="2258568"/>
              <a:ext cx="137160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FC0ADA-62E4-E3FA-F0B9-DFE7F4A36385}"/>
                </a:ext>
              </a:extLst>
            </p:cNvPr>
            <p:cNvSpPr txBox="1"/>
            <p:nvPr/>
          </p:nvSpPr>
          <p:spPr>
            <a:xfrm>
              <a:off x="2788920" y="2258568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[0.740,0.889]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A7305A0-C76D-D1CC-52A0-194803691905}"/>
                </a:ext>
              </a:extLst>
            </p:cNvPr>
            <p:cNvSpPr/>
            <p:nvPr/>
          </p:nvSpPr>
          <p:spPr>
            <a:xfrm>
              <a:off x="4206240" y="2258568"/>
              <a:ext cx="100584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842EBC2-D6B6-0C32-29C8-5A38EC398BB9}"/>
                </a:ext>
              </a:extLst>
            </p:cNvPr>
            <p:cNvSpPr txBox="1"/>
            <p:nvPr/>
          </p:nvSpPr>
          <p:spPr>
            <a:xfrm>
              <a:off x="4206240" y="2258568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0.3141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7C0E3D6-A166-0948-87E2-7E0A7731001F}"/>
                </a:ext>
              </a:extLst>
            </p:cNvPr>
            <p:cNvSpPr/>
            <p:nvPr/>
          </p:nvSpPr>
          <p:spPr>
            <a:xfrm>
              <a:off x="5257800" y="2258568"/>
              <a:ext cx="96012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48F5CB6-DEE7-F706-063B-456889441C89}"/>
                </a:ext>
              </a:extLst>
            </p:cNvPr>
            <p:cNvSpPr txBox="1"/>
            <p:nvPr/>
          </p:nvSpPr>
          <p:spPr>
            <a:xfrm>
              <a:off x="5257800" y="2258568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0.2645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7080118-9DFB-B46E-1620-03B22CA840D9}"/>
                </a:ext>
              </a:extLst>
            </p:cNvPr>
            <p:cNvSpPr/>
            <p:nvPr/>
          </p:nvSpPr>
          <p:spPr>
            <a:xfrm>
              <a:off x="6263640" y="2258568"/>
              <a:ext cx="96012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0A311F4-2F17-C3CA-4AF4-3BC276B63062}"/>
                </a:ext>
              </a:extLst>
            </p:cNvPr>
            <p:cNvSpPr txBox="1"/>
            <p:nvPr/>
          </p:nvSpPr>
          <p:spPr>
            <a:xfrm>
              <a:off x="6263640" y="2258568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0.4040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95B66F0-7F88-8FD7-51B1-F9C333261761}"/>
                </a:ext>
              </a:extLst>
            </p:cNvPr>
            <p:cNvSpPr/>
            <p:nvPr/>
          </p:nvSpPr>
          <p:spPr>
            <a:xfrm>
              <a:off x="7269480" y="2258568"/>
              <a:ext cx="150876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3800EF3-D8BA-DF19-0155-98771BC8C87F}"/>
                </a:ext>
              </a:extLst>
            </p:cNvPr>
            <p:cNvSpPr txBox="1"/>
            <p:nvPr/>
          </p:nvSpPr>
          <p:spPr>
            <a:xfrm>
              <a:off x="7269480" y="2258568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+0.018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30EC5FE6-CC8C-C342-CBE8-853EF9A12890}"/>
                </a:ext>
              </a:extLst>
            </p:cNvPr>
            <p:cNvSpPr/>
            <p:nvPr/>
          </p:nvSpPr>
          <p:spPr>
            <a:xfrm>
              <a:off x="8823960" y="2258568"/>
              <a:ext cx="150876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1D176BE-B92D-CBDA-DA1D-2DB4A0561072}"/>
                </a:ext>
              </a:extLst>
            </p:cNvPr>
            <p:cNvSpPr txBox="1"/>
            <p:nvPr/>
          </p:nvSpPr>
          <p:spPr>
            <a:xfrm>
              <a:off x="8823960" y="2258568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p=0.486 ns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1DC8FD5-8037-B59B-C5CF-FDFB78F7B99B}"/>
                </a:ext>
              </a:extLst>
            </p:cNvPr>
            <p:cNvSpPr/>
            <p:nvPr/>
          </p:nvSpPr>
          <p:spPr>
            <a:xfrm>
              <a:off x="10378440" y="2258568"/>
              <a:ext cx="1691640" cy="347472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1BCC06C-0056-FDCF-AA79-DFFB9BD73843}"/>
                </a:ext>
              </a:extLst>
            </p:cNvPr>
            <p:cNvSpPr txBox="1"/>
            <p:nvPr/>
          </p:nvSpPr>
          <p:spPr>
            <a:xfrm>
              <a:off x="10378440" y="2258568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Clinic+Scn+AEC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079B86F-6F83-9AC6-502C-5EDF50D5399D}"/>
                </a:ext>
              </a:extLst>
            </p:cNvPr>
            <p:cNvSpPr/>
            <p:nvPr/>
          </p:nvSpPr>
          <p:spPr>
            <a:xfrm>
              <a:off x="274320" y="2606040"/>
              <a:ext cx="141732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9AE1CB1-36D4-FF5B-7C2B-24E8EA62E61E}"/>
                </a:ext>
              </a:extLst>
            </p:cNvPr>
            <p:cNvSpPr txBox="1"/>
            <p:nvPr/>
          </p:nvSpPr>
          <p:spPr>
            <a:xfrm>
              <a:off x="274320" y="2606040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M4 (AECOnly)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68BCED8-1271-2239-D8D5-C4E82420F2D8}"/>
                </a:ext>
              </a:extLst>
            </p:cNvPr>
            <p:cNvSpPr/>
            <p:nvPr/>
          </p:nvSpPr>
          <p:spPr>
            <a:xfrm>
              <a:off x="1737360" y="2606040"/>
              <a:ext cx="100584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0D777BC-D50C-4E39-5130-B6123B27E562}"/>
                </a:ext>
              </a:extLst>
            </p:cNvPr>
            <p:cNvSpPr txBox="1"/>
            <p:nvPr/>
          </p:nvSpPr>
          <p:spPr>
            <a:xfrm>
              <a:off x="1737360" y="2606040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0.5856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F4AE22D-F8F5-5BD5-FB27-58B9C0F3B6AE}"/>
                </a:ext>
              </a:extLst>
            </p:cNvPr>
            <p:cNvSpPr/>
            <p:nvPr/>
          </p:nvSpPr>
          <p:spPr>
            <a:xfrm>
              <a:off x="2788920" y="2606040"/>
              <a:ext cx="137160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66EC7A4-93B1-52E9-5788-611936D076D7}"/>
                </a:ext>
              </a:extLst>
            </p:cNvPr>
            <p:cNvSpPr txBox="1"/>
            <p:nvPr/>
          </p:nvSpPr>
          <p:spPr>
            <a:xfrm>
              <a:off x="2788920" y="2606040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[0.454,0.711]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A498A42-21B3-0A88-9F56-D56B594C945C}"/>
                </a:ext>
              </a:extLst>
            </p:cNvPr>
            <p:cNvSpPr/>
            <p:nvPr/>
          </p:nvSpPr>
          <p:spPr>
            <a:xfrm>
              <a:off x="4206240" y="2606040"/>
              <a:ext cx="100584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21B5618-38D9-77FC-2574-B4FB93DA50B9}"/>
                </a:ext>
              </a:extLst>
            </p:cNvPr>
            <p:cNvSpPr txBox="1"/>
            <p:nvPr/>
          </p:nvSpPr>
          <p:spPr>
            <a:xfrm>
              <a:off x="4206240" y="2606040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0.1882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015DE70-3E11-5410-849E-909EBF30B1E3}"/>
                </a:ext>
              </a:extLst>
            </p:cNvPr>
            <p:cNvSpPr/>
            <p:nvPr/>
          </p:nvSpPr>
          <p:spPr>
            <a:xfrm>
              <a:off x="5257800" y="2606040"/>
              <a:ext cx="96012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592F3F2-BB92-AC6C-58DD-3F12F5A4BD3D}"/>
                </a:ext>
              </a:extLst>
            </p:cNvPr>
            <p:cNvSpPr txBox="1"/>
            <p:nvPr/>
          </p:nvSpPr>
          <p:spPr>
            <a:xfrm>
              <a:off x="5257800" y="2606040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0.3041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A21B16F-9A84-446A-EB74-8EE02D3333D2}"/>
                </a:ext>
              </a:extLst>
            </p:cNvPr>
            <p:cNvSpPr/>
            <p:nvPr/>
          </p:nvSpPr>
          <p:spPr>
            <a:xfrm>
              <a:off x="6263640" y="2606040"/>
              <a:ext cx="96012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8F4A44D-94FC-58C9-A51C-1493D187BCC4}"/>
                </a:ext>
              </a:extLst>
            </p:cNvPr>
            <p:cNvSpPr txBox="1"/>
            <p:nvPr/>
          </p:nvSpPr>
          <p:spPr>
            <a:xfrm>
              <a:off x="6263640" y="2606040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0.2157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ACC42B0-C479-3747-5797-55802ED992CA}"/>
                </a:ext>
              </a:extLst>
            </p:cNvPr>
            <p:cNvSpPr/>
            <p:nvPr/>
          </p:nvSpPr>
          <p:spPr>
            <a:xfrm>
              <a:off x="7269480" y="2606040"/>
              <a:ext cx="150876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200A81B-686B-D5C6-9D78-C90D593652A6}"/>
                </a:ext>
              </a:extLst>
            </p:cNvPr>
            <p:cNvSpPr txBox="1"/>
            <p:nvPr/>
          </p:nvSpPr>
          <p:spPr>
            <a:xfrm>
              <a:off x="7269480" y="2606040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−0.217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422D28-A93A-CB28-0B66-0E1D859CB46E}"/>
                </a:ext>
              </a:extLst>
            </p:cNvPr>
            <p:cNvSpPr/>
            <p:nvPr/>
          </p:nvSpPr>
          <p:spPr>
            <a:xfrm>
              <a:off x="8823960" y="2606040"/>
              <a:ext cx="150876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6167CE3-9B68-ECE7-1EE5-6F6FC07DD934}"/>
                </a:ext>
              </a:extLst>
            </p:cNvPr>
            <p:cNvSpPr txBox="1"/>
            <p:nvPr/>
          </p:nvSpPr>
          <p:spPr>
            <a:xfrm>
              <a:off x="8823960" y="2606040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E8B4C"/>
                  </a:solidFill>
                  <a:latin typeface="맑은 고딕"/>
                </a:rPr>
                <a:t>p=0.006 **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86A8CB0-29F8-C10A-61FD-EEADB26D678B}"/>
                </a:ext>
              </a:extLst>
            </p:cNvPr>
            <p:cNvSpPr/>
            <p:nvPr/>
          </p:nvSpPr>
          <p:spPr>
            <a:xfrm>
              <a:off x="10378440" y="2606040"/>
              <a:ext cx="169164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61F1B22-4F84-7909-61DD-9E1F040F7FF3}"/>
                </a:ext>
              </a:extLst>
            </p:cNvPr>
            <p:cNvSpPr txBox="1"/>
            <p:nvPr/>
          </p:nvSpPr>
          <p:spPr>
            <a:xfrm>
              <a:off x="10378440" y="2606040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AEC Only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B33BB35-8FC0-11D3-05F5-C72B01138229}"/>
                </a:ext>
              </a:extLst>
            </p:cNvPr>
            <p:cNvSpPr/>
            <p:nvPr/>
          </p:nvSpPr>
          <p:spPr>
            <a:xfrm>
              <a:off x="274320" y="2953512"/>
              <a:ext cx="141732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1D23B60-18EA-9FAA-E77C-F7EABA98450A}"/>
                </a:ext>
              </a:extLst>
            </p:cNvPr>
            <p:cNvSpPr txBox="1"/>
            <p:nvPr/>
          </p:nvSpPr>
          <p:spPr>
            <a:xfrm>
              <a:off x="274320" y="2953512"/>
              <a:ext cx="14173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M5 (CrossAttn-Feat)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394F55-5FA2-69CF-AEEA-74C386517B09}"/>
                </a:ext>
              </a:extLst>
            </p:cNvPr>
            <p:cNvSpPr/>
            <p:nvPr/>
          </p:nvSpPr>
          <p:spPr>
            <a:xfrm>
              <a:off x="1737360" y="2953512"/>
              <a:ext cx="100584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86104A3-4B09-21EE-27C7-DE662AC13817}"/>
                </a:ext>
              </a:extLst>
            </p:cNvPr>
            <p:cNvSpPr txBox="1"/>
            <p:nvPr/>
          </p:nvSpPr>
          <p:spPr>
            <a:xfrm>
              <a:off x="1737360" y="2953512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0.8173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FE81B73-E45C-B9FF-50ED-F4BE1F2CF37A}"/>
                </a:ext>
              </a:extLst>
            </p:cNvPr>
            <p:cNvSpPr/>
            <p:nvPr/>
          </p:nvSpPr>
          <p:spPr>
            <a:xfrm>
              <a:off x="2788920" y="2953512"/>
              <a:ext cx="137160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E509275-B292-C84E-AF70-B206DF5D1BF5}"/>
                </a:ext>
              </a:extLst>
            </p:cNvPr>
            <p:cNvSpPr txBox="1"/>
            <p:nvPr/>
          </p:nvSpPr>
          <p:spPr>
            <a:xfrm>
              <a:off x="2788920" y="2953512"/>
              <a:ext cx="137160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[0.737,0.885]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BD0E869-E423-80DC-7682-8E653076B867}"/>
                </a:ext>
              </a:extLst>
            </p:cNvPr>
            <p:cNvSpPr/>
            <p:nvPr/>
          </p:nvSpPr>
          <p:spPr>
            <a:xfrm>
              <a:off x="4206240" y="2953512"/>
              <a:ext cx="100584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03B4185-2FD7-8656-B070-15026D30946A}"/>
                </a:ext>
              </a:extLst>
            </p:cNvPr>
            <p:cNvSpPr txBox="1"/>
            <p:nvPr/>
          </p:nvSpPr>
          <p:spPr>
            <a:xfrm>
              <a:off x="4206240" y="2953512"/>
              <a:ext cx="10058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0.3304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C675388-BA8C-0557-B17D-8581DEE113A3}"/>
                </a:ext>
              </a:extLst>
            </p:cNvPr>
            <p:cNvSpPr/>
            <p:nvPr/>
          </p:nvSpPr>
          <p:spPr>
            <a:xfrm>
              <a:off x="5257800" y="2953512"/>
              <a:ext cx="96012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3CF2EC7-603E-AB83-BEE9-B47E2953DD65}"/>
                </a:ext>
              </a:extLst>
            </p:cNvPr>
            <p:cNvSpPr txBox="1"/>
            <p:nvPr/>
          </p:nvSpPr>
          <p:spPr>
            <a:xfrm>
              <a:off x="5257800" y="2953512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0.2624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C46126A-BDE7-060C-F017-13ACB7EFE27A}"/>
                </a:ext>
              </a:extLst>
            </p:cNvPr>
            <p:cNvSpPr/>
            <p:nvPr/>
          </p:nvSpPr>
          <p:spPr>
            <a:xfrm>
              <a:off x="6263640" y="2953512"/>
              <a:ext cx="96012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4B78865-1850-44A1-4BA9-7891F089F8C2}"/>
                </a:ext>
              </a:extLst>
            </p:cNvPr>
            <p:cNvSpPr txBox="1"/>
            <p:nvPr/>
          </p:nvSpPr>
          <p:spPr>
            <a:xfrm>
              <a:off x="6263640" y="2953512"/>
              <a:ext cx="9601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0.3366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BCEBCCDB-2EFD-FCB5-D883-827F3908E63A}"/>
                </a:ext>
              </a:extLst>
            </p:cNvPr>
            <p:cNvSpPr/>
            <p:nvPr/>
          </p:nvSpPr>
          <p:spPr>
            <a:xfrm>
              <a:off x="7269480" y="2953512"/>
              <a:ext cx="150876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B81C613-D9D3-26F3-C7CF-DCA8DD5EB0E5}"/>
                </a:ext>
              </a:extLst>
            </p:cNvPr>
            <p:cNvSpPr txBox="1"/>
            <p:nvPr/>
          </p:nvSpPr>
          <p:spPr>
            <a:xfrm>
              <a:off x="7269480" y="2953512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+0.014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E2574CA-E65F-D19D-01AE-4FDDB53D9749}"/>
                </a:ext>
              </a:extLst>
            </p:cNvPr>
            <p:cNvSpPr/>
            <p:nvPr/>
          </p:nvSpPr>
          <p:spPr>
            <a:xfrm>
              <a:off x="8823960" y="2953512"/>
              <a:ext cx="150876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5B70A47-B6E2-D246-A875-903AFF36388A}"/>
                </a:ext>
              </a:extLst>
            </p:cNvPr>
            <p:cNvSpPr txBox="1"/>
            <p:nvPr/>
          </p:nvSpPr>
          <p:spPr>
            <a:xfrm>
              <a:off x="8823960" y="2953512"/>
              <a:ext cx="15087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p=0.347 ns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BBE598E-7022-8EB4-CAC4-BABA370AAFCC}"/>
                </a:ext>
              </a:extLst>
            </p:cNvPr>
            <p:cNvSpPr/>
            <p:nvPr/>
          </p:nvSpPr>
          <p:spPr>
            <a:xfrm>
              <a:off x="10378440" y="2953512"/>
              <a:ext cx="1691640" cy="347472"/>
            </a:xfrm>
            <a:prstGeom prst="rect">
              <a:avLst/>
            </a:prstGeom>
            <a:solidFill>
              <a:srgbClr val="E8F8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CC631CC-8B3C-ECB0-F8C6-B7554D8EEE11}"/>
                </a:ext>
              </a:extLst>
            </p:cNvPr>
            <p:cNvSpPr txBox="1"/>
            <p:nvPr/>
          </p:nvSpPr>
          <p:spPr>
            <a:xfrm>
              <a:off x="10378440" y="2953512"/>
              <a:ext cx="16916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Clinic+AEC-Feat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F48C5C09-BA6C-B9DA-2F45-BB3A2F52F674}"/>
              </a:ext>
            </a:extLst>
          </p:cNvPr>
          <p:cNvGrpSpPr/>
          <p:nvPr/>
        </p:nvGrpSpPr>
        <p:grpSpPr>
          <a:xfrm>
            <a:off x="508000" y="4135509"/>
            <a:ext cx="4168503" cy="2030159"/>
            <a:chOff x="508000" y="4057132"/>
            <a:chExt cx="4168503" cy="2030159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FD690E31-3D9B-8C41-B878-884EFABCF800}"/>
                </a:ext>
              </a:extLst>
            </p:cNvPr>
            <p:cNvGrpSpPr/>
            <p:nvPr/>
          </p:nvGrpSpPr>
          <p:grpSpPr>
            <a:xfrm>
              <a:off x="508000" y="4057132"/>
              <a:ext cx="4168503" cy="2030159"/>
              <a:chOff x="508000" y="4057132"/>
              <a:chExt cx="4168503" cy="2361086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3F6EAED7-DE5A-A03C-13F0-7696144590B4}"/>
                  </a:ext>
                </a:extLst>
              </p:cNvPr>
              <p:cNvSpPr/>
              <p:nvPr/>
            </p:nvSpPr>
            <p:spPr>
              <a:xfrm>
                <a:off x="508000" y="4057132"/>
                <a:ext cx="4168503" cy="2361086"/>
              </a:xfrm>
              <a:prstGeom prst="rect">
                <a:avLst/>
              </a:prstGeom>
              <a:solidFill>
                <a:srgbClr val="E8F8E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5B64648-1DD2-B3B7-062D-44B44D97349D}"/>
                  </a:ext>
                </a:extLst>
              </p:cNvPr>
              <p:cNvSpPr/>
              <p:nvPr/>
            </p:nvSpPr>
            <p:spPr>
              <a:xfrm>
                <a:off x="508000" y="4057132"/>
                <a:ext cx="91440" cy="2361086"/>
              </a:xfrm>
              <a:prstGeom prst="rect">
                <a:avLst/>
              </a:prstGeom>
              <a:solidFill>
                <a:srgbClr val="1E8B4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159A97E-8A1E-6BFE-A0AC-C9D4F91E6EB8}"/>
                </a:ext>
              </a:extLst>
            </p:cNvPr>
            <p:cNvSpPr txBox="1"/>
            <p:nvPr/>
          </p:nvSpPr>
          <p:spPr>
            <a:xfrm>
              <a:off x="690880" y="4113516"/>
              <a:ext cx="3383280" cy="2255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1E8B4C"/>
                  </a:solidFill>
                  <a:latin typeface="맑은 고딕"/>
                </a:rPr>
                <a:t>비교 핵심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BFA678C-CC09-B97E-6824-EB17A0D64498}"/>
                </a:ext>
              </a:extLst>
            </p:cNvPr>
            <p:cNvSpPr txBox="1"/>
            <p:nvPr/>
          </p:nvSpPr>
          <p:spPr>
            <a:xfrm>
              <a:off x="690880" y="4402485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M1→M2 norm: Δ AUC +0.009, p=0.697 ns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C0DF424-6DD0-9158-A8DF-EF96499A616D}"/>
                </a:ext>
              </a:extLst>
            </p:cNvPr>
            <p:cNvSpPr txBox="1"/>
            <p:nvPr/>
          </p:nvSpPr>
          <p:spPr>
            <a:xfrm>
              <a:off x="690880" y="4670310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M1→M3 norm: Δ AUC +0.018, p=0.486 ns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6A5C161-9A3B-AC56-F05D-B104AF5393B5}"/>
                </a:ext>
              </a:extLst>
            </p:cNvPr>
            <p:cNvSpPr txBox="1"/>
            <p:nvPr/>
          </p:nvSpPr>
          <p:spPr>
            <a:xfrm>
              <a:off x="690880" y="4938134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M5(AEC-Feat) norm: AUC=0.817, p=0.347 ns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A106B7B-1518-C9FE-4E9F-87DA27C974D3}"/>
                </a:ext>
              </a:extLst>
            </p:cNvPr>
            <p:cNvSpPr txBox="1"/>
            <p:nvPr/>
          </p:nvSpPr>
          <p:spPr>
            <a:xfrm>
              <a:off x="690880" y="5205959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M2 norm(0.812) vs M2_2(0.806) Δ=+0.006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354C62E-6DD1-8244-2DE0-A2A563C23072}"/>
                </a:ext>
              </a:extLst>
            </p:cNvPr>
            <p:cNvSpPr txBox="1"/>
            <p:nvPr/>
          </p:nvSpPr>
          <p:spPr>
            <a:xfrm>
              <a:off x="690880" y="5473784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M4 AEC Only (raw): AUC=0.586 — 임상 없이 한계 확인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0836922-9540-6DB5-306D-4A84818A104E}"/>
                </a:ext>
              </a:extLst>
            </p:cNvPr>
            <p:cNvSpPr txBox="1"/>
            <p:nvPr/>
          </p:nvSpPr>
          <p:spPr>
            <a:xfrm>
              <a:off x="690880" y="5741608"/>
              <a:ext cx="3383280" cy="2537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여성 AUC: M1(0.848)→M3(0.861) 개선</a:t>
              </a:r>
            </a:p>
          </p:txBody>
        </p:sp>
      </p:grpSp>
      <p:pic>
        <p:nvPicPr>
          <p:cNvPr id="144" name="Picture 143" descr="calibration_.png">
            <a:extLst>
              <a:ext uri="{FF2B5EF4-FFF2-40B4-BE49-F238E27FC236}">
                <a16:creationId xmlns:a16="http://schemas.microsoft.com/office/drawing/2014/main" id="{EBEAC409-9358-DB91-1BA8-8DE15A2FA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035" y="4031231"/>
            <a:ext cx="6492965" cy="23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28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62DB-1AC1-75FC-C94C-3EF0D156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22644-CC90-80A5-D225-92540962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CA3C0-FB43-24FD-4E0F-BA2A626E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32" name="Rectangle 4">
            <a:extLst>
              <a:ext uri="{FF2B5EF4-FFF2-40B4-BE49-F238E27FC236}">
                <a16:creationId xmlns:a16="http://schemas.microsoft.com/office/drawing/2014/main" id="{A0E6E7CC-78C4-B097-427D-6FBCDB13CC0C}"/>
              </a:ext>
            </a:extLst>
          </p:cNvPr>
          <p:cNvSpPr/>
          <p:nvPr/>
        </p:nvSpPr>
        <p:spPr>
          <a:xfrm>
            <a:off x="274320" y="1018902"/>
            <a:ext cx="5120640" cy="372011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48667CD-4B36-F887-1882-141D4E077C24}"/>
              </a:ext>
            </a:extLst>
          </p:cNvPr>
          <p:cNvSpPr txBox="1"/>
          <p:nvPr/>
        </p:nvSpPr>
        <p:spPr>
          <a:xfrm>
            <a:off x="457200" y="1102757"/>
            <a:ext cx="47548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Test Set 성능  (3 전처리 조건)</a:t>
            </a:r>
          </a:p>
        </p:txBody>
      </p:sp>
      <p:sp>
        <p:nvSpPr>
          <p:cNvPr id="143" name="Rectangle 6">
            <a:extLst>
              <a:ext uri="{FF2B5EF4-FFF2-40B4-BE49-F238E27FC236}">
                <a16:creationId xmlns:a16="http://schemas.microsoft.com/office/drawing/2014/main" id="{B7E7FBAE-7B89-19E7-DD29-28F77BC3ACD4}"/>
              </a:ext>
            </a:extLst>
          </p:cNvPr>
          <p:cNvSpPr/>
          <p:nvPr/>
        </p:nvSpPr>
        <p:spPr>
          <a:xfrm>
            <a:off x="457200" y="1422797"/>
            <a:ext cx="475488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00807381-2DA5-8099-304E-65231B417131}"/>
              </a:ext>
            </a:extLst>
          </p:cNvPr>
          <p:cNvGrpSpPr/>
          <p:nvPr/>
        </p:nvGrpSpPr>
        <p:grpSpPr>
          <a:xfrm>
            <a:off x="457200" y="1468517"/>
            <a:ext cx="4754880" cy="1335024"/>
            <a:chOff x="411480" y="1545336"/>
            <a:chExt cx="4983480" cy="1335024"/>
          </a:xfrm>
        </p:grpSpPr>
        <p:sp>
          <p:nvSpPr>
            <p:cNvPr id="145" name="Rectangle 7">
              <a:extLst>
                <a:ext uri="{FF2B5EF4-FFF2-40B4-BE49-F238E27FC236}">
                  <a16:creationId xmlns:a16="http://schemas.microsoft.com/office/drawing/2014/main" id="{A033B19C-074B-D4B0-9337-9934857A5600}"/>
                </a:ext>
              </a:extLst>
            </p:cNvPr>
            <p:cNvSpPr/>
            <p:nvPr/>
          </p:nvSpPr>
          <p:spPr>
            <a:xfrm>
              <a:off x="411480" y="1545336"/>
              <a:ext cx="10972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6D22DDD-EC82-DE3C-0653-D385CCD4A463}"/>
                </a:ext>
              </a:extLst>
            </p:cNvPr>
            <p:cNvSpPr txBox="1"/>
            <p:nvPr/>
          </p:nvSpPr>
          <p:spPr>
            <a:xfrm>
              <a:off x="411480" y="1545336"/>
              <a:ext cx="10972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조건</a:t>
              </a:r>
            </a:p>
          </p:txBody>
        </p:sp>
        <p:sp>
          <p:nvSpPr>
            <p:cNvPr id="149" name="Rectangle 9">
              <a:extLst>
                <a:ext uri="{FF2B5EF4-FFF2-40B4-BE49-F238E27FC236}">
                  <a16:creationId xmlns:a16="http://schemas.microsoft.com/office/drawing/2014/main" id="{4EE67B73-7705-53F4-DDB4-05EE7FC7DCF5}"/>
                </a:ext>
              </a:extLst>
            </p:cNvPr>
            <p:cNvSpPr/>
            <p:nvPr/>
          </p:nvSpPr>
          <p:spPr>
            <a:xfrm>
              <a:off x="1554480" y="1545336"/>
              <a:ext cx="8229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2CB1EB0-FFB4-4FC9-1AF2-9B6FE64F0CA5}"/>
                </a:ext>
              </a:extLst>
            </p:cNvPr>
            <p:cNvSpPr txBox="1"/>
            <p:nvPr/>
          </p:nvSpPr>
          <p:spPr>
            <a:xfrm>
              <a:off x="1554480" y="1545336"/>
              <a:ext cx="8229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</a:t>
              </a:r>
            </a:p>
          </p:txBody>
        </p:sp>
        <p:sp>
          <p:nvSpPr>
            <p:cNvPr id="151" name="Rectangle 11">
              <a:extLst>
                <a:ext uri="{FF2B5EF4-FFF2-40B4-BE49-F238E27FC236}">
                  <a16:creationId xmlns:a16="http://schemas.microsoft.com/office/drawing/2014/main" id="{9B7D7186-83EA-5718-FCCF-8C1734788D7B}"/>
                </a:ext>
              </a:extLst>
            </p:cNvPr>
            <p:cNvSpPr/>
            <p:nvPr/>
          </p:nvSpPr>
          <p:spPr>
            <a:xfrm>
              <a:off x="2423160" y="1545336"/>
              <a:ext cx="77724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8F0F999-02BD-D7E4-5A72-9514974CE737}"/>
                </a:ext>
              </a:extLst>
            </p:cNvPr>
            <p:cNvSpPr txBox="1"/>
            <p:nvPr/>
          </p:nvSpPr>
          <p:spPr>
            <a:xfrm>
              <a:off x="2423160" y="1545336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53" name="Rectangle 13">
              <a:extLst>
                <a:ext uri="{FF2B5EF4-FFF2-40B4-BE49-F238E27FC236}">
                  <a16:creationId xmlns:a16="http://schemas.microsoft.com/office/drawing/2014/main" id="{ED98C748-5F61-6722-3D38-F798ACD98A30}"/>
                </a:ext>
              </a:extLst>
            </p:cNvPr>
            <p:cNvSpPr/>
            <p:nvPr/>
          </p:nvSpPr>
          <p:spPr>
            <a:xfrm>
              <a:off x="3246120" y="1545336"/>
              <a:ext cx="77724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C6F55D6-107B-8DC5-2697-0A9AC3196D64}"/>
                </a:ext>
              </a:extLst>
            </p:cNvPr>
            <p:cNvSpPr txBox="1"/>
            <p:nvPr/>
          </p:nvSpPr>
          <p:spPr>
            <a:xfrm>
              <a:off x="3246120" y="1545336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155" name="Rectangle 15">
              <a:extLst>
                <a:ext uri="{FF2B5EF4-FFF2-40B4-BE49-F238E27FC236}">
                  <a16:creationId xmlns:a16="http://schemas.microsoft.com/office/drawing/2014/main" id="{79D888E3-AE52-1859-147B-0CDA830E8EEE}"/>
                </a:ext>
              </a:extLst>
            </p:cNvPr>
            <p:cNvSpPr/>
            <p:nvPr/>
          </p:nvSpPr>
          <p:spPr>
            <a:xfrm>
              <a:off x="4069080" y="1545336"/>
              <a:ext cx="7315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7507F37-1A27-3459-1177-F0F8FF68DE12}"/>
                </a:ext>
              </a:extLst>
            </p:cNvPr>
            <p:cNvSpPr txBox="1"/>
            <p:nvPr/>
          </p:nvSpPr>
          <p:spPr>
            <a:xfrm>
              <a:off x="4069080" y="1545336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Acc</a:t>
              </a:r>
            </a:p>
          </p:txBody>
        </p:sp>
        <p:sp>
          <p:nvSpPr>
            <p:cNvPr id="157" name="Rectangle 17">
              <a:extLst>
                <a:ext uri="{FF2B5EF4-FFF2-40B4-BE49-F238E27FC236}">
                  <a16:creationId xmlns:a16="http://schemas.microsoft.com/office/drawing/2014/main" id="{26682EA4-5A44-092E-0212-FEA9D5D02819}"/>
                </a:ext>
              </a:extLst>
            </p:cNvPr>
            <p:cNvSpPr/>
            <p:nvPr/>
          </p:nvSpPr>
          <p:spPr>
            <a:xfrm>
              <a:off x="4800600" y="1545336"/>
              <a:ext cx="5943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149196C-11DB-182E-3BFE-2A50660DA0E8}"/>
                </a:ext>
              </a:extLst>
            </p:cNvPr>
            <p:cNvSpPr txBox="1"/>
            <p:nvPr/>
          </p:nvSpPr>
          <p:spPr>
            <a:xfrm>
              <a:off x="4800600" y="1545336"/>
              <a:ext cx="5943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59" name="Rectangle 19">
              <a:extLst>
                <a:ext uri="{FF2B5EF4-FFF2-40B4-BE49-F238E27FC236}">
                  <a16:creationId xmlns:a16="http://schemas.microsoft.com/office/drawing/2014/main" id="{B916B8E2-8258-0FA0-723D-A4E66619B536}"/>
                </a:ext>
              </a:extLst>
            </p:cNvPr>
            <p:cNvSpPr/>
            <p:nvPr/>
          </p:nvSpPr>
          <p:spPr>
            <a:xfrm>
              <a:off x="411480" y="1837944"/>
              <a:ext cx="109728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3145CFD-816C-7371-93F4-80BB231A1DC8}"/>
                </a:ext>
              </a:extLst>
            </p:cNvPr>
            <p:cNvSpPr txBox="1"/>
            <p:nvPr/>
          </p:nvSpPr>
          <p:spPr>
            <a:xfrm>
              <a:off x="411480" y="1837944"/>
              <a:ext cx="1097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raw</a:t>
              </a:r>
            </a:p>
          </p:txBody>
        </p:sp>
        <p:sp>
          <p:nvSpPr>
            <p:cNvPr id="161" name="Rectangle 21">
              <a:extLst>
                <a:ext uri="{FF2B5EF4-FFF2-40B4-BE49-F238E27FC236}">
                  <a16:creationId xmlns:a16="http://schemas.microsoft.com/office/drawing/2014/main" id="{20348190-302D-D747-6212-CC0A1539A359}"/>
                </a:ext>
              </a:extLst>
            </p:cNvPr>
            <p:cNvSpPr/>
            <p:nvPr/>
          </p:nvSpPr>
          <p:spPr>
            <a:xfrm>
              <a:off x="1554480" y="1837944"/>
              <a:ext cx="82296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452DB9F-C9D9-A792-FA8F-669CA49FCA6A}"/>
                </a:ext>
              </a:extLst>
            </p:cNvPr>
            <p:cNvSpPr txBox="1"/>
            <p:nvPr/>
          </p:nvSpPr>
          <p:spPr>
            <a:xfrm>
              <a:off x="1554480" y="1837944"/>
              <a:ext cx="8229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0.5856</a:t>
              </a:r>
            </a:p>
          </p:txBody>
        </p:sp>
        <p:sp>
          <p:nvSpPr>
            <p:cNvPr id="163" name="Rectangle 23">
              <a:extLst>
                <a:ext uri="{FF2B5EF4-FFF2-40B4-BE49-F238E27FC236}">
                  <a16:creationId xmlns:a16="http://schemas.microsoft.com/office/drawing/2014/main" id="{8D8A0CB8-C306-BE9D-82A6-38BE052ED8A5}"/>
                </a:ext>
              </a:extLst>
            </p:cNvPr>
            <p:cNvSpPr/>
            <p:nvPr/>
          </p:nvSpPr>
          <p:spPr>
            <a:xfrm>
              <a:off x="2423160" y="1837944"/>
              <a:ext cx="77724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DA24771-2FCE-48E2-9AE3-1251EB27B8FA}"/>
                </a:ext>
              </a:extLst>
            </p:cNvPr>
            <p:cNvSpPr txBox="1"/>
            <p:nvPr/>
          </p:nvSpPr>
          <p:spPr>
            <a:xfrm>
              <a:off x="2423160" y="1837944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0.1882</a:t>
              </a:r>
            </a:p>
          </p:txBody>
        </p:sp>
        <p:sp>
          <p:nvSpPr>
            <p:cNvPr id="165" name="Rectangle 25">
              <a:extLst>
                <a:ext uri="{FF2B5EF4-FFF2-40B4-BE49-F238E27FC236}">
                  <a16:creationId xmlns:a16="http://schemas.microsoft.com/office/drawing/2014/main" id="{C4F0BC2E-B81A-B0F7-6E0C-51306B99A826}"/>
                </a:ext>
              </a:extLst>
            </p:cNvPr>
            <p:cNvSpPr/>
            <p:nvPr/>
          </p:nvSpPr>
          <p:spPr>
            <a:xfrm>
              <a:off x="3246120" y="1837944"/>
              <a:ext cx="77724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EA0215F-E092-726C-6246-6017F5C87BFE}"/>
                </a:ext>
              </a:extLst>
            </p:cNvPr>
            <p:cNvSpPr txBox="1"/>
            <p:nvPr/>
          </p:nvSpPr>
          <p:spPr>
            <a:xfrm>
              <a:off x="3246120" y="1837944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0.3041</a:t>
              </a:r>
            </a:p>
          </p:txBody>
        </p:sp>
        <p:sp>
          <p:nvSpPr>
            <p:cNvPr id="167" name="Rectangle 27">
              <a:extLst>
                <a:ext uri="{FF2B5EF4-FFF2-40B4-BE49-F238E27FC236}">
                  <a16:creationId xmlns:a16="http://schemas.microsoft.com/office/drawing/2014/main" id="{45097986-605A-D7A7-B64E-5FB2DB407A80}"/>
                </a:ext>
              </a:extLst>
            </p:cNvPr>
            <p:cNvSpPr/>
            <p:nvPr/>
          </p:nvSpPr>
          <p:spPr>
            <a:xfrm>
              <a:off x="4069080" y="1837944"/>
              <a:ext cx="73152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B2CE244-B5E3-BCB9-5A47-9EAEFBCBFBA2}"/>
                </a:ext>
              </a:extLst>
            </p:cNvPr>
            <p:cNvSpPr txBox="1"/>
            <p:nvPr/>
          </p:nvSpPr>
          <p:spPr>
            <a:xfrm>
              <a:off x="4069080" y="1837944"/>
              <a:ext cx="7315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0.6507</a:t>
              </a:r>
            </a:p>
          </p:txBody>
        </p:sp>
        <p:sp>
          <p:nvSpPr>
            <p:cNvPr id="169" name="Rectangle 29">
              <a:extLst>
                <a:ext uri="{FF2B5EF4-FFF2-40B4-BE49-F238E27FC236}">
                  <a16:creationId xmlns:a16="http://schemas.microsoft.com/office/drawing/2014/main" id="{3BE56F4C-93D6-C3BB-4B55-195A8552A953}"/>
                </a:ext>
              </a:extLst>
            </p:cNvPr>
            <p:cNvSpPr/>
            <p:nvPr/>
          </p:nvSpPr>
          <p:spPr>
            <a:xfrm>
              <a:off x="4800600" y="1837944"/>
              <a:ext cx="59436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559F551-5BE6-E447-F51F-B87EB5805F8A}"/>
                </a:ext>
              </a:extLst>
            </p:cNvPr>
            <p:cNvSpPr txBox="1"/>
            <p:nvPr/>
          </p:nvSpPr>
          <p:spPr>
            <a:xfrm>
              <a:off x="4800600" y="1837944"/>
              <a:ext cx="5943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0.2157</a:t>
              </a:r>
            </a:p>
          </p:txBody>
        </p:sp>
        <p:sp>
          <p:nvSpPr>
            <p:cNvPr id="171" name="Rectangle 31">
              <a:extLst>
                <a:ext uri="{FF2B5EF4-FFF2-40B4-BE49-F238E27FC236}">
                  <a16:creationId xmlns:a16="http://schemas.microsoft.com/office/drawing/2014/main" id="{E03F670A-F7A2-95C4-9E57-9996C3522ED0}"/>
                </a:ext>
              </a:extLst>
            </p:cNvPr>
            <p:cNvSpPr/>
            <p:nvPr/>
          </p:nvSpPr>
          <p:spPr>
            <a:xfrm>
              <a:off x="411480" y="2185416"/>
              <a:ext cx="109728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B047D3B-D41E-3666-EACA-E2B055036838}"/>
                </a:ext>
              </a:extLst>
            </p:cNvPr>
            <p:cNvSpPr txBox="1"/>
            <p:nvPr/>
          </p:nvSpPr>
          <p:spPr>
            <a:xfrm>
              <a:off x="411480" y="2185416"/>
              <a:ext cx="1097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norm</a:t>
              </a:r>
            </a:p>
          </p:txBody>
        </p:sp>
        <p:sp>
          <p:nvSpPr>
            <p:cNvPr id="173" name="Rectangle 33">
              <a:extLst>
                <a:ext uri="{FF2B5EF4-FFF2-40B4-BE49-F238E27FC236}">
                  <a16:creationId xmlns:a16="http://schemas.microsoft.com/office/drawing/2014/main" id="{4BE2ADA4-4A7A-CDA2-FFBF-6B14B8469112}"/>
                </a:ext>
              </a:extLst>
            </p:cNvPr>
            <p:cNvSpPr/>
            <p:nvPr/>
          </p:nvSpPr>
          <p:spPr>
            <a:xfrm>
              <a:off x="1554480" y="2185416"/>
              <a:ext cx="82296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57B40B9-FED7-F7FA-A6DB-6B3C64160E8D}"/>
                </a:ext>
              </a:extLst>
            </p:cNvPr>
            <p:cNvSpPr txBox="1"/>
            <p:nvPr/>
          </p:nvSpPr>
          <p:spPr>
            <a:xfrm>
              <a:off x="1554480" y="2185416"/>
              <a:ext cx="8229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0.5386</a:t>
              </a:r>
            </a:p>
          </p:txBody>
        </p:sp>
        <p:sp>
          <p:nvSpPr>
            <p:cNvPr id="175" name="Rectangle 35">
              <a:extLst>
                <a:ext uri="{FF2B5EF4-FFF2-40B4-BE49-F238E27FC236}">
                  <a16:creationId xmlns:a16="http://schemas.microsoft.com/office/drawing/2014/main" id="{C793ADC9-1365-83B9-A48B-3009FF87B268}"/>
                </a:ext>
              </a:extLst>
            </p:cNvPr>
            <p:cNvSpPr/>
            <p:nvPr/>
          </p:nvSpPr>
          <p:spPr>
            <a:xfrm>
              <a:off x="2423160" y="2185416"/>
              <a:ext cx="77724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7E7E0229-9C7D-E11D-32D7-8C108EC197CC}"/>
                </a:ext>
              </a:extLst>
            </p:cNvPr>
            <p:cNvSpPr txBox="1"/>
            <p:nvPr/>
          </p:nvSpPr>
          <p:spPr>
            <a:xfrm>
              <a:off x="2423160" y="2185416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0.1490</a:t>
              </a:r>
            </a:p>
          </p:txBody>
        </p:sp>
        <p:sp>
          <p:nvSpPr>
            <p:cNvPr id="177" name="Rectangle 37">
              <a:extLst>
                <a:ext uri="{FF2B5EF4-FFF2-40B4-BE49-F238E27FC236}">
                  <a16:creationId xmlns:a16="http://schemas.microsoft.com/office/drawing/2014/main" id="{643E92D8-CD8B-A602-14FA-391B919E79B3}"/>
                </a:ext>
              </a:extLst>
            </p:cNvPr>
            <p:cNvSpPr/>
            <p:nvPr/>
          </p:nvSpPr>
          <p:spPr>
            <a:xfrm>
              <a:off x="3246120" y="2185416"/>
              <a:ext cx="77724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A8CCB46-2BAF-B040-4813-B0DABF787A26}"/>
                </a:ext>
              </a:extLst>
            </p:cNvPr>
            <p:cNvSpPr txBox="1"/>
            <p:nvPr/>
          </p:nvSpPr>
          <p:spPr>
            <a:xfrm>
              <a:off x="3246120" y="2185416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0.2529</a:t>
              </a:r>
            </a:p>
          </p:txBody>
        </p:sp>
        <p:sp>
          <p:nvSpPr>
            <p:cNvPr id="179" name="Rectangle 39">
              <a:extLst>
                <a:ext uri="{FF2B5EF4-FFF2-40B4-BE49-F238E27FC236}">
                  <a16:creationId xmlns:a16="http://schemas.microsoft.com/office/drawing/2014/main" id="{58A139A2-1DBC-43B7-D1AB-299C6A92229D}"/>
                </a:ext>
              </a:extLst>
            </p:cNvPr>
            <p:cNvSpPr/>
            <p:nvPr/>
          </p:nvSpPr>
          <p:spPr>
            <a:xfrm>
              <a:off x="4069080" y="2185416"/>
              <a:ext cx="73152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802E1AD3-FC38-2C2C-4AE7-8F9441375B0E}"/>
                </a:ext>
              </a:extLst>
            </p:cNvPr>
            <p:cNvSpPr txBox="1"/>
            <p:nvPr/>
          </p:nvSpPr>
          <p:spPr>
            <a:xfrm>
              <a:off x="4069080" y="2185416"/>
              <a:ext cx="7315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0.8952</a:t>
              </a:r>
            </a:p>
          </p:txBody>
        </p:sp>
        <p:sp>
          <p:nvSpPr>
            <p:cNvPr id="181" name="Rectangle 41">
              <a:extLst>
                <a:ext uri="{FF2B5EF4-FFF2-40B4-BE49-F238E27FC236}">
                  <a16:creationId xmlns:a16="http://schemas.microsoft.com/office/drawing/2014/main" id="{F5D8583C-1A5A-7F66-970B-30B229630D7D}"/>
                </a:ext>
              </a:extLst>
            </p:cNvPr>
            <p:cNvSpPr/>
            <p:nvPr/>
          </p:nvSpPr>
          <p:spPr>
            <a:xfrm>
              <a:off x="4800600" y="2185416"/>
              <a:ext cx="594360" cy="34747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FDEDA5B-ECA2-53E2-7BCD-80337BAB121B}"/>
                </a:ext>
              </a:extLst>
            </p:cNvPr>
            <p:cNvSpPr txBox="1"/>
            <p:nvPr/>
          </p:nvSpPr>
          <p:spPr>
            <a:xfrm>
              <a:off x="4800600" y="2185416"/>
              <a:ext cx="5943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0.0000</a:t>
              </a:r>
            </a:p>
          </p:txBody>
        </p:sp>
        <p:sp>
          <p:nvSpPr>
            <p:cNvPr id="183" name="Rectangle 43">
              <a:extLst>
                <a:ext uri="{FF2B5EF4-FFF2-40B4-BE49-F238E27FC236}">
                  <a16:creationId xmlns:a16="http://schemas.microsoft.com/office/drawing/2014/main" id="{43C73A37-44C4-DA43-0DA5-603705E9DDFD}"/>
                </a:ext>
              </a:extLst>
            </p:cNvPr>
            <p:cNvSpPr/>
            <p:nvPr/>
          </p:nvSpPr>
          <p:spPr>
            <a:xfrm>
              <a:off x="411480" y="2532888"/>
              <a:ext cx="109728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AC03C389-2A77-DFFC-F677-EF580B1E35A2}"/>
                </a:ext>
              </a:extLst>
            </p:cNvPr>
            <p:cNvSpPr txBox="1"/>
            <p:nvPr/>
          </p:nvSpPr>
          <p:spPr>
            <a:xfrm>
              <a:off x="411480" y="2532888"/>
              <a:ext cx="1097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global_zscore</a:t>
              </a:r>
            </a:p>
          </p:txBody>
        </p:sp>
        <p:sp>
          <p:nvSpPr>
            <p:cNvPr id="185" name="Rectangle 45">
              <a:extLst>
                <a:ext uri="{FF2B5EF4-FFF2-40B4-BE49-F238E27FC236}">
                  <a16:creationId xmlns:a16="http://schemas.microsoft.com/office/drawing/2014/main" id="{BF880A4F-ABCE-D330-66CC-274038FD7F49}"/>
                </a:ext>
              </a:extLst>
            </p:cNvPr>
            <p:cNvSpPr/>
            <p:nvPr/>
          </p:nvSpPr>
          <p:spPr>
            <a:xfrm>
              <a:off x="1554480" y="2532888"/>
              <a:ext cx="82296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1588D91-B0AA-3993-D677-C9E18D9A7383}"/>
                </a:ext>
              </a:extLst>
            </p:cNvPr>
            <p:cNvSpPr txBox="1"/>
            <p:nvPr/>
          </p:nvSpPr>
          <p:spPr>
            <a:xfrm>
              <a:off x="1554480" y="2532888"/>
              <a:ext cx="8229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0.5785</a:t>
              </a:r>
            </a:p>
          </p:txBody>
        </p:sp>
        <p:sp>
          <p:nvSpPr>
            <p:cNvPr id="187" name="Rectangle 47">
              <a:extLst>
                <a:ext uri="{FF2B5EF4-FFF2-40B4-BE49-F238E27FC236}">
                  <a16:creationId xmlns:a16="http://schemas.microsoft.com/office/drawing/2014/main" id="{02194C71-83FE-8579-7355-098162F4D267}"/>
                </a:ext>
              </a:extLst>
            </p:cNvPr>
            <p:cNvSpPr/>
            <p:nvPr/>
          </p:nvSpPr>
          <p:spPr>
            <a:xfrm>
              <a:off x="2423160" y="2532888"/>
              <a:ext cx="77724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7BAFD55-ED3C-B809-D62B-9B51E8D22AFB}"/>
                </a:ext>
              </a:extLst>
            </p:cNvPr>
            <p:cNvSpPr txBox="1"/>
            <p:nvPr/>
          </p:nvSpPr>
          <p:spPr>
            <a:xfrm>
              <a:off x="2423160" y="2532888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0.1369</a:t>
              </a:r>
            </a:p>
          </p:txBody>
        </p:sp>
        <p:sp>
          <p:nvSpPr>
            <p:cNvPr id="189" name="Rectangle 49">
              <a:extLst>
                <a:ext uri="{FF2B5EF4-FFF2-40B4-BE49-F238E27FC236}">
                  <a16:creationId xmlns:a16="http://schemas.microsoft.com/office/drawing/2014/main" id="{E211869C-9648-0C00-1A31-29448651145F}"/>
                </a:ext>
              </a:extLst>
            </p:cNvPr>
            <p:cNvSpPr/>
            <p:nvPr/>
          </p:nvSpPr>
          <p:spPr>
            <a:xfrm>
              <a:off x="3246120" y="2532888"/>
              <a:ext cx="77724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D1C90F7-77E3-B618-E0FB-9CCFCBF176E2}"/>
                </a:ext>
              </a:extLst>
            </p:cNvPr>
            <p:cNvSpPr txBox="1"/>
            <p:nvPr/>
          </p:nvSpPr>
          <p:spPr>
            <a:xfrm>
              <a:off x="3246120" y="2532888"/>
              <a:ext cx="77724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0.2795</a:t>
              </a:r>
            </a:p>
          </p:txBody>
        </p:sp>
        <p:sp>
          <p:nvSpPr>
            <p:cNvPr id="191" name="Rectangle 51">
              <a:extLst>
                <a:ext uri="{FF2B5EF4-FFF2-40B4-BE49-F238E27FC236}">
                  <a16:creationId xmlns:a16="http://schemas.microsoft.com/office/drawing/2014/main" id="{3326E0F7-347D-6374-0567-A77AF2250E7E}"/>
                </a:ext>
              </a:extLst>
            </p:cNvPr>
            <p:cNvSpPr/>
            <p:nvPr/>
          </p:nvSpPr>
          <p:spPr>
            <a:xfrm>
              <a:off x="4069080" y="2532888"/>
              <a:ext cx="73152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C6D3954-85C9-7D45-73E2-DB7465011ABB}"/>
                </a:ext>
              </a:extLst>
            </p:cNvPr>
            <p:cNvSpPr txBox="1"/>
            <p:nvPr/>
          </p:nvSpPr>
          <p:spPr>
            <a:xfrm>
              <a:off x="4069080" y="2532888"/>
              <a:ext cx="73152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0.8952</a:t>
              </a:r>
            </a:p>
          </p:txBody>
        </p:sp>
        <p:sp>
          <p:nvSpPr>
            <p:cNvPr id="193" name="Rectangle 53">
              <a:extLst>
                <a:ext uri="{FF2B5EF4-FFF2-40B4-BE49-F238E27FC236}">
                  <a16:creationId xmlns:a16="http://schemas.microsoft.com/office/drawing/2014/main" id="{A2F03FDB-9844-0995-E420-1F3C03BABE8E}"/>
                </a:ext>
              </a:extLst>
            </p:cNvPr>
            <p:cNvSpPr/>
            <p:nvPr/>
          </p:nvSpPr>
          <p:spPr>
            <a:xfrm>
              <a:off x="4800600" y="2532888"/>
              <a:ext cx="594360" cy="347472"/>
            </a:xfrm>
            <a:prstGeom prst="rect">
              <a:avLst/>
            </a:prstGeom>
            <a:solidFill>
              <a:srgbClr val="F3E8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54CC2B6-7266-7EC8-0625-F5E4A26287DF}"/>
                </a:ext>
              </a:extLst>
            </p:cNvPr>
            <p:cNvSpPr txBox="1"/>
            <p:nvPr/>
          </p:nvSpPr>
          <p:spPr>
            <a:xfrm>
              <a:off x="4800600" y="2532888"/>
              <a:ext cx="5943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0.0000</a:t>
              </a: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9A2921BC-CFFE-3887-EFEB-72A990B6BF83}"/>
              </a:ext>
            </a:extLst>
          </p:cNvPr>
          <p:cNvSpPr txBox="1"/>
          <p:nvPr/>
        </p:nvSpPr>
        <p:spPr>
          <a:xfrm>
            <a:off x="457200" y="2949845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 (raw — best)</a:t>
            </a:r>
          </a:p>
        </p:txBody>
      </p:sp>
      <p:sp>
        <p:nvSpPr>
          <p:cNvPr id="196" name="Rectangle 56">
            <a:extLst>
              <a:ext uri="{FF2B5EF4-FFF2-40B4-BE49-F238E27FC236}">
                <a16:creationId xmlns:a16="http://schemas.microsoft.com/office/drawing/2014/main" id="{D70B504E-4EE5-33C7-B8EC-A5D8A0E36944}"/>
              </a:ext>
            </a:extLst>
          </p:cNvPr>
          <p:cNvSpPr/>
          <p:nvPr/>
        </p:nvSpPr>
        <p:spPr>
          <a:xfrm>
            <a:off x="457200" y="3242453"/>
            <a:ext cx="4754880" cy="274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77319295-2385-CAAE-E6B1-EE6E0D7ADFCF}"/>
              </a:ext>
            </a:extLst>
          </p:cNvPr>
          <p:cNvGrpSpPr/>
          <p:nvPr/>
        </p:nvGrpSpPr>
        <p:grpSpPr>
          <a:xfrm>
            <a:off x="457200" y="3297317"/>
            <a:ext cx="4754879" cy="1353312"/>
            <a:chOff x="457201" y="3374136"/>
            <a:chExt cx="4617720" cy="1353312"/>
          </a:xfrm>
        </p:grpSpPr>
        <p:sp>
          <p:nvSpPr>
            <p:cNvPr id="197" name="Rectangle 57">
              <a:extLst>
                <a:ext uri="{FF2B5EF4-FFF2-40B4-BE49-F238E27FC236}">
                  <a16:creationId xmlns:a16="http://schemas.microsoft.com/office/drawing/2014/main" id="{C2981F9E-2790-1F2E-7D05-DF6C32098DB8}"/>
                </a:ext>
              </a:extLst>
            </p:cNvPr>
            <p:cNvSpPr/>
            <p:nvPr/>
          </p:nvSpPr>
          <p:spPr>
            <a:xfrm>
              <a:off x="457201" y="3374136"/>
              <a:ext cx="1143000" cy="237744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9D238481-40EA-5200-3913-46309B0C29DF}"/>
                </a:ext>
              </a:extLst>
            </p:cNvPr>
            <p:cNvSpPr txBox="1"/>
            <p:nvPr/>
          </p:nvSpPr>
          <p:spPr>
            <a:xfrm>
              <a:off x="457201" y="3374136"/>
              <a:ext cx="1143000" cy="2377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지표</a:t>
              </a:r>
            </a:p>
          </p:txBody>
        </p:sp>
        <p:sp>
          <p:nvSpPr>
            <p:cNvPr id="199" name="Rectangle 59">
              <a:extLst>
                <a:ext uri="{FF2B5EF4-FFF2-40B4-BE49-F238E27FC236}">
                  <a16:creationId xmlns:a16="http://schemas.microsoft.com/office/drawing/2014/main" id="{E45520DA-A393-7B2A-8745-A2F9559CC176}"/>
                </a:ext>
              </a:extLst>
            </p:cNvPr>
            <p:cNvSpPr/>
            <p:nvPr/>
          </p:nvSpPr>
          <p:spPr>
            <a:xfrm>
              <a:off x="1645921" y="3374136"/>
              <a:ext cx="1234440" cy="237744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931A0A25-7A90-FEB7-98EF-7E0F11BA5282}"/>
                </a:ext>
              </a:extLst>
            </p:cNvPr>
            <p:cNvSpPr txBox="1"/>
            <p:nvPr/>
          </p:nvSpPr>
          <p:spPr>
            <a:xfrm>
              <a:off x="1645921" y="3374136"/>
              <a:ext cx="1234440" cy="2377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추정치</a:t>
              </a:r>
            </a:p>
          </p:txBody>
        </p:sp>
        <p:sp>
          <p:nvSpPr>
            <p:cNvPr id="201" name="Rectangle 61">
              <a:extLst>
                <a:ext uri="{FF2B5EF4-FFF2-40B4-BE49-F238E27FC236}">
                  <a16:creationId xmlns:a16="http://schemas.microsoft.com/office/drawing/2014/main" id="{05692BDC-B222-03A6-59C5-7C4D674865C5}"/>
                </a:ext>
              </a:extLst>
            </p:cNvPr>
            <p:cNvSpPr/>
            <p:nvPr/>
          </p:nvSpPr>
          <p:spPr>
            <a:xfrm>
              <a:off x="2926081" y="3374136"/>
              <a:ext cx="1188720" cy="237744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5FE90946-0051-EE87-48C8-11A83FAEBEC6}"/>
                </a:ext>
              </a:extLst>
            </p:cNvPr>
            <p:cNvSpPr txBox="1"/>
            <p:nvPr/>
          </p:nvSpPr>
          <p:spPr>
            <a:xfrm>
              <a:off x="2926081" y="3374136"/>
              <a:ext cx="1188720" cy="2377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 하한</a:t>
              </a:r>
            </a:p>
          </p:txBody>
        </p:sp>
        <p:sp>
          <p:nvSpPr>
            <p:cNvPr id="203" name="Rectangle 63">
              <a:extLst>
                <a:ext uri="{FF2B5EF4-FFF2-40B4-BE49-F238E27FC236}">
                  <a16:creationId xmlns:a16="http://schemas.microsoft.com/office/drawing/2014/main" id="{214F353F-6BDF-C61C-5902-C3C455DE7710}"/>
                </a:ext>
              </a:extLst>
            </p:cNvPr>
            <p:cNvSpPr/>
            <p:nvPr/>
          </p:nvSpPr>
          <p:spPr>
            <a:xfrm>
              <a:off x="4160521" y="3374136"/>
              <a:ext cx="914400" cy="237744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3A5968F-4470-1C6A-D3A5-7DD21E13B4BB}"/>
                </a:ext>
              </a:extLst>
            </p:cNvPr>
            <p:cNvSpPr txBox="1"/>
            <p:nvPr/>
          </p:nvSpPr>
          <p:spPr>
            <a:xfrm>
              <a:off x="4160521" y="3374136"/>
              <a:ext cx="914400" cy="2377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 상한</a:t>
              </a:r>
            </a:p>
          </p:txBody>
        </p:sp>
        <p:sp>
          <p:nvSpPr>
            <p:cNvPr id="205" name="Rectangle 65">
              <a:extLst>
                <a:ext uri="{FF2B5EF4-FFF2-40B4-BE49-F238E27FC236}">
                  <a16:creationId xmlns:a16="http://schemas.microsoft.com/office/drawing/2014/main" id="{D77A2ACD-1165-65FB-70C8-1C1DD5ACC367}"/>
                </a:ext>
              </a:extLst>
            </p:cNvPr>
            <p:cNvSpPr/>
            <p:nvPr/>
          </p:nvSpPr>
          <p:spPr>
            <a:xfrm>
              <a:off x="457201" y="3630168"/>
              <a:ext cx="114300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C6893A0-363B-B1DF-17A7-C90C790C077D}"/>
                </a:ext>
              </a:extLst>
            </p:cNvPr>
            <p:cNvSpPr txBox="1"/>
            <p:nvPr/>
          </p:nvSpPr>
          <p:spPr>
            <a:xfrm>
              <a:off x="457201" y="3630168"/>
              <a:ext cx="1143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AUC-ROC</a:t>
              </a:r>
            </a:p>
          </p:txBody>
        </p:sp>
        <p:sp>
          <p:nvSpPr>
            <p:cNvPr id="207" name="Rectangle 67">
              <a:extLst>
                <a:ext uri="{FF2B5EF4-FFF2-40B4-BE49-F238E27FC236}">
                  <a16:creationId xmlns:a16="http://schemas.microsoft.com/office/drawing/2014/main" id="{B719A098-FC09-DA1C-3CD3-2ED47592380E}"/>
                </a:ext>
              </a:extLst>
            </p:cNvPr>
            <p:cNvSpPr/>
            <p:nvPr/>
          </p:nvSpPr>
          <p:spPr>
            <a:xfrm>
              <a:off x="1645921" y="3630168"/>
              <a:ext cx="12344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0C70646-946C-64FE-1880-18CBBEBF5725}"/>
                </a:ext>
              </a:extLst>
            </p:cNvPr>
            <p:cNvSpPr txBox="1"/>
            <p:nvPr/>
          </p:nvSpPr>
          <p:spPr>
            <a:xfrm>
              <a:off x="1645921" y="3630168"/>
              <a:ext cx="12344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0.5856</a:t>
              </a:r>
            </a:p>
          </p:txBody>
        </p:sp>
        <p:sp>
          <p:nvSpPr>
            <p:cNvPr id="209" name="Rectangle 69">
              <a:extLst>
                <a:ext uri="{FF2B5EF4-FFF2-40B4-BE49-F238E27FC236}">
                  <a16:creationId xmlns:a16="http://schemas.microsoft.com/office/drawing/2014/main" id="{FE4D2641-B7D2-0D85-CEE7-CA2E523BBF7E}"/>
                </a:ext>
              </a:extLst>
            </p:cNvPr>
            <p:cNvSpPr/>
            <p:nvPr/>
          </p:nvSpPr>
          <p:spPr>
            <a:xfrm>
              <a:off x="2926081" y="3630168"/>
              <a:ext cx="118872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BE181086-8AD0-C49D-7B15-B05C0CC06668}"/>
                </a:ext>
              </a:extLst>
            </p:cNvPr>
            <p:cNvSpPr txBox="1"/>
            <p:nvPr/>
          </p:nvSpPr>
          <p:spPr>
            <a:xfrm>
              <a:off x="2926081" y="3630168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0.4544</a:t>
              </a:r>
            </a:p>
          </p:txBody>
        </p:sp>
        <p:sp>
          <p:nvSpPr>
            <p:cNvPr id="211" name="Rectangle 71">
              <a:extLst>
                <a:ext uri="{FF2B5EF4-FFF2-40B4-BE49-F238E27FC236}">
                  <a16:creationId xmlns:a16="http://schemas.microsoft.com/office/drawing/2014/main" id="{7A084104-0FC4-F2D4-2E9D-ABD918A01E2F}"/>
                </a:ext>
              </a:extLst>
            </p:cNvPr>
            <p:cNvSpPr/>
            <p:nvPr/>
          </p:nvSpPr>
          <p:spPr>
            <a:xfrm>
              <a:off x="4160521" y="3630168"/>
              <a:ext cx="91440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BBFB23E-DD50-9202-FA27-4DB3807ED35F}"/>
                </a:ext>
              </a:extLst>
            </p:cNvPr>
            <p:cNvSpPr txBox="1"/>
            <p:nvPr/>
          </p:nvSpPr>
          <p:spPr>
            <a:xfrm>
              <a:off x="4160521" y="3630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0.7105</a:t>
              </a:r>
            </a:p>
          </p:txBody>
        </p:sp>
        <p:sp>
          <p:nvSpPr>
            <p:cNvPr id="213" name="Rectangle 73">
              <a:extLst>
                <a:ext uri="{FF2B5EF4-FFF2-40B4-BE49-F238E27FC236}">
                  <a16:creationId xmlns:a16="http://schemas.microsoft.com/office/drawing/2014/main" id="{7ECBA803-6BAF-36C2-38E9-419CC446CEC2}"/>
                </a:ext>
              </a:extLst>
            </p:cNvPr>
            <p:cNvSpPr/>
            <p:nvPr/>
          </p:nvSpPr>
          <p:spPr>
            <a:xfrm>
              <a:off x="457201" y="3904488"/>
              <a:ext cx="114300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2D437DA4-04A8-5670-5003-BF100AAD7AEF}"/>
                </a:ext>
              </a:extLst>
            </p:cNvPr>
            <p:cNvSpPr txBox="1"/>
            <p:nvPr/>
          </p:nvSpPr>
          <p:spPr>
            <a:xfrm>
              <a:off x="457201" y="3904488"/>
              <a:ext cx="1143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215" name="Rectangle 75">
              <a:extLst>
                <a:ext uri="{FF2B5EF4-FFF2-40B4-BE49-F238E27FC236}">
                  <a16:creationId xmlns:a16="http://schemas.microsoft.com/office/drawing/2014/main" id="{86D7A542-B5BB-9C06-87F7-569A7A332365}"/>
                </a:ext>
              </a:extLst>
            </p:cNvPr>
            <p:cNvSpPr/>
            <p:nvPr/>
          </p:nvSpPr>
          <p:spPr>
            <a:xfrm>
              <a:off x="1645921" y="3904488"/>
              <a:ext cx="123444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278735D-126B-066F-C928-29D8D5B5D7A9}"/>
                </a:ext>
              </a:extLst>
            </p:cNvPr>
            <p:cNvSpPr txBox="1"/>
            <p:nvPr/>
          </p:nvSpPr>
          <p:spPr>
            <a:xfrm>
              <a:off x="1645921" y="3904488"/>
              <a:ext cx="12344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0.1882</a:t>
              </a:r>
            </a:p>
          </p:txBody>
        </p:sp>
        <p:sp>
          <p:nvSpPr>
            <p:cNvPr id="217" name="Rectangle 77">
              <a:extLst>
                <a:ext uri="{FF2B5EF4-FFF2-40B4-BE49-F238E27FC236}">
                  <a16:creationId xmlns:a16="http://schemas.microsoft.com/office/drawing/2014/main" id="{98B80CFD-557D-B5EB-3D14-04BA59FF8578}"/>
                </a:ext>
              </a:extLst>
            </p:cNvPr>
            <p:cNvSpPr/>
            <p:nvPr/>
          </p:nvSpPr>
          <p:spPr>
            <a:xfrm>
              <a:off x="2926081" y="3904488"/>
              <a:ext cx="118872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6A9999FB-44C6-C6DA-5F72-2DEF9FCAF4F6}"/>
                </a:ext>
              </a:extLst>
            </p:cNvPr>
            <p:cNvSpPr txBox="1"/>
            <p:nvPr/>
          </p:nvSpPr>
          <p:spPr>
            <a:xfrm>
              <a:off x="2926081" y="3904488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0.1021</a:t>
              </a:r>
            </a:p>
          </p:txBody>
        </p:sp>
        <p:sp>
          <p:nvSpPr>
            <p:cNvPr id="219" name="Rectangle 79">
              <a:extLst>
                <a:ext uri="{FF2B5EF4-FFF2-40B4-BE49-F238E27FC236}">
                  <a16:creationId xmlns:a16="http://schemas.microsoft.com/office/drawing/2014/main" id="{828C3831-37CF-BCC0-C91E-17DBEC65631C}"/>
                </a:ext>
              </a:extLst>
            </p:cNvPr>
            <p:cNvSpPr/>
            <p:nvPr/>
          </p:nvSpPr>
          <p:spPr>
            <a:xfrm>
              <a:off x="4160521" y="3904488"/>
              <a:ext cx="91440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C20B1C89-50E3-7292-B727-81B27718FE97}"/>
                </a:ext>
              </a:extLst>
            </p:cNvPr>
            <p:cNvSpPr txBox="1"/>
            <p:nvPr/>
          </p:nvSpPr>
          <p:spPr>
            <a:xfrm>
              <a:off x="4160521" y="390448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0.3675</a:t>
              </a:r>
            </a:p>
          </p:txBody>
        </p:sp>
        <p:sp>
          <p:nvSpPr>
            <p:cNvPr id="221" name="Rectangle 81">
              <a:extLst>
                <a:ext uri="{FF2B5EF4-FFF2-40B4-BE49-F238E27FC236}">
                  <a16:creationId xmlns:a16="http://schemas.microsoft.com/office/drawing/2014/main" id="{15916416-581E-37BB-D1F6-8C10E28DFFA8}"/>
                </a:ext>
              </a:extLst>
            </p:cNvPr>
            <p:cNvSpPr/>
            <p:nvPr/>
          </p:nvSpPr>
          <p:spPr>
            <a:xfrm>
              <a:off x="457201" y="4178808"/>
              <a:ext cx="114300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863EDCB-9751-3E2C-FCDA-147C56585A48}"/>
                </a:ext>
              </a:extLst>
            </p:cNvPr>
            <p:cNvSpPr txBox="1"/>
            <p:nvPr/>
          </p:nvSpPr>
          <p:spPr>
            <a:xfrm>
              <a:off x="457201" y="4178808"/>
              <a:ext cx="1143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223" name="Rectangle 83">
              <a:extLst>
                <a:ext uri="{FF2B5EF4-FFF2-40B4-BE49-F238E27FC236}">
                  <a16:creationId xmlns:a16="http://schemas.microsoft.com/office/drawing/2014/main" id="{92B4EFE0-149C-F531-E348-17228FC079EF}"/>
                </a:ext>
              </a:extLst>
            </p:cNvPr>
            <p:cNvSpPr/>
            <p:nvPr/>
          </p:nvSpPr>
          <p:spPr>
            <a:xfrm>
              <a:off x="1645921" y="4178808"/>
              <a:ext cx="123444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6F9067ED-78BE-C791-E2E8-8B0976F62380}"/>
                </a:ext>
              </a:extLst>
            </p:cNvPr>
            <p:cNvSpPr txBox="1"/>
            <p:nvPr/>
          </p:nvSpPr>
          <p:spPr>
            <a:xfrm>
              <a:off x="1645921" y="4178808"/>
              <a:ext cx="12344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0.3041</a:t>
              </a:r>
            </a:p>
          </p:txBody>
        </p:sp>
        <p:sp>
          <p:nvSpPr>
            <p:cNvPr id="225" name="Rectangle 85">
              <a:extLst>
                <a:ext uri="{FF2B5EF4-FFF2-40B4-BE49-F238E27FC236}">
                  <a16:creationId xmlns:a16="http://schemas.microsoft.com/office/drawing/2014/main" id="{00A844EE-4526-1BCA-4B02-9F0ECAC13B26}"/>
                </a:ext>
              </a:extLst>
            </p:cNvPr>
            <p:cNvSpPr/>
            <p:nvPr/>
          </p:nvSpPr>
          <p:spPr>
            <a:xfrm>
              <a:off x="2926081" y="4178808"/>
              <a:ext cx="118872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64F00D3-30C5-ED52-A7A1-C6C7A2F894AA}"/>
                </a:ext>
              </a:extLst>
            </p:cNvPr>
            <p:cNvSpPr txBox="1"/>
            <p:nvPr/>
          </p:nvSpPr>
          <p:spPr>
            <a:xfrm>
              <a:off x="2926081" y="4178808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0.2917</a:t>
              </a:r>
            </a:p>
          </p:txBody>
        </p:sp>
        <p:sp>
          <p:nvSpPr>
            <p:cNvPr id="227" name="Rectangle 87">
              <a:extLst>
                <a:ext uri="{FF2B5EF4-FFF2-40B4-BE49-F238E27FC236}">
                  <a16:creationId xmlns:a16="http://schemas.microsoft.com/office/drawing/2014/main" id="{EC3C43BE-44A2-6555-C0BF-DE67CF796189}"/>
                </a:ext>
              </a:extLst>
            </p:cNvPr>
            <p:cNvSpPr/>
            <p:nvPr/>
          </p:nvSpPr>
          <p:spPr>
            <a:xfrm>
              <a:off x="4160521" y="4178808"/>
              <a:ext cx="914400" cy="2743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94FC09E-1C47-94A6-DC3F-3D0F53A2F099}"/>
                </a:ext>
              </a:extLst>
            </p:cNvPr>
            <p:cNvSpPr txBox="1"/>
            <p:nvPr/>
          </p:nvSpPr>
          <p:spPr>
            <a:xfrm>
              <a:off x="4160521" y="417880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0.3164</a:t>
              </a:r>
            </a:p>
          </p:txBody>
        </p:sp>
        <p:sp>
          <p:nvSpPr>
            <p:cNvPr id="229" name="Rectangle 89">
              <a:extLst>
                <a:ext uri="{FF2B5EF4-FFF2-40B4-BE49-F238E27FC236}">
                  <a16:creationId xmlns:a16="http://schemas.microsoft.com/office/drawing/2014/main" id="{D639DC09-D49A-7F08-7DAC-4D9EB8DCD802}"/>
                </a:ext>
              </a:extLst>
            </p:cNvPr>
            <p:cNvSpPr/>
            <p:nvPr/>
          </p:nvSpPr>
          <p:spPr>
            <a:xfrm>
              <a:off x="457201" y="4453128"/>
              <a:ext cx="114300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EC64F5E-7EAF-CB40-67F3-1337284EC6A1}"/>
                </a:ext>
              </a:extLst>
            </p:cNvPr>
            <p:cNvSpPr txBox="1"/>
            <p:nvPr/>
          </p:nvSpPr>
          <p:spPr>
            <a:xfrm>
              <a:off x="457201" y="4453128"/>
              <a:ext cx="1143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231" name="Rectangle 91">
              <a:extLst>
                <a:ext uri="{FF2B5EF4-FFF2-40B4-BE49-F238E27FC236}">
                  <a16:creationId xmlns:a16="http://schemas.microsoft.com/office/drawing/2014/main" id="{AF60AD6C-C2D3-7400-A46E-D5C65C83BF8B}"/>
                </a:ext>
              </a:extLst>
            </p:cNvPr>
            <p:cNvSpPr/>
            <p:nvPr/>
          </p:nvSpPr>
          <p:spPr>
            <a:xfrm>
              <a:off x="1645921" y="4453128"/>
              <a:ext cx="123444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51DC519E-D554-5C91-CB12-7B1490B2EE3A}"/>
                </a:ext>
              </a:extLst>
            </p:cNvPr>
            <p:cNvSpPr txBox="1"/>
            <p:nvPr/>
          </p:nvSpPr>
          <p:spPr>
            <a:xfrm>
              <a:off x="1645921" y="4453128"/>
              <a:ext cx="12344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0.2157</a:t>
              </a:r>
            </a:p>
          </p:txBody>
        </p:sp>
        <p:sp>
          <p:nvSpPr>
            <p:cNvPr id="233" name="Rectangle 93">
              <a:extLst>
                <a:ext uri="{FF2B5EF4-FFF2-40B4-BE49-F238E27FC236}">
                  <a16:creationId xmlns:a16="http://schemas.microsoft.com/office/drawing/2014/main" id="{76714F15-EB99-4DDB-DBE1-675AA57ECE9A}"/>
                </a:ext>
              </a:extLst>
            </p:cNvPr>
            <p:cNvSpPr/>
            <p:nvPr/>
          </p:nvSpPr>
          <p:spPr>
            <a:xfrm>
              <a:off x="2926081" y="4453128"/>
              <a:ext cx="118872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B834D2B9-1138-3C55-63C6-43903811DE48}"/>
                </a:ext>
              </a:extLst>
            </p:cNvPr>
            <p:cNvSpPr txBox="1"/>
            <p:nvPr/>
          </p:nvSpPr>
          <p:spPr>
            <a:xfrm>
              <a:off x="2926081" y="4453128"/>
              <a:ext cx="11887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0.1111</a:t>
              </a:r>
            </a:p>
          </p:txBody>
        </p:sp>
        <p:sp>
          <p:nvSpPr>
            <p:cNvPr id="235" name="Rectangle 95">
              <a:extLst>
                <a:ext uri="{FF2B5EF4-FFF2-40B4-BE49-F238E27FC236}">
                  <a16:creationId xmlns:a16="http://schemas.microsoft.com/office/drawing/2014/main" id="{5DF3AED9-AAC0-37A8-F11C-87F4C345E7D1}"/>
                </a:ext>
              </a:extLst>
            </p:cNvPr>
            <p:cNvSpPr/>
            <p:nvPr/>
          </p:nvSpPr>
          <p:spPr>
            <a:xfrm>
              <a:off x="4160521" y="4453128"/>
              <a:ext cx="914400" cy="27432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B581B7D9-29D1-872C-97A3-CF8928A696D6}"/>
                </a:ext>
              </a:extLst>
            </p:cNvPr>
            <p:cNvSpPr txBox="1"/>
            <p:nvPr/>
          </p:nvSpPr>
          <p:spPr>
            <a:xfrm>
              <a:off x="4160521" y="445312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0.3273</a:t>
              </a: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6A1567B9-F2BC-A369-EAE1-5EEA6F9D661D}"/>
              </a:ext>
            </a:extLst>
          </p:cNvPr>
          <p:cNvGrpSpPr/>
          <p:nvPr/>
        </p:nvGrpSpPr>
        <p:grpSpPr>
          <a:xfrm>
            <a:off x="274320" y="4912457"/>
            <a:ext cx="5120640" cy="1395549"/>
            <a:chOff x="274320" y="4498848"/>
            <a:chExt cx="5120640" cy="1581912"/>
          </a:xfrm>
        </p:grpSpPr>
        <p:sp>
          <p:nvSpPr>
            <p:cNvPr id="237" name="Rectangle 97">
              <a:extLst>
                <a:ext uri="{FF2B5EF4-FFF2-40B4-BE49-F238E27FC236}">
                  <a16:creationId xmlns:a16="http://schemas.microsoft.com/office/drawing/2014/main" id="{8F4BA74A-F150-8863-64E6-21144E0925CB}"/>
                </a:ext>
              </a:extLst>
            </p:cNvPr>
            <p:cNvSpPr/>
            <p:nvPr/>
          </p:nvSpPr>
          <p:spPr>
            <a:xfrm>
              <a:off x="274320" y="4498848"/>
              <a:ext cx="5120640" cy="1581912"/>
            </a:xfrm>
            <a:prstGeom prst="rect">
              <a:avLst/>
            </a:prstGeom>
            <a:solidFill>
              <a:srgbClr val="F3E8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8" name="Rectangle 98">
              <a:extLst>
                <a:ext uri="{FF2B5EF4-FFF2-40B4-BE49-F238E27FC236}">
                  <a16:creationId xmlns:a16="http://schemas.microsoft.com/office/drawing/2014/main" id="{40D3228A-F5E0-AB2A-4367-2433211A3963}"/>
                </a:ext>
              </a:extLst>
            </p:cNvPr>
            <p:cNvSpPr/>
            <p:nvPr/>
          </p:nvSpPr>
          <p:spPr>
            <a:xfrm>
              <a:off x="274320" y="4498848"/>
              <a:ext cx="91440" cy="1581912"/>
            </a:xfrm>
            <a:prstGeom prst="rect">
              <a:avLst/>
            </a:prstGeom>
            <a:solidFill>
              <a:srgbClr val="7B2FB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2566F72D-9F16-6F7C-94D2-73079E417507}"/>
                </a:ext>
              </a:extLst>
            </p:cNvPr>
            <p:cNvSpPr txBox="1"/>
            <p:nvPr/>
          </p:nvSpPr>
          <p:spPr>
            <a:xfrm>
              <a:off x="457200" y="4572000"/>
              <a:ext cx="4754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7B2FBE"/>
                  </a:solidFill>
                  <a:latin typeface="맑은 고딕"/>
                </a:rPr>
                <a:t>AEC Only 한계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7DE9316A-DDFB-CF90-6159-9DCEE9D1E641}"/>
                </a:ext>
              </a:extLst>
            </p:cNvPr>
            <p:cNvSpPr txBox="1"/>
            <p:nvPr/>
          </p:nvSpPr>
          <p:spPr>
            <a:xfrm>
              <a:off x="457200" y="4892040"/>
              <a:ext cx="484632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최고 AUC 0.586 (raw) — M1(0.803) 대비 크게 열세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3735EA0E-7683-B933-4D8C-B045EA82C43B}"/>
                </a:ext>
              </a:extLst>
            </p:cNvPr>
            <p:cNvSpPr txBox="1"/>
            <p:nvPr/>
          </p:nvSpPr>
          <p:spPr>
            <a:xfrm>
              <a:off x="457200" y="5166359"/>
              <a:ext cx="484632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M1 vs M4 raw: p=0.006 ** — 통계적 유의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4F093130-430B-8A89-2F33-51996D13C0DD}"/>
                </a:ext>
              </a:extLst>
            </p:cNvPr>
            <p:cNvSpPr txBox="1"/>
            <p:nvPr/>
          </p:nvSpPr>
          <p:spPr>
            <a:xfrm>
              <a:off x="457200" y="5440679"/>
              <a:ext cx="484632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AEC 단독으로는 Clinic(Age·Sex·BMI) 대체 불가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093EF8EE-612B-A4DC-B32F-AC204A8EE302}"/>
                </a:ext>
              </a:extLst>
            </p:cNvPr>
            <p:cNvSpPr txBox="1"/>
            <p:nvPr/>
          </p:nvSpPr>
          <p:spPr>
            <a:xfrm>
              <a:off x="457200" y="5715000"/>
              <a:ext cx="484632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AEC는 Clinic 보조 신호로서 의미 있음</a:t>
              </a:r>
            </a:p>
          </p:txBody>
        </p:sp>
      </p:grpSp>
      <p:sp>
        <p:nvSpPr>
          <p:cNvPr id="244" name="TextBox 243">
            <a:extLst>
              <a:ext uri="{FF2B5EF4-FFF2-40B4-BE49-F238E27FC236}">
                <a16:creationId xmlns:a16="http://schemas.microsoft.com/office/drawing/2014/main" id="{7F6ABAD3-04F0-2CD2-364A-D135763E4188}"/>
              </a:ext>
            </a:extLst>
          </p:cNvPr>
          <p:cNvSpPr txBox="1"/>
          <p:nvPr/>
        </p:nvSpPr>
        <p:spPr>
          <a:xfrm>
            <a:off x="5577840" y="101890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M4 ROC 곡선  (raw, vs M1 baseline)</a:t>
            </a:r>
          </a:p>
        </p:txBody>
      </p:sp>
      <p:pic>
        <p:nvPicPr>
          <p:cNvPr id="245" name="Picture 105" descr="test_roc_curves.png">
            <a:extLst>
              <a:ext uri="{FF2B5EF4-FFF2-40B4-BE49-F238E27FC236}">
                <a16:creationId xmlns:a16="http://schemas.microsoft.com/office/drawing/2014/main" id="{F5912DB6-A46E-033D-E315-2A03FF325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11510"/>
            <a:ext cx="3749039" cy="2514600"/>
          </a:xfrm>
          <a:prstGeom prst="rect">
            <a:avLst/>
          </a:prstGeom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1D69C595-16DA-2B0D-0728-CD613CA30A28}"/>
              </a:ext>
            </a:extLst>
          </p:cNvPr>
          <p:cNvSpPr txBox="1"/>
          <p:nvPr/>
        </p:nvSpPr>
        <p:spPr>
          <a:xfrm>
            <a:off x="5577840" y="3954126"/>
            <a:ext cx="374903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맑은 고딕"/>
              </a:rPr>
              <a:t>M1 vs M4 AUC 비교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CDC1AF8-8978-79C2-763E-79F8BA465DEC}"/>
              </a:ext>
            </a:extLst>
          </p:cNvPr>
          <p:cNvSpPr txBox="1"/>
          <p:nvPr/>
        </p:nvSpPr>
        <p:spPr>
          <a:xfrm>
            <a:off x="5577840" y="4228446"/>
            <a:ext cx="3749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  M1(LR)  : AUC 0.803
  M4(global_zscore): AUC 0.586  (Δ-0.217)
  p=0.002 **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E1F67C54-63A4-CC50-E9B6-D8E4A3017F3B}"/>
              </a:ext>
            </a:extLst>
          </p:cNvPr>
          <p:cNvSpPr txBox="1"/>
          <p:nvPr/>
        </p:nvSpPr>
        <p:spPr>
          <a:xfrm>
            <a:off x="9509760" y="1018371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5-Fold CV 결과  (raw)</a:t>
            </a:r>
          </a:p>
        </p:txBody>
      </p:sp>
      <p:sp>
        <p:nvSpPr>
          <p:cNvPr id="249" name="Rectangle 109">
            <a:extLst>
              <a:ext uri="{FF2B5EF4-FFF2-40B4-BE49-F238E27FC236}">
                <a16:creationId xmlns:a16="http://schemas.microsoft.com/office/drawing/2014/main" id="{7A0A5DE5-12CB-846C-5977-5CCD2C0DB549}"/>
              </a:ext>
            </a:extLst>
          </p:cNvPr>
          <p:cNvSpPr/>
          <p:nvPr/>
        </p:nvSpPr>
        <p:spPr>
          <a:xfrm>
            <a:off x="9509760" y="1311510"/>
            <a:ext cx="59436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E90B11E-E96B-92A6-C60C-512575F8C36D}"/>
              </a:ext>
            </a:extLst>
          </p:cNvPr>
          <p:cNvSpPr txBox="1"/>
          <p:nvPr/>
        </p:nvSpPr>
        <p:spPr>
          <a:xfrm>
            <a:off x="9509760" y="1311510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Fold</a:t>
            </a:r>
          </a:p>
        </p:txBody>
      </p:sp>
      <p:sp>
        <p:nvSpPr>
          <p:cNvPr id="251" name="Rectangle 111">
            <a:extLst>
              <a:ext uri="{FF2B5EF4-FFF2-40B4-BE49-F238E27FC236}">
                <a16:creationId xmlns:a16="http://schemas.microsoft.com/office/drawing/2014/main" id="{DF6F6F93-F75C-8D4E-CB6A-78F8811C69E9}"/>
              </a:ext>
            </a:extLst>
          </p:cNvPr>
          <p:cNvSpPr/>
          <p:nvPr/>
        </p:nvSpPr>
        <p:spPr>
          <a:xfrm>
            <a:off x="10149840" y="1310979"/>
            <a:ext cx="64008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6355FB2-B515-70CA-FDB5-6954AF3B067A}"/>
              </a:ext>
            </a:extLst>
          </p:cNvPr>
          <p:cNvSpPr txBox="1"/>
          <p:nvPr/>
        </p:nvSpPr>
        <p:spPr>
          <a:xfrm>
            <a:off x="10149840" y="131097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253" name="Rectangle 113">
            <a:extLst>
              <a:ext uri="{FF2B5EF4-FFF2-40B4-BE49-F238E27FC236}">
                <a16:creationId xmlns:a16="http://schemas.microsoft.com/office/drawing/2014/main" id="{2323F59F-1BFE-6077-FA6C-E73FAB2C5DCB}"/>
              </a:ext>
            </a:extLst>
          </p:cNvPr>
          <p:cNvSpPr/>
          <p:nvPr/>
        </p:nvSpPr>
        <p:spPr>
          <a:xfrm>
            <a:off x="10835640" y="1310979"/>
            <a:ext cx="59436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1BAD7077-1164-77B0-222F-769F4688ABF5}"/>
              </a:ext>
            </a:extLst>
          </p:cNvPr>
          <p:cNvSpPr txBox="1"/>
          <p:nvPr/>
        </p:nvSpPr>
        <p:spPr>
          <a:xfrm>
            <a:off x="10835640" y="1310979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255" name="Rectangle 115">
            <a:extLst>
              <a:ext uri="{FF2B5EF4-FFF2-40B4-BE49-F238E27FC236}">
                <a16:creationId xmlns:a16="http://schemas.microsoft.com/office/drawing/2014/main" id="{74C3614E-372A-5E3A-3CD1-AE81E2735D8A}"/>
              </a:ext>
            </a:extLst>
          </p:cNvPr>
          <p:cNvSpPr/>
          <p:nvPr/>
        </p:nvSpPr>
        <p:spPr>
          <a:xfrm>
            <a:off x="11475720" y="1310979"/>
            <a:ext cx="64008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9EDC824-6B38-632A-7BBE-8AA1190B7E56}"/>
              </a:ext>
            </a:extLst>
          </p:cNvPr>
          <p:cNvSpPr txBox="1"/>
          <p:nvPr/>
        </p:nvSpPr>
        <p:spPr>
          <a:xfrm>
            <a:off x="11475720" y="131097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57" name="Rectangle 117">
            <a:extLst>
              <a:ext uri="{FF2B5EF4-FFF2-40B4-BE49-F238E27FC236}">
                <a16:creationId xmlns:a16="http://schemas.microsoft.com/office/drawing/2014/main" id="{7B12B81C-9E1D-8226-90CE-E2F0472162D4}"/>
              </a:ext>
            </a:extLst>
          </p:cNvPr>
          <p:cNvSpPr/>
          <p:nvPr/>
        </p:nvSpPr>
        <p:spPr>
          <a:xfrm>
            <a:off x="9509760" y="1549254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F01E6227-96CD-4CE4-5F30-338C76D506C2}"/>
              </a:ext>
            </a:extLst>
          </p:cNvPr>
          <p:cNvSpPr txBox="1"/>
          <p:nvPr/>
        </p:nvSpPr>
        <p:spPr>
          <a:xfrm>
            <a:off x="9509760" y="154925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1</a:t>
            </a:r>
          </a:p>
        </p:txBody>
      </p:sp>
      <p:sp>
        <p:nvSpPr>
          <p:cNvPr id="259" name="Rectangle 119">
            <a:extLst>
              <a:ext uri="{FF2B5EF4-FFF2-40B4-BE49-F238E27FC236}">
                <a16:creationId xmlns:a16="http://schemas.microsoft.com/office/drawing/2014/main" id="{A0396AE0-209E-C04D-E06B-7489AB53289F}"/>
              </a:ext>
            </a:extLst>
          </p:cNvPr>
          <p:cNvSpPr/>
          <p:nvPr/>
        </p:nvSpPr>
        <p:spPr>
          <a:xfrm>
            <a:off x="10149840" y="1548723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4FDB9F7C-BA17-743D-3223-98CA1F07A157}"/>
              </a:ext>
            </a:extLst>
          </p:cNvPr>
          <p:cNvSpPr txBox="1"/>
          <p:nvPr/>
        </p:nvSpPr>
        <p:spPr>
          <a:xfrm>
            <a:off x="10149840" y="1548723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0.6325</a:t>
            </a:r>
          </a:p>
        </p:txBody>
      </p:sp>
      <p:sp>
        <p:nvSpPr>
          <p:cNvPr id="261" name="Rectangle 121">
            <a:extLst>
              <a:ext uri="{FF2B5EF4-FFF2-40B4-BE49-F238E27FC236}">
                <a16:creationId xmlns:a16="http://schemas.microsoft.com/office/drawing/2014/main" id="{73ADAD60-32C1-541D-A5AE-5F3CE6A12709}"/>
              </a:ext>
            </a:extLst>
          </p:cNvPr>
          <p:cNvSpPr/>
          <p:nvPr/>
        </p:nvSpPr>
        <p:spPr>
          <a:xfrm>
            <a:off x="10835640" y="1548723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6BB7BE4-BDA3-C0BE-13D3-590CFA0C4CEC}"/>
              </a:ext>
            </a:extLst>
          </p:cNvPr>
          <p:cNvSpPr txBox="1"/>
          <p:nvPr/>
        </p:nvSpPr>
        <p:spPr>
          <a:xfrm>
            <a:off x="10835640" y="1548723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0.1794</a:t>
            </a:r>
          </a:p>
        </p:txBody>
      </p:sp>
      <p:sp>
        <p:nvSpPr>
          <p:cNvPr id="263" name="Rectangle 123">
            <a:extLst>
              <a:ext uri="{FF2B5EF4-FFF2-40B4-BE49-F238E27FC236}">
                <a16:creationId xmlns:a16="http://schemas.microsoft.com/office/drawing/2014/main" id="{BD2FB257-2DDC-9960-1347-104304274E80}"/>
              </a:ext>
            </a:extLst>
          </p:cNvPr>
          <p:cNvSpPr/>
          <p:nvPr/>
        </p:nvSpPr>
        <p:spPr>
          <a:xfrm>
            <a:off x="11475720" y="1548723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4BE37DD-7F05-0290-16CF-AD7E923390BC}"/>
              </a:ext>
            </a:extLst>
          </p:cNvPr>
          <p:cNvSpPr txBox="1"/>
          <p:nvPr/>
        </p:nvSpPr>
        <p:spPr>
          <a:xfrm>
            <a:off x="11475720" y="1548723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0.2564</a:t>
            </a:r>
          </a:p>
        </p:txBody>
      </p:sp>
      <p:sp>
        <p:nvSpPr>
          <p:cNvPr id="265" name="Rectangle 125">
            <a:extLst>
              <a:ext uri="{FF2B5EF4-FFF2-40B4-BE49-F238E27FC236}">
                <a16:creationId xmlns:a16="http://schemas.microsoft.com/office/drawing/2014/main" id="{3667393F-E364-1AE6-E485-797B66C1F0B8}"/>
              </a:ext>
            </a:extLst>
          </p:cNvPr>
          <p:cNvSpPr/>
          <p:nvPr/>
        </p:nvSpPr>
        <p:spPr>
          <a:xfrm>
            <a:off x="9509760" y="1768710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C18F2F8C-3C26-DFE9-4CA6-0DE19E56F83F}"/>
              </a:ext>
            </a:extLst>
          </p:cNvPr>
          <p:cNvSpPr txBox="1"/>
          <p:nvPr/>
        </p:nvSpPr>
        <p:spPr>
          <a:xfrm>
            <a:off x="9509760" y="1768710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2</a:t>
            </a:r>
          </a:p>
        </p:txBody>
      </p:sp>
      <p:sp>
        <p:nvSpPr>
          <p:cNvPr id="267" name="Rectangle 127">
            <a:extLst>
              <a:ext uri="{FF2B5EF4-FFF2-40B4-BE49-F238E27FC236}">
                <a16:creationId xmlns:a16="http://schemas.microsoft.com/office/drawing/2014/main" id="{7579533B-0395-980B-14E2-FCE1A72A3C43}"/>
              </a:ext>
            </a:extLst>
          </p:cNvPr>
          <p:cNvSpPr/>
          <p:nvPr/>
        </p:nvSpPr>
        <p:spPr>
          <a:xfrm>
            <a:off x="10149840" y="1768179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DA5E43E-CADB-70E7-9892-8D376827638F}"/>
              </a:ext>
            </a:extLst>
          </p:cNvPr>
          <p:cNvSpPr txBox="1"/>
          <p:nvPr/>
        </p:nvSpPr>
        <p:spPr>
          <a:xfrm>
            <a:off x="10149840" y="176817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0.6868</a:t>
            </a:r>
          </a:p>
        </p:txBody>
      </p:sp>
      <p:sp>
        <p:nvSpPr>
          <p:cNvPr id="269" name="Rectangle 129">
            <a:extLst>
              <a:ext uri="{FF2B5EF4-FFF2-40B4-BE49-F238E27FC236}">
                <a16:creationId xmlns:a16="http://schemas.microsoft.com/office/drawing/2014/main" id="{19471C27-D254-8823-6DEB-7F83F3634099}"/>
              </a:ext>
            </a:extLst>
          </p:cNvPr>
          <p:cNvSpPr/>
          <p:nvPr/>
        </p:nvSpPr>
        <p:spPr>
          <a:xfrm>
            <a:off x="10835640" y="1768179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460ED014-771E-FD1F-2231-83D7EBB0B010}"/>
              </a:ext>
            </a:extLst>
          </p:cNvPr>
          <p:cNvSpPr txBox="1"/>
          <p:nvPr/>
        </p:nvSpPr>
        <p:spPr>
          <a:xfrm>
            <a:off x="10835640" y="1768179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0.2216</a:t>
            </a:r>
          </a:p>
        </p:txBody>
      </p:sp>
      <p:sp>
        <p:nvSpPr>
          <p:cNvPr id="271" name="Rectangle 131">
            <a:extLst>
              <a:ext uri="{FF2B5EF4-FFF2-40B4-BE49-F238E27FC236}">
                <a16:creationId xmlns:a16="http://schemas.microsoft.com/office/drawing/2014/main" id="{06BC002C-1090-321A-89C6-85721D04E80D}"/>
              </a:ext>
            </a:extLst>
          </p:cNvPr>
          <p:cNvSpPr/>
          <p:nvPr/>
        </p:nvSpPr>
        <p:spPr>
          <a:xfrm>
            <a:off x="11475720" y="1768179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E0754D62-EBB5-F438-4A63-CBEAB4FE6E01}"/>
              </a:ext>
            </a:extLst>
          </p:cNvPr>
          <p:cNvSpPr txBox="1"/>
          <p:nvPr/>
        </p:nvSpPr>
        <p:spPr>
          <a:xfrm>
            <a:off x="11475720" y="1768179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0.2656</a:t>
            </a:r>
          </a:p>
        </p:txBody>
      </p:sp>
      <p:sp>
        <p:nvSpPr>
          <p:cNvPr id="273" name="Rectangle 133">
            <a:extLst>
              <a:ext uri="{FF2B5EF4-FFF2-40B4-BE49-F238E27FC236}">
                <a16:creationId xmlns:a16="http://schemas.microsoft.com/office/drawing/2014/main" id="{D2EC35D3-CEF1-29EA-CFBF-B7AE96E713D5}"/>
              </a:ext>
            </a:extLst>
          </p:cNvPr>
          <p:cNvSpPr/>
          <p:nvPr/>
        </p:nvSpPr>
        <p:spPr>
          <a:xfrm>
            <a:off x="9509760" y="1988165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0A84FD8-7F21-4721-48F4-D2D868A99A4B}"/>
              </a:ext>
            </a:extLst>
          </p:cNvPr>
          <p:cNvSpPr txBox="1"/>
          <p:nvPr/>
        </p:nvSpPr>
        <p:spPr>
          <a:xfrm>
            <a:off x="9509760" y="1988165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3</a:t>
            </a:r>
          </a:p>
        </p:txBody>
      </p:sp>
      <p:sp>
        <p:nvSpPr>
          <p:cNvPr id="275" name="Rectangle 135">
            <a:extLst>
              <a:ext uri="{FF2B5EF4-FFF2-40B4-BE49-F238E27FC236}">
                <a16:creationId xmlns:a16="http://schemas.microsoft.com/office/drawing/2014/main" id="{5D125A09-AE5B-0FC9-0AB5-68758924AD1B}"/>
              </a:ext>
            </a:extLst>
          </p:cNvPr>
          <p:cNvSpPr/>
          <p:nvPr/>
        </p:nvSpPr>
        <p:spPr>
          <a:xfrm>
            <a:off x="10149840" y="1987634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EA99198-3D8D-3F61-E2BD-1C14B7C1AF17}"/>
              </a:ext>
            </a:extLst>
          </p:cNvPr>
          <p:cNvSpPr txBox="1"/>
          <p:nvPr/>
        </p:nvSpPr>
        <p:spPr>
          <a:xfrm>
            <a:off x="10149840" y="198763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0.7076</a:t>
            </a:r>
          </a:p>
        </p:txBody>
      </p:sp>
      <p:sp>
        <p:nvSpPr>
          <p:cNvPr id="277" name="Rectangle 137">
            <a:extLst>
              <a:ext uri="{FF2B5EF4-FFF2-40B4-BE49-F238E27FC236}">
                <a16:creationId xmlns:a16="http://schemas.microsoft.com/office/drawing/2014/main" id="{CA33473B-3FF4-6D23-BEC8-A875BADC93E5}"/>
              </a:ext>
            </a:extLst>
          </p:cNvPr>
          <p:cNvSpPr/>
          <p:nvPr/>
        </p:nvSpPr>
        <p:spPr>
          <a:xfrm>
            <a:off x="10835640" y="1987634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9BB759D1-6D1E-346D-971B-7E530FF565D0}"/>
              </a:ext>
            </a:extLst>
          </p:cNvPr>
          <p:cNvSpPr txBox="1"/>
          <p:nvPr/>
        </p:nvSpPr>
        <p:spPr>
          <a:xfrm>
            <a:off x="10835640" y="198763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0.2175</a:t>
            </a:r>
          </a:p>
        </p:txBody>
      </p:sp>
      <p:sp>
        <p:nvSpPr>
          <p:cNvPr id="279" name="Rectangle 139">
            <a:extLst>
              <a:ext uri="{FF2B5EF4-FFF2-40B4-BE49-F238E27FC236}">
                <a16:creationId xmlns:a16="http://schemas.microsoft.com/office/drawing/2014/main" id="{5EB3B4CD-0882-DE8F-806A-9F042B50C3A6}"/>
              </a:ext>
            </a:extLst>
          </p:cNvPr>
          <p:cNvSpPr/>
          <p:nvPr/>
        </p:nvSpPr>
        <p:spPr>
          <a:xfrm>
            <a:off x="11475720" y="1987634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724DF269-D4E3-31D5-F094-2BFEA93CBB2D}"/>
              </a:ext>
            </a:extLst>
          </p:cNvPr>
          <p:cNvSpPr txBox="1"/>
          <p:nvPr/>
        </p:nvSpPr>
        <p:spPr>
          <a:xfrm>
            <a:off x="11475720" y="1987634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0.3415</a:t>
            </a:r>
          </a:p>
        </p:txBody>
      </p:sp>
      <p:sp>
        <p:nvSpPr>
          <p:cNvPr id="281" name="Rectangle 141">
            <a:extLst>
              <a:ext uri="{FF2B5EF4-FFF2-40B4-BE49-F238E27FC236}">
                <a16:creationId xmlns:a16="http://schemas.microsoft.com/office/drawing/2014/main" id="{25AF06AC-3105-8A36-35BB-C5D53C950918}"/>
              </a:ext>
            </a:extLst>
          </p:cNvPr>
          <p:cNvSpPr/>
          <p:nvPr/>
        </p:nvSpPr>
        <p:spPr>
          <a:xfrm>
            <a:off x="9509760" y="2207622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D8B60075-D0FB-E07A-31ED-F5D29C2D17EE}"/>
              </a:ext>
            </a:extLst>
          </p:cNvPr>
          <p:cNvSpPr txBox="1"/>
          <p:nvPr/>
        </p:nvSpPr>
        <p:spPr>
          <a:xfrm>
            <a:off x="9509760" y="2207622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4</a:t>
            </a:r>
          </a:p>
        </p:txBody>
      </p:sp>
      <p:sp>
        <p:nvSpPr>
          <p:cNvPr id="283" name="Rectangle 143">
            <a:extLst>
              <a:ext uri="{FF2B5EF4-FFF2-40B4-BE49-F238E27FC236}">
                <a16:creationId xmlns:a16="http://schemas.microsoft.com/office/drawing/2014/main" id="{CA19D444-6595-974F-90D4-F11F4E0A8583}"/>
              </a:ext>
            </a:extLst>
          </p:cNvPr>
          <p:cNvSpPr/>
          <p:nvPr/>
        </p:nvSpPr>
        <p:spPr>
          <a:xfrm>
            <a:off x="10149840" y="2207091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FBCA078-0D7B-DC77-BA01-51F85998A602}"/>
              </a:ext>
            </a:extLst>
          </p:cNvPr>
          <p:cNvSpPr txBox="1"/>
          <p:nvPr/>
        </p:nvSpPr>
        <p:spPr>
          <a:xfrm>
            <a:off x="10149840" y="2207091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0.6996</a:t>
            </a:r>
          </a:p>
        </p:txBody>
      </p:sp>
      <p:sp>
        <p:nvSpPr>
          <p:cNvPr id="285" name="Rectangle 145">
            <a:extLst>
              <a:ext uri="{FF2B5EF4-FFF2-40B4-BE49-F238E27FC236}">
                <a16:creationId xmlns:a16="http://schemas.microsoft.com/office/drawing/2014/main" id="{A40702C5-7F55-4842-91CF-97767275A3D8}"/>
              </a:ext>
            </a:extLst>
          </p:cNvPr>
          <p:cNvSpPr/>
          <p:nvPr/>
        </p:nvSpPr>
        <p:spPr>
          <a:xfrm>
            <a:off x="10835640" y="2207091"/>
            <a:ext cx="594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19AE606-424A-8317-4419-31914085296A}"/>
              </a:ext>
            </a:extLst>
          </p:cNvPr>
          <p:cNvSpPr txBox="1"/>
          <p:nvPr/>
        </p:nvSpPr>
        <p:spPr>
          <a:xfrm>
            <a:off x="10835640" y="2207091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0.2732</a:t>
            </a:r>
          </a:p>
        </p:txBody>
      </p:sp>
      <p:sp>
        <p:nvSpPr>
          <p:cNvPr id="287" name="Rectangle 147">
            <a:extLst>
              <a:ext uri="{FF2B5EF4-FFF2-40B4-BE49-F238E27FC236}">
                <a16:creationId xmlns:a16="http://schemas.microsoft.com/office/drawing/2014/main" id="{7AD72047-AE99-40CD-5652-E6B6FF850CBA}"/>
              </a:ext>
            </a:extLst>
          </p:cNvPr>
          <p:cNvSpPr/>
          <p:nvPr/>
        </p:nvSpPr>
        <p:spPr>
          <a:xfrm>
            <a:off x="11475720" y="2207091"/>
            <a:ext cx="640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BF784745-A106-7D83-B9D4-256FED4474EA}"/>
              </a:ext>
            </a:extLst>
          </p:cNvPr>
          <p:cNvSpPr txBox="1"/>
          <p:nvPr/>
        </p:nvSpPr>
        <p:spPr>
          <a:xfrm>
            <a:off x="11475720" y="2207091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0.3000</a:t>
            </a:r>
          </a:p>
        </p:txBody>
      </p:sp>
      <p:sp>
        <p:nvSpPr>
          <p:cNvPr id="289" name="Rectangle 149">
            <a:extLst>
              <a:ext uri="{FF2B5EF4-FFF2-40B4-BE49-F238E27FC236}">
                <a16:creationId xmlns:a16="http://schemas.microsoft.com/office/drawing/2014/main" id="{2EEE5EDF-7FF4-00D8-EF2C-9EDC7370A1B8}"/>
              </a:ext>
            </a:extLst>
          </p:cNvPr>
          <p:cNvSpPr/>
          <p:nvPr/>
        </p:nvSpPr>
        <p:spPr>
          <a:xfrm>
            <a:off x="9509760" y="2427078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01D052D-8CC0-F46D-325F-30D4E1BDBFCF}"/>
              </a:ext>
            </a:extLst>
          </p:cNvPr>
          <p:cNvSpPr txBox="1"/>
          <p:nvPr/>
        </p:nvSpPr>
        <p:spPr>
          <a:xfrm>
            <a:off x="9509760" y="2427078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5</a:t>
            </a:r>
          </a:p>
        </p:txBody>
      </p:sp>
      <p:sp>
        <p:nvSpPr>
          <p:cNvPr id="291" name="Rectangle 151">
            <a:extLst>
              <a:ext uri="{FF2B5EF4-FFF2-40B4-BE49-F238E27FC236}">
                <a16:creationId xmlns:a16="http://schemas.microsoft.com/office/drawing/2014/main" id="{043D54AA-1EED-3F17-758E-7DD59441D477}"/>
              </a:ext>
            </a:extLst>
          </p:cNvPr>
          <p:cNvSpPr/>
          <p:nvPr/>
        </p:nvSpPr>
        <p:spPr>
          <a:xfrm>
            <a:off x="10149840" y="2426547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A2C5D63D-E2FD-B670-5188-CE23ACDBF0CB}"/>
              </a:ext>
            </a:extLst>
          </p:cNvPr>
          <p:cNvSpPr txBox="1"/>
          <p:nvPr/>
        </p:nvSpPr>
        <p:spPr>
          <a:xfrm>
            <a:off x="10149840" y="2426547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0.6697</a:t>
            </a:r>
          </a:p>
        </p:txBody>
      </p:sp>
      <p:sp>
        <p:nvSpPr>
          <p:cNvPr id="293" name="Rectangle 153">
            <a:extLst>
              <a:ext uri="{FF2B5EF4-FFF2-40B4-BE49-F238E27FC236}">
                <a16:creationId xmlns:a16="http://schemas.microsoft.com/office/drawing/2014/main" id="{CC05CDCD-EB2D-F529-E191-19FF6DDBEDCC}"/>
              </a:ext>
            </a:extLst>
          </p:cNvPr>
          <p:cNvSpPr/>
          <p:nvPr/>
        </p:nvSpPr>
        <p:spPr>
          <a:xfrm>
            <a:off x="10835640" y="2426547"/>
            <a:ext cx="59436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E97E8A82-C746-9605-C90C-C3449DC4083D}"/>
              </a:ext>
            </a:extLst>
          </p:cNvPr>
          <p:cNvSpPr txBox="1"/>
          <p:nvPr/>
        </p:nvSpPr>
        <p:spPr>
          <a:xfrm>
            <a:off x="10835640" y="2426547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0.3068</a:t>
            </a:r>
          </a:p>
        </p:txBody>
      </p:sp>
      <p:sp>
        <p:nvSpPr>
          <p:cNvPr id="295" name="Rectangle 155">
            <a:extLst>
              <a:ext uri="{FF2B5EF4-FFF2-40B4-BE49-F238E27FC236}">
                <a16:creationId xmlns:a16="http://schemas.microsoft.com/office/drawing/2014/main" id="{9CF422EE-B70C-789B-1888-AD84CAB80E7B}"/>
              </a:ext>
            </a:extLst>
          </p:cNvPr>
          <p:cNvSpPr/>
          <p:nvPr/>
        </p:nvSpPr>
        <p:spPr>
          <a:xfrm>
            <a:off x="11475720" y="2426547"/>
            <a:ext cx="640080" cy="2194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2F4E9616-5134-D789-81C4-F3EAA2208DFE}"/>
              </a:ext>
            </a:extLst>
          </p:cNvPr>
          <p:cNvSpPr txBox="1"/>
          <p:nvPr/>
        </p:nvSpPr>
        <p:spPr>
          <a:xfrm>
            <a:off x="11475720" y="2426547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0.3279</a:t>
            </a:r>
          </a:p>
        </p:txBody>
      </p:sp>
      <p:sp>
        <p:nvSpPr>
          <p:cNvPr id="297" name="Rectangle 157">
            <a:extLst>
              <a:ext uri="{FF2B5EF4-FFF2-40B4-BE49-F238E27FC236}">
                <a16:creationId xmlns:a16="http://schemas.microsoft.com/office/drawing/2014/main" id="{BA133953-9A1C-39D8-86F8-3C6AF630E05F}"/>
              </a:ext>
            </a:extLst>
          </p:cNvPr>
          <p:cNvSpPr/>
          <p:nvPr/>
        </p:nvSpPr>
        <p:spPr>
          <a:xfrm>
            <a:off x="9509760" y="2646534"/>
            <a:ext cx="59436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61412C7-B7B2-485F-3486-C0A7DFB19F79}"/>
              </a:ext>
            </a:extLst>
          </p:cNvPr>
          <p:cNvSpPr txBox="1"/>
          <p:nvPr/>
        </p:nvSpPr>
        <p:spPr>
          <a:xfrm>
            <a:off x="9509760" y="264653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Mean</a:t>
            </a:r>
          </a:p>
        </p:txBody>
      </p:sp>
      <p:sp>
        <p:nvSpPr>
          <p:cNvPr id="299" name="Rectangle 159">
            <a:extLst>
              <a:ext uri="{FF2B5EF4-FFF2-40B4-BE49-F238E27FC236}">
                <a16:creationId xmlns:a16="http://schemas.microsoft.com/office/drawing/2014/main" id="{B0DEC53E-A2E0-BC53-6FC1-0F6938D0267E}"/>
              </a:ext>
            </a:extLst>
          </p:cNvPr>
          <p:cNvSpPr/>
          <p:nvPr/>
        </p:nvSpPr>
        <p:spPr>
          <a:xfrm>
            <a:off x="10149840" y="2646003"/>
            <a:ext cx="64008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C2378BB-5C66-DD5E-B222-6EF3DC3E8944}"/>
              </a:ext>
            </a:extLst>
          </p:cNvPr>
          <p:cNvSpPr txBox="1"/>
          <p:nvPr/>
        </p:nvSpPr>
        <p:spPr>
          <a:xfrm>
            <a:off x="10149840" y="2646003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0.6792</a:t>
            </a:r>
          </a:p>
        </p:txBody>
      </p:sp>
      <p:sp>
        <p:nvSpPr>
          <p:cNvPr id="301" name="Rectangle 161">
            <a:extLst>
              <a:ext uri="{FF2B5EF4-FFF2-40B4-BE49-F238E27FC236}">
                <a16:creationId xmlns:a16="http://schemas.microsoft.com/office/drawing/2014/main" id="{F094598C-458B-9511-F0C2-C71BB1E3A939}"/>
              </a:ext>
            </a:extLst>
          </p:cNvPr>
          <p:cNvSpPr/>
          <p:nvPr/>
        </p:nvSpPr>
        <p:spPr>
          <a:xfrm>
            <a:off x="10835640" y="2646003"/>
            <a:ext cx="59436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5A3501E-0BE5-5A71-4B6F-0DBEFDC6C521}"/>
              </a:ext>
            </a:extLst>
          </p:cNvPr>
          <p:cNvSpPr txBox="1"/>
          <p:nvPr/>
        </p:nvSpPr>
        <p:spPr>
          <a:xfrm>
            <a:off x="10835640" y="2646003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0.2397</a:t>
            </a:r>
          </a:p>
        </p:txBody>
      </p:sp>
      <p:sp>
        <p:nvSpPr>
          <p:cNvPr id="303" name="Rectangle 163">
            <a:extLst>
              <a:ext uri="{FF2B5EF4-FFF2-40B4-BE49-F238E27FC236}">
                <a16:creationId xmlns:a16="http://schemas.microsoft.com/office/drawing/2014/main" id="{885B3E9A-2D21-CCE6-5402-F25EC8682AE5}"/>
              </a:ext>
            </a:extLst>
          </p:cNvPr>
          <p:cNvSpPr/>
          <p:nvPr/>
        </p:nvSpPr>
        <p:spPr>
          <a:xfrm>
            <a:off x="11475720" y="2646003"/>
            <a:ext cx="640080" cy="219456"/>
          </a:xfrm>
          <a:prstGeom prst="rect">
            <a:avLst/>
          </a:prstGeom>
          <a:solidFill>
            <a:srgbClr val="F3E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139139D6-D9CD-99F1-8496-B1B4512A1F4B}"/>
              </a:ext>
            </a:extLst>
          </p:cNvPr>
          <p:cNvSpPr txBox="1"/>
          <p:nvPr/>
        </p:nvSpPr>
        <p:spPr>
          <a:xfrm>
            <a:off x="11475720" y="2646003"/>
            <a:ext cx="640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0.2983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8A262E3-BB4F-CAB9-72E7-62DB8577DC2D}"/>
              </a:ext>
            </a:extLst>
          </p:cNvPr>
          <p:cNvSpPr txBox="1"/>
          <p:nvPr/>
        </p:nvSpPr>
        <p:spPr>
          <a:xfrm>
            <a:off x="9509760" y="324612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맑은 고딕"/>
              </a:rPr>
              <a:t>Grad-CAM (raw)</a:t>
            </a:r>
          </a:p>
        </p:txBody>
      </p:sp>
      <p:pic>
        <p:nvPicPr>
          <p:cNvPr id="306" name="Picture 166" descr="cam_aec_mean.png">
            <a:extLst>
              <a:ext uri="{FF2B5EF4-FFF2-40B4-BE49-F238E27FC236}">
                <a16:creationId xmlns:a16="http://schemas.microsoft.com/office/drawing/2014/main" id="{BA4F344A-A9E0-788C-CD7D-BAF875D1A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502152"/>
            <a:ext cx="2468880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72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7A26-E3E7-7461-C5F7-E2998A2C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F6E02-803E-E94E-5637-AD1A06CD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0791F-67EE-48C6-F225-7E989F1C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B513D9-3D4B-0004-18E7-DCC63501400A}"/>
              </a:ext>
            </a:extLst>
          </p:cNvPr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21935-0C32-AEAF-BF80-8D61C6EE1FB9}"/>
              </a:ext>
            </a:extLst>
          </p:cNvPr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E77E55-EF50-953A-F005-BC986D1EEB0A}"/>
              </a:ext>
            </a:extLst>
          </p:cNvPr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AE9AD-AFFF-274C-C0E2-5881243B79DD}"/>
              </a:ext>
            </a:extLst>
          </p:cNvPr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7E321CE-0C5F-8E55-D147-289B590C1FF2}"/>
              </a:ext>
            </a:extLst>
          </p:cNvPr>
          <p:cNvSpPr/>
          <p:nvPr/>
        </p:nvSpPr>
        <p:spPr>
          <a:xfrm>
            <a:off x="8174736" y="813816"/>
            <a:ext cx="3886200" cy="27432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36012-BDA4-0993-CA0C-39F40393A0BF}"/>
              </a:ext>
            </a:extLst>
          </p:cNvPr>
          <p:cNvSpPr txBox="1"/>
          <p:nvPr/>
        </p:nvSpPr>
        <p:spPr>
          <a:xfrm>
            <a:off x="8220456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B818CD1-5CDB-8CB4-B5AF-5EE6EA06891D}"/>
              </a:ext>
            </a:extLst>
          </p:cNvPr>
          <p:cNvGrpSpPr/>
          <p:nvPr/>
        </p:nvGrpSpPr>
        <p:grpSpPr>
          <a:xfrm>
            <a:off x="138738" y="1115569"/>
            <a:ext cx="11922198" cy="5211066"/>
            <a:chOff x="138738" y="1115568"/>
            <a:chExt cx="11922198" cy="5532119"/>
          </a:xfrm>
        </p:grpSpPr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138BB35-FB79-A7E1-571D-043E11916241}"/>
                </a:ext>
              </a:extLst>
            </p:cNvPr>
            <p:cNvSpPr/>
            <p:nvPr/>
          </p:nvSpPr>
          <p:spPr>
            <a:xfrm>
              <a:off x="182880" y="1115568"/>
              <a:ext cx="274320" cy="2743200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5828AA-672B-6E1F-1C30-DD01F27DBF7B}"/>
                </a:ext>
              </a:extLst>
            </p:cNvPr>
            <p:cNvSpPr txBox="1"/>
            <p:nvPr/>
          </p:nvSpPr>
          <p:spPr>
            <a:xfrm>
              <a:off x="138738" y="2121408"/>
              <a:ext cx="362599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맑은 고딕"/>
                </a:rPr>
                <a:t>M2</a:t>
              </a:r>
            </a:p>
          </p:txBody>
        </p:sp>
        <p:pic>
          <p:nvPicPr>
            <p:cNvPr id="15" name="Picture 12" descr="attention_heatmap_c2a.png">
              <a:extLst>
                <a:ext uri="{FF2B5EF4-FFF2-40B4-BE49-F238E27FC236}">
                  <a16:creationId xmlns:a16="http://schemas.microsoft.com/office/drawing/2014/main" id="{0F07171F-8460-B23F-691A-457A64CED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88" y="1115568"/>
              <a:ext cx="3593592" cy="178308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AF05E3-8891-A1F0-89CF-5EDFDA629495}"/>
                </a:ext>
              </a:extLst>
            </p:cNvPr>
            <p:cNvSpPr txBox="1"/>
            <p:nvPr/>
          </p:nvSpPr>
          <p:spPr>
            <a:xfrm>
              <a:off x="475488" y="294436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17" name="Picture 14" descr="attention_map_c2a.png">
              <a:extLst>
                <a:ext uri="{FF2B5EF4-FFF2-40B4-BE49-F238E27FC236}">
                  <a16:creationId xmlns:a16="http://schemas.microsoft.com/office/drawing/2014/main" id="{6D1F41B7-BD51-5057-16EE-9D8981220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5488" y="3127248"/>
              <a:ext cx="3593592" cy="685800"/>
            </a:xfrm>
            <a:prstGeom prst="rect">
              <a:avLst/>
            </a:prstGeom>
          </p:spPr>
        </p:pic>
        <p:pic>
          <p:nvPicPr>
            <p:cNvPr id="18" name="Picture 15" descr="attention_heatmap_a2c.png">
              <a:extLst>
                <a:ext uri="{FF2B5EF4-FFF2-40B4-BE49-F238E27FC236}">
                  <a16:creationId xmlns:a16="http://schemas.microsoft.com/office/drawing/2014/main" id="{98DEB33D-F5F2-A6AB-231E-6D4B97ADC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71416" y="1115568"/>
              <a:ext cx="3593592" cy="178308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FA3AE7-0A5B-E16E-B196-5C6D801B7AF6}"/>
                </a:ext>
              </a:extLst>
            </p:cNvPr>
            <p:cNvSpPr txBox="1"/>
            <p:nvPr/>
          </p:nvSpPr>
          <p:spPr>
            <a:xfrm>
              <a:off x="4471416" y="294436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20" name="Picture 17" descr="attention_map_a2c.png">
              <a:extLst>
                <a:ext uri="{FF2B5EF4-FFF2-40B4-BE49-F238E27FC236}">
                  <a16:creationId xmlns:a16="http://schemas.microsoft.com/office/drawing/2014/main" id="{931E14EC-D3EC-B5A6-A10A-73C13680C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1416" y="3127248"/>
              <a:ext cx="3593592" cy="685800"/>
            </a:xfrm>
            <a:prstGeom prst="rect">
              <a:avLst/>
            </a:prstGeom>
          </p:spPr>
        </p:pic>
        <p:pic>
          <p:nvPicPr>
            <p:cNvPr id="21" name="Picture 18" descr="cam_aec_heatmap.png">
              <a:extLst>
                <a:ext uri="{FF2B5EF4-FFF2-40B4-BE49-F238E27FC236}">
                  <a16:creationId xmlns:a16="http://schemas.microsoft.com/office/drawing/2014/main" id="{D322BE34-CE3D-AC08-9EB9-A9D0E571E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67344" y="1115568"/>
              <a:ext cx="3593592" cy="178308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6D822C-A045-AE1A-5284-078B54DDD17C}"/>
                </a:ext>
              </a:extLst>
            </p:cNvPr>
            <p:cNvSpPr txBox="1"/>
            <p:nvPr/>
          </p:nvSpPr>
          <p:spPr>
            <a:xfrm>
              <a:off x="8467344" y="294436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23" name="Picture 20" descr="cam_aec_mean.png">
              <a:extLst>
                <a:ext uri="{FF2B5EF4-FFF2-40B4-BE49-F238E27FC236}">
                  <a16:creationId xmlns:a16="http://schemas.microsoft.com/office/drawing/2014/main" id="{C6831C65-CA0F-C487-FC2C-8CB97103D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67344" y="3127248"/>
              <a:ext cx="3593592" cy="685800"/>
            </a:xfrm>
            <a:prstGeom prst="rect">
              <a:avLst/>
            </a:prstGeom>
          </p:spPr>
        </p:pic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8644AAA1-72E7-894E-BB9A-95394570AEB5}"/>
                </a:ext>
              </a:extLst>
            </p:cNvPr>
            <p:cNvSpPr/>
            <p:nvPr/>
          </p:nvSpPr>
          <p:spPr>
            <a:xfrm>
              <a:off x="182880" y="3904487"/>
              <a:ext cx="274320" cy="2743200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495A83-8677-96F5-F419-42D4350A8E9F}"/>
                </a:ext>
              </a:extLst>
            </p:cNvPr>
            <p:cNvSpPr txBox="1"/>
            <p:nvPr/>
          </p:nvSpPr>
          <p:spPr>
            <a:xfrm>
              <a:off x="138738" y="4910327"/>
              <a:ext cx="362599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  <a:latin typeface="맑은 고딕"/>
                </a:rPr>
                <a:t>M3</a:t>
              </a:r>
            </a:p>
          </p:txBody>
        </p:sp>
        <p:pic>
          <p:nvPicPr>
            <p:cNvPr id="26" name="Picture 23" descr="attention_heatmap_c2a.png">
              <a:extLst>
                <a:ext uri="{FF2B5EF4-FFF2-40B4-BE49-F238E27FC236}">
                  <a16:creationId xmlns:a16="http://schemas.microsoft.com/office/drawing/2014/main" id="{130885B8-AEA4-488D-4A2B-ABF1C9B36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5488" y="3904487"/>
              <a:ext cx="3593592" cy="178308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8809FD-E618-FD83-335F-86D9343806F6}"/>
                </a:ext>
              </a:extLst>
            </p:cNvPr>
            <p:cNvSpPr txBox="1"/>
            <p:nvPr/>
          </p:nvSpPr>
          <p:spPr>
            <a:xfrm>
              <a:off x="475488" y="573328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28" name="Picture 25" descr="attention_map_c2a.png">
              <a:extLst>
                <a:ext uri="{FF2B5EF4-FFF2-40B4-BE49-F238E27FC236}">
                  <a16:creationId xmlns:a16="http://schemas.microsoft.com/office/drawing/2014/main" id="{45D621C5-2B82-6437-B8E5-1461A90BE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488" y="5916168"/>
              <a:ext cx="3593592" cy="685800"/>
            </a:xfrm>
            <a:prstGeom prst="rect">
              <a:avLst/>
            </a:prstGeom>
          </p:spPr>
        </p:pic>
        <p:pic>
          <p:nvPicPr>
            <p:cNvPr id="29" name="Picture 26" descr="attention_heatmap_a2c.png">
              <a:extLst>
                <a:ext uri="{FF2B5EF4-FFF2-40B4-BE49-F238E27FC236}">
                  <a16:creationId xmlns:a16="http://schemas.microsoft.com/office/drawing/2014/main" id="{E06DACCA-D8B9-D914-F801-4E918448B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71416" y="3904487"/>
              <a:ext cx="3593592" cy="178308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4C5B58-34D7-708D-DA7C-B7309A5F0C8C}"/>
                </a:ext>
              </a:extLst>
            </p:cNvPr>
            <p:cNvSpPr txBox="1"/>
            <p:nvPr/>
          </p:nvSpPr>
          <p:spPr>
            <a:xfrm>
              <a:off x="4471416" y="573328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31" name="Picture 28" descr="attention_map_a2c.png">
              <a:extLst>
                <a:ext uri="{FF2B5EF4-FFF2-40B4-BE49-F238E27FC236}">
                  <a16:creationId xmlns:a16="http://schemas.microsoft.com/office/drawing/2014/main" id="{DA8200FC-667A-EC2D-B872-2676F3693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71416" y="5916168"/>
              <a:ext cx="3593592" cy="685800"/>
            </a:xfrm>
            <a:prstGeom prst="rect">
              <a:avLst/>
            </a:prstGeom>
          </p:spPr>
        </p:pic>
        <p:pic>
          <p:nvPicPr>
            <p:cNvPr id="32" name="Picture 29" descr="cam_aec_heatmap.png">
              <a:extLst>
                <a:ext uri="{FF2B5EF4-FFF2-40B4-BE49-F238E27FC236}">
                  <a16:creationId xmlns:a16="http://schemas.microsoft.com/office/drawing/2014/main" id="{22D4AA29-A551-44E1-AAF0-2A0A40DC2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467344" y="3904487"/>
              <a:ext cx="3593592" cy="178308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01C69C-AA16-8054-AAB6-7A6F206488C4}"/>
                </a:ext>
              </a:extLst>
            </p:cNvPr>
            <p:cNvSpPr txBox="1"/>
            <p:nvPr/>
          </p:nvSpPr>
          <p:spPr>
            <a:xfrm>
              <a:off x="8467344" y="5733288"/>
              <a:ext cx="3593592" cy="1645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800" b="0" i="1">
                  <a:solidFill>
                    <a:srgbClr val="9EA3AB"/>
                  </a:solidFill>
                  <a:latin typeface="맑은 고딕"/>
                </a:rPr>
                <a:t>— 평균 곡선 —</a:t>
              </a:r>
            </a:p>
          </p:txBody>
        </p:sp>
        <p:pic>
          <p:nvPicPr>
            <p:cNvPr id="34" name="Picture 31" descr="cam_aec_mean.png">
              <a:extLst>
                <a:ext uri="{FF2B5EF4-FFF2-40B4-BE49-F238E27FC236}">
                  <a16:creationId xmlns:a16="http://schemas.microsoft.com/office/drawing/2014/main" id="{62D1D516-3A89-67A9-5A12-AA100F49F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467344" y="5916168"/>
              <a:ext cx="3593592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566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299A-F6CC-6CF4-D5A3-7A999016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871F-034B-ECA0-9D96-7553000A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58C698-23FA-B742-CAB4-C96CCF93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69018859-ABA4-C44A-0B9A-AAEA5DEDA6FE}"/>
              </a:ext>
            </a:extLst>
          </p:cNvPr>
          <p:cNvGrpSpPr/>
          <p:nvPr/>
        </p:nvGrpSpPr>
        <p:grpSpPr>
          <a:xfrm>
            <a:off x="274320" y="1623366"/>
            <a:ext cx="11612880" cy="1682496"/>
            <a:chOff x="274320" y="905256"/>
            <a:chExt cx="11612880" cy="1682496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CF3F8F17-2A4E-B112-212A-42DD0CF543CC}"/>
                </a:ext>
              </a:extLst>
            </p:cNvPr>
            <p:cNvSpPr/>
            <p:nvPr/>
          </p:nvSpPr>
          <p:spPr>
            <a:xfrm>
              <a:off x="274320" y="905256"/>
              <a:ext cx="11612880" cy="1682496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2FA0ACC-6334-BC77-B232-B6D6FADA5F90}"/>
                </a:ext>
              </a:extLst>
            </p:cNvPr>
            <p:cNvGrpSpPr/>
            <p:nvPr/>
          </p:nvGrpSpPr>
          <p:grpSpPr>
            <a:xfrm>
              <a:off x="365760" y="1037338"/>
              <a:ext cx="11425646" cy="1417320"/>
              <a:chOff x="365760" y="950976"/>
              <a:chExt cx="11658600" cy="1417320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A234BEEC-C9D6-B739-B4A3-877CCB0B84CE}"/>
                  </a:ext>
                </a:extLst>
              </p:cNvPr>
              <p:cNvSpPr/>
              <p:nvPr/>
            </p:nvSpPr>
            <p:spPr>
              <a:xfrm>
                <a:off x="365760" y="950976"/>
                <a:ext cx="132588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60513A-E57E-F606-978D-0948A8C66E88}"/>
                  </a:ext>
                </a:extLst>
              </p:cNvPr>
              <p:cNvSpPr txBox="1"/>
              <p:nvPr/>
            </p:nvSpPr>
            <p:spPr>
              <a:xfrm>
                <a:off x="365760" y="950976"/>
                <a:ext cx="132588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모델</a:t>
                </a: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7A6C59F7-0D48-069D-F569-85221F4EE365}"/>
                  </a:ext>
                </a:extLst>
              </p:cNvPr>
              <p:cNvSpPr/>
              <p:nvPr/>
            </p:nvSpPr>
            <p:spPr>
              <a:xfrm>
                <a:off x="1737360" y="950976"/>
                <a:ext cx="118872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569A67-A45E-FD56-6E55-9FF5CA9A410E}"/>
                  </a:ext>
                </a:extLst>
              </p:cNvPr>
              <p:cNvSpPr txBox="1"/>
              <p:nvPr/>
            </p:nvSpPr>
            <p:spPr>
              <a:xfrm>
                <a:off x="1737360" y="950976"/>
                <a:ext cx="118872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전체 AUC</a:t>
                </a: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FCE6FCCD-596B-4AA5-6CDC-9A7E4B5F2745}"/>
                  </a:ext>
                </a:extLst>
              </p:cNvPr>
              <p:cNvSpPr/>
              <p:nvPr/>
            </p:nvSpPr>
            <p:spPr>
              <a:xfrm>
                <a:off x="2971800" y="950976"/>
                <a:ext cx="12344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8956B-A818-1EB6-5516-BB811D1842FE}"/>
                  </a:ext>
                </a:extLst>
              </p:cNvPr>
              <p:cNvSpPr txBox="1"/>
              <p:nvPr/>
            </p:nvSpPr>
            <p:spPr>
              <a:xfrm>
                <a:off x="2971800" y="950976"/>
                <a:ext cx="12344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전체 CI</a:t>
                </a: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AC93756D-2DBD-5E99-7E33-71034378A80D}"/>
                  </a:ext>
                </a:extLst>
              </p:cNvPr>
              <p:cNvSpPr/>
              <p:nvPr/>
            </p:nvSpPr>
            <p:spPr>
              <a:xfrm>
                <a:off x="4251960" y="950976"/>
                <a:ext cx="12344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3A3DD2-610C-AC32-C792-CD65A98B59B8}"/>
                  </a:ext>
                </a:extLst>
              </p:cNvPr>
              <p:cNvSpPr txBox="1"/>
              <p:nvPr/>
            </p:nvSpPr>
            <p:spPr>
              <a:xfrm>
                <a:off x="4251960" y="950976"/>
                <a:ext cx="12344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남성 AUC</a:t>
                </a: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38D997AF-5E2B-6BDA-EEE8-80F5370CEF24}"/>
                  </a:ext>
                </a:extLst>
              </p:cNvPr>
              <p:cNvSpPr/>
              <p:nvPr/>
            </p:nvSpPr>
            <p:spPr>
              <a:xfrm>
                <a:off x="5532120" y="950976"/>
                <a:ext cx="118872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9C4543-CADF-FA5D-D492-B1A02C908DA4}"/>
                  </a:ext>
                </a:extLst>
              </p:cNvPr>
              <p:cNvSpPr txBox="1"/>
              <p:nvPr/>
            </p:nvSpPr>
            <p:spPr>
              <a:xfrm>
                <a:off x="5532120" y="950976"/>
                <a:ext cx="118872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남성 CI</a:t>
                </a: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CF51D732-8CF4-CD17-2DFB-05115B84FB4E}"/>
                  </a:ext>
                </a:extLst>
              </p:cNvPr>
              <p:cNvSpPr/>
              <p:nvPr/>
            </p:nvSpPr>
            <p:spPr>
              <a:xfrm>
                <a:off x="6766560" y="950976"/>
                <a:ext cx="12344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5A1B71-1C8E-4649-AEA8-AEE67AE394CE}"/>
                  </a:ext>
                </a:extLst>
              </p:cNvPr>
              <p:cNvSpPr txBox="1"/>
              <p:nvPr/>
            </p:nvSpPr>
            <p:spPr>
              <a:xfrm>
                <a:off x="6766560" y="950976"/>
                <a:ext cx="12344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여성 AUC</a:t>
                </a:r>
              </a:p>
            </p:txBody>
          </p:sp>
          <p:sp>
            <p:nvSpPr>
              <p:cNvPr id="17" name="Rectangle 17">
                <a:extLst>
                  <a:ext uri="{FF2B5EF4-FFF2-40B4-BE49-F238E27FC236}">
                    <a16:creationId xmlns:a16="http://schemas.microsoft.com/office/drawing/2014/main" id="{1C9372B9-11D2-44F9-F83C-7F590F545863}"/>
                  </a:ext>
                </a:extLst>
              </p:cNvPr>
              <p:cNvSpPr/>
              <p:nvPr/>
            </p:nvSpPr>
            <p:spPr>
              <a:xfrm>
                <a:off x="8046720" y="950976"/>
                <a:ext cx="12344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030CB1-DF95-5CE8-4866-AC9F9AF1191C}"/>
                  </a:ext>
                </a:extLst>
              </p:cNvPr>
              <p:cNvSpPr txBox="1"/>
              <p:nvPr/>
            </p:nvSpPr>
            <p:spPr>
              <a:xfrm>
                <a:off x="8046720" y="950976"/>
                <a:ext cx="12344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여성 CI</a:t>
                </a: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C90F1B0F-534F-FD8D-2C4C-F7FF3C18079C}"/>
                  </a:ext>
                </a:extLst>
              </p:cNvPr>
              <p:cNvSpPr/>
              <p:nvPr/>
            </p:nvSpPr>
            <p:spPr>
              <a:xfrm>
                <a:off x="9326880" y="950976"/>
                <a:ext cx="123444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027744-8192-AFE9-39CF-832808049F3C}"/>
                  </a:ext>
                </a:extLst>
              </p:cNvPr>
              <p:cNvSpPr txBox="1"/>
              <p:nvPr/>
            </p:nvSpPr>
            <p:spPr>
              <a:xfrm>
                <a:off x="9326880" y="950976"/>
                <a:ext cx="123444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남 AUPRC</a:t>
                </a:r>
              </a:p>
            </p:txBody>
          </p:sp>
          <p:sp>
            <p:nvSpPr>
              <p:cNvPr id="21" name="Rectangle 21">
                <a:extLst>
                  <a:ext uri="{FF2B5EF4-FFF2-40B4-BE49-F238E27FC236}">
                    <a16:creationId xmlns:a16="http://schemas.microsoft.com/office/drawing/2014/main" id="{67A18CCC-601F-5C56-CF90-3D39183AE668}"/>
                  </a:ext>
                </a:extLst>
              </p:cNvPr>
              <p:cNvSpPr/>
              <p:nvPr/>
            </p:nvSpPr>
            <p:spPr>
              <a:xfrm>
                <a:off x="10607040" y="950976"/>
                <a:ext cx="1417320" cy="274320"/>
              </a:xfrm>
              <a:prstGeom prst="rect">
                <a:avLst/>
              </a:prstGeom>
              <a:solidFill>
                <a:srgbClr val="1A1A2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F09C78-7542-BD21-C3D0-8B467A90B880}"/>
                  </a:ext>
                </a:extLst>
              </p:cNvPr>
              <p:cNvSpPr txBox="1"/>
              <p:nvPr/>
            </p:nvSpPr>
            <p:spPr>
              <a:xfrm>
                <a:off x="10607040" y="950976"/>
                <a:ext cx="1417320" cy="2743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  <a:latin typeface="맑은 고딕"/>
                  </a:rPr>
                  <a:t>여 AUPRC</a:t>
                </a:r>
              </a:p>
            </p:txBody>
          </p:sp>
          <p:sp>
            <p:nvSpPr>
              <p:cNvPr id="23" name="Rectangle 23">
                <a:extLst>
                  <a:ext uri="{FF2B5EF4-FFF2-40B4-BE49-F238E27FC236}">
                    <a16:creationId xmlns:a16="http://schemas.microsoft.com/office/drawing/2014/main" id="{8FD02DD7-D0D1-E480-5EAE-295818CB5E5C}"/>
                  </a:ext>
                </a:extLst>
              </p:cNvPr>
              <p:cNvSpPr/>
              <p:nvPr/>
            </p:nvSpPr>
            <p:spPr>
              <a:xfrm>
                <a:off x="365760" y="1243584"/>
                <a:ext cx="132588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D4A8D4B-805F-644E-9A63-C90656FCEDD8}"/>
                  </a:ext>
                </a:extLst>
              </p:cNvPr>
              <p:cNvSpPr txBox="1"/>
              <p:nvPr/>
            </p:nvSpPr>
            <p:spPr>
              <a:xfrm>
                <a:off x="365760" y="1243584"/>
                <a:ext cx="132588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M1 (LR)</a:t>
                </a:r>
              </a:p>
            </p:txBody>
          </p:sp>
          <p:sp>
            <p:nvSpPr>
              <p:cNvPr id="25" name="Rectangle 25">
                <a:extLst>
                  <a:ext uri="{FF2B5EF4-FFF2-40B4-BE49-F238E27FC236}">
                    <a16:creationId xmlns:a16="http://schemas.microsoft.com/office/drawing/2014/main" id="{CA6D7892-5A4F-2C2F-8D4B-55E72080ED85}"/>
                  </a:ext>
                </a:extLst>
              </p:cNvPr>
              <p:cNvSpPr/>
              <p:nvPr/>
            </p:nvSpPr>
            <p:spPr>
              <a:xfrm>
                <a:off x="1737360" y="1243584"/>
                <a:ext cx="118872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15D93B3-0977-2FE2-D203-CC04D1A6CD88}"/>
                  </a:ext>
                </a:extLst>
              </p:cNvPr>
              <p:cNvSpPr txBox="1"/>
              <p:nvPr/>
            </p:nvSpPr>
            <p:spPr>
              <a:xfrm>
                <a:off x="1737360" y="1243584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0.8030</a:t>
                </a:r>
              </a:p>
            </p:txBody>
          </p:sp>
          <p:sp>
            <p:nvSpPr>
              <p:cNvPr id="27" name="Rectangle 27">
                <a:extLst>
                  <a:ext uri="{FF2B5EF4-FFF2-40B4-BE49-F238E27FC236}">
                    <a16:creationId xmlns:a16="http://schemas.microsoft.com/office/drawing/2014/main" id="{537FA437-841E-7C07-5702-920EF91D4FC3}"/>
                  </a:ext>
                </a:extLst>
              </p:cNvPr>
              <p:cNvSpPr/>
              <p:nvPr/>
            </p:nvSpPr>
            <p:spPr>
              <a:xfrm>
                <a:off x="2971800" y="1243584"/>
                <a:ext cx="123444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11E05D-F4D3-C0F2-B28A-9B58BB2D2B8B}"/>
                  </a:ext>
                </a:extLst>
              </p:cNvPr>
              <p:cNvSpPr txBox="1"/>
              <p:nvPr/>
            </p:nvSpPr>
            <p:spPr>
              <a:xfrm>
                <a:off x="2971800" y="1243584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[0.720,0.872]</a:t>
                </a:r>
              </a:p>
            </p:txBody>
          </p:sp>
          <p:sp>
            <p:nvSpPr>
              <p:cNvPr id="29" name="Rectangle 29">
                <a:extLst>
                  <a:ext uri="{FF2B5EF4-FFF2-40B4-BE49-F238E27FC236}">
                    <a16:creationId xmlns:a16="http://schemas.microsoft.com/office/drawing/2014/main" id="{D734D955-D36F-C05D-A708-EFDB5AC3F8A0}"/>
                  </a:ext>
                </a:extLst>
              </p:cNvPr>
              <p:cNvSpPr/>
              <p:nvPr/>
            </p:nvSpPr>
            <p:spPr>
              <a:xfrm>
                <a:off x="4251960" y="1243584"/>
                <a:ext cx="123444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4BAD32-9371-3A91-615D-31198684C01C}"/>
                  </a:ext>
                </a:extLst>
              </p:cNvPr>
              <p:cNvSpPr txBox="1"/>
              <p:nvPr/>
            </p:nvSpPr>
            <p:spPr>
              <a:xfrm>
                <a:off x="4251960" y="1243584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0.7035</a:t>
                </a:r>
              </a:p>
            </p:txBody>
          </p:sp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F3181399-12FF-21BD-EDA6-FE51D4ADE8B7}"/>
                  </a:ext>
                </a:extLst>
              </p:cNvPr>
              <p:cNvSpPr/>
              <p:nvPr/>
            </p:nvSpPr>
            <p:spPr>
              <a:xfrm>
                <a:off x="5532120" y="1243584"/>
                <a:ext cx="118872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CC5498-1CB0-C99E-1432-2D224C562A0D}"/>
                  </a:ext>
                </a:extLst>
              </p:cNvPr>
              <p:cNvSpPr txBox="1"/>
              <p:nvPr/>
            </p:nvSpPr>
            <p:spPr>
              <a:xfrm>
                <a:off x="5532120" y="1243584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33" name="Rectangle 33">
                <a:extLst>
                  <a:ext uri="{FF2B5EF4-FFF2-40B4-BE49-F238E27FC236}">
                    <a16:creationId xmlns:a16="http://schemas.microsoft.com/office/drawing/2014/main" id="{D102CA50-3401-5003-3116-2CC27C3A3598}"/>
                  </a:ext>
                </a:extLst>
              </p:cNvPr>
              <p:cNvSpPr/>
              <p:nvPr/>
            </p:nvSpPr>
            <p:spPr>
              <a:xfrm>
                <a:off x="6766560" y="1243584"/>
                <a:ext cx="123444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47831D-8937-D679-8172-6CB0992518F9}"/>
                  </a:ext>
                </a:extLst>
              </p:cNvPr>
              <p:cNvSpPr txBox="1"/>
              <p:nvPr/>
            </p:nvSpPr>
            <p:spPr>
              <a:xfrm>
                <a:off x="6766560" y="1243584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0.8483</a:t>
                </a:r>
              </a:p>
            </p:txBody>
          </p:sp>
          <p:sp>
            <p:nvSpPr>
              <p:cNvPr id="35" name="Rectangle 35">
                <a:extLst>
                  <a:ext uri="{FF2B5EF4-FFF2-40B4-BE49-F238E27FC236}">
                    <a16:creationId xmlns:a16="http://schemas.microsoft.com/office/drawing/2014/main" id="{897FD618-8C4E-D5F0-4699-2E03BCB4B629}"/>
                  </a:ext>
                </a:extLst>
              </p:cNvPr>
              <p:cNvSpPr/>
              <p:nvPr/>
            </p:nvSpPr>
            <p:spPr>
              <a:xfrm>
                <a:off x="8046720" y="1243584"/>
                <a:ext cx="123444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E55B9A7-7405-41C1-B82D-8859E30F8218}"/>
                  </a:ext>
                </a:extLst>
              </p:cNvPr>
              <p:cNvSpPr txBox="1"/>
              <p:nvPr/>
            </p:nvSpPr>
            <p:spPr>
              <a:xfrm>
                <a:off x="8046720" y="1243584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37" name="Rectangle 37">
                <a:extLst>
                  <a:ext uri="{FF2B5EF4-FFF2-40B4-BE49-F238E27FC236}">
                    <a16:creationId xmlns:a16="http://schemas.microsoft.com/office/drawing/2014/main" id="{6358FB95-36A2-DBF9-6BD7-682A348FD6AD}"/>
                  </a:ext>
                </a:extLst>
              </p:cNvPr>
              <p:cNvSpPr/>
              <p:nvPr/>
            </p:nvSpPr>
            <p:spPr>
              <a:xfrm>
                <a:off x="9326880" y="1243584"/>
                <a:ext cx="123444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D9479B-1065-415C-76D4-825A4EF04893}"/>
                  </a:ext>
                </a:extLst>
              </p:cNvPr>
              <p:cNvSpPr txBox="1"/>
              <p:nvPr/>
            </p:nvSpPr>
            <p:spPr>
              <a:xfrm>
                <a:off x="9326880" y="1243584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0.3155</a:t>
                </a:r>
              </a:p>
            </p:txBody>
          </p:sp>
          <p:sp>
            <p:nvSpPr>
              <p:cNvPr id="39" name="Rectangle 39">
                <a:extLst>
                  <a:ext uri="{FF2B5EF4-FFF2-40B4-BE49-F238E27FC236}">
                    <a16:creationId xmlns:a16="http://schemas.microsoft.com/office/drawing/2014/main" id="{7F2C7745-0294-EFDC-1740-7BE8891480C2}"/>
                  </a:ext>
                </a:extLst>
              </p:cNvPr>
              <p:cNvSpPr/>
              <p:nvPr/>
            </p:nvSpPr>
            <p:spPr>
              <a:xfrm>
                <a:off x="10607040" y="1243584"/>
                <a:ext cx="1417320" cy="374904"/>
              </a:xfrm>
              <a:prstGeom prst="rect">
                <a:avLst/>
              </a:prstGeom>
              <a:solidFill>
                <a:srgbClr val="F0F4F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106E02-17FC-CB65-84AF-6067FD8D0F37}"/>
                  </a:ext>
                </a:extLst>
              </p:cNvPr>
              <p:cNvSpPr txBox="1"/>
              <p:nvPr/>
            </p:nvSpPr>
            <p:spPr>
              <a:xfrm>
                <a:off x="10607040" y="1243584"/>
                <a:ext cx="14173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0.4748</a:t>
                </a:r>
              </a:p>
            </p:txBody>
          </p:sp>
          <p:sp>
            <p:nvSpPr>
              <p:cNvPr id="41" name="Rectangle 41">
                <a:extLst>
                  <a:ext uri="{FF2B5EF4-FFF2-40B4-BE49-F238E27FC236}">
                    <a16:creationId xmlns:a16="http://schemas.microsoft.com/office/drawing/2014/main" id="{45779FB8-A57F-C12B-17E7-CCAB5650511B}"/>
                  </a:ext>
                </a:extLst>
              </p:cNvPr>
              <p:cNvSpPr/>
              <p:nvPr/>
            </p:nvSpPr>
            <p:spPr>
              <a:xfrm>
                <a:off x="365760" y="1618488"/>
                <a:ext cx="132588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8C7E65-9140-4C1E-BBA3-81966463E474}"/>
                  </a:ext>
                </a:extLst>
              </p:cNvPr>
              <p:cNvSpPr txBox="1"/>
              <p:nvPr/>
            </p:nvSpPr>
            <p:spPr>
              <a:xfrm>
                <a:off x="365760" y="1618488"/>
                <a:ext cx="132588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M2 (CrossAttn)</a:t>
                </a:r>
              </a:p>
            </p:txBody>
          </p:sp>
          <p:sp>
            <p:nvSpPr>
              <p:cNvPr id="43" name="Rectangle 43">
                <a:extLst>
                  <a:ext uri="{FF2B5EF4-FFF2-40B4-BE49-F238E27FC236}">
                    <a16:creationId xmlns:a16="http://schemas.microsoft.com/office/drawing/2014/main" id="{1679E274-DAFF-50F3-9673-C9127840BDBA}"/>
                  </a:ext>
                </a:extLst>
              </p:cNvPr>
              <p:cNvSpPr/>
              <p:nvPr/>
            </p:nvSpPr>
            <p:spPr>
              <a:xfrm>
                <a:off x="1737360" y="1618488"/>
                <a:ext cx="118872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257AC7-3E51-1577-27C7-06FE17F71856}"/>
                  </a:ext>
                </a:extLst>
              </p:cNvPr>
              <p:cNvSpPr txBox="1"/>
              <p:nvPr/>
            </p:nvSpPr>
            <p:spPr>
              <a:xfrm>
                <a:off x="1737360" y="1618488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0.8118</a:t>
                </a:r>
              </a:p>
            </p:txBody>
          </p:sp>
          <p:sp>
            <p:nvSpPr>
              <p:cNvPr id="45" name="Rectangle 45">
                <a:extLst>
                  <a:ext uri="{FF2B5EF4-FFF2-40B4-BE49-F238E27FC236}">
                    <a16:creationId xmlns:a16="http://schemas.microsoft.com/office/drawing/2014/main" id="{4E10471F-A709-34C6-384A-F4A6D9321EB2}"/>
                  </a:ext>
                </a:extLst>
              </p:cNvPr>
              <p:cNvSpPr/>
              <p:nvPr/>
            </p:nvSpPr>
            <p:spPr>
              <a:xfrm>
                <a:off x="2971800" y="1618488"/>
                <a:ext cx="123444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31DEDF5-FAD7-8DE5-9926-2E00EDCAA1B8}"/>
                  </a:ext>
                </a:extLst>
              </p:cNvPr>
              <p:cNvSpPr txBox="1"/>
              <p:nvPr/>
            </p:nvSpPr>
            <p:spPr>
              <a:xfrm>
                <a:off x="2971800" y="1618488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[0.741,0.877]</a:t>
                </a:r>
              </a:p>
            </p:txBody>
          </p:sp>
          <p:sp>
            <p:nvSpPr>
              <p:cNvPr id="47" name="Rectangle 47">
                <a:extLst>
                  <a:ext uri="{FF2B5EF4-FFF2-40B4-BE49-F238E27FC236}">
                    <a16:creationId xmlns:a16="http://schemas.microsoft.com/office/drawing/2014/main" id="{03030928-3650-828B-7C2E-34D2F6D762D5}"/>
                  </a:ext>
                </a:extLst>
              </p:cNvPr>
              <p:cNvSpPr/>
              <p:nvPr/>
            </p:nvSpPr>
            <p:spPr>
              <a:xfrm>
                <a:off x="4251960" y="1618488"/>
                <a:ext cx="123444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7C0936C-27C1-A195-D11D-7B1B80E666EB}"/>
                  </a:ext>
                </a:extLst>
              </p:cNvPr>
              <p:cNvSpPr txBox="1"/>
              <p:nvPr/>
            </p:nvSpPr>
            <p:spPr>
              <a:xfrm>
                <a:off x="4251960" y="1618488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0.7246</a:t>
                </a:r>
              </a:p>
            </p:txBody>
          </p:sp>
          <p:sp>
            <p:nvSpPr>
              <p:cNvPr id="49" name="Rectangle 49">
                <a:extLst>
                  <a:ext uri="{FF2B5EF4-FFF2-40B4-BE49-F238E27FC236}">
                    <a16:creationId xmlns:a16="http://schemas.microsoft.com/office/drawing/2014/main" id="{5614F783-C70A-3265-FBDA-BE67E63C0981}"/>
                  </a:ext>
                </a:extLst>
              </p:cNvPr>
              <p:cNvSpPr/>
              <p:nvPr/>
            </p:nvSpPr>
            <p:spPr>
              <a:xfrm>
                <a:off x="5532120" y="1618488"/>
                <a:ext cx="118872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3F70010-C17F-AA5A-2D82-FD236E713628}"/>
                  </a:ext>
                </a:extLst>
              </p:cNvPr>
              <p:cNvSpPr txBox="1"/>
              <p:nvPr/>
            </p:nvSpPr>
            <p:spPr>
              <a:xfrm>
                <a:off x="5532120" y="1618488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51" name="Rectangle 51">
                <a:extLst>
                  <a:ext uri="{FF2B5EF4-FFF2-40B4-BE49-F238E27FC236}">
                    <a16:creationId xmlns:a16="http://schemas.microsoft.com/office/drawing/2014/main" id="{888726C7-1B03-19AF-45CD-EDE71E7C58C2}"/>
                  </a:ext>
                </a:extLst>
              </p:cNvPr>
              <p:cNvSpPr/>
              <p:nvPr/>
            </p:nvSpPr>
            <p:spPr>
              <a:xfrm>
                <a:off x="6766560" y="1618488"/>
                <a:ext cx="123444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AD20E7F-C5EF-898B-65CE-468C0F7743E6}"/>
                  </a:ext>
                </a:extLst>
              </p:cNvPr>
              <p:cNvSpPr txBox="1"/>
              <p:nvPr/>
            </p:nvSpPr>
            <p:spPr>
              <a:xfrm>
                <a:off x="6766560" y="1618488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0.8576</a:t>
                </a:r>
              </a:p>
            </p:txBody>
          </p:sp>
          <p:sp>
            <p:nvSpPr>
              <p:cNvPr id="53" name="Rectangle 53">
                <a:extLst>
                  <a:ext uri="{FF2B5EF4-FFF2-40B4-BE49-F238E27FC236}">
                    <a16:creationId xmlns:a16="http://schemas.microsoft.com/office/drawing/2014/main" id="{55A686A5-FE97-682E-E5F9-A5A409F34802}"/>
                  </a:ext>
                </a:extLst>
              </p:cNvPr>
              <p:cNvSpPr/>
              <p:nvPr/>
            </p:nvSpPr>
            <p:spPr>
              <a:xfrm>
                <a:off x="8046720" y="1618488"/>
                <a:ext cx="123444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94FC0F7-1F96-489A-B3CF-C7FCBB0DE87F}"/>
                  </a:ext>
                </a:extLst>
              </p:cNvPr>
              <p:cNvSpPr txBox="1"/>
              <p:nvPr/>
            </p:nvSpPr>
            <p:spPr>
              <a:xfrm>
                <a:off x="8046720" y="1618488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55" name="Rectangle 55">
                <a:extLst>
                  <a:ext uri="{FF2B5EF4-FFF2-40B4-BE49-F238E27FC236}">
                    <a16:creationId xmlns:a16="http://schemas.microsoft.com/office/drawing/2014/main" id="{65C70736-68C6-846D-324C-3DF4D8400359}"/>
                  </a:ext>
                </a:extLst>
              </p:cNvPr>
              <p:cNvSpPr/>
              <p:nvPr/>
            </p:nvSpPr>
            <p:spPr>
              <a:xfrm>
                <a:off x="9326880" y="1618488"/>
                <a:ext cx="123444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CCE7DD-2F62-6343-5DB2-B5F5BD990814}"/>
                  </a:ext>
                </a:extLst>
              </p:cNvPr>
              <p:cNvSpPr txBox="1"/>
              <p:nvPr/>
            </p:nvSpPr>
            <p:spPr>
              <a:xfrm>
                <a:off x="9326880" y="1618488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0.3792</a:t>
                </a:r>
              </a:p>
            </p:txBody>
          </p:sp>
          <p:sp>
            <p:nvSpPr>
              <p:cNvPr id="57" name="Rectangle 57">
                <a:extLst>
                  <a:ext uri="{FF2B5EF4-FFF2-40B4-BE49-F238E27FC236}">
                    <a16:creationId xmlns:a16="http://schemas.microsoft.com/office/drawing/2014/main" id="{5AA12FAF-4B3B-630D-2A13-0BC6DCC175CA}"/>
                  </a:ext>
                </a:extLst>
              </p:cNvPr>
              <p:cNvSpPr/>
              <p:nvPr/>
            </p:nvSpPr>
            <p:spPr>
              <a:xfrm>
                <a:off x="10607040" y="1618488"/>
                <a:ext cx="1417320" cy="374904"/>
              </a:xfrm>
              <a:prstGeom prst="rect">
                <a:avLst/>
              </a:prstGeom>
              <a:solidFill>
                <a:srgbClr val="E8F4E8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088987-7048-080D-69E7-C26026E480C8}"/>
                  </a:ext>
                </a:extLst>
              </p:cNvPr>
              <p:cNvSpPr txBox="1"/>
              <p:nvPr/>
            </p:nvSpPr>
            <p:spPr>
              <a:xfrm>
                <a:off x="10607040" y="1618488"/>
                <a:ext cx="14173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0.3593</a:t>
                </a:r>
              </a:p>
            </p:txBody>
          </p:sp>
          <p:sp>
            <p:nvSpPr>
              <p:cNvPr id="59" name="Rectangle 59">
                <a:extLst>
                  <a:ext uri="{FF2B5EF4-FFF2-40B4-BE49-F238E27FC236}">
                    <a16:creationId xmlns:a16="http://schemas.microsoft.com/office/drawing/2014/main" id="{5C0A0331-C0CE-E0C7-7487-9DF65ED60309}"/>
                  </a:ext>
                </a:extLst>
              </p:cNvPr>
              <p:cNvSpPr/>
              <p:nvPr/>
            </p:nvSpPr>
            <p:spPr>
              <a:xfrm>
                <a:off x="365760" y="1993392"/>
                <a:ext cx="132588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33196E0-6AEB-0969-EA52-64A22E6ACF24}"/>
                  </a:ext>
                </a:extLst>
              </p:cNvPr>
              <p:cNvSpPr txBox="1"/>
              <p:nvPr/>
            </p:nvSpPr>
            <p:spPr>
              <a:xfrm>
                <a:off x="365760" y="1993392"/>
                <a:ext cx="132588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M3 (CrossAttn3)</a:t>
                </a:r>
              </a:p>
            </p:txBody>
          </p:sp>
          <p:sp>
            <p:nvSpPr>
              <p:cNvPr id="61" name="Rectangle 61">
                <a:extLst>
                  <a:ext uri="{FF2B5EF4-FFF2-40B4-BE49-F238E27FC236}">
                    <a16:creationId xmlns:a16="http://schemas.microsoft.com/office/drawing/2014/main" id="{85E860A3-71F6-88E5-CD89-21BEFF857F68}"/>
                  </a:ext>
                </a:extLst>
              </p:cNvPr>
              <p:cNvSpPr/>
              <p:nvPr/>
            </p:nvSpPr>
            <p:spPr>
              <a:xfrm>
                <a:off x="1737360" y="1993392"/>
                <a:ext cx="118872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3F447C-7507-92ED-87B6-97A464166F56}"/>
                  </a:ext>
                </a:extLst>
              </p:cNvPr>
              <p:cNvSpPr txBox="1"/>
              <p:nvPr/>
            </p:nvSpPr>
            <p:spPr>
              <a:xfrm>
                <a:off x="1737360" y="1993392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0.8209</a:t>
                </a:r>
              </a:p>
            </p:txBody>
          </p:sp>
          <p:sp>
            <p:nvSpPr>
              <p:cNvPr id="63" name="Rectangle 63">
                <a:extLst>
                  <a:ext uri="{FF2B5EF4-FFF2-40B4-BE49-F238E27FC236}">
                    <a16:creationId xmlns:a16="http://schemas.microsoft.com/office/drawing/2014/main" id="{89AE14E0-C181-77DF-34F1-78CC962321D6}"/>
                  </a:ext>
                </a:extLst>
              </p:cNvPr>
              <p:cNvSpPr/>
              <p:nvPr/>
            </p:nvSpPr>
            <p:spPr>
              <a:xfrm>
                <a:off x="2971800" y="1993392"/>
                <a:ext cx="123444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4C793AC-A6D2-1731-BF9C-54220D2E4E83}"/>
                  </a:ext>
                </a:extLst>
              </p:cNvPr>
              <p:cNvSpPr txBox="1"/>
              <p:nvPr/>
            </p:nvSpPr>
            <p:spPr>
              <a:xfrm>
                <a:off x="2971800" y="1993392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[0.740,0.889]</a:t>
                </a:r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61FBF294-30F9-55DB-9383-F11189B9C50F}"/>
                  </a:ext>
                </a:extLst>
              </p:cNvPr>
              <p:cNvSpPr/>
              <p:nvPr/>
            </p:nvSpPr>
            <p:spPr>
              <a:xfrm>
                <a:off x="4251960" y="1993392"/>
                <a:ext cx="123444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C1B50FCA-8BE6-414A-56E6-44C0173377FB}"/>
                  </a:ext>
                </a:extLst>
              </p:cNvPr>
              <p:cNvSpPr txBox="1"/>
              <p:nvPr/>
            </p:nvSpPr>
            <p:spPr>
              <a:xfrm>
                <a:off x="4251960" y="1993392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0.7291</a:t>
                </a:r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9B3D8F45-40C8-3F3B-366C-24BD6D3A33E2}"/>
                  </a:ext>
                </a:extLst>
              </p:cNvPr>
              <p:cNvSpPr/>
              <p:nvPr/>
            </p:nvSpPr>
            <p:spPr>
              <a:xfrm>
                <a:off x="5532120" y="1993392"/>
                <a:ext cx="118872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87551A6-68FD-9028-FE89-4ECCBCFDB2D0}"/>
                  </a:ext>
                </a:extLst>
              </p:cNvPr>
              <p:cNvSpPr txBox="1"/>
              <p:nvPr/>
            </p:nvSpPr>
            <p:spPr>
              <a:xfrm>
                <a:off x="5532120" y="1993392"/>
                <a:ext cx="11887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134" name="Rectangle 69">
                <a:extLst>
                  <a:ext uri="{FF2B5EF4-FFF2-40B4-BE49-F238E27FC236}">
                    <a16:creationId xmlns:a16="http://schemas.microsoft.com/office/drawing/2014/main" id="{E22C79AB-1CA3-524F-1999-E014F1EB7BC5}"/>
                  </a:ext>
                </a:extLst>
              </p:cNvPr>
              <p:cNvSpPr/>
              <p:nvPr/>
            </p:nvSpPr>
            <p:spPr>
              <a:xfrm>
                <a:off x="6766560" y="1993392"/>
                <a:ext cx="123444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85F23835-182A-62B9-A488-9DF3C0BC0D7F}"/>
                  </a:ext>
                </a:extLst>
              </p:cNvPr>
              <p:cNvSpPr txBox="1"/>
              <p:nvPr/>
            </p:nvSpPr>
            <p:spPr>
              <a:xfrm>
                <a:off x="6766560" y="1993392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0.8610</a:t>
                </a:r>
              </a:p>
            </p:txBody>
          </p:sp>
          <p:sp>
            <p:nvSpPr>
              <p:cNvPr id="136" name="Rectangle 71">
                <a:extLst>
                  <a:ext uri="{FF2B5EF4-FFF2-40B4-BE49-F238E27FC236}">
                    <a16:creationId xmlns:a16="http://schemas.microsoft.com/office/drawing/2014/main" id="{96BFD7C1-8442-01B3-D771-474656BE9BAB}"/>
                  </a:ext>
                </a:extLst>
              </p:cNvPr>
              <p:cNvSpPr/>
              <p:nvPr/>
            </p:nvSpPr>
            <p:spPr>
              <a:xfrm>
                <a:off x="8046720" y="1993392"/>
                <a:ext cx="123444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24C2105-5DB7-E9DC-D868-ABA755FFDDA5}"/>
                  </a:ext>
                </a:extLst>
              </p:cNvPr>
              <p:cNvSpPr txBox="1"/>
              <p:nvPr/>
            </p:nvSpPr>
            <p:spPr>
              <a:xfrm>
                <a:off x="8046720" y="1993392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—</a:t>
                </a:r>
              </a:p>
            </p:txBody>
          </p:sp>
          <p:sp>
            <p:nvSpPr>
              <p:cNvPr id="138" name="Rectangle 73">
                <a:extLst>
                  <a:ext uri="{FF2B5EF4-FFF2-40B4-BE49-F238E27FC236}">
                    <a16:creationId xmlns:a16="http://schemas.microsoft.com/office/drawing/2014/main" id="{1593F45F-63E1-E38E-1B04-861E2C018BBE}"/>
                  </a:ext>
                </a:extLst>
              </p:cNvPr>
              <p:cNvSpPr/>
              <p:nvPr/>
            </p:nvSpPr>
            <p:spPr>
              <a:xfrm>
                <a:off x="9326880" y="1993392"/>
                <a:ext cx="123444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371D7A5-89D2-FF0B-8124-01013054B95A}"/>
                  </a:ext>
                </a:extLst>
              </p:cNvPr>
              <p:cNvSpPr txBox="1"/>
              <p:nvPr/>
            </p:nvSpPr>
            <p:spPr>
              <a:xfrm>
                <a:off x="9326880" y="1993392"/>
                <a:ext cx="123444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0.2991</a:t>
                </a:r>
              </a:p>
            </p:txBody>
          </p:sp>
          <p:sp>
            <p:nvSpPr>
              <p:cNvPr id="140" name="Rectangle 75">
                <a:extLst>
                  <a:ext uri="{FF2B5EF4-FFF2-40B4-BE49-F238E27FC236}">
                    <a16:creationId xmlns:a16="http://schemas.microsoft.com/office/drawing/2014/main" id="{DCD97CE0-6935-87E4-0C16-B7C0E6A60670}"/>
                  </a:ext>
                </a:extLst>
              </p:cNvPr>
              <p:cNvSpPr/>
              <p:nvPr/>
            </p:nvSpPr>
            <p:spPr>
              <a:xfrm>
                <a:off x="10607040" y="1993392"/>
                <a:ext cx="1417320" cy="374904"/>
              </a:xfrm>
              <a:prstGeom prst="rect">
                <a:avLst/>
              </a:prstGeom>
              <a:solidFill>
                <a:srgbClr val="FFF3E0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E6CF9DF-D080-A1DB-A529-BDCFE0168932}"/>
                  </a:ext>
                </a:extLst>
              </p:cNvPr>
              <p:cNvSpPr txBox="1"/>
              <p:nvPr/>
            </p:nvSpPr>
            <p:spPr>
              <a:xfrm>
                <a:off x="10607040" y="1993392"/>
                <a:ext cx="1417320" cy="37490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1050" b="0" i="0">
                    <a:solidFill>
                      <a:srgbClr val="1A1A2E"/>
                    </a:solidFill>
                    <a:latin typeface="맑은 고딕"/>
                  </a:rPr>
                  <a:t>0.4083</a:t>
                </a:r>
              </a:p>
            </p:txBody>
          </p:sp>
        </p:grpSp>
      </p:grp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4879D93C-83E0-E576-677B-B4992B712CB9}"/>
              </a:ext>
            </a:extLst>
          </p:cNvPr>
          <p:cNvGrpSpPr/>
          <p:nvPr/>
        </p:nvGrpSpPr>
        <p:grpSpPr>
          <a:xfrm>
            <a:off x="274320" y="3558232"/>
            <a:ext cx="7086600" cy="2246594"/>
            <a:chOff x="274320" y="2825497"/>
            <a:chExt cx="7086600" cy="2816352"/>
          </a:xfrm>
        </p:grpSpPr>
        <p:sp>
          <p:nvSpPr>
            <p:cNvPr id="144" name="Rectangle 77">
              <a:extLst>
                <a:ext uri="{FF2B5EF4-FFF2-40B4-BE49-F238E27FC236}">
                  <a16:creationId xmlns:a16="http://schemas.microsoft.com/office/drawing/2014/main" id="{F11A7A66-0D87-2181-50B2-613804172B04}"/>
                </a:ext>
              </a:extLst>
            </p:cNvPr>
            <p:cNvSpPr/>
            <p:nvPr/>
          </p:nvSpPr>
          <p:spPr>
            <a:xfrm>
              <a:off x="274320" y="2825497"/>
              <a:ext cx="3474720" cy="2816352"/>
            </a:xfrm>
            <a:prstGeom prst="rect">
              <a:avLst/>
            </a:prstGeom>
            <a:solidFill>
              <a:srgbClr val="E8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Rectangle 78">
              <a:extLst>
                <a:ext uri="{FF2B5EF4-FFF2-40B4-BE49-F238E27FC236}">
                  <a16:creationId xmlns:a16="http://schemas.microsoft.com/office/drawing/2014/main" id="{A78FB06B-E2D8-E389-56DC-926B275969B9}"/>
                </a:ext>
              </a:extLst>
            </p:cNvPr>
            <p:cNvSpPr/>
            <p:nvPr/>
          </p:nvSpPr>
          <p:spPr>
            <a:xfrm>
              <a:off x="274320" y="2825497"/>
              <a:ext cx="91440" cy="2816352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29A9F63-2E44-86C7-151A-0B58DA351A31}"/>
                </a:ext>
              </a:extLst>
            </p:cNvPr>
            <p:cNvSpPr txBox="1"/>
            <p:nvPr/>
          </p:nvSpPr>
          <p:spPr>
            <a:xfrm>
              <a:off x="457200" y="2898648"/>
              <a:ext cx="32004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0F6BBF"/>
                  </a:solidFill>
                  <a:latin typeface="맑은 고딕"/>
                </a:rPr>
                <a:t>남성 비교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CF76F54B-47C3-0C02-F40A-8C3437E5F514}"/>
                </a:ext>
              </a:extLst>
            </p:cNvPr>
            <p:cNvSpPr txBox="1"/>
            <p:nvPr/>
          </p:nvSpPr>
          <p:spPr>
            <a:xfrm>
              <a:off x="457200" y="3282696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M1→M2: 0.704→0.725  (Δ+0.021)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515C557-87C7-46F1-669D-3FC3363EB825}"/>
                </a:ext>
              </a:extLst>
            </p:cNvPr>
            <p:cNvSpPr txBox="1"/>
            <p:nvPr/>
          </p:nvSpPr>
          <p:spPr>
            <a:xfrm>
              <a:off x="457200" y="3758183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M1→M3: 0.704→0.729  (Δ+0.026)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C35C46A-A500-EA5F-030C-0E86E1552D74}"/>
                </a:ext>
              </a:extLst>
            </p:cNvPr>
            <p:cNvSpPr txBox="1"/>
            <p:nvPr/>
          </p:nvSpPr>
          <p:spPr>
            <a:xfrm>
              <a:off x="457200" y="4233672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남성 유병률 15.9% → AUC 해석 비교적 안정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90BAA811-53EC-1944-B4A6-E4AE5991509B}"/>
                </a:ext>
              </a:extLst>
            </p:cNvPr>
            <p:cNvSpPr txBox="1"/>
            <p:nvPr/>
          </p:nvSpPr>
          <p:spPr>
            <a:xfrm>
              <a:off x="457200" y="4709160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AUPRC: M1(0.316)→M3(0.299)</a:t>
              </a:r>
            </a:p>
          </p:txBody>
        </p:sp>
        <p:sp>
          <p:nvSpPr>
            <p:cNvPr id="314" name="Rectangle 84">
              <a:extLst>
                <a:ext uri="{FF2B5EF4-FFF2-40B4-BE49-F238E27FC236}">
                  <a16:creationId xmlns:a16="http://schemas.microsoft.com/office/drawing/2014/main" id="{C4B92C13-1530-48FA-BAA7-9201795D91E5}"/>
                </a:ext>
              </a:extLst>
            </p:cNvPr>
            <p:cNvSpPr/>
            <p:nvPr/>
          </p:nvSpPr>
          <p:spPr>
            <a:xfrm>
              <a:off x="3886200" y="2825497"/>
              <a:ext cx="3474720" cy="2816352"/>
            </a:xfrm>
            <a:prstGeom prst="rect">
              <a:avLst/>
            </a:prstGeom>
            <a:solidFill>
              <a:srgbClr val="FF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5" name="Rectangle 85">
              <a:extLst>
                <a:ext uri="{FF2B5EF4-FFF2-40B4-BE49-F238E27FC236}">
                  <a16:creationId xmlns:a16="http://schemas.microsoft.com/office/drawing/2014/main" id="{8CF9CD6E-12F9-B6F3-2EB0-406C576D479A}"/>
                </a:ext>
              </a:extLst>
            </p:cNvPr>
            <p:cNvSpPr/>
            <p:nvPr/>
          </p:nvSpPr>
          <p:spPr>
            <a:xfrm>
              <a:off x="3886200" y="2825497"/>
              <a:ext cx="91440" cy="2816352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ED29A69-4F07-3055-3E67-0535844188C8}"/>
                </a:ext>
              </a:extLst>
            </p:cNvPr>
            <p:cNvSpPr txBox="1"/>
            <p:nvPr/>
          </p:nvSpPr>
          <p:spPr>
            <a:xfrm>
              <a:off x="4069080" y="2898648"/>
              <a:ext cx="32004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C0392B"/>
                  </a:solidFill>
                  <a:latin typeface="맑은 고딕"/>
                </a:rPr>
                <a:t>여성 비교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B2378D96-47BD-7D77-CE9B-62E7476EADFC}"/>
                </a:ext>
              </a:extLst>
            </p:cNvPr>
            <p:cNvSpPr txBox="1"/>
            <p:nvPr/>
          </p:nvSpPr>
          <p:spPr>
            <a:xfrm>
              <a:off x="4069080" y="3282696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M1→M2: 0.848→0.858  (Δ+0.009)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83D45135-3824-789E-6145-30B94313F385}"/>
                </a:ext>
              </a:extLst>
            </p:cNvPr>
            <p:cNvSpPr txBox="1"/>
            <p:nvPr/>
          </p:nvSpPr>
          <p:spPr>
            <a:xfrm>
              <a:off x="4069080" y="3758183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M1→M3: 0.848→0.861  (Δ+0.013)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50B5C9D1-32D7-323B-0E09-5FF04650DD6F}"/>
                </a:ext>
              </a:extLst>
            </p:cNvPr>
            <p:cNvSpPr txBox="1"/>
            <p:nvPr/>
          </p:nvSpPr>
          <p:spPr>
            <a:xfrm>
              <a:off x="4069080" y="4233672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유병률 7.5% → class imbalance 주의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747759B-8770-7C97-6EA8-BEAE7B386450}"/>
                </a:ext>
              </a:extLst>
            </p:cNvPr>
            <p:cNvSpPr txBox="1"/>
            <p:nvPr/>
          </p:nvSpPr>
          <p:spPr>
            <a:xfrm>
              <a:off x="4069080" y="4709160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AUPRC: M1(0.475)→M3(0.408)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7E881CEE-B4DB-D60D-7931-0109AD378DBD}"/>
                </a:ext>
              </a:extLst>
            </p:cNvPr>
            <p:cNvSpPr txBox="1"/>
            <p:nvPr/>
          </p:nvSpPr>
          <p:spPr>
            <a:xfrm>
              <a:off x="4069080" y="5184648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AUPRC가 AUC보다 중요한 지표</a:t>
              </a: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7C9B2051-F581-7D64-9FEF-E7BD0BD40E67}"/>
              </a:ext>
            </a:extLst>
          </p:cNvPr>
          <p:cNvGrpSpPr/>
          <p:nvPr/>
        </p:nvGrpSpPr>
        <p:grpSpPr>
          <a:xfrm>
            <a:off x="7498079" y="3547672"/>
            <a:ext cx="4389121" cy="2423160"/>
            <a:chOff x="7498079" y="2587752"/>
            <a:chExt cx="4572000" cy="2423160"/>
          </a:xfrm>
        </p:grpSpPr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7709AD6E-3548-2A0E-1365-F00721083119}"/>
                </a:ext>
              </a:extLst>
            </p:cNvPr>
            <p:cNvSpPr txBox="1"/>
            <p:nvPr/>
          </p:nvSpPr>
          <p:spPr>
            <a:xfrm>
              <a:off x="7498079" y="2587752"/>
              <a:ext cx="2194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1" i="0">
                  <a:solidFill>
                    <a:srgbClr val="1A1A2E"/>
                  </a:solidFill>
                  <a:latin typeface="맑은 고딕"/>
                </a:rPr>
                <a:t>M1  by Sex</a:t>
              </a:r>
            </a:p>
          </p:txBody>
        </p:sp>
        <p:pic>
          <p:nvPicPr>
            <p:cNvPr id="323" name="Picture 93" descr="test_roc_by_sex.png">
              <a:extLst>
                <a:ext uri="{FF2B5EF4-FFF2-40B4-BE49-F238E27FC236}">
                  <a16:creationId xmlns:a16="http://schemas.microsoft.com/office/drawing/2014/main" id="{75BABBA0-14C8-87CD-1FF8-7F3BAC7F6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8079" y="2862072"/>
              <a:ext cx="2194560" cy="1828800"/>
            </a:xfrm>
            <a:prstGeom prst="rect">
              <a:avLst/>
            </a:prstGeom>
          </p:spPr>
        </p:pic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DD2EA0FC-4C36-39A1-5C02-4E3EBE1BB5A6}"/>
                </a:ext>
              </a:extLst>
            </p:cNvPr>
            <p:cNvSpPr txBox="1"/>
            <p:nvPr/>
          </p:nvSpPr>
          <p:spPr>
            <a:xfrm>
              <a:off x="9829800" y="2587752"/>
              <a:ext cx="21945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1" i="0">
                  <a:solidFill>
                    <a:srgbClr val="0F9B8A"/>
                  </a:solidFill>
                  <a:latin typeface="맑은 고딕"/>
                </a:rPr>
                <a:t>M2  by Sex</a:t>
              </a:r>
            </a:p>
          </p:txBody>
        </p:sp>
        <p:pic>
          <p:nvPicPr>
            <p:cNvPr id="325" name="Picture 95" descr="test_roc_by_sex.png">
              <a:extLst>
                <a:ext uri="{FF2B5EF4-FFF2-40B4-BE49-F238E27FC236}">
                  <a16:creationId xmlns:a16="http://schemas.microsoft.com/office/drawing/2014/main" id="{95D30F58-115A-F46C-5582-DDD5617BE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9800" y="2862072"/>
              <a:ext cx="2194560" cy="1828800"/>
            </a:xfrm>
            <a:prstGeom prst="rect">
              <a:avLst/>
            </a:prstGeom>
          </p:spPr>
        </p:pic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D5EBCE92-577B-8CDE-BE6E-CD15CF0043D0}"/>
                </a:ext>
              </a:extLst>
            </p:cNvPr>
            <p:cNvSpPr txBox="1"/>
            <p:nvPr/>
          </p:nvSpPr>
          <p:spPr>
            <a:xfrm>
              <a:off x="7498079" y="4736592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1A1A2E"/>
                  </a:solidFill>
                  <a:latin typeface="맑은 고딕"/>
                </a:rPr>
                <a:t>△ 여성 AUC 0.848 → 0.861(M3)  |  △ 남성 AUC 0.704 → 0.729(M3)</a:t>
              </a:r>
            </a:p>
          </p:txBody>
        </p:sp>
      </p:grpSp>
      <p:sp>
        <p:nvSpPr>
          <p:cNvPr id="333" name="내용 개체 틀 2">
            <a:extLst>
              <a:ext uri="{FF2B5EF4-FFF2-40B4-BE49-F238E27FC236}">
                <a16:creationId xmlns:a16="http://schemas.microsoft.com/office/drawing/2014/main" id="{9D9465DC-75C5-3853-BEA2-BE7DF3AE6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성별 분리 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7100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0D49-E48E-C7A1-D157-2EFED9A5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84D5D-6D00-E115-1280-684C5EAB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91343-A1D5-D50F-9F0B-2875ED91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C98E10-B27C-4563-4DD5-B8C722B40193}"/>
              </a:ext>
            </a:extLst>
          </p:cNvPr>
          <p:cNvGrpSpPr/>
          <p:nvPr/>
        </p:nvGrpSpPr>
        <p:grpSpPr>
          <a:xfrm>
            <a:off x="274320" y="1218764"/>
            <a:ext cx="11612880" cy="1325880"/>
            <a:chOff x="274320" y="1218764"/>
            <a:chExt cx="11612880" cy="132588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05057BD6-61D7-8B58-A301-D2868FC1A14D}"/>
                </a:ext>
              </a:extLst>
            </p:cNvPr>
            <p:cNvSpPr/>
            <p:nvPr/>
          </p:nvSpPr>
          <p:spPr>
            <a:xfrm>
              <a:off x="274320" y="1218764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FB9066A-C030-0CB4-0E3E-F93C245E79CB}"/>
                </a:ext>
              </a:extLst>
            </p:cNvPr>
            <p:cNvSpPr/>
            <p:nvPr/>
          </p:nvSpPr>
          <p:spPr>
            <a:xfrm>
              <a:off x="274320" y="1218764"/>
              <a:ext cx="109728" cy="1325880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860687-0FA4-1811-4AC8-451010DD4EF0}"/>
                </a:ext>
              </a:extLst>
            </p:cNvPr>
            <p:cNvSpPr txBox="1"/>
            <p:nvPr/>
          </p:nvSpPr>
          <p:spPr>
            <a:xfrm>
              <a:off x="502920" y="1282772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①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AEC+Clinic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조합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(M2/M3) norm: M1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대비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 AUC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향상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 —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통계적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유의</a:t>
              </a:r>
              <a:r>
                <a:rPr sz="1350" b="1" i="0" dirty="0">
                  <a:solidFill>
                    <a:srgbClr val="0F6BBF"/>
                  </a:solidFill>
                  <a:latin typeface="맑은 고딕"/>
                </a:rPr>
                <a:t> </a:t>
              </a:r>
              <a:r>
                <a:rPr sz="1350" b="1" i="0" dirty="0" err="1">
                  <a:solidFill>
                    <a:srgbClr val="0F6BBF"/>
                  </a:solidFill>
                  <a:latin typeface="맑은 고딕"/>
                </a:rPr>
                <a:t>미달</a:t>
              </a:r>
              <a:endParaRPr sz="1350" b="1" i="0" dirty="0">
                <a:solidFill>
                  <a:srgbClr val="0F6BBF"/>
                </a:solidFill>
                <a:latin typeface="맑은 고딕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93160A-F506-CACD-3A5B-8403278E337B}"/>
                </a:ext>
              </a:extLst>
            </p:cNvPr>
            <p:cNvSpPr txBox="1"/>
            <p:nvPr/>
          </p:nvSpPr>
          <p:spPr>
            <a:xfrm>
              <a:off x="502920" y="1648532"/>
              <a:ext cx="4145687" cy="2693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 • M1→M2 norm: AUC 0.8030→0.8118, DeLong p=0.697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551839-FDDA-41FD-A1E1-80731893D9FC}"/>
                </a:ext>
              </a:extLst>
            </p:cNvPr>
            <p:cNvSpPr txBox="1"/>
            <p:nvPr/>
          </p:nvSpPr>
          <p:spPr>
            <a:xfrm>
              <a:off x="502920" y="1941140"/>
              <a:ext cx="4166525" cy="2693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 • M1→M3 norm: AUC 0.8030→0.8209, DeLong p=0.486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EDB1ED-3079-A64B-DE32-D044060591A9}"/>
                </a:ext>
              </a:extLst>
            </p:cNvPr>
            <p:cNvSpPr txBox="1"/>
            <p:nvPr/>
          </p:nvSpPr>
          <p:spPr>
            <a:xfrm>
              <a:off x="6217920" y="1648532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여성 AUC: M1(0.848)→M3(0.861) — M3 일부 기여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93FE6C-515E-BDEA-E520-9E839C669EF1}"/>
                </a:ext>
              </a:extLst>
            </p:cNvPr>
            <p:cNvSpPr txBox="1"/>
            <p:nvPr/>
          </p:nvSpPr>
          <p:spPr>
            <a:xfrm>
              <a:off x="6217920" y="1941140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AUPRC: M1(0.312)→M2(0.360)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FF5A717-4867-646D-CAD7-13C6672AC024}"/>
              </a:ext>
            </a:extLst>
          </p:cNvPr>
          <p:cNvGrpSpPr/>
          <p:nvPr/>
        </p:nvGrpSpPr>
        <p:grpSpPr>
          <a:xfrm>
            <a:off x="274320" y="2956995"/>
            <a:ext cx="11612880" cy="1325880"/>
            <a:chOff x="274320" y="2608652"/>
            <a:chExt cx="11612880" cy="1325880"/>
          </a:xfrm>
        </p:grpSpPr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7106BFDC-8102-415D-7A68-E5DC81EDD5DB}"/>
                </a:ext>
              </a:extLst>
            </p:cNvPr>
            <p:cNvSpPr/>
            <p:nvPr/>
          </p:nvSpPr>
          <p:spPr>
            <a:xfrm>
              <a:off x="274320" y="2608652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7679E8B4-1541-CC69-24FC-A1CF19DAE3A0}"/>
                </a:ext>
              </a:extLst>
            </p:cNvPr>
            <p:cNvSpPr/>
            <p:nvPr/>
          </p:nvSpPr>
          <p:spPr>
            <a:xfrm>
              <a:off x="274320" y="2608652"/>
              <a:ext cx="109728" cy="1325880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FDE03E-2593-18E9-FFD5-4AAAF4510A33}"/>
                </a:ext>
              </a:extLst>
            </p:cNvPr>
            <p:cNvSpPr txBox="1"/>
            <p:nvPr/>
          </p:nvSpPr>
          <p:spPr>
            <a:xfrm>
              <a:off x="502920" y="2672660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>
                  <a:solidFill>
                    <a:srgbClr val="0F9B8A"/>
                  </a:solidFill>
                  <a:latin typeface="맑은 고딕"/>
                </a:rPr>
                <a:t>② norm 전처리 조건에서 M2 best AUC (0.8118) — M3과 유사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B73294-D8EB-CDB9-1F42-0B95C9573090}"/>
                </a:ext>
              </a:extLst>
            </p:cNvPr>
            <p:cNvSpPr txBox="1"/>
            <p:nvPr/>
          </p:nvSpPr>
          <p:spPr>
            <a:xfrm>
              <a:off x="502920" y="3038420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M2 norm: AUC 0.8118 — Clinic+AEC 최고 성능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564CC8-53F5-53C2-17E2-5C4C0519285B}"/>
                </a:ext>
              </a:extLst>
            </p:cNvPr>
            <p:cNvSpPr txBox="1"/>
            <p:nvPr/>
          </p:nvSpPr>
          <p:spPr>
            <a:xfrm>
              <a:off x="502920" y="3331028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M3 norm: AUC 0.8209 — Scanner 추가 순기여 불명확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B09A4-EE45-3870-1775-35299679B28E}"/>
                </a:ext>
              </a:extLst>
            </p:cNvPr>
            <p:cNvSpPr txBox="1"/>
            <p:nvPr/>
          </p:nvSpPr>
          <p:spPr>
            <a:xfrm>
              <a:off x="6217920" y="3038420"/>
              <a:ext cx="2690160" cy="2693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 • M2vM3 norm: Δ=+0.009, p=0.620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02FCCC-9ABD-2A8E-735D-636D1A3651AE}"/>
                </a:ext>
              </a:extLst>
            </p:cNvPr>
            <p:cNvSpPr txBox="1"/>
            <p:nvPr/>
          </p:nvSpPr>
          <p:spPr>
            <a:xfrm>
              <a:off x="6217920" y="3331028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→ AEC 전처리 방식이 성능 핵심 변수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5593317-D5E2-E5EE-9B4A-C81E953A2634}"/>
              </a:ext>
            </a:extLst>
          </p:cNvPr>
          <p:cNvGrpSpPr/>
          <p:nvPr/>
        </p:nvGrpSpPr>
        <p:grpSpPr>
          <a:xfrm>
            <a:off x="274320" y="4695226"/>
            <a:ext cx="11612880" cy="1325880"/>
            <a:chOff x="274320" y="3998540"/>
            <a:chExt cx="11612880" cy="1325880"/>
          </a:xfrm>
        </p:grpSpPr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F5029C4D-6986-957C-3D79-7E1D3BCE0A11}"/>
                </a:ext>
              </a:extLst>
            </p:cNvPr>
            <p:cNvSpPr/>
            <p:nvPr/>
          </p:nvSpPr>
          <p:spPr>
            <a:xfrm>
              <a:off x="274320" y="3998540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DE68DEF0-37E4-731C-26CC-E1DF578D385F}"/>
                </a:ext>
              </a:extLst>
            </p:cNvPr>
            <p:cNvSpPr/>
            <p:nvPr/>
          </p:nvSpPr>
          <p:spPr>
            <a:xfrm>
              <a:off x="274320" y="3998540"/>
              <a:ext cx="109728" cy="1325880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B53605-08B4-6CFB-037A-D8896CCF6FCB}"/>
                </a:ext>
              </a:extLst>
            </p:cNvPr>
            <p:cNvSpPr txBox="1"/>
            <p:nvPr/>
          </p:nvSpPr>
          <p:spPr>
            <a:xfrm>
              <a:off x="502920" y="4062547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>
                  <a:solidFill>
                    <a:srgbClr val="E87400"/>
                  </a:solidFill>
                  <a:latin typeface="맑은 고딕"/>
                </a:rPr>
                <a:t>③ Model 4 (AEC Only): AUC AUC 0.586 — Clinic 없이 단독 예측 한계 확인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87A670-8D92-7347-8384-08F39224D5DE}"/>
                </a:ext>
              </a:extLst>
            </p:cNvPr>
            <p:cNvSpPr txBox="1"/>
            <p:nvPr/>
          </p:nvSpPr>
          <p:spPr>
            <a:xfrm>
              <a:off x="502920" y="4428308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M4 raw: AUC 0.586 vs M1(0.803) Δ-0.217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14470F-EF12-38F3-733F-1593F5B4F201}"/>
                </a:ext>
              </a:extLst>
            </p:cNvPr>
            <p:cNvSpPr txBox="1"/>
            <p:nvPr/>
          </p:nvSpPr>
          <p:spPr>
            <a:xfrm>
              <a:off x="502920" y="4720916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M1 vs M4: p=0.006 ** — 통계적 유의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4177B3-42DD-C483-DB72-70CAEE46CBBD}"/>
                </a:ext>
              </a:extLst>
            </p:cNvPr>
            <p:cNvSpPr txBox="1"/>
            <p:nvPr/>
          </p:nvSpPr>
          <p:spPr>
            <a:xfrm>
              <a:off x="6217920" y="4428308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AEC는 임상 정보(Age/Sex/BMI) 대체 불가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155B32-6750-3348-F169-F8DE9B33EC73}"/>
                </a:ext>
              </a:extLst>
            </p:cNvPr>
            <p:cNvSpPr txBox="1"/>
            <p:nvPr/>
          </p:nvSpPr>
          <p:spPr>
            <a:xfrm>
              <a:off x="6217920" y="4720916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→ AEC는 Clinic의 보조 신호로서 의미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097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65990" y="2103121"/>
            <a:ext cx="54601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부록 — 조건별 상세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9083" y="3063241"/>
            <a:ext cx="55739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9EA3AB"/>
                </a:solidFill>
                <a:latin typeface="맑은 고딕"/>
              </a:rPr>
              <a:t>AEC 128pt × 3종  |  M2 · M2_2 · M3 · M4 개별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1988" y="365760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5988" y="3977639"/>
            <a:ext cx="10360152" cy="47548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1709" y="3995929"/>
            <a:ext cx="46477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  raw   →  원본 AEC — M2 AUC=0.7980, M1vM2 p=0.824 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988" y="4544568"/>
            <a:ext cx="10360152" cy="47548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1709" y="4562857"/>
            <a:ext cx="56332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  norm   →  행 방향 z-score — M2 best AUC (0.8118), M1vM2 p=0.697 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5988" y="5111496"/>
            <a:ext cx="10360152" cy="47548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708" y="5129785"/>
            <a:ext cx="63003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  global_zscore   →  전체 μ/σ z-score — M4 best AUC (0.5785), M1vM4 p=0.002 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21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268054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AUC=0.7980  |  M3 AUC=0.7864  |  M2vM3: p=0.676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22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67" y="832104"/>
            <a:ext cx="277672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0.2672)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0.2564)</a:t>
            </a:r>
          </a:p>
        </p:txBody>
      </p:sp>
      <p:pic>
        <p:nvPicPr>
          <p:cNvPr id="13" name="Picture 12" descr="roc_all_model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291047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AUC=0.8118  |  M3 AUC=0.8209  |  M2vM3: p=0.620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67" y="832104"/>
            <a:ext cx="277672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0.2581)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0.2645)</a:t>
            </a:r>
          </a:p>
        </p:txBody>
      </p:sp>
      <p:pic>
        <p:nvPicPr>
          <p:cNvPr id="13" name="Picture 1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98711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global_zscore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AUC=0.7894  |  M3 AUC=0.7530  |  M2vM3: p=0.103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67" y="832104"/>
            <a:ext cx="277672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(M1·M2·M2₂·M3·M4)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0.2751)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0.2704)</a:t>
            </a:r>
          </a:p>
        </p:txBody>
      </p:sp>
      <p:pic>
        <p:nvPicPr>
          <p:cNvPr id="13" name="Picture 12" descr="roc_all_models_global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2047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25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-159907" y="1938528"/>
            <a:ext cx="9813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-193570" y="4754880"/>
            <a:ext cx="104868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343465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26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-159907" y="1938528"/>
            <a:ext cx="9813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-193570" y="4754880"/>
            <a:ext cx="104868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451130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global_zscore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27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-159907" y="1938528"/>
            <a:ext cx="9813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-193570" y="4754880"/>
            <a:ext cx="104868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3776</TotalTime>
  <Words>2432</Words>
  <Application>Microsoft Office PowerPoint</Application>
  <PresentationFormat>와이드스크린</PresentationFormat>
  <Paragraphs>624</Paragraphs>
  <Slides>24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KoPub돋움체 Bold</vt:lpstr>
      <vt:lpstr>Arial</vt:lpstr>
      <vt:lpstr>KoPub돋움체 Medium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349</cp:revision>
  <dcterms:created xsi:type="dcterms:W3CDTF">2026-04-09T07:05:16Z</dcterms:created>
  <dcterms:modified xsi:type="dcterms:W3CDTF">2026-06-11T08:26:18Z</dcterms:modified>
</cp:coreProperties>
</file>