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1"/>
  </p:sldMasterIdLst>
  <p:notesMasterIdLst>
    <p:notesMasterId r:id="rId57"/>
  </p:notesMasterIdLst>
  <p:sldIdLst>
    <p:sldId id="256" r:id="rId2"/>
    <p:sldId id="524" r:id="rId3"/>
    <p:sldId id="548" r:id="rId4"/>
    <p:sldId id="488" r:id="rId5"/>
    <p:sldId id="551" r:id="rId6"/>
    <p:sldId id="569" r:id="rId7"/>
    <p:sldId id="555" r:id="rId8"/>
    <p:sldId id="573" r:id="rId9"/>
    <p:sldId id="556" r:id="rId10"/>
    <p:sldId id="558" r:id="rId11"/>
    <p:sldId id="552" r:id="rId12"/>
    <p:sldId id="559" r:id="rId13"/>
    <p:sldId id="560" r:id="rId14"/>
    <p:sldId id="561" r:id="rId15"/>
    <p:sldId id="562" r:id="rId16"/>
    <p:sldId id="563" r:id="rId17"/>
    <p:sldId id="575" r:id="rId18"/>
    <p:sldId id="567" r:id="rId19"/>
    <p:sldId id="576" r:id="rId20"/>
    <p:sldId id="568" r:id="rId21"/>
    <p:sldId id="577" r:id="rId22"/>
    <p:sldId id="578" r:id="rId23"/>
    <p:sldId id="565" r:id="rId24"/>
    <p:sldId id="579" r:id="rId25"/>
    <p:sldId id="580" r:id="rId26"/>
    <p:sldId id="572" r:id="rId27"/>
    <p:sldId id="574" r:id="rId28"/>
    <p:sldId id="469" r:id="rId29"/>
    <p:sldId id="272" r:id="rId30"/>
    <p:sldId id="273" r:id="rId31"/>
    <p:sldId id="274" r:id="rId32"/>
    <p:sldId id="275" r:id="rId33"/>
    <p:sldId id="276" r:id="rId34"/>
    <p:sldId id="277" r:id="rId35"/>
    <p:sldId id="278" r:id="rId36"/>
    <p:sldId id="279" r:id="rId37"/>
    <p:sldId id="280" r:id="rId38"/>
    <p:sldId id="281" r:id="rId39"/>
    <p:sldId id="282" r:id="rId40"/>
    <p:sldId id="283" r:id="rId41"/>
    <p:sldId id="284" r:id="rId42"/>
    <p:sldId id="285" r:id="rId43"/>
    <p:sldId id="286" r:id="rId44"/>
    <p:sldId id="287" r:id="rId45"/>
    <p:sldId id="288" r:id="rId46"/>
    <p:sldId id="289" r:id="rId47"/>
    <p:sldId id="290" r:id="rId48"/>
    <p:sldId id="291" r:id="rId49"/>
    <p:sldId id="581" r:id="rId50"/>
    <p:sldId id="293" r:id="rId51"/>
    <p:sldId id="294" r:id="rId52"/>
    <p:sldId id="295" r:id="rId53"/>
    <p:sldId id="296" r:id="rId54"/>
    <p:sldId id="297" r:id="rId55"/>
    <p:sldId id="479" r:id="rId56"/>
  </p:sldIdLst>
  <p:sldSz cx="12192000" cy="6858000"/>
  <p:notesSz cx="6858000" cy="9144000"/>
  <p:embeddedFontLst>
    <p:embeddedFont>
      <p:font typeface="KoPub돋움체 Bold" panose="00000800000000000000" pitchFamily="2" charset="-127"/>
      <p:bold r:id="rId58"/>
    </p:embeddedFont>
    <p:embeddedFont>
      <p:font typeface="KoPub돋움체 Medium" panose="00000600000000000000" pitchFamily="2" charset="-127"/>
      <p:regular r:id="rId59"/>
    </p:embeddedFont>
    <p:embeddedFont>
      <p:font typeface="맑은 고딕" panose="020B0503020000020004" pitchFamily="50" charset="-127"/>
      <p:regular r:id="rId60"/>
      <p:bold r:id="rId61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097B6DF2-66C3-4074-9053-F9AA00FED5D5}">
          <p14:sldIdLst>
            <p14:sldId id="256"/>
            <p14:sldId id="524"/>
            <p14:sldId id="548"/>
            <p14:sldId id="488"/>
            <p14:sldId id="551"/>
            <p14:sldId id="569"/>
            <p14:sldId id="555"/>
            <p14:sldId id="573"/>
            <p14:sldId id="556"/>
            <p14:sldId id="558"/>
            <p14:sldId id="552"/>
            <p14:sldId id="559"/>
            <p14:sldId id="560"/>
            <p14:sldId id="561"/>
            <p14:sldId id="562"/>
            <p14:sldId id="563"/>
            <p14:sldId id="575"/>
            <p14:sldId id="567"/>
            <p14:sldId id="576"/>
            <p14:sldId id="568"/>
            <p14:sldId id="577"/>
            <p14:sldId id="578"/>
            <p14:sldId id="565"/>
            <p14:sldId id="579"/>
            <p14:sldId id="580"/>
            <p14:sldId id="572"/>
            <p14:sldId id="574"/>
            <p14:sldId id="469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581"/>
            <p14:sldId id="293"/>
            <p14:sldId id="294"/>
            <p14:sldId id="295"/>
            <p14:sldId id="296"/>
            <p14:sldId id="297"/>
            <p14:sldId id="479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전장훈" initials="전" lastIdx="19" clrIdx="0">
    <p:extLst>
      <p:ext uri="{19B8F6BF-5375-455C-9EA6-DF929625EA0E}">
        <p15:presenceInfo xmlns:p15="http://schemas.microsoft.com/office/powerpoint/2012/main" userId="전장훈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23670"/>
    <a:srgbClr val="17A5AA"/>
    <a:srgbClr val="1F34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BB50F4-122B-41C8-8B97-E733E2DA839E}" v="104" dt="2026-04-30T01:48:13.387"/>
    <p1510:client id="{59280094-6966-4D40-B0D2-C3AF0E296DD5}" v="33" dt="2026-04-29T05:12:11.973"/>
    <p1510:client id="{F96BF643-3359-45F4-82D4-8AA1E0B6CADD}" v="30" dt="2026-04-29T10:17:24.925"/>
  </p1510:revLst>
</p1510:revInfo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1879" autoAdjust="0"/>
  </p:normalViewPr>
  <p:slideViewPr>
    <p:cSldViewPr snapToGrid="0">
      <p:cViewPr varScale="1">
        <p:scale>
          <a:sx n="110" d="100"/>
          <a:sy n="110" d="100"/>
        </p:scale>
        <p:origin x="576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912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font" Target="fonts/font1.fntdata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font" Target="fonts/font4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2.fntdata"/><Relationship Id="rId67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font" Target="fonts/font3.fntdata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33074436-1BEA-4F09-AD5C-9DF87C96BF5A}" type="datetimeFigureOut">
              <a:rPr lang="ko-KR" altLang="en-US" smtClean="0"/>
              <a:pPr/>
              <a:t>2026-05-22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433C9518-700F-4811-95BB-24DAF3FA92F2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77649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oPub돋움체 Medium" panose="00000600000000000000" pitchFamily="2" charset="-127"/>
        <a:ea typeface="KoPub돋움체 Medium" panose="00000600000000000000" pitchFamily="2" charset="-127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발표 시작하겠습니다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이번주 진행한 연구 결과에 대해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공유드리겠습니다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05490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AAC64-4809-CFDB-DD82-8C411BF90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E00CA24-0109-6788-DE0D-8E930A4B7F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DDF5CE1-02A0-E30B-7E00-1067FDF0BD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이번주 연구 요약입니다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핵심은 세 가지 모델 구조의 비교입니다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나이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성별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BMI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만 사용하는 기저모델</a:t>
            </a: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 + AEC**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임상변수에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시계열 추가</a:t>
            </a: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 + AEC + Scanner**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여기에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CT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제조사 모델명을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임베딩으로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추가</a:t>
            </a:r>
          </a:p>
          <a:p>
            <a:b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</a:br>
            <a:endParaRPr lang="ko-KR" altLang="en-US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그리고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SMI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는 앞서 말씀드린 공식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—`SMI = (TAMA − IMATA) / Height²`—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으로 정의하고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한국인 기준 하위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5% threshold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로 이진 분류를 수행하였습니다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참조한 논문은 총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5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편으로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 기준에 대해서는 데이터 섹션에서 자세히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설명드리겠습니다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1FB4E7-21AC-953F-57A3-5376A248A5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88163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973E4-C933-DFB0-A81C-093C5ADA2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A81BF77-46A0-3F97-E11F-B1CCBC0E2C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A2D131A-B82E-CF1E-2996-60F98D0CC5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</a:t>
            </a:r>
            <a:r>
              <a:rPr lang="en-US" altLang="ko-KR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Slide 4</a:t>
            </a:r>
            <a:r>
              <a:rPr lang="ko-KR" altLang="en-US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의 </a:t>
            </a:r>
            <a:r>
              <a:rPr lang="en-US" altLang="ko-KR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Best Model Summary </a:t>
            </a:r>
            <a:r>
              <a:rPr lang="ko-KR" altLang="en-US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표*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를 보시면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세 가지 최상위 모델 성능이 요약되어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1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위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Model 3**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(Clinic + AEC + Scanner, </a:t>
            </a:r>
            <a:r>
              <a:rPr lang="en-US" altLang="ko-KR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CrossAttn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) — Test AUC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0.8453**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Sensitivity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82.1%**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Specificity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69.2%**</a:t>
            </a:r>
            <a:endParaRPr lang="ko-KR" altLang="en-US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2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위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Model 2**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(Clinic + AEC, </a:t>
            </a:r>
            <a:r>
              <a:rPr lang="en-US" altLang="ko-KR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CrossAttn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) — Test AUC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0.8403**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Sensitivity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89.3%**</a:t>
            </a:r>
            <a:endParaRPr lang="ko-KR" altLang="en-US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3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위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Model 1**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(Clinic only, LR) — Test AUC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0.8291**</a:t>
            </a:r>
            <a:endParaRPr lang="ko-KR" altLang="en-US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endParaRPr lang="ko-KR" altLang="en-US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를 추가함으로써 기저모델 대비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AUC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가 최대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0.016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향상되었으며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제조사 정보를 추가로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임베딩하면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추가적인 향상이 관찰되었습니다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또한 하단에는 </a:t>
            </a:r>
            <a:r>
              <a:rPr lang="en-US" altLang="ko-KR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CrossAttn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모델에서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환자 매칭 여부에 따른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AUC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차이도 정리되어 있는데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 부분은 뒤에 별도로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설명드리겠습니다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E9BFFE-6DCB-C54D-A7A4-49A234420B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76652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272A2-E462-977A-F33B-DC95CAE77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1D2872D-C56F-07BD-6FEF-BCB992682A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8F74B49-A47E-0541-5CE4-E957FC855A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8A6B9E-8A61-DFF4-5EB2-1304E5138B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89874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4AA21-9CF8-678A-C0B8-5BEF83D90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1EA69DB-1308-34E1-27D7-99625C5840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7556C2F-238D-8454-0A8F-4305E1785F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AD18F8-447A-78AA-5E93-0870CCD385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93233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51427D-18AB-FB27-8FFC-A0B6FFCD4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5EBBC08-1943-2DBE-075E-E8FCBA7F46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0942D80-8618-D7E3-0C44-FD1E178E9B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A43CCB-D6EA-6323-E4F9-E92A51F7DE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60696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7CAAC-A43F-15F6-F38E-F4B14F211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CB3547B-80AA-6D0D-79FA-1FCDF983FA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AF9C7F7-4ABD-CFF8-3ED4-082C306DF1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D17007A-A9B5-A594-7165-EBA1B58F66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30598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D0BCD-1060-BB0E-087F-BEEE8D849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864D77C-FD46-8874-264F-8930E03250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49B98EA-CCB4-3D46-AB4A-0974414D42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5193E6-7738-8AC8-AC1A-0DDAF92801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66692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04183-5D94-C9AF-55C7-FE0777799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50C4E6B-0A09-C4D9-8137-24FAEE29CE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4587777-1F09-382F-5D13-B54DCD6566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C98B68-6805-520F-5878-F22165E086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079937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12615-0334-0285-A650-A668411B1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5B4EA9D-D219-60E3-020F-29B0735E8B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AB41B85-B40F-D632-CFD5-3FCB8B8940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6E2E6CE-BA5D-90EC-DBA0-281A8E406B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416290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60D9A-6523-D812-D915-B8D3DBA9E8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BA079CC-2D42-A96C-B5E8-4C4867CDE1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A98F159-4291-AE78-8BB6-C96A78675D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F4A957C-CF48-C2B8-E93D-76728A1F79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293721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15072A-57AF-2F56-2988-BAC1BF0BB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819B8DA-7169-60BF-A4C9-01A3C30233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2A84043-3191-9E36-3941-6CC71FFC59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DAC91C0-55F5-F34A-2504-0536881EE1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384861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5F790-FD9E-0E23-3AFE-D16615563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430FC3C-12DD-74C0-5E03-62DBEE607C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666D3F8-7A2A-F5DA-936A-43B049D33A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3B222C-E809-3393-C1C6-B8E7FFC569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342919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3336C6-A34E-7C97-D3FB-FB66F1EF7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057F21C-7213-F6F3-A53C-2FCEA1F64F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0124891-6B04-B8A0-10FA-6A1B81EBA8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E55A71-013D-8926-501F-770EF40D0A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721126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BC6A0C-611D-1E62-3B48-226C4371A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08CD39A-A59B-05D7-43A0-BD73EB323A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F03B0F6-ABB1-B023-2B57-B680B54F15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2B91993-A4CF-1B2E-2CBF-0BF6B193CA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711217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A0874E-124A-FA24-D696-D8E0FE116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928EDE4-D95F-FA53-1DB7-76D62D540F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A3FFCAC-18BB-9848-59AE-3EF9233A9F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2B445A-AF34-EA53-97B5-442A7D5961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896269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CCED44-58CF-177D-3F31-8DBF802E53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2AE2FB1-3457-7736-5BF1-36643F9019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8B1AA0F-CC3E-6DAC-3E4F-815173BEAC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3A4D8F-D045-897F-9124-A791744F50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861814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F288C-BB24-F155-AF86-E610FFF4E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5607E87-9B4E-99CE-2B01-8C3D88928E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5F2144A-1BFA-18D4-D01D-D6284225E8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94D61F-C753-5E37-C135-C7BAA765F4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283225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5EBF4-EC6F-1CFF-5ED4-D0BD3EB8A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A3AAE3E-99BB-C674-861A-63DB2DBECC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AEDA680-66E8-0B95-2D60-C536655EF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B6561BC-6ECE-9AB1-FD83-7574AEC478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701880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02DFE-C406-9887-910A-E122A21A38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DE40B24-49EB-CA50-D347-2F43A966EF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D9DC88B-D5A9-7C15-4800-551AF2072B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9E0B24-C77B-2D78-A03E-C14396308A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579769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C44673-77C6-7569-2F80-390E45BDE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4A94FF3-9146-25AC-03A3-A397FC8002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D356876-2210-C5AF-EFE4-74957D0CF4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8D53BF6-A53A-03C6-A606-BA5239C2BA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821897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9CC27-819E-E9C6-8612-B4A6EF20A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F2C5E51-CCB8-54C7-6E23-F5DCCCFA5D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20C343B-BAB9-7678-50A0-097E9769D4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090221D-ACEA-1496-271C-2665BEA77D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857363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D62F61-CC60-EFC1-9EA4-364BA2D23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926786B-A7ED-B292-1F79-E88ED27DC9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A798FE6-F1D1-8372-0578-9FB5F5453D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487176-BAD5-0CE2-8C50-040CEBD15C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69066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Google Shape;1172;g3d412ffb079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40188" y="857250"/>
            <a:ext cx="4113212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3" name="Google Shape;1173;g3d412ffb079_0_61:notes"/>
          <p:cNvSpPr txBox="1">
            <a:spLocks noGrp="1"/>
          </p:cNvSpPr>
          <p:nvPr>
            <p:ph type="body" idx="1"/>
          </p:nvPr>
        </p:nvSpPr>
        <p:spPr>
          <a:xfrm>
            <a:off x="1219200" y="3300413"/>
            <a:ext cx="9753600" cy="2700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4" name="Google Shape;1174;g3d412ffb079_0_61:notes"/>
          <p:cNvSpPr txBox="1">
            <a:spLocks noGrp="1"/>
          </p:cNvSpPr>
          <p:nvPr>
            <p:ph type="sldNum" idx="12"/>
          </p:nvPr>
        </p:nvSpPr>
        <p:spPr>
          <a:xfrm>
            <a:off x="6905625" y="6513513"/>
            <a:ext cx="5283300" cy="3444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55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223973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ject 2">
            <a:extLst>
              <a:ext uri="{FF2B5EF4-FFF2-40B4-BE49-F238E27FC236}">
                <a16:creationId xmlns:a16="http://schemas.microsoft.com/office/drawing/2014/main" id="{D279837B-A00B-4327-9AB8-97044CBDABA7}"/>
              </a:ext>
            </a:extLst>
          </p:cNvPr>
          <p:cNvPicPr/>
          <p:nvPr userDrawn="1"/>
        </p:nvPicPr>
        <p:blipFill rotWithShape="1">
          <a:blip r:embed="rId2"/>
          <a:stretch>
            <a:fillRect/>
          </a:stretch>
        </p:blipFill>
        <p:spPr>
          <a:xfrm>
            <a:off x="0" y="228731"/>
            <a:ext cx="12192000" cy="640053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B17CE84-3562-483D-8448-6A30899AF09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9699" b="22132"/>
          <a:stretch/>
        </p:blipFill>
        <p:spPr>
          <a:xfrm>
            <a:off x="3461866" y="5273477"/>
            <a:ext cx="4168803" cy="982769"/>
          </a:xfrm>
          <a:prstGeom prst="rect">
            <a:avLst/>
          </a:prstGeom>
        </p:spPr>
      </p:pic>
      <p:pic>
        <p:nvPicPr>
          <p:cNvPr id="8" name="object 4">
            <a:extLst>
              <a:ext uri="{FF2B5EF4-FFF2-40B4-BE49-F238E27FC236}">
                <a16:creationId xmlns:a16="http://schemas.microsoft.com/office/drawing/2014/main" id="{8EF8DD5B-0316-4193-BCC7-D6CFCAE8969D}"/>
              </a:ext>
            </a:extLst>
          </p:cNvPr>
          <p:cNvPicPr/>
          <p:nvPr userDrawn="1"/>
        </p:nvPicPr>
        <p:blipFill rotWithShape="1">
          <a:blip r:embed="rId4"/>
          <a:stretch>
            <a:fillRect/>
          </a:stretch>
        </p:blipFill>
        <p:spPr>
          <a:xfrm>
            <a:off x="-277376" y="5274173"/>
            <a:ext cx="4550839" cy="992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578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그룹 23">
            <a:extLst>
              <a:ext uri="{FF2B5EF4-FFF2-40B4-BE49-F238E27FC236}">
                <a16:creationId xmlns:a16="http://schemas.microsoft.com/office/drawing/2014/main" id="{5EC22856-02EF-4559-9B66-BD5C863FF254}"/>
              </a:ext>
            </a:extLst>
          </p:cNvPr>
          <p:cNvGrpSpPr/>
          <p:nvPr userDrawn="1"/>
        </p:nvGrpSpPr>
        <p:grpSpPr>
          <a:xfrm>
            <a:off x="-8467" y="6463089"/>
            <a:ext cx="12200467" cy="403574"/>
            <a:chOff x="-8467" y="6470661"/>
            <a:chExt cx="12200467" cy="390527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0DFE1C4B-A7EE-47E1-8AAE-3EF4E43D16F6}"/>
                </a:ext>
              </a:extLst>
            </p:cNvPr>
            <p:cNvSpPr/>
            <p:nvPr userDrawn="1"/>
          </p:nvSpPr>
          <p:spPr>
            <a:xfrm>
              <a:off x="0" y="6496062"/>
              <a:ext cx="12192000" cy="365126"/>
            </a:xfrm>
            <a:prstGeom prst="rect">
              <a:avLst/>
            </a:prstGeom>
            <a:solidFill>
              <a:srgbClr val="1F346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28C131E4-1CD9-49D8-B343-8379436586C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8467" y="6470661"/>
              <a:ext cx="12200467" cy="0"/>
            </a:xfrm>
            <a:prstGeom prst="line">
              <a:avLst/>
            </a:prstGeom>
            <a:ln w="571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FE4F955D-C3E9-4033-8442-9095377B06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000" y="365126"/>
            <a:ext cx="11176000" cy="532342"/>
          </a:xfrm>
        </p:spPr>
        <p:txBody>
          <a:bodyPr>
            <a:normAutofit/>
          </a:bodyPr>
          <a:lstStyle>
            <a:lvl1pPr>
              <a:defRPr sz="2400" b="1">
                <a:solidFill>
                  <a:srgbClr val="02367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Arial" panose="020B0604020202020204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A482F1-FC12-443E-892A-B48F9C50AA5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08000" y="897468"/>
            <a:ext cx="11176000" cy="5063066"/>
          </a:xfrm>
        </p:spPr>
        <p:txBody>
          <a:bodyPr/>
          <a:lstStyle>
            <a:lvl1pPr>
              <a:lnSpc>
                <a:spcPct val="200000"/>
              </a:lnSpc>
              <a:defRPr sz="2000" b="0">
                <a:latin typeface="KoPub돋움체 Bold" panose="02020603020101020101" pitchFamily="18" charset="-127"/>
                <a:ea typeface="KoPub돋움체 Bold" panose="02020603020101020101" pitchFamily="18" charset="-127"/>
              </a:defRPr>
            </a:lvl1pPr>
            <a:lvl2pPr>
              <a:lnSpc>
                <a:spcPct val="150000"/>
              </a:lnSpc>
              <a:defRPr sz="18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2pPr>
            <a:lvl3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3pPr>
            <a:lvl4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4pPr>
            <a:lvl5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5A1225D-0BD8-42FD-A091-144615FF073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-583" b="3459"/>
          <a:stretch/>
        </p:blipFill>
        <p:spPr>
          <a:xfrm>
            <a:off x="5452198" y="6510701"/>
            <a:ext cx="1279135" cy="355962"/>
          </a:xfrm>
          <a:prstGeom prst="rect">
            <a:avLst/>
          </a:prstGeom>
          <a:solidFill>
            <a:srgbClr val="1F346B"/>
          </a:solidFill>
        </p:spPr>
      </p:pic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1EFF5A-1B85-42B1-95F5-C4213C5AD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04600" y="6517302"/>
            <a:ext cx="558800" cy="32139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AEAB581-7B9E-4552-9BEC-BDB2FB36C0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6482" b="96122" l="16219" r="85171">
                        <a14:foregroundMark x1="20111" y1="81440" x2="20111" y2="81440"/>
                        <a14:foregroundMark x1="16404" y1="81440" x2="16404" y2="81440"/>
                        <a14:foregroundMark x1="25950" y1="81717" x2="25950" y2="81717"/>
                        <a14:foregroundMark x1="35959" y1="86704" x2="35959" y2="86704"/>
                        <a14:foregroundMark x1="44300" y1="83657" x2="44300" y2="83657"/>
                        <a14:foregroundMark x1="53197" y1="73961" x2="53197" y2="73961"/>
                        <a14:foregroundMark x1="82947" y1="81717" x2="82947" y2="81717"/>
                        <a14:foregroundMark x1="85171" y1="87812" x2="85171" y2="8781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517" t="63297" r="13176"/>
          <a:stretch/>
        </p:blipFill>
        <p:spPr>
          <a:xfrm>
            <a:off x="112017" y="6545265"/>
            <a:ext cx="1744133" cy="288231"/>
          </a:xfrm>
          <a:prstGeom prst="rect">
            <a:avLst/>
          </a:prstGeom>
        </p:spPr>
      </p:pic>
      <p:sp>
        <p:nvSpPr>
          <p:cNvPr id="16" name="날짜 개체 틀 3">
            <a:extLst>
              <a:ext uri="{FF2B5EF4-FFF2-40B4-BE49-F238E27FC236}">
                <a16:creationId xmlns:a16="http://schemas.microsoft.com/office/drawing/2014/main" id="{3920A115-BF94-4DB0-B759-905F580E6A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98025" y="6495439"/>
            <a:ext cx="1258711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7" name="바닥글 개체 틀 4">
            <a:extLst>
              <a:ext uri="{FF2B5EF4-FFF2-40B4-BE49-F238E27FC236}">
                <a16:creationId xmlns:a16="http://schemas.microsoft.com/office/drawing/2014/main" id="{CB761E04-ABC5-4F9B-B7F4-0370F3F02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08348" y="6495439"/>
            <a:ext cx="1888067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6484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D0B4DC-8072-4B8E-A822-FE3A08C0D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927B99-20C3-4D37-8275-EA6400E5C1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C6CE84-6AD8-453A-AD6E-FEAF604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044141"/>
            <a:ext cx="27432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9EF105-0337-4580-9111-FD2F527F9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044141"/>
            <a:ext cx="41148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AB31AF83-2C46-4BF6-B48E-DD76F99A3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40800" y="6044141"/>
            <a:ext cx="2743200" cy="365125"/>
          </a:xfrm>
        </p:spPr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1779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8C8B6C-1DEF-4332-8A14-F6B6981FD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78B35E-5C7A-4650-863C-461C8592BB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A0FC85E-DA01-4C94-8312-2EAB20EAB3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6ADE796-457C-4E05-BBB8-BC7FD1390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65A564A-D398-41C0-BEF2-5D2A53F37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D0DB09-1DC7-4816-820B-2EDD19BAD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9832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073845-DA08-4E02-89E5-279477CDC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FA0F8E2-8F9C-4936-8D92-FA7FE4970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9C35784-8D42-4310-8640-07C1BEB330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B31B950-6CB7-42DB-A303-B407EF83D2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0F35007-CA56-4CB7-8C5F-CF3E2924C5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90CD9AE-54AB-44CB-8910-A70F24EB3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2AFA608-2F47-4FBC-8A45-AC037C64C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EA635AC-BD3D-4D4A-AB07-EAABF5013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6600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D27486-42F6-4B67-8DF8-769971D09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BBFFFA3-6C08-4D2B-B714-F2729D0D9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01B550E-4A2E-4405-8F29-A9633B7A9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40B985F-0B0F-472E-A18E-72C776E30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909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995497-1A46-4FDE-B4B1-CA2510A4E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BDDD35-FFDF-4936-8645-AC2A1F2AB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31037F-312F-4D9B-9119-F134F49B2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92111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062E35-F23E-4CDC-9C00-11DCB7E97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765F35A-C1B0-4F2A-8536-7C9C4EF9C0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B6DFEF-5929-42A1-B17A-6AD3F1AC5E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8A33CA-A779-4AE7-8BB3-0DF9C81A7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1539BD6-447C-4ABC-97CC-BCC453A38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A96239-5406-4F31-95AA-C4BD1AB50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80733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FCC7A7-4C8B-434F-9C38-C6E5AC9E3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7AD0D2C-AE0D-4BDF-B9E8-D91CD7556C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9F58740-6BDA-46A2-A629-765E7E175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2C1AD5-7F55-4125-8A2F-BC07A86DA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AB58409-227F-4B89-B306-5E32E6E4F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7C64012-3A7B-4999-BA77-06258A04A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3037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54230E-387F-465D-9111-5F8ACFE1D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C53B19F-7C90-4073-858B-0BD87654EF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6123FE-787A-4904-AA9D-8ACC7B307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1EAC67-5F52-452E-9E50-F587C6481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0EEB5A-4207-4ADB-95D4-B87AA305B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071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DACCBB6-C18F-485C-A53E-8683CFFE90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12DC10F-92E5-436B-9D63-2A68B11CB0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5DDDF8-BB20-4C9B-9571-A39BA7D6E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54DDF5-9EDE-406E-BFC5-8359CD708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B989F03-47B6-4B39-B0CA-2A216789C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77190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A31B03D-0C42-48E6-948A-722C5EE3F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5A6E46-0B48-4B44-9DA0-C7C1E05C3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0D4B93-E437-4DCC-9E09-16EA88BBC5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A7A77E-05D0-4203-B655-9A2A21B58D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C09CEAC-52D1-4D7C-99C4-13222A951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55485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7" Type="http://schemas.openxmlformats.org/officeDocument/2006/relationships/image" Target="../media/image46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4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7" Type="http://schemas.openxmlformats.org/officeDocument/2006/relationships/image" Target="../media/image65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7" Type="http://schemas.openxmlformats.org/officeDocument/2006/relationships/image" Target="../media/image71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7" Type="http://schemas.openxmlformats.org/officeDocument/2006/relationships/image" Target="../media/image77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6.png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7" Type="http://schemas.openxmlformats.org/officeDocument/2006/relationships/image" Target="../media/image82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7" Type="http://schemas.openxmlformats.org/officeDocument/2006/relationships/image" Target="../media/image88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7" Type="http://schemas.openxmlformats.org/officeDocument/2006/relationships/image" Target="../media/image94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3.png"/><Relationship Id="rId5" Type="http://schemas.openxmlformats.org/officeDocument/2006/relationships/image" Target="../media/image92.png"/><Relationship Id="rId4" Type="http://schemas.openxmlformats.org/officeDocument/2006/relationships/image" Target="../media/image91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7" Type="http://schemas.openxmlformats.org/officeDocument/2006/relationships/image" Target="../media/image100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9.png"/><Relationship Id="rId5" Type="http://schemas.openxmlformats.org/officeDocument/2006/relationships/image" Target="../media/image98.png"/><Relationship Id="rId4" Type="http://schemas.openxmlformats.org/officeDocument/2006/relationships/image" Target="../media/image97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7" Type="http://schemas.openxmlformats.org/officeDocument/2006/relationships/image" Target="../media/image106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5.png"/><Relationship Id="rId5" Type="http://schemas.openxmlformats.org/officeDocument/2006/relationships/image" Target="../media/image104.png"/><Relationship Id="rId4" Type="http://schemas.openxmlformats.org/officeDocument/2006/relationships/image" Target="../media/image10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7" Type="http://schemas.openxmlformats.org/officeDocument/2006/relationships/image" Target="../media/image111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0.png"/><Relationship Id="rId5" Type="http://schemas.openxmlformats.org/officeDocument/2006/relationships/image" Target="../media/image109.png"/><Relationship Id="rId4" Type="http://schemas.openxmlformats.org/officeDocument/2006/relationships/image" Target="../media/image108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7" Type="http://schemas.openxmlformats.org/officeDocument/2006/relationships/image" Target="../media/image117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6.png"/><Relationship Id="rId5" Type="http://schemas.openxmlformats.org/officeDocument/2006/relationships/image" Target="../media/image115.png"/><Relationship Id="rId4" Type="http://schemas.openxmlformats.org/officeDocument/2006/relationships/image" Target="../media/image114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png"/><Relationship Id="rId7" Type="http://schemas.openxmlformats.org/officeDocument/2006/relationships/image" Target="../media/image123.png"/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2.png"/><Relationship Id="rId5" Type="http://schemas.openxmlformats.org/officeDocument/2006/relationships/image" Target="../media/image121.png"/><Relationship Id="rId4" Type="http://schemas.openxmlformats.org/officeDocument/2006/relationships/image" Target="../media/image120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png"/><Relationship Id="rId7" Type="http://schemas.openxmlformats.org/officeDocument/2006/relationships/image" Target="../media/image129.png"/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8.png"/><Relationship Id="rId5" Type="http://schemas.openxmlformats.org/officeDocument/2006/relationships/image" Target="../media/image127.png"/><Relationship Id="rId4" Type="http://schemas.openxmlformats.org/officeDocument/2006/relationships/image" Target="../media/image12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7" Type="http://schemas.openxmlformats.org/officeDocument/2006/relationships/image" Target="../media/image135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4.png"/><Relationship Id="rId5" Type="http://schemas.openxmlformats.org/officeDocument/2006/relationships/image" Target="../media/image133.png"/><Relationship Id="rId4" Type="http://schemas.openxmlformats.org/officeDocument/2006/relationships/image" Target="../media/image132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6.png"/><Relationship Id="rId7" Type="http://schemas.openxmlformats.org/officeDocument/2006/relationships/image" Target="../media/image140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9.png"/><Relationship Id="rId5" Type="http://schemas.openxmlformats.org/officeDocument/2006/relationships/image" Target="../media/image138.png"/><Relationship Id="rId4" Type="http://schemas.openxmlformats.org/officeDocument/2006/relationships/image" Target="../media/image137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.png"/><Relationship Id="rId7" Type="http://schemas.openxmlformats.org/officeDocument/2006/relationships/image" Target="../media/image146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5.png"/><Relationship Id="rId5" Type="http://schemas.openxmlformats.org/officeDocument/2006/relationships/image" Target="../media/image144.png"/><Relationship Id="rId4" Type="http://schemas.openxmlformats.org/officeDocument/2006/relationships/image" Target="../media/image14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8.png"/><Relationship Id="rId7" Type="http://schemas.openxmlformats.org/officeDocument/2006/relationships/image" Target="../media/image152.png"/><Relationship Id="rId2" Type="http://schemas.openxmlformats.org/officeDocument/2006/relationships/image" Target="../media/image14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1.png"/><Relationship Id="rId5" Type="http://schemas.openxmlformats.org/officeDocument/2006/relationships/image" Target="../media/image150.png"/><Relationship Id="rId4" Type="http://schemas.openxmlformats.org/officeDocument/2006/relationships/image" Target="../media/image149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4.png"/><Relationship Id="rId7" Type="http://schemas.openxmlformats.org/officeDocument/2006/relationships/image" Target="../media/image157.png"/><Relationship Id="rId2" Type="http://schemas.openxmlformats.org/officeDocument/2006/relationships/image" Target="../media/image15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5.png"/><Relationship Id="rId5" Type="http://schemas.openxmlformats.org/officeDocument/2006/relationships/image" Target="../media/image156.png"/><Relationship Id="rId4" Type="http://schemas.openxmlformats.org/officeDocument/2006/relationships/image" Target="../media/image155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9.png"/><Relationship Id="rId7" Type="http://schemas.openxmlformats.org/officeDocument/2006/relationships/image" Target="../media/image163.png"/><Relationship Id="rId2" Type="http://schemas.openxmlformats.org/officeDocument/2006/relationships/image" Target="../media/image15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2.png"/><Relationship Id="rId5" Type="http://schemas.openxmlformats.org/officeDocument/2006/relationships/image" Target="../media/image161.png"/><Relationship Id="rId4" Type="http://schemas.openxmlformats.org/officeDocument/2006/relationships/image" Target="../media/image160.png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5.png"/><Relationship Id="rId2" Type="http://schemas.openxmlformats.org/officeDocument/2006/relationships/image" Target="../media/image16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7.png"/><Relationship Id="rId4" Type="http://schemas.openxmlformats.org/officeDocument/2006/relationships/image" Target="../media/image166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9.png"/><Relationship Id="rId2" Type="http://schemas.openxmlformats.org/officeDocument/2006/relationships/image" Target="../media/image16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1.png"/><Relationship Id="rId4" Type="http://schemas.openxmlformats.org/officeDocument/2006/relationships/image" Target="../media/image170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3.png"/><Relationship Id="rId2" Type="http://schemas.openxmlformats.org/officeDocument/2006/relationships/image" Target="../media/image17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5.png"/><Relationship Id="rId4" Type="http://schemas.openxmlformats.org/officeDocument/2006/relationships/image" Target="../media/image174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7.png"/><Relationship Id="rId2" Type="http://schemas.openxmlformats.org/officeDocument/2006/relationships/image" Target="../media/image17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9.png"/><Relationship Id="rId4" Type="http://schemas.openxmlformats.org/officeDocument/2006/relationships/image" Target="../media/image178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>
            <a:extLst>
              <a:ext uri="{FF2B5EF4-FFF2-40B4-BE49-F238E27FC236}">
                <a16:creationId xmlns:a16="http://schemas.microsoft.com/office/drawing/2014/main" id="{4C14D9A0-1BB9-428F-B273-3CE24758593B}"/>
              </a:ext>
            </a:extLst>
          </p:cNvPr>
          <p:cNvSpPr txBox="1">
            <a:spLocks/>
          </p:cNvSpPr>
          <p:nvPr/>
        </p:nvSpPr>
        <p:spPr>
          <a:xfrm>
            <a:off x="417068" y="2062806"/>
            <a:ext cx="11387837" cy="398186"/>
          </a:xfrm>
          <a:prstGeom prst="rect">
            <a:avLst/>
          </a:prstGeom>
        </p:spPr>
        <p:txBody>
          <a:bodyPr vert="horz" wrap="square" lIns="0" tIns="13335" rIns="0" bIns="0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lnSpc>
                <a:spcPct val="100000"/>
              </a:lnSpc>
              <a:spcBef>
                <a:spcPts val="104"/>
              </a:spcBef>
              <a:defRPr/>
            </a:pPr>
            <a:r>
              <a:rPr lang="en-US" altLang="ko-KR" sz="2500" b="1" dirty="0">
                <a:solidFill>
                  <a:schemeClr val="lt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Arial" panose="020B0604020202020204" pitchFamily="34" charset="0"/>
              </a:rPr>
              <a:t>Results of Total </a:t>
            </a:r>
            <a:r>
              <a:rPr lang="en-US" altLang="ko-KR" sz="2500" b="1" dirty="0" err="1">
                <a:solidFill>
                  <a:schemeClr val="lt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Arial" panose="020B0604020202020204" pitchFamily="34" charset="0"/>
              </a:rPr>
              <a:t>Segmentator</a:t>
            </a:r>
            <a:r>
              <a:rPr lang="en-US" altLang="ko-KR" sz="2500" b="1" dirty="0">
                <a:solidFill>
                  <a:schemeClr val="lt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Arial" panose="020B0604020202020204" pitchFamily="34" charset="0"/>
              </a:rPr>
              <a:t> &amp; AEC</a:t>
            </a:r>
            <a:r>
              <a:rPr lang="ko-KR" altLang="en-US" sz="2500" b="1" dirty="0">
                <a:solidFill>
                  <a:schemeClr val="lt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Arial" panose="020B0604020202020204" pitchFamily="34" charset="0"/>
              </a:rPr>
              <a:t> </a:t>
            </a:r>
            <a:r>
              <a:rPr lang="en-US" altLang="ko-KR" sz="2500" b="1" dirty="0">
                <a:solidFill>
                  <a:schemeClr val="lt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Arial" panose="020B0604020202020204" pitchFamily="34" charset="0"/>
              </a:rPr>
              <a:t>Study</a:t>
            </a: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94B21C1C-F3A0-440B-961E-968F2C77FB2A}"/>
              </a:ext>
            </a:extLst>
          </p:cNvPr>
          <p:cNvSpPr txBox="1"/>
          <p:nvPr/>
        </p:nvSpPr>
        <p:spPr>
          <a:xfrm>
            <a:off x="417068" y="3139177"/>
            <a:ext cx="7139940" cy="259045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chemeClr val="bg1">
                    <a:lumMod val="7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2026. 05. 22</a:t>
            </a:r>
          </a:p>
        </p:txBody>
      </p:sp>
      <p:sp>
        <p:nvSpPr>
          <p:cNvPr id="6" name="object 5">
            <a:extLst>
              <a:ext uri="{FF2B5EF4-FFF2-40B4-BE49-F238E27FC236}">
                <a16:creationId xmlns:a16="http://schemas.microsoft.com/office/drawing/2014/main" id="{63F70F93-076B-4BBC-B933-AC7768BB0AE5}"/>
              </a:ext>
            </a:extLst>
          </p:cNvPr>
          <p:cNvSpPr txBox="1"/>
          <p:nvPr/>
        </p:nvSpPr>
        <p:spPr>
          <a:xfrm>
            <a:off x="417068" y="3564777"/>
            <a:ext cx="7139940" cy="289823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800" b="1" dirty="0" err="1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JangHoon</a:t>
            </a:r>
            <a:r>
              <a:rPr lang="en-US" altLang="ko-KR" sz="1800" b="1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 Chun</a:t>
            </a:r>
          </a:p>
        </p:txBody>
      </p:sp>
      <p:sp>
        <p:nvSpPr>
          <p:cNvPr id="7" name="object 5">
            <a:extLst>
              <a:ext uri="{FF2B5EF4-FFF2-40B4-BE49-F238E27FC236}">
                <a16:creationId xmlns:a16="http://schemas.microsoft.com/office/drawing/2014/main" id="{CEB5E8A0-083F-4B6E-AA66-93BFFD6A8E1A}"/>
              </a:ext>
            </a:extLst>
          </p:cNvPr>
          <p:cNvSpPr txBox="1"/>
          <p:nvPr/>
        </p:nvSpPr>
        <p:spPr>
          <a:xfrm>
            <a:off x="417068" y="3978214"/>
            <a:ext cx="7139940" cy="1213153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Department of, Medical Device Engineering &amp; Management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Gangnam Severance Hospital,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Yonsei University College of Medicine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endParaRPr lang="en-US" altLang="ko-KR" sz="1600" b="1" dirty="0">
              <a:solidFill>
                <a:srgbClr val="FFFFFF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  <a:cs typeface="Arial" panose="020B0604020202020204" pitchFamily="34" charset="0"/>
            </a:endParaRP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endParaRPr sz="1600" b="1" baseline="25000" dirty="0">
              <a:latin typeface="KoPub돋움체 Medium" panose="02020603020101020101" pitchFamily="18" charset="-127"/>
              <a:ea typeface="KoPub돋움체 Medium" panose="02020603020101020101" pitchFamily="18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88515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AA67D-2B66-3F85-5AE9-73AF22ED4D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742438-A8A9-C072-F2AE-2206B24BF2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What’s discussed in the last meetings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2A4B13E-D4FF-F6EF-0421-904F6E47B8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IMATA </a:t>
            </a:r>
            <a:r>
              <a:rPr lang="ko-KR" altLang="en-US" dirty="0"/>
              <a:t>값을 반영하여 </a:t>
            </a:r>
            <a:r>
              <a:rPr lang="en-US" altLang="ko-KR" dirty="0"/>
              <a:t>SMI </a:t>
            </a:r>
            <a:r>
              <a:rPr lang="ko-KR" altLang="en-US" dirty="0"/>
              <a:t>데이터 재확인</a:t>
            </a:r>
            <a:endParaRPr lang="en-US" altLang="ko-KR" dirty="0"/>
          </a:p>
          <a:p>
            <a:pPr lvl="1"/>
            <a:r>
              <a:rPr lang="en-US" altLang="ko-KR" dirty="0"/>
              <a:t>SMI = (TAMA − IMATA) / Height²</a:t>
            </a:r>
          </a:p>
          <a:p>
            <a:r>
              <a:rPr lang="en-US" altLang="ko-KR" dirty="0"/>
              <a:t>SMI </a:t>
            </a:r>
            <a:r>
              <a:rPr lang="ko-KR" altLang="en-US" dirty="0"/>
              <a:t>기준 논문 </a:t>
            </a:r>
            <a:r>
              <a:rPr lang="en-US" altLang="ko-KR" dirty="0"/>
              <a:t>5</a:t>
            </a:r>
            <a:r>
              <a:rPr lang="ko-KR" altLang="en-US" dirty="0"/>
              <a:t>개 확인 후 남녀 </a:t>
            </a:r>
            <a:r>
              <a:rPr lang="en-US" altLang="ko-KR" dirty="0"/>
              <a:t>SMI threshold </a:t>
            </a:r>
            <a:r>
              <a:rPr lang="ko-KR" altLang="en-US" dirty="0"/>
              <a:t>결정</a:t>
            </a:r>
            <a:endParaRPr lang="en-US" altLang="ko-KR" dirty="0"/>
          </a:p>
          <a:p>
            <a:pPr lvl="1"/>
            <a:r>
              <a:rPr lang="en-US" altLang="ko-KR" dirty="0"/>
              <a:t>‘</a:t>
            </a:r>
            <a:r>
              <a:rPr lang="ko-KR" altLang="en-US" dirty="0"/>
              <a:t>한국 기준 하위 </a:t>
            </a:r>
            <a:r>
              <a:rPr lang="en-US" altLang="ko-KR" dirty="0"/>
              <a:t>5%’</a:t>
            </a:r>
            <a:r>
              <a:rPr lang="ko-KR" altLang="en-US" dirty="0"/>
              <a:t>로 설정 → </a:t>
            </a:r>
            <a:r>
              <a:rPr lang="en-US" altLang="ko-KR" dirty="0"/>
              <a:t>M: 40.96 cm</a:t>
            </a:r>
            <a:r>
              <a:rPr lang="en-US" altLang="ko-KR" baseline="30000" dirty="0"/>
              <a:t>2</a:t>
            </a:r>
            <a:r>
              <a:rPr lang="en-US" altLang="ko-KR" dirty="0"/>
              <a:t>/m</a:t>
            </a:r>
            <a:r>
              <a:rPr lang="en-US" altLang="ko-KR" baseline="30000" dirty="0"/>
              <a:t>2</a:t>
            </a:r>
            <a:r>
              <a:rPr lang="en-US" altLang="ko-KR" dirty="0"/>
              <a:t>, F: 30.6 cm</a:t>
            </a:r>
            <a:r>
              <a:rPr lang="en-US" altLang="ko-KR" baseline="30000" dirty="0"/>
              <a:t>2</a:t>
            </a:r>
            <a:r>
              <a:rPr lang="en-US" altLang="ko-KR" dirty="0"/>
              <a:t>/m</a:t>
            </a:r>
            <a:r>
              <a:rPr lang="en-US" altLang="ko-KR" baseline="30000" dirty="0"/>
              <a:t>2</a:t>
            </a:r>
            <a:endParaRPr lang="en-US" altLang="ko-KR" dirty="0"/>
          </a:p>
          <a:p>
            <a:r>
              <a:rPr lang="ko-KR" altLang="en-US" dirty="0"/>
              <a:t>모델은 </a:t>
            </a:r>
            <a:r>
              <a:rPr lang="en-US" altLang="ko-KR" dirty="0"/>
              <a:t>Logistic Regression</a:t>
            </a:r>
            <a:r>
              <a:rPr lang="ko-KR" altLang="en-US" dirty="0"/>
              <a:t>과 </a:t>
            </a:r>
            <a:r>
              <a:rPr lang="en-US" altLang="ko-KR" dirty="0"/>
              <a:t>Multimodal (Cross Attention)</a:t>
            </a:r>
            <a:r>
              <a:rPr lang="ko-KR" altLang="en-US" dirty="0"/>
              <a:t> 사용</a:t>
            </a:r>
            <a:endParaRPr lang="en-US" altLang="ko-KR" dirty="0"/>
          </a:p>
          <a:p>
            <a:r>
              <a:rPr lang="en-US" altLang="ko-KR" dirty="0"/>
              <a:t>Clinic [Age, Sex, BMI] vs Clinic + AEC vs Clinic + AEC + Scanner [</a:t>
            </a:r>
            <a:r>
              <a:rPr lang="ko-KR" altLang="en-US" dirty="0"/>
              <a:t>모델명</a:t>
            </a:r>
            <a:r>
              <a:rPr lang="en-US" altLang="ko-KR" dirty="0"/>
              <a:t>]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3A8356-A9FE-00F5-FFBF-D1A2F9D6D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710079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C4419C-94C1-0072-6BC7-99231F181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B87E29-ECD2-C1AB-F064-B9899724F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What’s discussed in the last meetings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AEBF44-283B-F2F4-6E93-B97D83EE2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</a:t>
            </a:fld>
            <a:endParaRPr lang="ko-KR" altLang="en-US" dirty="0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46B1940-76D7-EF5C-4BDC-815E2CBB84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Best Model Summary</a:t>
            </a:r>
            <a:endParaRPr lang="ko-KR" altLang="en-US" dirty="0"/>
          </a:p>
        </p:txBody>
      </p:sp>
      <p:graphicFrame>
        <p:nvGraphicFramePr>
          <p:cNvPr id="7" name="Table 24">
            <a:extLst>
              <a:ext uri="{FF2B5EF4-FFF2-40B4-BE49-F238E27FC236}">
                <a16:creationId xmlns:a16="http://schemas.microsoft.com/office/drawing/2014/main" id="{9D213DDB-0128-112A-A576-93C1261EEA17}"/>
              </a:ext>
            </a:extLst>
          </p:cNvPr>
          <p:cNvGraphicFramePr>
            <a:graphicFrameLocks noGrp="1"/>
          </p:cNvGraphicFramePr>
          <p:nvPr/>
        </p:nvGraphicFramePr>
        <p:xfrm>
          <a:off x="1398856" y="1714954"/>
          <a:ext cx="9394288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42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4286">
                  <a:extLst>
                    <a:ext uri="{9D8B030D-6E8A-4147-A177-3AD203B41FA5}">
                      <a16:colId xmlns:a16="http://schemas.microsoft.com/office/drawing/2014/main" val="2550189988"/>
                    </a:ext>
                  </a:extLst>
                </a:gridCol>
                <a:gridCol w="11742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742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7428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74286">
                  <a:extLst>
                    <a:ext uri="{9D8B030D-6E8A-4147-A177-3AD203B41FA5}">
                      <a16:colId xmlns:a16="http://schemas.microsoft.com/office/drawing/2014/main" val="3153164272"/>
                    </a:ext>
                  </a:extLst>
                </a:gridCol>
                <a:gridCol w="1174286">
                  <a:extLst>
                    <a:ext uri="{9D8B030D-6E8A-4147-A177-3AD203B41FA5}">
                      <a16:colId xmlns:a16="http://schemas.microsoft.com/office/drawing/2014/main" val="493313760"/>
                    </a:ext>
                  </a:extLst>
                </a:gridCol>
                <a:gridCol w="1174286">
                  <a:extLst>
                    <a:ext uri="{9D8B030D-6E8A-4147-A177-3AD203B41FA5}">
                      <a16:colId xmlns:a16="http://schemas.microsoft.com/office/drawing/2014/main" val="340720469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effectLst/>
                        </a:rPr>
                        <a:t>순위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b="1" dirty="0">
                          <a:effectLst/>
                        </a:rPr>
                        <a:t>모델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Test AUC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AUPRC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Brier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F1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Sensitivity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Specificity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1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Model 3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0.8453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0.3993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0.2036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0.3802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82.1%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69.2%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96269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2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Model 2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0.8403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0.3367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0.2253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0.3788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89.3%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65.2%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3654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3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0" dirty="0">
                          <a:effectLst/>
                        </a:rPr>
                        <a:t>Model 1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0.8291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0.3249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0.1931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0.3636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78.6%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68.7%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0003389"/>
                  </a:ext>
                </a:extLst>
              </a:tr>
            </a:tbl>
          </a:graphicData>
        </a:graphic>
      </p:graphicFrame>
      <p:graphicFrame>
        <p:nvGraphicFramePr>
          <p:cNvPr id="8" name="Table 24">
            <a:extLst>
              <a:ext uri="{FF2B5EF4-FFF2-40B4-BE49-F238E27FC236}">
                <a16:creationId xmlns:a16="http://schemas.microsoft.com/office/drawing/2014/main" id="{BE15D723-D86F-BA75-8899-E4D00AE065A1}"/>
              </a:ext>
            </a:extLst>
          </p:cNvPr>
          <p:cNvGraphicFramePr>
            <a:graphicFrameLocks noGrp="1"/>
          </p:cNvGraphicFramePr>
          <p:nvPr/>
        </p:nvGraphicFramePr>
        <p:xfrm>
          <a:off x="2771931" y="3773592"/>
          <a:ext cx="6648138" cy="2186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90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30835">
                  <a:extLst>
                    <a:ext uri="{9D8B030D-6E8A-4147-A177-3AD203B41FA5}">
                      <a16:colId xmlns:a16="http://schemas.microsoft.com/office/drawing/2014/main" val="3397596428"/>
                    </a:ext>
                  </a:extLst>
                </a:gridCol>
                <a:gridCol w="18308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974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조건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Clinic + AEC</a:t>
                      </a:r>
                    </a:p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Matching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Clinic + AEC</a:t>
                      </a:r>
                    </a:p>
                    <a:p>
                      <a:pPr algn="ctr">
                        <a:buNone/>
                      </a:pPr>
                      <a:r>
                        <a:rPr lang="en-US" altLang="ko-KR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Unmatching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차이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len064 / scale_clinic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0.8140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0.8037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−</a:t>
                      </a: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0.010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416148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len064 / scale_both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0.8403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0.7683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−</a:t>
                      </a: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0.072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548336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len128 / scale_clinic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0.8287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0.7989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−</a:t>
                      </a: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0.030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015156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len128 / scale_both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0.8310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0.8151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−</a:t>
                      </a: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0.016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187186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62FC86-F543-9581-71C1-BF189CB1D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C4B5E9-74EF-8901-0650-693B96D3B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What’s discussed in the last meetings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A16211-D92D-0336-D03C-7CA64F67D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4</a:t>
            </a:fld>
            <a:endParaRPr lang="ko-KR" altLang="en-US" dirty="0"/>
          </a:p>
        </p:txBody>
      </p:sp>
      <p:sp>
        <p:nvSpPr>
          <p:cNvPr id="11" name="내용 개체 틀 10">
            <a:extLst>
              <a:ext uri="{FF2B5EF4-FFF2-40B4-BE49-F238E27FC236}">
                <a16:creationId xmlns:a16="http://schemas.microsoft.com/office/drawing/2014/main" id="{B4F50E98-7D81-AFAE-EE6B-2D6A9A9DFA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데이터 분포 확인</a:t>
            </a:r>
            <a:endParaRPr lang="en-US" altLang="ko-KR" dirty="0"/>
          </a:p>
        </p:txBody>
      </p:sp>
      <p:graphicFrame>
        <p:nvGraphicFramePr>
          <p:cNvPr id="5" name="Table 24">
            <a:extLst>
              <a:ext uri="{FF2B5EF4-FFF2-40B4-BE49-F238E27FC236}">
                <a16:creationId xmlns:a16="http://schemas.microsoft.com/office/drawing/2014/main" id="{E9A2D41F-ED01-5DAE-3C00-38248A040ED5}"/>
              </a:ext>
            </a:extLst>
          </p:cNvPr>
          <p:cNvGraphicFramePr>
            <a:graphicFrameLocks noGrp="1"/>
          </p:cNvGraphicFramePr>
          <p:nvPr/>
        </p:nvGraphicFramePr>
        <p:xfrm>
          <a:off x="811713" y="1688828"/>
          <a:ext cx="10568576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3153164272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493313760"/>
                    </a:ext>
                  </a:extLst>
                </a:gridCol>
                <a:gridCol w="1321072">
                  <a:extLst>
                    <a:ext uri="{9D8B030D-6E8A-4147-A177-3AD203B41FA5}">
                      <a16:colId xmlns:a16="http://schemas.microsoft.com/office/drawing/2014/main" val="340720469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구분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Std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Min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p25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Median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p75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max</a:t>
                      </a:r>
                      <a:endParaRPr sz="1200" b="1" dirty="0">
                        <a:solidFill>
                          <a:srgbClr val="FFFFFF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n slices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168.6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32.0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44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151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165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184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460</a:t>
                      </a:r>
                    </a:p>
                  </a:txBody>
                  <a:tcPr marL="6350" marR="6350" marT="6350" marB="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rgbClr val="1A1A2E"/>
                          </a:solidFill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  <a:cs typeface="KoPubWorld돋움체 Medium" panose="00000600000000000000" pitchFamily="2" charset="-127"/>
                        </a:rPr>
                        <a:t>z range (mm)</a:t>
                      </a:r>
                      <a:endParaRPr sz="1200" dirty="0">
                        <a:solidFill>
                          <a:srgbClr val="1A1A2E"/>
                        </a:solidFill>
                        <a:latin typeface="KoPub돋움체 Medium" panose="00000600000000000000" pitchFamily="2" charset="-127"/>
                        <a:ea typeface="KoPub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469.6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52.6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215.0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441.0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467.5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497.5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918.0</a:t>
                      </a:r>
                    </a:p>
                  </a:txBody>
                  <a:tcPr marL="6350" marR="6350" marT="635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7" name="Table 24">
            <a:extLst>
              <a:ext uri="{FF2B5EF4-FFF2-40B4-BE49-F238E27FC236}">
                <a16:creationId xmlns:a16="http://schemas.microsoft.com/office/drawing/2014/main" id="{A2CEBF2B-754B-3834-73CF-27C354810DAA}"/>
              </a:ext>
            </a:extLst>
          </p:cNvPr>
          <p:cNvGraphicFramePr>
            <a:graphicFrameLocks noGrp="1"/>
          </p:cNvGraphicFramePr>
          <p:nvPr/>
        </p:nvGraphicFramePr>
        <p:xfrm>
          <a:off x="811712" y="3317513"/>
          <a:ext cx="10568572" cy="243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97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97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97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09796">
                  <a:extLst>
                    <a:ext uri="{9D8B030D-6E8A-4147-A177-3AD203B41FA5}">
                      <a16:colId xmlns:a16="http://schemas.microsoft.com/office/drawing/2014/main" val="526300428"/>
                    </a:ext>
                  </a:extLst>
                </a:gridCol>
                <a:gridCol w="1509796">
                  <a:extLst>
                    <a:ext uri="{9D8B030D-6E8A-4147-A177-3AD203B41FA5}">
                      <a16:colId xmlns:a16="http://schemas.microsoft.com/office/drawing/2014/main" val="2895696751"/>
                    </a:ext>
                  </a:extLst>
                </a:gridCol>
                <a:gridCol w="15097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09796">
                  <a:extLst>
                    <a:ext uri="{9D8B030D-6E8A-4147-A177-3AD203B41FA5}">
                      <a16:colId xmlns:a16="http://schemas.microsoft.com/office/drawing/2014/main" val="493313760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구분</a:t>
                      </a:r>
                      <a:endParaRPr lang="ko-KR" alt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성별</a:t>
                      </a:r>
                      <a:endParaRPr lang="ko-KR" alt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Mean</a:t>
                      </a:r>
                      <a:endParaRPr 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Std</a:t>
                      </a:r>
                      <a:endParaRPr 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Min</a:t>
                      </a:r>
                      <a:endParaRPr lang="ko-KR" alt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Median</a:t>
                      </a:r>
                      <a:endParaRPr lang="ko-KR" alt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R="114300" marT="152400" marB="15240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chemeClr val="bg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Max</a:t>
                      </a:r>
                      <a:endParaRPr lang="ko-KR" altLang="en-US" sz="1200" dirty="0">
                        <a:solidFill>
                          <a:schemeClr val="bg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T="152400" marB="152400"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 rowSpan="2"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n slices</a:t>
                      </a:r>
                    </a:p>
                    <a:p>
                      <a:pPr algn="ctr" rtl="0">
                        <a:buNone/>
                      </a:pP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개수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)</a:t>
                      </a:r>
                    </a:p>
                  </a:txBody>
                  <a:tcPr marR="114300"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F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168.61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32.05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50.0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165.0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460.0</a:t>
                      </a:r>
                    </a:p>
                  </a:txBody>
                  <a:tcPr marT="152400" marB="15240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R="114300" marT="152400" marB="152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</a:t>
                      </a:r>
                    </a:p>
                  </a:txBody>
                  <a:tcPr marR="114300"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168.65</a:t>
                      </a:r>
                    </a:p>
                  </a:txBody>
                  <a:tcPr marR="114300"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32.04</a:t>
                      </a:r>
                    </a:p>
                  </a:txBody>
                  <a:tcPr marR="114300"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44.0</a:t>
                      </a:r>
                    </a:p>
                  </a:txBody>
                  <a:tcPr marR="114300"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166.0</a:t>
                      </a:r>
                    </a:p>
                  </a:txBody>
                  <a:tcPr marR="114300"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405.0</a:t>
                      </a:r>
                    </a:p>
                  </a:txBody>
                  <a:tcPr marT="152400" marB="1524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 rowSpan="2"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z range (mm)</a:t>
                      </a:r>
                    </a:p>
                    <a:p>
                      <a:pPr algn="ctr" rtl="0">
                        <a:buNone/>
                      </a:pP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ko-KR" alt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범위</a:t>
                      </a:r>
                      <a:r>
                        <a:rPr lang="en-US" altLang="ko-KR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)</a:t>
                      </a:r>
                    </a:p>
                  </a:txBody>
                  <a:tcPr marR="114300"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F</a:t>
                      </a:r>
                    </a:p>
                  </a:txBody>
                  <a:tcPr marR="114300"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470.97</a:t>
                      </a:r>
                    </a:p>
                  </a:txBody>
                  <a:tcPr marR="114300"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51.47</a:t>
                      </a:r>
                    </a:p>
                  </a:txBody>
                  <a:tcPr marR="114300"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234.0</a:t>
                      </a:r>
                    </a:p>
                  </a:txBody>
                  <a:tcPr marR="114300"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468.0</a:t>
                      </a:r>
                    </a:p>
                  </a:txBody>
                  <a:tcPr marR="114300"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918.0</a:t>
                      </a:r>
                    </a:p>
                  </a:txBody>
                  <a:tcPr marT="152400" marB="1524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6871011"/>
                  </a:ext>
                </a:extLst>
              </a:tr>
              <a:tr h="411480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R="114300" marT="152400" marB="152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467.58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54.34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215.0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465.0</a:t>
                      </a:r>
                    </a:p>
                  </a:txBody>
                  <a:tcPr marR="114300" marT="152400" marB="15240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dirty="0">
                          <a:solidFill>
                            <a:srgbClr val="1F1F1F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808.0</a:t>
                      </a:r>
                    </a:p>
                  </a:txBody>
                  <a:tcPr marT="152400" marB="15240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29842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855138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8CAC6-5AAE-071D-A20C-3363A9415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C34E84-7F24-BDDE-EA03-702E9D9E13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Research Summary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60B46D-A414-4C6A-6877-8F8F9387CB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5</a:t>
            </a:fld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1085DB8A-F2FD-AB70-F0B6-F5E8612C16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/>
              <a:t>Total </a:t>
            </a:r>
            <a:r>
              <a:rPr lang="en-US" altLang="ko-KR" dirty="0" err="1"/>
              <a:t>Segmentator</a:t>
            </a:r>
            <a:r>
              <a:rPr lang="ko-KR" altLang="en-US" dirty="0"/>
              <a:t>를 이용하여 </a:t>
            </a:r>
            <a:r>
              <a:rPr lang="en-US" altLang="ko-KR" dirty="0"/>
              <a:t>Range </a:t>
            </a:r>
            <a:r>
              <a:rPr lang="ko-KR" altLang="en-US" dirty="0"/>
              <a:t>정규화</a:t>
            </a:r>
            <a:endParaRPr lang="en-US" altLang="ko-KR" dirty="0"/>
          </a:p>
          <a:p>
            <a:pPr lvl="1"/>
            <a:r>
              <a:rPr lang="ko-KR" altLang="en-US" dirty="0"/>
              <a:t>상단 </a:t>
            </a:r>
            <a:r>
              <a:rPr lang="en-US" altLang="ko-KR" dirty="0"/>
              <a:t>: T12 upper, </a:t>
            </a:r>
            <a:r>
              <a:rPr lang="ko-KR" altLang="en-US" dirty="0"/>
              <a:t>하단 </a:t>
            </a:r>
            <a:r>
              <a:rPr lang="en-US" altLang="ko-KR" dirty="0"/>
              <a:t>: left/right hip bottom</a:t>
            </a:r>
          </a:p>
          <a:p>
            <a:pPr lvl="1"/>
            <a:r>
              <a:rPr lang="ko-KR" altLang="en-US" dirty="0"/>
              <a:t>갖고 있는 </a:t>
            </a:r>
            <a:r>
              <a:rPr lang="en-US" altLang="ko-KR" dirty="0"/>
              <a:t>patient 2,054</a:t>
            </a:r>
            <a:r>
              <a:rPr lang="ko-KR" altLang="en-US" dirty="0"/>
              <a:t>에 대해서 </a:t>
            </a:r>
            <a:r>
              <a:rPr lang="en-US" altLang="ko-KR" dirty="0"/>
              <a:t>630</a:t>
            </a:r>
            <a:r>
              <a:rPr lang="ko-KR" altLang="en-US" dirty="0"/>
              <a:t>명의 데이터는 </a:t>
            </a:r>
            <a:r>
              <a:rPr lang="en-US" altLang="ko-KR" dirty="0"/>
              <a:t>T12 missing</a:t>
            </a:r>
            <a:r>
              <a:rPr lang="ko-KR" altLang="en-US" dirty="0"/>
              <a:t>으로 분류</a:t>
            </a:r>
            <a:endParaRPr lang="en-US" altLang="ko-KR" dirty="0"/>
          </a:p>
          <a:p>
            <a:r>
              <a:rPr lang="en-US" altLang="ko-KR" dirty="0"/>
              <a:t>AEC </a:t>
            </a:r>
            <a:r>
              <a:rPr lang="en-US" altLang="ko-KR" dirty="0" err="1"/>
              <a:t>len</a:t>
            </a:r>
            <a:r>
              <a:rPr lang="ko-KR" altLang="en-US" dirty="0"/>
              <a:t>을 </a:t>
            </a:r>
            <a:r>
              <a:rPr lang="en-US" altLang="ko-KR" dirty="0"/>
              <a:t>128, 256</a:t>
            </a:r>
            <a:r>
              <a:rPr lang="ko-KR" altLang="en-US" dirty="0"/>
              <a:t>으로 </a:t>
            </a:r>
            <a:r>
              <a:rPr lang="en-US" altLang="ko-KR" dirty="0"/>
              <a:t>Model </a:t>
            </a:r>
            <a:r>
              <a:rPr lang="en-US" altLang="ko-KR" dirty="0" err="1"/>
              <a:t>Performace</a:t>
            </a:r>
            <a:r>
              <a:rPr lang="en-US" altLang="ko-KR" dirty="0"/>
              <a:t> </a:t>
            </a:r>
            <a:r>
              <a:rPr lang="ko-KR" altLang="en-US" dirty="0"/>
              <a:t>비교</a:t>
            </a:r>
            <a:endParaRPr lang="en-US" altLang="ko-KR" dirty="0"/>
          </a:p>
          <a:p>
            <a:pPr lvl="1"/>
            <a:r>
              <a:rPr lang="en-US" altLang="ko-KR" dirty="0"/>
              <a:t>Clinic + AEC</a:t>
            </a:r>
            <a:r>
              <a:rPr lang="ko-KR" altLang="en-US" dirty="0"/>
              <a:t>가 </a:t>
            </a:r>
            <a:r>
              <a:rPr lang="en-US" altLang="ko-KR" dirty="0"/>
              <a:t>Clinic </a:t>
            </a:r>
            <a:r>
              <a:rPr lang="ko-KR" altLang="en-US" dirty="0"/>
              <a:t>보다 </a:t>
            </a:r>
            <a:r>
              <a:rPr lang="en-US" altLang="ko-KR" dirty="0"/>
              <a:t>test dataset</a:t>
            </a:r>
            <a:r>
              <a:rPr lang="ko-KR" altLang="en-US" dirty="0"/>
              <a:t> </a:t>
            </a:r>
            <a:r>
              <a:rPr lang="en-US" altLang="ko-KR" dirty="0"/>
              <a:t>AUC </a:t>
            </a:r>
            <a:r>
              <a:rPr lang="ko-KR" altLang="en-US" dirty="0"/>
              <a:t>기준 </a:t>
            </a:r>
            <a:r>
              <a:rPr lang="en-US" altLang="ko-KR" dirty="0"/>
              <a:t>0.05 </a:t>
            </a:r>
            <a:r>
              <a:rPr lang="ko-KR" altLang="en-US" dirty="0"/>
              <a:t>향상 </a:t>
            </a:r>
            <a:r>
              <a:rPr lang="en-US" altLang="ko-KR" dirty="0"/>
              <a:t>(</a:t>
            </a:r>
            <a:r>
              <a:rPr lang="en-US" altLang="ko-KR" b="1" dirty="0"/>
              <a:t>best</a:t>
            </a:r>
            <a:r>
              <a:rPr lang="en-US" altLang="ko-KR" dirty="0"/>
              <a:t>. </a:t>
            </a:r>
            <a:r>
              <a:rPr lang="en-US" altLang="ko-KR" b="1" dirty="0"/>
              <a:t>0.833 </a:t>
            </a:r>
            <a:r>
              <a:rPr lang="ko-KR" altLang="en-US" b="1" dirty="0"/>
              <a:t>→ </a:t>
            </a:r>
            <a:r>
              <a:rPr lang="en-US" altLang="ko-KR" b="1" dirty="0"/>
              <a:t>0.887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Clinic + AEC + Scanner</a:t>
            </a:r>
            <a:r>
              <a:rPr lang="ko-KR" altLang="en-US" dirty="0"/>
              <a:t>인 경우에는 조건에 따라 다름</a:t>
            </a:r>
            <a:endParaRPr lang="en-US" altLang="ko-KR" dirty="0"/>
          </a:p>
          <a:p>
            <a:r>
              <a:rPr lang="en-US" altLang="ko-KR" dirty="0"/>
              <a:t>AEC</a:t>
            </a:r>
            <a:r>
              <a:rPr lang="ko-KR" altLang="en-US" dirty="0"/>
              <a:t>가 </a:t>
            </a:r>
            <a:r>
              <a:rPr lang="en-US" altLang="ko-KR" dirty="0"/>
              <a:t>Sarcopenia</a:t>
            </a:r>
            <a:r>
              <a:rPr lang="ko-KR" altLang="en-US" dirty="0"/>
              <a:t>를 분류할 때 영향력이 있다는 결론 도출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179669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8CC32-5641-0D56-4EE1-F5AE46297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41A162-FB10-71F8-2866-5300F3B84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2E6304-7EF9-ED4D-337C-C88493207A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6</a:t>
            </a:fld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031FB97D-BA7A-DBC7-BB95-5B9D0B5C6F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/>
              <a:t>Data Preprocessing Pipeline Work Flow</a:t>
            </a:r>
          </a:p>
          <a:p>
            <a:pPr lvl="1"/>
            <a:r>
              <a:rPr lang="en-US" altLang="ko-KR" dirty="0"/>
              <a:t>Step 1. Clinic Data </a:t>
            </a:r>
            <a:r>
              <a:rPr lang="ko-KR" altLang="en-US" dirty="0"/>
              <a:t>정제 → 중복 제거</a:t>
            </a:r>
            <a:r>
              <a:rPr lang="en-US" altLang="ko-KR" dirty="0"/>
              <a:t>, SMI </a:t>
            </a:r>
            <a:r>
              <a:rPr lang="ko-KR" altLang="en-US" dirty="0"/>
              <a:t>산출 등</a:t>
            </a:r>
            <a:endParaRPr lang="en-US" altLang="ko-KR" dirty="0"/>
          </a:p>
          <a:p>
            <a:pPr lvl="1"/>
            <a:r>
              <a:rPr lang="en-US" altLang="ko-KR" b="1" dirty="0"/>
              <a:t>Step 2. </a:t>
            </a:r>
            <a:r>
              <a:rPr lang="en-US" altLang="ko-KR" b="1" dirty="0" err="1"/>
              <a:t>TotalSegmentator</a:t>
            </a:r>
            <a:r>
              <a:rPr lang="ko-KR" altLang="en-US" b="1" dirty="0"/>
              <a:t>를 이용한 해부학적 경계 추출</a:t>
            </a:r>
            <a:endParaRPr lang="en-US" altLang="ko-KR" b="1" dirty="0"/>
          </a:p>
          <a:p>
            <a:pPr lvl="2"/>
            <a:r>
              <a:rPr lang="en-US" altLang="ko-KR" dirty="0"/>
              <a:t>DICOM </a:t>
            </a:r>
            <a:r>
              <a:rPr lang="ko-KR" altLang="en-US" dirty="0"/>
              <a:t>→ </a:t>
            </a:r>
            <a:r>
              <a:rPr lang="en-US" altLang="ko-KR" dirty="0" err="1"/>
              <a:t>NifTI</a:t>
            </a:r>
            <a:r>
              <a:rPr lang="ko-KR" altLang="en-US" dirty="0"/>
              <a:t> 변환 → </a:t>
            </a:r>
            <a:r>
              <a:rPr lang="en-US" altLang="ko-KR" dirty="0" err="1"/>
              <a:t>totalsegmentator</a:t>
            </a:r>
            <a:r>
              <a:rPr lang="ko-KR" altLang="en-US" dirty="0"/>
              <a:t> </a:t>
            </a:r>
            <a:r>
              <a:rPr lang="en-US" altLang="ko-KR" dirty="0"/>
              <a:t>[“vertebrae_T12”, “</a:t>
            </a:r>
            <a:r>
              <a:rPr lang="en-US" altLang="ko-KR" dirty="0" err="1"/>
              <a:t>hip_left</a:t>
            </a:r>
            <a:r>
              <a:rPr lang="en-US" altLang="ko-KR" dirty="0"/>
              <a:t>”, “</a:t>
            </a:r>
            <a:r>
              <a:rPr lang="en-US" altLang="ko-KR" dirty="0" err="1"/>
              <a:t>hip_right</a:t>
            </a:r>
            <a:r>
              <a:rPr lang="en-US" altLang="ko-KR" dirty="0"/>
              <a:t>”] </a:t>
            </a:r>
            <a:r>
              <a:rPr lang="ko-KR" altLang="en-US" dirty="0"/>
              <a:t>진행</a:t>
            </a:r>
            <a:endParaRPr lang="en-US" altLang="ko-KR" dirty="0"/>
          </a:p>
          <a:p>
            <a:pPr lvl="2"/>
            <a:r>
              <a:rPr lang="en-US" altLang="ko-KR" dirty="0"/>
              <a:t>T12</a:t>
            </a:r>
            <a:r>
              <a:rPr lang="ko-KR" altLang="en-US" dirty="0"/>
              <a:t> </a:t>
            </a:r>
            <a:r>
              <a:rPr lang="en-US" altLang="ko-KR" dirty="0"/>
              <a:t>upper,</a:t>
            </a:r>
            <a:r>
              <a:rPr lang="ko-KR" altLang="en-US" dirty="0"/>
              <a:t> </a:t>
            </a:r>
            <a:r>
              <a:rPr lang="en-US" altLang="ko-KR" dirty="0"/>
              <a:t>pubis bottom</a:t>
            </a:r>
            <a:r>
              <a:rPr lang="ko-KR" altLang="en-US" dirty="0"/>
              <a:t>으로 경계 추출</a:t>
            </a:r>
            <a:endParaRPr lang="en-US" altLang="ko-KR" dirty="0"/>
          </a:p>
          <a:p>
            <a:pPr lvl="2"/>
            <a:r>
              <a:rPr lang="en-US" altLang="ko-KR" dirty="0"/>
              <a:t>Slice </a:t>
            </a:r>
            <a:r>
              <a:rPr lang="ko-KR" altLang="en-US" dirty="0"/>
              <a:t>번호를 확인하여 구간에 대한 </a:t>
            </a:r>
            <a:r>
              <a:rPr lang="en-US" altLang="ko-KR" dirty="0"/>
              <a:t>AEC value</a:t>
            </a:r>
            <a:r>
              <a:rPr lang="ko-KR" altLang="en-US" dirty="0"/>
              <a:t> 확인</a:t>
            </a:r>
            <a:endParaRPr lang="en-US" altLang="ko-KR" dirty="0"/>
          </a:p>
          <a:p>
            <a:pPr lvl="1"/>
            <a:r>
              <a:rPr lang="en-US" altLang="ko-KR" dirty="0"/>
              <a:t>Step 3. AEC crop </a:t>
            </a:r>
            <a:r>
              <a:rPr lang="ko-KR" altLang="en-US" dirty="0"/>
              <a:t>및 </a:t>
            </a:r>
            <a:r>
              <a:rPr lang="en-US" altLang="ko-KR" dirty="0"/>
              <a:t>interpolation</a:t>
            </a:r>
          </a:p>
          <a:p>
            <a:pPr lvl="2"/>
            <a:r>
              <a:rPr lang="en-US" altLang="ko-KR" dirty="0"/>
              <a:t>128, 256 pt</a:t>
            </a:r>
            <a:r>
              <a:rPr lang="ko-KR" altLang="en-US" dirty="0"/>
              <a:t>로 </a:t>
            </a:r>
            <a:r>
              <a:rPr lang="en-US" altLang="ko-KR" dirty="0"/>
              <a:t>interpolation </a:t>
            </a:r>
            <a:r>
              <a:rPr lang="ko-KR" altLang="en-US" dirty="0"/>
              <a:t>진행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0265111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91C564-C4E3-C7E5-176D-3C71C0D4C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C90F66-DE53-7F78-BD26-F25903C36D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F651BCC-0290-4B0F-F77B-B861A8312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7</a:t>
            </a:fld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C4AE4587-D9EE-3494-C321-6EC6B13EF6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/>
              <a:t>Total </a:t>
            </a:r>
            <a:r>
              <a:rPr lang="en-US" altLang="ko-KR" dirty="0" err="1"/>
              <a:t>Segmentator</a:t>
            </a:r>
            <a:r>
              <a:rPr lang="ko-KR" altLang="en-US" dirty="0"/>
              <a:t>로 상하단 기준 좌표 전체</a:t>
            </a:r>
            <a:r>
              <a:rPr lang="en-US" altLang="ko-KR" dirty="0"/>
              <a:t> (2,054)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Total </a:t>
            </a:r>
            <a:r>
              <a:rPr lang="en-US" altLang="ko-KR" dirty="0" err="1"/>
              <a:t>Segmentator</a:t>
            </a:r>
            <a:r>
              <a:rPr lang="ko-KR" altLang="en-US" dirty="0"/>
              <a:t>로 상하단 기준 좌표 </a:t>
            </a:r>
            <a:r>
              <a:rPr lang="en-US" altLang="ko-KR" dirty="0"/>
              <a:t>Success </a:t>
            </a:r>
            <a:r>
              <a:rPr lang="ko-KR" altLang="en-US" dirty="0"/>
              <a:t>건 </a:t>
            </a:r>
            <a:r>
              <a:rPr lang="en-US" altLang="ko-KR" dirty="0"/>
              <a:t>(1,424 / 2,054)</a:t>
            </a:r>
            <a:endParaRPr lang="ko-KR" altLang="en-US" dirty="0"/>
          </a:p>
        </p:txBody>
      </p:sp>
      <p:graphicFrame>
        <p:nvGraphicFramePr>
          <p:cNvPr id="3" name="Table 24">
            <a:extLst>
              <a:ext uri="{FF2B5EF4-FFF2-40B4-BE49-F238E27FC236}">
                <a16:creationId xmlns:a16="http://schemas.microsoft.com/office/drawing/2014/main" id="{F296F737-8C82-7794-102A-912EE34FC8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8830486"/>
              </p:ext>
            </p:extLst>
          </p:nvPr>
        </p:nvGraphicFramePr>
        <p:xfrm>
          <a:off x="1056000" y="1703173"/>
          <a:ext cx="10080000" cy="10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0000">
                  <a:extLst>
                    <a:ext uri="{9D8B030D-6E8A-4147-A177-3AD203B41FA5}">
                      <a16:colId xmlns:a16="http://schemas.microsoft.com/office/drawing/2014/main" val="1286114323"/>
                    </a:ext>
                  </a:extLst>
                </a:gridCol>
                <a:gridCol w="1120000">
                  <a:extLst>
                    <a:ext uri="{9D8B030D-6E8A-4147-A177-3AD203B41FA5}">
                      <a16:colId xmlns:a16="http://schemas.microsoft.com/office/drawing/2014/main" val="2865512279"/>
                    </a:ext>
                  </a:extLst>
                </a:gridCol>
                <a:gridCol w="1120000">
                  <a:extLst>
                    <a:ext uri="{9D8B030D-6E8A-4147-A177-3AD203B41FA5}">
                      <a16:colId xmlns:a16="http://schemas.microsoft.com/office/drawing/2014/main" val="198448097"/>
                    </a:ext>
                  </a:extLst>
                </a:gridCol>
                <a:gridCol w="1120000">
                  <a:extLst>
                    <a:ext uri="{9D8B030D-6E8A-4147-A177-3AD203B41FA5}">
                      <a16:colId xmlns:a16="http://schemas.microsoft.com/office/drawing/2014/main" val="3203679715"/>
                    </a:ext>
                  </a:extLst>
                </a:gridCol>
                <a:gridCol w="1120000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120000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1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0000">
                  <a:extLst>
                    <a:ext uri="{9D8B030D-6E8A-4147-A177-3AD203B41FA5}">
                      <a16:colId xmlns:a16="http://schemas.microsoft.com/office/drawing/2014/main" val="79260440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Mean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P25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Median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P75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Slices Num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2,054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140.71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29.55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228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455428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 Range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2,054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389.35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43.54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360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378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412.5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567.5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3997030"/>
                  </a:ext>
                </a:extLst>
              </a:tr>
            </a:tbl>
          </a:graphicData>
        </a:graphic>
      </p:graphicFrame>
      <p:graphicFrame>
        <p:nvGraphicFramePr>
          <p:cNvPr id="5" name="Table 24">
            <a:extLst>
              <a:ext uri="{FF2B5EF4-FFF2-40B4-BE49-F238E27FC236}">
                <a16:creationId xmlns:a16="http://schemas.microsoft.com/office/drawing/2014/main" id="{C9460359-5D8E-A3B6-E1AF-69B392195B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3037136"/>
              </p:ext>
            </p:extLst>
          </p:nvPr>
        </p:nvGraphicFramePr>
        <p:xfrm>
          <a:off x="1056000" y="3918939"/>
          <a:ext cx="10080000" cy="10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0000">
                  <a:extLst>
                    <a:ext uri="{9D8B030D-6E8A-4147-A177-3AD203B41FA5}">
                      <a16:colId xmlns:a16="http://schemas.microsoft.com/office/drawing/2014/main" val="1286114323"/>
                    </a:ext>
                  </a:extLst>
                </a:gridCol>
                <a:gridCol w="1120000">
                  <a:extLst>
                    <a:ext uri="{9D8B030D-6E8A-4147-A177-3AD203B41FA5}">
                      <a16:colId xmlns:a16="http://schemas.microsoft.com/office/drawing/2014/main" val="2865512279"/>
                    </a:ext>
                  </a:extLst>
                </a:gridCol>
                <a:gridCol w="1120000">
                  <a:extLst>
                    <a:ext uri="{9D8B030D-6E8A-4147-A177-3AD203B41FA5}">
                      <a16:colId xmlns:a16="http://schemas.microsoft.com/office/drawing/2014/main" val="198448097"/>
                    </a:ext>
                  </a:extLst>
                </a:gridCol>
                <a:gridCol w="1120000">
                  <a:extLst>
                    <a:ext uri="{9D8B030D-6E8A-4147-A177-3AD203B41FA5}">
                      <a16:colId xmlns:a16="http://schemas.microsoft.com/office/drawing/2014/main" val="3203679715"/>
                    </a:ext>
                  </a:extLst>
                </a:gridCol>
                <a:gridCol w="1120000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120000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1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0000">
                  <a:extLst>
                    <a:ext uri="{9D8B030D-6E8A-4147-A177-3AD203B41FA5}">
                      <a16:colId xmlns:a16="http://schemas.microsoft.com/office/drawing/2014/main" val="79260440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Mean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P25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Median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P75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Slices Num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1,424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125.12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18.89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455428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 Range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1,424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366.93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23.66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354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369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381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442.5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39970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28425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397D9-7D53-26F9-2277-917319EFE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C7E820-A9E3-8FB9-B610-A09F95A82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57435A-4D34-E951-32F5-694F53E076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8</a:t>
            </a:fld>
            <a:endParaRPr lang="ko-KR" altLang="en-US" dirty="0"/>
          </a:p>
        </p:txBody>
      </p:sp>
      <p:graphicFrame>
        <p:nvGraphicFramePr>
          <p:cNvPr id="3" name="Table 24">
            <a:extLst>
              <a:ext uri="{FF2B5EF4-FFF2-40B4-BE49-F238E27FC236}">
                <a16:creationId xmlns:a16="http://schemas.microsoft.com/office/drawing/2014/main" id="{4FB4F93E-4460-F9A5-A757-A93627137E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5502884"/>
              </p:ext>
            </p:extLst>
          </p:nvPr>
        </p:nvGraphicFramePr>
        <p:xfrm>
          <a:off x="1306216" y="1668340"/>
          <a:ext cx="9579568" cy="45604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74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1286114323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2865512279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198448097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3203679715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8262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PatientID</a:t>
                      </a: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n_slices</a:t>
                      </a: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slices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t12_slice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pubis_slice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z_range</a:t>
                      </a: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z_t12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z_pubis</a:t>
                      </a: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1956748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-408.7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-578.7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4554284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4991416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310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-173.25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-483.25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3997030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5353942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395.7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209.7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4533384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1689397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424.2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104.2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6633271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3573692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-172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-367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4768561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9667967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340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2.75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-337.25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5962543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9424240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345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1682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1337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3689657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9473084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345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-87.48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-432.48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2464310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9606769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345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1488.5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1143.5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5066104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9978341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345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-236.2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-581.2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114221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8301141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350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909.8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559.8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2750539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8743115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350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742.8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392.8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7519507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9653409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350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-16.5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-366.5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9854852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2339555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355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495.1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140.1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915461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6740540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355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428.5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73.5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3652768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9612809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355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-278.35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-633.35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6635945"/>
                  </a:ext>
                </a:extLst>
              </a:tr>
            </a:tbl>
          </a:graphicData>
        </a:graphic>
      </p:graphicFrame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E0B045BD-C853-00E8-FE5A-11BE48167B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/>
              <a:t>Total </a:t>
            </a:r>
            <a:r>
              <a:rPr lang="en-US" altLang="ko-KR" dirty="0" err="1"/>
              <a:t>Segmentator</a:t>
            </a:r>
            <a:r>
              <a:rPr lang="ko-KR" altLang="en-US" dirty="0"/>
              <a:t>로 상하단 기준 좌표 </a:t>
            </a:r>
            <a:r>
              <a:rPr lang="en-US" altLang="ko-KR" dirty="0"/>
              <a:t>Success </a:t>
            </a:r>
            <a:r>
              <a:rPr lang="ko-KR" altLang="en-US" dirty="0"/>
              <a:t>건 </a:t>
            </a:r>
            <a:r>
              <a:rPr lang="en-US" altLang="ko-KR" dirty="0"/>
              <a:t>(1,424 / 2,054)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936221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48FAC-6559-FA72-39FE-1AA0E5E58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2F9739BD-5468-0C0D-59AA-2DC93A5557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6304" y="3783078"/>
            <a:ext cx="2597696" cy="259769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B43BB6E6-0BEC-C0FD-C255-9CD3F5A071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5029" y="3783077"/>
            <a:ext cx="2597696" cy="259769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F05FB83E-7A97-4920-BFB3-307946C19DF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8669" y="1041424"/>
            <a:ext cx="2597697" cy="259769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7690F12-C34C-CD20-F6F2-DAE35C065C3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359" y="3783078"/>
            <a:ext cx="2597697" cy="259769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F6B37CD-B782-19AD-78E3-40D87F0D710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9944" y="1041424"/>
            <a:ext cx="2597697" cy="2597697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13FD4611-EADF-F611-B462-9C197D31557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5634" y="3783078"/>
            <a:ext cx="2597697" cy="2597697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3B759C7-15AA-B137-0D3A-B65E7736B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EB8198E-299A-21E3-48A4-7E6A0A6DD0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6D45AB0-4F2C-6E96-B454-01CAB6F0187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5635" y="1041425"/>
            <a:ext cx="2597696" cy="259769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2A4CE79-59ED-BC30-0997-8765E5DBE45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360" y="1041426"/>
            <a:ext cx="2597696" cy="2597696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353DC1EB-9D7D-9654-CC9B-3DA5604E67FD}"/>
              </a:ext>
            </a:extLst>
          </p:cNvPr>
          <p:cNvSpPr/>
          <p:nvPr/>
        </p:nvSpPr>
        <p:spPr>
          <a:xfrm>
            <a:off x="435429" y="979404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5CD3C67-3ACE-05B4-F684-F64C95002FF4}"/>
              </a:ext>
            </a:extLst>
          </p:cNvPr>
          <p:cNvSpPr/>
          <p:nvPr/>
        </p:nvSpPr>
        <p:spPr>
          <a:xfrm>
            <a:off x="435429" y="3721055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8FBAB0B9-DEB1-CFCF-91A8-2717470D4424}"/>
              </a:ext>
            </a:extLst>
          </p:cNvPr>
          <p:cNvSpPr/>
          <p:nvPr/>
        </p:nvSpPr>
        <p:spPr>
          <a:xfrm>
            <a:off x="6217922" y="3721055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BE09F8B0-FAF8-B1A5-7AC9-EE1459B25154}"/>
              </a:ext>
            </a:extLst>
          </p:cNvPr>
          <p:cNvSpPr/>
          <p:nvPr/>
        </p:nvSpPr>
        <p:spPr>
          <a:xfrm>
            <a:off x="6217922" y="979404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57890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E50AC8-338A-1158-76EA-D64DC8438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>
            <a:extLst>
              <a:ext uri="{FF2B5EF4-FFF2-40B4-BE49-F238E27FC236}">
                <a16:creationId xmlns:a16="http://schemas.microsoft.com/office/drawing/2014/main" id="{1031CC66-3883-3C51-4843-3FF47AF258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8668" y="3783076"/>
            <a:ext cx="2597698" cy="2597698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F98C6AFF-E238-63AB-BD0E-D6E0CA1E5D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1627" y="3783076"/>
            <a:ext cx="2597698" cy="2597698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F2B68A90-A338-48E9-C01A-27BA55D77B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359" y="1041424"/>
            <a:ext cx="2597696" cy="259769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04FF049E-E3D0-2DE8-0EE0-6CD14953DC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6304" y="1041425"/>
            <a:ext cx="2597696" cy="259769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26CA4459-5738-3F7A-F9E0-7C37EAB4890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5634" y="1041425"/>
            <a:ext cx="2597696" cy="259769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3BB99752-FE4C-8A78-718F-9C581A4F91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452D2D-B6E3-8DFB-0255-EFC92A92F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10</a:t>
            </a:fld>
            <a:endParaRPr lang="ko-KR" alt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AB13EF4D-8046-52A4-4B63-7251FB9273E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8670" y="1041424"/>
            <a:ext cx="2597696" cy="2597696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2E812040-DA8D-74E2-58EE-BAD02B7C23D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6303" y="3783077"/>
            <a:ext cx="2597697" cy="2597697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45D83A1E-274A-F160-377D-DB5DCC85ACD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1993" y="3783077"/>
            <a:ext cx="2597697" cy="2597697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8BE00C01-4FE3-22AF-BA8B-287D9068170B}"/>
              </a:ext>
            </a:extLst>
          </p:cNvPr>
          <p:cNvSpPr/>
          <p:nvPr/>
        </p:nvSpPr>
        <p:spPr>
          <a:xfrm>
            <a:off x="435429" y="979404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B88B883B-D4CA-0562-22FE-62155C9EB799}"/>
              </a:ext>
            </a:extLst>
          </p:cNvPr>
          <p:cNvSpPr/>
          <p:nvPr/>
        </p:nvSpPr>
        <p:spPr>
          <a:xfrm>
            <a:off x="435429" y="3721055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C00449D3-228D-391C-4994-0A1FEAA97876}"/>
              </a:ext>
            </a:extLst>
          </p:cNvPr>
          <p:cNvSpPr/>
          <p:nvPr/>
        </p:nvSpPr>
        <p:spPr>
          <a:xfrm>
            <a:off x="6217922" y="3721055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8262A1ED-B519-3128-8D25-753500ACD704}"/>
              </a:ext>
            </a:extLst>
          </p:cNvPr>
          <p:cNvSpPr/>
          <p:nvPr/>
        </p:nvSpPr>
        <p:spPr>
          <a:xfrm>
            <a:off x="6217922" y="979404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36638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D5F4A-1614-34FB-3E65-F5ECF683E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36A608-BF70-97BF-04A8-978857FEBC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13E44E-F5DB-2C33-2FD3-8CD2FCEA47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11</a:t>
            </a:fld>
            <a:endParaRPr lang="ko-KR" altLang="en-US" dirty="0"/>
          </a:p>
        </p:txBody>
      </p:sp>
      <p:graphicFrame>
        <p:nvGraphicFramePr>
          <p:cNvPr id="3" name="Table 24">
            <a:extLst>
              <a:ext uri="{FF2B5EF4-FFF2-40B4-BE49-F238E27FC236}">
                <a16:creationId xmlns:a16="http://schemas.microsoft.com/office/drawing/2014/main" id="{6C52E79A-42FB-6B0C-41EB-5ABDBAE56D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1689273"/>
              </p:ext>
            </p:extLst>
          </p:nvPr>
        </p:nvGraphicFramePr>
        <p:xfrm>
          <a:off x="1306216" y="1672047"/>
          <a:ext cx="9579568" cy="45604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74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1286114323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2865512279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198448097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3203679715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8262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PatientID</a:t>
                      </a: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n_slices</a:t>
                      </a: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slices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t12_slice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pubis_slice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z_range</a:t>
                      </a: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z_t12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z_pubis</a:t>
                      </a: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280328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427.5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-249.596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-677.096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4554284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288473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445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-19.498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-464.498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3887785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300279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435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-205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-640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2802478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305343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450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-207.049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-657.049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3217534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334474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422.5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-3.044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-425.544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4019222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433117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425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-232.5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-657.5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6713263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580790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452.5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-154.753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-607.253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1556210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661644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407.5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-187.5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-595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4336897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723671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417.5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-222.5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-640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4682490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727292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445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-8.044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-453.044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141678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836829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410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-31.538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-441.539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1863335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871616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412.5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-192.5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-605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1984369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1003064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402.5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-212.5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-615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4333430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1134913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220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502.5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-3.447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-505.947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4347136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1146907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457.5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-202.5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-660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155605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1154785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242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515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31.161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-483.839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2464310"/>
                  </a:ext>
                </a:extLst>
              </a:tr>
            </a:tbl>
          </a:graphicData>
        </a:graphic>
      </p:graphicFrame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3AE7AC7A-8188-574D-4B8B-28B7BDDF12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/>
              <a:t>Total </a:t>
            </a:r>
            <a:r>
              <a:rPr lang="en-US" altLang="ko-KR" dirty="0" err="1"/>
              <a:t>Segmentator</a:t>
            </a:r>
            <a:r>
              <a:rPr lang="ko-KR" altLang="en-US" dirty="0"/>
              <a:t>로 상하단 기준 좌표 </a:t>
            </a:r>
            <a:r>
              <a:rPr lang="en-US" altLang="ko-KR" dirty="0"/>
              <a:t>Fail </a:t>
            </a:r>
            <a:r>
              <a:rPr lang="ko-KR" altLang="en-US" dirty="0"/>
              <a:t>건 </a:t>
            </a:r>
            <a:r>
              <a:rPr lang="en-US" altLang="ko-KR" dirty="0"/>
              <a:t>(630 / 2,054)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510780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C959DD-5D42-3875-4DC7-8F2DB46B8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그림 22">
            <a:extLst>
              <a:ext uri="{FF2B5EF4-FFF2-40B4-BE49-F238E27FC236}">
                <a16:creationId xmlns:a16="http://schemas.microsoft.com/office/drawing/2014/main" id="{24810271-C350-C0A7-A93D-BF6B665574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6303" y="3783077"/>
            <a:ext cx="2597697" cy="2597697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ED2F30B3-2FF4-0C99-038A-213799B7FB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5633" y="3783077"/>
            <a:ext cx="2597697" cy="259769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6D94A278-CAD7-495F-6C53-609B61273EB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5029" y="1041425"/>
            <a:ext cx="2597696" cy="2597696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C4B959AE-2659-5CCA-FBF4-4A8510C0A2F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360" y="1041425"/>
            <a:ext cx="2597696" cy="259769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98EFE7B0-F668-180D-A921-43E60A018DE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6304" y="1041425"/>
            <a:ext cx="2597696" cy="2597696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D34C8665-D67E-5E60-4712-5A415F164FF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5634" y="1041425"/>
            <a:ext cx="2597696" cy="259769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AE167BB6-919B-D2F0-1598-AC33D6CC82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F78459-93E7-11F9-E175-4D240B103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12</a:t>
            </a:fld>
            <a:endParaRPr lang="ko-KR" altLang="en-US" dirty="0"/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7329C039-B937-20A6-23C2-6110C7445B0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5028" y="3783077"/>
            <a:ext cx="2597697" cy="2597697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9D73A435-675D-61F4-9212-9E9A3BF9C21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360" y="3783077"/>
            <a:ext cx="2597697" cy="2597697"/>
          </a:xfrm>
          <a:prstGeom prst="rect">
            <a:avLst/>
          </a:prstGeom>
        </p:spPr>
      </p:pic>
      <p:sp>
        <p:nvSpPr>
          <p:cNvPr id="30" name="직사각형 29">
            <a:extLst>
              <a:ext uri="{FF2B5EF4-FFF2-40B4-BE49-F238E27FC236}">
                <a16:creationId xmlns:a16="http://schemas.microsoft.com/office/drawing/2014/main" id="{D41EADB1-7A22-7627-52D5-8C1926DCCEE3}"/>
              </a:ext>
            </a:extLst>
          </p:cNvPr>
          <p:cNvSpPr/>
          <p:nvPr/>
        </p:nvSpPr>
        <p:spPr>
          <a:xfrm>
            <a:off x="435429" y="979404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32348F9D-0B29-756A-8A0E-53705748B329}"/>
              </a:ext>
            </a:extLst>
          </p:cNvPr>
          <p:cNvSpPr/>
          <p:nvPr/>
        </p:nvSpPr>
        <p:spPr>
          <a:xfrm>
            <a:off x="435429" y="3721055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3DFBFD1D-DF98-070D-B714-C2FC71CF93EF}"/>
              </a:ext>
            </a:extLst>
          </p:cNvPr>
          <p:cNvSpPr/>
          <p:nvPr/>
        </p:nvSpPr>
        <p:spPr>
          <a:xfrm>
            <a:off x="6217922" y="3721055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505A7F3A-F201-9BFD-5195-145026F77FF9}"/>
              </a:ext>
            </a:extLst>
          </p:cNvPr>
          <p:cNvSpPr/>
          <p:nvPr/>
        </p:nvSpPr>
        <p:spPr>
          <a:xfrm>
            <a:off x="6217922" y="979404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95676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8C51F2-CA9F-9F6C-AD80-88CEC23E1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>
            <a:extLst>
              <a:ext uri="{FF2B5EF4-FFF2-40B4-BE49-F238E27FC236}">
                <a16:creationId xmlns:a16="http://schemas.microsoft.com/office/drawing/2014/main" id="{FAB8B76D-54C2-E6B3-CE27-B810700B9E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8668" y="3783076"/>
            <a:ext cx="2597698" cy="2597698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40DFA1AC-EBBE-3FBA-8EA0-0ED3147156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3783076"/>
            <a:ext cx="2608751" cy="2608751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A8E12289-CE3A-95C5-EBCB-BF3F97A40D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5248" y="1041424"/>
            <a:ext cx="2605125" cy="260512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82B1BB50-63CC-829E-615D-E24AED5F8E7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9263" y="1041425"/>
            <a:ext cx="2597696" cy="259769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335208F9-C588-FC15-2A2B-65500CBA2E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E9A425-4DBD-EE0A-882D-B57F04662B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13</a:t>
            </a:fld>
            <a:endParaRPr lang="ko-KR" alt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459A045-59EF-641C-92CE-0B8C983AD9F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8670" y="1041425"/>
            <a:ext cx="2597696" cy="259769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34CBF506-845A-CFB1-5296-3FB61684EAC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1041425"/>
            <a:ext cx="2597696" cy="2597696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AA953309-683A-CE75-C722-BF5E329C5F7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9264" y="3766869"/>
            <a:ext cx="2608752" cy="2608752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2BC64F05-9936-549F-BE8F-E1B19737BB5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2675" y="3783076"/>
            <a:ext cx="2597698" cy="2597698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ECCFC49D-E3A2-F950-CAE3-EE0C42279E85}"/>
              </a:ext>
            </a:extLst>
          </p:cNvPr>
          <p:cNvSpPr/>
          <p:nvPr/>
        </p:nvSpPr>
        <p:spPr>
          <a:xfrm>
            <a:off x="435429" y="979404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21EC528B-03DE-BB97-5152-BBF0F53CF398}"/>
              </a:ext>
            </a:extLst>
          </p:cNvPr>
          <p:cNvSpPr/>
          <p:nvPr/>
        </p:nvSpPr>
        <p:spPr>
          <a:xfrm>
            <a:off x="435429" y="3721055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B7A95EFE-304A-9B32-5EC0-3C081FE6F920}"/>
              </a:ext>
            </a:extLst>
          </p:cNvPr>
          <p:cNvSpPr/>
          <p:nvPr/>
        </p:nvSpPr>
        <p:spPr>
          <a:xfrm>
            <a:off x="6217922" y="3721055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55BE590B-6E41-7B8F-A8F6-005E0CA4FDE6}"/>
              </a:ext>
            </a:extLst>
          </p:cNvPr>
          <p:cNvSpPr/>
          <p:nvPr/>
        </p:nvSpPr>
        <p:spPr>
          <a:xfrm>
            <a:off x="6217922" y="979404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78114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1EE7E-817F-C87E-FB8F-5DC3D30556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C73284-FE7C-1617-5215-A21962FA4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82B2E8-63B2-A9B4-C8F0-7C8F2D1CF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14</a:t>
            </a:fld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309B0CD4-5439-E6B0-4BB1-FB9064D99B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/>
              <a:t>Data </a:t>
            </a:r>
            <a:r>
              <a:rPr lang="ko-KR" altLang="en-US" dirty="0"/>
              <a:t>정리</a:t>
            </a:r>
            <a:endParaRPr lang="en-US" altLang="ko-KR" dirty="0"/>
          </a:p>
          <a:p>
            <a:pPr lvl="1"/>
            <a:r>
              <a:rPr lang="en-US" altLang="ko-KR" dirty="0"/>
              <a:t>Clinic Data: Patient 3,762 </a:t>
            </a:r>
            <a:r>
              <a:rPr lang="ko-KR" altLang="en-US" dirty="0"/>
              <a:t>→ 중복 제거 </a:t>
            </a:r>
            <a:r>
              <a:rPr lang="en-US" altLang="ko-KR" dirty="0"/>
              <a:t>2,033 </a:t>
            </a:r>
            <a:r>
              <a:rPr lang="ko-KR" altLang="en-US" dirty="0"/>
              <a:t>→ </a:t>
            </a:r>
            <a:r>
              <a:rPr lang="en-US" altLang="ko-KR" dirty="0"/>
              <a:t>BMI, Height, Weight, SMI </a:t>
            </a:r>
            <a:r>
              <a:rPr lang="ko-KR" altLang="en-US" dirty="0" err="1"/>
              <a:t>결측치</a:t>
            </a:r>
            <a:r>
              <a:rPr lang="ko-KR" altLang="en-US" dirty="0"/>
              <a:t> 제거 </a:t>
            </a:r>
            <a:r>
              <a:rPr lang="en-US" altLang="ko-KR" dirty="0"/>
              <a:t>1,458</a:t>
            </a:r>
          </a:p>
          <a:p>
            <a:pPr lvl="2"/>
            <a:r>
              <a:rPr lang="en-US" altLang="ko-KR" dirty="0"/>
              <a:t>20</a:t>
            </a:r>
            <a:r>
              <a:rPr lang="ko-KR" altLang="en-US" dirty="0"/>
              <a:t>세 이상</a:t>
            </a:r>
            <a:r>
              <a:rPr lang="en-US" altLang="ko-KR" dirty="0"/>
              <a:t>, </a:t>
            </a:r>
            <a:r>
              <a:rPr lang="en-US" altLang="ko-KR" dirty="0" err="1"/>
              <a:t>kVp</a:t>
            </a:r>
            <a:r>
              <a:rPr lang="en-US" altLang="ko-KR" dirty="0"/>
              <a:t> =100, </a:t>
            </a:r>
            <a:r>
              <a:rPr lang="ko-KR" altLang="en-US" dirty="0"/>
              <a:t>메인 제조 모델</a:t>
            </a:r>
            <a:endParaRPr lang="en-US" altLang="ko-KR" dirty="0"/>
          </a:p>
          <a:p>
            <a:pPr lvl="1"/>
            <a:r>
              <a:rPr lang="en-US" altLang="ko-KR" dirty="0"/>
              <a:t>AEC: Patient 2,054 (Crop ok : T12 missing = 1,424 : 630)</a:t>
            </a:r>
            <a:endParaRPr lang="en-US" altLang="ko-KR" sz="1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728E35-0D99-09CC-7F38-FFF8B28A6F33}"/>
              </a:ext>
            </a:extLst>
          </p:cNvPr>
          <p:cNvSpPr txBox="1"/>
          <p:nvPr/>
        </p:nvSpPr>
        <p:spPr>
          <a:xfrm>
            <a:off x="6096000" y="3090060"/>
            <a:ext cx="4458789" cy="414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/>
              <a:t>OK + Missing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AB8C363B-E1A7-1AB9-B827-AC5E7549F1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9562538"/>
              </p:ext>
            </p:extLst>
          </p:nvPr>
        </p:nvGraphicFramePr>
        <p:xfrm>
          <a:off x="508000" y="3577046"/>
          <a:ext cx="5414555" cy="2251560"/>
        </p:xfrm>
        <a:graphic>
          <a:graphicData uri="http://schemas.openxmlformats.org/drawingml/2006/table">
            <a:tbl>
              <a:tblPr/>
              <a:tblGrid>
                <a:gridCol w="609838">
                  <a:extLst>
                    <a:ext uri="{9D8B030D-6E8A-4147-A177-3AD203B41FA5}">
                      <a16:colId xmlns:a16="http://schemas.microsoft.com/office/drawing/2014/main" val="2939389252"/>
                    </a:ext>
                  </a:extLst>
                </a:gridCol>
                <a:gridCol w="2731351">
                  <a:extLst>
                    <a:ext uri="{9D8B030D-6E8A-4147-A177-3AD203B41FA5}">
                      <a16:colId xmlns:a16="http://schemas.microsoft.com/office/drawing/2014/main" val="1349768137"/>
                    </a:ext>
                  </a:extLst>
                </a:gridCol>
                <a:gridCol w="1210491">
                  <a:extLst>
                    <a:ext uri="{9D8B030D-6E8A-4147-A177-3AD203B41FA5}">
                      <a16:colId xmlns:a16="http://schemas.microsoft.com/office/drawing/2014/main" val="3404613820"/>
                    </a:ext>
                  </a:extLst>
                </a:gridCol>
                <a:gridCol w="862875">
                  <a:extLst>
                    <a:ext uri="{9D8B030D-6E8A-4147-A177-3AD203B41FA5}">
                      <a16:colId xmlns:a16="http://schemas.microsoft.com/office/drawing/2014/main" val="1751584630"/>
                    </a:ext>
                  </a:extLst>
                </a:gridCol>
              </a:tblGrid>
              <a:tr h="25544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단계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제외 기준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제외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n)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잔여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n)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3973608"/>
                  </a:ext>
                </a:extLst>
              </a:tr>
              <a:tr h="33611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OK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中 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Fixed AEC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제거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1,424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1,375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8784053"/>
                  </a:ext>
                </a:extLst>
              </a:tr>
              <a:tr h="336116">
                <a:tc rowSpan="3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Clinic Data ∩ AEC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교집합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101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960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7570177"/>
                  </a:ext>
                </a:extLst>
              </a:tr>
              <a:tr h="25544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└ </a:t>
                      </a: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kVp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≠ 100</a:t>
                      </a:r>
                    </a:p>
                  </a:txBody>
                  <a:tcPr marL="2286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83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—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5024795"/>
                  </a:ext>
                </a:extLst>
              </a:tr>
              <a:tr h="46086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└ </a:t>
                      </a: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ManufacturerModelName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소수 비율</a:t>
                      </a:r>
                    </a:p>
                  </a:txBody>
                  <a:tcPr marL="2286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18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—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096403"/>
                  </a:ext>
                </a:extLst>
              </a:tr>
              <a:tr h="336116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altLang="en-US" sz="1100">
                        <a:solidFill>
                          <a:schemeClr val="tx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최종 분석 대상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endParaRPr lang="en-US" altLang="ko-KR" sz="1100" b="1" dirty="0">
                        <a:solidFill>
                          <a:schemeClr val="tx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859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4693103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CDD56B47-8E93-08E0-6F46-C26B944C12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8362360"/>
              </p:ext>
            </p:extLst>
          </p:nvPr>
        </p:nvGraphicFramePr>
        <p:xfrm>
          <a:off x="6096000" y="3577046"/>
          <a:ext cx="5414555" cy="2251560"/>
        </p:xfrm>
        <a:graphic>
          <a:graphicData uri="http://schemas.openxmlformats.org/drawingml/2006/table">
            <a:tbl>
              <a:tblPr/>
              <a:tblGrid>
                <a:gridCol w="609838">
                  <a:extLst>
                    <a:ext uri="{9D8B030D-6E8A-4147-A177-3AD203B41FA5}">
                      <a16:colId xmlns:a16="http://schemas.microsoft.com/office/drawing/2014/main" val="2939389252"/>
                    </a:ext>
                  </a:extLst>
                </a:gridCol>
                <a:gridCol w="2731351">
                  <a:extLst>
                    <a:ext uri="{9D8B030D-6E8A-4147-A177-3AD203B41FA5}">
                      <a16:colId xmlns:a16="http://schemas.microsoft.com/office/drawing/2014/main" val="1349768137"/>
                    </a:ext>
                  </a:extLst>
                </a:gridCol>
                <a:gridCol w="1210491">
                  <a:extLst>
                    <a:ext uri="{9D8B030D-6E8A-4147-A177-3AD203B41FA5}">
                      <a16:colId xmlns:a16="http://schemas.microsoft.com/office/drawing/2014/main" val="3404613820"/>
                    </a:ext>
                  </a:extLst>
                </a:gridCol>
                <a:gridCol w="862875">
                  <a:extLst>
                    <a:ext uri="{9D8B030D-6E8A-4147-A177-3AD203B41FA5}">
                      <a16:colId xmlns:a16="http://schemas.microsoft.com/office/drawing/2014/main" val="1751584630"/>
                    </a:ext>
                  </a:extLst>
                </a:gridCol>
              </a:tblGrid>
              <a:tr h="25544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단계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100" b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제외 기준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제외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n)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잔여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n)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3973608"/>
                  </a:ext>
                </a:extLst>
              </a:tr>
              <a:tr h="33611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Fixed AEC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제거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2.054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1,759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8784053"/>
                  </a:ext>
                </a:extLst>
              </a:tr>
              <a:tr h="336116">
                <a:tc rowSpan="3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Clinic Data ∩ AEC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교집합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111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1,273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7570177"/>
                  </a:ext>
                </a:extLst>
              </a:tr>
              <a:tr h="25544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└ </a:t>
                      </a: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kVp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≠ 100</a:t>
                      </a:r>
                    </a:p>
                  </a:txBody>
                  <a:tcPr marL="2286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93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—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5024795"/>
                  </a:ext>
                </a:extLst>
              </a:tr>
              <a:tr h="46086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└ </a:t>
                      </a: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ManufacturerModelName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소수 비율</a:t>
                      </a:r>
                    </a:p>
                  </a:txBody>
                  <a:tcPr marL="2286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18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—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096403"/>
                  </a:ext>
                </a:extLst>
              </a:tr>
              <a:tr h="336116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altLang="en-US" sz="1100">
                        <a:solidFill>
                          <a:schemeClr val="tx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최종 분석 대상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endParaRPr lang="en-US" altLang="ko-KR" sz="1100" b="1" dirty="0">
                        <a:solidFill>
                          <a:schemeClr val="tx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1,162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4693103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FAF9F448-5919-1AC9-2EC6-07FEC1113E44}"/>
              </a:ext>
            </a:extLst>
          </p:cNvPr>
          <p:cNvSpPr txBox="1"/>
          <p:nvPr/>
        </p:nvSpPr>
        <p:spPr>
          <a:xfrm>
            <a:off x="508000" y="3090060"/>
            <a:ext cx="4458789" cy="414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/>
              <a:t>OK</a:t>
            </a:r>
          </a:p>
        </p:txBody>
      </p:sp>
    </p:spTree>
    <p:extLst>
      <p:ext uri="{BB962C8B-B14F-4D97-AF65-F5344CB8AC3E}">
        <p14:creationId xmlns:p14="http://schemas.microsoft.com/office/powerpoint/2010/main" val="23757666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55F62-1267-C774-42E2-A96C1B5CC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225FCC-9ECE-ADE9-222B-BE6E1BA461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091E6F-837A-157A-05A5-E726FECA8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15</a:t>
            </a:fld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43D3B6C9-9925-1415-5F8B-622A5F415D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>
            <a:normAutofit/>
          </a:bodyPr>
          <a:lstStyle/>
          <a:p>
            <a:r>
              <a:rPr lang="en-US" altLang="ko-KR" dirty="0"/>
              <a:t>Model </a:t>
            </a:r>
            <a:r>
              <a:rPr lang="ko-KR" altLang="en-US" dirty="0"/>
              <a:t>성능 비교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lvl="1"/>
            <a:endParaRPr lang="en-US" altLang="ko-KR" dirty="0"/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1E88B5CA-6E50-C668-C724-BAF1BEC57535}"/>
              </a:ext>
            </a:extLst>
          </p:cNvPr>
          <p:cNvGrpSpPr/>
          <p:nvPr/>
        </p:nvGrpSpPr>
        <p:grpSpPr>
          <a:xfrm>
            <a:off x="809898" y="1730141"/>
            <a:ext cx="5074920" cy="576071"/>
            <a:chOff x="6035040" y="1572768"/>
            <a:chExt cx="5074920" cy="576071"/>
          </a:xfrm>
        </p:grpSpPr>
        <p:sp>
          <p:nvSpPr>
            <p:cNvPr id="46" name="Rectangle 46">
              <a:extLst>
                <a:ext uri="{FF2B5EF4-FFF2-40B4-BE49-F238E27FC236}">
                  <a16:creationId xmlns:a16="http://schemas.microsoft.com/office/drawing/2014/main" id="{FD24FB02-AF30-0418-FF3C-50D559C8C02B}"/>
                </a:ext>
              </a:extLst>
            </p:cNvPr>
            <p:cNvSpPr/>
            <p:nvPr/>
          </p:nvSpPr>
          <p:spPr>
            <a:xfrm>
              <a:off x="6035040" y="1572768"/>
              <a:ext cx="73152" cy="508798"/>
            </a:xfrm>
            <a:prstGeom prst="rect">
              <a:avLst/>
            </a:prstGeom>
            <a:solidFill>
              <a:srgbClr val="0F6BB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9475BEE2-1BB7-BB66-3FAD-8DF4CDE85692}"/>
                </a:ext>
              </a:extLst>
            </p:cNvPr>
            <p:cNvSpPr txBox="1"/>
            <p:nvPr/>
          </p:nvSpPr>
          <p:spPr>
            <a:xfrm>
              <a:off x="6172200" y="1591056"/>
              <a:ext cx="493776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300" b="1" i="0" dirty="0">
                  <a:solidFill>
                    <a:srgbClr val="0F6BBF"/>
                  </a:solidFill>
                  <a:latin typeface="맑은 고딕"/>
                </a:rPr>
                <a:t>Model 1 — Baseline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A9F97473-9044-F4AF-32E0-B00C0FD4F686}"/>
                </a:ext>
              </a:extLst>
            </p:cNvPr>
            <p:cNvSpPr txBox="1"/>
            <p:nvPr/>
          </p:nvSpPr>
          <p:spPr>
            <a:xfrm>
              <a:off x="6172200" y="1892807"/>
              <a:ext cx="4937760" cy="2560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0" i="0">
                  <a:solidFill>
                    <a:srgbClr val="1A1A2E"/>
                  </a:solidFill>
                  <a:latin typeface="맑은 고딕"/>
                </a:rPr>
                <a:t>Age, Sex, BMI → Logistic Regression</a:t>
              </a:r>
            </a:p>
          </p:txBody>
        </p:sp>
      </p:grp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48E6C1B6-E528-4BCB-2B2A-C278BBFB6FE1}"/>
              </a:ext>
            </a:extLst>
          </p:cNvPr>
          <p:cNvGrpSpPr/>
          <p:nvPr/>
        </p:nvGrpSpPr>
        <p:grpSpPr>
          <a:xfrm>
            <a:off x="809898" y="2444051"/>
            <a:ext cx="5074920" cy="576072"/>
            <a:chOff x="6035040" y="2487168"/>
            <a:chExt cx="5074920" cy="576072"/>
          </a:xfrm>
        </p:grpSpPr>
        <p:sp>
          <p:nvSpPr>
            <p:cNvPr id="49" name="Rectangle 49">
              <a:extLst>
                <a:ext uri="{FF2B5EF4-FFF2-40B4-BE49-F238E27FC236}">
                  <a16:creationId xmlns:a16="http://schemas.microsoft.com/office/drawing/2014/main" id="{D4B803E1-FE2F-E4E5-9001-4D38786D2252}"/>
                </a:ext>
              </a:extLst>
            </p:cNvPr>
            <p:cNvSpPr/>
            <p:nvPr/>
          </p:nvSpPr>
          <p:spPr>
            <a:xfrm>
              <a:off x="6035040" y="2487168"/>
              <a:ext cx="73152" cy="508798"/>
            </a:xfrm>
            <a:prstGeom prst="rect">
              <a:avLst/>
            </a:prstGeom>
            <a:solidFill>
              <a:srgbClr val="0F9B8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C02D37A3-84E7-EB02-2ABA-1E0C380686F2}"/>
                </a:ext>
              </a:extLst>
            </p:cNvPr>
            <p:cNvSpPr txBox="1"/>
            <p:nvPr/>
          </p:nvSpPr>
          <p:spPr>
            <a:xfrm>
              <a:off x="6172200" y="2505456"/>
              <a:ext cx="493776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300" b="1" i="0">
                  <a:solidFill>
                    <a:srgbClr val="0F9B8A"/>
                  </a:solidFill>
                  <a:latin typeface="맑은 고딕"/>
                </a:rPr>
                <a:t>Model 2 — AEC Matched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F32E149E-B5FC-2AAE-61C0-99D2C508ADB9}"/>
                </a:ext>
              </a:extLst>
            </p:cNvPr>
            <p:cNvSpPr txBox="1"/>
            <p:nvPr/>
          </p:nvSpPr>
          <p:spPr>
            <a:xfrm>
              <a:off x="6172200" y="2807208"/>
              <a:ext cx="4937760" cy="2560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0" i="0">
                  <a:solidFill>
                    <a:srgbClr val="1A1A2E"/>
                  </a:solidFill>
                  <a:latin typeface="맑은 고딕"/>
                </a:rPr>
                <a:t>Clinic + AEC(동일환자) → CrossAttention</a:t>
              </a:r>
            </a:p>
          </p:txBody>
        </p:sp>
      </p:grp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0C76DA82-C0F2-03EF-F0ED-6BC35F00A9DD}"/>
              </a:ext>
            </a:extLst>
          </p:cNvPr>
          <p:cNvGrpSpPr/>
          <p:nvPr/>
        </p:nvGrpSpPr>
        <p:grpSpPr>
          <a:xfrm>
            <a:off x="809898" y="3222604"/>
            <a:ext cx="5074920" cy="576072"/>
            <a:chOff x="6035040" y="3401568"/>
            <a:chExt cx="5074920" cy="576072"/>
          </a:xfrm>
        </p:grpSpPr>
        <p:sp>
          <p:nvSpPr>
            <p:cNvPr id="52" name="Rectangle 52">
              <a:extLst>
                <a:ext uri="{FF2B5EF4-FFF2-40B4-BE49-F238E27FC236}">
                  <a16:creationId xmlns:a16="http://schemas.microsoft.com/office/drawing/2014/main" id="{B395F68D-12F7-FC01-6698-2C293F1894F6}"/>
                </a:ext>
              </a:extLst>
            </p:cNvPr>
            <p:cNvSpPr/>
            <p:nvPr/>
          </p:nvSpPr>
          <p:spPr>
            <a:xfrm>
              <a:off x="6035040" y="3401568"/>
              <a:ext cx="73152" cy="508798"/>
            </a:xfrm>
            <a:prstGeom prst="rect">
              <a:avLst/>
            </a:prstGeom>
            <a:solidFill>
              <a:srgbClr val="9EA3A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E8C3AB5-FC9E-AD76-2C9E-E35F72F7AF1F}"/>
                </a:ext>
              </a:extLst>
            </p:cNvPr>
            <p:cNvSpPr txBox="1"/>
            <p:nvPr/>
          </p:nvSpPr>
          <p:spPr>
            <a:xfrm>
              <a:off x="6172200" y="3419856"/>
              <a:ext cx="493776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300" b="1" i="0">
                  <a:solidFill>
                    <a:srgbClr val="9EA3AB"/>
                  </a:solidFill>
                  <a:latin typeface="맑은 고딕"/>
                </a:rPr>
                <a:t>Model 2_2 — AEC Unmatched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DE31D552-F6EC-ADEA-344E-09126834EA03}"/>
                </a:ext>
              </a:extLst>
            </p:cNvPr>
            <p:cNvSpPr txBox="1"/>
            <p:nvPr/>
          </p:nvSpPr>
          <p:spPr>
            <a:xfrm>
              <a:off x="6172200" y="3721608"/>
              <a:ext cx="4937760" cy="2560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0" i="0">
                  <a:solidFill>
                    <a:srgbClr val="1A1A2E"/>
                  </a:solidFill>
                  <a:latin typeface="맑은 고딕"/>
                </a:rPr>
                <a:t>Clinic + AEC(다른환자) → 음성 대조군</a:t>
              </a:r>
            </a:p>
          </p:txBody>
        </p:sp>
      </p:grp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D4A86ACC-92A7-F0AB-E6E0-B3A7362E2F90}"/>
              </a:ext>
            </a:extLst>
          </p:cNvPr>
          <p:cNvGrpSpPr/>
          <p:nvPr/>
        </p:nvGrpSpPr>
        <p:grpSpPr>
          <a:xfrm>
            <a:off x="809898" y="3975716"/>
            <a:ext cx="5074920" cy="576072"/>
            <a:chOff x="6035040" y="4315968"/>
            <a:chExt cx="5074920" cy="576072"/>
          </a:xfrm>
        </p:grpSpPr>
        <p:sp>
          <p:nvSpPr>
            <p:cNvPr id="55" name="Rectangle 55">
              <a:extLst>
                <a:ext uri="{FF2B5EF4-FFF2-40B4-BE49-F238E27FC236}">
                  <a16:creationId xmlns:a16="http://schemas.microsoft.com/office/drawing/2014/main" id="{9CF943EE-B343-C41F-CA97-028CA54D7C47}"/>
                </a:ext>
              </a:extLst>
            </p:cNvPr>
            <p:cNvSpPr/>
            <p:nvPr/>
          </p:nvSpPr>
          <p:spPr>
            <a:xfrm>
              <a:off x="6035040" y="4315968"/>
              <a:ext cx="73152" cy="508798"/>
            </a:xfrm>
            <a:prstGeom prst="rect">
              <a:avLst/>
            </a:prstGeom>
            <a:solidFill>
              <a:srgbClr val="E874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92CB6976-5FA0-99B2-146A-BDCE816EA2D5}"/>
                </a:ext>
              </a:extLst>
            </p:cNvPr>
            <p:cNvSpPr txBox="1"/>
            <p:nvPr/>
          </p:nvSpPr>
          <p:spPr>
            <a:xfrm>
              <a:off x="6172200" y="4334256"/>
              <a:ext cx="493776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300" b="1" i="0">
                  <a:solidFill>
                    <a:srgbClr val="E87400"/>
                  </a:solidFill>
                  <a:latin typeface="맑은 고딕"/>
                </a:rPr>
                <a:t>Model 3 — Scanner+AEC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8899B524-C6B9-6CA1-EDEC-7606D3993FBD}"/>
                </a:ext>
              </a:extLst>
            </p:cNvPr>
            <p:cNvSpPr txBox="1"/>
            <p:nvPr/>
          </p:nvSpPr>
          <p:spPr>
            <a:xfrm>
              <a:off x="6172200" y="4636008"/>
              <a:ext cx="4937760" cy="2560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0" i="0">
                  <a:solidFill>
                    <a:srgbClr val="1A1A2E"/>
                  </a:solidFill>
                  <a:latin typeface="맑은 고딕"/>
                </a:rPr>
                <a:t>Clinic + MFR + AEC → CrossAttention3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A1FBFD9D-5721-6274-0D6E-CF0AF61BC15F}"/>
              </a:ext>
            </a:extLst>
          </p:cNvPr>
          <p:cNvSpPr txBox="1"/>
          <p:nvPr/>
        </p:nvSpPr>
        <p:spPr>
          <a:xfrm>
            <a:off x="5725524" y="1079739"/>
            <a:ext cx="6117770" cy="6239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20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Parameter </a:t>
            </a:r>
            <a:r>
              <a:rPr lang="ko-KR" altLang="en-US" sz="2000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비교</a:t>
            </a:r>
            <a:endParaRPr lang="en-US" altLang="ko-KR" sz="2000" b="1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D154097F-DF6D-0028-77F6-1F11009238A2}"/>
              </a:ext>
            </a:extLst>
          </p:cNvPr>
          <p:cNvGrpSpPr/>
          <p:nvPr/>
        </p:nvGrpSpPr>
        <p:grpSpPr>
          <a:xfrm>
            <a:off x="5884818" y="1827709"/>
            <a:ext cx="5120640" cy="1773936"/>
            <a:chOff x="5884818" y="2163048"/>
            <a:chExt cx="5120640" cy="1773936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0789539-DFEA-B207-C86A-45220889CA66}"/>
                </a:ext>
              </a:extLst>
            </p:cNvPr>
            <p:cNvSpPr txBox="1"/>
            <p:nvPr/>
          </p:nvSpPr>
          <p:spPr>
            <a:xfrm>
              <a:off x="5884818" y="2163048"/>
              <a:ext cx="1554480" cy="34747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1" i="0">
                  <a:solidFill>
                    <a:srgbClr val="0F6BBF"/>
                  </a:solidFill>
                  <a:latin typeface="맑은 고딕"/>
                </a:rPr>
                <a:t>norm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9539AFB-55E7-A0B8-021A-8F8E8C638895}"/>
                </a:ext>
              </a:extLst>
            </p:cNvPr>
            <p:cNvSpPr txBox="1"/>
            <p:nvPr/>
          </p:nvSpPr>
          <p:spPr>
            <a:xfrm>
              <a:off x="7439298" y="2163048"/>
              <a:ext cx="3566160" cy="34747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0" i="0">
                  <a:solidFill>
                    <a:srgbClr val="1A1A2E"/>
                  </a:solidFill>
                  <a:latin typeface="맑은 고딕"/>
                </a:rPr>
                <a:t>원본 AEC 시퀀스 min-max 정규화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30D4F52-4CED-01A1-4B49-D058D0FA87A9}"/>
                </a:ext>
              </a:extLst>
            </p:cNvPr>
            <p:cNvSpPr txBox="1"/>
            <p:nvPr/>
          </p:nvSpPr>
          <p:spPr>
            <a:xfrm>
              <a:off x="5884818" y="2528808"/>
              <a:ext cx="1554480" cy="34747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1" i="0">
                  <a:solidFill>
                    <a:srgbClr val="0F6BBF"/>
                  </a:solidFill>
                  <a:latin typeface="맑은 고딕"/>
                </a:rPr>
                <a:t>crop80/60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FD6BBBC-A7FB-F825-AEE7-73CE2E9B0796}"/>
                </a:ext>
              </a:extLst>
            </p:cNvPr>
            <p:cNvSpPr txBox="1"/>
            <p:nvPr/>
          </p:nvSpPr>
          <p:spPr>
            <a:xfrm>
              <a:off x="7439298" y="2528808"/>
              <a:ext cx="3566160" cy="34747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0" i="0">
                  <a:solidFill>
                    <a:srgbClr val="1A1A2E"/>
                  </a:solidFill>
                  <a:latin typeface="맑은 고딕"/>
                </a:rPr>
                <a:t>중앙 80% / 60% 구간만 사용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B789D44-66D9-9342-60A3-3C27C3579953}"/>
                </a:ext>
              </a:extLst>
            </p:cNvPr>
            <p:cNvSpPr txBox="1"/>
            <p:nvPr/>
          </p:nvSpPr>
          <p:spPr>
            <a:xfrm>
              <a:off x="5884818" y="2894568"/>
              <a:ext cx="1554480" cy="34747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1" i="0">
                  <a:solidFill>
                    <a:srgbClr val="0F6BBF"/>
                  </a:solidFill>
                  <a:latin typeface="맑은 고딕"/>
                </a:rPr>
                <a:t>len128/256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B2F73CE-4804-2919-103E-9A2D0FCF9F00}"/>
                </a:ext>
              </a:extLst>
            </p:cNvPr>
            <p:cNvSpPr txBox="1"/>
            <p:nvPr/>
          </p:nvSpPr>
          <p:spPr>
            <a:xfrm>
              <a:off x="7439298" y="2894568"/>
              <a:ext cx="3566160" cy="34747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0" i="0">
                  <a:solidFill>
                    <a:srgbClr val="1A1A2E"/>
                  </a:solidFill>
                  <a:latin typeface="맑은 고딕"/>
                </a:rPr>
                <a:t>시퀀스 길이를 128 / 256으로 리샘플링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6A61EF7C-280E-2EB6-F09A-65FD0C63C528}"/>
                </a:ext>
              </a:extLst>
            </p:cNvPr>
            <p:cNvSpPr txBox="1"/>
            <p:nvPr/>
          </p:nvSpPr>
          <p:spPr>
            <a:xfrm>
              <a:off x="5884818" y="3260328"/>
              <a:ext cx="1554480" cy="34747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1" i="0">
                  <a:solidFill>
                    <a:srgbClr val="0F6BBF"/>
                  </a:solidFill>
                  <a:latin typeface="맑은 고딕"/>
                </a:rPr>
                <a:t>excl_extreme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0069EF3-3A1F-88B3-551A-F09FFB9019C3}"/>
                </a:ext>
              </a:extLst>
            </p:cNvPr>
            <p:cNvSpPr txBox="1"/>
            <p:nvPr/>
          </p:nvSpPr>
          <p:spPr>
            <a:xfrm>
              <a:off x="7439298" y="3260328"/>
              <a:ext cx="3566160" cy="34747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0" i="0">
                  <a:solidFill>
                    <a:srgbClr val="1A1A2E"/>
                  </a:solidFill>
                  <a:latin typeface="맑은 고딕"/>
                </a:rPr>
                <a:t>상하위 1% 이상치 제거 후 정규화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236D80A4-C3DC-1AF1-8B99-00AF3D84870A}"/>
                </a:ext>
              </a:extLst>
            </p:cNvPr>
            <p:cNvSpPr txBox="1"/>
            <p:nvPr/>
          </p:nvSpPr>
          <p:spPr>
            <a:xfrm>
              <a:off x="5884818" y="3662664"/>
              <a:ext cx="502920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00" b="0" i="1">
                  <a:solidFill>
                    <a:srgbClr val="9EA3AB"/>
                  </a:solidFill>
                  <a:latin typeface="맑은 고딕"/>
                </a:rPr>
                <a:t>✕  BCE / Focal Loss  ×  AEC 128pt / 256pt  =  4 시나리오 × 5조건 = 20조건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731896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3BDEF-35C7-C11D-0F64-7636B941A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D3D11AAD-C7C2-9B2B-29C3-F43F5F3362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7464" y="1472184"/>
            <a:ext cx="6155936" cy="407125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D7FF2745-FF28-6AEC-B91D-BB32ED8B2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75617B0-A438-3AF0-7964-D09973EDD2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16</a:t>
            </a:fld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420151-FE58-0567-5123-C115AEF4AD13}"/>
              </a:ext>
            </a:extLst>
          </p:cNvPr>
          <p:cNvSpPr txBox="1"/>
          <p:nvPr/>
        </p:nvSpPr>
        <p:spPr>
          <a:xfrm>
            <a:off x="457200" y="1170432"/>
            <a:ext cx="502920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 dirty="0" err="1">
                <a:solidFill>
                  <a:srgbClr val="1A1A2E"/>
                </a:solidFill>
                <a:latin typeface="맑은 고딕"/>
              </a:rPr>
              <a:t>데이터셋</a:t>
            </a:r>
            <a:r>
              <a:rPr sz="1500" b="1" i="0" dirty="0">
                <a:solidFill>
                  <a:srgbClr val="1A1A2E"/>
                </a:solidFill>
                <a:latin typeface="맑은 고딕"/>
              </a:rPr>
              <a:t> </a:t>
            </a:r>
            <a:r>
              <a:rPr sz="1500" b="1" i="0" dirty="0" err="1">
                <a:solidFill>
                  <a:srgbClr val="1A1A2E"/>
                </a:solidFill>
                <a:latin typeface="맑은 고딕"/>
              </a:rPr>
              <a:t>구성</a:t>
            </a:r>
            <a:endParaRPr sz="1500" b="1" i="0" dirty="0">
              <a:solidFill>
                <a:srgbClr val="1A1A2E"/>
              </a:solidFill>
              <a:latin typeface="맑은 고딕"/>
            </a:endParaRP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ED815C42-04AB-9F56-27D1-2558D7717352}"/>
              </a:ext>
            </a:extLst>
          </p:cNvPr>
          <p:cNvSpPr/>
          <p:nvPr/>
        </p:nvSpPr>
        <p:spPr>
          <a:xfrm>
            <a:off x="457200" y="1490472"/>
            <a:ext cx="5029200" cy="36576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75" name="그룹 74">
            <a:extLst>
              <a:ext uri="{FF2B5EF4-FFF2-40B4-BE49-F238E27FC236}">
                <a16:creationId xmlns:a16="http://schemas.microsoft.com/office/drawing/2014/main" id="{EA6D2270-BF0B-0D86-E9B0-0F3C638968C8}"/>
              </a:ext>
            </a:extLst>
          </p:cNvPr>
          <p:cNvGrpSpPr/>
          <p:nvPr/>
        </p:nvGrpSpPr>
        <p:grpSpPr>
          <a:xfrm>
            <a:off x="457200" y="1631986"/>
            <a:ext cx="5029200" cy="1243584"/>
            <a:chOff x="457200" y="1536192"/>
            <a:chExt cx="5029200" cy="1243584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AC048E0-0CA1-062E-6139-AA4E9819CA92}"/>
                </a:ext>
              </a:extLst>
            </p:cNvPr>
            <p:cNvSpPr/>
            <p:nvPr/>
          </p:nvSpPr>
          <p:spPr>
            <a:xfrm>
              <a:off x="457200" y="1536192"/>
              <a:ext cx="942975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46E8348-3378-A693-0627-4C8B5B7B4E93}"/>
                </a:ext>
              </a:extLst>
            </p:cNvPr>
            <p:cNvSpPr/>
            <p:nvPr/>
          </p:nvSpPr>
          <p:spPr>
            <a:xfrm>
              <a:off x="1445079" y="1536192"/>
              <a:ext cx="1302204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95314BD-DC54-65D3-2722-03F960F136A5}"/>
                </a:ext>
              </a:extLst>
            </p:cNvPr>
            <p:cNvSpPr/>
            <p:nvPr/>
          </p:nvSpPr>
          <p:spPr>
            <a:xfrm>
              <a:off x="2792186" y="1536192"/>
              <a:ext cx="1302204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76FC56B1-3D1F-9DE3-2475-B55001798300}"/>
                </a:ext>
              </a:extLst>
            </p:cNvPr>
            <p:cNvSpPr/>
            <p:nvPr/>
          </p:nvSpPr>
          <p:spPr>
            <a:xfrm>
              <a:off x="4139293" y="1536192"/>
              <a:ext cx="1347107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FEC9AD8-C674-6B2E-5661-A712B9C7DA00}"/>
                </a:ext>
              </a:extLst>
            </p:cNvPr>
            <p:cNvSpPr txBox="1"/>
            <p:nvPr/>
          </p:nvSpPr>
          <p:spPr>
            <a:xfrm>
              <a:off x="457200" y="1536192"/>
              <a:ext cx="942975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구분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52F5B72-A790-D300-4CF4-92437849B713}"/>
                </a:ext>
              </a:extLst>
            </p:cNvPr>
            <p:cNvSpPr txBox="1"/>
            <p:nvPr/>
          </p:nvSpPr>
          <p:spPr>
            <a:xfrm>
              <a:off x="1445079" y="1536192"/>
              <a:ext cx="1302204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남성(M)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5D2BFB6-BC73-3A13-1E7A-C06C7E7A01F5}"/>
                </a:ext>
              </a:extLst>
            </p:cNvPr>
            <p:cNvSpPr txBox="1"/>
            <p:nvPr/>
          </p:nvSpPr>
          <p:spPr>
            <a:xfrm>
              <a:off x="2792186" y="1536192"/>
              <a:ext cx="1302204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여성(F)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9A475866-C9A2-2603-8580-6421E0998AAD}"/>
                </a:ext>
              </a:extLst>
            </p:cNvPr>
            <p:cNvSpPr txBox="1"/>
            <p:nvPr/>
          </p:nvSpPr>
          <p:spPr>
            <a:xfrm>
              <a:off x="4139293" y="1536192"/>
              <a:ext cx="1347107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합계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6AD2B993-30B2-7E77-C31F-64FD270161DB}"/>
                </a:ext>
              </a:extLst>
            </p:cNvPr>
            <p:cNvSpPr/>
            <p:nvPr/>
          </p:nvSpPr>
          <p:spPr>
            <a:xfrm>
              <a:off x="457200" y="1828800"/>
              <a:ext cx="942975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72FC7F36-DA08-A8BD-7D11-06F250CBD3A4}"/>
                </a:ext>
              </a:extLst>
            </p:cNvPr>
            <p:cNvSpPr txBox="1"/>
            <p:nvPr/>
          </p:nvSpPr>
          <p:spPr>
            <a:xfrm>
              <a:off x="457200" y="1828800"/>
              <a:ext cx="942975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Train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DB6A65A-325D-F6B7-D318-4AEFA82C441F}"/>
                </a:ext>
              </a:extLst>
            </p:cNvPr>
            <p:cNvSpPr/>
            <p:nvPr/>
          </p:nvSpPr>
          <p:spPr>
            <a:xfrm>
              <a:off x="1445079" y="1828800"/>
              <a:ext cx="1302204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2664E2C-C553-40C3-4D1D-09341B0CADE0}"/>
                </a:ext>
              </a:extLst>
            </p:cNvPr>
            <p:cNvSpPr txBox="1"/>
            <p:nvPr/>
          </p:nvSpPr>
          <p:spPr>
            <a:xfrm>
              <a:off x="1445079" y="1828800"/>
              <a:ext cx="1302204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285 (Sarco 15.4%)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1488E94-FD20-9C08-C6D8-881F7AA66889}"/>
                </a:ext>
              </a:extLst>
            </p:cNvPr>
            <p:cNvSpPr/>
            <p:nvPr/>
          </p:nvSpPr>
          <p:spPr>
            <a:xfrm>
              <a:off x="2792186" y="1828800"/>
              <a:ext cx="1302204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49EC80E-9E53-E185-1850-1DF9AF79E806}"/>
                </a:ext>
              </a:extLst>
            </p:cNvPr>
            <p:cNvSpPr txBox="1"/>
            <p:nvPr/>
          </p:nvSpPr>
          <p:spPr>
            <a:xfrm>
              <a:off x="2792186" y="1828800"/>
              <a:ext cx="1302204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402 (Sarco 9.5%)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6FF5F4E6-4C24-8F54-BBA6-03A97B11A9EF}"/>
                </a:ext>
              </a:extLst>
            </p:cNvPr>
            <p:cNvSpPr/>
            <p:nvPr/>
          </p:nvSpPr>
          <p:spPr>
            <a:xfrm>
              <a:off x="4139293" y="1828800"/>
              <a:ext cx="1347107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182A747-7235-CB12-31C7-0DD0C9E3C9EA}"/>
                </a:ext>
              </a:extLst>
            </p:cNvPr>
            <p:cNvSpPr txBox="1"/>
            <p:nvPr/>
          </p:nvSpPr>
          <p:spPr>
            <a:xfrm>
              <a:off x="4139293" y="1828800"/>
              <a:ext cx="1347107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687 (Sarco 11.9%)</a:t>
              </a: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E8D7A214-3ACA-09FB-7091-B754A3750C73}"/>
                </a:ext>
              </a:extLst>
            </p:cNvPr>
            <p:cNvSpPr/>
            <p:nvPr/>
          </p:nvSpPr>
          <p:spPr>
            <a:xfrm>
              <a:off x="457200" y="2167128"/>
              <a:ext cx="942975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691002B-780A-3541-B3CF-55B2D06A761A}"/>
                </a:ext>
              </a:extLst>
            </p:cNvPr>
            <p:cNvSpPr txBox="1"/>
            <p:nvPr/>
          </p:nvSpPr>
          <p:spPr>
            <a:xfrm>
              <a:off x="457200" y="2167128"/>
              <a:ext cx="942975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Test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2F844081-A1CD-37EE-3312-9BE85A651957}"/>
                </a:ext>
              </a:extLst>
            </p:cNvPr>
            <p:cNvSpPr/>
            <p:nvPr/>
          </p:nvSpPr>
          <p:spPr>
            <a:xfrm>
              <a:off x="1445079" y="2167128"/>
              <a:ext cx="1302204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EECD9A3-BE04-23A6-246E-0FE6ED19E078}"/>
                </a:ext>
              </a:extLst>
            </p:cNvPr>
            <p:cNvSpPr txBox="1"/>
            <p:nvPr/>
          </p:nvSpPr>
          <p:spPr>
            <a:xfrm>
              <a:off x="1445079" y="2167128"/>
              <a:ext cx="1302204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71  (Sarco 15.5%)</a:t>
              </a: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66BE1530-D47A-F2DF-A9CF-E77ECF8AD237}"/>
                </a:ext>
              </a:extLst>
            </p:cNvPr>
            <p:cNvSpPr/>
            <p:nvPr/>
          </p:nvSpPr>
          <p:spPr>
            <a:xfrm>
              <a:off x="2792186" y="2167128"/>
              <a:ext cx="1302204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EE7C64BF-4788-6150-4BF0-C1FDCFDB6D81}"/>
                </a:ext>
              </a:extLst>
            </p:cNvPr>
            <p:cNvSpPr txBox="1"/>
            <p:nvPr/>
          </p:nvSpPr>
          <p:spPr>
            <a:xfrm>
              <a:off x="2792186" y="2167128"/>
              <a:ext cx="1302204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101 (Sarco 9.9%)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0B6E42A4-7DA3-AEFD-DBED-487D52BB9567}"/>
                </a:ext>
              </a:extLst>
            </p:cNvPr>
            <p:cNvSpPr/>
            <p:nvPr/>
          </p:nvSpPr>
          <p:spPr>
            <a:xfrm>
              <a:off x="4139293" y="2167128"/>
              <a:ext cx="1347107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2D71B838-A045-C201-3104-F5A15C84E55D}"/>
                </a:ext>
              </a:extLst>
            </p:cNvPr>
            <p:cNvSpPr txBox="1"/>
            <p:nvPr/>
          </p:nvSpPr>
          <p:spPr>
            <a:xfrm>
              <a:off x="4139293" y="2167128"/>
              <a:ext cx="1347107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172 (Sarco 12.2%)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14D129AC-171E-30DD-0A8D-D1F5D36B8252}"/>
                </a:ext>
              </a:extLst>
            </p:cNvPr>
            <p:cNvSpPr txBox="1"/>
            <p:nvPr/>
          </p:nvSpPr>
          <p:spPr>
            <a:xfrm>
              <a:off x="457200" y="2523744"/>
              <a:ext cx="4939393" cy="2560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00" b="0" i="1">
                  <a:solidFill>
                    <a:srgbClr val="9EA3AB"/>
                  </a:solidFill>
                  <a:latin typeface="맑은 고딕"/>
                </a:rPr>
                <a:t>연령: 57.6±12.1세  |  BMI: 23.6±3.3 kg/m²  |  Train:Test = 8:2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920697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088E5C-03EA-0C6B-77AF-A7E3DF16A1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내용 개체 틀 2">
            <a:extLst>
              <a:ext uri="{FF2B5EF4-FFF2-40B4-BE49-F238E27FC236}">
                <a16:creationId xmlns:a16="http://schemas.microsoft.com/office/drawing/2014/main" id="{6C0E12FA-9969-17C9-6034-66C2518501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>
            <a:normAutofit/>
          </a:bodyPr>
          <a:lstStyle/>
          <a:p>
            <a:r>
              <a:rPr lang="ko-KR" altLang="en-US" dirty="0"/>
              <a:t>통계 분석 방법</a:t>
            </a:r>
            <a:endParaRPr lang="en-US" altLang="ko-KR" dirty="0"/>
          </a:p>
          <a:p>
            <a:pPr lvl="1"/>
            <a:r>
              <a:rPr lang="en-US" altLang="ko-KR" dirty="0"/>
              <a:t>5-Fold Cross Validation</a:t>
            </a:r>
          </a:p>
          <a:p>
            <a:pPr lvl="1"/>
            <a:r>
              <a:rPr lang="en-US" altLang="ko-KR" dirty="0"/>
              <a:t>Bootstrap 95% CI (Test Set)</a:t>
            </a:r>
          </a:p>
          <a:p>
            <a:pPr lvl="1"/>
            <a:r>
              <a:rPr lang="en-US" altLang="ko-KR" dirty="0"/>
              <a:t>DeLong AUC Test (Test Set)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9CDFCE3-7EA8-9BB9-9236-A49014422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6A4836D-F675-61DB-68F7-09DBC59D8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368886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9F3BA-1ED7-3DA1-7A91-EF6E11A16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0FCE0806-19BA-0E2A-415F-A3FE4FF718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전체 모델 성능 비교</a:t>
            </a:r>
            <a:endParaRPr lang="en-US" altLang="ko-KR" b="1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lvl="1"/>
            <a:r>
              <a:rPr lang="en-US" altLang="ko-KR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AEC 128   |   Normalized   |   </a:t>
            </a:r>
            <a:r>
              <a:rPr lang="en-US" altLang="ko-KR" dirty="0" err="1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BCEWithLogitsLoss</a:t>
            </a:r>
            <a:endParaRPr lang="en-US" altLang="ko-KR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lvl="1"/>
            <a:r>
              <a:rPr lang="en-US" altLang="ko-KR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M1 → M2 → M3 </a:t>
            </a:r>
            <a:r>
              <a: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순차 비교  </a:t>
            </a:r>
            <a:r>
              <a:rPr lang="en-US" altLang="ko-KR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|  Bootstrap 95% CI  |  Brier → Calibration </a:t>
            </a:r>
            <a:r>
              <a: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참조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2EEBD04-4480-D036-7AC8-ADDD10A259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303ECC-83DE-3243-5347-60109977E1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18</a:t>
            </a:fld>
            <a:endParaRPr lang="ko-KR" altLang="en-US" dirty="0"/>
          </a:p>
        </p:txBody>
      </p:sp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32B02D3C-31BE-30DC-AE47-FC33386D1C71}"/>
              </a:ext>
            </a:extLst>
          </p:cNvPr>
          <p:cNvGrpSpPr/>
          <p:nvPr/>
        </p:nvGrpSpPr>
        <p:grpSpPr>
          <a:xfrm>
            <a:off x="701040" y="2657608"/>
            <a:ext cx="10789920" cy="1773936"/>
            <a:chOff x="198120" y="1567543"/>
            <a:chExt cx="10789920" cy="1773936"/>
          </a:xfrm>
        </p:grpSpPr>
        <p:sp>
          <p:nvSpPr>
            <p:cNvPr id="9" name="Rectangle 4">
              <a:extLst>
                <a:ext uri="{FF2B5EF4-FFF2-40B4-BE49-F238E27FC236}">
                  <a16:creationId xmlns:a16="http://schemas.microsoft.com/office/drawing/2014/main" id="{6F93AC50-58FB-E752-FA92-F73B7862769D}"/>
                </a:ext>
              </a:extLst>
            </p:cNvPr>
            <p:cNvSpPr/>
            <p:nvPr/>
          </p:nvSpPr>
          <p:spPr>
            <a:xfrm>
              <a:off x="198120" y="1567543"/>
              <a:ext cx="1417320" cy="292608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9BF5C29-0AD5-EF89-2BE6-1F3586D29938}"/>
                </a:ext>
              </a:extLst>
            </p:cNvPr>
            <p:cNvSpPr txBox="1"/>
            <p:nvPr/>
          </p:nvSpPr>
          <p:spPr>
            <a:xfrm>
              <a:off x="198120" y="1567543"/>
              <a:ext cx="1417320" cy="29260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모델</a:t>
              </a:r>
            </a:p>
          </p:txBody>
        </p:sp>
        <p:sp>
          <p:nvSpPr>
            <p:cNvPr id="11" name="Rectangle 6">
              <a:extLst>
                <a:ext uri="{FF2B5EF4-FFF2-40B4-BE49-F238E27FC236}">
                  <a16:creationId xmlns:a16="http://schemas.microsoft.com/office/drawing/2014/main" id="{BD84539F-CA41-4A8F-0904-C9015CC3CEC3}"/>
                </a:ext>
              </a:extLst>
            </p:cNvPr>
            <p:cNvSpPr/>
            <p:nvPr/>
          </p:nvSpPr>
          <p:spPr>
            <a:xfrm>
              <a:off x="1661160" y="1567543"/>
              <a:ext cx="1005840" cy="292608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BEED142-1EF0-6EBF-BD78-FA9FF1DFC0B1}"/>
                </a:ext>
              </a:extLst>
            </p:cNvPr>
            <p:cNvSpPr txBox="1"/>
            <p:nvPr/>
          </p:nvSpPr>
          <p:spPr>
            <a:xfrm>
              <a:off x="1661160" y="1567543"/>
              <a:ext cx="1005840" cy="29260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AUC</a:t>
              </a:r>
            </a:p>
          </p:txBody>
        </p:sp>
        <p:sp>
          <p:nvSpPr>
            <p:cNvPr id="13" name="Rectangle 8">
              <a:extLst>
                <a:ext uri="{FF2B5EF4-FFF2-40B4-BE49-F238E27FC236}">
                  <a16:creationId xmlns:a16="http://schemas.microsoft.com/office/drawing/2014/main" id="{E9877CC0-80FD-941F-8033-3AD0C2E4DAC9}"/>
                </a:ext>
              </a:extLst>
            </p:cNvPr>
            <p:cNvSpPr/>
            <p:nvPr/>
          </p:nvSpPr>
          <p:spPr>
            <a:xfrm>
              <a:off x="2712720" y="1567543"/>
              <a:ext cx="1371600" cy="292608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00812D9-C1A8-4580-D7DB-B793EE33E018}"/>
                </a:ext>
              </a:extLst>
            </p:cNvPr>
            <p:cNvSpPr txBox="1"/>
            <p:nvPr/>
          </p:nvSpPr>
          <p:spPr>
            <a:xfrm>
              <a:off x="2712720" y="1567543"/>
              <a:ext cx="1371600" cy="29260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95% CI AUC</a:t>
              </a:r>
            </a:p>
          </p:txBody>
        </p:sp>
        <p:sp>
          <p:nvSpPr>
            <p:cNvPr id="15" name="Rectangle 10">
              <a:extLst>
                <a:ext uri="{FF2B5EF4-FFF2-40B4-BE49-F238E27FC236}">
                  <a16:creationId xmlns:a16="http://schemas.microsoft.com/office/drawing/2014/main" id="{C96DE9D5-BEA6-4C03-8BD7-6C7D3547663A}"/>
                </a:ext>
              </a:extLst>
            </p:cNvPr>
            <p:cNvSpPr/>
            <p:nvPr/>
          </p:nvSpPr>
          <p:spPr>
            <a:xfrm>
              <a:off x="4130040" y="1567543"/>
              <a:ext cx="1005840" cy="292608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E296E69-A400-04F6-6B63-645D7E43738F}"/>
                </a:ext>
              </a:extLst>
            </p:cNvPr>
            <p:cNvSpPr txBox="1"/>
            <p:nvPr/>
          </p:nvSpPr>
          <p:spPr>
            <a:xfrm>
              <a:off x="4130040" y="1567543"/>
              <a:ext cx="1005840" cy="29260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AUPRC</a:t>
              </a:r>
            </a:p>
          </p:txBody>
        </p:sp>
        <p:sp>
          <p:nvSpPr>
            <p:cNvPr id="19" name="Rectangle 14">
              <a:extLst>
                <a:ext uri="{FF2B5EF4-FFF2-40B4-BE49-F238E27FC236}">
                  <a16:creationId xmlns:a16="http://schemas.microsoft.com/office/drawing/2014/main" id="{941ED05C-F890-A8D8-AE59-72359AA1793D}"/>
                </a:ext>
              </a:extLst>
            </p:cNvPr>
            <p:cNvSpPr/>
            <p:nvPr/>
          </p:nvSpPr>
          <p:spPr>
            <a:xfrm>
              <a:off x="5181600" y="1567543"/>
              <a:ext cx="960120" cy="292608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A834C9E-217C-6D96-17F4-B712852D0A32}"/>
                </a:ext>
              </a:extLst>
            </p:cNvPr>
            <p:cNvSpPr txBox="1"/>
            <p:nvPr/>
          </p:nvSpPr>
          <p:spPr>
            <a:xfrm>
              <a:off x="5181600" y="1567543"/>
              <a:ext cx="960120" cy="29260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F1</a:t>
              </a:r>
            </a:p>
          </p:txBody>
        </p:sp>
        <p:sp>
          <p:nvSpPr>
            <p:cNvPr id="21" name="Rectangle 16">
              <a:extLst>
                <a:ext uri="{FF2B5EF4-FFF2-40B4-BE49-F238E27FC236}">
                  <a16:creationId xmlns:a16="http://schemas.microsoft.com/office/drawing/2014/main" id="{481B1995-679A-1A6D-8002-F6C02CCF6323}"/>
                </a:ext>
              </a:extLst>
            </p:cNvPr>
            <p:cNvSpPr/>
            <p:nvPr/>
          </p:nvSpPr>
          <p:spPr>
            <a:xfrm>
              <a:off x="6187440" y="1567543"/>
              <a:ext cx="1508760" cy="292608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CC80C92-B199-F1CD-635A-61758869C751}"/>
                </a:ext>
              </a:extLst>
            </p:cNvPr>
            <p:cNvSpPr txBox="1"/>
            <p:nvPr/>
          </p:nvSpPr>
          <p:spPr>
            <a:xfrm>
              <a:off x="6187440" y="1567543"/>
              <a:ext cx="1508760" cy="29260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vs M1 Δ AUC</a:t>
              </a:r>
            </a:p>
          </p:txBody>
        </p:sp>
        <p:sp>
          <p:nvSpPr>
            <p:cNvPr id="23" name="Rectangle 18">
              <a:extLst>
                <a:ext uri="{FF2B5EF4-FFF2-40B4-BE49-F238E27FC236}">
                  <a16:creationId xmlns:a16="http://schemas.microsoft.com/office/drawing/2014/main" id="{A206C0C3-7B92-0BA2-72FB-C23C5F32E811}"/>
                </a:ext>
              </a:extLst>
            </p:cNvPr>
            <p:cNvSpPr/>
            <p:nvPr/>
          </p:nvSpPr>
          <p:spPr>
            <a:xfrm>
              <a:off x="7741920" y="1567543"/>
              <a:ext cx="1508760" cy="292608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9620A7A-A8F3-6BC4-282E-6980860926EA}"/>
                </a:ext>
              </a:extLst>
            </p:cNvPr>
            <p:cNvSpPr txBox="1"/>
            <p:nvPr/>
          </p:nvSpPr>
          <p:spPr>
            <a:xfrm>
              <a:off x="7741920" y="1567543"/>
              <a:ext cx="1508760" cy="29260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vs M1 DeLong p</a:t>
              </a:r>
            </a:p>
          </p:txBody>
        </p:sp>
        <p:sp>
          <p:nvSpPr>
            <p:cNvPr id="25" name="Rectangle 20">
              <a:extLst>
                <a:ext uri="{FF2B5EF4-FFF2-40B4-BE49-F238E27FC236}">
                  <a16:creationId xmlns:a16="http://schemas.microsoft.com/office/drawing/2014/main" id="{90D21181-C475-3721-3484-8906C54DBD7E}"/>
                </a:ext>
              </a:extLst>
            </p:cNvPr>
            <p:cNvSpPr/>
            <p:nvPr/>
          </p:nvSpPr>
          <p:spPr>
            <a:xfrm>
              <a:off x="9296400" y="1567543"/>
              <a:ext cx="1691640" cy="292608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791A5D3-356B-1E48-89A6-976D4738729D}"/>
                </a:ext>
              </a:extLst>
            </p:cNvPr>
            <p:cNvSpPr txBox="1"/>
            <p:nvPr/>
          </p:nvSpPr>
          <p:spPr>
            <a:xfrm>
              <a:off x="9296400" y="1567543"/>
              <a:ext cx="1691640" cy="29260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비고</a:t>
              </a:r>
            </a:p>
          </p:txBody>
        </p:sp>
        <p:sp>
          <p:nvSpPr>
            <p:cNvPr id="27" name="Rectangle 22">
              <a:extLst>
                <a:ext uri="{FF2B5EF4-FFF2-40B4-BE49-F238E27FC236}">
                  <a16:creationId xmlns:a16="http://schemas.microsoft.com/office/drawing/2014/main" id="{34910697-F4AD-0618-EBA5-32EB0AA4843A}"/>
                </a:ext>
              </a:extLst>
            </p:cNvPr>
            <p:cNvSpPr/>
            <p:nvPr/>
          </p:nvSpPr>
          <p:spPr>
            <a:xfrm>
              <a:off x="198120" y="1878439"/>
              <a:ext cx="141732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C5853981-FD75-1E89-C715-74BC7CD4854D}"/>
                </a:ext>
              </a:extLst>
            </p:cNvPr>
            <p:cNvSpPr txBox="1"/>
            <p:nvPr/>
          </p:nvSpPr>
          <p:spPr>
            <a:xfrm>
              <a:off x="198120" y="1878439"/>
              <a:ext cx="141732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 dirty="0">
                  <a:solidFill>
                    <a:srgbClr val="1A1A2E"/>
                  </a:solidFill>
                  <a:latin typeface="맑은 고딕"/>
                </a:rPr>
                <a:t>M1 (LR)</a:t>
              </a:r>
            </a:p>
          </p:txBody>
        </p:sp>
        <p:sp>
          <p:nvSpPr>
            <p:cNvPr id="29" name="Rectangle 24">
              <a:extLst>
                <a:ext uri="{FF2B5EF4-FFF2-40B4-BE49-F238E27FC236}">
                  <a16:creationId xmlns:a16="http://schemas.microsoft.com/office/drawing/2014/main" id="{1A4FC761-3CB8-6CA9-8557-5BF5B789A6AC}"/>
                </a:ext>
              </a:extLst>
            </p:cNvPr>
            <p:cNvSpPr/>
            <p:nvPr/>
          </p:nvSpPr>
          <p:spPr>
            <a:xfrm>
              <a:off x="1661160" y="1878439"/>
              <a:ext cx="100584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35F8D9FD-E10F-813B-8BE7-7A8571A272FD}"/>
                </a:ext>
              </a:extLst>
            </p:cNvPr>
            <p:cNvSpPr txBox="1"/>
            <p:nvPr/>
          </p:nvSpPr>
          <p:spPr>
            <a:xfrm>
              <a:off x="1661160" y="1878439"/>
              <a:ext cx="100584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0.8325</a:t>
              </a:r>
            </a:p>
          </p:txBody>
        </p:sp>
        <p:sp>
          <p:nvSpPr>
            <p:cNvPr id="31" name="Rectangle 26">
              <a:extLst>
                <a:ext uri="{FF2B5EF4-FFF2-40B4-BE49-F238E27FC236}">
                  <a16:creationId xmlns:a16="http://schemas.microsoft.com/office/drawing/2014/main" id="{A2216CE0-4F30-279A-3A9B-8ED98FB42C6B}"/>
                </a:ext>
              </a:extLst>
            </p:cNvPr>
            <p:cNvSpPr/>
            <p:nvPr/>
          </p:nvSpPr>
          <p:spPr>
            <a:xfrm>
              <a:off x="2712720" y="1878439"/>
              <a:ext cx="137160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7D2FA397-6914-84BA-F77D-5C01D70A1EFE}"/>
                </a:ext>
              </a:extLst>
            </p:cNvPr>
            <p:cNvSpPr txBox="1"/>
            <p:nvPr/>
          </p:nvSpPr>
          <p:spPr>
            <a:xfrm>
              <a:off x="2712720" y="1878439"/>
              <a:ext cx="13716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[0.739, 0.909]</a:t>
              </a:r>
            </a:p>
          </p:txBody>
        </p:sp>
        <p:sp>
          <p:nvSpPr>
            <p:cNvPr id="33" name="Rectangle 28">
              <a:extLst>
                <a:ext uri="{FF2B5EF4-FFF2-40B4-BE49-F238E27FC236}">
                  <a16:creationId xmlns:a16="http://schemas.microsoft.com/office/drawing/2014/main" id="{EB41A01F-F7FD-0E71-CBEB-C00A35171E8B}"/>
                </a:ext>
              </a:extLst>
            </p:cNvPr>
            <p:cNvSpPr/>
            <p:nvPr/>
          </p:nvSpPr>
          <p:spPr>
            <a:xfrm>
              <a:off x="4130040" y="1878439"/>
              <a:ext cx="100584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38B07BB-83E8-68FF-E883-D7DA7C97359A}"/>
                </a:ext>
              </a:extLst>
            </p:cNvPr>
            <p:cNvSpPr txBox="1"/>
            <p:nvPr/>
          </p:nvSpPr>
          <p:spPr>
            <a:xfrm>
              <a:off x="4130040" y="1878439"/>
              <a:ext cx="100584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0.5008</a:t>
              </a:r>
            </a:p>
          </p:txBody>
        </p:sp>
        <p:sp>
          <p:nvSpPr>
            <p:cNvPr id="37" name="Rectangle 32">
              <a:extLst>
                <a:ext uri="{FF2B5EF4-FFF2-40B4-BE49-F238E27FC236}">
                  <a16:creationId xmlns:a16="http://schemas.microsoft.com/office/drawing/2014/main" id="{CB8FCAAC-DF84-61D7-A72D-CA5D03EAA910}"/>
                </a:ext>
              </a:extLst>
            </p:cNvPr>
            <p:cNvSpPr/>
            <p:nvPr/>
          </p:nvSpPr>
          <p:spPr>
            <a:xfrm>
              <a:off x="5181600" y="1878439"/>
              <a:ext cx="96012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BAB91705-4E94-8E88-A07A-AE6364254EE9}"/>
                </a:ext>
              </a:extLst>
            </p:cNvPr>
            <p:cNvSpPr txBox="1"/>
            <p:nvPr/>
          </p:nvSpPr>
          <p:spPr>
            <a:xfrm>
              <a:off x="5181600" y="1878439"/>
              <a:ext cx="96012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0.3953</a:t>
              </a:r>
            </a:p>
          </p:txBody>
        </p:sp>
        <p:sp>
          <p:nvSpPr>
            <p:cNvPr id="39" name="Rectangle 34">
              <a:extLst>
                <a:ext uri="{FF2B5EF4-FFF2-40B4-BE49-F238E27FC236}">
                  <a16:creationId xmlns:a16="http://schemas.microsoft.com/office/drawing/2014/main" id="{43B9F6E1-DD39-DF24-7833-62C72BBB14BF}"/>
                </a:ext>
              </a:extLst>
            </p:cNvPr>
            <p:cNvSpPr/>
            <p:nvPr/>
          </p:nvSpPr>
          <p:spPr>
            <a:xfrm>
              <a:off x="6187440" y="1878439"/>
              <a:ext cx="150876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F3E9566F-5990-91E9-6F2F-EC148CAB1DD4}"/>
                </a:ext>
              </a:extLst>
            </p:cNvPr>
            <p:cNvSpPr txBox="1"/>
            <p:nvPr/>
          </p:nvSpPr>
          <p:spPr>
            <a:xfrm>
              <a:off x="6187440" y="1878439"/>
              <a:ext cx="150876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0F6BBF"/>
                  </a:solidFill>
                  <a:latin typeface="맑은 고딕"/>
                </a:rPr>
                <a:t>—</a:t>
              </a:r>
            </a:p>
          </p:txBody>
        </p:sp>
        <p:sp>
          <p:nvSpPr>
            <p:cNvPr id="41" name="Rectangle 36">
              <a:extLst>
                <a:ext uri="{FF2B5EF4-FFF2-40B4-BE49-F238E27FC236}">
                  <a16:creationId xmlns:a16="http://schemas.microsoft.com/office/drawing/2014/main" id="{294BB5F6-867E-094C-4944-FF4254C3ACAA}"/>
                </a:ext>
              </a:extLst>
            </p:cNvPr>
            <p:cNvSpPr/>
            <p:nvPr/>
          </p:nvSpPr>
          <p:spPr>
            <a:xfrm>
              <a:off x="7741920" y="1878439"/>
              <a:ext cx="150876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28D2A9C1-0E27-FA3A-CFCE-2DFA70CA648E}"/>
                </a:ext>
              </a:extLst>
            </p:cNvPr>
            <p:cNvSpPr txBox="1"/>
            <p:nvPr/>
          </p:nvSpPr>
          <p:spPr>
            <a:xfrm>
              <a:off x="7741920" y="1878439"/>
              <a:ext cx="150876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기준선</a:t>
              </a:r>
            </a:p>
          </p:txBody>
        </p:sp>
        <p:sp>
          <p:nvSpPr>
            <p:cNvPr id="43" name="Rectangle 38">
              <a:extLst>
                <a:ext uri="{FF2B5EF4-FFF2-40B4-BE49-F238E27FC236}">
                  <a16:creationId xmlns:a16="http://schemas.microsoft.com/office/drawing/2014/main" id="{A3A4CD41-697A-1F27-3FE8-18F41D706CD9}"/>
                </a:ext>
              </a:extLst>
            </p:cNvPr>
            <p:cNvSpPr/>
            <p:nvPr/>
          </p:nvSpPr>
          <p:spPr>
            <a:xfrm>
              <a:off x="9296400" y="1878439"/>
              <a:ext cx="169164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5E48EB7-F00F-786E-63FB-582D952D148E}"/>
                </a:ext>
              </a:extLst>
            </p:cNvPr>
            <p:cNvSpPr txBox="1"/>
            <p:nvPr/>
          </p:nvSpPr>
          <p:spPr>
            <a:xfrm>
              <a:off x="9296400" y="1878439"/>
              <a:ext cx="169164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Clinic Only</a:t>
              </a:r>
            </a:p>
          </p:txBody>
        </p:sp>
        <p:sp>
          <p:nvSpPr>
            <p:cNvPr id="45" name="Rectangle 40">
              <a:extLst>
                <a:ext uri="{FF2B5EF4-FFF2-40B4-BE49-F238E27FC236}">
                  <a16:creationId xmlns:a16="http://schemas.microsoft.com/office/drawing/2014/main" id="{EEC286D0-2847-2679-AFAC-C8232F130EDB}"/>
                </a:ext>
              </a:extLst>
            </p:cNvPr>
            <p:cNvSpPr/>
            <p:nvPr/>
          </p:nvSpPr>
          <p:spPr>
            <a:xfrm>
              <a:off x="198120" y="2244199"/>
              <a:ext cx="1417320" cy="365760"/>
            </a:xfrm>
            <a:prstGeom prst="rect">
              <a:avLst/>
            </a:prstGeom>
            <a:solidFill>
              <a:srgbClr val="E8F4E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F12A1E2C-3E35-689E-5196-E3791DFCCCDC}"/>
                </a:ext>
              </a:extLst>
            </p:cNvPr>
            <p:cNvSpPr txBox="1"/>
            <p:nvPr/>
          </p:nvSpPr>
          <p:spPr>
            <a:xfrm>
              <a:off x="198120" y="2244199"/>
              <a:ext cx="141732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>
                  <a:solidFill>
                    <a:srgbClr val="1A1A2E"/>
                  </a:solidFill>
                  <a:latin typeface="맑은 고딕"/>
                </a:rPr>
                <a:t>M2 (CrossAttn)</a:t>
              </a:r>
            </a:p>
          </p:txBody>
        </p:sp>
        <p:sp>
          <p:nvSpPr>
            <p:cNvPr id="47" name="Rectangle 42">
              <a:extLst>
                <a:ext uri="{FF2B5EF4-FFF2-40B4-BE49-F238E27FC236}">
                  <a16:creationId xmlns:a16="http://schemas.microsoft.com/office/drawing/2014/main" id="{09098465-E8FC-F961-C106-9FE3F82B047D}"/>
                </a:ext>
              </a:extLst>
            </p:cNvPr>
            <p:cNvSpPr/>
            <p:nvPr/>
          </p:nvSpPr>
          <p:spPr>
            <a:xfrm>
              <a:off x="1661160" y="2244199"/>
              <a:ext cx="1005840" cy="365760"/>
            </a:xfrm>
            <a:prstGeom prst="rect">
              <a:avLst/>
            </a:prstGeom>
            <a:solidFill>
              <a:srgbClr val="E8F4E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2B68F32F-99AF-7048-1B0F-8F9B9EEE7405}"/>
                </a:ext>
              </a:extLst>
            </p:cNvPr>
            <p:cNvSpPr txBox="1"/>
            <p:nvPr/>
          </p:nvSpPr>
          <p:spPr>
            <a:xfrm>
              <a:off x="1661160" y="2244199"/>
              <a:ext cx="100584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>
                  <a:solidFill>
                    <a:srgbClr val="1A1A2E"/>
                  </a:solidFill>
                  <a:latin typeface="맑은 고딕"/>
                </a:rPr>
                <a:t>0.8868</a:t>
              </a:r>
            </a:p>
          </p:txBody>
        </p:sp>
        <p:sp>
          <p:nvSpPr>
            <p:cNvPr id="49" name="Rectangle 44">
              <a:extLst>
                <a:ext uri="{FF2B5EF4-FFF2-40B4-BE49-F238E27FC236}">
                  <a16:creationId xmlns:a16="http://schemas.microsoft.com/office/drawing/2014/main" id="{4D0CF379-319B-C90C-61E5-B26E74211D8A}"/>
                </a:ext>
              </a:extLst>
            </p:cNvPr>
            <p:cNvSpPr/>
            <p:nvPr/>
          </p:nvSpPr>
          <p:spPr>
            <a:xfrm>
              <a:off x="2712720" y="2244199"/>
              <a:ext cx="1371600" cy="365760"/>
            </a:xfrm>
            <a:prstGeom prst="rect">
              <a:avLst/>
            </a:prstGeom>
            <a:solidFill>
              <a:srgbClr val="E8F4E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09518D70-0366-3EB5-FA20-2C0279D0A9E2}"/>
                </a:ext>
              </a:extLst>
            </p:cNvPr>
            <p:cNvSpPr txBox="1"/>
            <p:nvPr/>
          </p:nvSpPr>
          <p:spPr>
            <a:xfrm>
              <a:off x="2712720" y="2244199"/>
              <a:ext cx="13716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>
                  <a:solidFill>
                    <a:srgbClr val="1A1A2E"/>
                  </a:solidFill>
                  <a:latin typeface="맑은 고딕"/>
                </a:rPr>
                <a:t>[0.810, 0.949]</a:t>
              </a:r>
            </a:p>
          </p:txBody>
        </p:sp>
        <p:sp>
          <p:nvSpPr>
            <p:cNvPr id="51" name="Rectangle 46">
              <a:extLst>
                <a:ext uri="{FF2B5EF4-FFF2-40B4-BE49-F238E27FC236}">
                  <a16:creationId xmlns:a16="http://schemas.microsoft.com/office/drawing/2014/main" id="{7E8CF8F2-5F79-39A5-6CDC-B3BAE1EE606A}"/>
                </a:ext>
              </a:extLst>
            </p:cNvPr>
            <p:cNvSpPr/>
            <p:nvPr/>
          </p:nvSpPr>
          <p:spPr>
            <a:xfrm>
              <a:off x="4130040" y="2244199"/>
              <a:ext cx="1005840" cy="365760"/>
            </a:xfrm>
            <a:prstGeom prst="rect">
              <a:avLst/>
            </a:prstGeom>
            <a:solidFill>
              <a:srgbClr val="E8F4E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2FDA6BC7-7B1F-6F8C-D3FE-A2B7C5644FCA}"/>
                </a:ext>
              </a:extLst>
            </p:cNvPr>
            <p:cNvSpPr txBox="1"/>
            <p:nvPr/>
          </p:nvSpPr>
          <p:spPr>
            <a:xfrm>
              <a:off x="4130040" y="2244199"/>
              <a:ext cx="100584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>
                  <a:solidFill>
                    <a:srgbClr val="1A1A2E"/>
                  </a:solidFill>
                  <a:latin typeface="맑은 고딕"/>
                </a:rPr>
                <a:t>0.5551</a:t>
              </a:r>
            </a:p>
          </p:txBody>
        </p:sp>
        <p:sp>
          <p:nvSpPr>
            <p:cNvPr id="55" name="Rectangle 50">
              <a:extLst>
                <a:ext uri="{FF2B5EF4-FFF2-40B4-BE49-F238E27FC236}">
                  <a16:creationId xmlns:a16="http://schemas.microsoft.com/office/drawing/2014/main" id="{A1DE0811-4D1C-589B-B05A-AE6ED5F1B8AB}"/>
                </a:ext>
              </a:extLst>
            </p:cNvPr>
            <p:cNvSpPr/>
            <p:nvPr/>
          </p:nvSpPr>
          <p:spPr>
            <a:xfrm>
              <a:off x="5181600" y="2244199"/>
              <a:ext cx="960120" cy="365760"/>
            </a:xfrm>
            <a:prstGeom prst="rect">
              <a:avLst/>
            </a:prstGeom>
            <a:solidFill>
              <a:srgbClr val="E8F4E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03A06B63-3087-0A75-537B-E0DA7FA0B515}"/>
                </a:ext>
              </a:extLst>
            </p:cNvPr>
            <p:cNvSpPr txBox="1"/>
            <p:nvPr/>
          </p:nvSpPr>
          <p:spPr>
            <a:xfrm>
              <a:off x="5181600" y="2244199"/>
              <a:ext cx="96012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>
                  <a:solidFill>
                    <a:srgbClr val="1A1A2E"/>
                  </a:solidFill>
                  <a:latin typeface="맑은 고딕"/>
                </a:rPr>
                <a:t>0.4444</a:t>
              </a:r>
            </a:p>
          </p:txBody>
        </p:sp>
        <p:sp>
          <p:nvSpPr>
            <p:cNvPr id="57" name="Rectangle 52">
              <a:extLst>
                <a:ext uri="{FF2B5EF4-FFF2-40B4-BE49-F238E27FC236}">
                  <a16:creationId xmlns:a16="http://schemas.microsoft.com/office/drawing/2014/main" id="{684B137E-87EF-C81A-14C0-ABF87CFD36FF}"/>
                </a:ext>
              </a:extLst>
            </p:cNvPr>
            <p:cNvSpPr/>
            <p:nvPr/>
          </p:nvSpPr>
          <p:spPr>
            <a:xfrm>
              <a:off x="6187440" y="2244199"/>
              <a:ext cx="1508760" cy="365760"/>
            </a:xfrm>
            <a:prstGeom prst="rect">
              <a:avLst/>
            </a:prstGeom>
            <a:solidFill>
              <a:srgbClr val="E8F4E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4DEC48EE-D619-9D99-F968-F5D666A7CE40}"/>
                </a:ext>
              </a:extLst>
            </p:cNvPr>
            <p:cNvSpPr txBox="1"/>
            <p:nvPr/>
          </p:nvSpPr>
          <p:spPr>
            <a:xfrm>
              <a:off x="6187440" y="2244199"/>
              <a:ext cx="150876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>
                  <a:solidFill>
                    <a:srgbClr val="0F6BBF"/>
                  </a:solidFill>
                  <a:latin typeface="맑은 고딕"/>
                </a:rPr>
                <a:t>+0.054</a:t>
              </a:r>
            </a:p>
          </p:txBody>
        </p:sp>
        <p:sp>
          <p:nvSpPr>
            <p:cNvPr id="59" name="Rectangle 54">
              <a:extLst>
                <a:ext uri="{FF2B5EF4-FFF2-40B4-BE49-F238E27FC236}">
                  <a16:creationId xmlns:a16="http://schemas.microsoft.com/office/drawing/2014/main" id="{52A2DD24-6027-76BA-63D2-181311046156}"/>
                </a:ext>
              </a:extLst>
            </p:cNvPr>
            <p:cNvSpPr/>
            <p:nvPr/>
          </p:nvSpPr>
          <p:spPr>
            <a:xfrm>
              <a:off x="7741920" y="2244199"/>
              <a:ext cx="1508760" cy="365760"/>
            </a:xfrm>
            <a:prstGeom prst="rect">
              <a:avLst/>
            </a:prstGeom>
            <a:solidFill>
              <a:srgbClr val="E8F4E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8510A44E-2D3A-7AAA-8144-D159BA4BAB91}"/>
                </a:ext>
              </a:extLst>
            </p:cNvPr>
            <p:cNvSpPr txBox="1"/>
            <p:nvPr/>
          </p:nvSpPr>
          <p:spPr>
            <a:xfrm>
              <a:off x="7741920" y="2244199"/>
              <a:ext cx="150876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>
                  <a:solidFill>
                    <a:srgbClr val="1E8B4C"/>
                  </a:solidFill>
                  <a:latin typeface="맑은 고딕"/>
                </a:rPr>
                <a:t>p=0.071 †</a:t>
              </a:r>
            </a:p>
          </p:txBody>
        </p:sp>
        <p:sp>
          <p:nvSpPr>
            <p:cNvPr id="61" name="Rectangle 56">
              <a:extLst>
                <a:ext uri="{FF2B5EF4-FFF2-40B4-BE49-F238E27FC236}">
                  <a16:creationId xmlns:a16="http://schemas.microsoft.com/office/drawing/2014/main" id="{2507AEF6-55C7-0E1E-1D0C-B80310FB96B7}"/>
                </a:ext>
              </a:extLst>
            </p:cNvPr>
            <p:cNvSpPr/>
            <p:nvPr/>
          </p:nvSpPr>
          <p:spPr>
            <a:xfrm>
              <a:off x="9296400" y="2244199"/>
              <a:ext cx="1691640" cy="365760"/>
            </a:xfrm>
            <a:prstGeom prst="rect">
              <a:avLst/>
            </a:prstGeom>
            <a:solidFill>
              <a:srgbClr val="E8F4E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2E8A194D-9B80-DB83-1B0A-3B6B48CF702A}"/>
                </a:ext>
              </a:extLst>
            </p:cNvPr>
            <p:cNvSpPr txBox="1"/>
            <p:nvPr/>
          </p:nvSpPr>
          <p:spPr>
            <a:xfrm>
              <a:off x="9296400" y="2244199"/>
              <a:ext cx="169164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>
                  <a:solidFill>
                    <a:srgbClr val="9EA3AB"/>
                  </a:solidFill>
                  <a:latin typeface="맑은 고딕"/>
                </a:rPr>
                <a:t>Clinic+AEC</a:t>
              </a:r>
            </a:p>
          </p:txBody>
        </p:sp>
        <p:sp>
          <p:nvSpPr>
            <p:cNvPr id="63" name="Rectangle 58">
              <a:extLst>
                <a:ext uri="{FF2B5EF4-FFF2-40B4-BE49-F238E27FC236}">
                  <a16:creationId xmlns:a16="http://schemas.microsoft.com/office/drawing/2014/main" id="{6D2D8E48-8F90-DDAB-E5A7-94E62D724B6A}"/>
                </a:ext>
              </a:extLst>
            </p:cNvPr>
            <p:cNvSpPr/>
            <p:nvPr/>
          </p:nvSpPr>
          <p:spPr>
            <a:xfrm>
              <a:off x="198120" y="2609959"/>
              <a:ext cx="1417320" cy="365760"/>
            </a:xfrm>
            <a:prstGeom prst="rect">
              <a:avLst/>
            </a:prstGeom>
            <a:solidFill>
              <a:srgbClr val="F5F5F5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DE6F10A0-AFE6-0808-4D5C-97E17DD42929}"/>
                </a:ext>
              </a:extLst>
            </p:cNvPr>
            <p:cNvSpPr txBox="1"/>
            <p:nvPr/>
          </p:nvSpPr>
          <p:spPr>
            <a:xfrm>
              <a:off x="198120" y="2609959"/>
              <a:ext cx="141732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 dirty="0">
                  <a:solidFill>
                    <a:srgbClr val="1A1A2E"/>
                  </a:solidFill>
                  <a:latin typeface="맑은 고딕"/>
                </a:rPr>
                <a:t>M2_2 (</a:t>
              </a:r>
              <a:r>
                <a:rPr sz="1050" b="0" i="0" dirty="0" err="1">
                  <a:solidFill>
                    <a:srgbClr val="1A1A2E"/>
                  </a:solidFill>
                  <a:latin typeface="맑은 고딕"/>
                </a:rPr>
                <a:t>Neg.Ctrl</a:t>
              </a:r>
              <a:r>
                <a:rPr sz="1050" b="0" i="0" dirty="0">
                  <a:solidFill>
                    <a:srgbClr val="1A1A2E"/>
                  </a:solidFill>
                  <a:latin typeface="맑은 고딕"/>
                </a:rPr>
                <a:t>)</a:t>
              </a:r>
            </a:p>
          </p:txBody>
        </p:sp>
        <p:sp>
          <p:nvSpPr>
            <p:cNvPr id="65" name="Rectangle 60">
              <a:extLst>
                <a:ext uri="{FF2B5EF4-FFF2-40B4-BE49-F238E27FC236}">
                  <a16:creationId xmlns:a16="http://schemas.microsoft.com/office/drawing/2014/main" id="{588BFB8B-CBAD-BB1F-9279-37E63C298115}"/>
                </a:ext>
              </a:extLst>
            </p:cNvPr>
            <p:cNvSpPr/>
            <p:nvPr/>
          </p:nvSpPr>
          <p:spPr>
            <a:xfrm>
              <a:off x="1661160" y="2609959"/>
              <a:ext cx="1005840" cy="365760"/>
            </a:xfrm>
            <a:prstGeom prst="rect">
              <a:avLst/>
            </a:prstGeom>
            <a:solidFill>
              <a:srgbClr val="F5F5F5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970D5597-7758-519D-EBEE-FDD82AA2C0D2}"/>
                </a:ext>
              </a:extLst>
            </p:cNvPr>
            <p:cNvSpPr txBox="1"/>
            <p:nvPr/>
          </p:nvSpPr>
          <p:spPr>
            <a:xfrm>
              <a:off x="1661160" y="2609959"/>
              <a:ext cx="100584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0.8420</a:t>
              </a:r>
            </a:p>
          </p:txBody>
        </p:sp>
        <p:sp>
          <p:nvSpPr>
            <p:cNvPr id="67" name="Rectangle 62">
              <a:extLst>
                <a:ext uri="{FF2B5EF4-FFF2-40B4-BE49-F238E27FC236}">
                  <a16:creationId xmlns:a16="http://schemas.microsoft.com/office/drawing/2014/main" id="{0E3C2C90-FEAD-D93E-E90E-0EE2D4DA6C67}"/>
                </a:ext>
              </a:extLst>
            </p:cNvPr>
            <p:cNvSpPr/>
            <p:nvPr/>
          </p:nvSpPr>
          <p:spPr>
            <a:xfrm>
              <a:off x="2712720" y="2609959"/>
              <a:ext cx="1371600" cy="365760"/>
            </a:xfrm>
            <a:prstGeom prst="rect">
              <a:avLst/>
            </a:prstGeom>
            <a:solidFill>
              <a:srgbClr val="F5F5F5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67802539-D15B-A8F2-16CD-E27764489EA2}"/>
                </a:ext>
              </a:extLst>
            </p:cNvPr>
            <p:cNvSpPr txBox="1"/>
            <p:nvPr/>
          </p:nvSpPr>
          <p:spPr>
            <a:xfrm>
              <a:off x="2712720" y="2609959"/>
              <a:ext cx="13716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[0.750, 0.919]</a:t>
              </a:r>
            </a:p>
          </p:txBody>
        </p:sp>
        <p:sp>
          <p:nvSpPr>
            <p:cNvPr id="69" name="Rectangle 64">
              <a:extLst>
                <a:ext uri="{FF2B5EF4-FFF2-40B4-BE49-F238E27FC236}">
                  <a16:creationId xmlns:a16="http://schemas.microsoft.com/office/drawing/2014/main" id="{A7863DF4-D822-94ED-57BE-DFAD496F8219}"/>
                </a:ext>
              </a:extLst>
            </p:cNvPr>
            <p:cNvSpPr/>
            <p:nvPr/>
          </p:nvSpPr>
          <p:spPr>
            <a:xfrm>
              <a:off x="4130040" y="2609959"/>
              <a:ext cx="1005840" cy="365760"/>
            </a:xfrm>
            <a:prstGeom prst="rect">
              <a:avLst/>
            </a:prstGeom>
            <a:solidFill>
              <a:srgbClr val="F5F5F5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FA4C1DDC-4908-113E-A0EE-994F8EAC6F57}"/>
                </a:ext>
              </a:extLst>
            </p:cNvPr>
            <p:cNvSpPr txBox="1"/>
            <p:nvPr/>
          </p:nvSpPr>
          <p:spPr>
            <a:xfrm>
              <a:off x="4130040" y="2609959"/>
              <a:ext cx="100584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0.5177</a:t>
              </a:r>
            </a:p>
          </p:txBody>
        </p:sp>
        <p:sp>
          <p:nvSpPr>
            <p:cNvPr id="73" name="Rectangle 68">
              <a:extLst>
                <a:ext uri="{FF2B5EF4-FFF2-40B4-BE49-F238E27FC236}">
                  <a16:creationId xmlns:a16="http://schemas.microsoft.com/office/drawing/2014/main" id="{A246A779-7E1A-70CB-7A9F-F406073D94D9}"/>
                </a:ext>
              </a:extLst>
            </p:cNvPr>
            <p:cNvSpPr/>
            <p:nvPr/>
          </p:nvSpPr>
          <p:spPr>
            <a:xfrm>
              <a:off x="5181600" y="2609959"/>
              <a:ext cx="960120" cy="365760"/>
            </a:xfrm>
            <a:prstGeom prst="rect">
              <a:avLst/>
            </a:prstGeom>
            <a:solidFill>
              <a:srgbClr val="F5F5F5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A9892A85-40A7-7BCD-F76C-BA38B8878714}"/>
                </a:ext>
              </a:extLst>
            </p:cNvPr>
            <p:cNvSpPr txBox="1"/>
            <p:nvPr/>
          </p:nvSpPr>
          <p:spPr>
            <a:xfrm>
              <a:off x="5181600" y="2609959"/>
              <a:ext cx="96012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0.3619</a:t>
              </a:r>
            </a:p>
          </p:txBody>
        </p:sp>
        <p:sp>
          <p:nvSpPr>
            <p:cNvPr id="75" name="Rectangle 70">
              <a:extLst>
                <a:ext uri="{FF2B5EF4-FFF2-40B4-BE49-F238E27FC236}">
                  <a16:creationId xmlns:a16="http://schemas.microsoft.com/office/drawing/2014/main" id="{8F1C8825-CEA4-558C-A99C-1C15EA5BDA16}"/>
                </a:ext>
              </a:extLst>
            </p:cNvPr>
            <p:cNvSpPr/>
            <p:nvPr/>
          </p:nvSpPr>
          <p:spPr>
            <a:xfrm>
              <a:off x="6187440" y="2609959"/>
              <a:ext cx="1508760" cy="365760"/>
            </a:xfrm>
            <a:prstGeom prst="rect">
              <a:avLst/>
            </a:prstGeom>
            <a:solidFill>
              <a:srgbClr val="F5F5F5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DF5732CA-480E-CDE4-BB33-DE6F6E5CF290}"/>
                </a:ext>
              </a:extLst>
            </p:cNvPr>
            <p:cNvSpPr txBox="1"/>
            <p:nvPr/>
          </p:nvSpPr>
          <p:spPr>
            <a:xfrm>
              <a:off x="6187440" y="2609959"/>
              <a:ext cx="150876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0F6BBF"/>
                  </a:solidFill>
                  <a:latin typeface="맑은 고딕"/>
                </a:rPr>
                <a:t>+0.010</a:t>
              </a:r>
            </a:p>
          </p:txBody>
        </p:sp>
        <p:sp>
          <p:nvSpPr>
            <p:cNvPr id="77" name="Rectangle 72">
              <a:extLst>
                <a:ext uri="{FF2B5EF4-FFF2-40B4-BE49-F238E27FC236}">
                  <a16:creationId xmlns:a16="http://schemas.microsoft.com/office/drawing/2014/main" id="{B3F77886-A9BC-0AD9-60FE-C325EC32FA21}"/>
                </a:ext>
              </a:extLst>
            </p:cNvPr>
            <p:cNvSpPr/>
            <p:nvPr/>
          </p:nvSpPr>
          <p:spPr>
            <a:xfrm>
              <a:off x="7741920" y="2609959"/>
              <a:ext cx="1508760" cy="365760"/>
            </a:xfrm>
            <a:prstGeom prst="rect">
              <a:avLst/>
            </a:prstGeom>
            <a:solidFill>
              <a:srgbClr val="F5F5F5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DB1EA9F6-EC0B-94F1-8086-9DF7604527A8}"/>
                </a:ext>
              </a:extLst>
            </p:cNvPr>
            <p:cNvSpPr txBox="1"/>
            <p:nvPr/>
          </p:nvSpPr>
          <p:spPr>
            <a:xfrm>
              <a:off x="7741920" y="2609959"/>
              <a:ext cx="150876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(neg ctrl)</a:t>
              </a:r>
            </a:p>
          </p:txBody>
        </p:sp>
        <p:sp>
          <p:nvSpPr>
            <p:cNvPr id="79" name="Rectangle 74">
              <a:extLst>
                <a:ext uri="{FF2B5EF4-FFF2-40B4-BE49-F238E27FC236}">
                  <a16:creationId xmlns:a16="http://schemas.microsoft.com/office/drawing/2014/main" id="{2A709A4D-481F-034B-A574-4246F2011998}"/>
                </a:ext>
              </a:extLst>
            </p:cNvPr>
            <p:cNvSpPr/>
            <p:nvPr/>
          </p:nvSpPr>
          <p:spPr>
            <a:xfrm>
              <a:off x="9296400" y="2609959"/>
              <a:ext cx="1691640" cy="365760"/>
            </a:xfrm>
            <a:prstGeom prst="rect">
              <a:avLst/>
            </a:prstGeom>
            <a:solidFill>
              <a:srgbClr val="F5F5F5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E3D9A0A5-EF77-FDAF-76CD-4F1AF40F747C}"/>
                </a:ext>
              </a:extLst>
            </p:cNvPr>
            <p:cNvSpPr txBox="1"/>
            <p:nvPr/>
          </p:nvSpPr>
          <p:spPr>
            <a:xfrm>
              <a:off x="9296400" y="2609959"/>
              <a:ext cx="169164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Unmatched</a:t>
              </a:r>
            </a:p>
          </p:txBody>
        </p:sp>
        <p:sp>
          <p:nvSpPr>
            <p:cNvPr id="81" name="Rectangle 76">
              <a:extLst>
                <a:ext uri="{FF2B5EF4-FFF2-40B4-BE49-F238E27FC236}">
                  <a16:creationId xmlns:a16="http://schemas.microsoft.com/office/drawing/2014/main" id="{B974F4A8-434E-3F49-BE40-FC228EC90742}"/>
                </a:ext>
              </a:extLst>
            </p:cNvPr>
            <p:cNvSpPr/>
            <p:nvPr/>
          </p:nvSpPr>
          <p:spPr>
            <a:xfrm>
              <a:off x="198120" y="2975719"/>
              <a:ext cx="1417320" cy="365760"/>
            </a:xfrm>
            <a:prstGeom prst="rect">
              <a:avLst/>
            </a:prstGeom>
            <a:solidFill>
              <a:srgbClr val="FFF3E0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18EBE227-3A09-5BB8-66E4-3D07927EEF55}"/>
                </a:ext>
              </a:extLst>
            </p:cNvPr>
            <p:cNvSpPr txBox="1"/>
            <p:nvPr/>
          </p:nvSpPr>
          <p:spPr>
            <a:xfrm>
              <a:off x="198120" y="2975719"/>
              <a:ext cx="141732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 dirty="0">
                  <a:solidFill>
                    <a:srgbClr val="1A1A2E"/>
                  </a:solidFill>
                  <a:latin typeface="맑은 고딕"/>
                </a:rPr>
                <a:t>M3 (CrossAttn3)</a:t>
              </a:r>
            </a:p>
          </p:txBody>
        </p:sp>
        <p:sp>
          <p:nvSpPr>
            <p:cNvPr id="83" name="Rectangle 78">
              <a:extLst>
                <a:ext uri="{FF2B5EF4-FFF2-40B4-BE49-F238E27FC236}">
                  <a16:creationId xmlns:a16="http://schemas.microsoft.com/office/drawing/2014/main" id="{18A95939-4CF8-7DCC-C418-AB1FC4005A9C}"/>
                </a:ext>
              </a:extLst>
            </p:cNvPr>
            <p:cNvSpPr/>
            <p:nvPr/>
          </p:nvSpPr>
          <p:spPr>
            <a:xfrm>
              <a:off x="1661160" y="2975719"/>
              <a:ext cx="1005840" cy="365760"/>
            </a:xfrm>
            <a:prstGeom prst="rect">
              <a:avLst/>
            </a:prstGeom>
            <a:solidFill>
              <a:srgbClr val="FFF3E0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F6CAADC4-6562-C1FC-701F-FE1394A00920}"/>
                </a:ext>
              </a:extLst>
            </p:cNvPr>
            <p:cNvSpPr txBox="1"/>
            <p:nvPr/>
          </p:nvSpPr>
          <p:spPr>
            <a:xfrm>
              <a:off x="1661160" y="2975719"/>
              <a:ext cx="100584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>
                  <a:solidFill>
                    <a:srgbClr val="1A1A2E"/>
                  </a:solidFill>
                  <a:latin typeface="맑은 고딕"/>
                </a:rPr>
                <a:t>0.8944</a:t>
              </a:r>
            </a:p>
          </p:txBody>
        </p:sp>
        <p:sp>
          <p:nvSpPr>
            <p:cNvPr id="85" name="Rectangle 80">
              <a:extLst>
                <a:ext uri="{FF2B5EF4-FFF2-40B4-BE49-F238E27FC236}">
                  <a16:creationId xmlns:a16="http://schemas.microsoft.com/office/drawing/2014/main" id="{4AD79647-AFA1-147F-3E63-BDE843F76001}"/>
                </a:ext>
              </a:extLst>
            </p:cNvPr>
            <p:cNvSpPr/>
            <p:nvPr/>
          </p:nvSpPr>
          <p:spPr>
            <a:xfrm>
              <a:off x="2712720" y="2975719"/>
              <a:ext cx="1371600" cy="365760"/>
            </a:xfrm>
            <a:prstGeom prst="rect">
              <a:avLst/>
            </a:prstGeom>
            <a:solidFill>
              <a:srgbClr val="FFF3E0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DB0322C9-7818-8B28-DE17-DE3E92F75B56}"/>
                </a:ext>
              </a:extLst>
            </p:cNvPr>
            <p:cNvSpPr txBox="1"/>
            <p:nvPr/>
          </p:nvSpPr>
          <p:spPr>
            <a:xfrm>
              <a:off x="2712720" y="2975719"/>
              <a:ext cx="13716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>
                  <a:solidFill>
                    <a:srgbClr val="1A1A2E"/>
                  </a:solidFill>
                  <a:latin typeface="맑은 고딕"/>
                </a:rPr>
                <a:t>[0.825, 0.950]</a:t>
              </a:r>
            </a:p>
          </p:txBody>
        </p:sp>
        <p:sp>
          <p:nvSpPr>
            <p:cNvPr id="87" name="Rectangle 82">
              <a:extLst>
                <a:ext uri="{FF2B5EF4-FFF2-40B4-BE49-F238E27FC236}">
                  <a16:creationId xmlns:a16="http://schemas.microsoft.com/office/drawing/2014/main" id="{895F8112-7B3F-4D0A-A96B-AC768DDEA585}"/>
                </a:ext>
              </a:extLst>
            </p:cNvPr>
            <p:cNvSpPr/>
            <p:nvPr/>
          </p:nvSpPr>
          <p:spPr>
            <a:xfrm>
              <a:off x="4130040" y="2975719"/>
              <a:ext cx="1005840" cy="365760"/>
            </a:xfrm>
            <a:prstGeom prst="rect">
              <a:avLst/>
            </a:prstGeom>
            <a:solidFill>
              <a:srgbClr val="FFF3E0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CCBA2902-EBD2-3B1B-D269-8134152C0F55}"/>
                </a:ext>
              </a:extLst>
            </p:cNvPr>
            <p:cNvSpPr txBox="1"/>
            <p:nvPr/>
          </p:nvSpPr>
          <p:spPr>
            <a:xfrm>
              <a:off x="4130040" y="2975719"/>
              <a:ext cx="100584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>
                  <a:solidFill>
                    <a:srgbClr val="1A1A2E"/>
                  </a:solidFill>
                  <a:latin typeface="맑은 고딕"/>
                </a:rPr>
                <a:t>0.5636</a:t>
              </a:r>
            </a:p>
          </p:txBody>
        </p:sp>
        <p:sp>
          <p:nvSpPr>
            <p:cNvPr id="91" name="Rectangle 86">
              <a:extLst>
                <a:ext uri="{FF2B5EF4-FFF2-40B4-BE49-F238E27FC236}">
                  <a16:creationId xmlns:a16="http://schemas.microsoft.com/office/drawing/2014/main" id="{EBA25308-6CE7-590C-88C6-B3E4C5B2690F}"/>
                </a:ext>
              </a:extLst>
            </p:cNvPr>
            <p:cNvSpPr/>
            <p:nvPr/>
          </p:nvSpPr>
          <p:spPr>
            <a:xfrm>
              <a:off x="5181600" y="2975719"/>
              <a:ext cx="960120" cy="365760"/>
            </a:xfrm>
            <a:prstGeom prst="rect">
              <a:avLst/>
            </a:prstGeom>
            <a:solidFill>
              <a:srgbClr val="FFF3E0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C1F9328B-F75E-F1A7-BA9B-81C211C0F560}"/>
                </a:ext>
              </a:extLst>
            </p:cNvPr>
            <p:cNvSpPr txBox="1"/>
            <p:nvPr/>
          </p:nvSpPr>
          <p:spPr>
            <a:xfrm>
              <a:off x="5181600" y="2975719"/>
              <a:ext cx="96012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>
                  <a:solidFill>
                    <a:srgbClr val="1A1A2E"/>
                  </a:solidFill>
                  <a:latin typeface="맑은 고딕"/>
                </a:rPr>
                <a:t>0.4571</a:t>
              </a:r>
            </a:p>
          </p:txBody>
        </p:sp>
        <p:sp>
          <p:nvSpPr>
            <p:cNvPr id="93" name="Rectangle 88">
              <a:extLst>
                <a:ext uri="{FF2B5EF4-FFF2-40B4-BE49-F238E27FC236}">
                  <a16:creationId xmlns:a16="http://schemas.microsoft.com/office/drawing/2014/main" id="{922C90E3-8342-E7BD-F4EC-E0965CB5354B}"/>
                </a:ext>
              </a:extLst>
            </p:cNvPr>
            <p:cNvSpPr/>
            <p:nvPr/>
          </p:nvSpPr>
          <p:spPr>
            <a:xfrm>
              <a:off x="6187440" y="2975719"/>
              <a:ext cx="1508760" cy="365760"/>
            </a:xfrm>
            <a:prstGeom prst="rect">
              <a:avLst/>
            </a:prstGeom>
            <a:solidFill>
              <a:srgbClr val="FFF3E0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20D8D613-B012-8544-CC01-9A0E32053F5D}"/>
                </a:ext>
              </a:extLst>
            </p:cNvPr>
            <p:cNvSpPr txBox="1"/>
            <p:nvPr/>
          </p:nvSpPr>
          <p:spPr>
            <a:xfrm>
              <a:off x="6187440" y="2975719"/>
              <a:ext cx="150876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>
                  <a:solidFill>
                    <a:srgbClr val="0F6BBF"/>
                  </a:solidFill>
                  <a:latin typeface="맑은 고딕"/>
                </a:rPr>
                <a:t>+0.062</a:t>
              </a:r>
            </a:p>
          </p:txBody>
        </p:sp>
        <p:sp>
          <p:nvSpPr>
            <p:cNvPr id="95" name="Rectangle 90">
              <a:extLst>
                <a:ext uri="{FF2B5EF4-FFF2-40B4-BE49-F238E27FC236}">
                  <a16:creationId xmlns:a16="http://schemas.microsoft.com/office/drawing/2014/main" id="{A5B1823F-F9D2-CA06-6F1A-43C4732E58A2}"/>
                </a:ext>
              </a:extLst>
            </p:cNvPr>
            <p:cNvSpPr/>
            <p:nvPr/>
          </p:nvSpPr>
          <p:spPr>
            <a:xfrm>
              <a:off x="7741920" y="2975719"/>
              <a:ext cx="1508760" cy="365760"/>
            </a:xfrm>
            <a:prstGeom prst="rect">
              <a:avLst/>
            </a:prstGeom>
            <a:solidFill>
              <a:srgbClr val="FFF3E0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36527952-306E-2B9C-676E-6EE29C5C13BA}"/>
                </a:ext>
              </a:extLst>
            </p:cNvPr>
            <p:cNvSpPr txBox="1"/>
            <p:nvPr/>
          </p:nvSpPr>
          <p:spPr>
            <a:xfrm>
              <a:off x="7741920" y="2975719"/>
              <a:ext cx="150876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>
                  <a:solidFill>
                    <a:srgbClr val="1E8B4C"/>
                  </a:solidFill>
                  <a:latin typeface="맑은 고딕"/>
                </a:rPr>
                <a:t>p=0.040 *</a:t>
              </a:r>
            </a:p>
          </p:txBody>
        </p:sp>
        <p:sp>
          <p:nvSpPr>
            <p:cNvPr id="97" name="Rectangle 92">
              <a:extLst>
                <a:ext uri="{FF2B5EF4-FFF2-40B4-BE49-F238E27FC236}">
                  <a16:creationId xmlns:a16="http://schemas.microsoft.com/office/drawing/2014/main" id="{F80B5130-529F-6EE3-BFBC-3123D1988D0D}"/>
                </a:ext>
              </a:extLst>
            </p:cNvPr>
            <p:cNvSpPr/>
            <p:nvPr/>
          </p:nvSpPr>
          <p:spPr>
            <a:xfrm>
              <a:off x="9296400" y="2975719"/>
              <a:ext cx="1691640" cy="365760"/>
            </a:xfrm>
            <a:prstGeom prst="rect">
              <a:avLst/>
            </a:prstGeom>
            <a:solidFill>
              <a:srgbClr val="FFF3E0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851F60F2-C8C8-435F-F8C8-9FA32C7845FE}"/>
                </a:ext>
              </a:extLst>
            </p:cNvPr>
            <p:cNvSpPr txBox="1"/>
            <p:nvPr/>
          </p:nvSpPr>
          <p:spPr>
            <a:xfrm>
              <a:off x="9296400" y="2975719"/>
              <a:ext cx="169164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1" i="0">
                  <a:solidFill>
                    <a:srgbClr val="9EA3AB"/>
                  </a:solidFill>
                  <a:latin typeface="맑은 고딕"/>
                </a:rPr>
                <a:t>Clinic+Scn+AEC</a:t>
              </a:r>
            </a:p>
          </p:txBody>
        </p:sp>
      </p:grpSp>
      <p:sp>
        <p:nvSpPr>
          <p:cNvPr id="116" name="TextBox 115">
            <a:extLst>
              <a:ext uri="{FF2B5EF4-FFF2-40B4-BE49-F238E27FC236}">
                <a16:creationId xmlns:a16="http://schemas.microsoft.com/office/drawing/2014/main" id="{90C9C538-4D87-4374-DFDD-B9C299B43B1F}"/>
              </a:ext>
            </a:extLst>
          </p:cNvPr>
          <p:cNvSpPr txBox="1"/>
          <p:nvPr/>
        </p:nvSpPr>
        <p:spPr>
          <a:xfrm>
            <a:off x="705394" y="4495552"/>
            <a:ext cx="1079862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 dirty="0" err="1">
                <a:solidFill>
                  <a:srgbClr val="1A1A2E"/>
                </a:solidFill>
                <a:latin typeface="맑은 고딕"/>
              </a:rPr>
              <a:t>유의수준</a:t>
            </a:r>
            <a:r>
              <a:rPr sz="1100" b="1" i="0" dirty="0">
                <a:solidFill>
                  <a:srgbClr val="1A1A2E"/>
                </a:solidFill>
                <a:latin typeface="맑은 고딕"/>
              </a:rPr>
              <a:t>:  *** p&lt;0.001   ** p&lt;0.01   * p&lt;0.05   † p&lt;0.10   ns p≥0.10</a:t>
            </a:r>
          </a:p>
        </p:txBody>
      </p:sp>
    </p:spTree>
    <p:extLst>
      <p:ext uri="{BB962C8B-B14F-4D97-AF65-F5344CB8AC3E}">
        <p14:creationId xmlns:p14="http://schemas.microsoft.com/office/powerpoint/2010/main" val="27081280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DBD12-8227-72F7-081A-083621637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내용 개체 틀 4">
            <a:extLst>
              <a:ext uri="{FF2B5EF4-FFF2-40B4-BE49-F238E27FC236}">
                <a16:creationId xmlns:a16="http://schemas.microsoft.com/office/drawing/2014/main" id="{98FD5FF1-325D-5DD0-A372-48275B7848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ko-KR" altLang="en-US" b="1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전체 모델 성능 비교</a:t>
            </a:r>
            <a:endParaRPr lang="en-US" altLang="ko-KR" b="1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  <a:p>
            <a:pPr lvl="1"/>
            <a:r>
              <a:rPr lang="en-US" altLang="ko-KR" dirty="0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AEC 128   |   Normalized   |   </a:t>
            </a:r>
            <a:r>
              <a:rPr lang="en-US" altLang="ko-KR" dirty="0" err="1">
                <a:latin typeface="KoPub돋움체 Medium" panose="00000600000000000000" pitchFamily="2" charset="-127"/>
                <a:ea typeface="KoPub돋움체 Medium" panose="00000600000000000000" pitchFamily="2" charset="-127"/>
              </a:rPr>
              <a:t>BCEWithLogitsLoss</a:t>
            </a:r>
            <a:endParaRPr lang="en-US" altLang="ko-KR" dirty="0">
              <a:latin typeface="KoPub돋움체 Medium" panose="00000600000000000000" pitchFamily="2" charset="-127"/>
              <a:ea typeface="KoPub돋움체 Medium" panose="00000600000000000000" pitchFamily="2" charset="-127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CA129A1-CF86-6A85-1E3D-86C50B532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96F260-F99B-FB82-21A6-E1139282E9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19</a:t>
            </a:fld>
            <a:endParaRPr lang="ko-KR" altLang="en-US" dirty="0"/>
          </a:p>
        </p:txBody>
      </p: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4E22E061-500F-6C71-B5FC-7BD500E2FEE1}"/>
              </a:ext>
            </a:extLst>
          </p:cNvPr>
          <p:cNvGrpSpPr/>
          <p:nvPr/>
        </p:nvGrpSpPr>
        <p:grpSpPr>
          <a:xfrm>
            <a:off x="409638" y="2664973"/>
            <a:ext cx="11372724" cy="2924597"/>
            <a:chOff x="261257" y="1966701"/>
            <a:chExt cx="11372724" cy="2924597"/>
          </a:xfrm>
        </p:grpSpPr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9CE16C5F-937E-F63F-D36C-8F9EBF36EE0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6430" r="50000"/>
            <a:stretch>
              <a:fillRect/>
            </a:stretch>
          </p:blipFill>
          <p:spPr>
            <a:xfrm>
              <a:off x="261257" y="1966701"/>
              <a:ext cx="3669970" cy="2924597"/>
            </a:xfrm>
            <a:prstGeom prst="rect">
              <a:avLst/>
            </a:prstGeom>
          </p:spPr>
        </p:pic>
        <p:pic>
          <p:nvPicPr>
            <p:cNvPr id="36" name="그림 35">
              <a:extLst>
                <a:ext uri="{FF2B5EF4-FFF2-40B4-BE49-F238E27FC236}">
                  <a16:creationId xmlns:a16="http://schemas.microsoft.com/office/drawing/2014/main" id="{F1E95668-7AC2-7249-91BF-10D51FDE9EA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927" r="50000"/>
            <a:stretch>
              <a:fillRect/>
            </a:stretch>
          </p:blipFill>
          <p:spPr>
            <a:xfrm>
              <a:off x="4119155" y="1966701"/>
              <a:ext cx="3650338" cy="2924597"/>
            </a:xfrm>
            <a:prstGeom prst="rect">
              <a:avLst/>
            </a:prstGeom>
          </p:spPr>
        </p:pic>
        <p:pic>
          <p:nvPicPr>
            <p:cNvPr id="54" name="그림 53">
              <a:extLst>
                <a:ext uri="{FF2B5EF4-FFF2-40B4-BE49-F238E27FC236}">
                  <a16:creationId xmlns:a16="http://schemas.microsoft.com/office/drawing/2014/main" id="{49AC160E-3E34-46E8-6DC6-785FF5C8E32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6598" r="50000"/>
            <a:stretch>
              <a:fillRect/>
            </a:stretch>
          </p:blipFill>
          <p:spPr>
            <a:xfrm>
              <a:off x="7957421" y="1966701"/>
              <a:ext cx="3676560" cy="2924597"/>
            </a:xfrm>
            <a:prstGeom prst="rect">
              <a:avLst/>
            </a:prstGeom>
          </p:spPr>
        </p:pic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F759A308-4EA8-BCCC-E73C-87C127E32E68}"/>
              </a:ext>
            </a:extLst>
          </p:cNvPr>
          <p:cNvSpPr txBox="1"/>
          <p:nvPr/>
        </p:nvSpPr>
        <p:spPr>
          <a:xfrm>
            <a:off x="409638" y="5698922"/>
            <a:ext cx="366997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i="0" dirty="0">
                <a:solidFill>
                  <a:srgbClr val="1A1A2E"/>
                </a:solidFill>
                <a:latin typeface="맑은 고딕"/>
              </a:rPr>
              <a:t>Model 1 (Clinic)</a:t>
            </a:r>
            <a:endParaRPr sz="1100" b="1" i="0" dirty="0">
              <a:solidFill>
                <a:srgbClr val="1A1A2E"/>
              </a:solidFill>
              <a:latin typeface="맑은 고딕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C7C257F-4D16-69FC-772A-BC79EABEBF84}"/>
              </a:ext>
            </a:extLst>
          </p:cNvPr>
          <p:cNvSpPr txBox="1"/>
          <p:nvPr/>
        </p:nvSpPr>
        <p:spPr>
          <a:xfrm>
            <a:off x="4267536" y="5698922"/>
            <a:ext cx="366997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i="0" dirty="0">
                <a:solidFill>
                  <a:srgbClr val="1A1A2E"/>
                </a:solidFill>
                <a:latin typeface="맑은 고딕"/>
              </a:rPr>
              <a:t>Model 2 (Clinic + AEC)</a:t>
            </a:r>
            <a:endParaRPr sz="1100" b="1" i="0" dirty="0">
              <a:solidFill>
                <a:srgbClr val="1A1A2E"/>
              </a:solidFill>
              <a:latin typeface="맑은 고딕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475D5026-321B-8AEA-ABD4-11168A606DBF}"/>
              </a:ext>
            </a:extLst>
          </p:cNvPr>
          <p:cNvSpPr txBox="1"/>
          <p:nvPr/>
        </p:nvSpPr>
        <p:spPr>
          <a:xfrm>
            <a:off x="8203811" y="5698922"/>
            <a:ext cx="3669971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i="0" dirty="0">
                <a:solidFill>
                  <a:srgbClr val="1A1A2E"/>
                </a:solidFill>
                <a:latin typeface="맑은 고딕"/>
              </a:rPr>
              <a:t>Model 3 (Clinic + AEC + Scanner)</a:t>
            </a:r>
            <a:endParaRPr sz="1100" b="1" i="0" dirty="0">
              <a:solidFill>
                <a:srgbClr val="1A1A2E"/>
              </a:solidFill>
              <a:latin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5932310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F1932A-5A2A-9503-BEC3-00F96EA129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0AF78E-F656-C431-6237-E9DAB51D1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B9CD50-97F0-CF76-C060-719B3AB1E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20</a:t>
            </a:fld>
            <a:endParaRPr lang="ko-KR" altLang="en-US" dirty="0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73C3AE69-F6D4-CF59-5278-A9A3587535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Model 1 (Clinic) vs Model 2 (Clinic + AEC) </a:t>
            </a:r>
            <a:r>
              <a:rPr lang="ko-KR" altLang="en-US" dirty="0"/>
              <a:t>비교</a:t>
            </a:r>
          </a:p>
        </p:txBody>
      </p:sp>
      <p:sp>
        <p:nvSpPr>
          <p:cNvPr id="6" name="Rectangle 4">
            <a:extLst>
              <a:ext uri="{FF2B5EF4-FFF2-40B4-BE49-F238E27FC236}">
                <a16:creationId xmlns:a16="http://schemas.microsoft.com/office/drawing/2014/main" id="{19CD5BBB-45EA-5B34-8845-856BA42531F8}"/>
              </a:ext>
            </a:extLst>
          </p:cNvPr>
          <p:cNvSpPr/>
          <p:nvPr/>
        </p:nvSpPr>
        <p:spPr>
          <a:xfrm>
            <a:off x="361405" y="1698171"/>
            <a:ext cx="5486400" cy="4262361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0A44C8B-83FB-7ED1-78B2-7AE2430815D8}"/>
              </a:ext>
            </a:extLst>
          </p:cNvPr>
          <p:cNvSpPr txBox="1"/>
          <p:nvPr/>
        </p:nvSpPr>
        <p:spPr>
          <a:xfrm>
            <a:off x="544285" y="1771323"/>
            <a:ext cx="512064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  <a:latin typeface="맑은 고딕"/>
              </a:rPr>
              <a:t>DeLong Test — M1(LR) vs M2(CrossAttn)  [ norm 조건 ]</a:t>
            </a:r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88CF8F29-D96B-905F-583C-AFDBE9D8351F}"/>
              </a:ext>
            </a:extLst>
          </p:cNvPr>
          <p:cNvSpPr/>
          <p:nvPr/>
        </p:nvSpPr>
        <p:spPr>
          <a:xfrm>
            <a:off x="544285" y="2091363"/>
            <a:ext cx="5120640" cy="36576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17" name="그룹 116">
            <a:extLst>
              <a:ext uri="{FF2B5EF4-FFF2-40B4-BE49-F238E27FC236}">
                <a16:creationId xmlns:a16="http://schemas.microsoft.com/office/drawing/2014/main" id="{DE76AFE5-63D9-D4CA-1B95-0658BC29473A}"/>
              </a:ext>
            </a:extLst>
          </p:cNvPr>
          <p:cNvGrpSpPr/>
          <p:nvPr/>
        </p:nvGrpSpPr>
        <p:grpSpPr>
          <a:xfrm>
            <a:off x="498565" y="2216257"/>
            <a:ext cx="5212080" cy="1755648"/>
            <a:chOff x="498565" y="2137083"/>
            <a:chExt cx="5212080" cy="1755648"/>
          </a:xfrm>
        </p:grpSpPr>
        <p:sp>
          <p:nvSpPr>
            <p:cNvPr id="11" name="Rectangle 7">
              <a:extLst>
                <a:ext uri="{FF2B5EF4-FFF2-40B4-BE49-F238E27FC236}">
                  <a16:creationId xmlns:a16="http://schemas.microsoft.com/office/drawing/2014/main" id="{35C90E1B-9F15-9EA0-8C84-2AEB727EF782}"/>
                </a:ext>
              </a:extLst>
            </p:cNvPr>
            <p:cNvSpPr/>
            <p:nvPr/>
          </p:nvSpPr>
          <p:spPr>
            <a:xfrm>
              <a:off x="498565" y="2137083"/>
              <a:ext cx="141732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CDC6077-ACB8-9C0C-69CF-249F1D050559}"/>
                </a:ext>
              </a:extLst>
            </p:cNvPr>
            <p:cNvSpPr txBox="1"/>
            <p:nvPr/>
          </p:nvSpPr>
          <p:spPr>
            <a:xfrm>
              <a:off x="498565" y="2137083"/>
              <a:ext cx="141732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시나리오</a:t>
              </a:r>
            </a:p>
          </p:txBody>
        </p:sp>
        <p:sp>
          <p:nvSpPr>
            <p:cNvPr id="13" name="Rectangle 9">
              <a:extLst>
                <a:ext uri="{FF2B5EF4-FFF2-40B4-BE49-F238E27FC236}">
                  <a16:creationId xmlns:a16="http://schemas.microsoft.com/office/drawing/2014/main" id="{5D9DC460-DCAE-F0C8-CD89-82314F82D27E}"/>
                </a:ext>
              </a:extLst>
            </p:cNvPr>
            <p:cNvSpPr/>
            <p:nvPr/>
          </p:nvSpPr>
          <p:spPr>
            <a:xfrm>
              <a:off x="1961604" y="2137083"/>
              <a:ext cx="91440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5492B4B-7A65-3281-687E-53EFDDB69967}"/>
                </a:ext>
              </a:extLst>
            </p:cNvPr>
            <p:cNvSpPr txBox="1"/>
            <p:nvPr/>
          </p:nvSpPr>
          <p:spPr>
            <a:xfrm>
              <a:off x="1961604" y="2137083"/>
              <a:ext cx="91440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M1 AUC</a:t>
              </a:r>
            </a:p>
          </p:txBody>
        </p:sp>
        <p:sp>
          <p:nvSpPr>
            <p:cNvPr id="15" name="Rectangle 11">
              <a:extLst>
                <a:ext uri="{FF2B5EF4-FFF2-40B4-BE49-F238E27FC236}">
                  <a16:creationId xmlns:a16="http://schemas.microsoft.com/office/drawing/2014/main" id="{5D7BCDEE-184A-F67F-ECEA-39BCA6C6A0FA}"/>
                </a:ext>
              </a:extLst>
            </p:cNvPr>
            <p:cNvSpPr/>
            <p:nvPr/>
          </p:nvSpPr>
          <p:spPr>
            <a:xfrm>
              <a:off x="2921725" y="2137083"/>
              <a:ext cx="91440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1322A79-35D0-379E-641B-0CD1A7B6D5E3}"/>
                </a:ext>
              </a:extLst>
            </p:cNvPr>
            <p:cNvSpPr txBox="1"/>
            <p:nvPr/>
          </p:nvSpPr>
          <p:spPr>
            <a:xfrm>
              <a:off x="2921725" y="2137083"/>
              <a:ext cx="91440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M2 AUC</a:t>
              </a:r>
            </a:p>
          </p:txBody>
        </p:sp>
        <p:sp>
          <p:nvSpPr>
            <p:cNvPr id="17" name="Rectangle 13">
              <a:extLst>
                <a:ext uri="{FF2B5EF4-FFF2-40B4-BE49-F238E27FC236}">
                  <a16:creationId xmlns:a16="http://schemas.microsoft.com/office/drawing/2014/main" id="{F5EC27D8-9B82-3EF5-1D96-EEFAC21A9E8F}"/>
                </a:ext>
              </a:extLst>
            </p:cNvPr>
            <p:cNvSpPr/>
            <p:nvPr/>
          </p:nvSpPr>
          <p:spPr>
            <a:xfrm>
              <a:off x="3881845" y="2137083"/>
              <a:ext cx="91440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E2A1879-333B-1321-F4F4-9BEE3CC21AE9}"/>
                </a:ext>
              </a:extLst>
            </p:cNvPr>
            <p:cNvSpPr txBox="1"/>
            <p:nvPr/>
          </p:nvSpPr>
          <p:spPr>
            <a:xfrm>
              <a:off x="3881845" y="2137083"/>
              <a:ext cx="91440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Δ AUC</a:t>
              </a:r>
            </a:p>
          </p:txBody>
        </p:sp>
        <p:sp>
          <p:nvSpPr>
            <p:cNvPr id="19" name="Rectangle 15">
              <a:extLst>
                <a:ext uri="{FF2B5EF4-FFF2-40B4-BE49-F238E27FC236}">
                  <a16:creationId xmlns:a16="http://schemas.microsoft.com/office/drawing/2014/main" id="{D03D180E-7EEF-7663-EC9A-EBB964ACF365}"/>
                </a:ext>
              </a:extLst>
            </p:cNvPr>
            <p:cNvSpPr/>
            <p:nvPr/>
          </p:nvSpPr>
          <p:spPr>
            <a:xfrm>
              <a:off x="4841965" y="2137083"/>
              <a:ext cx="86868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7877615-45B6-191F-2B81-4A74D4081875}"/>
                </a:ext>
              </a:extLst>
            </p:cNvPr>
            <p:cNvSpPr txBox="1"/>
            <p:nvPr/>
          </p:nvSpPr>
          <p:spPr>
            <a:xfrm>
              <a:off x="4841965" y="2137083"/>
              <a:ext cx="86868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p-val</a:t>
              </a:r>
            </a:p>
          </p:txBody>
        </p:sp>
        <p:sp>
          <p:nvSpPr>
            <p:cNvPr id="21" name="Rectangle 17">
              <a:extLst>
                <a:ext uri="{FF2B5EF4-FFF2-40B4-BE49-F238E27FC236}">
                  <a16:creationId xmlns:a16="http://schemas.microsoft.com/office/drawing/2014/main" id="{8AD0D1E7-F9E8-DC40-B2FA-11D194ED9C62}"/>
                </a:ext>
              </a:extLst>
            </p:cNvPr>
            <p:cNvSpPr/>
            <p:nvPr/>
          </p:nvSpPr>
          <p:spPr>
            <a:xfrm>
              <a:off x="498565" y="2429691"/>
              <a:ext cx="141732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EF0B449-7FFB-D5B1-60FE-23768F270013}"/>
                </a:ext>
              </a:extLst>
            </p:cNvPr>
            <p:cNvSpPr txBox="1"/>
            <p:nvPr/>
          </p:nvSpPr>
          <p:spPr>
            <a:xfrm>
              <a:off x="498565" y="2429691"/>
              <a:ext cx="141732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BCE+AEC128</a:t>
              </a:r>
            </a:p>
          </p:txBody>
        </p:sp>
        <p:sp>
          <p:nvSpPr>
            <p:cNvPr id="23" name="Rectangle 19">
              <a:extLst>
                <a:ext uri="{FF2B5EF4-FFF2-40B4-BE49-F238E27FC236}">
                  <a16:creationId xmlns:a16="http://schemas.microsoft.com/office/drawing/2014/main" id="{8C84190C-B8F1-9502-020B-DC8F69E62766}"/>
                </a:ext>
              </a:extLst>
            </p:cNvPr>
            <p:cNvSpPr/>
            <p:nvPr/>
          </p:nvSpPr>
          <p:spPr>
            <a:xfrm>
              <a:off x="1961604" y="2429691"/>
              <a:ext cx="91440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E4D57A7-7B58-FFC1-E4BB-CADD50D32542}"/>
                </a:ext>
              </a:extLst>
            </p:cNvPr>
            <p:cNvSpPr txBox="1"/>
            <p:nvPr/>
          </p:nvSpPr>
          <p:spPr>
            <a:xfrm>
              <a:off x="1961604" y="2429691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0.8325</a:t>
              </a:r>
            </a:p>
          </p:txBody>
        </p:sp>
        <p:sp>
          <p:nvSpPr>
            <p:cNvPr id="25" name="Rectangle 21">
              <a:extLst>
                <a:ext uri="{FF2B5EF4-FFF2-40B4-BE49-F238E27FC236}">
                  <a16:creationId xmlns:a16="http://schemas.microsoft.com/office/drawing/2014/main" id="{35ED58D2-0564-9DE7-97F0-84E882B3CC22}"/>
                </a:ext>
              </a:extLst>
            </p:cNvPr>
            <p:cNvSpPr/>
            <p:nvPr/>
          </p:nvSpPr>
          <p:spPr>
            <a:xfrm>
              <a:off x="2921725" y="2429691"/>
              <a:ext cx="91440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0530FBB-1D24-2A5B-2316-F09B17BD3752}"/>
                </a:ext>
              </a:extLst>
            </p:cNvPr>
            <p:cNvSpPr txBox="1"/>
            <p:nvPr/>
          </p:nvSpPr>
          <p:spPr>
            <a:xfrm>
              <a:off x="2921725" y="2429691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0F6BBF"/>
                  </a:solidFill>
                  <a:latin typeface="맑은 고딕"/>
                </a:rPr>
                <a:t>0.8868</a:t>
              </a:r>
            </a:p>
          </p:txBody>
        </p:sp>
        <p:sp>
          <p:nvSpPr>
            <p:cNvPr id="27" name="Rectangle 23">
              <a:extLst>
                <a:ext uri="{FF2B5EF4-FFF2-40B4-BE49-F238E27FC236}">
                  <a16:creationId xmlns:a16="http://schemas.microsoft.com/office/drawing/2014/main" id="{9D2733FC-888B-F772-E485-B9F53132956D}"/>
                </a:ext>
              </a:extLst>
            </p:cNvPr>
            <p:cNvSpPr/>
            <p:nvPr/>
          </p:nvSpPr>
          <p:spPr>
            <a:xfrm>
              <a:off x="3881845" y="2429691"/>
              <a:ext cx="91440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09373293-8345-2E12-F582-33391DB441A1}"/>
                </a:ext>
              </a:extLst>
            </p:cNvPr>
            <p:cNvSpPr txBox="1"/>
            <p:nvPr/>
          </p:nvSpPr>
          <p:spPr>
            <a:xfrm>
              <a:off x="3881845" y="2429691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0F6BBF"/>
                  </a:solidFill>
                  <a:latin typeface="맑은 고딕"/>
                </a:rPr>
                <a:t>+0.054</a:t>
              </a:r>
            </a:p>
          </p:txBody>
        </p:sp>
        <p:sp>
          <p:nvSpPr>
            <p:cNvPr id="29" name="Rectangle 25">
              <a:extLst>
                <a:ext uri="{FF2B5EF4-FFF2-40B4-BE49-F238E27FC236}">
                  <a16:creationId xmlns:a16="http://schemas.microsoft.com/office/drawing/2014/main" id="{882FCE5E-ABF7-4C4C-CF4A-D9A8219AE224}"/>
                </a:ext>
              </a:extLst>
            </p:cNvPr>
            <p:cNvSpPr/>
            <p:nvPr/>
          </p:nvSpPr>
          <p:spPr>
            <a:xfrm>
              <a:off x="4841965" y="2429691"/>
              <a:ext cx="86868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7CDA2D0F-3585-6F6B-A950-1A2966A2121F}"/>
                </a:ext>
              </a:extLst>
            </p:cNvPr>
            <p:cNvSpPr txBox="1"/>
            <p:nvPr/>
          </p:nvSpPr>
          <p:spPr>
            <a:xfrm>
              <a:off x="4841965" y="2429691"/>
              <a:ext cx="86868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E8B4C"/>
                  </a:solidFill>
                  <a:latin typeface="맑은 고딕"/>
                </a:rPr>
                <a:t>p=0.071 †</a:t>
              </a:r>
            </a:p>
          </p:txBody>
        </p:sp>
        <p:sp>
          <p:nvSpPr>
            <p:cNvPr id="31" name="Rectangle 27">
              <a:extLst>
                <a:ext uri="{FF2B5EF4-FFF2-40B4-BE49-F238E27FC236}">
                  <a16:creationId xmlns:a16="http://schemas.microsoft.com/office/drawing/2014/main" id="{C20A126D-1664-4166-E23B-C8D3AA17D33D}"/>
                </a:ext>
              </a:extLst>
            </p:cNvPr>
            <p:cNvSpPr/>
            <p:nvPr/>
          </p:nvSpPr>
          <p:spPr>
            <a:xfrm>
              <a:off x="498565" y="2795451"/>
              <a:ext cx="141732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1ECF07DA-6402-5935-2C01-F837424210A2}"/>
                </a:ext>
              </a:extLst>
            </p:cNvPr>
            <p:cNvSpPr txBox="1"/>
            <p:nvPr/>
          </p:nvSpPr>
          <p:spPr>
            <a:xfrm>
              <a:off x="498565" y="2795451"/>
              <a:ext cx="141732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BCE+AEC256</a:t>
              </a:r>
            </a:p>
          </p:txBody>
        </p:sp>
        <p:sp>
          <p:nvSpPr>
            <p:cNvPr id="33" name="Rectangle 29">
              <a:extLst>
                <a:ext uri="{FF2B5EF4-FFF2-40B4-BE49-F238E27FC236}">
                  <a16:creationId xmlns:a16="http://schemas.microsoft.com/office/drawing/2014/main" id="{7E451AE0-3AB2-986C-3F04-3C8B158F3A42}"/>
                </a:ext>
              </a:extLst>
            </p:cNvPr>
            <p:cNvSpPr/>
            <p:nvPr/>
          </p:nvSpPr>
          <p:spPr>
            <a:xfrm>
              <a:off x="1961604" y="2795451"/>
              <a:ext cx="91440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7B7BFCA-E15D-F2CE-8E5F-A746B067D727}"/>
                </a:ext>
              </a:extLst>
            </p:cNvPr>
            <p:cNvSpPr txBox="1"/>
            <p:nvPr/>
          </p:nvSpPr>
          <p:spPr>
            <a:xfrm>
              <a:off x="1961604" y="2795451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0.8325</a:t>
              </a:r>
            </a:p>
          </p:txBody>
        </p:sp>
        <p:sp>
          <p:nvSpPr>
            <p:cNvPr id="35" name="Rectangle 31">
              <a:extLst>
                <a:ext uri="{FF2B5EF4-FFF2-40B4-BE49-F238E27FC236}">
                  <a16:creationId xmlns:a16="http://schemas.microsoft.com/office/drawing/2014/main" id="{F91AB85A-5F26-2725-74D8-DF565B1BDCFA}"/>
                </a:ext>
              </a:extLst>
            </p:cNvPr>
            <p:cNvSpPr/>
            <p:nvPr/>
          </p:nvSpPr>
          <p:spPr>
            <a:xfrm>
              <a:off x="2921725" y="2795451"/>
              <a:ext cx="91440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5AB662C0-B647-D0E7-FE20-2EA01FFEFFAB}"/>
                </a:ext>
              </a:extLst>
            </p:cNvPr>
            <p:cNvSpPr txBox="1"/>
            <p:nvPr/>
          </p:nvSpPr>
          <p:spPr>
            <a:xfrm>
              <a:off x="2921725" y="2795451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0F6BBF"/>
                  </a:solidFill>
                  <a:latin typeface="맑은 고딕"/>
                </a:rPr>
                <a:t>0.8884</a:t>
              </a:r>
            </a:p>
          </p:txBody>
        </p:sp>
        <p:sp>
          <p:nvSpPr>
            <p:cNvPr id="37" name="Rectangle 33">
              <a:extLst>
                <a:ext uri="{FF2B5EF4-FFF2-40B4-BE49-F238E27FC236}">
                  <a16:creationId xmlns:a16="http://schemas.microsoft.com/office/drawing/2014/main" id="{AD32BCC6-A1E8-BD1B-1A71-C1DD79547CA2}"/>
                </a:ext>
              </a:extLst>
            </p:cNvPr>
            <p:cNvSpPr/>
            <p:nvPr/>
          </p:nvSpPr>
          <p:spPr>
            <a:xfrm>
              <a:off x="3881845" y="2795451"/>
              <a:ext cx="91440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0822C5D7-D052-EF8D-F9EF-F83227AC8556}"/>
                </a:ext>
              </a:extLst>
            </p:cNvPr>
            <p:cNvSpPr txBox="1"/>
            <p:nvPr/>
          </p:nvSpPr>
          <p:spPr>
            <a:xfrm>
              <a:off x="3881845" y="2795451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0F6BBF"/>
                  </a:solidFill>
                  <a:latin typeface="맑은 고딕"/>
                </a:rPr>
                <a:t>+0.056</a:t>
              </a:r>
            </a:p>
          </p:txBody>
        </p:sp>
        <p:sp>
          <p:nvSpPr>
            <p:cNvPr id="39" name="Rectangle 35">
              <a:extLst>
                <a:ext uri="{FF2B5EF4-FFF2-40B4-BE49-F238E27FC236}">
                  <a16:creationId xmlns:a16="http://schemas.microsoft.com/office/drawing/2014/main" id="{17F4A4FC-6C2A-9B7C-7E83-72CB5434C753}"/>
                </a:ext>
              </a:extLst>
            </p:cNvPr>
            <p:cNvSpPr/>
            <p:nvPr/>
          </p:nvSpPr>
          <p:spPr>
            <a:xfrm>
              <a:off x="4841965" y="2795451"/>
              <a:ext cx="86868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316DA29-8C24-7FDC-6DB7-3A9ADEDDD85F}"/>
                </a:ext>
              </a:extLst>
            </p:cNvPr>
            <p:cNvSpPr txBox="1"/>
            <p:nvPr/>
          </p:nvSpPr>
          <p:spPr>
            <a:xfrm>
              <a:off x="4841965" y="2795451"/>
              <a:ext cx="86868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E8B4C"/>
                  </a:solidFill>
                  <a:latin typeface="맑은 고딕"/>
                </a:rPr>
                <a:t>p=0.013 *</a:t>
              </a:r>
            </a:p>
          </p:txBody>
        </p:sp>
        <p:sp>
          <p:nvSpPr>
            <p:cNvPr id="41" name="Rectangle 37">
              <a:extLst>
                <a:ext uri="{FF2B5EF4-FFF2-40B4-BE49-F238E27FC236}">
                  <a16:creationId xmlns:a16="http://schemas.microsoft.com/office/drawing/2014/main" id="{3BA8C596-3081-C0EF-F968-183AD93A6496}"/>
                </a:ext>
              </a:extLst>
            </p:cNvPr>
            <p:cNvSpPr/>
            <p:nvPr/>
          </p:nvSpPr>
          <p:spPr>
            <a:xfrm>
              <a:off x="498565" y="3161211"/>
              <a:ext cx="141732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7F385128-F50F-BCFC-DD91-E184D2094019}"/>
                </a:ext>
              </a:extLst>
            </p:cNvPr>
            <p:cNvSpPr txBox="1"/>
            <p:nvPr/>
          </p:nvSpPr>
          <p:spPr>
            <a:xfrm>
              <a:off x="498565" y="3161211"/>
              <a:ext cx="141732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Focal+AEC128</a:t>
              </a:r>
            </a:p>
          </p:txBody>
        </p:sp>
        <p:sp>
          <p:nvSpPr>
            <p:cNvPr id="43" name="Rectangle 39">
              <a:extLst>
                <a:ext uri="{FF2B5EF4-FFF2-40B4-BE49-F238E27FC236}">
                  <a16:creationId xmlns:a16="http://schemas.microsoft.com/office/drawing/2014/main" id="{72D0906D-34BE-811F-A8AB-D11B9AC6C9BD}"/>
                </a:ext>
              </a:extLst>
            </p:cNvPr>
            <p:cNvSpPr/>
            <p:nvPr/>
          </p:nvSpPr>
          <p:spPr>
            <a:xfrm>
              <a:off x="1961604" y="3161211"/>
              <a:ext cx="91440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7BDA26B9-C98D-34BA-05E9-3B3D526F4A07}"/>
                </a:ext>
              </a:extLst>
            </p:cNvPr>
            <p:cNvSpPr txBox="1"/>
            <p:nvPr/>
          </p:nvSpPr>
          <p:spPr>
            <a:xfrm>
              <a:off x="1961604" y="3161211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0.8325</a:t>
              </a:r>
            </a:p>
          </p:txBody>
        </p:sp>
        <p:sp>
          <p:nvSpPr>
            <p:cNvPr id="45" name="Rectangle 41">
              <a:extLst>
                <a:ext uri="{FF2B5EF4-FFF2-40B4-BE49-F238E27FC236}">
                  <a16:creationId xmlns:a16="http://schemas.microsoft.com/office/drawing/2014/main" id="{1FA38FE7-31E3-CA98-A7AD-716F88EF51B7}"/>
                </a:ext>
              </a:extLst>
            </p:cNvPr>
            <p:cNvSpPr/>
            <p:nvPr/>
          </p:nvSpPr>
          <p:spPr>
            <a:xfrm>
              <a:off x="2921725" y="3161211"/>
              <a:ext cx="91440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AFC47F74-9CB3-2A50-3FD2-EFFCE9CD3D98}"/>
                </a:ext>
              </a:extLst>
            </p:cNvPr>
            <p:cNvSpPr txBox="1"/>
            <p:nvPr/>
          </p:nvSpPr>
          <p:spPr>
            <a:xfrm>
              <a:off x="2921725" y="3161211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0F6BBF"/>
                  </a:solidFill>
                  <a:latin typeface="맑은 고딕"/>
                </a:rPr>
                <a:t>0.8739</a:t>
              </a:r>
            </a:p>
          </p:txBody>
        </p:sp>
        <p:sp>
          <p:nvSpPr>
            <p:cNvPr id="47" name="Rectangle 43">
              <a:extLst>
                <a:ext uri="{FF2B5EF4-FFF2-40B4-BE49-F238E27FC236}">
                  <a16:creationId xmlns:a16="http://schemas.microsoft.com/office/drawing/2014/main" id="{91CDE74E-6509-3B05-AB60-D36B8F119DFD}"/>
                </a:ext>
              </a:extLst>
            </p:cNvPr>
            <p:cNvSpPr/>
            <p:nvPr/>
          </p:nvSpPr>
          <p:spPr>
            <a:xfrm>
              <a:off x="3881845" y="3161211"/>
              <a:ext cx="91440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44FA8E69-63CC-0E1C-3EF7-86ABD42B62F3}"/>
                </a:ext>
              </a:extLst>
            </p:cNvPr>
            <p:cNvSpPr txBox="1"/>
            <p:nvPr/>
          </p:nvSpPr>
          <p:spPr>
            <a:xfrm>
              <a:off x="3881845" y="3161211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0F6BBF"/>
                  </a:solidFill>
                  <a:latin typeface="맑은 고딕"/>
                </a:rPr>
                <a:t>+0.041</a:t>
              </a:r>
            </a:p>
          </p:txBody>
        </p:sp>
        <p:sp>
          <p:nvSpPr>
            <p:cNvPr id="49" name="Rectangle 45">
              <a:extLst>
                <a:ext uri="{FF2B5EF4-FFF2-40B4-BE49-F238E27FC236}">
                  <a16:creationId xmlns:a16="http://schemas.microsoft.com/office/drawing/2014/main" id="{14614AB4-9EBC-CB62-5370-FFE44049A862}"/>
                </a:ext>
              </a:extLst>
            </p:cNvPr>
            <p:cNvSpPr/>
            <p:nvPr/>
          </p:nvSpPr>
          <p:spPr>
            <a:xfrm>
              <a:off x="4841965" y="3161211"/>
              <a:ext cx="86868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546A12A6-A3A0-7F00-5825-93E3BF3251D7}"/>
                </a:ext>
              </a:extLst>
            </p:cNvPr>
            <p:cNvSpPr txBox="1"/>
            <p:nvPr/>
          </p:nvSpPr>
          <p:spPr>
            <a:xfrm>
              <a:off x="4841965" y="3161211"/>
              <a:ext cx="86868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E8B4C"/>
                  </a:solidFill>
                  <a:latin typeface="맑은 고딕"/>
                </a:rPr>
                <a:t>p=0.079 †</a:t>
              </a:r>
            </a:p>
          </p:txBody>
        </p:sp>
        <p:sp>
          <p:nvSpPr>
            <p:cNvPr id="51" name="Rectangle 47">
              <a:extLst>
                <a:ext uri="{FF2B5EF4-FFF2-40B4-BE49-F238E27FC236}">
                  <a16:creationId xmlns:a16="http://schemas.microsoft.com/office/drawing/2014/main" id="{40006B7D-51B9-4976-AB7A-6F8D463FE8C2}"/>
                </a:ext>
              </a:extLst>
            </p:cNvPr>
            <p:cNvSpPr/>
            <p:nvPr/>
          </p:nvSpPr>
          <p:spPr>
            <a:xfrm>
              <a:off x="498565" y="3526971"/>
              <a:ext cx="141732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19B5E10B-48B3-ADAA-9892-869634A82CD4}"/>
                </a:ext>
              </a:extLst>
            </p:cNvPr>
            <p:cNvSpPr txBox="1"/>
            <p:nvPr/>
          </p:nvSpPr>
          <p:spPr>
            <a:xfrm>
              <a:off x="498565" y="3526971"/>
              <a:ext cx="141732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Focal+AEC256</a:t>
              </a:r>
            </a:p>
          </p:txBody>
        </p:sp>
        <p:sp>
          <p:nvSpPr>
            <p:cNvPr id="53" name="Rectangle 49">
              <a:extLst>
                <a:ext uri="{FF2B5EF4-FFF2-40B4-BE49-F238E27FC236}">
                  <a16:creationId xmlns:a16="http://schemas.microsoft.com/office/drawing/2014/main" id="{7167E9F7-744B-BFDE-711B-24A2FCDAF2F8}"/>
                </a:ext>
              </a:extLst>
            </p:cNvPr>
            <p:cNvSpPr/>
            <p:nvPr/>
          </p:nvSpPr>
          <p:spPr>
            <a:xfrm>
              <a:off x="1961604" y="3526971"/>
              <a:ext cx="91440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5D12892A-6E4B-3EC4-21E2-7973AD253534}"/>
                </a:ext>
              </a:extLst>
            </p:cNvPr>
            <p:cNvSpPr txBox="1"/>
            <p:nvPr/>
          </p:nvSpPr>
          <p:spPr>
            <a:xfrm>
              <a:off x="1961604" y="3526971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0.8325</a:t>
              </a:r>
            </a:p>
          </p:txBody>
        </p:sp>
        <p:sp>
          <p:nvSpPr>
            <p:cNvPr id="55" name="Rectangle 51">
              <a:extLst>
                <a:ext uri="{FF2B5EF4-FFF2-40B4-BE49-F238E27FC236}">
                  <a16:creationId xmlns:a16="http://schemas.microsoft.com/office/drawing/2014/main" id="{D73E6876-AA9C-61E0-7D16-C505E0CFAD2B}"/>
                </a:ext>
              </a:extLst>
            </p:cNvPr>
            <p:cNvSpPr/>
            <p:nvPr/>
          </p:nvSpPr>
          <p:spPr>
            <a:xfrm>
              <a:off x="2921725" y="3526971"/>
              <a:ext cx="91440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050EE79A-5FF8-61D2-47CD-640340BE4F2F}"/>
                </a:ext>
              </a:extLst>
            </p:cNvPr>
            <p:cNvSpPr txBox="1"/>
            <p:nvPr/>
          </p:nvSpPr>
          <p:spPr>
            <a:xfrm>
              <a:off x="2921725" y="3526971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0F6BBF"/>
                  </a:solidFill>
                  <a:latin typeface="맑은 고딕"/>
                </a:rPr>
                <a:t>0.8600</a:t>
              </a:r>
            </a:p>
          </p:txBody>
        </p:sp>
        <p:sp>
          <p:nvSpPr>
            <p:cNvPr id="57" name="Rectangle 53">
              <a:extLst>
                <a:ext uri="{FF2B5EF4-FFF2-40B4-BE49-F238E27FC236}">
                  <a16:creationId xmlns:a16="http://schemas.microsoft.com/office/drawing/2014/main" id="{3363F862-1387-A805-D70B-6D9219F2BB58}"/>
                </a:ext>
              </a:extLst>
            </p:cNvPr>
            <p:cNvSpPr/>
            <p:nvPr/>
          </p:nvSpPr>
          <p:spPr>
            <a:xfrm>
              <a:off x="3881845" y="3526971"/>
              <a:ext cx="91440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C050ABB6-5F23-A35B-2805-00302ED2A112}"/>
                </a:ext>
              </a:extLst>
            </p:cNvPr>
            <p:cNvSpPr txBox="1"/>
            <p:nvPr/>
          </p:nvSpPr>
          <p:spPr>
            <a:xfrm>
              <a:off x="3881845" y="3526971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0F6BBF"/>
                  </a:solidFill>
                  <a:latin typeface="맑은 고딕"/>
                </a:rPr>
                <a:t>+0.027</a:t>
              </a:r>
            </a:p>
          </p:txBody>
        </p:sp>
        <p:sp>
          <p:nvSpPr>
            <p:cNvPr id="59" name="Rectangle 55">
              <a:extLst>
                <a:ext uri="{FF2B5EF4-FFF2-40B4-BE49-F238E27FC236}">
                  <a16:creationId xmlns:a16="http://schemas.microsoft.com/office/drawing/2014/main" id="{61A130B2-9049-6A92-0D9C-503DCF8220BD}"/>
                </a:ext>
              </a:extLst>
            </p:cNvPr>
            <p:cNvSpPr/>
            <p:nvPr/>
          </p:nvSpPr>
          <p:spPr>
            <a:xfrm>
              <a:off x="4841965" y="3526971"/>
              <a:ext cx="86868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34B09199-6431-BFF3-5E40-94398FFA46D0}"/>
                </a:ext>
              </a:extLst>
            </p:cNvPr>
            <p:cNvSpPr txBox="1"/>
            <p:nvPr/>
          </p:nvSpPr>
          <p:spPr>
            <a:xfrm>
              <a:off x="4841965" y="3526971"/>
              <a:ext cx="86868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p=0.330 ns</a:t>
              </a:r>
            </a:p>
          </p:txBody>
        </p:sp>
      </p:grpSp>
      <p:sp>
        <p:nvSpPr>
          <p:cNvPr id="61" name="TextBox 60">
            <a:extLst>
              <a:ext uri="{FF2B5EF4-FFF2-40B4-BE49-F238E27FC236}">
                <a16:creationId xmlns:a16="http://schemas.microsoft.com/office/drawing/2014/main" id="{A452E1CA-D1D4-0AB4-F628-C2AA7ADEC2EA}"/>
              </a:ext>
            </a:extLst>
          </p:cNvPr>
          <p:cNvSpPr txBox="1"/>
          <p:nvPr/>
        </p:nvSpPr>
        <p:spPr>
          <a:xfrm>
            <a:off x="544285" y="4086204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  <a:latin typeface="맑은 고딕"/>
              </a:rPr>
              <a:t>Bootstrap 95% CI — BCE+AEC128+norm 기준</a:t>
            </a:r>
          </a:p>
        </p:txBody>
      </p:sp>
      <p:sp>
        <p:nvSpPr>
          <p:cNvPr id="62" name="Rectangle 58">
            <a:extLst>
              <a:ext uri="{FF2B5EF4-FFF2-40B4-BE49-F238E27FC236}">
                <a16:creationId xmlns:a16="http://schemas.microsoft.com/office/drawing/2014/main" id="{1488E483-7323-4356-F259-4DB1D690AFCB}"/>
              </a:ext>
            </a:extLst>
          </p:cNvPr>
          <p:cNvSpPr/>
          <p:nvPr/>
        </p:nvSpPr>
        <p:spPr>
          <a:xfrm>
            <a:off x="544285" y="4335630"/>
            <a:ext cx="5120640" cy="2743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964D6193-B9E4-7B86-D996-80A4966559D1}"/>
              </a:ext>
            </a:extLst>
          </p:cNvPr>
          <p:cNvGrpSpPr/>
          <p:nvPr/>
        </p:nvGrpSpPr>
        <p:grpSpPr>
          <a:xfrm>
            <a:off x="498565" y="4424533"/>
            <a:ext cx="5212080" cy="1481328"/>
            <a:chOff x="498565" y="4424533"/>
            <a:chExt cx="5029200" cy="1481328"/>
          </a:xfrm>
        </p:grpSpPr>
        <p:sp>
          <p:nvSpPr>
            <p:cNvPr id="63" name="Rectangle 59">
              <a:extLst>
                <a:ext uri="{FF2B5EF4-FFF2-40B4-BE49-F238E27FC236}">
                  <a16:creationId xmlns:a16="http://schemas.microsoft.com/office/drawing/2014/main" id="{C771C7E1-E05C-70B2-B8F1-45C6C1741E6A}"/>
                </a:ext>
              </a:extLst>
            </p:cNvPr>
            <p:cNvSpPr/>
            <p:nvPr/>
          </p:nvSpPr>
          <p:spPr>
            <a:xfrm>
              <a:off x="498565" y="4424533"/>
              <a:ext cx="1234440" cy="256032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ABDE89E8-895B-76E6-4472-D3A0A2B2AB05}"/>
                </a:ext>
              </a:extLst>
            </p:cNvPr>
            <p:cNvSpPr txBox="1"/>
            <p:nvPr/>
          </p:nvSpPr>
          <p:spPr>
            <a:xfrm>
              <a:off x="498565" y="4424533"/>
              <a:ext cx="1234440" cy="2560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지표</a:t>
              </a:r>
            </a:p>
          </p:txBody>
        </p:sp>
        <p:sp>
          <p:nvSpPr>
            <p:cNvPr id="65" name="Rectangle 61">
              <a:extLst>
                <a:ext uri="{FF2B5EF4-FFF2-40B4-BE49-F238E27FC236}">
                  <a16:creationId xmlns:a16="http://schemas.microsoft.com/office/drawing/2014/main" id="{1F3B414C-27A9-6B18-A47B-EC148FA86B48}"/>
                </a:ext>
              </a:extLst>
            </p:cNvPr>
            <p:cNvSpPr/>
            <p:nvPr/>
          </p:nvSpPr>
          <p:spPr>
            <a:xfrm>
              <a:off x="1778725" y="4424533"/>
              <a:ext cx="1234440" cy="256032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0D51F31E-1AA8-F3AB-8123-7A83276365EB}"/>
                </a:ext>
              </a:extLst>
            </p:cNvPr>
            <p:cNvSpPr txBox="1"/>
            <p:nvPr/>
          </p:nvSpPr>
          <p:spPr>
            <a:xfrm>
              <a:off x="1778725" y="4424533"/>
              <a:ext cx="1234440" cy="2560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M1</a:t>
              </a:r>
            </a:p>
          </p:txBody>
        </p:sp>
        <p:sp>
          <p:nvSpPr>
            <p:cNvPr id="67" name="Rectangle 63">
              <a:extLst>
                <a:ext uri="{FF2B5EF4-FFF2-40B4-BE49-F238E27FC236}">
                  <a16:creationId xmlns:a16="http://schemas.microsoft.com/office/drawing/2014/main" id="{B2126788-15A6-42D7-1BDF-2662B5E3EF7B}"/>
                </a:ext>
              </a:extLst>
            </p:cNvPr>
            <p:cNvSpPr/>
            <p:nvPr/>
          </p:nvSpPr>
          <p:spPr>
            <a:xfrm>
              <a:off x="3058885" y="4424533"/>
              <a:ext cx="1280160" cy="256032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F9BCC89E-12F9-67F9-EF1A-B39EA6785FED}"/>
                </a:ext>
              </a:extLst>
            </p:cNvPr>
            <p:cNvSpPr txBox="1"/>
            <p:nvPr/>
          </p:nvSpPr>
          <p:spPr>
            <a:xfrm>
              <a:off x="3058885" y="4424533"/>
              <a:ext cx="1280160" cy="2560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M2</a:t>
              </a:r>
            </a:p>
          </p:txBody>
        </p:sp>
        <p:sp>
          <p:nvSpPr>
            <p:cNvPr id="69" name="Rectangle 65">
              <a:extLst>
                <a:ext uri="{FF2B5EF4-FFF2-40B4-BE49-F238E27FC236}">
                  <a16:creationId xmlns:a16="http://schemas.microsoft.com/office/drawing/2014/main" id="{77200929-1CC4-4B0A-620F-7F7B49CF66C7}"/>
                </a:ext>
              </a:extLst>
            </p:cNvPr>
            <p:cNvSpPr/>
            <p:nvPr/>
          </p:nvSpPr>
          <p:spPr>
            <a:xfrm>
              <a:off x="4384765" y="4424533"/>
              <a:ext cx="1143000" cy="256032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D1A5BAA4-BED4-1D4B-278E-6D58EBD88329}"/>
                </a:ext>
              </a:extLst>
            </p:cNvPr>
            <p:cNvSpPr txBox="1"/>
            <p:nvPr/>
          </p:nvSpPr>
          <p:spPr>
            <a:xfrm>
              <a:off x="4384765" y="4424533"/>
              <a:ext cx="1143000" cy="2560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Δ(M2-M1)</a:t>
              </a:r>
            </a:p>
          </p:txBody>
        </p:sp>
        <p:sp>
          <p:nvSpPr>
            <p:cNvPr id="71" name="Rectangle 67">
              <a:extLst>
                <a:ext uri="{FF2B5EF4-FFF2-40B4-BE49-F238E27FC236}">
                  <a16:creationId xmlns:a16="http://schemas.microsoft.com/office/drawing/2014/main" id="{48FB0777-2E43-F553-8F79-657827C37E42}"/>
                </a:ext>
              </a:extLst>
            </p:cNvPr>
            <p:cNvSpPr/>
            <p:nvPr/>
          </p:nvSpPr>
          <p:spPr>
            <a:xfrm>
              <a:off x="498565" y="4698853"/>
              <a:ext cx="1234440" cy="301752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15296AD6-4AB8-0948-A8D0-2E3457077298}"/>
                </a:ext>
              </a:extLst>
            </p:cNvPr>
            <p:cNvSpPr txBox="1"/>
            <p:nvPr/>
          </p:nvSpPr>
          <p:spPr>
            <a:xfrm>
              <a:off x="498565" y="4698853"/>
              <a:ext cx="123444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AUC-ROC</a:t>
              </a:r>
            </a:p>
          </p:txBody>
        </p:sp>
        <p:sp>
          <p:nvSpPr>
            <p:cNvPr id="73" name="Rectangle 69">
              <a:extLst>
                <a:ext uri="{FF2B5EF4-FFF2-40B4-BE49-F238E27FC236}">
                  <a16:creationId xmlns:a16="http://schemas.microsoft.com/office/drawing/2014/main" id="{1FA06CD0-2817-7587-B2AF-5E1F230B3499}"/>
                </a:ext>
              </a:extLst>
            </p:cNvPr>
            <p:cNvSpPr/>
            <p:nvPr/>
          </p:nvSpPr>
          <p:spPr>
            <a:xfrm>
              <a:off x="1778725" y="4698853"/>
              <a:ext cx="1234440" cy="301752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05F33F06-2847-8866-FBEF-C84529FA4C6F}"/>
                </a:ext>
              </a:extLst>
            </p:cNvPr>
            <p:cNvSpPr txBox="1"/>
            <p:nvPr/>
          </p:nvSpPr>
          <p:spPr>
            <a:xfrm>
              <a:off x="1778725" y="4698853"/>
              <a:ext cx="123444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0.833 [0.739,0.909]</a:t>
              </a:r>
            </a:p>
          </p:txBody>
        </p:sp>
        <p:sp>
          <p:nvSpPr>
            <p:cNvPr id="75" name="Rectangle 71">
              <a:extLst>
                <a:ext uri="{FF2B5EF4-FFF2-40B4-BE49-F238E27FC236}">
                  <a16:creationId xmlns:a16="http://schemas.microsoft.com/office/drawing/2014/main" id="{0A394AA1-F771-8538-7E04-8B6815AE9263}"/>
                </a:ext>
              </a:extLst>
            </p:cNvPr>
            <p:cNvSpPr/>
            <p:nvPr/>
          </p:nvSpPr>
          <p:spPr>
            <a:xfrm>
              <a:off x="3058885" y="4698853"/>
              <a:ext cx="1280160" cy="301752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8548438E-9CC5-F0B7-06BD-6EDB267E2974}"/>
                </a:ext>
              </a:extLst>
            </p:cNvPr>
            <p:cNvSpPr txBox="1"/>
            <p:nvPr/>
          </p:nvSpPr>
          <p:spPr>
            <a:xfrm>
              <a:off x="3058885" y="4698853"/>
              <a:ext cx="128016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0.887 [0.810,0.949]</a:t>
              </a:r>
            </a:p>
          </p:txBody>
        </p:sp>
        <p:sp>
          <p:nvSpPr>
            <p:cNvPr id="77" name="Rectangle 73">
              <a:extLst>
                <a:ext uri="{FF2B5EF4-FFF2-40B4-BE49-F238E27FC236}">
                  <a16:creationId xmlns:a16="http://schemas.microsoft.com/office/drawing/2014/main" id="{4B068222-5593-4D0E-B1AB-BB7F2106F4B5}"/>
                </a:ext>
              </a:extLst>
            </p:cNvPr>
            <p:cNvSpPr/>
            <p:nvPr/>
          </p:nvSpPr>
          <p:spPr>
            <a:xfrm>
              <a:off x="4384765" y="4698853"/>
              <a:ext cx="1143000" cy="301752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DDCE2EBC-D0CC-B614-02A7-847B9F9B681A}"/>
                </a:ext>
              </a:extLst>
            </p:cNvPr>
            <p:cNvSpPr txBox="1"/>
            <p:nvPr/>
          </p:nvSpPr>
          <p:spPr>
            <a:xfrm>
              <a:off x="4384765" y="4698853"/>
              <a:ext cx="114300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+0.054</a:t>
              </a:r>
            </a:p>
          </p:txBody>
        </p:sp>
        <p:sp>
          <p:nvSpPr>
            <p:cNvPr id="79" name="Rectangle 75">
              <a:extLst>
                <a:ext uri="{FF2B5EF4-FFF2-40B4-BE49-F238E27FC236}">
                  <a16:creationId xmlns:a16="http://schemas.microsoft.com/office/drawing/2014/main" id="{22210D4B-DC25-88AC-4655-EDED68816618}"/>
                </a:ext>
              </a:extLst>
            </p:cNvPr>
            <p:cNvSpPr/>
            <p:nvPr/>
          </p:nvSpPr>
          <p:spPr>
            <a:xfrm>
              <a:off x="498565" y="5000605"/>
              <a:ext cx="1234440" cy="301752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640DFA6B-1F10-CA78-BE0B-57CB75C32886}"/>
                </a:ext>
              </a:extLst>
            </p:cNvPr>
            <p:cNvSpPr txBox="1"/>
            <p:nvPr/>
          </p:nvSpPr>
          <p:spPr>
            <a:xfrm>
              <a:off x="498565" y="5000605"/>
              <a:ext cx="123444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AUPRC</a:t>
              </a:r>
            </a:p>
          </p:txBody>
        </p:sp>
        <p:sp>
          <p:nvSpPr>
            <p:cNvPr id="81" name="Rectangle 77">
              <a:extLst>
                <a:ext uri="{FF2B5EF4-FFF2-40B4-BE49-F238E27FC236}">
                  <a16:creationId xmlns:a16="http://schemas.microsoft.com/office/drawing/2014/main" id="{B201164A-446A-1D2B-6D5E-FFFC6A3FC57F}"/>
                </a:ext>
              </a:extLst>
            </p:cNvPr>
            <p:cNvSpPr/>
            <p:nvPr/>
          </p:nvSpPr>
          <p:spPr>
            <a:xfrm>
              <a:off x="1778725" y="5000605"/>
              <a:ext cx="1234440" cy="301752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5464CB76-63A1-3083-E9E5-ED466FE1B1C8}"/>
                </a:ext>
              </a:extLst>
            </p:cNvPr>
            <p:cNvSpPr txBox="1"/>
            <p:nvPr/>
          </p:nvSpPr>
          <p:spPr>
            <a:xfrm>
              <a:off x="1778725" y="5000605"/>
              <a:ext cx="123444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0.501 [0.297,0.694]</a:t>
              </a:r>
            </a:p>
          </p:txBody>
        </p:sp>
        <p:sp>
          <p:nvSpPr>
            <p:cNvPr id="83" name="Rectangle 79">
              <a:extLst>
                <a:ext uri="{FF2B5EF4-FFF2-40B4-BE49-F238E27FC236}">
                  <a16:creationId xmlns:a16="http://schemas.microsoft.com/office/drawing/2014/main" id="{32780815-BDF1-3275-214B-E14B91C51180}"/>
                </a:ext>
              </a:extLst>
            </p:cNvPr>
            <p:cNvSpPr/>
            <p:nvPr/>
          </p:nvSpPr>
          <p:spPr>
            <a:xfrm>
              <a:off x="3058885" y="5000605"/>
              <a:ext cx="1280160" cy="301752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4FEDB252-0B82-D986-F7F8-14D9A5C37071}"/>
                </a:ext>
              </a:extLst>
            </p:cNvPr>
            <p:cNvSpPr txBox="1"/>
            <p:nvPr/>
          </p:nvSpPr>
          <p:spPr>
            <a:xfrm>
              <a:off x="3058885" y="5000605"/>
              <a:ext cx="128016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0.555 [0.361,0.764]</a:t>
              </a:r>
            </a:p>
          </p:txBody>
        </p:sp>
        <p:sp>
          <p:nvSpPr>
            <p:cNvPr id="85" name="Rectangle 81">
              <a:extLst>
                <a:ext uri="{FF2B5EF4-FFF2-40B4-BE49-F238E27FC236}">
                  <a16:creationId xmlns:a16="http://schemas.microsoft.com/office/drawing/2014/main" id="{11FCFFD1-3FC7-4D5C-057B-9F1DCDFA5A1A}"/>
                </a:ext>
              </a:extLst>
            </p:cNvPr>
            <p:cNvSpPr/>
            <p:nvPr/>
          </p:nvSpPr>
          <p:spPr>
            <a:xfrm>
              <a:off x="4384765" y="5000605"/>
              <a:ext cx="1143000" cy="301752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A5CE105A-0901-F94F-9F51-BB8380D6C45E}"/>
                </a:ext>
              </a:extLst>
            </p:cNvPr>
            <p:cNvSpPr txBox="1"/>
            <p:nvPr/>
          </p:nvSpPr>
          <p:spPr>
            <a:xfrm>
              <a:off x="4384765" y="5000605"/>
              <a:ext cx="114300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+0.054</a:t>
              </a:r>
            </a:p>
          </p:txBody>
        </p:sp>
        <p:sp>
          <p:nvSpPr>
            <p:cNvPr id="87" name="Rectangle 83">
              <a:extLst>
                <a:ext uri="{FF2B5EF4-FFF2-40B4-BE49-F238E27FC236}">
                  <a16:creationId xmlns:a16="http://schemas.microsoft.com/office/drawing/2014/main" id="{16FCE008-C226-3AA1-F348-12955E04CFFE}"/>
                </a:ext>
              </a:extLst>
            </p:cNvPr>
            <p:cNvSpPr/>
            <p:nvPr/>
          </p:nvSpPr>
          <p:spPr>
            <a:xfrm>
              <a:off x="498565" y="5302357"/>
              <a:ext cx="1234440" cy="301752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A099FA6A-CF80-30A7-1F52-FE7505E42505}"/>
                </a:ext>
              </a:extLst>
            </p:cNvPr>
            <p:cNvSpPr txBox="1"/>
            <p:nvPr/>
          </p:nvSpPr>
          <p:spPr>
            <a:xfrm>
              <a:off x="498565" y="5302357"/>
              <a:ext cx="123444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Brier</a:t>
              </a:r>
            </a:p>
          </p:txBody>
        </p:sp>
        <p:sp>
          <p:nvSpPr>
            <p:cNvPr id="89" name="Rectangle 85">
              <a:extLst>
                <a:ext uri="{FF2B5EF4-FFF2-40B4-BE49-F238E27FC236}">
                  <a16:creationId xmlns:a16="http://schemas.microsoft.com/office/drawing/2014/main" id="{64886F15-0469-6CFA-FD96-3756603AFEA8}"/>
                </a:ext>
              </a:extLst>
            </p:cNvPr>
            <p:cNvSpPr/>
            <p:nvPr/>
          </p:nvSpPr>
          <p:spPr>
            <a:xfrm>
              <a:off x="1778725" y="5302357"/>
              <a:ext cx="1234440" cy="301752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2AB177EF-8C64-A9E6-BC95-916527C7918D}"/>
                </a:ext>
              </a:extLst>
            </p:cNvPr>
            <p:cNvSpPr txBox="1"/>
            <p:nvPr/>
          </p:nvSpPr>
          <p:spPr>
            <a:xfrm>
              <a:off x="1778725" y="5302357"/>
              <a:ext cx="123444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0.180 [0.153,0.212]</a:t>
              </a:r>
            </a:p>
          </p:txBody>
        </p:sp>
        <p:sp>
          <p:nvSpPr>
            <p:cNvPr id="91" name="Rectangle 87">
              <a:extLst>
                <a:ext uri="{FF2B5EF4-FFF2-40B4-BE49-F238E27FC236}">
                  <a16:creationId xmlns:a16="http://schemas.microsoft.com/office/drawing/2014/main" id="{B9F4E090-7913-6BE2-C075-09A71246713F}"/>
                </a:ext>
              </a:extLst>
            </p:cNvPr>
            <p:cNvSpPr/>
            <p:nvPr/>
          </p:nvSpPr>
          <p:spPr>
            <a:xfrm>
              <a:off x="3058885" y="5302357"/>
              <a:ext cx="1280160" cy="301752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C2CC3CE8-F687-9F86-1FF6-8C21F3276B58}"/>
                </a:ext>
              </a:extLst>
            </p:cNvPr>
            <p:cNvSpPr txBox="1"/>
            <p:nvPr/>
          </p:nvSpPr>
          <p:spPr>
            <a:xfrm>
              <a:off x="3058885" y="5302357"/>
              <a:ext cx="128016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0.212 [0.177,0.249]</a:t>
              </a:r>
            </a:p>
          </p:txBody>
        </p:sp>
        <p:sp>
          <p:nvSpPr>
            <p:cNvPr id="93" name="Rectangle 89">
              <a:extLst>
                <a:ext uri="{FF2B5EF4-FFF2-40B4-BE49-F238E27FC236}">
                  <a16:creationId xmlns:a16="http://schemas.microsoft.com/office/drawing/2014/main" id="{D21B2D2A-0E3D-1F83-5249-37423A0C0EAE}"/>
                </a:ext>
              </a:extLst>
            </p:cNvPr>
            <p:cNvSpPr/>
            <p:nvPr/>
          </p:nvSpPr>
          <p:spPr>
            <a:xfrm>
              <a:off x="4384765" y="5302357"/>
              <a:ext cx="1143000" cy="301752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074F3D5E-B096-5258-32BC-97347A32F3AE}"/>
                </a:ext>
              </a:extLst>
            </p:cNvPr>
            <p:cNvSpPr txBox="1"/>
            <p:nvPr/>
          </p:nvSpPr>
          <p:spPr>
            <a:xfrm>
              <a:off x="4384765" y="5302357"/>
              <a:ext cx="114300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+0.032</a:t>
              </a:r>
            </a:p>
          </p:txBody>
        </p:sp>
        <p:sp>
          <p:nvSpPr>
            <p:cNvPr id="95" name="Rectangle 91">
              <a:extLst>
                <a:ext uri="{FF2B5EF4-FFF2-40B4-BE49-F238E27FC236}">
                  <a16:creationId xmlns:a16="http://schemas.microsoft.com/office/drawing/2014/main" id="{E8F38E91-B0FC-7207-D72A-76808DB06C90}"/>
                </a:ext>
              </a:extLst>
            </p:cNvPr>
            <p:cNvSpPr/>
            <p:nvPr/>
          </p:nvSpPr>
          <p:spPr>
            <a:xfrm>
              <a:off x="498565" y="5604109"/>
              <a:ext cx="1234440" cy="301752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D15A5991-E309-A450-A77D-46148C6A62E3}"/>
                </a:ext>
              </a:extLst>
            </p:cNvPr>
            <p:cNvSpPr txBox="1"/>
            <p:nvPr/>
          </p:nvSpPr>
          <p:spPr>
            <a:xfrm>
              <a:off x="498565" y="5604109"/>
              <a:ext cx="123444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F1</a:t>
              </a:r>
            </a:p>
          </p:txBody>
        </p:sp>
        <p:sp>
          <p:nvSpPr>
            <p:cNvPr id="97" name="Rectangle 93">
              <a:extLst>
                <a:ext uri="{FF2B5EF4-FFF2-40B4-BE49-F238E27FC236}">
                  <a16:creationId xmlns:a16="http://schemas.microsoft.com/office/drawing/2014/main" id="{33B3946A-74A2-5302-D057-B4A391AC5A1C}"/>
                </a:ext>
              </a:extLst>
            </p:cNvPr>
            <p:cNvSpPr/>
            <p:nvPr/>
          </p:nvSpPr>
          <p:spPr>
            <a:xfrm>
              <a:off x="1778725" y="5604109"/>
              <a:ext cx="1234440" cy="301752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8EBC084A-5AF6-AF7F-26C1-1CA28E0A9041}"/>
                </a:ext>
              </a:extLst>
            </p:cNvPr>
            <p:cNvSpPr txBox="1"/>
            <p:nvPr/>
          </p:nvSpPr>
          <p:spPr>
            <a:xfrm>
              <a:off x="1778725" y="5604109"/>
              <a:ext cx="123444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0.395 [0.254,0.523]</a:t>
              </a:r>
            </a:p>
          </p:txBody>
        </p:sp>
        <p:sp>
          <p:nvSpPr>
            <p:cNvPr id="99" name="Rectangle 95">
              <a:extLst>
                <a:ext uri="{FF2B5EF4-FFF2-40B4-BE49-F238E27FC236}">
                  <a16:creationId xmlns:a16="http://schemas.microsoft.com/office/drawing/2014/main" id="{B809750C-DFBC-17D7-6AF4-67904CF5A245}"/>
                </a:ext>
              </a:extLst>
            </p:cNvPr>
            <p:cNvSpPr/>
            <p:nvPr/>
          </p:nvSpPr>
          <p:spPr>
            <a:xfrm>
              <a:off x="3058885" y="5604109"/>
              <a:ext cx="1280160" cy="301752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77469753-520E-0F62-0D69-3EF3B000A840}"/>
                </a:ext>
              </a:extLst>
            </p:cNvPr>
            <p:cNvSpPr txBox="1"/>
            <p:nvPr/>
          </p:nvSpPr>
          <p:spPr>
            <a:xfrm>
              <a:off x="3058885" y="5604109"/>
              <a:ext cx="128016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0.444 [0.303,0.578]</a:t>
              </a:r>
            </a:p>
          </p:txBody>
        </p:sp>
        <p:sp>
          <p:nvSpPr>
            <p:cNvPr id="101" name="Rectangle 97">
              <a:extLst>
                <a:ext uri="{FF2B5EF4-FFF2-40B4-BE49-F238E27FC236}">
                  <a16:creationId xmlns:a16="http://schemas.microsoft.com/office/drawing/2014/main" id="{4EC6354E-3420-C323-809C-B9AF2EEEE91D}"/>
                </a:ext>
              </a:extLst>
            </p:cNvPr>
            <p:cNvSpPr/>
            <p:nvPr/>
          </p:nvSpPr>
          <p:spPr>
            <a:xfrm>
              <a:off x="4384765" y="5604109"/>
              <a:ext cx="1143000" cy="301752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EE86D8F7-3826-3E72-3ACC-EEB43635203E}"/>
                </a:ext>
              </a:extLst>
            </p:cNvPr>
            <p:cNvSpPr txBox="1"/>
            <p:nvPr/>
          </p:nvSpPr>
          <p:spPr>
            <a:xfrm>
              <a:off x="4384765" y="5604109"/>
              <a:ext cx="114300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+0.049</a:t>
              </a:r>
            </a:p>
          </p:txBody>
        </p:sp>
      </p:grpSp>
      <p:sp>
        <p:nvSpPr>
          <p:cNvPr id="103" name="TextBox 102">
            <a:extLst>
              <a:ext uri="{FF2B5EF4-FFF2-40B4-BE49-F238E27FC236}">
                <a16:creationId xmlns:a16="http://schemas.microsoft.com/office/drawing/2014/main" id="{94F793B2-DB05-5E39-A870-A85825E8C515}"/>
              </a:ext>
            </a:extLst>
          </p:cNvPr>
          <p:cNvSpPr txBox="1"/>
          <p:nvPr/>
        </p:nvSpPr>
        <p:spPr>
          <a:xfrm>
            <a:off x="6030685" y="1698171"/>
            <a:ext cx="6035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  <a:latin typeface="맑은 고딕"/>
              </a:rPr>
              <a:t>조건별 ROC 비교  (norm 기준, M1·M2·M2₂·M3 포함)</a:t>
            </a:r>
          </a:p>
        </p:txBody>
      </p:sp>
      <p:pic>
        <p:nvPicPr>
          <p:cNvPr id="104" name="Picture 100" descr="roc_all_models_norm.png">
            <a:extLst>
              <a:ext uri="{FF2B5EF4-FFF2-40B4-BE49-F238E27FC236}">
                <a16:creationId xmlns:a16="http://schemas.microsoft.com/office/drawing/2014/main" id="{F6B19220-162F-CF2C-A66D-14A61EA909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0685" y="2018210"/>
            <a:ext cx="2926080" cy="1627439"/>
          </a:xfrm>
          <a:prstGeom prst="rect">
            <a:avLst/>
          </a:prstGeom>
        </p:spPr>
      </p:pic>
      <p:sp>
        <p:nvSpPr>
          <p:cNvPr id="105" name="TextBox 104">
            <a:extLst>
              <a:ext uri="{FF2B5EF4-FFF2-40B4-BE49-F238E27FC236}">
                <a16:creationId xmlns:a16="http://schemas.microsoft.com/office/drawing/2014/main" id="{7F36B3D7-16FA-C27D-27D1-8EF4830457AF}"/>
              </a:ext>
            </a:extLst>
          </p:cNvPr>
          <p:cNvSpPr txBox="1"/>
          <p:nvPr/>
        </p:nvSpPr>
        <p:spPr>
          <a:xfrm>
            <a:off x="6030685" y="3765343"/>
            <a:ext cx="2926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9EA3AB"/>
                </a:solidFill>
                <a:latin typeface="맑은 고딕"/>
              </a:rPr>
              <a:t>BCE+AEC128</a:t>
            </a:r>
          </a:p>
        </p:txBody>
      </p:sp>
      <p:pic>
        <p:nvPicPr>
          <p:cNvPr id="106" name="Picture 102" descr="roc_all_models_norm.png">
            <a:extLst>
              <a:ext uri="{FF2B5EF4-FFF2-40B4-BE49-F238E27FC236}">
                <a16:creationId xmlns:a16="http://schemas.microsoft.com/office/drawing/2014/main" id="{20CC58E5-D786-CF80-CADD-2F436D3613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39645" y="2018210"/>
            <a:ext cx="2926080" cy="1627439"/>
          </a:xfrm>
          <a:prstGeom prst="rect">
            <a:avLst/>
          </a:prstGeom>
        </p:spPr>
      </p:pic>
      <p:sp>
        <p:nvSpPr>
          <p:cNvPr id="107" name="TextBox 106">
            <a:extLst>
              <a:ext uri="{FF2B5EF4-FFF2-40B4-BE49-F238E27FC236}">
                <a16:creationId xmlns:a16="http://schemas.microsoft.com/office/drawing/2014/main" id="{24F1D452-4716-D367-69EE-D0BC41B6FB7F}"/>
              </a:ext>
            </a:extLst>
          </p:cNvPr>
          <p:cNvSpPr txBox="1"/>
          <p:nvPr/>
        </p:nvSpPr>
        <p:spPr>
          <a:xfrm>
            <a:off x="9139645" y="3765343"/>
            <a:ext cx="2926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9EA3AB"/>
                </a:solidFill>
                <a:latin typeface="맑은 고딕"/>
              </a:rPr>
              <a:t>BCE+AEC256</a:t>
            </a:r>
          </a:p>
        </p:txBody>
      </p:sp>
      <p:pic>
        <p:nvPicPr>
          <p:cNvPr id="108" name="Picture 104" descr="roc_all_models_norm.png">
            <a:extLst>
              <a:ext uri="{FF2B5EF4-FFF2-40B4-BE49-F238E27FC236}">
                <a16:creationId xmlns:a16="http://schemas.microsoft.com/office/drawing/2014/main" id="{2D4FEC8A-14B0-00DB-761A-1C79285A6D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0685" y="4086204"/>
            <a:ext cx="2926080" cy="1654872"/>
          </a:xfrm>
          <a:prstGeom prst="rect">
            <a:avLst/>
          </a:prstGeom>
        </p:spPr>
      </p:pic>
      <p:sp>
        <p:nvSpPr>
          <p:cNvPr id="109" name="TextBox 108">
            <a:extLst>
              <a:ext uri="{FF2B5EF4-FFF2-40B4-BE49-F238E27FC236}">
                <a16:creationId xmlns:a16="http://schemas.microsoft.com/office/drawing/2014/main" id="{80684AC4-8DA0-6006-2D47-02A4D68E417F}"/>
              </a:ext>
            </a:extLst>
          </p:cNvPr>
          <p:cNvSpPr txBox="1"/>
          <p:nvPr/>
        </p:nvSpPr>
        <p:spPr>
          <a:xfrm>
            <a:off x="6030685" y="5759364"/>
            <a:ext cx="2926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9EA3AB"/>
                </a:solidFill>
                <a:latin typeface="맑은 고딕"/>
              </a:rPr>
              <a:t>Focal+AEC128</a:t>
            </a:r>
          </a:p>
        </p:txBody>
      </p:sp>
      <p:pic>
        <p:nvPicPr>
          <p:cNvPr id="110" name="Picture 106" descr="roc_all_models_norm.png">
            <a:extLst>
              <a:ext uri="{FF2B5EF4-FFF2-40B4-BE49-F238E27FC236}">
                <a16:creationId xmlns:a16="http://schemas.microsoft.com/office/drawing/2014/main" id="{FD70CC30-3900-5E33-E85C-329298040D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39645" y="4086204"/>
            <a:ext cx="2926080" cy="1654872"/>
          </a:xfrm>
          <a:prstGeom prst="rect">
            <a:avLst/>
          </a:prstGeom>
        </p:spPr>
      </p:pic>
      <p:sp>
        <p:nvSpPr>
          <p:cNvPr id="111" name="TextBox 110">
            <a:extLst>
              <a:ext uri="{FF2B5EF4-FFF2-40B4-BE49-F238E27FC236}">
                <a16:creationId xmlns:a16="http://schemas.microsoft.com/office/drawing/2014/main" id="{404DCDD3-0CDC-11E1-B786-087133BB6478}"/>
              </a:ext>
            </a:extLst>
          </p:cNvPr>
          <p:cNvSpPr txBox="1"/>
          <p:nvPr/>
        </p:nvSpPr>
        <p:spPr>
          <a:xfrm>
            <a:off x="9139645" y="5759364"/>
            <a:ext cx="2926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9EA3AB"/>
                </a:solidFill>
                <a:latin typeface="맑은 고딕"/>
              </a:rPr>
              <a:t>Focal+AEC256</a:t>
            </a:r>
          </a:p>
        </p:txBody>
      </p:sp>
    </p:spTree>
    <p:extLst>
      <p:ext uri="{BB962C8B-B14F-4D97-AF65-F5344CB8AC3E}">
        <p14:creationId xmlns:p14="http://schemas.microsoft.com/office/powerpoint/2010/main" val="27027337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74844-97C8-977F-E6BF-C1CB699D4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2F673A-DFA6-7BA8-F689-89F7035D6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6DF6F6-DDFF-913F-0597-EA9F88A94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21</a:t>
            </a:fld>
            <a:endParaRPr lang="ko-KR" altLang="en-US" dirty="0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D84D6DB4-26C0-C412-A838-4D327E28BF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Model 1 (Clinic) vs Model 3 (Clinic + AEC + Scanner) </a:t>
            </a:r>
            <a:r>
              <a:rPr lang="ko-KR" altLang="en-US" dirty="0"/>
              <a:t>비교</a:t>
            </a:r>
          </a:p>
        </p:txBody>
      </p:sp>
      <p:sp>
        <p:nvSpPr>
          <p:cNvPr id="6" name="Rectangle 4">
            <a:extLst>
              <a:ext uri="{FF2B5EF4-FFF2-40B4-BE49-F238E27FC236}">
                <a16:creationId xmlns:a16="http://schemas.microsoft.com/office/drawing/2014/main" id="{83580486-1EC9-7676-1DC8-EC6428F6E2DE}"/>
              </a:ext>
            </a:extLst>
          </p:cNvPr>
          <p:cNvSpPr/>
          <p:nvPr/>
        </p:nvSpPr>
        <p:spPr>
          <a:xfrm>
            <a:off x="361405" y="1698171"/>
            <a:ext cx="5486400" cy="4262361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FF901EE-7518-54FA-4164-93C15C4184E3}"/>
              </a:ext>
            </a:extLst>
          </p:cNvPr>
          <p:cNvSpPr txBox="1"/>
          <p:nvPr/>
        </p:nvSpPr>
        <p:spPr>
          <a:xfrm>
            <a:off x="544285" y="1771323"/>
            <a:ext cx="4963923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 dirty="0">
                <a:solidFill>
                  <a:srgbClr val="1A1A2E"/>
                </a:solidFill>
                <a:latin typeface="맑은 고딕"/>
              </a:rPr>
              <a:t>DeLong Test — M1(LR) vs M</a:t>
            </a:r>
            <a:r>
              <a:rPr lang="en-US" sz="1400" b="1" i="0" dirty="0">
                <a:solidFill>
                  <a:srgbClr val="1A1A2E"/>
                </a:solidFill>
                <a:latin typeface="맑은 고딕"/>
              </a:rPr>
              <a:t>3</a:t>
            </a:r>
            <a:r>
              <a:rPr sz="1400" b="1" i="0" dirty="0">
                <a:solidFill>
                  <a:srgbClr val="1A1A2E"/>
                </a:solidFill>
                <a:latin typeface="맑은 고딕"/>
              </a:rPr>
              <a:t>(</a:t>
            </a:r>
            <a:r>
              <a:rPr sz="1400" b="1" i="0" dirty="0" err="1">
                <a:solidFill>
                  <a:srgbClr val="1A1A2E"/>
                </a:solidFill>
                <a:latin typeface="맑은 고딕"/>
              </a:rPr>
              <a:t>CrossAttn</a:t>
            </a:r>
            <a:r>
              <a:rPr sz="1400" b="1" i="0" dirty="0">
                <a:solidFill>
                  <a:srgbClr val="1A1A2E"/>
                </a:solidFill>
                <a:latin typeface="맑은 고딕"/>
              </a:rPr>
              <a:t>)  [ norm </a:t>
            </a:r>
            <a:r>
              <a:rPr sz="1400" b="1" i="0" dirty="0" err="1">
                <a:solidFill>
                  <a:srgbClr val="1A1A2E"/>
                </a:solidFill>
                <a:latin typeface="맑은 고딕"/>
              </a:rPr>
              <a:t>조건</a:t>
            </a:r>
            <a:r>
              <a:rPr sz="1400" b="1" i="0" dirty="0">
                <a:solidFill>
                  <a:srgbClr val="1A1A2E"/>
                </a:solidFill>
                <a:latin typeface="맑은 고딕"/>
              </a:rPr>
              <a:t> ]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B9E30BA-5AD1-88CC-E121-017E377DFD8C}"/>
              </a:ext>
            </a:extLst>
          </p:cNvPr>
          <p:cNvSpPr txBox="1"/>
          <p:nvPr/>
        </p:nvSpPr>
        <p:spPr>
          <a:xfrm>
            <a:off x="544285" y="4086204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  <a:latin typeface="맑은 고딕"/>
              </a:rPr>
              <a:t>Bootstrap 95% CI — BCE+AEC128+norm 기준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72550613-7EEC-E520-58ED-2B42BC343E7B}"/>
              </a:ext>
            </a:extLst>
          </p:cNvPr>
          <p:cNvSpPr txBox="1"/>
          <p:nvPr/>
        </p:nvSpPr>
        <p:spPr>
          <a:xfrm>
            <a:off x="6030685" y="1698171"/>
            <a:ext cx="6035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  <a:latin typeface="맑은 고딕"/>
              </a:rPr>
              <a:t>조건별 ROC 비교  (norm 기준, M1·M2·M2₂·M3 포함)</a:t>
            </a:r>
          </a:p>
        </p:txBody>
      </p:sp>
      <p:pic>
        <p:nvPicPr>
          <p:cNvPr id="104" name="Picture 100" descr="roc_all_models_norm.png">
            <a:extLst>
              <a:ext uri="{FF2B5EF4-FFF2-40B4-BE49-F238E27FC236}">
                <a16:creationId xmlns:a16="http://schemas.microsoft.com/office/drawing/2014/main" id="{AAF91CA0-BFC7-8635-1639-11FC263D50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0685" y="2018210"/>
            <a:ext cx="2926080" cy="1627439"/>
          </a:xfrm>
          <a:prstGeom prst="rect">
            <a:avLst/>
          </a:prstGeom>
        </p:spPr>
      </p:pic>
      <p:sp>
        <p:nvSpPr>
          <p:cNvPr id="105" name="TextBox 104">
            <a:extLst>
              <a:ext uri="{FF2B5EF4-FFF2-40B4-BE49-F238E27FC236}">
                <a16:creationId xmlns:a16="http://schemas.microsoft.com/office/drawing/2014/main" id="{1AF7CC69-7E91-3940-AED5-98DC4D83A142}"/>
              </a:ext>
            </a:extLst>
          </p:cNvPr>
          <p:cNvSpPr txBox="1"/>
          <p:nvPr/>
        </p:nvSpPr>
        <p:spPr>
          <a:xfrm>
            <a:off x="6030685" y="3765343"/>
            <a:ext cx="2926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9EA3AB"/>
                </a:solidFill>
                <a:latin typeface="맑은 고딕"/>
              </a:rPr>
              <a:t>BCE+AEC128</a:t>
            </a:r>
          </a:p>
        </p:txBody>
      </p:sp>
      <p:pic>
        <p:nvPicPr>
          <p:cNvPr id="106" name="Picture 102" descr="roc_all_models_norm.png">
            <a:extLst>
              <a:ext uri="{FF2B5EF4-FFF2-40B4-BE49-F238E27FC236}">
                <a16:creationId xmlns:a16="http://schemas.microsoft.com/office/drawing/2014/main" id="{3D1B2EFE-966B-4E5F-ADE7-5E724AA4C2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39645" y="2018210"/>
            <a:ext cx="2926080" cy="1627439"/>
          </a:xfrm>
          <a:prstGeom prst="rect">
            <a:avLst/>
          </a:prstGeom>
        </p:spPr>
      </p:pic>
      <p:sp>
        <p:nvSpPr>
          <p:cNvPr id="107" name="TextBox 106">
            <a:extLst>
              <a:ext uri="{FF2B5EF4-FFF2-40B4-BE49-F238E27FC236}">
                <a16:creationId xmlns:a16="http://schemas.microsoft.com/office/drawing/2014/main" id="{360C246A-BB48-4674-BC6D-814B8E548764}"/>
              </a:ext>
            </a:extLst>
          </p:cNvPr>
          <p:cNvSpPr txBox="1"/>
          <p:nvPr/>
        </p:nvSpPr>
        <p:spPr>
          <a:xfrm>
            <a:off x="9139645" y="3765343"/>
            <a:ext cx="2926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9EA3AB"/>
                </a:solidFill>
                <a:latin typeface="맑은 고딕"/>
              </a:rPr>
              <a:t>BCE+AEC256</a:t>
            </a:r>
          </a:p>
        </p:txBody>
      </p:sp>
      <p:pic>
        <p:nvPicPr>
          <p:cNvPr id="108" name="Picture 104" descr="roc_all_models_norm.png">
            <a:extLst>
              <a:ext uri="{FF2B5EF4-FFF2-40B4-BE49-F238E27FC236}">
                <a16:creationId xmlns:a16="http://schemas.microsoft.com/office/drawing/2014/main" id="{7AEB5491-9700-F873-69DA-A3FE7EBF8C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0685" y="4086204"/>
            <a:ext cx="2926080" cy="1654872"/>
          </a:xfrm>
          <a:prstGeom prst="rect">
            <a:avLst/>
          </a:prstGeom>
        </p:spPr>
      </p:pic>
      <p:sp>
        <p:nvSpPr>
          <p:cNvPr id="109" name="TextBox 108">
            <a:extLst>
              <a:ext uri="{FF2B5EF4-FFF2-40B4-BE49-F238E27FC236}">
                <a16:creationId xmlns:a16="http://schemas.microsoft.com/office/drawing/2014/main" id="{8F0752DF-6244-70C9-2B76-48F5354ABB52}"/>
              </a:ext>
            </a:extLst>
          </p:cNvPr>
          <p:cNvSpPr txBox="1"/>
          <p:nvPr/>
        </p:nvSpPr>
        <p:spPr>
          <a:xfrm>
            <a:off x="6030685" y="5759364"/>
            <a:ext cx="2926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9EA3AB"/>
                </a:solidFill>
                <a:latin typeface="맑은 고딕"/>
              </a:rPr>
              <a:t>Focal+AEC128</a:t>
            </a:r>
          </a:p>
        </p:txBody>
      </p:sp>
      <p:pic>
        <p:nvPicPr>
          <p:cNvPr id="110" name="Picture 106" descr="roc_all_models_norm.png">
            <a:extLst>
              <a:ext uri="{FF2B5EF4-FFF2-40B4-BE49-F238E27FC236}">
                <a16:creationId xmlns:a16="http://schemas.microsoft.com/office/drawing/2014/main" id="{7949A924-10B3-C74B-E00A-0A6DCEB600F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39645" y="4086204"/>
            <a:ext cx="2926080" cy="1654872"/>
          </a:xfrm>
          <a:prstGeom prst="rect">
            <a:avLst/>
          </a:prstGeom>
        </p:spPr>
      </p:pic>
      <p:sp>
        <p:nvSpPr>
          <p:cNvPr id="162" name="Rectangle 6">
            <a:extLst>
              <a:ext uri="{FF2B5EF4-FFF2-40B4-BE49-F238E27FC236}">
                <a16:creationId xmlns:a16="http://schemas.microsoft.com/office/drawing/2014/main" id="{905890AF-CB0A-0FF3-335A-5EB5D054A3BA}"/>
              </a:ext>
            </a:extLst>
          </p:cNvPr>
          <p:cNvSpPr/>
          <p:nvPr/>
        </p:nvSpPr>
        <p:spPr>
          <a:xfrm>
            <a:off x="544285" y="2079100"/>
            <a:ext cx="5120640" cy="36576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D2FDEBF0-54BA-A85C-2D94-008D99066F22}"/>
              </a:ext>
            </a:extLst>
          </p:cNvPr>
          <p:cNvSpPr txBox="1"/>
          <p:nvPr/>
        </p:nvSpPr>
        <p:spPr>
          <a:xfrm>
            <a:off x="9139645" y="5759364"/>
            <a:ext cx="2926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0" i="0">
                <a:solidFill>
                  <a:srgbClr val="9EA3AB"/>
                </a:solidFill>
                <a:latin typeface="맑은 고딕"/>
              </a:rPr>
              <a:t>Focal+AEC256</a:t>
            </a:r>
          </a:p>
        </p:txBody>
      </p:sp>
      <p:grpSp>
        <p:nvGrpSpPr>
          <p:cNvPr id="214" name="그룹 213">
            <a:extLst>
              <a:ext uri="{FF2B5EF4-FFF2-40B4-BE49-F238E27FC236}">
                <a16:creationId xmlns:a16="http://schemas.microsoft.com/office/drawing/2014/main" id="{0353F65E-0ED8-C869-5610-5F0C034F22B1}"/>
              </a:ext>
            </a:extLst>
          </p:cNvPr>
          <p:cNvGrpSpPr/>
          <p:nvPr/>
        </p:nvGrpSpPr>
        <p:grpSpPr>
          <a:xfrm>
            <a:off x="498565" y="2210863"/>
            <a:ext cx="5212080" cy="1755648"/>
            <a:chOff x="498565" y="2139334"/>
            <a:chExt cx="5212080" cy="1755648"/>
          </a:xfrm>
        </p:grpSpPr>
        <p:sp>
          <p:nvSpPr>
            <p:cNvPr id="163" name="Rectangle 7">
              <a:extLst>
                <a:ext uri="{FF2B5EF4-FFF2-40B4-BE49-F238E27FC236}">
                  <a16:creationId xmlns:a16="http://schemas.microsoft.com/office/drawing/2014/main" id="{8C43CFA6-3E89-8638-5BBB-05756C8C8132}"/>
                </a:ext>
              </a:extLst>
            </p:cNvPr>
            <p:cNvSpPr/>
            <p:nvPr/>
          </p:nvSpPr>
          <p:spPr>
            <a:xfrm>
              <a:off x="498565" y="2139334"/>
              <a:ext cx="141732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D02E01AA-04CA-8FE1-802B-51323045053D}"/>
                </a:ext>
              </a:extLst>
            </p:cNvPr>
            <p:cNvSpPr txBox="1"/>
            <p:nvPr/>
          </p:nvSpPr>
          <p:spPr>
            <a:xfrm>
              <a:off x="498565" y="2139334"/>
              <a:ext cx="141732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시나리오</a:t>
              </a:r>
            </a:p>
          </p:txBody>
        </p:sp>
        <p:sp>
          <p:nvSpPr>
            <p:cNvPr id="165" name="Rectangle 9">
              <a:extLst>
                <a:ext uri="{FF2B5EF4-FFF2-40B4-BE49-F238E27FC236}">
                  <a16:creationId xmlns:a16="http://schemas.microsoft.com/office/drawing/2014/main" id="{CAB46A84-67CD-40F1-35BA-17607D3FC1E6}"/>
                </a:ext>
              </a:extLst>
            </p:cNvPr>
            <p:cNvSpPr/>
            <p:nvPr/>
          </p:nvSpPr>
          <p:spPr>
            <a:xfrm>
              <a:off x="1961604" y="2139334"/>
              <a:ext cx="91440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2C17919D-59B4-74F4-7F9B-086F4345980E}"/>
                </a:ext>
              </a:extLst>
            </p:cNvPr>
            <p:cNvSpPr txBox="1"/>
            <p:nvPr/>
          </p:nvSpPr>
          <p:spPr>
            <a:xfrm>
              <a:off x="1961604" y="2139334"/>
              <a:ext cx="91440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M1 AUC</a:t>
              </a:r>
            </a:p>
          </p:txBody>
        </p:sp>
        <p:sp>
          <p:nvSpPr>
            <p:cNvPr id="167" name="Rectangle 11">
              <a:extLst>
                <a:ext uri="{FF2B5EF4-FFF2-40B4-BE49-F238E27FC236}">
                  <a16:creationId xmlns:a16="http://schemas.microsoft.com/office/drawing/2014/main" id="{7B51AF96-8D80-4100-A6F0-ACB842435689}"/>
                </a:ext>
              </a:extLst>
            </p:cNvPr>
            <p:cNvSpPr/>
            <p:nvPr/>
          </p:nvSpPr>
          <p:spPr>
            <a:xfrm>
              <a:off x="2921725" y="2139334"/>
              <a:ext cx="91440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6424BEC5-035F-9DC6-CD2B-535EBE70A8B0}"/>
                </a:ext>
              </a:extLst>
            </p:cNvPr>
            <p:cNvSpPr txBox="1"/>
            <p:nvPr/>
          </p:nvSpPr>
          <p:spPr>
            <a:xfrm>
              <a:off x="2921725" y="2139334"/>
              <a:ext cx="91440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M3 AUC</a:t>
              </a:r>
            </a:p>
          </p:txBody>
        </p:sp>
        <p:sp>
          <p:nvSpPr>
            <p:cNvPr id="169" name="Rectangle 13">
              <a:extLst>
                <a:ext uri="{FF2B5EF4-FFF2-40B4-BE49-F238E27FC236}">
                  <a16:creationId xmlns:a16="http://schemas.microsoft.com/office/drawing/2014/main" id="{C6B358DA-B78E-BD47-0197-B8E31BBB9828}"/>
                </a:ext>
              </a:extLst>
            </p:cNvPr>
            <p:cNvSpPr/>
            <p:nvPr/>
          </p:nvSpPr>
          <p:spPr>
            <a:xfrm>
              <a:off x="3881845" y="2139334"/>
              <a:ext cx="91440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0" name="TextBox 169">
              <a:extLst>
                <a:ext uri="{FF2B5EF4-FFF2-40B4-BE49-F238E27FC236}">
                  <a16:creationId xmlns:a16="http://schemas.microsoft.com/office/drawing/2014/main" id="{A6972C17-6AFB-467C-80DD-0C38B1FE1270}"/>
                </a:ext>
              </a:extLst>
            </p:cNvPr>
            <p:cNvSpPr txBox="1"/>
            <p:nvPr/>
          </p:nvSpPr>
          <p:spPr>
            <a:xfrm>
              <a:off x="3881845" y="2139334"/>
              <a:ext cx="91440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Δ AUC</a:t>
              </a:r>
            </a:p>
          </p:txBody>
        </p:sp>
        <p:sp>
          <p:nvSpPr>
            <p:cNvPr id="171" name="Rectangle 15">
              <a:extLst>
                <a:ext uri="{FF2B5EF4-FFF2-40B4-BE49-F238E27FC236}">
                  <a16:creationId xmlns:a16="http://schemas.microsoft.com/office/drawing/2014/main" id="{11574CE0-0AA7-7A9C-5AF1-D94E5A94FF12}"/>
                </a:ext>
              </a:extLst>
            </p:cNvPr>
            <p:cNvSpPr/>
            <p:nvPr/>
          </p:nvSpPr>
          <p:spPr>
            <a:xfrm>
              <a:off x="4841965" y="2139334"/>
              <a:ext cx="86868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2" name="TextBox 171">
              <a:extLst>
                <a:ext uri="{FF2B5EF4-FFF2-40B4-BE49-F238E27FC236}">
                  <a16:creationId xmlns:a16="http://schemas.microsoft.com/office/drawing/2014/main" id="{4367E656-B289-A2D8-B092-514D9245E8DE}"/>
                </a:ext>
              </a:extLst>
            </p:cNvPr>
            <p:cNvSpPr txBox="1"/>
            <p:nvPr/>
          </p:nvSpPr>
          <p:spPr>
            <a:xfrm>
              <a:off x="4841965" y="2139334"/>
              <a:ext cx="86868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p-val</a:t>
              </a:r>
            </a:p>
          </p:txBody>
        </p:sp>
        <p:sp>
          <p:nvSpPr>
            <p:cNvPr id="173" name="Rectangle 17">
              <a:extLst>
                <a:ext uri="{FF2B5EF4-FFF2-40B4-BE49-F238E27FC236}">
                  <a16:creationId xmlns:a16="http://schemas.microsoft.com/office/drawing/2014/main" id="{D282B7F9-7555-0A3D-7FA1-8108F3F7CD1E}"/>
                </a:ext>
              </a:extLst>
            </p:cNvPr>
            <p:cNvSpPr/>
            <p:nvPr/>
          </p:nvSpPr>
          <p:spPr>
            <a:xfrm>
              <a:off x="498565" y="2431942"/>
              <a:ext cx="141732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B4BD1091-5E50-469B-DA8A-9A89F0D61C97}"/>
                </a:ext>
              </a:extLst>
            </p:cNvPr>
            <p:cNvSpPr txBox="1"/>
            <p:nvPr/>
          </p:nvSpPr>
          <p:spPr>
            <a:xfrm>
              <a:off x="498565" y="2431942"/>
              <a:ext cx="141732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BCE+AEC128</a:t>
              </a:r>
            </a:p>
          </p:txBody>
        </p:sp>
        <p:sp>
          <p:nvSpPr>
            <p:cNvPr id="175" name="Rectangle 19">
              <a:extLst>
                <a:ext uri="{FF2B5EF4-FFF2-40B4-BE49-F238E27FC236}">
                  <a16:creationId xmlns:a16="http://schemas.microsoft.com/office/drawing/2014/main" id="{350B7186-3E7C-8BBC-73DF-0E0ACBBDC1B5}"/>
                </a:ext>
              </a:extLst>
            </p:cNvPr>
            <p:cNvSpPr/>
            <p:nvPr/>
          </p:nvSpPr>
          <p:spPr>
            <a:xfrm>
              <a:off x="1961604" y="2431942"/>
              <a:ext cx="91440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B0C9987D-4C13-F36C-7031-33677CC61372}"/>
                </a:ext>
              </a:extLst>
            </p:cNvPr>
            <p:cNvSpPr txBox="1"/>
            <p:nvPr/>
          </p:nvSpPr>
          <p:spPr>
            <a:xfrm>
              <a:off x="1961604" y="2431942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0.8325</a:t>
              </a:r>
            </a:p>
          </p:txBody>
        </p:sp>
        <p:sp>
          <p:nvSpPr>
            <p:cNvPr id="177" name="Rectangle 21">
              <a:extLst>
                <a:ext uri="{FF2B5EF4-FFF2-40B4-BE49-F238E27FC236}">
                  <a16:creationId xmlns:a16="http://schemas.microsoft.com/office/drawing/2014/main" id="{B5F24901-9649-C1C6-2258-C8458C2326B6}"/>
                </a:ext>
              </a:extLst>
            </p:cNvPr>
            <p:cNvSpPr/>
            <p:nvPr/>
          </p:nvSpPr>
          <p:spPr>
            <a:xfrm>
              <a:off x="2921725" y="2431942"/>
              <a:ext cx="91440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F6D1D12E-7EB2-37B3-57D5-EB2CB7431255}"/>
                </a:ext>
              </a:extLst>
            </p:cNvPr>
            <p:cNvSpPr txBox="1"/>
            <p:nvPr/>
          </p:nvSpPr>
          <p:spPr>
            <a:xfrm>
              <a:off x="2921725" y="2431942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 dirty="0">
                  <a:solidFill>
                    <a:srgbClr val="E87400"/>
                  </a:solidFill>
                  <a:latin typeface="맑은 고딕"/>
                </a:rPr>
                <a:t>0.8944</a:t>
              </a:r>
            </a:p>
          </p:txBody>
        </p:sp>
        <p:sp>
          <p:nvSpPr>
            <p:cNvPr id="179" name="Rectangle 23">
              <a:extLst>
                <a:ext uri="{FF2B5EF4-FFF2-40B4-BE49-F238E27FC236}">
                  <a16:creationId xmlns:a16="http://schemas.microsoft.com/office/drawing/2014/main" id="{2D8A1379-A1BD-0EFB-9A1D-DF65C92B5F89}"/>
                </a:ext>
              </a:extLst>
            </p:cNvPr>
            <p:cNvSpPr/>
            <p:nvPr/>
          </p:nvSpPr>
          <p:spPr>
            <a:xfrm>
              <a:off x="3881845" y="2431942"/>
              <a:ext cx="91440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0" name="TextBox 179">
              <a:extLst>
                <a:ext uri="{FF2B5EF4-FFF2-40B4-BE49-F238E27FC236}">
                  <a16:creationId xmlns:a16="http://schemas.microsoft.com/office/drawing/2014/main" id="{9629FC35-7AC4-1F2E-84D0-EA1CDF44618C}"/>
                </a:ext>
              </a:extLst>
            </p:cNvPr>
            <p:cNvSpPr txBox="1"/>
            <p:nvPr/>
          </p:nvSpPr>
          <p:spPr>
            <a:xfrm>
              <a:off x="3881845" y="2431942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0F6BBF"/>
                  </a:solidFill>
                  <a:latin typeface="맑은 고딕"/>
                </a:rPr>
                <a:t>+0.062</a:t>
              </a:r>
            </a:p>
          </p:txBody>
        </p:sp>
        <p:sp>
          <p:nvSpPr>
            <p:cNvPr id="181" name="Rectangle 25">
              <a:extLst>
                <a:ext uri="{FF2B5EF4-FFF2-40B4-BE49-F238E27FC236}">
                  <a16:creationId xmlns:a16="http://schemas.microsoft.com/office/drawing/2014/main" id="{0838F844-8EDE-792E-8995-A389A2E5058E}"/>
                </a:ext>
              </a:extLst>
            </p:cNvPr>
            <p:cNvSpPr/>
            <p:nvPr/>
          </p:nvSpPr>
          <p:spPr>
            <a:xfrm>
              <a:off x="4841965" y="2431942"/>
              <a:ext cx="86868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9A02A558-A018-4992-B3DB-B5A9D4FB061F}"/>
                </a:ext>
              </a:extLst>
            </p:cNvPr>
            <p:cNvSpPr txBox="1"/>
            <p:nvPr/>
          </p:nvSpPr>
          <p:spPr>
            <a:xfrm>
              <a:off x="4841965" y="2431942"/>
              <a:ext cx="86868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E8B4C"/>
                  </a:solidFill>
                  <a:latin typeface="맑은 고딕"/>
                </a:rPr>
                <a:t>p=0.040 *</a:t>
              </a:r>
            </a:p>
          </p:txBody>
        </p:sp>
        <p:sp>
          <p:nvSpPr>
            <p:cNvPr id="183" name="Rectangle 27">
              <a:extLst>
                <a:ext uri="{FF2B5EF4-FFF2-40B4-BE49-F238E27FC236}">
                  <a16:creationId xmlns:a16="http://schemas.microsoft.com/office/drawing/2014/main" id="{3AB6318F-E7E2-106B-CA53-2D706ECD1F85}"/>
                </a:ext>
              </a:extLst>
            </p:cNvPr>
            <p:cNvSpPr/>
            <p:nvPr/>
          </p:nvSpPr>
          <p:spPr>
            <a:xfrm>
              <a:off x="498565" y="2797702"/>
              <a:ext cx="141732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4" name="TextBox 183">
              <a:extLst>
                <a:ext uri="{FF2B5EF4-FFF2-40B4-BE49-F238E27FC236}">
                  <a16:creationId xmlns:a16="http://schemas.microsoft.com/office/drawing/2014/main" id="{BD5D1365-A47C-07C3-3C7E-E48D68B59BA3}"/>
                </a:ext>
              </a:extLst>
            </p:cNvPr>
            <p:cNvSpPr txBox="1"/>
            <p:nvPr/>
          </p:nvSpPr>
          <p:spPr>
            <a:xfrm>
              <a:off x="498565" y="2797702"/>
              <a:ext cx="141732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BCE+AEC256</a:t>
              </a:r>
            </a:p>
          </p:txBody>
        </p:sp>
        <p:sp>
          <p:nvSpPr>
            <p:cNvPr id="185" name="Rectangle 29">
              <a:extLst>
                <a:ext uri="{FF2B5EF4-FFF2-40B4-BE49-F238E27FC236}">
                  <a16:creationId xmlns:a16="http://schemas.microsoft.com/office/drawing/2014/main" id="{C780CA40-392C-17A1-6654-A23692218AA1}"/>
                </a:ext>
              </a:extLst>
            </p:cNvPr>
            <p:cNvSpPr/>
            <p:nvPr/>
          </p:nvSpPr>
          <p:spPr>
            <a:xfrm>
              <a:off x="1961604" y="2797702"/>
              <a:ext cx="91440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617474B7-3C82-45DF-5D91-0C9DB0D45896}"/>
                </a:ext>
              </a:extLst>
            </p:cNvPr>
            <p:cNvSpPr txBox="1"/>
            <p:nvPr/>
          </p:nvSpPr>
          <p:spPr>
            <a:xfrm>
              <a:off x="1961604" y="2797702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0.8325</a:t>
              </a:r>
            </a:p>
          </p:txBody>
        </p:sp>
        <p:sp>
          <p:nvSpPr>
            <p:cNvPr id="187" name="Rectangle 31">
              <a:extLst>
                <a:ext uri="{FF2B5EF4-FFF2-40B4-BE49-F238E27FC236}">
                  <a16:creationId xmlns:a16="http://schemas.microsoft.com/office/drawing/2014/main" id="{A9C51527-4149-DEA6-E505-2E8F87B1834D}"/>
                </a:ext>
              </a:extLst>
            </p:cNvPr>
            <p:cNvSpPr/>
            <p:nvPr/>
          </p:nvSpPr>
          <p:spPr>
            <a:xfrm>
              <a:off x="2921725" y="2797702"/>
              <a:ext cx="91440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01FBA16B-652F-F92A-B130-AC284008B493}"/>
                </a:ext>
              </a:extLst>
            </p:cNvPr>
            <p:cNvSpPr txBox="1"/>
            <p:nvPr/>
          </p:nvSpPr>
          <p:spPr>
            <a:xfrm>
              <a:off x="2921725" y="2797702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E87400"/>
                  </a:solidFill>
                  <a:latin typeface="맑은 고딕"/>
                </a:rPr>
                <a:t>0.8858</a:t>
              </a:r>
            </a:p>
          </p:txBody>
        </p:sp>
        <p:sp>
          <p:nvSpPr>
            <p:cNvPr id="189" name="Rectangle 33">
              <a:extLst>
                <a:ext uri="{FF2B5EF4-FFF2-40B4-BE49-F238E27FC236}">
                  <a16:creationId xmlns:a16="http://schemas.microsoft.com/office/drawing/2014/main" id="{BCCA64D2-5849-7282-A555-A07A27CF62B1}"/>
                </a:ext>
              </a:extLst>
            </p:cNvPr>
            <p:cNvSpPr/>
            <p:nvPr/>
          </p:nvSpPr>
          <p:spPr>
            <a:xfrm>
              <a:off x="3881845" y="2797702"/>
              <a:ext cx="91440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8ED62E7E-A8B7-64F9-68A4-7FF616C492C8}"/>
                </a:ext>
              </a:extLst>
            </p:cNvPr>
            <p:cNvSpPr txBox="1"/>
            <p:nvPr/>
          </p:nvSpPr>
          <p:spPr>
            <a:xfrm>
              <a:off x="3881845" y="2797702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0F6BBF"/>
                  </a:solidFill>
                  <a:latin typeface="맑은 고딕"/>
                </a:rPr>
                <a:t>+0.053</a:t>
              </a:r>
            </a:p>
          </p:txBody>
        </p:sp>
        <p:sp>
          <p:nvSpPr>
            <p:cNvPr id="191" name="Rectangle 35">
              <a:extLst>
                <a:ext uri="{FF2B5EF4-FFF2-40B4-BE49-F238E27FC236}">
                  <a16:creationId xmlns:a16="http://schemas.microsoft.com/office/drawing/2014/main" id="{00FDF45F-0745-913B-03DC-292B43446E41}"/>
                </a:ext>
              </a:extLst>
            </p:cNvPr>
            <p:cNvSpPr/>
            <p:nvPr/>
          </p:nvSpPr>
          <p:spPr>
            <a:xfrm>
              <a:off x="4841965" y="2797702"/>
              <a:ext cx="86868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9D475D0B-112E-0448-4CB2-790EC84EDDC7}"/>
                </a:ext>
              </a:extLst>
            </p:cNvPr>
            <p:cNvSpPr txBox="1"/>
            <p:nvPr/>
          </p:nvSpPr>
          <p:spPr>
            <a:xfrm>
              <a:off x="4841965" y="2797702"/>
              <a:ext cx="86868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E8B4C"/>
                  </a:solidFill>
                  <a:latin typeface="맑은 고딕"/>
                </a:rPr>
                <a:t>p=0.062 †</a:t>
              </a:r>
            </a:p>
          </p:txBody>
        </p:sp>
        <p:sp>
          <p:nvSpPr>
            <p:cNvPr id="193" name="Rectangle 37">
              <a:extLst>
                <a:ext uri="{FF2B5EF4-FFF2-40B4-BE49-F238E27FC236}">
                  <a16:creationId xmlns:a16="http://schemas.microsoft.com/office/drawing/2014/main" id="{D9227D6A-4622-53BF-D430-98663FF057D1}"/>
                </a:ext>
              </a:extLst>
            </p:cNvPr>
            <p:cNvSpPr/>
            <p:nvPr/>
          </p:nvSpPr>
          <p:spPr>
            <a:xfrm>
              <a:off x="498565" y="3163462"/>
              <a:ext cx="141732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E0FAC501-8152-B5CC-91E4-FDBE8240B138}"/>
                </a:ext>
              </a:extLst>
            </p:cNvPr>
            <p:cNvSpPr txBox="1"/>
            <p:nvPr/>
          </p:nvSpPr>
          <p:spPr>
            <a:xfrm>
              <a:off x="498565" y="3163462"/>
              <a:ext cx="141732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Focal+AEC128</a:t>
              </a:r>
            </a:p>
          </p:txBody>
        </p:sp>
        <p:sp>
          <p:nvSpPr>
            <p:cNvPr id="195" name="Rectangle 39">
              <a:extLst>
                <a:ext uri="{FF2B5EF4-FFF2-40B4-BE49-F238E27FC236}">
                  <a16:creationId xmlns:a16="http://schemas.microsoft.com/office/drawing/2014/main" id="{73D2505A-A4C1-FE18-F703-A9E101B86132}"/>
                </a:ext>
              </a:extLst>
            </p:cNvPr>
            <p:cNvSpPr/>
            <p:nvPr/>
          </p:nvSpPr>
          <p:spPr>
            <a:xfrm>
              <a:off x="1961604" y="3163462"/>
              <a:ext cx="91440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6" name="TextBox 195">
              <a:extLst>
                <a:ext uri="{FF2B5EF4-FFF2-40B4-BE49-F238E27FC236}">
                  <a16:creationId xmlns:a16="http://schemas.microsoft.com/office/drawing/2014/main" id="{DF8B241C-88E9-AC53-BB0B-7D48E99AC299}"/>
                </a:ext>
              </a:extLst>
            </p:cNvPr>
            <p:cNvSpPr txBox="1"/>
            <p:nvPr/>
          </p:nvSpPr>
          <p:spPr>
            <a:xfrm>
              <a:off x="1961604" y="3163462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0.8325</a:t>
              </a:r>
            </a:p>
          </p:txBody>
        </p:sp>
        <p:sp>
          <p:nvSpPr>
            <p:cNvPr id="197" name="Rectangle 41">
              <a:extLst>
                <a:ext uri="{FF2B5EF4-FFF2-40B4-BE49-F238E27FC236}">
                  <a16:creationId xmlns:a16="http://schemas.microsoft.com/office/drawing/2014/main" id="{04464B51-6E35-7BAF-7868-16E004940A73}"/>
                </a:ext>
              </a:extLst>
            </p:cNvPr>
            <p:cNvSpPr/>
            <p:nvPr/>
          </p:nvSpPr>
          <p:spPr>
            <a:xfrm>
              <a:off x="2921725" y="3163462"/>
              <a:ext cx="91440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C4834D1A-310D-F205-FA6E-E113AD5C671F}"/>
                </a:ext>
              </a:extLst>
            </p:cNvPr>
            <p:cNvSpPr txBox="1"/>
            <p:nvPr/>
          </p:nvSpPr>
          <p:spPr>
            <a:xfrm>
              <a:off x="2921725" y="3163462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E87400"/>
                  </a:solidFill>
                  <a:latin typeface="맑은 고딕"/>
                </a:rPr>
                <a:t>0.8448</a:t>
              </a:r>
            </a:p>
          </p:txBody>
        </p:sp>
        <p:sp>
          <p:nvSpPr>
            <p:cNvPr id="199" name="Rectangle 43">
              <a:extLst>
                <a:ext uri="{FF2B5EF4-FFF2-40B4-BE49-F238E27FC236}">
                  <a16:creationId xmlns:a16="http://schemas.microsoft.com/office/drawing/2014/main" id="{BD7B9667-DE6E-C60F-A4C0-5E727DE93534}"/>
                </a:ext>
              </a:extLst>
            </p:cNvPr>
            <p:cNvSpPr/>
            <p:nvPr/>
          </p:nvSpPr>
          <p:spPr>
            <a:xfrm>
              <a:off x="3881845" y="3163462"/>
              <a:ext cx="91440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306492A2-635D-7B80-DD56-E8A72067C24B}"/>
                </a:ext>
              </a:extLst>
            </p:cNvPr>
            <p:cNvSpPr txBox="1"/>
            <p:nvPr/>
          </p:nvSpPr>
          <p:spPr>
            <a:xfrm>
              <a:off x="3881845" y="3163462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0F6BBF"/>
                  </a:solidFill>
                  <a:latin typeface="맑은 고딕"/>
                </a:rPr>
                <a:t>+0.012</a:t>
              </a:r>
            </a:p>
          </p:txBody>
        </p:sp>
        <p:sp>
          <p:nvSpPr>
            <p:cNvPr id="201" name="Rectangle 45">
              <a:extLst>
                <a:ext uri="{FF2B5EF4-FFF2-40B4-BE49-F238E27FC236}">
                  <a16:creationId xmlns:a16="http://schemas.microsoft.com/office/drawing/2014/main" id="{D280AE5E-5F2B-398A-C30F-4B2D4777C1CF}"/>
                </a:ext>
              </a:extLst>
            </p:cNvPr>
            <p:cNvSpPr/>
            <p:nvPr/>
          </p:nvSpPr>
          <p:spPr>
            <a:xfrm>
              <a:off x="4841965" y="3163462"/>
              <a:ext cx="868680" cy="3657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2" name="TextBox 201">
              <a:extLst>
                <a:ext uri="{FF2B5EF4-FFF2-40B4-BE49-F238E27FC236}">
                  <a16:creationId xmlns:a16="http://schemas.microsoft.com/office/drawing/2014/main" id="{312A1330-EBF3-1778-3264-D8A35EE69480}"/>
                </a:ext>
              </a:extLst>
            </p:cNvPr>
            <p:cNvSpPr txBox="1"/>
            <p:nvPr/>
          </p:nvSpPr>
          <p:spPr>
            <a:xfrm>
              <a:off x="4841965" y="3163462"/>
              <a:ext cx="86868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p=0.776 ns</a:t>
              </a:r>
            </a:p>
          </p:txBody>
        </p:sp>
        <p:sp>
          <p:nvSpPr>
            <p:cNvPr id="203" name="Rectangle 47">
              <a:extLst>
                <a:ext uri="{FF2B5EF4-FFF2-40B4-BE49-F238E27FC236}">
                  <a16:creationId xmlns:a16="http://schemas.microsoft.com/office/drawing/2014/main" id="{C1798448-1210-C885-248F-A11EB8DF8D4F}"/>
                </a:ext>
              </a:extLst>
            </p:cNvPr>
            <p:cNvSpPr/>
            <p:nvPr/>
          </p:nvSpPr>
          <p:spPr>
            <a:xfrm>
              <a:off x="498565" y="3529222"/>
              <a:ext cx="141732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4" name="TextBox 203">
              <a:extLst>
                <a:ext uri="{FF2B5EF4-FFF2-40B4-BE49-F238E27FC236}">
                  <a16:creationId xmlns:a16="http://schemas.microsoft.com/office/drawing/2014/main" id="{56B625C6-E419-4C6A-367D-E10ADFF20E95}"/>
                </a:ext>
              </a:extLst>
            </p:cNvPr>
            <p:cNvSpPr txBox="1"/>
            <p:nvPr/>
          </p:nvSpPr>
          <p:spPr>
            <a:xfrm>
              <a:off x="498565" y="3529222"/>
              <a:ext cx="141732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Focal+AEC256</a:t>
              </a:r>
            </a:p>
          </p:txBody>
        </p:sp>
        <p:sp>
          <p:nvSpPr>
            <p:cNvPr id="205" name="Rectangle 49">
              <a:extLst>
                <a:ext uri="{FF2B5EF4-FFF2-40B4-BE49-F238E27FC236}">
                  <a16:creationId xmlns:a16="http://schemas.microsoft.com/office/drawing/2014/main" id="{D71CC40F-583A-FEFB-C44A-49CD3B816190}"/>
                </a:ext>
              </a:extLst>
            </p:cNvPr>
            <p:cNvSpPr/>
            <p:nvPr/>
          </p:nvSpPr>
          <p:spPr>
            <a:xfrm>
              <a:off x="1961604" y="3529222"/>
              <a:ext cx="91440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6" name="TextBox 205">
              <a:extLst>
                <a:ext uri="{FF2B5EF4-FFF2-40B4-BE49-F238E27FC236}">
                  <a16:creationId xmlns:a16="http://schemas.microsoft.com/office/drawing/2014/main" id="{6E1B015C-BCA1-D45A-9541-D8D7B085B0EF}"/>
                </a:ext>
              </a:extLst>
            </p:cNvPr>
            <p:cNvSpPr txBox="1"/>
            <p:nvPr/>
          </p:nvSpPr>
          <p:spPr>
            <a:xfrm>
              <a:off x="1961604" y="3529222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0.8325</a:t>
              </a:r>
            </a:p>
          </p:txBody>
        </p:sp>
        <p:sp>
          <p:nvSpPr>
            <p:cNvPr id="207" name="Rectangle 51">
              <a:extLst>
                <a:ext uri="{FF2B5EF4-FFF2-40B4-BE49-F238E27FC236}">
                  <a16:creationId xmlns:a16="http://schemas.microsoft.com/office/drawing/2014/main" id="{4DB56D93-3351-F76A-6CFE-C543038F5F0B}"/>
                </a:ext>
              </a:extLst>
            </p:cNvPr>
            <p:cNvSpPr/>
            <p:nvPr/>
          </p:nvSpPr>
          <p:spPr>
            <a:xfrm>
              <a:off x="2921725" y="3529222"/>
              <a:ext cx="91440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8" name="TextBox 207">
              <a:extLst>
                <a:ext uri="{FF2B5EF4-FFF2-40B4-BE49-F238E27FC236}">
                  <a16:creationId xmlns:a16="http://schemas.microsoft.com/office/drawing/2014/main" id="{DC553BA2-2276-30E6-408E-8FE48A84F8C4}"/>
                </a:ext>
              </a:extLst>
            </p:cNvPr>
            <p:cNvSpPr txBox="1"/>
            <p:nvPr/>
          </p:nvSpPr>
          <p:spPr>
            <a:xfrm>
              <a:off x="2921725" y="3529222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E87400"/>
                  </a:solidFill>
                  <a:latin typeface="맑은 고딕"/>
                </a:rPr>
                <a:t>0.8641</a:t>
              </a:r>
            </a:p>
          </p:txBody>
        </p:sp>
        <p:sp>
          <p:nvSpPr>
            <p:cNvPr id="209" name="Rectangle 53">
              <a:extLst>
                <a:ext uri="{FF2B5EF4-FFF2-40B4-BE49-F238E27FC236}">
                  <a16:creationId xmlns:a16="http://schemas.microsoft.com/office/drawing/2014/main" id="{4F047470-4994-0E66-337D-94AA27D01080}"/>
                </a:ext>
              </a:extLst>
            </p:cNvPr>
            <p:cNvSpPr/>
            <p:nvPr/>
          </p:nvSpPr>
          <p:spPr>
            <a:xfrm>
              <a:off x="3881845" y="3529222"/>
              <a:ext cx="91440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411E4728-916B-D45A-2BE4-47B7E3F445FB}"/>
                </a:ext>
              </a:extLst>
            </p:cNvPr>
            <p:cNvSpPr txBox="1"/>
            <p:nvPr/>
          </p:nvSpPr>
          <p:spPr>
            <a:xfrm>
              <a:off x="3881845" y="3529222"/>
              <a:ext cx="91440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0F6BBF"/>
                  </a:solidFill>
                  <a:latin typeface="맑은 고딕"/>
                </a:rPr>
                <a:t>+0.032</a:t>
              </a:r>
            </a:p>
          </p:txBody>
        </p:sp>
        <p:sp>
          <p:nvSpPr>
            <p:cNvPr id="211" name="Rectangle 55">
              <a:extLst>
                <a:ext uri="{FF2B5EF4-FFF2-40B4-BE49-F238E27FC236}">
                  <a16:creationId xmlns:a16="http://schemas.microsoft.com/office/drawing/2014/main" id="{9A95C0A8-E590-5F29-055E-B41CC4C90A4D}"/>
                </a:ext>
              </a:extLst>
            </p:cNvPr>
            <p:cNvSpPr/>
            <p:nvPr/>
          </p:nvSpPr>
          <p:spPr>
            <a:xfrm>
              <a:off x="4841965" y="3529222"/>
              <a:ext cx="868680" cy="365760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2" name="TextBox 211">
              <a:extLst>
                <a:ext uri="{FF2B5EF4-FFF2-40B4-BE49-F238E27FC236}">
                  <a16:creationId xmlns:a16="http://schemas.microsoft.com/office/drawing/2014/main" id="{516F6DCC-E00E-A645-1AC9-7FB726D6D9EA}"/>
                </a:ext>
              </a:extLst>
            </p:cNvPr>
            <p:cNvSpPr txBox="1"/>
            <p:nvPr/>
          </p:nvSpPr>
          <p:spPr>
            <a:xfrm>
              <a:off x="4841965" y="3529222"/>
              <a:ext cx="868680" cy="36576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p=0.253 ns</a:t>
              </a:r>
            </a:p>
          </p:txBody>
        </p:sp>
      </p:grpSp>
      <p:sp>
        <p:nvSpPr>
          <p:cNvPr id="215" name="Rectangle 58">
            <a:extLst>
              <a:ext uri="{FF2B5EF4-FFF2-40B4-BE49-F238E27FC236}">
                <a16:creationId xmlns:a16="http://schemas.microsoft.com/office/drawing/2014/main" id="{A82D6439-3A4A-1465-79BF-9ECFDA862A25}"/>
              </a:ext>
            </a:extLst>
          </p:cNvPr>
          <p:cNvSpPr/>
          <p:nvPr/>
        </p:nvSpPr>
        <p:spPr>
          <a:xfrm>
            <a:off x="508000" y="4330261"/>
            <a:ext cx="5120640" cy="2743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256" name="그룹 255">
            <a:extLst>
              <a:ext uri="{FF2B5EF4-FFF2-40B4-BE49-F238E27FC236}">
                <a16:creationId xmlns:a16="http://schemas.microsoft.com/office/drawing/2014/main" id="{E9C3B62E-9193-2EA1-192B-A6679EA59CE4}"/>
              </a:ext>
            </a:extLst>
          </p:cNvPr>
          <p:cNvGrpSpPr/>
          <p:nvPr/>
        </p:nvGrpSpPr>
        <p:grpSpPr>
          <a:xfrm>
            <a:off x="498565" y="4419864"/>
            <a:ext cx="5212079" cy="1481328"/>
            <a:chOff x="411480" y="3730752"/>
            <a:chExt cx="5029200" cy="1481328"/>
          </a:xfrm>
        </p:grpSpPr>
        <p:sp>
          <p:nvSpPr>
            <p:cNvPr id="216" name="Rectangle 59">
              <a:extLst>
                <a:ext uri="{FF2B5EF4-FFF2-40B4-BE49-F238E27FC236}">
                  <a16:creationId xmlns:a16="http://schemas.microsoft.com/office/drawing/2014/main" id="{A713D531-A4FF-89DC-96E2-9499F668D646}"/>
                </a:ext>
              </a:extLst>
            </p:cNvPr>
            <p:cNvSpPr/>
            <p:nvPr/>
          </p:nvSpPr>
          <p:spPr>
            <a:xfrm>
              <a:off x="411480" y="3730752"/>
              <a:ext cx="1234440" cy="256032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7" name="TextBox 216">
              <a:extLst>
                <a:ext uri="{FF2B5EF4-FFF2-40B4-BE49-F238E27FC236}">
                  <a16:creationId xmlns:a16="http://schemas.microsoft.com/office/drawing/2014/main" id="{FEC70854-70EE-33B5-42A1-98F03720CD56}"/>
                </a:ext>
              </a:extLst>
            </p:cNvPr>
            <p:cNvSpPr txBox="1"/>
            <p:nvPr/>
          </p:nvSpPr>
          <p:spPr>
            <a:xfrm>
              <a:off x="411480" y="3730752"/>
              <a:ext cx="1234440" cy="2560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지표</a:t>
              </a:r>
            </a:p>
          </p:txBody>
        </p:sp>
        <p:sp>
          <p:nvSpPr>
            <p:cNvPr id="218" name="Rectangle 61">
              <a:extLst>
                <a:ext uri="{FF2B5EF4-FFF2-40B4-BE49-F238E27FC236}">
                  <a16:creationId xmlns:a16="http://schemas.microsoft.com/office/drawing/2014/main" id="{29D0B0F0-402F-246E-08BD-05C2258F88B5}"/>
                </a:ext>
              </a:extLst>
            </p:cNvPr>
            <p:cNvSpPr/>
            <p:nvPr/>
          </p:nvSpPr>
          <p:spPr>
            <a:xfrm>
              <a:off x="1691640" y="3730752"/>
              <a:ext cx="1234440" cy="256032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9" name="TextBox 218">
              <a:extLst>
                <a:ext uri="{FF2B5EF4-FFF2-40B4-BE49-F238E27FC236}">
                  <a16:creationId xmlns:a16="http://schemas.microsoft.com/office/drawing/2014/main" id="{43283012-31C1-3581-7217-F4A98F4622F4}"/>
                </a:ext>
              </a:extLst>
            </p:cNvPr>
            <p:cNvSpPr txBox="1"/>
            <p:nvPr/>
          </p:nvSpPr>
          <p:spPr>
            <a:xfrm>
              <a:off x="1691640" y="3730752"/>
              <a:ext cx="1234440" cy="2560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M1</a:t>
              </a:r>
            </a:p>
          </p:txBody>
        </p:sp>
        <p:sp>
          <p:nvSpPr>
            <p:cNvPr id="220" name="Rectangle 63">
              <a:extLst>
                <a:ext uri="{FF2B5EF4-FFF2-40B4-BE49-F238E27FC236}">
                  <a16:creationId xmlns:a16="http://schemas.microsoft.com/office/drawing/2014/main" id="{30C9785A-45A1-8A5A-402C-81C42943CADB}"/>
                </a:ext>
              </a:extLst>
            </p:cNvPr>
            <p:cNvSpPr/>
            <p:nvPr/>
          </p:nvSpPr>
          <p:spPr>
            <a:xfrm>
              <a:off x="2971800" y="3730752"/>
              <a:ext cx="1280160" cy="256032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1C86B222-87BE-3EBE-C662-E5DBAF217449}"/>
                </a:ext>
              </a:extLst>
            </p:cNvPr>
            <p:cNvSpPr txBox="1"/>
            <p:nvPr/>
          </p:nvSpPr>
          <p:spPr>
            <a:xfrm>
              <a:off x="2971800" y="3730752"/>
              <a:ext cx="1280160" cy="2560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M3</a:t>
              </a:r>
            </a:p>
          </p:txBody>
        </p:sp>
        <p:sp>
          <p:nvSpPr>
            <p:cNvPr id="222" name="Rectangle 65">
              <a:extLst>
                <a:ext uri="{FF2B5EF4-FFF2-40B4-BE49-F238E27FC236}">
                  <a16:creationId xmlns:a16="http://schemas.microsoft.com/office/drawing/2014/main" id="{F2AECACC-3225-83B1-1DC4-2482AC27E55D}"/>
                </a:ext>
              </a:extLst>
            </p:cNvPr>
            <p:cNvSpPr/>
            <p:nvPr/>
          </p:nvSpPr>
          <p:spPr>
            <a:xfrm>
              <a:off x="4297680" y="3730752"/>
              <a:ext cx="1143000" cy="256032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3" name="TextBox 222">
              <a:extLst>
                <a:ext uri="{FF2B5EF4-FFF2-40B4-BE49-F238E27FC236}">
                  <a16:creationId xmlns:a16="http://schemas.microsoft.com/office/drawing/2014/main" id="{9719BBC3-4E59-BC75-F837-703207799C84}"/>
                </a:ext>
              </a:extLst>
            </p:cNvPr>
            <p:cNvSpPr txBox="1"/>
            <p:nvPr/>
          </p:nvSpPr>
          <p:spPr>
            <a:xfrm>
              <a:off x="4297680" y="3730752"/>
              <a:ext cx="1143000" cy="25603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Δ(M3-M1)</a:t>
              </a:r>
            </a:p>
          </p:txBody>
        </p:sp>
        <p:sp>
          <p:nvSpPr>
            <p:cNvPr id="224" name="Rectangle 67">
              <a:extLst>
                <a:ext uri="{FF2B5EF4-FFF2-40B4-BE49-F238E27FC236}">
                  <a16:creationId xmlns:a16="http://schemas.microsoft.com/office/drawing/2014/main" id="{6BDC9D0E-09BE-515B-A22E-5588084A2577}"/>
                </a:ext>
              </a:extLst>
            </p:cNvPr>
            <p:cNvSpPr/>
            <p:nvPr/>
          </p:nvSpPr>
          <p:spPr>
            <a:xfrm>
              <a:off x="411480" y="4005072"/>
              <a:ext cx="1234440" cy="301752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5" name="TextBox 224">
              <a:extLst>
                <a:ext uri="{FF2B5EF4-FFF2-40B4-BE49-F238E27FC236}">
                  <a16:creationId xmlns:a16="http://schemas.microsoft.com/office/drawing/2014/main" id="{83457D04-B671-ABC3-9DA7-4572AC702B78}"/>
                </a:ext>
              </a:extLst>
            </p:cNvPr>
            <p:cNvSpPr txBox="1"/>
            <p:nvPr/>
          </p:nvSpPr>
          <p:spPr>
            <a:xfrm>
              <a:off x="411480" y="4005072"/>
              <a:ext cx="123444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AUC-ROC</a:t>
              </a:r>
            </a:p>
          </p:txBody>
        </p:sp>
        <p:sp>
          <p:nvSpPr>
            <p:cNvPr id="226" name="Rectangle 69">
              <a:extLst>
                <a:ext uri="{FF2B5EF4-FFF2-40B4-BE49-F238E27FC236}">
                  <a16:creationId xmlns:a16="http://schemas.microsoft.com/office/drawing/2014/main" id="{F870186F-DDF1-D766-9F00-AAD2C4334139}"/>
                </a:ext>
              </a:extLst>
            </p:cNvPr>
            <p:cNvSpPr/>
            <p:nvPr/>
          </p:nvSpPr>
          <p:spPr>
            <a:xfrm>
              <a:off x="1691640" y="4005072"/>
              <a:ext cx="1234440" cy="301752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7" name="TextBox 226">
              <a:extLst>
                <a:ext uri="{FF2B5EF4-FFF2-40B4-BE49-F238E27FC236}">
                  <a16:creationId xmlns:a16="http://schemas.microsoft.com/office/drawing/2014/main" id="{BC7320D5-648B-4A57-96B4-999B1C2D3258}"/>
                </a:ext>
              </a:extLst>
            </p:cNvPr>
            <p:cNvSpPr txBox="1"/>
            <p:nvPr/>
          </p:nvSpPr>
          <p:spPr>
            <a:xfrm>
              <a:off x="1691640" y="4005072"/>
              <a:ext cx="123444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0.833 [0.739,0.909]</a:t>
              </a:r>
            </a:p>
          </p:txBody>
        </p:sp>
        <p:sp>
          <p:nvSpPr>
            <p:cNvPr id="228" name="Rectangle 71">
              <a:extLst>
                <a:ext uri="{FF2B5EF4-FFF2-40B4-BE49-F238E27FC236}">
                  <a16:creationId xmlns:a16="http://schemas.microsoft.com/office/drawing/2014/main" id="{10366B0F-978F-4B01-5830-2CE393973C4E}"/>
                </a:ext>
              </a:extLst>
            </p:cNvPr>
            <p:cNvSpPr/>
            <p:nvPr/>
          </p:nvSpPr>
          <p:spPr>
            <a:xfrm>
              <a:off x="2971800" y="4005072"/>
              <a:ext cx="1280160" cy="301752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9" name="TextBox 228">
              <a:extLst>
                <a:ext uri="{FF2B5EF4-FFF2-40B4-BE49-F238E27FC236}">
                  <a16:creationId xmlns:a16="http://schemas.microsoft.com/office/drawing/2014/main" id="{08CD3F82-CC76-D58C-88D9-5A1DEC4902F4}"/>
                </a:ext>
              </a:extLst>
            </p:cNvPr>
            <p:cNvSpPr txBox="1"/>
            <p:nvPr/>
          </p:nvSpPr>
          <p:spPr>
            <a:xfrm>
              <a:off x="2971800" y="4005072"/>
              <a:ext cx="128016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0.894 [0.825,0.950]</a:t>
              </a:r>
            </a:p>
          </p:txBody>
        </p:sp>
        <p:sp>
          <p:nvSpPr>
            <p:cNvPr id="230" name="Rectangle 73">
              <a:extLst>
                <a:ext uri="{FF2B5EF4-FFF2-40B4-BE49-F238E27FC236}">
                  <a16:creationId xmlns:a16="http://schemas.microsoft.com/office/drawing/2014/main" id="{C877B1AA-8E98-7183-C1B4-738198EDF808}"/>
                </a:ext>
              </a:extLst>
            </p:cNvPr>
            <p:cNvSpPr/>
            <p:nvPr/>
          </p:nvSpPr>
          <p:spPr>
            <a:xfrm>
              <a:off x="4297680" y="4005072"/>
              <a:ext cx="1143000" cy="301752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1" name="TextBox 230">
              <a:extLst>
                <a:ext uri="{FF2B5EF4-FFF2-40B4-BE49-F238E27FC236}">
                  <a16:creationId xmlns:a16="http://schemas.microsoft.com/office/drawing/2014/main" id="{400A10B2-12F0-832A-32DB-326953AE40C4}"/>
                </a:ext>
              </a:extLst>
            </p:cNvPr>
            <p:cNvSpPr txBox="1"/>
            <p:nvPr/>
          </p:nvSpPr>
          <p:spPr>
            <a:xfrm>
              <a:off x="4297680" y="4005072"/>
              <a:ext cx="114300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+0.062</a:t>
              </a:r>
            </a:p>
          </p:txBody>
        </p:sp>
        <p:sp>
          <p:nvSpPr>
            <p:cNvPr id="232" name="Rectangle 75">
              <a:extLst>
                <a:ext uri="{FF2B5EF4-FFF2-40B4-BE49-F238E27FC236}">
                  <a16:creationId xmlns:a16="http://schemas.microsoft.com/office/drawing/2014/main" id="{00D34D71-C59F-DA05-1B28-551977209A87}"/>
                </a:ext>
              </a:extLst>
            </p:cNvPr>
            <p:cNvSpPr/>
            <p:nvPr/>
          </p:nvSpPr>
          <p:spPr>
            <a:xfrm>
              <a:off x="411480" y="4306824"/>
              <a:ext cx="1234440" cy="301752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3" name="TextBox 232">
              <a:extLst>
                <a:ext uri="{FF2B5EF4-FFF2-40B4-BE49-F238E27FC236}">
                  <a16:creationId xmlns:a16="http://schemas.microsoft.com/office/drawing/2014/main" id="{68EB690C-0FE2-6AF2-0DBF-6C46B1F85587}"/>
                </a:ext>
              </a:extLst>
            </p:cNvPr>
            <p:cNvSpPr txBox="1"/>
            <p:nvPr/>
          </p:nvSpPr>
          <p:spPr>
            <a:xfrm>
              <a:off x="411480" y="4306824"/>
              <a:ext cx="123444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AUPRC</a:t>
              </a:r>
            </a:p>
          </p:txBody>
        </p:sp>
        <p:sp>
          <p:nvSpPr>
            <p:cNvPr id="234" name="Rectangle 77">
              <a:extLst>
                <a:ext uri="{FF2B5EF4-FFF2-40B4-BE49-F238E27FC236}">
                  <a16:creationId xmlns:a16="http://schemas.microsoft.com/office/drawing/2014/main" id="{DC2B4D4D-92AB-F4DF-9B37-0A523146A295}"/>
                </a:ext>
              </a:extLst>
            </p:cNvPr>
            <p:cNvSpPr/>
            <p:nvPr/>
          </p:nvSpPr>
          <p:spPr>
            <a:xfrm>
              <a:off x="1691640" y="4306824"/>
              <a:ext cx="1234440" cy="301752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5" name="TextBox 234">
              <a:extLst>
                <a:ext uri="{FF2B5EF4-FFF2-40B4-BE49-F238E27FC236}">
                  <a16:creationId xmlns:a16="http://schemas.microsoft.com/office/drawing/2014/main" id="{339CFE78-AF11-6D4F-3958-9144417A322C}"/>
                </a:ext>
              </a:extLst>
            </p:cNvPr>
            <p:cNvSpPr txBox="1"/>
            <p:nvPr/>
          </p:nvSpPr>
          <p:spPr>
            <a:xfrm>
              <a:off x="1691640" y="4306824"/>
              <a:ext cx="123444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0.501 [0.297,0.694]</a:t>
              </a:r>
            </a:p>
          </p:txBody>
        </p:sp>
        <p:sp>
          <p:nvSpPr>
            <p:cNvPr id="236" name="Rectangle 79">
              <a:extLst>
                <a:ext uri="{FF2B5EF4-FFF2-40B4-BE49-F238E27FC236}">
                  <a16:creationId xmlns:a16="http://schemas.microsoft.com/office/drawing/2014/main" id="{B3E26C38-35B2-0A16-8E93-39D7FB726456}"/>
                </a:ext>
              </a:extLst>
            </p:cNvPr>
            <p:cNvSpPr/>
            <p:nvPr/>
          </p:nvSpPr>
          <p:spPr>
            <a:xfrm>
              <a:off x="2971800" y="4306824"/>
              <a:ext cx="1280160" cy="301752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7" name="TextBox 236">
              <a:extLst>
                <a:ext uri="{FF2B5EF4-FFF2-40B4-BE49-F238E27FC236}">
                  <a16:creationId xmlns:a16="http://schemas.microsoft.com/office/drawing/2014/main" id="{F1FD1DCF-0152-7EAB-F36D-44DFD3F2CC42}"/>
                </a:ext>
              </a:extLst>
            </p:cNvPr>
            <p:cNvSpPr txBox="1"/>
            <p:nvPr/>
          </p:nvSpPr>
          <p:spPr>
            <a:xfrm>
              <a:off x="2971800" y="4306824"/>
              <a:ext cx="128016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0.564 [0.366,0.766]</a:t>
              </a:r>
            </a:p>
          </p:txBody>
        </p:sp>
        <p:sp>
          <p:nvSpPr>
            <p:cNvPr id="238" name="Rectangle 81">
              <a:extLst>
                <a:ext uri="{FF2B5EF4-FFF2-40B4-BE49-F238E27FC236}">
                  <a16:creationId xmlns:a16="http://schemas.microsoft.com/office/drawing/2014/main" id="{98672DCE-85B7-FE3B-C8A5-743D78878829}"/>
                </a:ext>
              </a:extLst>
            </p:cNvPr>
            <p:cNvSpPr/>
            <p:nvPr/>
          </p:nvSpPr>
          <p:spPr>
            <a:xfrm>
              <a:off x="4297680" y="4306824"/>
              <a:ext cx="1143000" cy="301752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9" name="TextBox 238">
              <a:extLst>
                <a:ext uri="{FF2B5EF4-FFF2-40B4-BE49-F238E27FC236}">
                  <a16:creationId xmlns:a16="http://schemas.microsoft.com/office/drawing/2014/main" id="{4D671E56-66E2-48B0-59DC-966D5AD88006}"/>
                </a:ext>
              </a:extLst>
            </p:cNvPr>
            <p:cNvSpPr txBox="1"/>
            <p:nvPr/>
          </p:nvSpPr>
          <p:spPr>
            <a:xfrm>
              <a:off x="4297680" y="4306824"/>
              <a:ext cx="114300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+0.063</a:t>
              </a:r>
            </a:p>
          </p:txBody>
        </p:sp>
        <p:sp>
          <p:nvSpPr>
            <p:cNvPr id="240" name="Rectangle 83">
              <a:extLst>
                <a:ext uri="{FF2B5EF4-FFF2-40B4-BE49-F238E27FC236}">
                  <a16:creationId xmlns:a16="http://schemas.microsoft.com/office/drawing/2014/main" id="{4FFF0093-40CB-B93B-9DDC-E59BC13634B3}"/>
                </a:ext>
              </a:extLst>
            </p:cNvPr>
            <p:cNvSpPr/>
            <p:nvPr/>
          </p:nvSpPr>
          <p:spPr>
            <a:xfrm>
              <a:off x="411480" y="4608576"/>
              <a:ext cx="1234440" cy="301752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1" name="TextBox 240">
              <a:extLst>
                <a:ext uri="{FF2B5EF4-FFF2-40B4-BE49-F238E27FC236}">
                  <a16:creationId xmlns:a16="http://schemas.microsoft.com/office/drawing/2014/main" id="{AD91658C-81DA-7967-7F3C-4F4FD26187DA}"/>
                </a:ext>
              </a:extLst>
            </p:cNvPr>
            <p:cNvSpPr txBox="1"/>
            <p:nvPr/>
          </p:nvSpPr>
          <p:spPr>
            <a:xfrm>
              <a:off x="411480" y="4608576"/>
              <a:ext cx="123444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Brier</a:t>
              </a:r>
            </a:p>
          </p:txBody>
        </p:sp>
        <p:sp>
          <p:nvSpPr>
            <p:cNvPr id="242" name="Rectangle 85">
              <a:extLst>
                <a:ext uri="{FF2B5EF4-FFF2-40B4-BE49-F238E27FC236}">
                  <a16:creationId xmlns:a16="http://schemas.microsoft.com/office/drawing/2014/main" id="{3D98994E-C231-6CCF-238D-AF3E8110D998}"/>
                </a:ext>
              </a:extLst>
            </p:cNvPr>
            <p:cNvSpPr/>
            <p:nvPr/>
          </p:nvSpPr>
          <p:spPr>
            <a:xfrm>
              <a:off x="1691640" y="4608576"/>
              <a:ext cx="1234440" cy="301752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3" name="TextBox 242">
              <a:extLst>
                <a:ext uri="{FF2B5EF4-FFF2-40B4-BE49-F238E27FC236}">
                  <a16:creationId xmlns:a16="http://schemas.microsoft.com/office/drawing/2014/main" id="{A9AF2BA9-81BA-FB7D-8E30-5392E19DD7B4}"/>
                </a:ext>
              </a:extLst>
            </p:cNvPr>
            <p:cNvSpPr txBox="1"/>
            <p:nvPr/>
          </p:nvSpPr>
          <p:spPr>
            <a:xfrm>
              <a:off x="1691640" y="4608576"/>
              <a:ext cx="123444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0.180 [0.153,0.212]</a:t>
              </a:r>
            </a:p>
          </p:txBody>
        </p:sp>
        <p:sp>
          <p:nvSpPr>
            <p:cNvPr id="244" name="Rectangle 87">
              <a:extLst>
                <a:ext uri="{FF2B5EF4-FFF2-40B4-BE49-F238E27FC236}">
                  <a16:creationId xmlns:a16="http://schemas.microsoft.com/office/drawing/2014/main" id="{A029927A-9E5F-509C-B9CB-A5A83364D2AD}"/>
                </a:ext>
              </a:extLst>
            </p:cNvPr>
            <p:cNvSpPr/>
            <p:nvPr/>
          </p:nvSpPr>
          <p:spPr>
            <a:xfrm>
              <a:off x="2971800" y="4608576"/>
              <a:ext cx="1280160" cy="301752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5" name="TextBox 244">
              <a:extLst>
                <a:ext uri="{FF2B5EF4-FFF2-40B4-BE49-F238E27FC236}">
                  <a16:creationId xmlns:a16="http://schemas.microsoft.com/office/drawing/2014/main" id="{2BFF8A44-5196-FFED-E876-F0230CBDCFBC}"/>
                </a:ext>
              </a:extLst>
            </p:cNvPr>
            <p:cNvSpPr txBox="1"/>
            <p:nvPr/>
          </p:nvSpPr>
          <p:spPr>
            <a:xfrm>
              <a:off x="2971800" y="4608576"/>
              <a:ext cx="128016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0.195 [0.165,0.227]</a:t>
              </a:r>
            </a:p>
          </p:txBody>
        </p:sp>
        <p:sp>
          <p:nvSpPr>
            <p:cNvPr id="246" name="Rectangle 89">
              <a:extLst>
                <a:ext uri="{FF2B5EF4-FFF2-40B4-BE49-F238E27FC236}">
                  <a16:creationId xmlns:a16="http://schemas.microsoft.com/office/drawing/2014/main" id="{173C4026-BDD6-91CC-7AF1-7E2AC2E19C0F}"/>
                </a:ext>
              </a:extLst>
            </p:cNvPr>
            <p:cNvSpPr/>
            <p:nvPr/>
          </p:nvSpPr>
          <p:spPr>
            <a:xfrm>
              <a:off x="4297680" y="4608576"/>
              <a:ext cx="1143000" cy="301752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7" name="TextBox 246">
              <a:extLst>
                <a:ext uri="{FF2B5EF4-FFF2-40B4-BE49-F238E27FC236}">
                  <a16:creationId xmlns:a16="http://schemas.microsoft.com/office/drawing/2014/main" id="{EC6F3C1D-5247-7772-46D8-CDA333FF8A9B}"/>
                </a:ext>
              </a:extLst>
            </p:cNvPr>
            <p:cNvSpPr txBox="1"/>
            <p:nvPr/>
          </p:nvSpPr>
          <p:spPr>
            <a:xfrm>
              <a:off x="4297680" y="4608576"/>
              <a:ext cx="114300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+0.015</a:t>
              </a:r>
            </a:p>
          </p:txBody>
        </p:sp>
        <p:sp>
          <p:nvSpPr>
            <p:cNvPr id="248" name="Rectangle 91">
              <a:extLst>
                <a:ext uri="{FF2B5EF4-FFF2-40B4-BE49-F238E27FC236}">
                  <a16:creationId xmlns:a16="http://schemas.microsoft.com/office/drawing/2014/main" id="{961A87AF-6A17-21E4-CF03-5CD1A95A44CE}"/>
                </a:ext>
              </a:extLst>
            </p:cNvPr>
            <p:cNvSpPr/>
            <p:nvPr/>
          </p:nvSpPr>
          <p:spPr>
            <a:xfrm>
              <a:off x="411480" y="4910328"/>
              <a:ext cx="1234440" cy="301752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9" name="TextBox 248">
              <a:extLst>
                <a:ext uri="{FF2B5EF4-FFF2-40B4-BE49-F238E27FC236}">
                  <a16:creationId xmlns:a16="http://schemas.microsoft.com/office/drawing/2014/main" id="{E44A9BA5-B888-30C0-C73B-547C212A2B6D}"/>
                </a:ext>
              </a:extLst>
            </p:cNvPr>
            <p:cNvSpPr txBox="1"/>
            <p:nvPr/>
          </p:nvSpPr>
          <p:spPr>
            <a:xfrm>
              <a:off x="411480" y="4910328"/>
              <a:ext cx="123444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F1</a:t>
              </a:r>
            </a:p>
          </p:txBody>
        </p:sp>
        <p:sp>
          <p:nvSpPr>
            <p:cNvPr id="250" name="Rectangle 93">
              <a:extLst>
                <a:ext uri="{FF2B5EF4-FFF2-40B4-BE49-F238E27FC236}">
                  <a16:creationId xmlns:a16="http://schemas.microsoft.com/office/drawing/2014/main" id="{7F441A6E-797A-A6E0-365B-9346AA75A652}"/>
                </a:ext>
              </a:extLst>
            </p:cNvPr>
            <p:cNvSpPr/>
            <p:nvPr/>
          </p:nvSpPr>
          <p:spPr>
            <a:xfrm>
              <a:off x="1691640" y="4910328"/>
              <a:ext cx="1234440" cy="301752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1" name="TextBox 250">
              <a:extLst>
                <a:ext uri="{FF2B5EF4-FFF2-40B4-BE49-F238E27FC236}">
                  <a16:creationId xmlns:a16="http://schemas.microsoft.com/office/drawing/2014/main" id="{382DF127-075D-7AE5-D281-F02BE7EEB024}"/>
                </a:ext>
              </a:extLst>
            </p:cNvPr>
            <p:cNvSpPr txBox="1"/>
            <p:nvPr/>
          </p:nvSpPr>
          <p:spPr>
            <a:xfrm>
              <a:off x="1691640" y="4910328"/>
              <a:ext cx="123444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0.395 [0.254,0.523]</a:t>
              </a:r>
            </a:p>
          </p:txBody>
        </p:sp>
        <p:sp>
          <p:nvSpPr>
            <p:cNvPr id="252" name="Rectangle 95">
              <a:extLst>
                <a:ext uri="{FF2B5EF4-FFF2-40B4-BE49-F238E27FC236}">
                  <a16:creationId xmlns:a16="http://schemas.microsoft.com/office/drawing/2014/main" id="{74FE1677-F9EE-DC8E-7B51-14C1910418F7}"/>
                </a:ext>
              </a:extLst>
            </p:cNvPr>
            <p:cNvSpPr/>
            <p:nvPr/>
          </p:nvSpPr>
          <p:spPr>
            <a:xfrm>
              <a:off x="2971800" y="4910328"/>
              <a:ext cx="1280160" cy="301752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3" name="TextBox 252">
              <a:extLst>
                <a:ext uri="{FF2B5EF4-FFF2-40B4-BE49-F238E27FC236}">
                  <a16:creationId xmlns:a16="http://schemas.microsoft.com/office/drawing/2014/main" id="{214B19A1-AC71-DA59-35C9-C829E159708A}"/>
                </a:ext>
              </a:extLst>
            </p:cNvPr>
            <p:cNvSpPr txBox="1"/>
            <p:nvPr/>
          </p:nvSpPr>
          <p:spPr>
            <a:xfrm>
              <a:off x="2971800" y="4910328"/>
              <a:ext cx="128016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0.457 [0.305,0.595]</a:t>
              </a:r>
            </a:p>
          </p:txBody>
        </p:sp>
        <p:sp>
          <p:nvSpPr>
            <p:cNvPr id="254" name="Rectangle 97">
              <a:extLst>
                <a:ext uri="{FF2B5EF4-FFF2-40B4-BE49-F238E27FC236}">
                  <a16:creationId xmlns:a16="http://schemas.microsoft.com/office/drawing/2014/main" id="{0A2F99AE-7029-4D16-FE74-C7BFD72C581C}"/>
                </a:ext>
              </a:extLst>
            </p:cNvPr>
            <p:cNvSpPr/>
            <p:nvPr/>
          </p:nvSpPr>
          <p:spPr>
            <a:xfrm>
              <a:off x="4297680" y="4910328"/>
              <a:ext cx="1143000" cy="301752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5" name="TextBox 254">
              <a:extLst>
                <a:ext uri="{FF2B5EF4-FFF2-40B4-BE49-F238E27FC236}">
                  <a16:creationId xmlns:a16="http://schemas.microsoft.com/office/drawing/2014/main" id="{D4AF373E-CFE0-CE3A-A58F-2D570DDED6B8}"/>
                </a:ext>
              </a:extLst>
            </p:cNvPr>
            <p:cNvSpPr txBox="1"/>
            <p:nvPr/>
          </p:nvSpPr>
          <p:spPr>
            <a:xfrm>
              <a:off x="4297680" y="4910328"/>
              <a:ext cx="114300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+0.062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647374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BE8E4B-F173-F621-E680-F6F85A7A7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2C676C-0FD8-37E1-84CE-F108030240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FC99D9-E899-A44D-EF16-B4C06440FF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22</a:t>
            </a:fld>
            <a:endParaRPr lang="ko-KR" altLang="en-US" dirty="0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F0DD72D9-D2E6-38C0-B4E6-6454DEB24B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Model 2 (Clinic + AEC) vs Model 3 (Clinic + AEC + Scanner) </a:t>
            </a:r>
            <a:r>
              <a:rPr lang="ko-KR" altLang="en-US" dirty="0"/>
              <a:t>비교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4D799574-5C4C-F6E9-26D0-2C7B421F7D7C}"/>
              </a:ext>
            </a:extLst>
          </p:cNvPr>
          <p:cNvSpPr/>
          <p:nvPr/>
        </p:nvSpPr>
        <p:spPr>
          <a:xfrm>
            <a:off x="274320" y="1619795"/>
            <a:ext cx="6858000" cy="41148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D42812-AEF9-5C63-AA8B-17960F32962D}"/>
              </a:ext>
            </a:extLst>
          </p:cNvPr>
          <p:cNvSpPr txBox="1"/>
          <p:nvPr/>
        </p:nvSpPr>
        <p:spPr>
          <a:xfrm>
            <a:off x="457200" y="1692947"/>
            <a:ext cx="649224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  <a:latin typeface="맑은 고딕"/>
              </a:rPr>
              <a:t>DeLong Test — M2(CrossAttn) vs M3(CrossAttn3)  [ 전 조건 ]</a:t>
            </a:r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EB6A6374-7E08-5936-364A-0C29754171F6}"/>
              </a:ext>
            </a:extLst>
          </p:cNvPr>
          <p:cNvSpPr/>
          <p:nvPr/>
        </p:nvSpPr>
        <p:spPr>
          <a:xfrm>
            <a:off x="457200" y="2012987"/>
            <a:ext cx="6492240" cy="36576"/>
          </a:xfrm>
          <a:prstGeom prst="rect">
            <a:avLst/>
          </a:prstGeom>
          <a:solidFill>
            <a:srgbClr val="9EA3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54" name="그룹 153">
            <a:extLst>
              <a:ext uri="{FF2B5EF4-FFF2-40B4-BE49-F238E27FC236}">
                <a16:creationId xmlns:a16="http://schemas.microsoft.com/office/drawing/2014/main" id="{8C1BD811-69BA-D93D-0A14-1CFFD7028AEC}"/>
              </a:ext>
            </a:extLst>
          </p:cNvPr>
          <p:cNvGrpSpPr/>
          <p:nvPr/>
        </p:nvGrpSpPr>
        <p:grpSpPr>
          <a:xfrm>
            <a:off x="457200" y="2175207"/>
            <a:ext cx="6492240" cy="3337560"/>
            <a:chOff x="411480" y="2058707"/>
            <a:chExt cx="6675120" cy="3337560"/>
          </a:xfrm>
        </p:grpSpPr>
        <p:sp>
          <p:nvSpPr>
            <p:cNvPr id="10" name="Rectangle 7">
              <a:extLst>
                <a:ext uri="{FF2B5EF4-FFF2-40B4-BE49-F238E27FC236}">
                  <a16:creationId xmlns:a16="http://schemas.microsoft.com/office/drawing/2014/main" id="{F28ABFAF-C6D7-CED7-EBA2-FB06884A39AC}"/>
                </a:ext>
              </a:extLst>
            </p:cNvPr>
            <p:cNvSpPr/>
            <p:nvPr/>
          </p:nvSpPr>
          <p:spPr>
            <a:xfrm>
              <a:off x="411480" y="2058707"/>
              <a:ext cx="164592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55706F6-7C64-19E4-A403-1C2651B5069E}"/>
                </a:ext>
              </a:extLst>
            </p:cNvPr>
            <p:cNvSpPr txBox="1"/>
            <p:nvPr/>
          </p:nvSpPr>
          <p:spPr>
            <a:xfrm>
              <a:off x="411480" y="2058707"/>
              <a:ext cx="164592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조건</a:t>
              </a:r>
            </a:p>
          </p:txBody>
        </p:sp>
        <p:sp>
          <p:nvSpPr>
            <p:cNvPr id="12" name="Rectangle 9">
              <a:extLst>
                <a:ext uri="{FF2B5EF4-FFF2-40B4-BE49-F238E27FC236}">
                  <a16:creationId xmlns:a16="http://schemas.microsoft.com/office/drawing/2014/main" id="{E539B361-D988-0209-322B-D20F13589D60}"/>
                </a:ext>
              </a:extLst>
            </p:cNvPr>
            <p:cNvSpPr/>
            <p:nvPr/>
          </p:nvSpPr>
          <p:spPr>
            <a:xfrm>
              <a:off x="2103120" y="2058707"/>
              <a:ext cx="100584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AA1359D-CEC3-AE78-D891-831267D52B00}"/>
                </a:ext>
              </a:extLst>
            </p:cNvPr>
            <p:cNvSpPr txBox="1"/>
            <p:nvPr/>
          </p:nvSpPr>
          <p:spPr>
            <a:xfrm>
              <a:off x="2103120" y="2058707"/>
              <a:ext cx="10058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M2 AUC</a:t>
              </a:r>
            </a:p>
          </p:txBody>
        </p:sp>
        <p:sp>
          <p:nvSpPr>
            <p:cNvPr id="14" name="Rectangle 11">
              <a:extLst>
                <a:ext uri="{FF2B5EF4-FFF2-40B4-BE49-F238E27FC236}">
                  <a16:creationId xmlns:a16="http://schemas.microsoft.com/office/drawing/2014/main" id="{88DB1F06-B523-F488-02F8-A62E54B3161E}"/>
                </a:ext>
              </a:extLst>
            </p:cNvPr>
            <p:cNvSpPr/>
            <p:nvPr/>
          </p:nvSpPr>
          <p:spPr>
            <a:xfrm>
              <a:off x="3154680" y="2058707"/>
              <a:ext cx="100584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E53DD02-FD0D-378D-5297-39D2E7F38548}"/>
                </a:ext>
              </a:extLst>
            </p:cNvPr>
            <p:cNvSpPr txBox="1"/>
            <p:nvPr/>
          </p:nvSpPr>
          <p:spPr>
            <a:xfrm>
              <a:off x="3154680" y="2058707"/>
              <a:ext cx="10058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M3 AUC</a:t>
              </a:r>
            </a:p>
          </p:txBody>
        </p:sp>
        <p:sp>
          <p:nvSpPr>
            <p:cNvPr id="16" name="Rectangle 13">
              <a:extLst>
                <a:ext uri="{FF2B5EF4-FFF2-40B4-BE49-F238E27FC236}">
                  <a16:creationId xmlns:a16="http://schemas.microsoft.com/office/drawing/2014/main" id="{36E1C8E9-379F-B7EE-6E7C-95299CDE4D62}"/>
                </a:ext>
              </a:extLst>
            </p:cNvPr>
            <p:cNvSpPr/>
            <p:nvPr/>
          </p:nvSpPr>
          <p:spPr>
            <a:xfrm>
              <a:off x="4206240" y="2058707"/>
              <a:ext cx="100584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BEA3D41-1741-D5D6-3998-E7F99CEEF88C}"/>
                </a:ext>
              </a:extLst>
            </p:cNvPr>
            <p:cNvSpPr txBox="1"/>
            <p:nvPr/>
          </p:nvSpPr>
          <p:spPr>
            <a:xfrm>
              <a:off x="4206240" y="2058707"/>
              <a:ext cx="10058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Δ AUC</a:t>
              </a:r>
            </a:p>
          </p:txBody>
        </p:sp>
        <p:sp>
          <p:nvSpPr>
            <p:cNvPr id="18" name="Rectangle 15">
              <a:extLst>
                <a:ext uri="{FF2B5EF4-FFF2-40B4-BE49-F238E27FC236}">
                  <a16:creationId xmlns:a16="http://schemas.microsoft.com/office/drawing/2014/main" id="{D21A3D42-5B06-344B-025E-98563E152028}"/>
                </a:ext>
              </a:extLst>
            </p:cNvPr>
            <p:cNvSpPr/>
            <p:nvPr/>
          </p:nvSpPr>
          <p:spPr>
            <a:xfrm>
              <a:off x="5257800" y="2058707"/>
              <a:ext cx="96012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9461974-3CDF-45EB-125B-0E257AB37D49}"/>
                </a:ext>
              </a:extLst>
            </p:cNvPr>
            <p:cNvSpPr txBox="1"/>
            <p:nvPr/>
          </p:nvSpPr>
          <p:spPr>
            <a:xfrm>
              <a:off x="5257800" y="2058707"/>
              <a:ext cx="96012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p-val</a:t>
              </a:r>
            </a:p>
          </p:txBody>
        </p:sp>
        <p:sp>
          <p:nvSpPr>
            <p:cNvPr id="20" name="Rectangle 17">
              <a:extLst>
                <a:ext uri="{FF2B5EF4-FFF2-40B4-BE49-F238E27FC236}">
                  <a16:creationId xmlns:a16="http://schemas.microsoft.com/office/drawing/2014/main" id="{BD6BC377-0268-0145-DE0E-DD1912EA679C}"/>
                </a:ext>
              </a:extLst>
            </p:cNvPr>
            <p:cNvSpPr/>
            <p:nvPr/>
          </p:nvSpPr>
          <p:spPr>
            <a:xfrm>
              <a:off x="6263640" y="2058707"/>
              <a:ext cx="82296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23907D7-2F92-36F6-1930-9CE829D37461}"/>
                </a:ext>
              </a:extLst>
            </p:cNvPr>
            <p:cNvSpPr txBox="1"/>
            <p:nvPr/>
          </p:nvSpPr>
          <p:spPr>
            <a:xfrm>
              <a:off x="6263640" y="2058707"/>
              <a:ext cx="82296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 i="0">
                  <a:solidFill>
                    <a:srgbClr val="FFFFFF"/>
                  </a:solidFill>
                  <a:latin typeface="맑은 고딕"/>
                </a:rPr>
                <a:t>sig</a:t>
              </a:r>
            </a:p>
          </p:txBody>
        </p:sp>
        <p:sp>
          <p:nvSpPr>
            <p:cNvPr id="22" name="Rectangle 19">
              <a:extLst>
                <a:ext uri="{FF2B5EF4-FFF2-40B4-BE49-F238E27FC236}">
                  <a16:creationId xmlns:a16="http://schemas.microsoft.com/office/drawing/2014/main" id="{4163F640-DA03-8558-B8DF-F58B859DF337}"/>
                </a:ext>
              </a:extLst>
            </p:cNvPr>
            <p:cNvSpPr/>
            <p:nvPr/>
          </p:nvSpPr>
          <p:spPr>
            <a:xfrm>
              <a:off x="411480" y="2351315"/>
              <a:ext cx="164592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D370FF8-0E3D-3BC7-71C7-FBDDF52D767E}"/>
                </a:ext>
              </a:extLst>
            </p:cNvPr>
            <p:cNvSpPr txBox="1"/>
            <p:nvPr/>
          </p:nvSpPr>
          <p:spPr>
            <a:xfrm>
              <a:off x="411480" y="2351315"/>
              <a:ext cx="164592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BCE+AEC128 norm</a:t>
              </a:r>
            </a:p>
          </p:txBody>
        </p:sp>
        <p:sp>
          <p:nvSpPr>
            <p:cNvPr id="24" name="Rectangle 21">
              <a:extLst>
                <a:ext uri="{FF2B5EF4-FFF2-40B4-BE49-F238E27FC236}">
                  <a16:creationId xmlns:a16="http://schemas.microsoft.com/office/drawing/2014/main" id="{C824452B-AA70-FF68-8BCB-6A350A7F0678}"/>
                </a:ext>
              </a:extLst>
            </p:cNvPr>
            <p:cNvSpPr/>
            <p:nvPr/>
          </p:nvSpPr>
          <p:spPr>
            <a:xfrm>
              <a:off x="2103120" y="2351315"/>
              <a:ext cx="100584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118E61C-E8CB-7EDB-8B68-A365030FBCFB}"/>
                </a:ext>
              </a:extLst>
            </p:cNvPr>
            <p:cNvSpPr txBox="1"/>
            <p:nvPr/>
          </p:nvSpPr>
          <p:spPr>
            <a:xfrm>
              <a:off x="2103120" y="2351315"/>
              <a:ext cx="100584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0.8868</a:t>
              </a:r>
            </a:p>
          </p:txBody>
        </p:sp>
        <p:sp>
          <p:nvSpPr>
            <p:cNvPr id="26" name="Rectangle 23">
              <a:extLst>
                <a:ext uri="{FF2B5EF4-FFF2-40B4-BE49-F238E27FC236}">
                  <a16:creationId xmlns:a16="http://schemas.microsoft.com/office/drawing/2014/main" id="{1EC0CA85-E817-99C8-4D09-56376605275B}"/>
                </a:ext>
              </a:extLst>
            </p:cNvPr>
            <p:cNvSpPr/>
            <p:nvPr/>
          </p:nvSpPr>
          <p:spPr>
            <a:xfrm>
              <a:off x="3154680" y="2351315"/>
              <a:ext cx="100584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DF25A4E-EF20-9703-62EC-01D74FF2071F}"/>
                </a:ext>
              </a:extLst>
            </p:cNvPr>
            <p:cNvSpPr txBox="1"/>
            <p:nvPr/>
          </p:nvSpPr>
          <p:spPr>
            <a:xfrm>
              <a:off x="3154680" y="2351315"/>
              <a:ext cx="100584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0.8944</a:t>
              </a:r>
            </a:p>
          </p:txBody>
        </p:sp>
        <p:sp>
          <p:nvSpPr>
            <p:cNvPr id="28" name="Rectangle 25">
              <a:extLst>
                <a:ext uri="{FF2B5EF4-FFF2-40B4-BE49-F238E27FC236}">
                  <a16:creationId xmlns:a16="http://schemas.microsoft.com/office/drawing/2014/main" id="{4F3F6BDB-DF02-4123-F7CB-DAEBC8F7FB70}"/>
                </a:ext>
              </a:extLst>
            </p:cNvPr>
            <p:cNvSpPr/>
            <p:nvPr/>
          </p:nvSpPr>
          <p:spPr>
            <a:xfrm>
              <a:off x="4206240" y="2351315"/>
              <a:ext cx="100584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6D70783-3A14-A765-B2FB-5986424A662C}"/>
                </a:ext>
              </a:extLst>
            </p:cNvPr>
            <p:cNvSpPr txBox="1"/>
            <p:nvPr/>
          </p:nvSpPr>
          <p:spPr>
            <a:xfrm>
              <a:off x="4206240" y="2351315"/>
              <a:ext cx="100584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+0.008</a:t>
              </a:r>
            </a:p>
          </p:txBody>
        </p:sp>
        <p:sp>
          <p:nvSpPr>
            <p:cNvPr id="30" name="Rectangle 27">
              <a:extLst>
                <a:ext uri="{FF2B5EF4-FFF2-40B4-BE49-F238E27FC236}">
                  <a16:creationId xmlns:a16="http://schemas.microsoft.com/office/drawing/2014/main" id="{C4DD1F83-520C-4571-7365-CDD8649C813B}"/>
                </a:ext>
              </a:extLst>
            </p:cNvPr>
            <p:cNvSpPr/>
            <p:nvPr/>
          </p:nvSpPr>
          <p:spPr>
            <a:xfrm>
              <a:off x="5257800" y="2351315"/>
              <a:ext cx="96012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D686A44-58C4-40C6-2588-6F753444D58C}"/>
                </a:ext>
              </a:extLst>
            </p:cNvPr>
            <p:cNvSpPr txBox="1"/>
            <p:nvPr/>
          </p:nvSpPr>
          <p:spPr>
            <a:xfrm>
              <a:off x="5257800" y="2351315"/>
              <a:ext cx="96012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0.437</a:t>
              </a:r>
            </a:p>
          </p:txBody>
        </p:sp>
        <p:sp>
          <p:nvSpPr>
            <p:cNvPr id="32" name="Rectangle 29">
              <a:extLst>
                <a:ext uri="{FF2B5EF4-FFF2-40B4-BE49-F238E27FC236}">
                  <a16:creationId xmlns:a16="http://schemas.microsoft.com/office/drawing/2014/main" id="{8FB5EB7A-765C-18B1-9C0A-968544ACF175}"/>
                </a:ext>
              </a:extLst>
            </p:cNvPr>
            <p:cNvSpPr/>
            <p:nvPr/>
          </p:nvSpPr>
          <p:spPr>
            <a:xfrm>
              <a:off x="6263640" y="2351315"/>
              <a:ext cx="82296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2749D64-08C9-79A8-2427-E2D6B5E2DB7B}"/>
                </a:ext>
              </a:extLst>
            </p:cNvPr>
            <p:cNvSpPr txBox="1"/>
            <p:nvPr/>
          </p:nvSpPr>
          <p:spPr>
            <a:xfrm>
              <a:off x="6263640" y="2351315"/>
              <a:ext cx="82296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ns</a:t>
              </a:r>
            </a:p>
          </p:txBody>
        </p:sp>
        <p:sp>
          <p:nvSpPr>
            <p:cNvPr id="34" name="Rectangle 31">
              <a:extLst>
                <a:ext uri="{FF2B5EF4-FFF2-40B4-BE49-F238E27FC236}">
                  <a16:creationId xmlns:a16="http://schemas.microsoft.com/office/drawing/2014/main" id="{BF3B3800-596A-F7B8-0DA6-B127698683DA}"/>
                </a:ext>
              </a:extLst>
            </p:cNvPr>
            <p:cNvSpPr/>
            <p:nvPr/>
          </p:nvSpPr>
          <p:spPr>
            <a:xfrm>
              <a:off x="411480" y="2689643"/>
              <a:ext cx="164592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241C636-298F-ED18-1D94-B80CDEDF0F81}"/>
                </a:ext>
              </a:extLst>
            </p:cNvPr>
            <p:cNvSpPr txBox="1"/>
            <p:nvPr/>
          </p:nvSpPr>
          <p:spPr>
            <a:xfrm>
              <a:off x="411480" y="2689643"/>
              <a:ext cx="164592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BCE+AEC128 crop60</a:t>
              </a:r>
            </a:p>
          </p:txBody>
        </p:sp>
        <p:sp>
          <p:nvSpPr>
            <p:cNvPr id="36" name="Rectangle 33">
              <a:extLst>
                <a:ext uri="{FF2B5EF4-FFF2-40B4-BE49-F238E27FC236}">
                  <a16:creationId xmlns:a16="http://schemas.microsoft.com/office/drawing/2014/main" id="{C96662DA-6895-8375-F999-B31997A7DEA5}"/>
                </a:ext>
              </a:extLst>
            </p:cNvPr>
            <p:cNvSpPr/>
            <p:nvPr/>
          </p:nvSpPr>
          <p:spPr>
            <a:xfrm>
              <a:off x="2103120" y="2689643"/>
              <a:ext cx="100584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49FF4009-4C51-1810-F893-A59CC4B3FC14}"/>
                </a:ext>
              </a:extLst>
            </p:cNvPr>
            <p:cNvSpPr txBox="1"/>
            <p:nvPr/>
          </p:nvSpPr>
          <p:spPr>
            <a:xfrm>
              <a:off x="2103120" y="2689643"/>
              <a:ext cx="100584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0.8635</a:t>
              </a:r>
            </a:p>
          </p:txBody>
        </p:sp>
        <p:sp>
          <p:nvSpPr>
            <p:cNvPr id="38" name="Rectangle 35">
              <a:extLst>
                <a:ext uri="{FF2B5EF4-FFF2-40B4-BE49-F238E27FC236}">
                  <a16:creationId xmlns:a16="http://schemas.microsoft.com/office/drawing/2014/main" id="{7D71BB97-EC88-EA76-E32E-69E5C5DCA2E0}"/>
                </a:ext>
              </a:extLst>
            </p:cNvPr>
            <p:cNvSpPr/>
            <p:nvPr/>
          </p:nvSpPr>
          <p:spPr>
            <a:xfrm>
              <a:off x="3154680" y="2689643"/>
              <a:ext cx="100584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7E2FC837-CCD9-26F3-37D9-81BA26D7A0CC}"/>
                </a:ext>
              </a:extLst>
            </p:cNvPr>
            <p:cNvSpPr txBox="1"/>
            <p:nvPr/>
          </p:nvSpPr>
          <p:spPr>
            <a:xfrm>
              <a:off x="3154680" y="2689643"/>
              <a:ext cx="100584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0.8505</a:t>
              </a:r>
            </a:p>
          </p:txBody>
        </p:sp>
        <p:sp>
          <p:nvSpPr>
            <p:cNvPr id="40" name="Rectangle 37">
              <a:extLst>
                <a:ext uri="{FF2B5EF4-FFF2-40B4-BE49-F238E27FC236}">
                  <a16:creationId xmlns:a16="http://schemas.microsoft.com/office/drawing/2014/main" id="{315D9C55-954B-C1C5-D2B3-5A46A5FDB4E5}"/>
                </a:ext>
              </a:extLst>
            </p:cNvPr>
            <p:cNvSpPr/>
            <p:nvPr/>
          </p:nvSpPr>
          <p:spPr>
            <a:xfrm>
              <a:off x="4206240" y="2689643"/>
              <a:ext cx="100584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0EC82ED0-8C3F-9427-A5ED-05A6A4A8A7CA}"/>
                </a:ext>
              </a:extLst>
            </p:cNvPr>
            <p:cNvSpPr txBox="1"/>
            <p:nvPr/>
          </p:nvSpPr>
          <p:spPr>
            <a:xfrm>
              <a:off x="4206240" y="2689643"/>
              <a:ext cx="100584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-0.013</a:t>
              </a:r>
            </a:p>
          </p:txBody>
        </p:sp>
        <p:sp>
          <p:nvSpPr>
            <p:cNvPr id="42" name="Rectangle 39">
              <a:extLst>
                <a:ext uri="{FF2B5EF4-FFF2-40B4-BE49-F238E27FC236}">
                  <a16:creationId xmlns:a16="http://schemas.microsoft.com/office/drawing/2014/main" id="{376A0E0D-DC06-32FE-D175-135CF9E3D805}"/>
                </a:ext>
              </a:extLst>
            </p:cNvPr>
            <p:cNvSpPr/>
            <p:nvPr/>
          </p:nvSpPr>
          <p:spPr>
            <a:xfrm>
              <a:off x="5257800" y="2689643"/>
              <a:ext cx="96012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036EB026-6486-5E04-EF29-80257F461747}"/>
                </a:ext>
              </a:extLst>
            </p:cNvPr>
            <p:cNvSpPr txBox="1"/>
            <p:nvPr/>
          </p:nvSpPr>
          <p:spPr>
            <a:xfrm>
              <a:off x="5257800" y="2689643"/>
              <a:ext cx="96012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0.513</a:t>
              </a:r>
            </a:p>
          </p:txBody>
        </p:sp>
        <p:sp>
          <p:nvSpPr>
            <p:cNvPr id="44" name="Rectangle 41">
              <a:extLst>
                <a:ext uri="{FF2B5EF4-FFF2-40B4-BE49-F238E27FC236}">
                  <a16:creationId xmlns:a16="http://schemas.microsoft.com/office/drawing/2014/main" id="{658550E2-162A-1405-EC66-C9F41953613A}"/>
                </a:ext>
              </a:extLst>
            </p:cNvPr>
            <p:cNvSpPr/>
            <p:nvPr/>
          </p:nvSpPr>
          <p:spPr>
            <a:xfrm>
              <a:off x="6263640" y="2689643"/>
              <a:ext cx="82296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104DD7D4-C4B1-2F91-573B-345BBB5E3996}"/>
                </a:ext>
              </a:extLst>
            </p:cNvPr>
            <p:cNvSpPr txBox="1"/>
            <p:nvPr/>
          </p:nvSpPr>
          <p:spPr>
            <a:xfrm>
              <a:off x="6263640" y="2689643"/>
              <a:ext cx="82296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ns</a:t>
              </a:r>
            </a:p>
          </p:txBody>
        </p:sp>
        <p:sp>
          <p:nvSpPr>
            <p:cNvPr id="46" name="Rectangle 43">
              <a:extLst>
                <a:ext uri="{FF2B5EF4-FFF2-40B4-BE49-F238E27FC236}">
                  <a16:creationId xmlns:a16="http://schemas.microsoft.com/office/drawing/2014/main" id="{798F76F6-FA61-6375-D82B-C8BE8108E6D4}"/>
                </a:ext>
              </a:extLst>
            </p:cNvPr>
            <p:cNvSpPr/>
            <p:nvPr/>
          </p:nvSpPr>
          <p:spPr>
            <a:xfrm>
              <a:off x="411480" y="3027971"/>
              <a:ext cx="164592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591CAE54-00C1-99C9-F149-649AE2093E87}"/>
                </a:ext>
              </a:extLst>
            </p:cNvPr>
            <p:cNvSpPr txBox="1"/>
            <p:nvPr/>
          </p:nvSpPr>
          <p:spPr>
            <a:xfrm>
              <a:off x="411480" y="3027971"/>
              <a:ext cx="164592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BCE+AEC128 crop80</a:t>
              </a:r>
            </a:p>
          </p:txBody>
        </p:sp>
        <p:sp>
          <p:nvSpPr>
            <p:cNvPr id="48" name="Rectangle 45">
              <a:extLst>
                <a:ext uri="{FF2B5EF4-FFF2-40B4-BE49-F238E27FC236}">
                  <a16:creationId xmlns:a16="http://schemas.microsoft.com/office/drawing/2014/main" id="{8C237F21-8D1E-E336-263A-B877E28789D0}"/>
                </a:ext>
              </a:extLst>
            </p:cNvPr>
            <p:cNvSpPr/>
            <p:nvPr/>
          </p:nvSpPr>
          <p:spPr>
            <a:xfrm>
              <a:off x="2103120" y="3027971"/>
              <a:ext cx="100584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C6D0883C-BC7B-CC35-9607-3359BB0CFDC3}"/>
                </a:ext>
              </a:extLst>
            </p:cNvPr>
            <p:cNvSpPr txBox="1"/>
            <p:nvPr/>
          </p:nvSpPr>
          <p:spPr>
            <a:xfrm>
              <a:off x="2103120" y="3027971"/>
              <a:ext cx="100584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0.8612</a:t>
              </a:r>
            </a:p>
          </p:txBody>
        </p:sp>
        <p:sp>
          <p:nvSpPr>
            <p:cNvPr id="50" name="Rectangle 47">
              <a:extLst>
                <a:ext uri="{FF2B5EF4-FFF2-40B4-BE49-F238E27FC236}">
                  <a16:creationId xmlns:a16="http://schemas.microsoft.com/office/drawing/2014/main" id="{EF4C1CE4-38CA-13EE-CEB4-095F54434CB4}"/>
                </a:ext>
              </a:extLst>
            </p:cNvPr>
            <p:cNvSpPr/>
            <p:nvPr/>
          </p:nvSpPr>
          <p:spPr>
            <a:xfrm>
              <a:off x="3154680" y="3027971"/>
              <a:ext cx="100584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A4E164E9-F2DD-A85D-B1B7-866E506D4C0B}"/>
                </a:ext>
              </a:extLst>
            </p:cNvPr>
            <p:cNvSpPr txBox="1"/>
            <p:nvPr/>
          </p:nvSpPr>
          <p:spPr>
            <a:xfrm>
              <a:off x="3154680" y="3027971"/>
              <a:ext cx="100584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0.8575</a:t>
              </a:r>
            </a:p>
          </p:txBody>
        </p:sp>
        <p:sp>
          <p:nvSpPr>
            <p:cNvPr id="52" name="Rectangle 49">
              <a:extLst>
                <a:ext uri="{FF2B5EF4-FFF2-40B4-BE49-F238E27FC236}">
                  <a16:creationId xmlns:a16="http://schemas.microsoft.com/office/drawing/2014/main" id="{993AB446-D61C-395B-C591-987473926932}"/>
                </a:ext>
              </a:extLst>
            </p:cNvPr>
            <p:cNvSpPr/>
            <p:nvPr/>
          </p:nvSpPr>
          <p:spPr>
            <a:xfrm>
              <a:off x="4206240" y="3027971"/>
              <a:ext cx="100584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5419D0E-57A7-0465-DE54-9E1C4A03397A}"/>
                </a:ext>
              </a:extLst>
            </p:cNvPr>
            <p:cNvSpPr txBox="1"/>
            <p:nvPr/>
          </p:nvSpPr>
          <p:spPr>
            <a:xfrm>
              <a:off x="4206240" y="3027971"/>
              <a:ext cx="100584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-0.004</a:t>
              </a:r>
            </a:p>
          </p:txBody>
        </p:sp>
        <p:sp>
          <p:nvSpPr>
            <p:cNvPr id="54" name="Rectangle 51">
              <a:extLst>
                <a:ext uri="{FF2B5EF4-FFF2-40B4-BE49-F238E27FC236}">
                  <a16:creationId xmlns:a16="http://schemas.microsoft.com/office/drawing/2014/main" id="{712BD9FA-8C34-EEE9-AEBB-83927538A7FB}"/>
                </a:ext>
              </a:extLst>
            </p:cNvPr>
            <p:cNvSpPr/>
            <p:nvPr/>
          </p:nvSpPr>
          <p:spPr>
            <a:xfrm>
              <a:off x="5257800" y="3027971"/>
              <a:ext cx="96012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2FC88A8-9A88-35A6-B219-9534238E6893}"/>
                </a:ext>
              </a:extLst>
            </p:cNvPr>
            <p:cNvSpPr txBox="1"/>
            <p:nvPr/>
          </p:nvSpPr>
          <p:spPr>
            <a:xfrm>
              <a:off x="5257800" y="3027971"/>
              <a:ext cx="96012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0.793</a:t>
              </a:r>
            </a:p>
          </p:txBody>
        </p:sp>
        <p:sp>
          <p:nvSpPr>
            <p:cNvPr id="56" name="Rectangle 53">
              <a:extLst>
                <a:ext uri="{FF2B5EF4-FFF2-40B4-BE49-F238E27FC236}">
                  <a16:creationId xmlns:a16="http://schemas.microsoft.com/office/drawing/2014/main" id="{85D6CA28-DD88-B69F-06E0-DE25ED73B886}"/>
                </a:ext>
              </a:extLst>
            </p:cNvPr>
            <p:cNvSpPr/>
            <p:nvPr/>
          </p:nvSpPr>
          <p:spPr>
            <a:xfrm>
              <a:off x="6263640" y="3027971"/>
              <a:ext cx="82296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57926E41-C4EF-989A-4F54-C1D2D6B4346E}"/>
                </a:ext>
              </a:extLst>
            </p:cNvPr>
            <p:cNvSpPr txBox="1"/>
            <p:nvPr/>
          </p:nvSpPr>
          <p:spPr>
            <a:xfrm>
              <a:off x="6263640" y="3027971"/>
              <a:ext cx="82296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ns</a:t>
              </a:r>
            </a:p>
          </p:txBody>
        </p:sp>
        <p:sp>
          <p:nvSpPr>
            <p:cNvPr id="58" name="Rectangle 55">
              <a:extLst>
                <a:ext uri="{FF2B5EF4-FFF2-40B4-BE49-F238E27FC236}">
                  <a16:creationId xmlns:a16="http://schemas.microsoft.com/office/drawing/2014/main" id="{05C9B36C-1D17-457F-F5DF-539A90E428D9}"/>
                </a:ext>
              </a:extLst>
            </p:cNvPr>
            <p:cNvSpPr/>
            <p:nvPr/>
          </p:nvSpPr>
          <p:spPr>
            <a:xfrm>
              <a:off x="411480" y="3366299"/>
              <a:ext cx="164592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0D7F0AB9-1206-5F35-0306-9032D8D42C5F}"/>
                </a:ext>
              </a:extLst>
            </p:cNvPr>
            <p:cNvSpPr txBox="1"/>
            <p:nvPr/>
          </p:nvSpPr>
          <p:spPr>
            <a:xfrm>
              <a:off x="411480" y="3366299"/>
              <a:ext cx="164592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BCE+AEC128 len128</a:t>
              </a:r>
            </a:p>
          </p:txBody>
        </p:sp>
        <p:sp>
          <p:nvSpPr>
            <p:cNvPr id="60" name="Rectangle 57">
              <a:extLst>
                <a:ext uri="{FF2B5EF4-FFF2-40B4-BE49-F238E27FC236}">
                  <a16:creationId xmlns:a16="http://schemas.microsoft.com/office/drawing/2014/main" id="{0D0201FD-1B30-9297-407D-C9F1F46ECF24}"/>
                </a:ext>
              </a:extLst>
            </p:cNvPr>
            <p:cNvSpPr/>
            <p:nvPr/>
          </p:nvSpPr>
          <p:spPr>
            <a:xfrm>
              <a:off x="2103120" y="3366299"/>
              <a:ext cx="100584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504FC06A-A048-B3DD-F628-C8014751BCE2}"/>
                </a:ext>
              </a:extLst>
            </p:cNvPr>
            <p:cNvSpPr txBox="1"/>
            <p:nvPr/>
          </p:nvSpPr>
          <p:spPr>
            <a:xfrm>
              <a:off x="2103120" y="3366299"/>
              <a:ext cx="100584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0.8578</a:t>
              </a:r>
            </a:p>
          </p:txBody>
        </p:sp>
        <p:sp>
          <p:nvSpPr>
            <p:cNvPr id="63" name="Rectangle 59">
              <a:extLst>
                <a:ext uri="{FF2B5EF4-FFF2-40B4-BE49-F238E27FC236}">
                  <a16:creationId xmlns:a16="http://schemas.microsoft.com/office/drawing/2014/main" id="{CFB5E9BD-0888-AED9-A80B-A663B5922FAC}"/>
                </a:ext>
              </a:extLst>
            </p:cNvPr>
            <p:cNvSpPr/>
            <p:nvPr/>
          </p:nvSpPr>
          <p:spPr>
            <a:xfrm>
              <a:off x="3154680" y="3366299"/>
              <a:ext cx="100584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2FCC2BB3-8632-16DF-F50A-B609A4B8EE32}"/>
                </a:ext>
              </a:extLst>
            </p:cNvPr>
            <p:cNvSpPr txBox="1"/>
            <p:nvPr/>
          </p:nvSpPr>
          <p:spPr>
            <a:xfrm>
              <a:off x="3154680" y="3366299"/>
              <a:ext cx="100584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0.8357</a:t>
              </a:r>
            </a:p>
          </p:txBody>
        </p:sp>
        <p:sp>
          <p:nvSpPr>
            <p:cNvPr id="65" name="Rectangle 61">
              <a:extLst>
                <a:ext uri="{FF2B5EF4-FFF2-40B4-BE49-F238E27FC236}">
                  <a16:creationId xmlns:a16="http://schemas.microsoft.com/office/drawing/2014/main" id="{FE289910-0470-4AE4-40A0-5949289AC94E}"/>
                </a:ext>
              </a:extLst>
            </p:cNvPr>
            <p:cNvSpPr/>
            <p:nvPr/>
          </p:nvSpPr>
          <p:spPr>
            <a:xfrm>
              <a:off x="4206240" y="3366299"/>
              <a:ext cx="100584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42ADAF61-DF8F-EE9C-B3B4-ED32D41AA2C1}"/>
                </a:ext>
              </a:extLst>
            </p:cNvPr>
            <p:cNvSpPr txBox="1"/>
            <p:nvPr/>
          </p:nvSpPr>
          <p:spPr>
            <a:xfrm>
              <a:off x="4206240" y="3366299"/>
              <a:ext cx="100584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-0.022</a:t>
              </a:r>
            </a:p>
          </p:txBody>
        </p:sp>
        <p:sp>
          <p:nvSpPr>
            <p:cNvPr id="67" name="Rectangle 63">
              <a:extLst>
                <a:ext uri="{FF2B5EF4-FFF2-40B4-BE49-F238E27FC236}">
                  <a16:creationId xmlns:a16="http://schemas.microsoft.com/office/drawing/2014/main" id="{503877D7-4B80-FA98-5A94-A0E80FA03C5D}"/>
                </a:ext>
              </a:extLst>
            </p:cNvPr>
            <p:cNvSpPr/>
            <p:nvPr/>
          </p:nvSpPr>
          <p:spPr>
            <a:xfrm>
              <a:off x="5257800" y="3366299"/>
              <a:ext cx="96012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DE104692-135C-EE4E-9C92-C0D382BFC96F}"/>
                </a:ext>
              </a:extLst>
            </p:cNvPr>
            <p:cNvSpPr txBox="1"/>
            <p:nvPr/>
          </p:nvSpPr>
          <p:spPr>
            <a:xfrm>
              <a:off x="5257800" y="3366299"/>
              <a:ext cx="96012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0.255</a:t>
              </a:r>
            </a:p>
          </p:txBody>
        </p:sp>
        <p:sp>
          <p:nvSpPr>
            <p:cNvPr id="69" name="Rectangle 65">
              <a:extLst>
                <a:ext uri="{FF2B5EF4-FFF2-40B4-BE49-F238E27FC236}">
                  <a16:creationId xmlns:a16="http://schemas.microsoft.com/office/drawing/2014/main" id="{F2A838FE-265C-F9AC-FFC4-6AB03CE87EE5}"/>
                </a:ext>
              </a:extLst>
            </p:cNvPr>
            <p:cNvSpPr/>
            <p:nvPr/>
          </p:nvSpPr>
          <p:spPr>
            <a:xfrm>
              <a:off x="6263640" y="3366299"/>
              <a:ext cx="82296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D6746E42-9B7A-5F02-9B45-BFAEB33BC944}"/>
                </a:ext>
              </a:extLst>
            </p:cNvPr>
            <p:cNvSpPr txBox="1"/>
            <p:nvPr/>
          </p:nvSpPr>
          <p:spPr>
            <a:xfrm>
              <a:off x="6263640" y="3366299"/>
              <a:ext cx="82296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ns</a:t>
              </a:r>
            </a:p>
          </p:txBody>
        </p:sp>
        <p:sp>
          <p:nvSpPr>
            <p:cNvPr id="71" name="Rectangle 67">
              <a:extLst>
                <a:ext uri="{FF2B5EF4-FFF2-40B4-BE49-F238E27FC236}">
                  <a16:creationId xmlns:a16="http://schemas.microsoft.com/office/drawing/2014/main" id="{A5108985-68F0-4C41-F7DE-3F9BFD9966A7}"/>
                </a:ext>
              </a:extLst>
            </p:cNvPr>
            <p:cNvSpPr/>
            <p:nvPr/>
          </p:nvSpPr>
          <p:spPr>
            <a:xfrm>
              <a:off x="411480" y="3704627"/>
              <a:ext cx="164592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93306DEB-C851-2582-B0F4-BAC02346C260}"/>
                </a:ext>
              </a:extLst>
            </p:cNvPr>
            <p:cNvSpPr txBox="1"/>
            <p:nvPr/>
          </p:nvSpPr>
          <p:spPr>
            <a:xfrm>
              <a:off x="411480" y="3704627"/>
              <a:ext cx="164592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BCE+AEC256 norm</a:t>
              </a:r>
            </a:p>
          </p:txBody>
        </p:sp>
        <p:sp>
          <p:nvSpPr>
            <p:cNvPr id="73" name="Rectangle 69">
              <a:extLst>
                <a:ext uri="{FF2B5EF4-FFF2-40B4-BE49-F238E27FC236}">
                  <a16:creationId xmlns:a16="http://schemas.microsoft.com/office/drawing/2014/main" id="{AF22244E-8265-92AE-15FD-B80D2EDE14BF}"/>
                </a:ext>
              </a:extLst>
            </p:cNvPr>
            <p:cNvSpPr/>
            <p:nvPr/>
          </p:nvSpPr>
          <p:spPr>
            <a:xfrm>
              <a:off x="2103120" y="3704627"/>
              <a:ext cx="100584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3DA0C7AA-8E85-BD51-74AA-B9365F9E13E5}"/>
                </a:ext>
              </a:extLst>
            </p:cNvPr>
            <p:cNvSpPr txBox="1"/>
            <p:nvPr/>
          </p:nvSpPr>
          <p:spPr>
            <a:xfrm>
              <a:off x="2103120" y="3704627"/>
              <a:ext cx="100584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0.8884</a:t>
              </a:r>
            </a:p>
          </p:txBody>
        </p:sp>
        <p:sp>
          <p:nvSpPr>
            <p:cNvPr id="75" name="Rectangle 71">
              <a:extLst>
                <a:ext uri="{FF2B5EF4-FFF2-40B4-BE49-F238E27FC236}">
                  <a16:creationId xmlns:a16="http://schemas.microsoft.com/office/drawing/2014/main" id="{82C262CA-9658-F6FF-FCF2-CF95CA8F1D5C}"/>
                </a:ext>
              </a:extLst>
            </p:cNvPr>
            <p:cNvSpPr/>
            <p:nvPr/>
          </p:nvSpPr>
          <p:spPr>
            <a:xfrm>
              <a:off x="3154680" y="3704627"/>
              <a:ext cx="100584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417ACE1D-9755-8594-EA7B-3F75AE64AEC4}"/>
                </a:ext>
              </a:extLst>
            </p:cNvPr>
            <p:cNvSpPr txBox="1"/>
            <p:nvPr/>
          </p:nvSpPr>
          <p:spPr>
            <a:xfrm>
              <a:off x="3154680" y="3704627"/>
              <a:ext cx="100584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0.8858</a:t>
              </a:r>
            </a:p>
          </p:txBody>
        </p:sp>
        <p:sp>
          <p:nvSpPr>
            <p:cNvPr id="77" name="Rectangle 73">
              <a:extLst>
                <a:ext uri="{FF2B5EF4-FFF2-40B4-BE49-F238E27FC236}">
                  <a16:creationId xmlns:a16="http://schemas.microsoft.com/office/drawing/2014/main" id="{9E94810D-33D2-2F06-107E-4358601EA3DD}"/>
                </a:ext>
              </a:extLst>
            </p:cNvPr>
            <p:cNvSpPr/>
            <p:nvPr/>
          </p:nvSpPr>
          <p:spPr>
            <a:xfrm>
              <a:off x="4206240" y="3704627"/>
              <a:ext cx="100584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CA792171-97DC-D0FF-5426-FE9A6D9FF93A}"/>
                </a:ext>
              </a:extLst>
            </p:cNvPr>
            <p:cNvSpPr txBox="1"/>
            <p:nvPr/>
          </p:nvSpPr>
          <p:spPr>
            <a:xfrm>
              <a:off x="4206240" y="3704627"/>
              <a:ext cx="100584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-0.003</a:t>
              </a:r>
            </a:p>
          </p:txBody>
        </p:sp>
        <p:sp>
          <p:nvSpPr>
            <p:cNvPr id="79" name="Rectangle 75">
              <a:extLst>
                <a:ext uri="{FF2B5EF4-FFF2-40B4-BE49-F238E27FC236}">
                  <a16:creationId xmlns:a16="http://schemas.microsoft.com/office/drawing/2014/main" id="{9FA839EF-01BF-3F24-31C1-EAB867D6C248}"/>
                </a:ext>
              </a:extLst>
            </p:cNvPr>
            <p:cNvSpPr/>
            <p:nvPr/>
          </p:nvSpPr>
          <p:spPr>
            <a:xfrm>
              <a:off x="5257800" y="3704627"/>
              <a:ext cx="96012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29E705C2-8C4C-338C-31A3-0A504C83519A}"/>
                </a:ext>
              </a:extLst>
            </p:cNvPr>
            <p:cNvSpPr txBox="1"/>
            <p:nvPr/>
          </p:nvSpPr>
          <p:spPr>
            <a:xfrm>
              <a:off x="5257800" y="3704627"/>
              <a:ext cx="96012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0.851</a:t>
              </a:r>
            </a:p>
          </p:txBody>
        </p:sp>
        <p:sp>
          <p:nvSpPr>
            <p:cNvPr id="81" name="Rectangle 77">
              <a:extLst>
                <a:ext uri="{FF2B5EF4-FFF2-40B4-BE49-F238E27FC236}">
                  <a16:creationId xmlns:a16="http://schemas.microsoft.com/office/drawing/2014/main" id="{05239E58-F330-ED81-81F0-C69165F55602}"/>
                </a:ext>
              </a:extLst>
            </p:cNvPr>
            <p:cNvSpPr/>
            <p:nvPr/>
          </p:nvSpPr>
          <p:spPr>
            <a:xfrm>
              <a:off x="6263640" y="3704627"/>
              <a:ext cx="82296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131A6150-CACF-8EE7-5F49-7D20DEBF8E6D}"/>
                </a:ext>
              </a:extLst>
            </p:cNvPr>
            <p:cNvSpPr txBox="1"/>
            <p:nvPr/>
          </p:nvSpPr>
          <p:spPr>
            <a:xfrm>
              <a:off x="6263640" y="3704627"/>
              <a:ext cx="82296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ns</a:t>
              </a:r>
            </a:p>
          </p:txBody>
        </p:sp>
        <p:sp>
          <p:nvSpPr>
            <p:cNvPr id="83" name="Rectangle 79">
              <a:extLst>
                <a:ext uri="{FF2B5EF4-FFF2-40B4-BE49-F238E27FC236}">
                  <a16:creationId xmlns:a16="http://schemas.microsoft.com/office/drawing/2014/main" id="{A9E52CF5-28FC-D788-8322-A81E257B96CF}"/>
                </a:ext>
              </a:extLst>
            </p:cNvPr>
            <p:cNvSpPr/>
            <p:nvPr/>
          </p:nvSpPr>
          <p:spPr>
            <a:xfrm>
              <a:off x="411480" y="4042955"/>
              <a:ext cx="164592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CF9D7E85-AB60-8D43-5B6D-25FBBA6E9007}"/>
                </a:ext>
              </a:extLst>
            </p:cNvPr>
            <p:cNvSpPr txBox="1"/>
            <p:nvPr/>
          </p:nvSpPr>
          <p:spPr>
            <a:xfrm>
              <a:off x="411480" y="4042955"/>
              <a:ext cx="164592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BCE+AEC256 len128</a:t>
              </a:r>
            </a:p>
          </p:txBody>
        </p:sp>
        <p:sp>
          <p:nvSpPr>
            <p:cNvPr id="85" name="Rectangle 81">
              <a:extLst>
                <a:ext uri="{FF2B5EF4-FFF2-40B4-BE49-F238E27FC236}">
                  <a16:creationId xmlns:a16="http://schemas.microsoft.com/office/drawing/2014/main" id="{9E8739C5-EC58-4A83-4F03-E01ACDE0D77E}"/>
                </a:ext>
              </a:extLst>
            </p:cNvPr>
            <p:cNvSpPr/>
            <p:nvPr/>
          </p:nvSpPr>
          <p:spPr>
            <a:xfrm>
              <a:off x="2103120" y="4042955"/>
              <a:ext cx="100584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7C7FE175-77EA-588B-1ABC-2F24933BFFD4}"/>
                </a:ext>
              </a:extLst>
            </p:cNvPr>
            <p:cNvSpPr txBox="1"/>
            <p:nvPr/>
          </p:nvSpPr>
          <p:spPr>
            <a:xfrm>
              <a:off x="2103120" y="4042955"/>
              <a:ext cx="100584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0.8694</a:t>
              </a:r>
            </a:p>
          </p:txBody>
        </p:sp>
        <p:sp>
          <p:nvSpPr>
            <p:cNvPr id="87" name="Rectangle 83">
              <a:extLst>
                <a:ext uri="{FF2B5EF4-FFF2-40B4-BE49-F238E27FC236}">
                  <a16:creationId xmlns:a16="http://schemas.microsoft.com/office/drawing/2014/main" id="{90FEBCAC-9948-738D-E03F-B0CEE40B5207}"/>
                </a:ext>
              </a:extLst>
            </p:cNvPr>
            <p:cNvSpPr/>
            <p:nvPr/>
          </p:nvSpPr>
          <p:spPr>
            <a:xfrm>
              <a:off x="3154680" y="4042955"/>
              <a:ext cx="100584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91EB8BDD-2214-5888-BE58-5354CEE9BBBD}"/>
                </a:ext>
              </a:extLst>
            </p:cNvPr>
            <p:cNvSpPr txBox="1"/>
            <p:nvPr/>
          </p:nvSpPr>
          <p:spPr>
            <a:xfrm>
              <a:off x="3154680" y="4042955"/>
              <a:ext cx="100584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0.8559</a:t>
              </a:r>
            </a:p>
          </p:txBody>
        </p:sp>
        <p:sp>
          <p:nvSpPr>
            <p:cNvPr id="89" name="Rectangle 85">
              <a:extLst>
                <a:ext uri="{FF2B5EF4-FFF2-40B4-BE49-F238E27FC236}">
                  <a16:creationId xmlns:a16="http://schemas.microsoft.com/office/drawing/2014/main" id="{8CB0D7C2-E48F-EAB1-C9CE-9721FD1B415B}"/>
                </a:ext>
              </a:extLst>
            </p:cNvPr>
            <p:cNvSpPr/>
            <p:nvPr/>
          </p:nvSpPr>
          <p:spPr>
            <a:xfrm>
              <a:off x="4206240" y="4042955"/>
              <a:ext cx="100584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5FF8110B-C489-A01C-E20B-29CB058DD0BC}"/>
                </a:ext>
              </a:extLst>
            </p:cNvPr>
            <p:cNvSpPr txBox="1"/>
            <p:nvPr/>
          </p:nvSpPr>
          <p:spPr>
            <a:xfrm>
              <a:off x="4206240" y="4042955"/>
              <a:ext cx="100584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-0.014</a:t>
              </a:r>
            </a:p>
          </p:txBody>
        </p:sp>
        <p:sp>
          <p:nvSpPr>
            <p:cNvPr id="91" name="Rectangle 87">
              <a:extLst>
                <a:ext uri="{FF2B5EF4-FFF2-40B4-BE49-F238E27FC236}">
                  <a16:creationId xmlns:a16="http://schemas.microsoft.com/office/drawing/2014/main" id="{3E678C49-50E8-9493-E15B-EE4C929BD77D}"/>
                </a:ext>
              </a:extLst>
            </p:cNvPr>
            <p:cNvSpPr/>
            <p:nvPr/>
          </p:nvSpPr>
          <p:spPr>
            <a:xfrm>
              <a:off x="5257800" y="4042955"/>
              <a:ext cx="96012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FF2ED40-CEC2-E424-8409-F63D890336D1}"/>
                </a:ext>
              </a:extLst>
            </p:cNvPr>
            <p:cNvSpPr txBox="1"/>
            <p:nvPr/>
          </p:nvSpPr>
          <p:spPr>
            <a:xfrm>
              <a:off x="5257800" y="4042955"/>
              <a:ext cx="96012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0.530</a:t>
              </a:r>
            </a:p>
          </p:txBody>
        </p:sp>
        <p:sp>
          <p:nvSpPr>
            <p:cNvPr id="93" name="Rectangle 89">
              <a:extLst>
                <a:ext uri="{FF2B5EF4-FFF2-40B4-BE49-F238E27FC236}">
                  <a16:creationId xmlns:a16="http://schemas.microsoft.com/office/drawing/2014/main" id="{9AF11868-4FF5-61BF-4440-3C6B1E209A0B}"/>
                </a:ext>
              </a:extLst>
            </p:cNvPr>
            <p:cNvSpPr/>
            <p:nvPr/>
          </p:nvSpPr>
          <p:spPr>
            <a:xfrm>
              <a:off x="6263640" y="4042955"/>
              <a:ext cx="82296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99C15BF8-37A4-B93F-7986-2DAF7CCEBDFD}"/>
                </a:ext>
              </a:extLst>
            </p:cNvPr>
            <p:cNvSpPr txBox="1"/>
            <p:nvPr/>
          </p:nvSpPr>
          <p:spPr>
            <a:xfrm>
              <a:off x="6263640" y="4042955"/>
              <a:ext cx="82296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ns</a:t>
              </a:r>
            </a:p>
          </p:txBody>
        </p:sp>
        <p:sp>
          <p:nvSpPr>
            <p:cNvPr id="95" name="Rectangle 91">
              <a:extLst>
                <a:ext uri="{FF2B5EF4-FFF2-40B4-BE49-F238E27FC236}">
                  <a16:creationId xmlns:a16="http://schemas.microsoft.com/office/drawing/2014/main" id="{9B23A4FC-E50D-4471-0C69-81228CEC554E}"/>
                </a:ext>
              </a:extLst>
            </p:cNvPr>
            <p:cNvSpPr/>
            <p:nvPr/>
          </p:nvSpPr>
          <p:spPr>
            <a:xfrm>
              <a:off x="411480" y="4381283"/>
              <a:ext cx="164592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344DAC54-A678-2AF5-9B3D-0CB3E24C6709}"/>
                </a:ext>
              </a:extLst>
            </p:cNvPr>
            <p:cNvSpPr txBox="1"/>
            <p:nvPr/>
          </p:nvSpPr>
          <p:spPr>
            <a:xfrm>
              <a:off x="411480" y="4381283"/>
              <a:ext cx="164592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Focal+AEC128 norm</a:t>
              </a:r>
            </a:p>
          </p:txBody>
        </p:sp>
        <p:sp>
          <p:nvSpPr>
            <p:cNvPr id="97" name="Rectangle 93">
              <a:extLst>
                <a:ext uri="{FF2B5EF4-FFF2-40B4-BE49-F238E27FC236}">
                  <a16:creationId xmlns:a16="http://schemas.microsoft.com/office/drawing/2014/main" id="{7526BD82-D88C-10C5-BCB0-58BAD3D005E2}"/>
                </a:ext>
              </a:extLst>
            </p:cNvPr>
            <p:cNvSpPr/>
            <p:nvPr/>
          </p:nvSpPr>
          <p:spPr>
            <a:xfrm>
              <a:off x="2103120" y="4381283"/>
              <a:ext cx="100584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2EC5BE05-85FD-3814-E637-4C05B4633C73}"/>
                </a:ext>
              </a:extLst>
            </p:cNvPr>
            <p:cNvSpPr txBox="1"/>
            <p:nvPr/>
          </p:nvSpPr>
          <p:spPr>
            <a:xfrm>
              <a:off x="2103120" y="4381283"/>
              <a:ext cx="100584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0.8739</a:t>
              </a:r>
            </a:p>
          </p:txBody>
        </p:sp>
        <p:sp>
          <p:nvSpPr>
            <p:cNvPr id="99" name="Rectangle 95">
              <a:extLst>
                <a:ext uri="{FF2B5EF4-FFF2-40B4-BE49-F238E27FC236}">
                  <a16:creationId xmlns:a16="http://schemas.microsoft.com/office/drawing/2014/main" id="{C566C14D-DF62-0FF7-2022-B495C5242A39}"/>
                </a:ext>
              </a:extLst>
            </p:cNvPr>
            <p:cNvSpPr/>
            <p:nvPr/>
          </p:nvSpPr>
          <p:spPr>
            <a:xfrm>
              <a:off x="3154680" y="4381283"/>
              <a:ext cx="100584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6D806C42-45ED-19CD-9FB6-1616018F1423}"/>
                </a:ext>
              </a:extLst>
            </p:cNvPr>
            <p:cNvSpPr txBox="1"/>
            <p:nvPr/>
          </p:nvSpPr>
          <p:spPr>
            <a:xfrm>
              <a:off x="3154680" y="4381283"/>
              <a:ext cx="100584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0.8448</a:t>
              </a:r>
            </a:p>
          </p:txBody>
        </p:sp>
        <p:sp>
          <p:nvSpPr>
            <p:cNvPr id="101" name="Rectangle 97">
              <a:extLst>
                <a:ext uri="{FF2B5EF4-FFF2-40B4-BE49-F238E27FC236}">
                  <a16:creationId xmlns:a16="http://schemas.microsoft.com/office/drawing/2014/main" id="{3480E1E8-9AA8-DF6F-1ECB-CF647F95C7C1}"/>
                </a:ext>
              </a:extLst>
            </p:cNvPr>
            <p:cNvSpPr/>
            <p:nvPr/>
          </p:nvSpPr>
          <p:spPr>
            <a:xfrm>
              <a:off x="4206240" y="4381283"/>
              <a:ext cx="100584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C1DC9678-177B-9ED9-4DEA-5042129AE2B7}"/>
                </a:ext>
              </a:extLst>
            </p:cNvPr>
            <p:cNvSpPr txBox="1"/>
            <p:nvPr/>
          </p:nvSpPr>
          <p:spPr>
            <a:xfrm>
              <a:off x="4206240" y="4381283"/>
              <a:ext cx="100584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-0.029</a:t>
              </a:r>
            </a:p>
          </p:txBody>
        </p:sp>
        <p:sp>
          <p:nvSpPr>
            <p:cNvPr id="112" name="Rectangle 99">
              <a:extLst>
                <a:ext uri="{FF2B5EF4-FFF2-40B4-BE49-F238E27FC236}">
                  <a16:creationId xmlns:a16="http://schemas.microsoft.com/office/drawing/2014/main" id="{F5BBF90E-B9AB-8474-5AED-C9BC50FB6799}"/>
                </a:ext>
              </a:extLst>
            </p:cNvPr>
            <p:cNvSpPr/>
            <p:nvPr/>
          </p:nvSpPr>
          <p:spPr>
            <a:xfrm>
              <a:off x="5257800" y="4381283"/>
              <a:ext cx="96012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585264E2-C417-1C13-7238-8BB4B10DAC2E}"/>
                </a:ext>
              </a:extLst>
            </p:cNvPr>
            <p:cNvSpPr txBox="1"/>
            <p:nvPr/>
          </p:nvSpPr>
          <p:spPr>
            <a:xfrm>
              <a:off x="5257800" y="4381283"/>
              <a:ext cx="96012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0.296</a:t>
              </a:r>
            </a:p>
          </p:txBody>
        </p:sp>
        <p:sp>
          <p:nvSpPr>
            <p:cNvPr id="114" name="Rectangle 101">
              <a:extLst>
                <a:ext uri="{FF2B5EF4-FFF2-40B4-BE49-F238E27FC236}">
                  <a16:creationId xmlns:a16="http://schemas.microsoft.com/office/drawing/2014/main" id="{421A7AF6-E1B4-1683-A3E0-EB2C9FA15AA8}"/>
                </a:ext>
              </a:extLst>
            </p:cNvPr>
            <p:cNvSpPr/>
            <p:nvPr/>
          </p:nvSpPr>
          <p:spPr>
            <a:xfrm>
              <a:off x="6263640" y="4381283"/>
              <a:ext cx="82296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CD7AD8B8-A9AF-28A1-0FD4-88208681193A}"/>
                </a:ext>
              </a:extLst>
            </p:cNvPr>
            <p:cNvSpPr txBox="1"/>
            <p:nvPr/>
          </p:nvSpPr>
          <p:spPr>
            <a:xfrm>
              <a:off x="6263640" y="4381283"/>
              <a:ext cx="82296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ns</a:t>
              </a:r>
            </a:p>
          </p:txBody>
        </p:sp>
        <p:sp>
          <p:nvSpPr>
            <p:cNvPr id="116" name="Rectangle 103">
              <a:extLst>
                <a:ext uri="{FF2B5EF4-FFF2-40B4-BE49-F238E27FC236}">
                  <a16:creationId xmlns:a16="http://schemas.microsoft.com/office/drawing/2014/main" id="{D7CE64E0-1A5F-7156-7342-A42C66050A3C}"/>
                </a:ext>
              </a:extLst>
            </p:cNvPr>
            <p:cNvSpPr/>
            <p:nvPr/>
          </p:nvSpPr>
          <p:spPr>
            <a:xfrm>
              <a:off x="411480" y="4719611"/>
              <a:ext cx="164592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284FE55D-C287-6C9E-1CD6-32B7F0648585}"/>
                </a:ext>
              </a:extLst>
            </p:cNvPr>
            <p:cNvSpPr txBox="1"/>
            <p:nvPr/>
          </p:nvSpPr>
          <p:spPr>
            <a:xfrm>
              <a:off x="411480" y="4719611"/>
              <a:ext cx="164592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Focal+AEC256 norm</a:t>
              </a:r>
            </a:p>
          </p:txBody>
        </p:sp>
        <p:sp>
          <p:nvSpPr>
            <p:cNvPr id="118" name="Rectangle 105">
              <a:extLst>
                <a:ext uri="{FF2B5EF4-FFF2-40B4-BE49-F238E27FC236}">
                  <a16:creationId xmlns:a16="http://schemas.microsoft.com/office/drawing/2014/main" id="{AFF91AA9-8FC5-95A6-7CAD-087E1DD6B19F}"/>
                </a:ext>
              </a:extLst>
            </p:cNvPr>
            <p:cNvSpPr/>
            <p:nvPr/>
          </p:nvSpPr>
          <p:spPr>
            <a:xfrm>
              <a:off x="2103120" y="4719611"/>
              <a:ext cx="100584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DF7BE6E4-B045-C2DF-207B-433BD854E276}"/>
                </a:ext>
              </a:extLst>
            </p:cNvPr>
            <p:cNvSpPr txBox="1"/>
            <p:nvPr/>
          </p:nvSpPr>
          <p:spPr>
            <a:xfrm>
              <a:off x="2103120" y="4719611"/>
              <a:ext cx="100584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0.8600</a:t>
              </a:r>
            </a:p>
          </p:txBody>
        </p:sp>
        <p:sp>
          <p:nvSpPr>
            <p:cNvPr id="120" name="Rectangle 107">
              <a:extLst>
                <a:ext uri="{FF2B5EF4-FFF2-40B4-BE49-F238E27FC236}">
                  <a16:creationId xmlns:a16="http://schemas.microsoft.com/office/drawing/2014/main" id="{9FD6C748-7473-839B-A81F-003B5F953298}"/>
                </a:ext>
              </a:extLst>
            </p:cNvPr>
            <p:cNvSpPr/>
            <p:nvPr/>
          </p:nvSpPr>
          <p:spPr>
            <a:xfrm>
              <a:off x="3154680" y="4719611"/>
              <a:ext cx="100584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494C499E-A89C-4DBF-0990-AEC405A2BD08}"/>
                </a:ext>
              </a:extLst>
            </p:cNvPr>
            <p:cNvSpPr txBox="1"/>
            <p:nvPr/>
          </p:nvSpPr>
          <p:spPr>
            <a:xfrm>
              <a:off x="3154680" y="4719611"/>
              <a:ext cx="100584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0.8641</a:t>
              </a:r>
            </a:p>
          </p:txBody>
        </p:sp>
        <p:sp>
          <p:nvSpPr>
            <p:cNvPr id="122" name="Rectangle 109">
              <a:extLst>
                <a:ext uri="{FF2B5EF4-FFF2-40B4-BE49-F238E27FC236}">
                  <a16:creationId xmlns:a16="http://schemas.microsoft.com/office/drawing/2014/main" id="{8FD7482A-2ED0-1581-1390-22D41D80A862}"/>
                </a:ext>
              </a:extLst>
            </p:cNvPr>
            <p:cNvSpPr/>
            <p:nvPr/>
          </p:nvSpPr>
          <p:spPr>
            <a:xfrm>
              <a:off x="4206240" y="4719611"/>
              <a:ext cx="100584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2DAAE9F3-1622-CD65-F82C-9E0775FCCB5A}"/>
                </a:ext>
              </a:extLst>
            </p:cNvPr>
            <p:cNvSpPr txBox="1"/>
            <p:nvPr/>
          </p:nvSpPr>
          <p:spPr>
            <a:xfrm>
              <a:off x="4206240" y="4719611"/>
              <a:ext cx="100584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+0.004</a:t>
              </a:r>
            </a:p>
          </p:txBody>
        </p:sp>
        <p:sp>
          <p:nvSpPr>
            <p:cNvPr id="124" name="Rectangle 111">
              <a:extLst>
                <a:ext uri="{FF2B5EF4-FFF2-40B4-BE49-F238E27FC236}">
                  <a16:creationId xmlns:a16="http://schemas.microsoft.com/office/drawing/2014/main" id="{802C258D-C512-61DE-00A4-EFDF75F79A0B}"/>
                </a:ext>
              </a:extLst>
            </p:cNvPr>
            <p:cNvSpPr/>
            <p:nvPr/>
          </p:nvSpPr>
          <p:spPr>
            <a:xfrm>
              <a:off x="5257800" y="4719611"/>
              <a:ext cx="96012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9F953F2B-2B94-8B96-1059-F215F7C6992B}"/>
                </a:ext>
              </a:extLst>
            </p:cNvPr>
            <p:cNvSpPr txBox="1"/>
            <p:nvPr/>
          </p:nvSpPr>
          <p:spPr>
            <a:xfrm>
              <a:off x="5257800" y="4719611"/>
              <a:ext cx="96012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0.807</a:t>
              </a:r>
            </a:p>
          </p:txBody>
        </p:sp>
        <p:sp>
          <p:nvSpPr>
            <p:cNvPr id="126" name="Rectangle 113">
              <a:extLst>
                <a:ext uri="{FF2B5EF4-FFF2-40B4-BE49-F238E27FC236}">
                  <a16:creationId xmlns:a16="http://schemas.microsoft.com/office/drawing/2014/main" id="{7B5D60E5-2845-8FDE-C277-85578A9BEA18}"/>
                </a:ext>
              </a:extLst>
            </p:cNvPr>
            <p:cNvSpPr/>
            <p:nvPr/>
          </p:nvSpPr>
          <p:spPr>
            <a:xfrm>
              <a:off x="6263640" y="4719611"/>
              <a:ext cx="82296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59240B81-70FC-D84A-AD1B-B2ADE76D678F}"/>
                </a:ext>
              </a:extLst>
            </p:cNvPr>
            <p:cNvSpPr txBox="1"/>
            <p:nvPr/>
          </p:nvSpPr>
          <p:spPr>
            <a:xfrm>
              <a:off x="6263640" y="4719611"/>
              <a:ext cx="82296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9EA3AB"/>
                  </a:solidFill>
                  <a:latin typeface="맑은 고딕"/>
                </a:rPr>
                <a:t>ns</a:t>
              </a:r>
            </a:p>
          </p:txBody>
        </p:sp>
        <p:sp>
          <p:nvSpPr>
            <p:cNvPr id="128" name="Rectangle 115">
              <a:extLst>
                <a:ext uri="{FF2B5EF4-FFF2-40B4-BE49-F238E27FC236}">
                  <a16:creationId xmlns:a16="http://schemas.microsoft.com/office/drawing/2014/main" id="{2AA58DAD-E371-D22A-6849-513570F70834}"/>
                </a:ext>
              </a:extLst>
            </p:cNvPr>
            <p:cNvSpPr/>
            <p:nvPr/>
          </p:nvSpPr>
          <p:spPr>
            <a:xfrm>
              <a:off x="411480" y="5057939"/>
              <a:ext cx="164592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4E33BBAC-4869-19AB-7372-5BB12B823BA1}"/>
                </a:ext>
              </a:extLst>
            </p:cNvPr>
            <p:cNvSpPr txBox="1"/>
            <p:nvPr/>
          </p:nvSpPr>
          <p:spPr>
            <a:xfrm>
              <a:off x="411480" y="5057939"/>
              <a:ext cx="164592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Focal+AEC256 excl</a:t>
              </a:r>
            </a:p>
          </p:txBody>
        </p:sp>
        <p:sp>
          <p:nvSpPr>
            <p:cNvPr id="130" name="Rectangle 117">
              <a:extLst>
                <a:ext uri="{FF2B5EF4-FFF2-40B4-BE49-F238E27FC236}">
                  <a16:creationId xmlns:a16="http://schemas.microsoft.com/office/drawing/2014/main" id="{796920C7-C308-6237-F815-AF24B2A25B81}"/>
                </a:ext>
              </a:extLst>
            </p:cNvPr>
            <p:cNvSpPr/>
            <p:nvPr/>
          </p:nvSpPr>
          <p:spPr>
            <a:xfrm>
              <a:off x="2103120" y="5057939"/>
              <a:ext cx="100584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D9026F06-E495-9401-65E1-A86F15410278}"/>
                </a:ext>
              </a:extLst>
            </p:cNvPr>
            <p:cNvSpPr txBox="1"/>
            <p:nvPr/>
          </p:nvSpPr>
          <p:spPr>
            <a:xfrm>
              <a:off x="2103120" y="5057939"/>
              <a:ext cx="100584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0.8854</a:t>
              </a:r>
            </a:p>
          </p:txBody>
        </p:sp>
        <p:sp>
          <p:nvSpPr>
            <p:cNvPr id="132" name="Rectangle 119">
              <a:extLst>
                <a:ext uri="{FF2B5EF4-FFF2-40B4-BE49-F238E27FC236}">
                  <a16:creationId xmlns:a16="http://schemas.microsoft.com/office/drawing/2014/main" id="{E54EB584-194B-5803-D2B0-C8BCF44D83FE}"/>
                </a:ext>
              </a:extLst>
            </p:cNvPr>
            <p:cNvSpPr/>
            <p:nvPr/>
          </p:nvSpPr>
          <p:spPr>
            <a:xfrm>
              <a:off x="3154680" y="5057939"/>
              <a:ext cx="100584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2FB79D73-61DF-B561-0E5B-9D5376FFA009}"/>
                </a:ext>
              </a:extLst>
            </p:cNvPr>
            <p:cNvSpPr txBox="1"/>
            <p:nvPr/>
          </p:nvSpPr>
          <p:spPr>
            <a:xfrm>
              <a:off x="3154680" y="5057939"/>
              <a:ext cx="100584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0.8174</a:t>
              </a:r>
            </a:p>
          </p:txBody>
        </p:sp>
        <p:sp>
          <p:nvSpPr>
            <p:cNvPr id="134" name="Rectangle 121">
              <a:extLst>
                <a:ext uri="{FF2B5EF4-FFF2-40B4-BE49-F238E27FC236}">
                  <a16:creationId xmlns:a16="http://schemas.microsoft.com/office/drawing/2014/main" id="{45ADDE2D-00AF-F5E0-8E6E-84D263169C99}"/>
                </a:ext>
              </a:extLst>
            </p:cNvPr>
            <p:cNvSpPr/>
            <p:nvPr/>
          </p:nvSpPr>
          <p:spPr>
            <a:xfrm>
              <a:off x="4206240" y="5057939"/>
              <a:ext cx="100584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53CFDAD8-B7EE-16E3-32EF-FF1AA48322A1}"/>
                </a:ext>
              </a:extLst>
            </p:cNvPr>
            <p:cNvSpPr txBox="1"/>
            <p:nvPr/>
          </p:nvSpPr>
          <p:spPr>
            <a:xfrm>
              <a:off x="4206240" y="5057939"/>
              <a:ext cx="100584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A1A2E"/>
                  </a:solidFill>
                  <a:latin typeface="맑은 고딕"/>
                </a:rPr>
                <a:t>-0.068</a:t>
              </a:r>
            </a:p>
          </p:txBody>
        </p:sp>
        <p:sp>
          <p:nvSpPr>
            <p:cNvPr id="136" name="Rectangle 123">
              <a:extLst>
                <a:ext uri="{FF2B5EF4-FFF2-40B4-BE49-F238E27FC236}">
                  <a16:creationId xmlns:a16="http://schemas.microsoft.com/office/drawing/2014/main" id="{73C12A3D-BBA8-3E40-06BD-50DBB95AEF14}"/>
                </a:ext>
              </a:extLst>
            </p:cNvPr>
            <p:cNvSpPr/>
            <p:nvPr/>
          </p:nvSpPr>
          <p:spPr>
            <a:xfrm>
              <a:off x="5257800" y="5057939"/>
              <a:ext cx="96012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430169D3-6DC9-95F4-0384-FE596E226339}"/>
                </a:ext>
              </a:extLst>
            </p:cNvPr>
            <p:cNvSpPr txBox="1"/>
            <p:nvPr/>
          </p:nvSpPr>
          <p:spPr>
            <a:xfrm>
              <a:off x="5257800" y="5057939"/>
              <a:ext cx="96012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E8B4C"/>
                  </a:solidFill>
                  <a:latin typeface="맑은 고딕"/>
                </a:rPr>
                <a:t>0.013</a:t>
              </a:r>
            </a:p>
          </p:txBody>
        </p:sp>
        <p:sp>
          <p:nvSpPr>
            <p:cNvPr id="138" name="Rectangle 125">
              <a:extLst>
                <a:ext uri="{FF2B5EF4-FFF2-40B4-BE49-F238E27FC236}">
                  <a16:creationId xmlns:a16="http://schemas.microsoft.com/office/drawing/2014/main" id="{694BC4DE-8CF9-6D6F-D944-CEA33A592566}"/>
                </a:ext>
              </a:extLst>
            </p:cNvPr>
            <p:cNvSpPr/>
            <p:nvPr/>
          </p:nvSpPr>
          <p:spPr>
            <a:xfrm>
              <a:off x="6263640" y="5057939"/>
              <a:ext cx="82296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504F4476-3B4C-4364-3476-4AE82CC0A3DC}"/>
                </a:ext>
              </a:extLst>
            </p:cNvPr>
            <p:cNvSpPr txBox="1"/>
            <p:nvPr/>
          </p:nvSpPr>
          <p:spPr>
            <a:xfrm>
              <a:off x="6263640" y="5057939"/>
              <a:ext cx="822960" cy="33832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 b="0" i="0">
                  <a:solidFill>
                    <a:srgbClr val="1E8B4C"/>
                  </a:solidFill>
                  <a:latin typeface="맑은 고딕"/>
                </a:rPr>
                <a:t>*</a:t>
              </a:r>
            </a:p>
          </p:txBody>
        </p:sp>
      </p:grpSp>
      <p:grpSp>
        <p:nvGrpSpPr>
          <p:cNvPr id="153" name="그룹 152">
            <a:extLst>
              <a:ext uri="{FF2B5EF4-FFF2-40B4-BE49-F238E27FC236}">
                <a16:creationId xmlns:a16="http://schemas.microsoft.com/office/drawing/2014/main" id="{5D1C8EB0-1E86-DD59-1C7A-371EB0858920}"/>
              </a:ext>
            </a:extLst>
          </p:cNvPr>
          <p:cNvGrpSpPr/>
          <p:nvPr/>
        </p:nvGrpSpPr>
        <p:grpSpPr>
          <a:xfrm>
            <a:off x="7299960" y="2103120"/>
            <a:ext cx="4680000" cy="2520000"/>
            <a:chOff x="7315200" y="3977639"/>
            <a:chExt cx="4663440" cy="2651760"/>
          </a:xfrm>
        </p:grpSpPr>
        <p:sp>
          <p:nvSpPr>
            <p:cNvPr id="142" name="Rectangle 129">
              <a:extLst>
                <a:ext uri="{FF2B5EF4-FFF2-40B4-BE49-F238E27FC236}">
                  <a16:creationId xmlns:a16="http://schemas.microsoft.com/office/drawing/2014/main" id="{D6AF42B4-EBC1-E865-4693-1B0A503B291A}"/>
                </a:ext>
              </a:extLst>
            </p:cNvPr>
            <p:cNvSpPr/>
            <p:nvPr/>
          </p:nvSpPr>
          <p:spPr>
            <a:xfrm>
              <a:off x="7315200" y="3977639"/>
              <a:ext cx="4663440" cy="2651760"/>
            </a:xfrm>
            <a:prstGeom prst="rect">
              <a:avLst/>
            </a:prstGeom>
            <a:solidFill>
              <a:srgbClr val="F5F5F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3" name="Rectangle 130">
              <a:extLst>
                <a:ext uri="{FF2B5EF4-FFF2-40B4-BE49-F238E27FC236}">
                  <a16:creationId xmlns:a16="http://schemas.microsoft.com/office/drawing/2014/main" id="{1E459DC1-0F1D-F459-C2EB-11B1931C58E6}"/>
                </a:ext>
              </a:extLst>
            </p:cNvPr>
            <p:cNvSpPr/>
            <p:nvPr/>
          </p:nvSpPr>
          <p:spPr>
            <a:xfrm>
              <a:off x="7315200" y="3977639"/>
              <a:ext cx="91440" cy="2651760"/>
            </a:xfrm>
            <a:prstGeom prst="rect">
              <a:avLst/>
            </a:prstGeom>
            <a:solidFill>
              <a:srgbClr val="9EA3A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25DB9031-D11B-732E-27B0-FA4ED9963D0C}"/>
                </a:ext>
              </a:extLst>
            </p:cNvPr>
            <p:cNvSpPr txBox="1"/>
            <p:nvPr/>
          </p:nvSpPr>
          <p:spPr>
            <a:xfrm>
              <a:off x="7498079" y="4050791"/>
              <a:ext cx="4297680" cy="30175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400" b="1" i="0">
                  <a:solidFill>
                    <a:srgbClr val="9EA3AB"/>
                  </a:solidFill>
                  <a:latin typeface="맑은 고딕"/>
                </a:rPr>
                <a:t>해석</a:t>
              </a:r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6239BE92-9D95-3BA4-869E-D91D50FD1B74}"/>
                </a:ext>
              </a:extLst>
            </p:cNvPr>
            <p:cNvSpPr txBox="1"/>
            <p:nvPr/>
          </p:nvSpPr>
          <p:spPr>
            <a:xfrm>
              <a:off x="7498079" y="4434840"/>
              <a:ext cx="4297680" cy="32918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• M2 vs M3: 20개 조건 중 19개 ns</a:t>
              </a: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6E48D4A4-3188-1F76-150C-5969A1A6F60A}"/>
                </a:ext>
              </a:extLst>
            </p:cNvPr>
            <p:cNvSpPr txBox="1"/>
            <p:nvPr/>
          </p:nvSpPr>
          <p:spPr>
            <a:xfrm>
              <a:off x="7498079" y="4782312"/>
              <a:ext cx="4297680" cy="32918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 dirty="0">
                  <a:solidFill>
                    <a:srgbClr val="1A1A2E"/>
                  </a:solidFill>
                  <a:latin typeface="맑은 고딕"/>
                </a:rPr>
                <a:t>  → Scanner </a:t>
              </a:r>
              <a:r>
                <a:rPr sz="1150" b="0" i="0" dirty="0" err="1">
                  <a:solidFill>
                    <a:srgbClr val="1A1A2E"/>
                  </a:solidFill>
                  <a:latin typeface="맑은 고딕"/>
                </a:rPr>
                <a:t>정보가</a:t>
              </a:r>
              <a:r>
                <a:rPr sz="1150" b="0" i="0" dirty="0">
                  <a:solidFill>
                    <a:srgbClr val="1A1A2E"/>
                  </a:solidFill>
                  <a:latin typeface="맑은 고딕"/>
                </a:rPr>
                <a:t> </a:t>
              </a:r>
              <a:r>
                <a:rPr sz="1150" b="0" i="0" dirty="0" err="1">
                  <a:solidFill>
                    <a:srgbClr val="1A1A2E"/>
                  </a:solidFill>
                  <a:latin typeface="맑은 고딕"/>
                </a:rPr>
                <a:t>AUC에</a:t>
              </a:r>
              <a:r>
                <a:rPr sz="1150" b="0" i="0" dirty="0">
                  <a:solidFill>
                    <a:srgbClr val="1A1A2E"/>
                  </a:solidFill>
                  <a:latin typeface="맑은 고딕"/>
                </a:rPr>
                <a:t> </a:t>
              </a:r>
              <a:r>
                <a:rPr sz="1150" b="0" i="0" dirty="0" err="1">
                  <a:solidFill>
                    <a:srgbClr val="1A1A2E"/>
                  </a:solidFill>
                  <a:latin typeface="맑은 고딕"/>
                </a:rPr>
                <a:t>통계적</a:t>
              </a:r>
              <a:r>
                <a:rPr sz="1150" b="0" i="0" dirty="0">
                  <a:solidFill>
                    <a:srgbClr val="1A1A2E"/>
                  </a:solidFill>
                  <a:latin typeface="맑은 고딕"/>
                </a:rPr>
                <a:t> </a:t>
              </a:r>
              <a:r>
                <a:rPr sz="1150" b="0" i="0" dirty="0" err="1">
                  <a:solidFill>
                    <a:srgbClr val="1A1A2E"/>
                  </a:solidFill>
                  <a:latin typeface="맑은 고딕"/>
                </a:rPr>
                <a:t>유의차</a:t>
              </a:r>
              <a:r>
                <a:rPr sz="1150" b="0" i="0" dirty="0">
                  <a:solidFill>
                    <a:srgbClr val="1A1A2E"/>
                  </a:solidFill>
                  <a:latin typeface="맑은 고딕"/>
                </a:rPr>
                <a:t> </a:t>
              </a:r>
              <a:r>
                <a:rPr sz="1150" b="0" i="0" dirty="0" err="1">
                  <a:solidFill>
                    <a:srgbClr val="1A1A2E"/>
                  </a:solidFill>
                  <a:latin typeface="맑은 고딕"/>
                </a:rPr>
                <a:t>미산출</a:t>
              </a:r>
              <a:endParaRPr sz="1150" b="0" i="0" dirty="0">
                <a:solidFill>
                  <a:srgbClr val="1A1A2E"/>
                </a:solidFill>
                <a:latin typeface="맑은 고딕"/>
              </a:endParaRPr>
            </a:p>
          </p:txBody>
        </p: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269F144A-F823-A3F1-7098-BCD10A26F069}"/>
                </a:ext>
              </a:extLst>
            </p:cNvPr>
            <p:cNvSpPr txBox="1"/>
            <p:nvPr/>
          </p:nvSpPr>
          <p:spPr>
            <a:xfrm>
              <a:off x="7498079" y="5129783"/>
              <a:ext cx="4297680" cy="32918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• 예외: Focal+AEC256+excl_extreme p=0.013 (*)</a:t>
              </a:r>
            </a:p>
          </p:txBody>
        </p:sp>
        <p:sp>
          <p:nvSpPr>
            <p:cNvPr id="148" name="TextBox 147">
              <a:extLst>
                <a:ext uri="{FF2B5EF4-FFF2-40B4-BE49-F238E27FC236}">
                  <a16:creationId xmlns:a16="http://schemas.microsoft.com/office/drawing/2014/main" id="{9B2E02D5-595F-C9C3-B301-AF86F3F6039A}"/>
                </a:ext>
              </a:extLst>
            </p:cNvPr>
            <p:cNvSpPr txBox="1"/>
            <p:nvPr/>
          </p:nvSpPr>
          <p:spPr>
            <a:xfrm>
              <a:off x="7498079" y="5477256"/>
              <a:ext cx="4297680" cy="32918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→ 단 1건, 해석에 주의 필요</a:t>
              </a: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17957EEC-881A-91B2-B2D3-3A92EFAA974C}"/>
                </a:ext>
              </a:extLst>
            </p:cNvPr>
            <p:cNvSpPr txBox="1"/>
            <p:nvPr/>
          </p:nvSpPr>
          <p:spPr>
            <a:xfrm>
              <a:off x="7498079" y="5824727"/>
              <a:ext cx="4297680" cy="32918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• M3는 일관되게 M2보다 미세하게 높거나 비슷함</a:t>
              </a:r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A7B12C8D-1D0D-F572-B107-5F131FFD45CC}"/>
                </a:ext>
              </a:extLst>
            </p:cNvPr>
            <p:cNvSpPr txBox="1"/>
            <p:nvPr/>
          </p:nvSpPr>
          <p:spPr>
            <a:xfrm>
              <a:off x="7498079" y="6172200"/>
              <a:ext cx="4297680" cy="32918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→ 방향성은 존재, 검출력 부족 가능성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284941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1607A-045E-7965-7092-A93C7BC93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A5A664-7C44-261C-21AF-779EC599A6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EAD2B6D-F9F3-8F7E-AE18-44A9A12ED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23</a:t>
            </a:fld>
            <a:endParaRPr lang="ko-KR" altLang="en-US" dirty="0"/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E7989A44-A73B-8803-E9F2-78075B08CEDD}"/>
              </a:ext>
            </a:extLst>
          </p:cNvPr>
          <p:cNvGrpSpPr/>
          <p:nvPr/>
        </p:nvGrpSpPr>
        <p:grpSpPr>
          <a:xfrm>
            <a:off x="274320" y="897468"/>
            <a:ext cx="11704320" cy="5468112"/>
            <a:chOff x="274320" y="723732"/>
            <a:chExt cx="11704320" cy="5641848"/>
          </a:xfrm>
        </p:grpSpPr>
        <p:sp>
          <p:nvSpPr>
            <p:cNvPr id="18" name="Rectangle 4">
              <a:extLst>
                <a:ext uri="{FF2B5EF4-FFF2-40B4-BE49-F238E27FC236}">
                  <a16:creationId xmlns:a16="http://schemas.microsoft.com/office/drawing/2014/main" id="{0EE9B85C-2619-96C5-6B9B-2B2AA2EDCCF8}"/>
                </a:ext>
              </a:extLst>
            </p:cNvPr>
            <p:cNvSpPr/>
            <p:nvPr/>
          </p:nvSpPr>
          <p:spPr>
            <a:xfrm>
              <a:off x="274320" y="723732"/>
              <a:ext cx="5760720" cy="347472"/>
            </a:xfrm>
            <a:prstGeom prst="rect">
              <a:avLst/>
            </a:prstGeom>
            <a:solidFill>
              <a:srgbClr val="0F9B8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92FF61A-39B6-9DC9-9BEB-45CE31FAE41F}"/>
                </a:ext>
              </a:extLst>
            </p:cNvPr>
            <p:cNvSpPr txBox="1"/>
            <p:nvPr/>
          </p:nvSpPr>
          <p:spPr>
            <a:xfrm>
              <a:off x="365760" y="742020"/>
              <a:ext cx="5577840" cy="31089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400" b="1" i="0">
                  <a:solidFill>
                    <a:srgbClr val="FFFFFF"/>
                  </a:solidFill>
                  <a:latin typeface="맑은 고딕"/>
                </a:rPr>
                <a:t>Model 2  CrossAttn  (Clinic → AEC)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08FDCF10-83D5-41B0-393C-FE8D3417CF3F}"/>
                </a:ext>
              </a:extLst>
            </p:cNvPr>
            <p:cNvSpPr txBox="1"/>
            <p:nvPr/>
          </p:nvSpPr>
          <p:spPr>
            <a:xfrm>
              <a:off x="365760" y="1116924"/>
              <a:ext cx="2743200" cy="2286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000" b="0" i="0">
                  <a:solidFill>
                    <a:srgbClr val="9EA3AB"/>
                  </a:solidFill>
                  <a:latin typeface="맑은 고딕"/>
                </a:rPr>
                <a:t>Attention Heatmap (샘플별)</a:t>
              </a:r>
            </a:p>
          </p:txBody>
        </p:sp>
        <p:pic>
          <p:nvPicPr>
            <p:cNvPr id="21" name="Picture 7" descr="attention_heatmap.png">
              <a:extLst>
                <a:ext uri="{FF2B5EF4-FFF2-40B4-BE49-F238E27FC236}">
                  <a16:creationId xmlns:a16="http://schemas.microsoft.com/office/drawing/2014/main" id="{8545D97E-8255-543A-EC28-706646D1A1B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74320" y="1363812"/>
              <a:ext cx="5669280" cy="2377440"/>
            </a:xfrm>
            <a:prstGeom prst="rect">
              <a:avLst/>
            </a:prstGeom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644349D-9835-51F7-589B-DAF3DB9530E5}"/>
                </a:ext>
              </a:extLst>
            </p:cNvPr>
            <p:cNvSpPr txBox="1"/>
            <p:nvPr/>
          </p:nvSpPr>
          <p:spPr>
            <a:xfrm>
              <a:off x="365760" y="3786972"/>
              <a:ext cx="2743200" cy="2286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000" b="0" i="0">
                  <a:solidFill>
                    <a:srgbClr val="9EA3AB"/>
                  </a:solidFill>
                  <a:latin typeface="맑은 고딕"/>
                </a:rPr>
                <a:t>Attention Map C→A (평균)</a:t>
              </a:r>
            </a:p>
          </p:txBody>
        </p:sp>
        <p:pic>
          <p:nvPicPr>
            <p:cNvPr id="23" name="Picture 9" descr="attention_map_c2a.png">
              <a:extLst>
                <a:ext uri="{FF2B5EF4-FFF2-40B4-BE49-F238E27FC236}">
                  <a16:creationId xmlns:a16="http://schemas.microsoft.com/office/drawing/2014/main" id="{5DF9E808-B98C-7D70-66F9-03FAC0119A6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74320" y="4033860"/>
              <a:ext cx="5669280" cy="2331720"/>
            </a:xfrm>
            <a:prstGeom prst="rect">
              <a:avLst/>
            </a:prstGeom>
          </p:spPr>
        </p:pic>
        <p:sp>
          <p:nvSpPr>
            <p:cNvPr id="24" name="Rectangle 10">
              <a:extLst>
                <a:ext uri="{FF2B5EF4-FFF2-40B4-BE49-F238E27FC236}">
                  <a16:creationId xmlns:a16="http://schemas.microsoft.com/office/drawing/2014/main" id="{7511E065-4A37-EDC4-F674-472D0D83BB59}"/>
                </a:ext>
              </a:extLst>
            </p:cNvPr>
            <p:cNvSpPr/>
            <p:nvPr/>
          </p:nvSpPr>
          <p:spPr>
            <a:xfrm>
              <a:off x="6217920" y="723732"/>
              <a:ext cx="5760720" cy="347472"/>
            </a:xfrm>
            <a:prstGeom prst="rect">
              <a:avLst/>
            </a:prstGeom>
            <a:solidFill>
              <a:srgbClr val="E874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EF975AD5-F9D1-8148-1B4D-EF6871383039}"/>
                </a:ext>
              </a:extLst>
            </p:cNvPr>
            <p:cNvSpPr txBox="1"/>
            <p:nvPr/>
          </p:nvSpPr>
          <p:spPr>
            <a:xfrm>
              <a:off x="6309359" y="742020"/>
              <a:ext cx="5577840" cy="31089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400" b="1" i="0">
                  <a:solidFill>
                    <a:srgbClr val="FFFFFF"/>
                  </a:solidFill>
                  <a:latin typeface="맑은 고딕"/>
                </a:rPr>
                <a:t>Model 3  CrossAttn3  (Clinic+Scanner → AEC)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900F02C-D65D-D664-D9BD-69FD606044AE}"/>
                </a:ext>
              </a:extLst>
            </p:cNvPr>
            <p:cNvSpPr txBox="1"/>
            <p:nvPr/>
          </p:nvSpPr>
          <p:spPr>
            <a:xfrm>
              <a:off x="6309359" y="1116924"/>
              <a:ext cx="2743200" cy="2286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000" b="0" i="0">
                  <a:solidFill>
                    <a:srgbClr val="9EA3AB"/>
                  </a:solidFill>
                  <a:latin typeface="맑은 고딕"/>
                </a:rPr>
                <a:t>Attention Heatmap (샘플별)</a:t>
              </a:r>
            </a:p>
          </p:txBody>
        </p:sp>
        <p:pic>
          <p:nvPicPr>
            <p:cNvPr id="27" name="Picture 13" descr="attention_heatmap.png">
              <a:extLst>
                <a:ext uri="{FF2B5EF4-FFF2-40B4-BE49-F238E27FC236}">
                  <a16:creationId xmlns:a16="http://schemas.microsoft.com/office/drawing/2014/main" id="{95D17674-90A2-59C2-AED1-9489A3E0935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217920" y="1363812"/>
              <a:ext cx="5669280" cy="2377440"/>
            </a:xfrm>
            <a:prstGeom prst="rect">
              <a:avLst/>
            </a:prstGeom>
          </p:spPr>
        </p:pic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EBC5B0B-6425-1D63-D101-F3F61C716B62}"/>
                </a:ext>
              </a:extLst>
            </p:cNvPr>
            <p:cNvSpPr txBox="1"/>
            <p:nvPr/>
          </p:nvSpPr>
          <p:spPr>
            <a:xfrm>
              <a:off x="6309359" y="3786972"/>
              <a:ext cx="2743200" cy="2286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000" b="0" i="0">
                  <a:solidFill>
                    <a:srgbClr val="9EA3AB"/>
                  </a:solidFill>
                  <a:latin typeface="맑은 고딕"/>
                </a:rPr>
                <a:t>Attention Map C→A (평균)</a:t>
              </a:r>
            </a:p>
          </p:txBody>
        </p:sp>
        <p:pic>
          <p:nvPicPr>
            <p:cNvPr id="29" name="Picture 15" descr="attention_map_c2a.png">
              <a:extLst>
                <a:ext uri="{FF2B5EF4-FFF2-40B4-BE49-F238E27FC236}">
                  <a16:creationId xmlns:a16="http://schemas.microsoft.com/office/drawing/2014/main" id="{30EF2D8B-C458-6852-73FC-169AC6BF680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217920" y="4033860"/>
              <a:ext cx="5669280" cy="233172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088875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3C7AE-AFED-6919-5551-5DBE734B3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063433-E804-A301-9D6E-BB2F125AC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4ACACBC-741C-A324-DED3-FD1553EE1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24</a:t>
            </a:fld>
            <a:endParaRPr lang="ko-KR" altLang="en-US" dirty="0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5F769D24-FF88-C3D8-44BA-8EA671B0AE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Model 2 (Clinic + AEC) vs Model 2_2 (</a:t>
            </a:r>
            <a:r>
              <a:rPr lang="en-US" altLang="ko-KR" dirty="0" err="1"/>
              <a:t>UnMatching</a:t>
            </a:r>
            <a:r>
              <a:rPr lang="en-US" altLang="ko-KR" dirty="0"/>
              <a:t>) </a:t>
            </a:r>
            <a:r>
              <a:rPr lang="ko-KR" altLang="en-US" dirty="0"/>
              <a:t>비교</a:t>
            </a:r>
          </a:p>
        </p:txBody>
      </p:sp>
      <p:grpSp>
        <p:nvGrpSpPr>
          <p:cNvPr id="270" name="그룹 269">
            <a:extLst>
              <a:ext uri="{FF2B5EF4-FFF2-40B4-BE49-F238E27FC236}">
                <a16:creationId xmlns:a16="http://schemas.microsoft.com/office/drawing/2014/main" id="{E2CCBC30-72B4-55D4-3F8F-A3EED4061442}"/>
              </a:ext>
            </a:extLst>
          </p:cNvPr>
          <p:cNvGrpSpPr/>
          <p:nvPr/>
        </p:nvGrpSpPr>
        <p:grpSpPr>
          <a:xfrm>
            <a:off x="325178" y="1645920"/>
            <a:ext cx="6858000" cy="3657600"/>
            <a:chOff x="482600" y="1645920"/>
            <a:chExt cx="6858000" cy="3657600"/>
          </a:xfrm>
        </p:grpSpPr>
        <p:sp>
          <p:nvSpPr>
            <p:cNvPr id="106" name="Rectangle 10">
              <a:extLst>
                <a:ext uri="{FF2B5EF4-FFF2-40B4-BE49-F238E27FC236}">
                  <a16:creationId xmlns:a16="http://schemas.microsoft.com/office/drawing/2014/main" id="{3130BBC3-B778-C988-7D84-5C0210F87109}"/>
                </a:ext>
              </a:extLst>
            </p:cNvPr>
            <p:cNvSpPr/>
            <p:nvPr/>
          </p:nvSpPr>
          <p:spPr>
            <a:xfrm>
              <a:off x="482600" y="1645920"/>
              <a:ext cx="6858000" cy="3657600"/>
            </a:xfrm>
            <a:prstGeom prst="rect">
              <a:avLst/>
            </a:prstGeom>
            <a:solidFill>
              <a:srgbClr val="F0F4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F5897BDE-DFB6-E304-CE39-3E3F0B4B5185}"/>
                </a:ext>
              </a:extLst>
            </p:cNvPr>
            <p:cNvSpPr txBox="1"/>
            <p:nvPr/>
          </p:nvSpPr>
          <p:spPr>
            <a:xfrm>
              <a:off x="665480" y="1719072"/>
              <a:ext cx="64922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400" b="1" i="0">
                  <a:solidFill>
                    <a:srgbClr val="1A1A2E"/>
                  </a:solidFill>
                  <a:latin typeface="맑은 고딕"/>
                </a:rPr>
                <a:t>DeLong Test — M2(Matched) vs M2_2(Unmatched)</a:t>
              </a:r>
            </a:p>
          </p:txBody>
        </p:sp>
        <p:sp>
          <p:nvSpPr>
            <p:cNvPr id="108" name="Rectangle 12">
              <a:extLst>
                <a:ext uri="{FF2B5EF4-FFF2-40B4-BE49-F238E27FC236}">
                  <a16:creationId xmlns:a16="http://schemas.microsoft.com/office/drawing/2014/main" id="{D219EBF7-30BC-D3AD-5B0A-9DFB6464FD81}"/>
                </a:ext>
              </a:extLst>
            </p:cNvPr>
            <p:cNvSpPr/>
            <p:nvPr/>
          </p:nvSpPr>
          <p:spPr>
            <a:xfrm>
              <a:off x="665480" y="2011680"/>
              <a:ext cx="6492240" cy="36576"/>
            </a:xfrm>
            <a:prstGeom prst="rect">
              <a:avLst/>
            </a:prstGeom>
            <a:solidFill>
              <a:srgbClr val="0F9B8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grpSp>
          <p:nvGrpSpPr>
            <p:cNvPr id="268" name="그룹 267">
              <a:extLst>
                <a:ext uri="{FF2B5EF4-FFF2-40B4-BE49-F238E27FC236}">
                  <a16:creationId xmlns:a16="http://schemas.microsoft.com/office/drawing/2014/main" id="{E25CFDBB-ACEC-E081-83BD-63DF569CC605}"/>
                </a:ext>
              </a:extLst>
            </p:cNvPr>
            <p:cNvGrpSpPr/>
            <p:nvPr/>
          </p:nvGrpSpPr>
          <p:grpSpPr>
            <a:xfrm>
              <a:off x="665480" y="2121408"/>
              <a:ext cx="6492240" cy="2999232"/>
              <a:chOff x="619760" y="2057400"/>
              <a:chExt cx="6766560" cy="2999232"/>
            </a:xfrm>
          </p:grpSpPr>
          <p:sp>
            <p:nvSpPr>
              <p:cNvPr id="109" name="Rectangle 13">
                <a:extLst>
                  <a:ext uri="{FF2B5EF4-FFF2-40B4-BE49-F238E27FC236}">
                    <a16:creationId xmlns:a16="http://schemas.microsoft.com/office/drawing/2014/main" id="{EED77B85-9817-B52C-4373-6D3CA0898E80}"/>
                  </a:ext>
                </a:extLst>
              </p:cNvPr>
              <p:cNvSpPr/>
              <p:nvPr/>
            </p:nvSpPr>
            <p:spPr>
              <a:xfrm>
                <a:off x="619760" y="2057400"/>
                <a:ext cx="1828800" cy="274320"/>
              </a:xfrm>
              <a:prstGeom prst="rect">
                <a:avLst/>
              </a:prstGeom>
              <a:solidFill>
                <a:srgbClr val="1A1A2E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813E50F4-595D-F9CC-673A-477725DEC350}"/>
                  </a:ext>
                </a:extLst>
              </p:cNvPr>
              <p:cNvSpPr txBox="1"/>
              <p:nvPr/>
            </p:nvSpPr>
            <p:spPr>
              <a:xfrm>
                <a:off x="619760" y="2057400"/>
                <a:ext cx="1828800" cy="2743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00" b="1" i="0">
                    <a:solidFill>
                      <a:srgbClr val="FFFFFF"/>
                    </a:solidFill>
                    <a:latin typeface="맑은 고딕"/>
                  </a:rPr>
                  <a:t>조건</a:t>
                </a:r>
              </a:p>
            </p:txBody>
          </p:sp>
          <p:sp>
            <p:nvSpPr>
              <p:cNvPr id="111" name="Rectangle 15">
                <a:extLst>
                  <a:ext uri="{FF2B5EF4-FFF2-40B4-BE49-F238E27FC236}">
                    <a16:creationId xmlns:a16="http://schemas.microsoft.com/office/drawing/2014/main" id="{8DD02447-6392-2988-E8AC-8255840E8B29}"/>
                  </a:ext>
                </a:extLst>
              </p:cNvPr>
              <p:cNvSpPr/>
              <p:nvPr/>
            </p:nvSpPr>
            <p:spPr>
              <a:xfrm>
                <a:off x="2494280" y="2057400"/>
                <a:ext cx="1051560" cy="274320"/>
              </a:xfrm>
              <a:prstGeom prst="rect">
                <a:avLst/>
              </a:prstGeom>
              <a:solidFill>
                <a:srgbClr val="1A1A2E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28466CF5-BD97-555E-C5D0-D4923B202C08}"/>
                  </a:ext>
                </a:extLst>
              </p:cNvPr>
              <p:cNvSpPr txBox="1"/>
              <p:nvPr/>
            </p:nvSpPr>
            <p:spPr>
              <a:xfrm>
                <a:off x="2494280" y="2057400"/>
                <a:ext cx="1051560" cy="2743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00" b="1" i="0">
                    <a:solidFill>
                      <a:srgbClr val="FFFFFF"/>
                    </a:solidFill>
                    <a:latin typeface="맑은 고딕"/>
                  </a:rPr>
                  <a:t>M2 AUC</a:t>
                </a:r>
              </a:p>
            </p:txBody>
          </p:sp>
          <p:sp>
            <p:nvSpPr>
              <p:cNvPr id="141" name="Rectangle 17">
                <a:extLst>
                  <a:ext uri="{FF2B5EF4-FFF2-40B4-BE49-F238E27FC236}">
                    <a16:creationId xmlns:a16="http://schemas.microsoft.com/office/drawing/2014/main" id="{39A670D7-04A4-7F60-6E2F-7175104EAFED}"/>
                  </a:ext>
                </a:extLst>
              </p:cNvPr>
              <p:cNvSpPr/>
              <p:nvPr/>
            </p:nvSpPr>
            <p:spPr>
              <a:xfrm>
                <a:off x="3591560" y="2057400"/>
                <a:ext cx="1143000" cy="274320"/>
              </a:xfrm>
              <a:prstGeom prst="rect">
                <a:avLst/>
              </a:prstGeom>
              <a:solidFill>
                <a:srgbClr val="1A1A2E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2" name="TextBox 151">
                <a:extLst>
                  <a:ext uri="{FF2B5EF4-FFF2-40B4-BE49-F238E27FC236}">
                    <a16:creationId xmlns:a16="http://schemas.microsoft.com/office/drawing/2014/main" id="{4B2FE402-E3DB-F24F-8A2E-1CA9AF3939ED}"/>
                  </a:ext>
                </a:extLst>
              </p:cNvPr>
              <p:cNvSpPr txBox="1"/>
              <p:nvPr/>
            </p:nvSpPr>
            <p:spPr>
              <a:xfrm>
                <a:off x="3591560" y="2057400"/>
                <a:ext cx="1143000" cy="2743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00" b="1" i="0">
                    <a:solidFill>
                      <a:srgbClr val="FFFFFF"/>
                    </a:solidFill>
                    <a:latin typeface="맑은 고딕"/>
                  </a:rPr>
                  <a:t>M2_2 AUC</a:t>
                </a:r>
              </a:p>
            </p:txBody>
          </p:sp>
          <p:sp>
            <p:nvSpPr>
              <p:cNvPr id="155" name="Rectangle 19">
                <a:extLst>
                  <a:ext uri="{FF2B5EF4-FFF2-40B4-BE49-F238E27FC236}">
                    <a16:creationId xmlns:a16="http://schemas.microsoft.com/office/drawing/2014/main" id="{10DA2FEC-D773-262E-72AB-2E9C96EC06E0}"/>
                  </a:ext>
                </a:extLst>
              </p:cNvPr>
              <p:cNvSpPr/>
              <p:nvPr/>
            </p:nvSpPr>
            <p:spPr>
              <a:xfrm>
                <a:off x="4780280" y="2057400"/>
                <a:ext cx="822960" cy="274320"/>
              </a:xfrm>
              <a:prstGeom prst="rect">
                <a:avLst/>
              </a:prstGeom>
              <a:solidFill>
                <a:srgbClr val="1A1A2E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A1F78F7B-A630-E31A-E510-8854E6C776E5}"/>
                  </a:ext>
                </a:extLst>
              </p:cNvPr>
              <p:cNvSpPr txBox="1"/>
              <p:nvPr/>
            </p:nvSpPr>
            <p:spPr>
              <a:xfrm>
                <a:off x="4780280" y="2057400"/>
                <a:ext cx="822960" cy="2743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00" b="1" i="0">
                    <a:solidFill>
                      <a:srgbClr val="FFFFFF"/>
                    </a:solidFill>
                    <a:latin typeface="맑은 고딕"/>
                  </a:rPr>
                  <a:t>Δ AUC</a:t>
                </a:r>
              </a:p>
            </p:txBody>
          </p:sp>
          <p:sp>
            <p:nvSpPr>
              <p:cNvPr id="157" name="Rectangle 21">
                <a:extLst>
                  <a:ext uri="{FF2B5EF4-FFF2-40B4-BE49-F238E27FC236}">
                    <a16:creationId xmlns:a16="http://schemas.microsoft.com/office/drawing/2014/main" id="{EA7A3F79-C3FB-448D-F8CA-F9F444624D47}"/>
                  </a:ext>
                </a:extLst>
              </p:cNvPr>
              <p:cNvSpPr/>
              <p:nvPr/>
            </p:nvSpPr>
            <p:spPr>
              <a:xfrm>
                <a:off x="5648960" y="2057400"/>
                <a:ext cx="868680" cy="274320"/>
              </a:xfrm>
              <a:prstGeom prst="rect">
                <a:avLst/>
              </a:prstGeom>
              <a:solidFill>
                <a:srgbClr val="1A1A2E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8" name="TextBox 157">
                <a:extLst>
                  <a:ext uri="{FF2B5EF4-FFF2-40B4-BE49-F238E27FC236}">
                    <a16:creationId xmlns:a16="http://schemas.microsoft.com/office/drawing/2014/main" id="{58B73978-6399-752B-ED8C-9C118033A18A}"/>
                  </a:ext>
                </a:extLst>
              </p:cNvPr>
              <p:cNvSpPr txBox="1"/>
              <p:nvPr/>
            </p:nvSpPr>
            <p:spPr>
              <a:xfrm>
                <a:off x="5648960" y="2057400"/>
                <a:ext cx="868680" cy="2743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00" b="1" i="0">
                    <a:solidFill>
                      <a:srgbClr val="FFFFFF"/>
                    </a:solidFill>
                    <a:latin typeface="맑은 고딕"/>
                  </a:rPr>
                  <a:t>p-val</a:t>
                </a:r>
              </a:p>
            </p:txBody>
          </p:sp>
          <p:sp>
            <p:nvSpPr>
              <p:cNvPr id="159" name="Rectangle 23">
                <a:extLst>
                  <a:ext uri="{FF2B5EF4-FFF2-40B4-BE49-F238E27FC236}">
                    <a16:creationId xmlns:a16="http://schemas.microsoft.com/office/drawing/2014/main" id="{494FBBCB-05FC-EF61-C0F5-3E17DF87CD0B}"/>
                  </a:ext>
                </a:extLst>
              </p:cNvPr>
              <p:cNvSpPr/>
              <p:nvPr/>
            </p:nvSpPr>
            <p:spPr>
              <a:xfrm>
                <a:off x="6563360" y="2057400"/>
                <a:ext cx="822960" cy="274320"/>
              </a:xfrm>
              <a:prstGeom prst="rect">
                <a:avLst/>
              </a:prstGeom>
              <a:solidFill>
                <a:srgbClr val="1A1A2E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E99B0E29-D764-F5EE-7714-DBEFFC7C5CED}"/>
                  </a:ext>
                </a:extLst>
              </p:cNvPr>
              <p:cNvSpPr txBox="1"/>
              <p:nvPr/>
            </p:nvSpPr>
            <p:spPr>
              <a:xfrm>
                <a:off x="6563360" y="2057400"/>
                <a:ext cx="822960" cy="2743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00" b="1" i="0">
                    <a:solidFill>
                      <a:srgbClr val="FFFFFF"/>
                    </a:solidFill>
                    <a:latin typeface="맑은 고딕"/>
                  </a:rPr>
                  <a:t>sig</a:t>
                </a:r>
              </a:p>
            </p:txBody>
          </p:sp>
          <p:sp>
            <p:nvSpPr>
              <p:cNvPr id="161" name="Rectangle 25">
                <a:extLst>
                  <a:ext uri="{FF2B5EF4-FFF2-40B4-BE49-F238E27FC236}">
                    <a16:creationId xmlns:a16="http://schemas.microsoft.com/office/drawing/2014/main" id="{65B22ADB-8CAC-80C2-784A-D5087A92D3A8}"/>
                  </a:ext>
                </a:extLst>
              </p:cNvPr>
              <p:cNvSpPr/>
              <p:nvPr/>
            </p:nvSpPr>
            <p:spPr>
              <a:xfrm>
                <a:off x="619760" y="2350008"/>
                <a:ext cx="1828800" cy="338328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8B2062EA-4D67-845C-18D1-3A6B8FF11534}"/>
                  </a:ext>
                </a:extLst>
              </p:cNvPr>
              <p:cNvSpPr txBox="1"/>
              <p:nvPr/>
            </p:nvSpPr>
            <p:spPr>
              <a:xfrm>
                <a:off x="619760" y="2350008"/>
                <a:ext cx="182880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BCE+AEC128 norm</a:t>
                </a:r>
              </a:p>
            </p:txBody>
          </p:sp>
          <p:sp>
            <p:nvSpPr>
              <p:cNvPr id="163" name="Rectangle 27">
                <a:extLst>
                  <a:ext uri="{FF2B5EF4-FFF2-40B4-BE49-F238E27FC236}">
                    <a16:creationId xmlns:a16="http://schemas.microsoft.com/office/drawing/2014/main" id="{CA9DBE87-5694-9F7D-9E3B-482520D930BD}"/>
                  </a:ext>
                </a:extLst>
              </p:cNvPr>
              <p:cNvSpPr/>
              <p:nvPr/>
            </p:nvSpPr>
            <p:spPr>
              <a:xfrm>
                <a:off x="2494280" y="2350008"/>
                <a:ext cx="1051560" cy="338328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47B81ED2-5AED-B776-662A-C48DD718553F}"/>
                  </a:ext>
                </a:extLst>
              </p:cNvPr>
              <p:cNvSpPr txBox="1"/>
              <p:nvPr/>
            </p:nvSpPr>
            <p:spPr>
              <a:xfrm>
                <a:off x="2494280" y="2350008"/>
                <a:ext cx="105156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0.8868</a:t>
                </a:r>
              </a:p>
            </p:txBody>
          </p:sp>
          <p:sp>
            <p:nvSpPr>
              <p:cNvPr id="165" name="Rectangle 29">
                <a:extLst>
                  <a:ext uri="{FF2B5EF4-FFF2-40B4-BE49-F238E27FC236}">
                    <a16:creationId xmlns:a16="http://schemas.microsoft.com/office/drawing/2014/main" id="{BB22B513-FD17-9B53-A92B-1BCF7CFAF52B}"/>
                  </a:ext>
                </a:extLst>
              </p:cNvPr>
              <p:cNvSpPr/>
              <p:nvPr/>
            </p:nvSpPr>
            <p:spPr>
              <a:xfrm>
                <a:off x="3591560" y="2350008"/>
                <a:ext cx="1143000" cy="338328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6" name="TextBox 165">
                <a:extLst>
                  <a:ext uri="{FF2B5EF4-FFF2-40B4-BE49-F238E27FC236}">
                    <a16:creationId xmlns:a16="http://schemas.microsoft.com/office/drawing/2014/main" id="{4E1E275F-D2FA-D620-BD56-CF953B683172}"/>
                  </a:ext>
                </a:extLst>
              </p:cNvPr>
              <p:cNvSpPr txBox="1"/>
              <p:nvPr/>
            </p:nvSpPr>
            <p:spPr>
              <a:xfrm>
                <a:off x="3591560" y="2350008"/>
                <a:ext cx="114300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0.8420</a:t>
                </a:r>
              </a:p>
            </p:txBody>
          </p:sp>
          <p:sp>
            <p:nvSpPr>
              <p:cNvPr id="167" name="Rectangle 31">
                <a:extLst>
                  <a:ext uri="{FF2B5EF4-FFF2-40B4-BE49-F238E27FC236}">
                    <a16:creationId xmlns:a16="http://schemas.microsoft.com/office/drawing/2014/main" id="{C4121F98-B5B6-8041-F827-123B9A57967F}"/>
                  </a:ext>
                </a:extLst>
              </p:cNvPr>
              <p:cNvSpPr/>
              <p:nvPr/>
            </p:nvSpPr>
            <p:spPr>
              <a:xfrm>
                <a:off x="4780280" y="2350008"/>
                <a:ext cx="822960" cy="338328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BA502B03-B661-FE99-F379-BAF5F81FF59B}"/>
                  </a:ext>
                </a:extLst>
              </p:cNvPr>
              <p:cNvSpPr txBox="1"/>
              <p:nvPr/>
            </p:nvSpPr>
            <p:spPr>
              <a:xfrm>
                <a:off x="4780280" y="2350008"/>
                <a:ext cx="82296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+0.045</a:t>
                </a:r>
              </a:p>
            </p:txBody>
          </p:sp>
          <p:sp>
            <p:nvSpPr>
              <p:cNvPr id="169" name="Rectangle 33">
                <a:extLst>
                  <a:ext uri="{FF2B5EF4-FFF2-40B4-BE49-F238E27FC236}">
                    <a16:creationId xmlns:a16="http://schemas.microsoft.com/office/drawing/2014/main" id="{C1D6E7F3-98E7-014E-5367-BAC638F7E8BE}"/>
                  </a:ext>
                </a:extLst>
              </p:cNvPr>
              <p:cNvSpPr/>
              <p:nvPr/>
            </p:nvSpPr>
            <p:spPr>
              <a:xfrm>
                <a:off x="5648960" y="2350008"/>
                <a:ext cx="868680" cy="338328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0" name="TextBox 169">
                <a:extLst>
                  <a:ext uri="{FF2B5EF4-FFF2-40B4-BE49-F238E27FC236}">
                    <a16:creationId xmlns:a16="http://schemas.microsoft.com/office/drawing/2014/main" id="{FC674CDF-5459-CC00-150D-371E448E3EC0}"/>
                  </a:ext>
                </a:extLst>
              </p:cNvPr>
              <p:cNvSpPr txBox="1"/>
              <p:nvPr/>
            </p:nvSpPr>
            <p:spPr>
              <a:xfrm>
                <a:off x="5648960" y="2350008"/>
                <a:ext cx="86868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9EA3AB"/>
                    </a:solidFill>
                    <a:latin typeface="맑은 고딕"/>
                  </a:rPr>
                  <a:t>0.138</a:t>
                </a:r>
              </a:p>
            </p:txBody>
          </p:sp>
          <p:sp>
            <p:nvSpPr>
              <p:cNvPr id="171" name="Rectangle 35">
                <a:extLst>
                  <a:ext uri="{FF2B5EF4-FFF2-40B4-BE49-F238E27FC236}">
                    <a16:creationId xmlns:a16="http://schemas.microsoft.com/office/drawing/2014/main" id="{7D74F487-99AF-1952-90CC-788408636E06}"/>
                  </a:ext>
                </a:extLst>
              </p:cNvPr>
              <p:cNvSpPr/>
              <p:nvPr/>
            </p:nvSpPr>
            <p:spPr>
              <a:xfrm>
                <a:off x="6563360" y="2350008"/>
                <a:ext cx="822960" cy="338328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2" name="TextBox 171">
                <a:extLst>
                  <a:ext uri="{FF2B5EF4-FFF2-40B4-BE49-F238E27FC236}">
                    <a16:creationId xmlns:a16="http://schemas.microsoft.com/office/drawing/2014/main" id="{6E58CFA7-73E7-6E0E-D1BF-0DA745B308F6}"/>
                  </a:ext>
                </a:extLst>
              </p:cNvPr>
              <p:cNvSpPr txBox="1"/>
              <p:nvPr/>
            </p:nvSpPr>
            <p:spPr>
              <a:xfrm>
                <a:off x="6563360" y="2350008"/>
                <a:ext cx="82296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9EA3AB"/>
                    </a:solidFill>
                    <a:latin typeface="맑은 고딕"/>
                  </a:rPr>
                  <a:t>ns</a:t>
                </a:r>
              </a:p>
            </p:txBody>
          </p:sp>
          <p:sp>
            <p:nvSpPr>
              <p:cNvPr id="173" name="Rectangle 37">
                <a:extLst>
                  <a:ext uri="{FF2B5EF4-FFF2-40B4-BE49-F238E27FC236}">
                    <a16:creationId xmlns:a16="http://schemas.microsoft.com/office/drawing/2014/main" id="{B2315512-D085-FF7F-EB37-C9F0AF82909E}"/>
                  </a:ext>
                </a:extLst>
              </p:cNvPr>
              <p:cNvSpPr/>
              <p:nvPr/>
            </p:nvSpPr>
            <p:spPr>
              <a:xfrm>
                <a:off x="619760" y="2688336"/>
                <a:ext cx="1828800" cy="338328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4" name="TextBox 173">
                <a:extLst>
                  <a:ext uri="{FF2B5EF4-FFF2-40B4-BE49-F238E27FC236}">
                    <a16:creationId xmlns:a16="http://schemas.microsoft.com/office/drawing/2014/main" id="{0AEC005B-CA84-18B3-8824-73676AFBAE23}"/>
                  </a:ext>
                </a:extLst>
              </p:cNvPr>
              <p:cNvSpPr txBox="1"/>
              <p:nvPr/>
            </p:nvSpPr>
            <p:spPr>
              <a:xfrm>
                <a:off x="619760" y="2688336"/>
                <a:ext cx="182880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BCE+AEC128 excl_ext</a:t>
                </a:r>
              </a:p>
            </p:txBody>
          </p:sp>
          <p:sp>
            <p:nvSpPr>
              <p:cNvPr id="175" name="Rectangle 39">
                <a:extLst>
                  <a:ext uri="{FF2B5EF4-FFF2-40B4-BE49-F238E27FC236}">
                    <a16:creationId xmlns:a16="http://schemas.microsoft.com/office/drawing/2014/main" id="{9F6EC01B-D0B1-3409-BF2E-99327EFB6978}"/>
                  </a:ext>
                </a:extLst>
              </p:cNvPr>
              <p:cNvSpPr/>
              <p:nvPr/>
            </p:nvSpPr>
            <p:spPr>
              <a:xfrm>
                <a:off x="2494280" y="2688336"/>
                <a:ext cx="1051560" cy="338328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6" name="TextBox 175">
                <a:extLst>
                  <a:ext uri="{FF2B5EF4-FFF2-40B4-BE49-F238E27FC236}">
                    <a16:creationId xmlns:a16="http://schemas.microsoft.com/office/drawing/2014/main" id="{5BB0AB2F-7BBD-F59F-203E-6ED2A992DD2D}"/>
                  </a:ext>
                </a:extLst>
              </p:cNvPr>
              <p:cNvSpPr txBox="1"/>
              <p:nvPr/>
            </p:nvSpPr>
            <p:spPr>
              <a:xfrm>
                <a:off x="2494280" y="2688336"/>
                <a:ext cx="105156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0.8339</a:t>
                </a:r>
              </a:p>
            </p:txBody>
          </p:sp>
          <p:sp>
            <p:nvSpPr>
              <p:cNvPr id="177" name="Rectangle 41">
                <a:extLst>
                  <a:ext uri="{FF2B5EF4-FFF2-40B4-BE49-F238E27FC236}">
                    <a16:creationId xmlns:a16="http://schemas.microsoft.com/office/drawing/2014/main" id="{17A0610D-3A7B-1A06-0384-95A8113B5548}"/>
                  </a:ext>
                </a:extLst>
              </p:cNvPr>
              <p:cNvSpPr/>
              <p:nvPr/>
            </p:nvSpPr>
            <p:spPr>
              <a:xfrm>
                <a:off x="3591560" y="2688336"/>
                <a:ext cx="1143000" cy="338328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69EC2361-FFF2-CD50-C251-D29E19193EBA}"/>
                  </a:ext>
                </a:extLst>
              </p:cNvPr>
              <p:cNvSpPr txBox="1"/>
              <p:nvPr/>
            </p:nvSpPr>
            <p:spPr>
              <a:xfrm>
                <a:off x="3591560" y="2688336"/>
                <a:ext cx="114300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0.5596</a:t>
                </a:r>
              </a:p>
            </p:txBody>
          </p:sp>
          <p:sp>
            <p:nvSpPr>
              <p:cNvPr id="179" name="Rectangle 43">
                <a:extLst>
                  <a:ext uri="{FF2B5EF4-FFF2-40B4-BE49-F238E27FC236}">
                    <a16:creationId xmlns:a16="http://schemas.microsoft.com/office/drawing/2014/main" id="{1A830CE0-F811-B7D5-A372-185413D51043}"/>
                  </a:ext>
                </a:extLst>
              </p:cNvPr>
              <p:cNvSpPr/>
              <p:nvPr/>
            </p:nvSpPr>
            <p:spPr>
              <a:xfrm>
                <a:off x="4780280" y="2688336"/>
                <a:ext cx="822960" cy="338328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9E2196EF-3581-FB61-AF99-212CA8E186FC}"/>
                  </a:ext>
                </a:extLst>
              </p:cNvPr>
              <p:cNvSpPr txBox="1"/>
              <p:nvPr/>
            </p:nvSpPr>
            <p:spPr>
              <a:xfrm>
                <a:off x="4780280" y="2688336"/>
                <a:ext cx="82296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+0.274</a:t>
                </a:r>
              </a:p>
            </p:txBody>
          </p:sp>
          <p:sp>
            <p:nvSpPr>
              <p:cNvPr id="181" name="Rectangle 45">
                <a:extLst>
                  <a:ext uri="{FF2B5EF4-FFF2-40B4-BE49-F238E27FC236}">
                    <a16:creationId xmlns:a16="http://schemas.microsoft.com/office/drawing/2014/main" id="{73A17904-F6E3-47EA-EE6E-B138C431ACF4}"/>
                  </a:ext>
                </a:extLst>
              </p:cNvPr>
              <p:cNvSpPr/>
              <p:nvPr/>
            </p:nvSpPr>
            <p:spPr>
              <a:xfrm>
                <a:off x="5648960" y="2688336"/>
                <a:ext cx="868680" cy="338328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800EF167-C67F-6525-ADE4-DE5833B48CF5}"/>
                  </a:ext>
                </a:extLst>
              </p:cNvPr>
              <p:cNvSpPr txBox="1"/>
              <p:nvPr/>
            </p:nvSpPr>
            <p:spPr>
              <a:xfrm>
                <a:off x="5648960" y="2688336"/>
                <a:ext cx="86868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C0392B"/>
                    </a:solidFill>
                    <a:latin typeface="맑은 고딕"/>
                  </a:rPr>
                  <a:t>&lt;0.001</a:t>
                </a:r>
              </a:p>
            </p:txBody>
          </p:sp>
          <p:sp>
            <p:nvSpPr>
              <p:cNvPr id="183" name="Rectangle 47">
                <a:extLst>
                  <a:ext uri="{FF2B5EF4-FFF2-40B4-BE49-F238E27FC236}">
                    <a16:creationId xmlns:a16="http://schemas.microsoft.com/office/drawing/2014/main" id="{426FFCD9-075D-0F9E-F2CB-3B1D2B36516A}"/>
                  </a:ext>
                </a:extLst>
              </p:cNvPr>
              <p:cNvSpPr/>
              <p:nvPr/>
            </p:nvSpPr>
            <p:spPr>
              <a:xfrm>
                <a:off x="6563360" y="2688336"/>
                <a:ext cx="822960" cy="338328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4" name="TextBox 183">
                <a:extLst>
                  <a:ext uri="{FF2B5EF4-FFF2-40B4-BE49-F238E27FC236}">
                    <a16:creationId xmlns:a16="http://schemas.microsoft.com/office/drawing/2014/main" id="{35562D0B-0AF7-9931-2BFC-D1BABC70E4F8}"/>
                  </a:ext>
                </a:extLst>
              </p:cNvPr>
              <p:cNvSpPr txBox="1"/>
              <p:nvPr/>
            </p:nvSpPr>
            <p:spPr>
              <a:xfrm>
                <a:off x="6563360" y="2688336"/>
                <a:ext cx="82296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C0392B"/>
                    </a:solidFill>
                    <a:latin typeface="맑은 고딕"/>
                  </a:rPr>
                  <a:t>***</a:t>
                </a:r>
              </a:p>
            </p:txBody>
          </p:sp>
          <p:sp>
            <p:nvSpPr>
              <p:cNvPr id="185" name="Rectangle 49">
                <a:extLst>
                  <a:ext uri="{FF2B5EF4-FFF2-40B4-BE49-F238E27FC236}">
                    <a16:creationId xmlns:a16="http://schemas.microsoft.com/office/drawing/2014/main" id="{1506D499-0422-BF30-CCDB-06B1CFDE1C0F}"/>
                  </a:ext>
                </a:extLst>
              </p:cNvPr>
              <p:cNvSpPr/>
              <p:nvPr/>
            </p:nvSpPr>
            <p:spPr>
              <a:xfrm>
                <a:off x="619760" y="3026664"/>
                <a:ext cx="1828800" cy="338328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6" name="TextBox 185">
                <a:extLst>
                  <a:ext uri="{FF2B5EF4-FFF2-40B4-BE49-F238E27FC236}">
                    <a16:creationId xmlns:a16="http://schemas.microsoft.com/office/drawing/2014/main" id="{70E613DD-F592-0878-1FBD-7F5530DB76AB}"/>
                  </a:ext>
                </a:extLst>
              </p:cNvPr>
              <p:cNvSpPr txBox="1"/>
              <p:nvPr/>
            </p:nvSpPr>
            <p:spPr>
              <a:xfrm>
                <a:off x="619760" y="3026664"/>
                <a:ext cx="182880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BCE+AEC256 norm</a:t>
                </a:r>
              </a:p>
            </p:txBody>
          </p:sp>
          <p:sp>
            <p:nvSpPr>
              <p:cNvPr id="187" name="Rectangle 51">
                <a:extLst>
                  <a:ext uri="{FF2B5EF4-FFF2-40B4-BE49-F238E27FC236}">
                    <a16:creationId xmlns:a16="http://schemas.microsoft.com/office/drawing/2014/main" id="{E7A40107-AAE5-690C-4E10-7B0A097A8894}"/>
                  </a:ext>
                </a:extLst>
              </p:cNvPr>
              <p:cNvSpPr/>
              <p:nvPr/>
            </p:nvSpPr>
            <p:spPr>
              <a:xfrm>
                <a:off x="2494280" y="3026664"/>
                <a:ext cx="1051560" cy="338328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B019683D-DB1E-684C-F023-83C68E3EF657}"/>
                  </a:ext>
                </a:extLst>
              </p:cNvPr>
              <p:cNvSpPr txBox="1"/>
              <p:nvPr/>
            </p:nvSpPr>
            <p:spPr>
              <a:xfrm>
                <a:off x="2494280" y="3026664"/>
                <a:ext cx="105156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0.8884</a:t>
                </a:r>
              </a:p>
            </p:txBody>
          </p:sp>
          <p:sp>
            <p:nvSpPr>
              <p:cNvPr id="189" name="Rectangle 53">
                <a:extLst>
                  <a:ext uri="{FF2B5EF4-FFF2-40B4-BE49-F238E27FC236}">
                    <a16:creationId xmlns:a16="http://schemas.microsoft.com/office/drawing/2014/main" id="{3D54909E-5090-D03C-A553-8DEE636F6EF4}"/>
                  </a:ext>
                </a:extLst>
              </p:cNvPr>
              <p:cNvSpPr/>
              <p:nvPr/>
            </p:nvSpPr>
            <p:spPr>
              <a:xfrm>
                <a:off x="3591560" y="3026664"/>
                <a:ext cx="1143000" cy="338328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26A1DD41-39C1-12A8-7336-5FAD1F77F6E2}"/>
                  </a:ext>
                </a:extLst>
              </p:cNvPr>
              <p:cNvSpPr txBox="1"/>
              <p:nvPr/>
            </p:nvSpPr>
            <p:spPr>
              <a:xfrm>
                <a:off x="3591560" y="3026664"/>
                <a:ext cx="114300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0.7931</a:t>
                </a:r>
              </a:p>
            </p:txBody>
          </p:sp>
          <p:sp>
            <p:nvSpPr>
              <p:cNvPr id="191" name="Rectangle 55">
                <a:extLst>
                  <a:ext uri="{FF2B5EF4-FFF2-40B4-BE49-F238E27FC236}">
                    <a16:creationId xmlns:a16="http://schemas.microsoft.com/office/drawing/2014/main" id="{D30529B5-3FCD-8BDB-1174-2D0033B12C8D}"/>
                  </a:ext>
                </a:extLst>
              </p:cNvPr>
              <p:cNvSpPr/>
              <p:nvPr/>
            </p:nvSpPr>
            <p:spPr>
              <a:xfrm>
                <a:off x="4780280" y="3026664"/>
                <a:ext cx="822960" cy="338328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7E04094D-D86B-80B9-D6B0-A2F080ADD6CF}"/>
                  </a:ext>
                </a:extLst>
              </p:cNvPr>
              <p:cNvSpPr txBox="1"/>
              <p:nvPr/>
            </p:nvSpPr>
            <p:spPr>
              <a:xfrm>
                <a:off x="4780280" y="3026664"/>
                <a:ext cx="82296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+0.095</a:t>
                </a:r>
              </a:p>
            </p:txBody>
          </p:sp>
          <p:sp>
            <p:nvSpPr>
              <p:cNvPr id="193" name="Rectangle 57">
                <a:extLst>
                  <a:ext uri="{FF2B5EF4-FFF2-40B4-BE49-F238E27FC236}">
                    <a16:creationId xmlns:a16="http://schemas.microsoft.com/office/drawing/2014/main" id="{0B0D7695-D9AD-E086-BFA4-A5F60F202C15}"/>
                  </a:ext>
                </a:extLst>
              </p:cNvPr>
              <p:cNvSpPr/>
              <p:nvPr/>
            </p:nvSpPr>
            <p:spPr>
              <a:xfrm>
                <a:off x="5648960" y="3026664"/>
                <a:ext cx="868680" cy="338328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4" name="TextBox 193">
                <a:extLst>
                  <a:ext uri="{FF2B5EF4-FFF2-40B4-BE49-F238E27FC236}">
                    <a16:creationId xmlns:a16="http://schemas.microsoft.com/office/drawing/2014/main" id="{90A6CA89-715D-99F1-090D-527D8402C884}"/>
                  </a:ext>
                </a:extLst>
              </p:cNvPr>
              <p:cNvSpPr txBox="1"/>
              <p:nvPr/>
            </p:nvSpPr>
            <p:spPr>
              <a:xfrm>
                <a:off x="5648960" y="3026664"/>
                <a:ext cx="86868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C0392B"/>
                    </a:solidFill>
                    <a:latin typeface="맑은 고딕"/>
                  </a:rPr>
                  <a:t>0.005</a:t>
                </a:r>
              </a:p>
            </p:txBody>
          </p:sp>
          <p:sp>
            <p:nvSpPr>
              <p:cNvPr id="195" name="Rectangle 59">
                <a:extLst>
                  <a:ext uri="{FF2B5EF4-FFF2-40B4-BE49-F238E27FC236}">
                    <a16:creationId xmlns:a16="http://schemas.microsoft.com/office/drawing/2014/main" id="{7BB5D00D-CDD0-684D-F037-885042377F07}"/>
                  </a:ext>
                </a:extLst>
              </p:cNvPr>
              <p:cNvSpPr/>
              <p:nvPr/>
            </p:nvSpPr>
            <p:spPr>
              <a:xfrm>
                <a:off x="6563360" y="3026664"/>
                <a:ext cx="822960" cy="338328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6" name="TextBox 195">
                <a:extLst>
                  <a:ext uri="{FF2B5EF4-FFF2-40B4-BE49-F238E27FC236}">
                    <a16:creationId xmlns:a16="http://schemas.microsoft.com/office/drawing/2014/main" id="{2ECB928F-D6A2-107A-A107-01AD3992DA89}"/>
                  </a:ext>
                </a:extLst>
              </p:cNvPr>
              <p:cNvSpPr txBox="1"/>
              <p:nvPr/>
            </p:nvSpPr>
            <p:spPr>
              <a:xfrm>
                <a:off x="6563360" y="3026664"/>
                <a:ext cx="82296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C0392B"/>
                    </a:solidFill>
                    <a:latin typeface="맑은 고딕"/>
                  </a:rPr>
                  <a:t>**</a:t>
                </a:r>
              </a:p>
            </p:txBody>
          </p:sp>
          <p:sp>
            <p:nvSpPr>
              <p:cNvPr id="197" name="Rectangle 61">
                <a:extLst>
                  <a:ext uri="{FF2B5EF4-FFF2-40B4-BE49-F238E27FC236}">
                    <a16:creationId xmlns:a16="http://schemas.microsoft.com/office/drawing/2014/main" id="{3C0F6864-3E8A-EA04-D8F1-2D24C083D5AD}"/>
                  </a:ext>
                </a:extLst>
              </p:cNvPr>
              <p:cNvSpPr/>
              <p:nvPr/>
            </p:nvSpPr>
            <p:spPr>
              <a:xfrm>
                <a:off x="619760" y="3364992"/>
                <a:ext cx="1828800" cy="338328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8" name="TextBox 197">
                <a:extLst>
                  <a:ext uri="{FF2B5EF4-FFF2-40B4-BE49-F238E27FC236}">
                    <a16:creationId xmlns:a16="http://schemas.microsoft.com/office/drawing/2014/main" id="{33286FAC-A038-CAF2-16A3-BAEF6FDBAAD5}"/>
                  </a:ext>
                </a:extLst>
              </p:cNvPr>
              <p:cNvSpPr txBox="1"/>
              <p:nvPr/>
            </p:nvSpPr>
            <p:spPr>
              <a:xfrm>
                <a:off x="619760" y="3364992"/>
                <a:ext cx="182880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BCE+AEC256 excl_ext</a:t>
                </a:r>
              </a:p>
            </p:txBody>
          </p:sp>
          <p:sp>
            <p:nvSpPr>
              <p:cNvPr id="199" name="Rectangle 63">
                <a:extLst>
                  <a:ext uri="{FF2B5EF4-FFF2-40B4-BE49-F238E27FC236}">
                    <a16:creationId xmlns:a16="http://schemas.microsoft.com/office/drawing/2014/main" id="{308F2375-2063-97BC-37CC-0AE840CCFF17}"/>
                  </a:ext>
                </a:extLst>
              </p:cNvPr>
              <p:cNvSpPr/>
              <p:nvPr/>
            </p:nvSpPr>
            <p:spPr>
              <a:xfrm>
                <a:off x="2494280" y="3364992"/>
                <a:ext cx="1051560" cy="338328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0" name="TextBox 199">
                <a:extLst>
                  <a:ext uri="{FF2B5EF4-FFF2-40B4-BE49-F238E27FC236}">
                    <a16:creationId xmlns:a16="http://schemas.microsoft.com/office/drawing/2014/main" id="{47C167FC-AAC3-3B67-0543-B2F43E2A81E4}"/>
                  </a:ext>
                </a:extLst>
              </p:cNvPr>
              <p:cNvSpPr txBox="1"/>
              <p:nvPr/>
            </p:nvSpPr>
            <p:spPr>
              <a:xfrm>
                <a:off x="2494280" y="3364992"/>
                <a:ext cx="105156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0.8507</a:t>
                </a:r>
              </a:p>
            </p:txBody>
          </p:sp>
          <p:sp>
            <p:nvSpPr>
              <p:cNvPr id="201" name="Rectangle 65">
                <a:extLst>
                  <a:ext uri="{FF2B5EF4-FFF2-40B4-BE49-F238E27FC236}">
                    <a16:creationId xmlns:a16="http://schemas.microsoft.com/office/drawing/2014/main" id="{8C4FC9ED-0B48-5844-40C5-500AC523B2DD}"/>
                  </a:ext>
                </a:extLst>
              </p:cNvPr>
              <p:cNvSpPr/>
              <p:nvPr/>
            </p:nvSpPr>
            <p:spPr>
              <a:xfrm>
                <a:off x="3591560" y="3364992"/>
                <a:ext cx="1143000" cy="338328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98644C72-5DE9-6221-1ED2-D931A0F3F0BC}"/>
                  </a:ext>
                </a:extLst>
              </p:cNvPr>
              <p:cNvSpPr txBox="1"/>
              <p:nvPr/>
            </p:nvSpPr>
            <p:spPr>
              <a:xfrm>
                <a:off x="3591560" y="3364992"/>
                <a:ext cx="114300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0.5474</a:t>
                </a:r>
              </a:p>
            </p:txBody>
          </p:sp>
          <p:sp>
            <p:nvSpPr>
              <p:cNvPr id="203" name="Rectangle 67">
                <a:extLst>
                  <a:ext uri="{FF2B5EF4-FFF2-40B4-BE49-F238E27FC236}">
                    <a16:creationId xmlns:a16="http://schemas.microsoft.com/office/drawing/2014/main" id="{B1ED9E69-BADE-216A-6896-1B10DE56F157}"/>
                  </a:ext>
                </a:extLst>
              </p:cNvPr>
              <p:cNvSpPr/>
              <p:nvPr/>
            </p:nvSpPr>
            <p:spPr>
              <a:xfrm>
                <a:off x="4780280" y="3364992"/>
                <a:ext cx="822960" cy="338328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CFE8AEB2-4297-CF41-7120-295DCAE2F3A9}"/>
                  </a:ext>
                </a:extLst>
              </p:cNvPr>
              <p:cNvSpPr txBox="1"/>
              <p:nvPr/>
            </p:nvSpPr>
            <p:spPr>
              <a:xfrm>
                <a:off x="4780280" y="3364992"/>
                <a:ext cx="82296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+0.303</a:t>
                </a:r>
              </a:p>
            </p:txBody>
          </p:sp>
          <p:sp>
            <p:nvSpPr>
              <p:cNvPr id="205" name="Rectangle 69">
                <a:extLst>
                  <a:ext uri="{FF2B5EF4-FFF2-40B4-BE49-F238E27FC236}">
                    <a16:creationId xmlns:a16="http://schemas.microsoft.com/office/drawing/2014/main" id="{470AB331-F79E-9B9B-5B52-A69721F36493}"/>
                  </a:ext>
                </a:extLst>
              </p:cNvPr>
              <p:cNvSpPr/>
              <p:nvPr/>
            </p:nvSpPr>
            <p:spPr>
              <a:xfrm>
                <a:off x="5648960" y="3364992"/>
                <a:ext cx="868680" cy="338328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472290F5-37E0-6707-C7DD-BD9DE269C12C}"/>
                  </a:ext>
                </a:extLst>
              </p:cNvPr>
              <p:cNvSpPr txBox="1"/>
              <p:nvPr/>
            </p:nvSpPr>
            <p:spPr>
              <a:xfrm>
                <a:off x="5648960" y="3364992"/>
                <a:ext cx="86868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C0392B"/>
                    </a:solidFill>
                    <a:latin typeface="맑은 고딕"/>
                  </a:rPr>
                  <a:t>&lt;0.001</a:t>
                </a:r>
              </a:p>
            </p:txBody>
          </p:sp>
          <p:sp>
            <p:nvSpPr>
              <p:cNvPr id="207" name="Rectangle 71">
                <a:extLst>
                  <a:ext uri="{FF2B5EF4-FFF2-40B4-BE49-F238E27FC236}">
                    <a16:creationId xmlns:a16="http://schemas.microsoft.com/office/drawing/2014/main" id="{CEA184B8-39FB-680F-16AA-579CBABD0211}"/>
                  </a:ext>
                </a:extLst>
              </p:cNvPr>
              <p:cNvSpPr/>
              <p:nvPr/>
            </p:nvSpPr>
            <p:spPr>
              <a:xfrm>
                <a:off x="6563360" y="3364992"/>
                <a:ext cx="822960" cy="338328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E7062DEC-44AA-A434-7A62-6538A073885D}"/>
                  </a:ext>
                </a:extLst>
              </p:cNvPr>
              <p:cNvSpPr txBox="1"/>
              <p:nvPr/>
            </p:nvSpPr>
            <p:spPr>
              <a:xfrm>
                <a:off x="6563360" y="3364992"/>
                <a:ext cx="82296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C0392B"/>
                    </a:solidFill>
                    <a:latin typeface="맑은 고딕"/>
                  </a:rPr>
                  <a:t>***</a:t>
                </a:r>
              </a:p>
            </p:txBody>
          </p:sp>
          <p:sp>
            <p:nvSpPr>
              <p:cNvPr id="209" name="Rectangle 73">
                <a:extLst>
                  <a:ext uri="{FF2B5EF4-FFF2-40B4-BE49-F238E27FC236}">
                    <a16:creationId xmlns:a16="http://schemas.microsoft.com/office/drawing/2014/main" id="{7A1DB84F-9625-5984-0494-3FA0121022CD}"/>
                  </a:ext>
                </a:extLst>
              </p:cNvPr>
              <p:cNvSpPr/>
              <p:nvPr/>
            </p:nvSpPr>
            <p:spPr>
              <a:xfrm>
                <a:off x="619760" y="3703319"/>
                <a:ext cx="1828800" cy="338328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540D1EA0-DB26-CF11-5D71-762B61456435}"/>
                  </a:ext>
                </a:extLst>
              </p:cNvPr>
              <p:cNvSpPr txBox="1"/>
              <p:nvPr/>
            </p:nvSpPr>
            <p:spPr>
              <a:xfrm>
                <a:off x="619760" y="3703319"/>
                <a:ext cx="182880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Focal+AEC128 norm</a:t>
                </a:r>
              </a:p>
            </p:txBody>
          </p:sp>
          <p:sp>
            <p:nvSpPr>
              <p:cNvPr id="211" name="Rectangle 75">
                <a:extLst>
                  <a:ext uri="{FF2B5EF4-FFF2-40B4-BE49-F238E27FC236}">
                    <a16:creationId xmlns:a16="http://schemas.microsoft.com/office/drawing/2014/main" id="{5BF8B491-0CD1-9A88-CE1E-C857836E4E73}"/>
                  </a:ext>
                </a:extLst>
              </p:cNvPr>
              <p:cNvSpPr/>
              <p:nvPr/>
            </p:nvSpPr>
            <p:spPr>
              <a:xfrm>
                <a:off x="2494280" y="3703319"/>
                <a:ext cx="1051560" cy="338328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2" name="TextBox 211">
                <a:extLst>
                  <a:ext uri="{FF2B5EF4-FFF2-40B4-BE49-F238E27FC236}">
                    <a16:creationId xmlns:a16="http://schemas.microsoft.com/office/drawing/2014/main" id="{89A2C357-6A55-BAA2-B725-C83449F6FAFD}"/>
                  </a:ext>
                </a:extLst>
              </p:cNvPr>
              <p:cNvSpPr txBox="1"/>
              <p:nvPr/>
            </p:nvSpPr>
            <p:spPr>
              <a:xfrm>
                <a:off x="2494280" y="3703319"/>
                <a:ext cx="105156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0.8739</a:t>
                </a:r>
              </a:p>
            </p:txBody>
          </p:sp>
          <p:sp>
            <p:nvSpPr>
              <p:cNvPr id="213" name="Rectangle 77">
                <a:extLst>
                  <a:ext uri="{FF2B5EF4-FFF2-40B4-BE49-F238E27FC236}">
                    <a16:creationId xmlns:a16="http://schemas.microsoft.com/office/drawing/2014/main" id="{15D8926C-B537-D4FA-7A48-5552C40F3568}"/>
                  </a:ext>
                </a:extLst>
              </p:cNvPr>
              <p:cNvSpPr/>
              <p:nvPr/>
            </p:nvSpPr>
            <p:spPr>
              <a:xfrm>
                <a:off x="3591560" y="3703319"/>
                <a:ext cx="1143000" cy="338328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64F20E39-7E38-053F-C725-281AF5893A43}"/>
                  </a:ext>
                </a:extLst>
              </p:cNvPr>
              <p:cNvSpPr txBox="1"/>
              <p:nvPr/>
            </p:nvSpPr>
            <p:spPr>
              <a:xfrm>
                <a:off x="3591560" y="3703319"/>
                <a:ext cx="114300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0.7975</a:t>
                </a:r>
              </a:p>
            </p:txBody>
          </p:sp>
          <p:sp>
            <p:nvSpPr>
              <p:cNvPr id="215" name="Rectangle 79">
                <a:extLst>
                  <a:ext uri="{FF2B5EF4-FFF2-40B4-BE49-F238E27FC236}">
                    <a16:creationId xmlns:a16="http://schemas.microsoft.com/office/drawing/2014/main" id="{798ADEB4-F8AD-2E4C-3E2F-08719B58374C}"/>
                  </a:ext>
                </a:extLst>
              </p:cNvPr>
              <p:cNvSpPr/>
              <p:nvPr/>
            </p:nvSpPr>
            <p:spPr>
              <a:xfrm>
                <a:off x="4780280" y="3703319"/>
                <a:ext cx="822960" cy="338328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39257593-6C1A-5134-2C9A-2760E59DE6C5}"/>
                  </a:ext>
                </a:extLst>
              </p:cNvPr>
              <p:cNvSpPr txBox="1"/>
              <p:nvPr/>
            </p:nvSpPr>
            <p:spPr>
              <a:xfrm>
                <a:off x="4780280" y="3703319"/>
                <a:ext cx="82296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+0.076</a:t>
                </a:r>
              </a:p>
            </p:txBody>
          </p:sp>
          <p:sp>
            <p:nvSpPr>
              <p:cNvPr id="217" name="Rectangle 81">
                <a:extLst>
                  <a:ext uri="{FF2B5EF4-FFF2-40B4-BE49-F238E27FC236}">
                    <a16:creationId xmlns:a16="http://schemas.microsoft.com/office/drawing/2014/main" id="{D87C40FE-3C48-DC48-9138-C2CF6A070DB9}"/>
                  </a:ext>
                </a:extLst>
              </p:cNvPr>
              <p:cNvSpPr/>
              <p:nvPr/>
            </p:nvSpPr>
            <p:spPr>
              <a:xfrm>
                <a:off x="5648960" y="3703319"/>
                <a:ext cx="868680" cy="338328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8" name="TextBox 217">
                <a:extLst>
                  <a:ext uri="{FF2B5EF4-FFF2-40B4-BE49-F238E27FC236}">
                    <a16:creationId xmlns:a16="http://schemas.microsoft.com/office/drawing/2014/main" id="{CB8C43FC-5C1D-1496-E09D-D48CDD49FFA8}"/>
                  </a:ext>
                </a:extLst>
              </p:cNvPr>
              <p:cNvSpPr txBox="1"/>
              <p:nvPr/>
            </p:nvSpPr>
            <p:spPr>
              <a:xfrm>
                <a:off x="5648960" y="3703319"/>
                <a:ext cx="86868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C0392B"/>
                    </a:solidFill>
                    <a:latin typeface="맑은 고딕"/>
                  </a:rPr>
                  <a:t>0.008</a:t>
                </a:r>
              </a:p>
            </p:txBody>
          </p:sp>
          <p:sp>
            <p:nvSpPr>
              <p:cNvPr id="219" name="Rectangle 83">
                <a:extLst>
                  <a:ext uri="{FF2B5EF4-FFF2-40B4-BE49-F238E27FC236}">
                    <a16:creationId xmlns:a16="http://schemas.microsoft.com/office/drawing/2014/main" id="{2B7F054D-08A7-DD9D-EE8A-9F76B8287E72}"/>
                  </a:ext>
                </a:extLst>
              </p:cNvPr>
              <p:cNvSpPr/>
              <p:nvPr/>
            </p:nvSpPr>
            <p:spPr>
              <a:xfrm>
                <a:off x="6563360" y="3703319"/>
                <a:ext cx="822960" cy="338328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20" name="TextBox 219">
                <a:extLst>
                  <a:ext uri="{FF2B5EF4-FFF2-40B4-BE49-F238E27FC236}">
                    <a16:creationId xmlns:a16="http://schemas.microsoft.com/office/drawing/2014/main" id="{EDCCEB76-1153-ED94-C19E-9C98E2577AB9}"/>
                  </a:ext>
                </a:extLst>
              </p:cNvPr>
              <p:cNvSpPr txBox="1"/>
              <p:nvPr/>
            </p:nvSpPr>
            <p:spPr>
              <a:xfrm>
                <a:off x="6563360" y="3703319"/>
                <a:ext cx="82296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C0392B"/>
                    </a:solidFill>
                    <a:latin typeface="맑은 고딕"/>
                  </a:rPr>
                  <a:t>**</a:t>
                </a:r>
              </a:p>
            </p:txBody>
          </p:sp>
          <p:sp>
            <p:nvSpPr>
              <p:cNvPr id="221" name="Rectangle 85">
                <a:extLst>
                  <a:ext uri="{FF2B5EF4-FFF2-40B4-BE49-F238E27FC236}">
                    <a16:creationId xmlns:a16="http://schemas.microsoft.com/office/drawing/2014/main" id="{653455F0-6415-73EF-1C5F-95F47A53ECE7}"/>
                  </a:ext>
                </a:extLst>
              </p:cNvPr>
              <p:cNvSpPr/>
              <p:nvPr/>
            </p:nvSpPr>
            <p:spPr>
              <a:xfrm>
                <a:off x="619760" y="4041648"/>
                <a:ext cx="1828800" cy="338328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22" name="TextBox 221">
                <a:extLst>
                  <a:ext uri="{FF2B5EF4-FFF2-40B4-BE49-F238E27FC236}">
                    <a16:creationId xmlns:a16="http://schemas.microsoft.com/office/drawing/2014/main" id="{BC897EF7-FE2A-2695-E5E4-EFBF739CB78E}"/>
                  </a:ext>
                </a:extLst>
              </p:cNvPr>
              <p:cNvSpPr txBox="1"/>
              <p:nvPr/>
            </p:nvSpPr>
            <p:spPr>
              <a:xfrm>
                <a:off x="619760" y="4041648"/>
                <a:ext cx="182880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Focal+AEC128 excl_ext</a:t>
                </a:r>
              </a:p>
            </p:txBody>
          </p:sp>
          <p:sp>
            <p:nvSpPr>
              <p:cNvPr id="223" name="Rectangle 87">
                <a:extLst>
                  <a:ext uri="{FF2B5EF4-FFF2-40B4-BE49-F238E27FC236}">
                    <a16:creationId xmlns:a16="http://schemas.microsoft.com/office/drawing/2014/main" id="{5ABCEACE-FFE5-9B2A-EA12-3D3EC8AED5AF}"/>
                  </a:ext>
                </a:extLst>
              </p:cNvPr>
              <p:cNvSpPr/>
              <p:nvPr/>
            </p:nvSpPr>
            <p:spPr>
              <a:xfrm>
                <a:off x="2494280" y="4041648"/>
                <a:ext cx="1051560" cy="338328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24" name="TextBox 223">
                <a:extLst>
                  <a:ext uri="{FF2B5EF4-FFF2-40B4-BE49-F238E27FC236}">
                    <a16:creationId xmlns:a16="http://schemas.microsoft.com/office/drawing/2014/main" id="{5106C2AB-730B-A469-B0C9-D7F86009B0AF}"/>
                  </a:ext>
                </a:extLst>
              </p:cNvPr>
              <p:cNvSpPr txBox="1"/>
              <p:nvPr/>
            </p:nvSpPr>
            <p:spPr>
              <a:xfrm>
                <a:off x="2494280" y="4041648"/>
                <a:ext cx="105156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0.8854</a:t>
                </a:r>
              </a:p>
            </p:txBody>
          </p:sp>
          <p:sp>
            <p:nvSpPr>
              <p:cNvPr id="225" name="Rectangle 89">
                <a:extLst>
                  <a:ext uri="{FF2B5EF4-FFF2-40B4-BE49-F238E27FC236}">
                    <a16:creationId xmlns:a16="http://schemas.microsoft.com/office/drawing/2014/main" id="{F3EB0C47-E044-063D-302A-A0C5F5B73FC8}"/>
                  </a:ext>
                </a:extLst>
              </p:cNvPr>
              <p:cNvSpPr/>
              <p:nvPr/>
            </p:nvSpPr>
            <p:spPr>
              <a:xfrm>
                <a:off x="3591560" y="4041648"/>
                <a:ext cx="1143000" cy="338328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26" name="TextBox 225">
                <a:extLst>
                  <a:ext uri="{FF2B5EF4-FFF2-40B4-BE49-F238E27FC236}">
                    <a16:creationId xmlns:a16="http://schemas.microsoft.com/office/drawing/2014/main" id="{DA8F66C2-3F1D-53BA-D85B-B17B6E34A2D5}"/>
                  </a:ext>
                </a:extLst>
              </p:cNvPr>
              <p:cNvSpPr txBox="1"/>
              <p:nvPr/>
            </p:nvSpPr>
            <p:spPr>
              <a:xfrm>
                <a:off x="3591560" y="4041648"/>
                <a:ext cx="114300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0.5503</a:t>
                </a:r>
              </a:p>
            </p:txBody>
          </p:sp>
          <p:sp>
            <p:nvSpPr>
              <p:cNvPr id="227" name="Rectangle 91">
                <a:extLst>
                  <a:ext uri="{FF2B5EF4-FFF2-40B4-BE49-F238E27FC236}">
                    <a16:creationId xmlns:a16="http://schemas.microsoft.com/office/drawing/2014/main" id="{2483EFEB-2CC2-6DF7-18CD-C49D3DE9DA10}"/>
                  </a:ext>
                </a:extLst>
              </p:cNvPr>
              <p:cNvSpPr/>
              <p:nvPr/>
            </p:nvSpPr>
            <p:spPr>
              <a:xfrm>
                <a:off x="4780280" y="4041648"/>
                <a:ext cx="822960" cy="338328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28" name="TextBox 227">
                <a:extLst>
                  <a:ext uri="{FF2B5EF4-FFF2-40B4-BE49-F238E27FC236}">
                    <a16:creationId xmlns:a16="http://schemas.microsoft.com/office/drawing/2014/main" id="{40F0AB26-20FB-3482-58D6-51E4BE2D112B}"/>
                  </a:ext>
                </a:extLst>
              </p:cNvPr>
              <p:cNvSpPr txBox="1"/>
              <p:nvPr/>
            </p:nvSpPr>
            <p:spPr>
              <a:xfrm>
                <a:off x="4780280" y="4041648"/>
                <a:ext cx="82296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+0.335</a:t>
                </a:r>
              </a:p>
            </p:txBody>
          </p:sp>
          <p:sp>
            <p:nvSpPr>
              <p:cNvPr id="229" name="Rectangle 93">
                <a:extLst>
                  <a:ext uri="{FF2B5EF4-FFF2-40B4-BE49-F238E27FC236}">
                    <a16:creationId xmlns:a16="http://schemas.microsoft.com/office/drawing/2014/main" id="{D36371F3-05D7-5E87-9D70-78CE7F9276D7}"/>
                  </a:ext>
                </a:extLst>
              </p:cNvPr>
              <p:cNvSpPr/>
              <p:nvPr/>
            </p:nvSpPr>
            <p:spPr>
              <a:xfrm>
                <a:off x="5648960" y="4041648"/>
                <a:ext cx="868680" cy="338328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30" name="TextBox 229">
                <a:extLst>
                  <a:ext uri="{FF2B5EF4-FFF2-40B4-BE49-F238E27FC236}">
                    <a16:creationId xmlns:a16="http://schemas.microsoft.com/office/drawing/2014/main" id="{8B545EA0-F64B-BD76-CC8E-DB26690B6F86}"/>
                  </a:ext>
                </a:extLst>
              </p:cNvPr>
              <p:cNvSpPr txBox="1"/>
              <p:nvPr/>
            </p:nvSpPr>
            <p:spPr>
              <a:xfrm>
                <a:off x="5648960" y="4041648"/>
                <a:ext cx="86868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C0392B"/>
                    </a:solidFill>
                    <a:latin typeface="맑은 고딕"/>
                  </a:rPr>
                  <a:t>&lt;0.001</a:t>
                </a:r>
              </a:p>
            </p:txBody>
          </p:sp>
          <p:sp>
            <p:nvSpPr>
              <p:cNvPr id="231" name="Rectangle 95">
                <a:extLst>
                  <a:ext uri="{FF2B5EF4-FFF2-40B4-BE49-F238E27FC236}">
                    <a16:creationId xmlns:a16="http://schemas.microsoft.com/office/drawing/2014/main" id="{CC370A8B-947F-CAEB-57E1-9ECBEA4F27E7}"/>
                  </a:ext>
                </a:extLst>
              </p:cNvPr>
              <p:cNvSpPr/>
              <p:nvPr/>
            </p:nvSpPr>
            <p:spPr>
              <a:xfrm>
                <a:off x="6563360" y="4041648"/>
                <a:ext cx="822960" cy="338328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32" name="TextBox 231">
                <a:extLst>
                  <a:ext uri="{FF2B5EF4-FFF2-40B4-BE49-F238E27FC236}">
                    <a16:creationId xmlns:a16="http://schemas.microsoft.com/office/drawing/2014/main" id="{FA4E0C15-80DD-C61E-8D5C-1F2D70373996}"/>
                  </a:ext>
                </a:extLst>
              </p:cNvPr>
              <p:cNvSpPr txBox="1"/>
              <p:nvPr/>
            </p:nvSpPr>
            <p:spPr>
              <a:xfrm>
                <a:off x="6563360" y="4041648"/>
                <a:ext cx="82296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C0392B"/>
                    </a:solidFill>
                    <a:latin typeface="맑은 고딕"/>
                  </a:rPr>
                  <a:t>***</a:t>
                </a:r>
              </a:p>
            </p:txBody>
          </p:sp>
          <p:sp>
            <p:nvSpPr>
              <p:cNvPr id="233" name="Rectangle 97">
                <a:extLst>
                  <a:ext uri="{FF2B5EF4-FFF2-40B4-BE49-F238E27FC236}">
                    <a16:creationId xmlns:a16="http://schemas.microsoft.com/office/drawing/2014/main" id="{5ABC663E-8E4F-A0D8-1A54-D6C9486A8194}"/>
                  </a:ext>
                </a:extLst>
              </p:cNvPr>
              <p:cNvSpPr/>
              <p:nvPr/>
            </p:nvSpPr>
            <p:spPr>
              <a:xfrm>
                <a:off x="619760" y="4379976"/>
                <a:ext cx="1828800" cy="338328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34" name="TextBox 233">
                <a:extLst>
                  <a:ext uri="{FF2B5EF4-FFF2-40B4-BE49-F238E27FC236}">
                    <a16:creationId xmlns:a16="http://schemas.microsoft.com/office/drawing/2014/main" id="{8989FCD6-E199-B1A7-DA5C-B7B3951A22F3}"/>
                  </a:ext>
                </a:extLst>
              </p:cNvPr>
              <p:cNvSpPr txBox="1"/>
              <p:nvPr/>
            </p:nvSpPr>
            <p:spPr>
              <a:xfrm>
                <a:off x="619760" y="4379976"/>
                <a:ext cx="182880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Focal+AEC256 norm</a:t>
                </a:r>
              </a:p>
            </p:txBody>
          </p:sp>
          <p:sp>
            <p:nvSpPr>
              <p:cNvPr id="235" name="Rectangle 99">
                <a:extLst>
                  <a:ext uri="{FF2B5EF4-FFF2-40B4-BE49-F238E27FC236}">
                    <a16:creationId xmlns:a16="http://schemas.microsoft.com/office/drawing/2014/main" id="{11C09109-6D8A-9F68-1772-66F724C347A5}"/>
                  </a:ext>
                </a:extLst>
              </p:cNvPr>
              <p:cNvSpPr/>
              <p:nvPr/>
            </p:nvSpPr>
            <p:spPr>
              <a:xfrm>
                <a:off x="2494280" y="4379976"/>
                <a:ext cx="1051560" cy="338328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36" name="TextBox 235">
                <a:extLst>
                  <a:ext uri="{FF2B5EF4-FFF2-40B4-BE49-F238E27FC236}">
                    <a16:creationId xmlns:a16="http://schemas.microsoft.com/office/drawing/2014/main" id="{2523267B-D0B4-5E2A-CA18-127C7E68B41F}"/>
                  </a:ext>
                </a:extLst>
              </p:cNvPr>
              <p:cNvSpPr txBox="1"/>
              <p:nvPr/>
            </p:nvSpPr>
            <p:spPr>
              <a:xfrm>
                <a:off x="2494280" y="4379976"/>
                <a:ext cx="105156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0.8600</a:t>
                </a:r>
              </a:p>
            </p:txBody>
          </p:sp>
          <p:sp>
            <p:nvSpPr>
              <p:cNvPr id="237" name="Rectangle 101">
                <a:extLst>
                  <a:ext uri="{FF2B5EF4-FFF2-40B4-BE49-F238E27FC236}">
                    <a16:creationId xmlns:a16="http://schemas.microsoft.com/office/drawing/2014/main" id="{8C4B6786-AFE0-A428-BB42-3FDA47140E8A}"/>
                  </a:ext>
                </a:extLst>
              </p:cNvPr>
              <p:cNvSpPr/>
              <p:nvPr/>
            </p:nvSpPr>
            <p:spPr>
              <a:xfrm>
                <a:off x="3591560" y="4379976"/>
                <a:ext cx="1143000" cy="338328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38" name="TextBox 237">
                <a:extLst>
                  <a:ext uri="{FF2B5EF4-FFF2-40B4-BE49-F238E27FC236}">
                    <a16:creationId xmlns:a16="http://schemas.microsoft.com/office/drawing/2014/main" id="{89DBAD98-C97A-38D7-D64B-9AF32DDC8A71}"/>
                  </a:ext>
                </a:extLst>
              </p:cNvPr>
              <p:cNvSpPr txBox="1"/>
              <p:nvPr/>
            </p:nvSpPr>
            <p:spPr>
              <a:xfrm>
                <a:off x="3591560" y="4379976"/>
                <a:ext cx="114300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0.8382</a:t>
                </a:r>
              </a:p>
            </p:txBody>
          </p:sp>
          <p:sp>
            <p:nvSpPr>
              <p:cNvPr id="239" name="Rectangle 103">
                <a:extLst>
                  <a:ext uri="{FF2B5EF4-FFF2-40B4-BE49-F238E27FC236}">
                    <a16:creationId xmlns:a16="http://schemas.microsoft.com/office/drawing/2014/main" id="{09DE960E-D083-63D7-0F55-D00B13E83124}"/>
                  </a:ext>
                </a:extLst>
              </p:cNvPr>
              <p:cNvSpPr/>
              <p:nvPr/>
            </p:nvSpPr>
            <p:spPr>
              <a:xfrm>
                <a:off x="4780280" y="4379976"/>
                <a:ext cx="822960" cy="338328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0" name="TextBox 239">
                <a:extLst>
                  <a:ext uri="{FF2B5EF4-FFF2-40B4-BE49-F238E27FC236}">
                    <a16:creationId xmlns:a16="http://schemas.microsoft.com/office/drawing/2014/main" id="{80C29D6F-2B7E-6378-A67A-BD0CA361DC5B}"/>
                  </a:ext>
                </a:extLst>
              </p:cNvPr>
              <p:cNvSpPr txBox="1"/>
              <p:nvPr/>
            </p:nvSpPr>
            <p:spPr>
              <a:xfrm>
                <a:off x="4780280" y="4379976"/>
                <a:ext cx="82296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+0.022</a:t>
                </a:r>
              </a:p>
            </p:txBody>
          </p:sp>
          <p:sp>
            <p:nvSpPr>
              <p:cNvPr id="241" name="Rectangle 105">
                <a:extLst>
                  <a:ext uri="{FF2B5EF4-FFF2-40B4-BE49-F238E27FC236}">
                    <a16:creationId xmlns:a16="http://schemas.microsoft.com/office/drawing/2014/main" id="{DD0506E7-8630-B45C-629E-46E1C8EA469A}"/>
                  </a:ext>
                </a:extLst>
              </p:cNvPr>
              <p:cNvSpPr/>
              <p:nvPr/>
            </p:nvSpPr>
            <p:spPr>
              <a:xfrm>
                <a:off x="5648960" y="4379976"/>
                <a:ext cx="868680" cy="338328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2" name="TextBox 241">
                <a:extLst>
                  <a:ext uri="{FF2B5EF4-FFF2-40B4-BE49-F238E27FC236}">
                    <a16:creationId xmlns:a16="http://schemas.microsoft.com/office/drawing/2014/main" id="{31D3CA6A-FB03-2133-2EE0-8E7D97DB5C60}"/>
                  </a:ext>
                </a:extLst>
              </p:cNvPr>
              <p:cNvSpPr txBox="1"/>
              <p:nvPr/>
            </p:nvSpPr>
            <p:spPr>
              <a:xfrm>
                <a:off x="5648960" y="4379976"/>
                <a:ext cx="86868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9EA3AB"/>
                    </a:solidFill>
                    <a:latin typeface="맑은 고딕"/>
                  </a:rPr>
                  <a:t>0.489</a:t>
                </a:r>
              </a:p>
            </p:txBody>
          </p:sp>
          <p:sp>
            <p:nvSpPr>
              <p:cNvPr id="243" name="Rectangle 107">
                <a:extLst>
                  <a:ext uri="{FF2B5EF4-FFF2-40B4-BE49-F238E27FC236}">
                    <a16:creationId xmlns:a16="http://schemas.microsoft.com/office/drawing/2014/main" id="{2DB74A75-E85D-A187-275B-011E98E05B75}"/>
                  </a:ext>
                </a:extLst>
              </p:cNvPr>
              <p:cNvSpPr/>
              <p:nvPr/>
            </p:nvSpPr>
            <p:spPr>
              <a:xfrm>
                <a:off x="6563360" y="4379976"/>
                <a:ext cx="822960" cy="338328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4" name="TextBox 243">
                <a:extLst>
                  <a:ext uri="{FF2B5EF4-FFF2-40B4-BE49-F238E27FC236}">
                    <a16:creationId xmlns:a16="http://schemas.microsoft.com/office/drawing/2014/main" id="{D401E313-D36B-9E1E-9F9D-93B6A049A623}"/>
                  </a:ext>
                </a:extLst>
              </p:cNvPr>
              <p:cNvSpPr txBox="1"/>
              <p:nvPr/>
            </p:nvSpPr>
            <p:spPr>
              <a:xfrm>
                <a:off x="6563360" y="4379976"/>
                <a:ext cx="82296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9EA3AB"/>
                    </a:solidFill>
                    <a:latin typeface="맑은 고딕"/>
                  </a:rPr>
                  <a:t>ns</a:t>
                </a:r>
              </a:p>
            </p:txBody>
          </p:sp>
          <p:sp>
            <p:nvSpPr>
              <p:cNvPr id="245" name="Rectangle 109">
                <a:extLst>
                  <a:ext uri="{FF2B5EF4-FFF2-40B4-BE49-F238E27FC236}">
                    <a16:creationId xmlns:a16="http://schemas.microsoft.com/office/drawing/2014/main" id="{8C2B03F7-B6B4-385D-CEA0-9236C9C81CA0}"/>
                  </a:ext>
                </a:extLst>
              </p:cNvPr>
              <p:cNvSpPr/>
              <p:nvPr/>
            </p:nvSpPr>
            <p:spPr>
              <a:xfrm>
                <a:off x="619760" y="4718304"/>
                <a:ext cx="1828800" cy="338328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851976FC-A890-D52B-AAE5-3591E9D20EE6}"/>
                  </a:ext>
                </a:extLst>
              </p:cNvPr>
              <p:cNvSpPr txBox="1"/>
              <p:nvPr/>
            </p:nvSpPr>
            <p:spPr>
              <a:xfrm>
                <a:off x="619760" y="4718304"/>
                <a:ext cx="182880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Focal+AEC256 excl_ext</a:t>
                </a:r>
              </a:p>
            </p:txBody>
          </p:sp>
          <p:sp>
            <p:nvSpPr>
              <p:cNvPr id="247" name="Rectangle 111">
                <a:extLst>
                  <a:ext uri="{FF2B5EF4-FFF2-40B4-BE49-F238E27FC236}">
                    <a16:creationId xmlns:a16="http://schemas.microsoft.com/office/drawing/2014/main" id="{62E38324-698A-636F-A5E9-5A7207EAA207}"/>
                  </a:ext>
                </a:extLst>
              </p:cNvPr>
              <p:cNvSpPr/>
              <p:nvPr/>
            </p:nvSpPr>
            <p:spPr>
              <a:xfrm>
                <a:off x="2494280" y="4718304"/>
                <a:ext cx="1051560" cy="338328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7AAC5733-41CB-B1F8-ECAE-3F7D12BEAB79}"/>
                  </a:ext>
                </a:extLst>
              </p:cNvPr>
              <p:cNvSpPr txBox="1"/>
              <p:nvPr/>
            </p:nvSpPr>
            <p:spPr>
              <a:xfrm>
                <a:off x="2494280" y="4718304"/>
                <a:ext cx="105156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0.8854</a:t>
                </a:r>
              </a:p>
            </p:txBody>
          </p:sp>
          <p:sp>
            <p:nvSpPr>
              <p:cNvPr id="249" name="Rectangle 113">
                <a:extLst>
                  <a:ext uri="{FF2B5EF4-FFF2-40B4-BE49-F238E27FC236}">
                    <a16:creationId xmlns:a16="http://schemas.microsoft.com/office/drawing/2014/main" id="{01040D88-1811-C5EB-C9AB-47295E37B74C}"/>
                  </a:ext>
                </a:extLst>
              </p:cNvPr>
              <p:cNvSpPr/>
              <p:nvPr/>
            </p:nvSpPr>
            <p:spPr>
              <a:xfrm>
                <a:off x="3591560" y="4718304"/>
                <a:ext cx="1143000" cy="338328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50" name="TextBox 249">
                <a:extLst>
                  <a:ext uri="{FF2B5EF4-FFF2-40B4-BE49-F238E27FC236}">
                    <a16:creationId xmlns:a16="http://schemas.microsoft.com/office/drawing/2014/main" id="{2406F483-3C87-3D87-5E8B-C3FC9239B4C5}"/>
                  </a:ext>
                </a:extLst>
              </p:cNvPr>
              <p:cNvSpPr txBox="1"/>
              <p:nvPr/>
            </p:nvSpPr>
            <p:spPr>
              <a:xfrm>
                <a:off x="3591560" y="4718304"/>
                <a:ext cx="114300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0.5353</a:t>
                </a:r>
              </a:p>
            </p:txBody>
          </p:sp>
          <p:sp>
            <p:nvSpPr>
              <p:cNvPr id="251" name="Rectangle 115">
                <a:extLst>
                  <a:ext uri="{FF2B5EF4-FFF2-40B4-BE49-F238E27FC236}">
                    <a16:creationId xmlns:a16="http://schemas.microsoft.com/office/drawing/2014/main" id="{97DC8A49-060E-C122-E097-ED83397B7DFA}"/>
                  </a:ext>
                </a:extLst>
              </p:cNvPr>
              <p:cNvSpPr/>
              <p:nvPr/>
            </p:nvSpPr>
            <p:spPr>
              <a:xfrm>
                <a:off x="4780280" y="4718304"/>
                <a:ext cx="822960" cy="338328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52" name="TextBox 251">
                <a:extLst>
                  <a:ext uri="{FF2B5EF4-FFF2-40B4-BE49-F238E27FC236}">
                    <a16:creationId xmlns:a16="http://schemas.microsoft.com/office/drawing/2014/main" id="{DBE83FBF-F5BF-8E17-E55A-7E7C861703F8}"/>
                  </a:ext>
                </a:extLst>
              </p:cNvPr>
              <p:cNvSpPr txBox="1"/>
              <p:nvPr/>
            </p:nvSpPr>
            <p:spPr>
              <a:xfrm>
                <a:off x="4780280" y="4718304"/>
                <a:ext cx="82296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+0.350</a:t>
                </a:r>
              </a:p>
            </p:txBody>
          </p:sp>
          <p:sp>
            <p:nvSpPr>
              <p:cNvPr id="253" name="Rectangle 117">
                <a:extLst>
                  <a:ext uri="{FF2B5EF4-FFF2-40B4-BE49-F238E27FC236}">
                    <a16:creationId xmlns:a16="http://schemas.microsoft.com/office/drawing/2014/main" id="{852735DE-D77B-6783-61B6-4FC25F4DD63C}"/>
                  </a:ext>
                </a:extLst>
              </p:cNvPr>
              <p:cNvSpPr/>
              <p:nvPr/>
            </p:nvSpPr>
            <p:spPr>
              <a:xfrm>
                <a:off x="5648960" y="4718304"/>
                <a:ext cx="868680" cy="338328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54" name="TextBox 253">
                <a:extLst>
                  <a:ext uri="{FF2B5EF4-FFF2-40B4-BE49-F238E27FC236}">
                    <a16:creationId xmlns:a16="http://schemas.microsoft.com/office/drawing/2014/main" id="{987A3722-00AC-364F-2FEA-1933ABF3EFD9}"/>
                  </a:ext>
                </a:extLst>
              </p:cNvPr>
              <p:cNvSpPr txBox="1"/>
              <p:nvPr/>
            </p:nvSpPr>
            <p:spPr>
              <a:xfrm>
                <a:off x="5648960" y="4718304"/>
                <a:ext cx="86868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C0392B"/>
                    </a:solidFill>
                    <a:latin typeface="맑은 고딕"/>
                  </a:rPr>
                  <a:t>&lt;0.001</a:t>
                </a:r>
              </a:p>
            </p:txBody>
          </p:sp>
          <p:sp>
            <p:nvSpPr>
              <p:cNvPr id="255" name="Rectangle 119">
                <a:extLst>
                  <a:ext uri="{FF2B5EF4-FFF2-40B4-BE49-F238E27FC236}">
                    <a16:creationId xmlns:a16="http://schemas.microsoft.com/office/drawing/2014/main" id="{CD8C3661-2EF3-1D33-3864-92F53B9D30D6}"/>
                  </a:ext>
                </a:extLst>
              </p:cNvPr>
              <p:cNvSpPr/>
              <p:nvPr/>
            </p:nvSpPr>
            <p:spPr>
              <a:xfrm>
                <a:off x="6563360" y="4718304"/>
                <a:ext cx="822960" cy="338328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2196949A-F8ED-2654-0268-3BBC715958AA}"/>
                  </a:ext>
                </a:extLst>
              </p:cNvPr>
              <p:cNvSpPr txBox="1"/>
              <p:nvPr/>
            </p:nvSpPr>
            <p:spPr>
              <a:xfrm>
                <a:off x="6563360" y="4718304"/>
                <a:ext cx="822960" cy="33832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C0392B"/>
                    </a:solidFill>
                    <a:latin typeface="맑은 고딕"/>
                  </a:rPr>
                  <a:t>***</a:t>
                </a:r>
              </a:p>
            </p:txBody>
          </p:sp>
        </p:grpSp>
      </p:grpSp>
      <p:grpSp>
        <p:nvGrpSpPr>
          <p:cNvPr id="269" name="그룹 268">
            <a:extLst>
              <a:ext uri="{FF2B5EF4-FFF2-40B4-BE49-F238E27FC236}">
                <a16:creationId xmlns:a16="http://schemas.microsoft.com/office/drawing/2014/main" id="{96A7C17E-6366-8615-552C-9C4033CCB8E2}"/>
              </a:ext>
            </a:extLst>
          </p:cNvPr>
          <p:cNvGrpSpPr/>
          <p:nvPr/>
        </p:nvGrpSpPr>
        <p:grpSpPr>
          <a:xfrm>
            <a:off x="7370353" y="2169000"/>
            <a:ext cx="4680000" cy="2520000"/>
            <a:chOff x="7315200" y="3840480"/>
            <a:chExt cx="4663440" cy="2520000"/>
          </a:xfrm>
        </p:grpSpPr>
        <p:sp>
          <p:nvSpPr>
            <p:cNvPr id="259" name="Rectangle 123">
              <a:extLst>
                <a:ext uri="{FF2B5EF4-FFF2-40B4-BE49-F238E27FC236}">
                  <a16:creationId xmlns:a16="http://schemas.microsoft.com/office/drawing/2014/main" id="{FCD917E4-4478-F9FB-BD17-E041089FA318}"/>
                </a:ext>
              </a:extLst>
            </p:cNvPr>
            <p:cNvSpPr/>
            <p:nvPr/>
          </p:nvSpPr>
          <p:spPr>
            <a:xfrm>
              <a:off x="7315200" y="3840480"/>
              <a:ext cx="4663440" cy="2520000"/>
            </a:xfrm>
            <a:prstGeom prst="rect">
              <a:avLst/>
            </a:prstGeom>
            <a:solidFill>
              <a:srgbClr val="FFF3E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60" name="Rectangle 124">
              <a:extLst>
                <a:ext uri="{FF2B5EF4-FFF2-40B4-BE49-F238E27FC236}">
                  <a16:creationId xmlns:a16="http://schemas.microsoft.com/office/drawing/2014/main" id="{26204B5E-C4F7-8FCB-D5C5-3D8C7A4E4C20}"/>
                </a:ext>
              </a:extLst>
            </p:cNvPr>
            <p:cNvSpPr/>
            <p:nvPr/>
          </p:nvSpPr>
          <p:spPr>
            <a:xfrm>
              <a:off x="7315200" y="3840480"/>
              <a:ext cx="91440" cy="2520000"/>
            </a:xfrm>
            <a:prstGeom prst="rect">
              <a:avLst/>
            </a:prstGeom>
            <a:solidFill>
              <a:srgbClr val="E874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61" name="TextBox 260">
              <a:extLst>
                <a:ext uri="{FF2B5EF4-FFF2-40B4-BE49-F238E27FC236}">
                  <a16:creationId xmlns:a16="http://schemas.microsoft.com/office/drawing/2014/main" id="{9CF4A44E-612D-0A4D-422C-44F2BFEE2AB7}"/>
                </a:ext>
              </a:extLst>
            </p:cNvPr>
            <p:cNvSpPr txBox="1"/>
            <p:nvPr/>
          </p:nvSpPr>
          <p:spPr>
            <a:xfrm>
              <a:off x="7498079" y="3913632"/>
              <a:ext cx="429768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400" b="1" i="0">
                  <a:solidFill>
                    <a:srgbClr val="E87400"/>
                  </a:solidFill>
                  <a:latin typeface="맑은 고딕"/>
                </a:rPr>
                <a:t>해석</a:t>
              </a:r>
            </a:p>
          </p:txBody>
        </p:sp>
        <p:sp>
          <p:nvSpPr>
            <p:cNvPr id="262" name="TextBox 261">
              <a:extLst>
                <a:ext uri="{FF2B5EF4-FFF2-40B4-BE49-F238E27FC236}">
                  <a16:creationId xmlns:a16="http://schemas.microsoft.com/office/drawing/2014/main" id="{B78406F8-2DC2-F199-C202-7E0D2123318F}"/>
                </a:ext>
              </a:extLst>
            </p:cNvPr>
            <p:cNvSpPr txBox="1"/>
            <p:nvPr/>
          </p:nvSpPr>
          <p:spPr>
            <a:xfrm>
              <a:off x="7498079" y="4261104"/>
              <a:ext cx="4297680" cy="32918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• excl_extreme: M2(0.834) vs M2_2(0.560) Δ=+0.274 ***</a:t>
              </a:r>
            </a:p>
          </p:txBody>
        </p:sp>
        <p:sp>
          <p:nvSpPr>
            <p:cNvPr id="263" name="TextBox 262">
              <a:extLst>
                <a:ext uri="{FF2B5EF4-FFF2-40B4-BE49-F238E27FC236}">
                  <a16:creationId xmlns:a16="http://schemas.microsoft.com/office/drawing/2014/main" id="{D664347D-F9AC-1A1E-82B9-A0975C28CCB7}"/>
                </a:ext>
              </a:extLst>
            </p:cNvPr>
            <p:cNvSpPr txBox="1"/>
            <p:nvPr/>
          </p:nvSpPr>
          <p:spPr>
            <a:xfrm>
              <a:off x="7498079" y="4608576"/>
              <a:ext cx="4297680" cy="32918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→ AEC는 개인별 고유 신호 — 단순 체형 proxy 아님</a:t>
              </a:r>
            </a:p>
          </p:txBody>
        </p:sp>
        <p:sp>
          <p:nvSpPr>
            <p:cNvPr id="264" name="TextBox 263">
              <a:extLst>
                <a:ext uri="{FF2B5EF4-FFF2-40B4-BE49-F238E27FC236}">
                  <a16:creationId xmlns:a16="http://schemas.microsoft.com/office/drawing/2014/main" id="{642577E3-9AA1-9327-E3AB-7E5B1737026A}"/>
                </a:ext>
              </a:extLst>
            </p:cNvPr>
            <p:cNvSpPr txBox="1"/>
            <p:nvPr/>
          </p:nvSpPr>
          <p:spPr>
            <a:xfrm>
              <a:off x="7498079" y="4956048"/>
              <a:ext cx="4297680" cy="32918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• BCE+AEC256+norm: Δ=+0.095 **</a:t>
              </a:r>
            </a:p>
          </p:txBody>
        </p:sp>
        <p:sp>
          <p:nvSpPr>
            <p:cNvPr id="265" name="TextBox 264">
              <a:extLst>
                <a:ext uri="{FF2B5EF4-FFF2-40B4-BE49-F238E27FC236}">
                  <a16:creationId xmlns:a16="http://schemas.microsoft.com/office/drawing/2014/main" id="{DF537EC0-51EC-40C8-E1A3-53B76495916D}"/>
                </a:ext>
              </a:extLst>
            </p:cNvPr>
            <p:cNvSpPr txBox="1"/>
            <p:nvPr/>
          </p:nvSpPr>
          <p:spPr>
            <a:xfrm>
              <a:off x="7498079" y="5303520"/>
              <a:ext cx="4297680" cy="32918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• Focal+AEC128+norm: Δ=+0.076 **</a:t>
              </a:r>
            </a:p>
          </p:txBody>
        </p:sp>
        <p:sp>
          <p:nvSpPr>
            <p:cNvPr id="266" name="TextBox 265">
              <a:extLst>
                <a:ext uri="{FF2B5EF4-FFF2-40B4-BE49-F238E27FC236}">
                  <a16:creationId xmlns:a16="http://schemas.microsoft.com/office/drawing/2014/main" id="{B8995E50-1776-1D2D-EED9-D743C98FC0EC}"/>
                </a:ext>
              </a:extLst>
            </p:cNvPr>
            <p:cNvSpPr txBox="1"/>
            <p:nvPr/>
          </p:nvSpPr>
          <p:spPr>
            <a:xfrm>
              <a:off x="7498079" y="5650992"/>
              <a:ext cx="4297680" cy="32918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• norm 조건: Loss·AEC길이에 따라 매칭 효과 강도 상이</a:t>
              </a:r>
            </a:p>
          </p:txBody>
        </p:sp>
        <p:sp>
          <p:nvSpPr>
            <p:cNvPr id="267" name="TextBox 266">
              <a:extLst>
                <a:ext uri="{FF2B5EF4-FFF2-40B4-BE49-F238E27FC236}">
                  <a16:creationId xmlns:a16="http://schemas.microsoft.com/office/drawing/2014/main" id="{08266242-1F26-659A-ED76-B4E47013D13C}"/>
                </a:ext>
              </a:extLst>
            </p:cNvPr>
            <p:cNvSpPr txBox="1"/>
            <p:nvPr/>
          </p:nvSpPr>
          <p:spPr>
            <a:xfrm>
              <a:off x="7498079" y="5998464"/>
              <a:ext cx="4297680" cy="32918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→ AEC 신호의 개인 대응이 예측력의 핵심 요소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2217221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011831-2F5B-EB90-78B3-D728AE530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E84958-BA3B-F21F-AEC1-3D71D986D0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F796886-438C-E6FC-137F-4524DE060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25</a:t>
            </a:fld>
            <a:endParaRPr lang="ko-KR" altLang="en-US" dirty="0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521D323-4D93-19DE-5982-4126AF9EE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성별 분리 비교</a:t>
            </a:r>
          </a:p>
        </p:txBody>
      </p:sp>
      <p:grpSp>
        <p:nvGrpSpPr>
          <p:cNvPr id="104" name="그룹 103">
            <a:extLst>
              <a:ext uri="{FF2B5EF4-FFF2-40B4-BE49-F238E27FC236}">
                <a16:creationId xmlns:a16="http://schemas.microsoft.com/office/drawing/2014/main" id="{C9218066-AA16-5076-A079-1DD14887EDB7}"/>
              </a:ext>
            </a:extLst>
          </p:cNvPr>
          <p:cNvGrpSpPr/>
          <p:nvPr/>
        </p:nvGrpSpPr>
        <p:grpSpPr>
          <a:xfrm>
            <a:off x="350520" y="1519259"/>
            <a:ext cx="11612880" cy="1635422"/>
            <a:chOff x="274320" y="1097280"/>
            <a:chExt cx="11612880" cy="1635422"/>
          </a:xfrm>
        </p:grpSpPr>
        <p:sp>
          <p:nvSpPr>
            <p:cNvPr id="3" name="Rectangle 4">
              <a:extLst>
                <a:ext uri="{FF2B5EF4-FFF2-40B4-BE49-F238E27FC236}">
                  <a16:creationId xmlns:a16="http://schemas.microsoft.com/office/drawing/2014/main" id="{1C0CB103-D6F5-A566-676B-3C9B6C6C44EA}"/>
                </a:ext>
              </a:extLst>
            </p:cNvPr>
            <p:cNvSpPr/>
            <p:nvPr/>
          </p:nvSpPr>
          <p:spPr>
            <a:xfrm>
              <a:off x="274320" y="1097280"/>
              <a:ext cx="11612880" cy="1635422"/>
            </a:xfrm>
            <a:prstGeom prst="rect">
              <a:avLst/>
            </a:prstGeom>
            <a:solidFill>
              <a:srgbClr val="F0F4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grpSp>
          <p:nvGrpSpPr>
            <p:cNvPr id="103" name="그룹 102">
              <a:extLst>
                <a:ext uri="{FF2B5EF4-FFF2-40B4-BE49-F238E27FC236}">
                  <a16:creationId xmlns:a16="http://schemas.microsoft.com/office/drawing/2014/main" id="{3F3D354C-8E9E-1DBB-E56B-2C373F14DA67}"/>
                </a:ext>
              </a:extLst>
            </p:cNvPr>
            <p:cNvGrpSpPr/>
            <p:nvPr/>
          </p:nvGrpSpPr>
          <p:grpSpPr>
            <a:xfrm>
              <a:off x="381000" y="1220724"/>
              <a:ext cx="11429999" cy="1417320"/>
              <a:chOff x="365760" y="1143000"/>
              <a:chExt cx="11658600" cy="141732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538C7991-AF47-59CD-1BA6-C255CD4908A9}"/>
                  </a:ext>
                </a:extLst>
              </p:cNvPr>
              <p:cNvSpPr/>
              <p:nvPr/>
            </p:nvSpPr>
            <p:spPr>
              <a:xfrm>
                <a:off x="365760" y="1143000"/>
                <a:ext cx="1325880" cy="274320"/>
              </a:xfrm>
              <a:prstGeom prst="rect">
                <a:avLst/>
              </a:prstGeom>
              <a:solidFill>
                <a:srgbClr val="1A1A2E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931B198-03FF-2B45-942A-E7EE6A2E2D26}"/>
                  </a:ext>
                </a:extLst>
              </p:cNvPr>
              <p:cNvSpPr txBox="1"/>
              <p:nvPr/>
            </p:nvSpPr>
            <p:spPr>
              <a:xfrm>
                <a:off x="365760" y="1143000"/>
                <a:ext cx="1325880" cy="2743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00" b="1" i="0">
                    <a:solidFill>
                      <a:srgbClr val="FFFFFF"/>
                    </a:solidFill>
                    <a:latin typeface="맑은 고딕"/>
                  </a:rPr>
                  <a:t>모델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F8A8E4C5-7896-4DF7-8D6D-C597CC4B770A}"/>
                  </a:ext>
                </a:extLst>
              </p:cNvPr>
              <p:cNvSpPr/>
              <p:nvPr/>
            </p:nvSpPr>
            <p:spPr>
              <a:xfrm>
                <a:off x="1737360" y="1143000"/>
                <a:ext cx="1188720" cy="274320"/>
              </a:xfrm>
              <a:prstGeom prst="rect">
                <a:avLst/>
              </a:prstGeom>
              <a:solidFill>
                <a:srgbClr val="1A1A2E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764DE03-0BBF-CA93-24D9-A5D08AADF0DE}"/>
                  </a:ext>
                </a:extLst>
              </p:cNvPr>
              <p:cNvSpPr txBox="1"/>
              <p:nvPr/>
            </p:nvSpPr>
            <p:spPr>
              <a:xfrm>
                <a:off x="1737360" y="1143000"/>
                <a:ext cx="1188720" cy="2743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00" b="1" i="0">
                    <a:solidFill>
                      <a:srgbClr val="FFFFFF"/>
                    </a:solidFill>
                    <a:latin typeface="맑은 고딕"/>
                  </a:rPr>
                  <a:t>전체 AUC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790EEDC-49E0-5853-6EF6-0A7126C3380B}"/>
                  </a:ext>
                </a:extLst>
              </p:cNvPr>
              <p:cNvSpPr/>
              <p:nvPr/>
            </p:nvSpPr>
            <p:spPr>
              <a:xfrm>
                <a:off x="2971800" y="1143000"/>
                <a:ext cx="1234440" cy="274320"/>
              </a:xfrm>
              <a:prstGeom prst="rect">
                <a:avLst/>
              </a:prstGeom>
              <a:solidFill>
                <a:srgbClr val="1A1A2E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7029133-7E80-D2CB-5BB8-75750FA37DEE}"/>
                  </a:ext>
                </a:extLst>
              </p:cNvPr>
              <p:cNvSpPr txBox="1"/>
              <p:nvPr/>
            </p:nvSpPr>
            <p:spPr>
              <a:xfrm>
                <a:off x="2971800" y="1143000"/>
                <a:ext cx="1234440" cy="2743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00" b="1" i="0">
                    <a:solidFill>
                      <a:srgbClr val="FFFFFF"/>
                    </a:solidFill>
                    <a:latin typeface="맑은 고딕"/>
                  </a:rPr>
                  <a:t>전체 CI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A8E9821-66FD-3662-8AEB-D7D758899BD0}"/>
                  </a:ext>
                </a:extLst>
              </p:cNvPr>
              <p:cNvSpPr/>
              <p:nvPr/>
            </p:nvSpPr>
            <p:spPr>
              <a:xfrm>
                <a:off x="4251960" y="1143000"/>
                <a:ext cx="1234440" cy="274320"/>
              </a:xfrm>
              <a:prstGeom prst="rect">
                <a:avLst/>
              </a:prstGeom>
              <a:solidFill>
                <a:srgbClr val="1A1A2E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E0F2D3B-386F-F8CC-3C97-0036529ECBB1}"/>
                  </a:ext>
                </a:extLst>
              </p:cNvPr>
              <p:cNvSpPr txBox="1"/>
              <p:nvPr/>
            </p:nvSpPr>
            <p:spPr>
              <a:xfrm>
                <a:off x="4251960" y="1143000"/>
                <a:ext cx="1234440" cy="2743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00" b="1" i="0">
                    <a:solidFill>
                      <a:srgbClr val="FFFFFF"/>
                    </a:solidFill>
                    <a:latin typeface="맑은 고딕"/>
                  </a:rPr>
                  <a:t>남성 AUC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59394D3-DC8D-5B59-E5EC-04D74F9C4DC2}"/>
                  </a:ext>
                </a:extLst>
              </p:cNvPr>
              <p:cNvSpPr/>
              <p:nvPr/>
            </p:nvSpPr>
            <p:spPr>
              <a:xfrm>
                <a:off x="5532120" y="1143000"/>
                <a:ext cx="1188720" cy="274320"/>
              </a:xfrm>
              <a:prstGeom prst="rect">
                <a:avLst/>
              </a:prstGeom>
              <a:solidFill>
                <a:srgbClr val="1A1A2E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BFD88C0-DA43-B9FE-2C86-F21BFF80519A}"/>
                  </a:ext>
                </a:extLst>
              </p:cNvPr>
              <p:cNvSpPr txBox="1"/>
              <p:nvPr/>
            </p:nvSpPr>
            <p:spPr>
              <a:xfrm>
                <a:off x="5532120" y="1143000"/>
                <a:ext cx="1188720" cy="2743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00" b="1" i="0">
                    <a:solidFill>
                      <a:srgbClr val="FFFFFF"/>
                    </a:solidFill>
                    <a:latin typeface="맑은 고딕"/>
                  </a:rPr>
                  <a:t>남성 CI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BCE06396-B9BD-2C85-B615-A9E9165DB8DB}"/>
                  </a:ext>
                </a:extLst>
              </p:cNvPr>
              <p:cNvSpPr/>
              <p:nvPr/>
            </p:nvSpPr>
            <p:spPr>
              <a:xfrm>
                <a:off x="6766560" y="1143000"/>
                <a:ext cx="1234440" cy="274320"/>
              </a:xfrm>
              <a:prstGeom prst="rect">
                <a:avLst/>
              </a:prstGeom>
              <a:solidFill>
                <a:srgbClr val="1A1A2E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2698A71-9FF0-B5E8-CF5D-90F93FB77E46}"/>
                  </a:ext>
                </a:extLst>
              </p:cNvPr>
              <p:cNvSpPr txBox="1"/>
              <p:nvPr/>
            </p:nvSpPr>
            <p:spPr>
              <a:xfrm>
                <a:off x="6766560" y="1143000"/>
                <a:ext cx="1234440" cy="2743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00" b="1" i="0">
                    <a:solidFill>
                      <a:srgbClr val="FFFFFF"/>
                    </a:solidFill>
                    <a:latin typeface="맑은 고딕"/>
                  </a:rPr>
                  <a:t>여성 AUC</a:t>
                </a: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B465481C-BB40-7F12-2A44-363BC5A519E6}"/>
                  </a:ext>
                </a:extLst>
              </p:cNvPr>
              <p:cNvSpPr/>
              <p:nvPr/>
            </p:nvSpPr>
            <p:spPr>
              <a:xfrm>
                <a:off x="8046720" y="1143000"/>
                <a:ext cx="1234440" cy="274320"/>
              </a:xfrm>
              <a:prstGeom prst="rect">
                <a:avLst/>
              </a:prstGeom>
              <a:solidFill>
                <a:srgbClr val="1A1A2E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B5487C8-BF27-FB75-0274-B398004FB2E5}"/>
                  </a:ext>
                </a:extLst>
              </p:cNvPr>
              <p:cNvSpPr txBox="1"/>
              <p:nvPr/>
            </p:nvSpPr>
            <p:spPr>
              <a:xfrm>
                <a:off x="8046720" y="1143000"/>
                <a:ext cx="1234440" cy="2743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00" b="1" i="0">
                    <a:solidFill>
                      <a:srgbClr val="FFFFFF"/>
                    </a:solidFill>
                    <a:latin typeface="맑은 고딕"/>
                  </a:rPr>
                  <a:t>여성 CI</a:t>
                </a: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D7BEE23-1893-6876-3CE9-1113525960AA}"/>
                  </a:ext>
                </a:extLst>
              </p:cNvPr>
              <p:cNvSpPr/>
              <p:nvPr/>
            </p:nvSpPr>
            <p:spPr>
              <a:xfrm>
                <a:off x="9326880" y="1143000"/>
                <a:ext cx="1234440" cy="274320"/>
              </a:xfrm>
              <a:prstGeom prst="rect">
                <a:avLst/>
              </a:prstGeom>
              <a:solidFill>
                <a:srgbClr val="1A1A2E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777300E-2D4C-1764-1877-A0B3CC3B773F}"/>
                  </a:ext>
                </a:extLst>
              </p:cNvPr>
              <p:cNvSpPr txBox="1"/>
              <p:nvPr/>
            </p:nvSpPr>
            <p:spPr>
              <a:xfrm>
                <a:off x="9326880" y="1143000"/>
                <a:ext cx="1234440" cy="2743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00" b="1" i="0">
                    <a:solidFill>
                      <a:srgbClr val="FFFFFF"/>
                    </a:solidFill>
                    <a:latin typeface="맑은 고딕"/>
                  </a:rPr>
                  <a:t>남 AUPRC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886B4954-044F-580A-9932-3466654F89FD}"/>
                  </a:ext>
                </a:extLst>
              </p:cNvPr>
              <p:cNvSpPr/>
              <p:nvPr/>
            </p:nvSpPr>
            <p:spPr>
              <a:xfrm>
                <a:off x="10607040" y="1143000"/>
                <a:ext cx="1417320" cy="274320"/>
              </a:xfrm>
              <a:prstGeom prst="rect">
                <a:avLst/>
              </a:prstGeom>
              <a:solidFill>
                <a:srgbClr val="1A1A2E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6B618272-AD51-1272-809E-A5392F65AA7A}"/>
                  </a:ext>
                </a:extLst>
              </p:cNvPr>
              <p:cNvSpPr txBox="1"/>
              <p:nvPr/>
            </p:nvSpPr>
            <p:spPr>
              <a:xfrm>
                <a:off x="10607040" y="1143000"/>
                <a:ext cx="1417320" cy="27432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00" b="1" i="0">
                    <a:solidFill>
                      <a:srgbClr val="FFFFFF"/>
                    </a:solidFill>
                    <a:latin typeface="맑은 고딕"/>
                  </a:rPr>
                  <a:t>여 AUPRC</a:t>
                </a: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113E4285-36FC-F81F-49B4-28C97716F13E}"/>
                  </a:ext>
                </a:extLst>
              </p:cNvPr>
              <p:cNvSpPr/>
              <p:nvPr/>
            </p:nvSpPr>
            <p:spPr>
              <a:xfrm>
                <a:off x="365760" y="1435608"/>
                <a:ext cx="1325880" cy="374904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61034DE-D159-A424-082B-EF483FE3E29E}"/>
                  </a:ext>
                </a:extLst>
              </p:cNvPr>
              <p:cNvSpPr txBox="1"/>
              <p:nvPr/>
            </p:nvSpPr>
            <p:spPr>
              <a:xfrm>
                <a:off x="365760" y="1435608"/>
                <a:ext cx="1325880" cy="37490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M1 (LR)</a:t>
                </a: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73F28269-5D0C-C474-2030-E07F804866CA}"/>
                  </a:ext>
                </a:extLst>
              </p:cNvPr>
              <p:cNvSpPr/>
              <p:nvPr/>
            </p:nvSpPr>
            <p:spPr>
              <a:xfrm>
                <a:off x="1737360" y="1435608"/>
                <a:ext cx="1188720" cy="374904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5255397-1354-465A-C195-0E789FC64DB9}"/>
                  </a:ext>
                </a:extLst>
              </p:cNvPr>
              <p:cNvSpPr txBox="1"/>
              <p:nvPr/>
            </p:nvSpPr>
            <p:spPr>
              <a:xfrm>
                <a:off x="1737360" y="1435608"/>
                <a:ext cx="1188720" cy="37490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0.8325</a:t>
                </a:r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5C4C3C6B-4192-3A25-2D1A-46E3BA2D02A0}"/>
                  </a:ext>
                </a:extLst>
              </p:cNvPr>
              <p:cNvSpPr/>
              <p:nvPr/>
            </p:nvSpPr>
            <p:spPr>
              <a:xfrm>
                <a:off x="2971800" y="1435608"/>
                <a:ext cx="1234440" cy="374904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72155CA9-5116-6550-E49F-2F2A69B6B897}"/>
                  </a:ext>
                </a:extLst>
              </p:cNvPr>
              <p:cNvSpPr txBox="1"/>
              <p:nvPr/>
            </p:nvSpPr>
            <p:spPr>
              <a:xfrm>
                <a:off x="2971800" y="1435608"/>
                <a:ext cx="1234440" cy="37490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[0.739,0.909]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1ACC297E-AF19-7A6B-A975-7DFFA8F9585D}"/>
                  </a:ext>
                </a:extLst>
              </p:cNvPr>
              <p:cNvSpPr/>
              <p:nvPr/>
            </p:nvSpPr>
            <p:spPr>
              <a:xfrm>
                <a:off x="4251960" y="1435608"/>
                <a:ext cx="1234440" cy="374904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1B972D73-CCE6-1844-ED84-52436A52F79E}"/>
                  </a:ext>
                </a:extLst>
              </p:cNvPr>
              <p:cNvSpPr txBox="1"/>
              <p:nvPr/>
            </p:nvSpPr>
            <p:spPr>
              <a:xfrm>
                <a:off x="4251960" y="1435608"/>
                <a:ext cx="1234440" cy="37490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0.8818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33673E8-A0E3-AEFC-198A-C2A2A8DA3C29}"/>
                  </a:ext>
                </a:extLst>
              </p:cNvPr>
              <p:cNvSpPr/>
              <p:nvPr/>
            </p:nvSpPr>
            <p:spPr>
              <a:xfrm>
                <a:off x="5532120" y="1435608"/>
                <a:ext cx="1188720" cy="374904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A32CB6FF-0093-08BB-F9F1-B97A1A4114DA}"/>
                  </a:ext>
                </a:extLst>
              </p:cNvPr>
              <p:cNvSpPr txBox="1"/>
              <p:nvPr/>
            </p:nvSpPr>
            <p:spPr>
              <a:xfrm>
                <a:off x="5532120" y="1435608"/>
                <a:ext cx="1188720" cy="37490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[0.786,0.956]</a:t>
                </a: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14587D6D-674D-FA4C-361D-CB2C5B7F7317}"/>
                  </a:ext>
                </a:extLst>
              </p:cNvPr>
              <p:cNvSpPr/>
              <p:nvPr/>
            </p:nvSpPr>
            <p:spPr>
              <a:xfrm>
                <a:off x="6766560" y="1435608"/>
                <a:ext cx="1234440" cy="374904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45BD63D2-9F9C-D06C-EF8C-EA88E53AB29F}"/>
                  </a:ext>
                </a:extLst>
              </p:cNvPr>
              <p:cNvSpPr txBox="1"/>
              <p:nvPr/>
            </p:nvSpPr>
            <p:spPr>
              <a:xfrm>
                <a:off x="6766560" y="1435608"/>
                <a:ext cx="1234440" cy="37490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0.7923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F8E6A768-3D0F-6D9B-316A-BEC290A823C8}"/>
                  </a:ext>
                </a:extLst>
              </p:cNvPr>
              <p:cNvSpPr/>
              <p:nvPr/>
            </p:nvSpPr>
            <p:spPr>
              <a:xfrm>
                <a:off x="8046720" y="1435608"/>
                <a:ext cx="1234440" cy="374904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14128DBA-33BB-E1F5-93D4-DEA8B67C2186}"/>
                  </a:ext>
                </a:extLst>
              </p:cNvPr>
              <p:cNvSpPr txBox="1"/>
              <p:nvPr/>
            </p:nvSpPr>
            <p:spPr>
              <a:xfrm>
                <a:off x="8046720" y="1435608"/>
                <a:ext cx="1234440" cy="37490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[0.677,0.895]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0B9F27D9-0019-4D54-58E8-9A5A49570BB7}"/>
                  </a:ext>
                </a:extLst>
              </p:cNvPr>
              <p:cNvSpPr/>
              <p:nvPr/>
            </p:nvSpPr>
            <p:spPr>
              <a:xfrm>
                <a:off x="9326880" y="1435608"/>
                <a:ext cx="1234440" cy="374904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56279127-315D-D35F-3A0D-BCB0A1DC9BF5}"/>
                  </a:ext>
                </a:extLst>
              </p:cNvPr>
              <p:cNvSpPr txBox="1"/>
              <p:nvPr/>
            </p:nvSpPr>
            <p:spPr>
              <a:xfrm>
                <a:off x="9326880" y="1435608"/>
                <a:ext cx="1234440" cy="37490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0.6710</a:t>
                </a:r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BC5156FD-BF25-7923-2FB8-98487076C960}"/>
                  </a:ext>
                </a:extLst>
              </p:cNvPr>
              <p:cNvSpPr/>
              <p:nvPr/>
            </p:nvSpPr>
            <p:spPr>
              <a:xfrm>
                <a:off x="10607040" y="1435608"/>
                <a:ext cx="1417320" cy="374904"/>
              </a:xfrm>
              <a:prstGeom prst="rect">
                <a:avLst/>
              </a:prstGeom>
              <a:solidFill>
                <a:srgbClr val="F0F4F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BA48F3B-0D6B-754B-DA67-77620D03E658}"/>
                  </a:ext>
                </a:extLst>
              </p:cNvPr>
              <p:cNvSpPr txBox="1"/>
              <p:nvPr/>
            </p:nvSpPr>
            <p:spPr>
              <a:xfrm>
                <a:off x="10607040" y="1435608"/>
                <a:ext cx="1417320" cy="37490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0" i="0">
                    <a:solidFill>
                      <a:srgbClr val="1A1A2E"/>
                    </a:solidFill>
                    <a:latin typeface="맑은 고딕"/>
                  </a:rPr>
                  <a:t>0.3197</a:t>
                </a:r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F699115B-8D08-5377-8356-2F29B63CD07B}"/>
                  </a:ext>
                </a:extLst>
              </p:cNvPr>
              <p:cNvSpPr/>
              <p:nvPr/>
            </p:nvSpPr>
            <p:spPr>
              <a:xfrm>
                <a:off x="365760" y="1810512"/>
                <a:ext cx="1325880" cy="374904"/>
              </a:xfrm>
              <a:prstGeom prst="rect">
                <a:avLst/>
              </a:prstGeom>
              <a:solidFill>
                <a:srgbClr val="E8F4E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0B36D793-F707-1052-EF5B-6ACFD8A0439D}"/>
                  </a:ext>
                </a:extLst>
              </p:cNvPr>
              <p:cNvSpPr txBox="1"/>
              <p:nvPr/>
            </p:nvSpPr>
            <p:spPr>
              <a:xfrm>
                <a:off x="365760" y="1810512"/>
                <a:ext cx="1325880" cy="37490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1" i="0">
                    <a:solidFill>
                      <a:srgbClr val="1A1A2E"/>
                    </a:solidFill>
                    <a:latin typeface="맑은 고딕"/>
                  </a:rPr>
                  <a:t>M2 (CrossAttn)</a:t>
                </a:r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0511C5A0-8D24-AD05-F93C-7EE9E7004900}"/>
                  </a:ext>
                </a:extLst>
              </p:cNvPr>
              <p:cNvSpPr/>
              <p:nvPr/>
            </p:nvSpPr>
            <p:spPr>
              <a:xfrm>
                <a:off x="1737360" y="1810512"/>
                <a:ext cx="1188720" cy="374904"/>
              </a:xfrm>
              <a:prstGeom prst="rect">
                <a:avLst/>
              </a:prstGeom>
              <a:solidFill>
                <a:srgbClr val="E8F4E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F730177-80FB-9472-88FF-47C781A74B6F}"/>
                  </a:ext>
                </a:extLst>
              </p:cNvPr>
              <p:cNvSpPr txBox="1"/>
              <p:nvPr/>
            </p:nvSpPr>
            <p:spPr>
              <a:xfrm>
                <a:off x="1737360" y="1810512"/>
                <a:ext cx="1188720" cy="37490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1" i="0">
                    <a:solidFill>
                      <a:srgbClr val="1A1A2E"/>
                    </a:solidFill>
                    <a:latin typeface="맑은 고딕"/>
                  </a:rPr>
                  <a:t>0.8868</a:t>
                </a: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47C33D42-91A2-10AC-C830-AF91416CEE34}"/>
                  </a:ext>
                </a:extLst>
              </p:cNvPr>
              <p:cNvSpPr/>
              <p:nvPr/>
            </p:nvSpPr>
            <p:spPr>
              <a:xfrm>
                <a:off x="2971800" y="1810512"/>
                <a:ext cx="1234440" cy="374904"/>
              </a:xfrm>
              <a:prstGeom prst="rect">
                <a:avLst/>
              </a:prstGeom>
              <a:solidFill>
                <a:srgbClr val="E8F4E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58F1012F-72EC-629F-E3CD-83D4EAE75E9C}"/>
                  </a:ext>
                </a:extLst>
              </p:cNvPr>
              <p:cNvSpPr txBox="1"/>
              <p:nvPr/>
            </p:nvSpPr>
            <p:spPr>
              <a:xfrm>
                <a:off x="2971800" y="1810512"/>
                <a:ext cx="1234440" cy="37490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1" i="0">
                    <a:solidFill>
                      <a:srgbClr val="1A1A2E"/>
                    </a:solidFill>
                    <a:latin typeface="맑은 고딕"/>
                  </a:rPr>
                  <a:t>[0.810,0.949]</a:t>
                </a: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C4722337-8A72-E8B7-019F-655570F28A3F}"/>
                  </a:ext>
                </a:extLst>
              </p:cNvPr>
              <p:cNvSpPr/>
              <p:nvPr/>
            </p:nvSpPr>
            <p:spPr>
              <a:xfrm>
                <a:off x="4251960" y="1810512"/>
                <a:ext cx="1234440" cy="374904"/>
              </a:xfrm>
              <a:prstGeom prst="rect">
                <a:avLst/>
              </a:prstGeom>
              <a:solidFill>
                <a:srgbClr val="E8F4E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CE4FB964-0F88-C662-DC81-A495917B07C7}"/>
                  </a:ext>
                </a:extLst>
              </p:cNvPr>
              <p:cNvSpPr txBox="1"/>
              <p:nvPr/>
            </p:nvSpPr>
            <p:spPr>
              <a:xfrm>
                <a:off x="4251960" y="1810512"/>
                <a:ext cx="1234440" cy="37490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1" i="0">
                    <a:solidFill>
                      <a:srgbClr val="1A1A2E"/>
                    </a:solidFill>
                    <a:latin typeface="맑은 고딕"/>
                  </a:rPr>
                  <a:t>0.8879</a:t>
                </a:r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2A361EE8-B874-CD1E-C314-74F975C82A9F}"/>
                  </a:ext>
                </a:extLst>
              </p:cNvPr>
              <p:cNvSpPr/>
              <p:nvPr/>
            </p:nvSpPr>
            <p:spPr>
              <a:xfrm>
                <a:off x="5532120" y="1810512"/>
                <a:ext cx="1188720" cy="374904"/>
              </a:xfrm>
              <a:prstGeom prst="rect">
                <a:avLst/>
              </a:prstGeom>
              <a:solidFill>
                <a:srgbClr val="E8F4E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BB955F06-B45B-EE97-C164-7013CAC086F9}"/>
                  </a:ext>
                </a:extLst>
              </p:cNvPr>
              <p:cNvSpPr txBox="1"/>
              <p:nvPr/>
            </p:nvSpPr>
            <p:spPr>
              <a:xfrm>
                <a:off x="5532120" y="1810512"/>
                <a:ext cx="1188720" cy="37490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1" i="0">
                    <a:solidFill>
                      <a:srgbClr val="1A1A2E"/>
                    </a:solidFill>
                    <a:latin typeface="맑은 고딕"/>
                  </a:rPr>
                  <a:t>[0.800,0.954]</a:t>
                </a:r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B7966A75-4D53-FC40-19BD-36EA469089F8}"/>
                  </a:ext>
                </a:extLst>
              </p:cNvPr>
              <p:cNvSpPr/>
              <p:nvPr/>
            </p:nvSpPr>
            <p:spPr>
              <a:xfrm>
                <a:off x="6766560" y="1810512"/>
                <a:ext cx="1234440" cy="374904"/>
              </a:xfrm>
              <a:prstGeom prst="rect">
                <a:avLst/>
              </a:prstGeom>
              <a:solidFill>
                <a:srgbClr val="E8F4E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11667BF-343B-A74B-5853-F20B267E7EE9}"/>
                  </a:ext>
                </a:extLst>
              </p:cNvPr>
              <p:cNvSpPr txBox="1"/>
              <p:nvPr/>
            </p:nvSpPr>
            <p:spPr>
              <a:xfrm>
                <a:off x="6766560" y="1810512"/>
                <a:ext cx="1234440" cy="37490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1" i="0">
                    <a:solidFill>
                      <a:srgbClr val="1A1A2E"/>
                    </a:solidFill>
                    <a:latin typeface="맑은 고딕"/>
                  </a:rPr>
                  <a:t>0.8714</a:t>
                </a:r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3BABDDAF-691E-B12B-11CB-3E28060F41E0}"/>
                  </a:ext>
                </a:extLst>
              </p:cNvPr>
              <p:cNvSpPr/>
              <p:nvPr/>
            </p:nvSpPr>
            <p:spPr>
              <a:xfrm>
                <a:off x="8046720" y="1810512"/>
                <a:ext cx="1234440" cy="374904"/>
              </a:xfrm>
              <a:prstGeom prst="rect">
                <a:avLst/>
              </a:prstGeom>
              <a:solidFill>
                <a:srgbClr val="E8F4E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6DDB170E-CDB2-805D-5F25-92DA80DEBDA6}"/>
                  </a:ext>
                </a:extLst>
              </p:cNvPr>
              <p:cNvSpPr txBox="1"/>
              <p:nvPr/>
            </p:nvSpPr>
            <p:spPr>
              <a:xfrm>
                <a:off x="8046720" y="1810512"/>
                <a:ext cx="1234440" cy="37490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1" i="0">
                    <a:solidFill>
                      <a:srgbClr val="1A1A2E"/>
                    </a:solidFill>
                    <a:latin typeface="맑은 고딕"/>
                  </a:rPr>
                  <a:t>[0.793,0.946]</a:t>
                </a:r>
              </a:p>
            </p:txBody>
          </p:sp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328CB141-F495-171B-7D32-1250BFD5CE87}"/>
                  </a:ext>
                </a:extLst>
              </p:cNvPr>
              <p:cNvSpPr/>
              <p:nvPr/>
            </p:nvSpPr>
            <p:spPr>
              <a:xfrm>
                <a:off x="9326880" y="1810512"/>
                <a:ext cx="1234440" cy="374904"/>
              </a:xfrm>
              <a:prstGeom prst="rect">
                <a:avLst/>
              </a:prstGeom>
              <a:solidFill>
                <a:srgbClr val="E8F4E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B0F735E-A364-4D6F-4EA8-E540C29D7EF9}"/>
                  </a:ext>
                </a:extLst>
              </p:cNvPr>
              <p:cNvSpPr txBox="1"/>
              <p:nvPr/>
            </p:nvSpPr>
            <p:spPr>
              <a:xfrm>
                <a:off x="9326880" y="1810512"/>
                <a:ext cx="1234440" cy="37490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1" i="0">
                    <a:solidFill>
                      <a:srgbClr val="1A1A2E"/>
                    </a:solidFill>
                    <a:latin typeface="맑은 고딕"/>
                  </a:rPr>
                  <a:t>0.5968</a:t>
                </a:r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B1F26C0E-9D4F-E671-4465-23F06B27B896}"/>
                  </a:ext>
                </a:extLst>
              </p:cNvPr>
              <p:cNvSpPr/>
              <p:nvPr/>
            </p:nvSpPr>
            <p:spPr>
              <a:xfrm>
                <a:off x="10607040" y="1810512"/>
                <a:ext cx="1417320" cy="374904"/>
              </a:xfrm>
              <a:prstGeom prst="rect">
                <a:avLst/>
              </a:prstGeom>
              <a:solidFill>
                <a:srgbClr val="E8F4E8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9B0E641F-2278-02A1-4AEB-C53CD5289082}"/>
                  </a:ext>
                </a:extLst>
              </p:cNvPr>
              <p:cNvSpPr txBox="1"/>
              <p:nvPr/>
            </p:nvSpPr>
            <p:spPr>
              <a:xfrm>
                <a:off x="10607040" y="1810512"/>
                <a:ext cx="1417320" cy="37490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1" i="0">
                    <a:solidFill>
                      <a:srgbClr val="1A1A2E"/>
                    </a:solidFill>
                    <a:latin typeface="맑은 고딕"/>
                  </a:rPr>
                  <a:t>0.6063</a:t>
                </a: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EAAE1285-6BE9-70A3-5B67-A7FBB64D5BDD}"/>
                  </a:ext>
                </a:extLst>
              </p:cNvPr>
              <p:cNvSpPr/>
              <p:nvPr/>
            </p:nvSpPr>
            <p:spPr>
              <a:xfrm>
                <a:off x="365760" y="2185416"/>
                <a:ext cx="1325880" cy="374904"/>
              </a:xfrm>
              <a:prstGeom prst="rect">
                <a:avLst/>
              </a:prstGeom>
              <a:solidFill>
                <a:srgbClr val="FFF3E0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BEEB226A-35EF-23CB-854C-A3C057CE8FC2}"/>
                  </a:ext>
                </a:extLst>
              </p:cNvPr>
              <p:cNvSpPr txBox="1"/>
              <p:nvPr/>
            </p:nvSpPr>
            <p:spPr>
              <a:xfrm>
                <a:off x="365760" y="2185416"/>
                <a:ext cx="1325880" cy="37490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1" i="0">
                    <a:solidFill>
                      <a:srgbClr val="1A1A2E"/>
                    </a:solidFill>
                    <a:latin typeface="맑은 고딕"/>
                  </a:rPr>
                  <a:t>M3 (CrossAttn3)</a:t>
                </a:r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FAA54E8D-65BC-EF68-E9AD-A01DB6837EA4}"/>
                  </a:ext>
                </a:extLst>
              </p:cNvPr>
              <p:cNvSpPr/>
              <p:nvPr/>
            </p:nvSpPr>
            <p:spPr>
              <a:xfrm>
                <a:off x="1737360" y="2185416"/>
                <a:ext cx="1188720" cy="374904"/>
              </a:xfrm>
              <a:prstGeom prst="rect">
                <a:avLst/>
              </a:prstGeom>
              <a:solidFill>
                <a:srgbClr val="FFF3E0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A8E3BB62-95EA-57B7-D1DE-17F615E02604}"/>
                  </a:ext>
                </a:extLst>
              </p:cNvPr>
              <p:cNvSpPr txBox="1"/>
              <p:nvPr/>
            </p:nvSpPr>
            <p:spPr>
              <a:xfrm>
                <a:off x="1737360" y="2185416"/>
                <a:ext cx="1188720" cy="37490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1" i="0">
                    <a:solidFill>
                      <a:srgbClr val="1A1A2E"/>
                    </a:solidFill>
                    <a:latin typeface="맑은 고딕"/>
                  </a:rPr>
                  <a:t>0.8944</a:t>
                </a: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1CFE4B32-BCD0-A672-DB81-0FC93BBE9F4D}"/>
                  </a:ext>
                </a:extLst>
              </p:cNvPr>
              <p:cNvSpPr/>
              <p:nvPr/>
            </p:nvSpPr>
            <p:spPr>
              <a:xfrm>
                <a:off x="2971800" y="2185416"/>
                <a:ext cx="1234440" cy="374904"/>
              </a:xfrm>
              <a:prstGeom prst="rect">
                <a:avLst/>
              </a:prstGeom>
              <a:solidFill>
                <a:srgbClr val="FFF3E0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30B47318-E383-7DCF-9C2E-D442C3AD2E70}"/>
                  </a:ext>
                </a:extLst>
              </p:cNvPr>
              <p:cNvSpPr txBox="1"/>
              <p:nvPr/>
            </p:nvSpPr>
            <p:spPr>
              <a:xfrm>
                <a:off x="2971800" y="2185416"/>
                <a:ext cx="1234440" cy="37490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1" i="0">
                    <a:solidFill>
                      <a:srgbClr val="1A1A2E"/>
                    </a:solidFill>
                    <a:latin typeface="맑은 고딕"/>
                  </a:rPr>
                  <a:t>[0.825,0.950]</a:t>
                </a:r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B57AF56D-4229-EC25-8A1B-DDACEB5D6D6A}"/>
                  </a:ext>
                </a:extLst>
              </p:cNvPr>
              <p:cNvSpPr/>
              <p:nvPr/>
            </p:nvSpPr>
            <p:spPr>
              <a:xfrm>
                <a:off x="4251960" y="2185416"/>
                <a:ext cx="1234440" cy="374904"/>
              </a:xfrm>
              <a:prstGeom prst="rect">
                <a:avLst/>
              </a:prstGeom>
              <a:solidFill>
                <a:srgbClr val="FFF3E0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14413B88-4BEA-6F83-FC8E-C0E7DFE8A0D0}"/>
                  </a:ext>
                </a:extLst>
              </p:cNvPr>
              <p:cNvSpPr txBox="1"/>
              <p:nvPr/>
            </p:nvSpPr>
            <p:spPr>
              <a:xfrm>
                <a:off x="4251960" y="2185416"/>
                <a:ext cx="1234440" cy="37490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1" i="0">
                    <a:solidFill>
                      <a:srgbClr val="1A1A2E"/>
                    </a:solidFill>
                    <a:latin typeface="맑은 고딕"/>
                  </a:rPr>
                  <a:t>0.9000</a:t>
                </a:r>
              </a:p>
            </p:txBody>
          </p:sp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ECEB1E7C-43AE-1BA0-5982-CBFA6A332244}"/>
                  </a:ext>
                </a:extLst>
              </p:cNvPr>
              <p:cNvSpPr/>
              <p:nvPr/>
            </p:nvSpPr>
            <p:spPr>
              <a:xfrm>
                <a:off x="5532120" y="2185416"/>
                <a:ext cx="1188720" cy="374904"/>
              </a:xfrm>
              <a:prstGeom prst="rect">
                <a:avLst/>
              </a:prstGeom>
              <a:solidFill>
                <a:srgbClr val="FFF3E0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E1276395-1794-EC1B-70D0-D44A6A8BFB3E}"/>
                  </a:ext>
                </a:extLst>
              </p:cNvPr>
              <p:cNvSpPr txBox="1"/>
              <p:nvPr/>
            </p:nvSpPr>
            <p:spPr>
              <a:xfrm>
                <a:off x="5532120" y="2185416"/>
                <a:ext cx="1188720" cy="37490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1" i="0">
                    <a:solidFill>
                      <a:srgbClr val="1A1A2E"/>
                    </a:solidFill>
                    <a:latin typeface="맑은 고딕"/>
                  </a:rPr>
                  <a:t>[0.825,0.959]</a:t>
                </a:r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A3024F2D-FD17-6DDC-0FAD-0863ACC90B67}"/>
                  </a:ext>
                </a:extLst>
              </p:cNvPr>
              <p:cNvSpPr/>
              <p:nvPr/>
            </p:nvSpPr>
            <p:spPr>
              <a:xfrm>
                <a:off x="6766560" y="2185416"/>
                <a:ext cx="1234440" cy="374904"/>
              </a:xfrm>
              <a:prstGeom prst="rect">
                <a:avLst/>
              </a:prstGeom>
              <a:solidFill>
                <a:srgbClr val="FFF3E0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CAF8A9BE-CB9E-65CA-C568-3267E28D9B8D}"/>
                  </a:ext>
                </a:extLst>
              </p:cNvPr>
              <p:cNvSpPr txBox="1"/>
              <p:nvPr/>
            </p:nvSpPr>
            <p:spPr>
              <a:xfrm>
                <a:off x="6766560" y="2185416"/>
                <a:ext cx="1234440" cy="37490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1" i="0">
                    <a:solidFill>
                      <a:srgbClr val="1A1A2E"/>
                    </a:solidFill>
                    <a:latin typeface="맑은 고딕"/>
                  </a:rPr>
                  <a:t>0.8758</a:t>
                </a: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DB53BD6C-1882-F908-7DD3-CB4C9719DF96}"/>
                  </a:ext>
                </a:extLst>
              </p:cNvPr>
              <p:cNvSpPr/>
              <p:nvPr/>
            </p:nvSpPr>
            <p:spPr>
              <a:xfrm>
                <a:off x="8046720" y="2185416"/>
                <a:ext cx="1234440" cy="374904"/>
              </a:xfrm>
              <a:prstGeom prst="rect">
                <a:avLst/>
              </a:prstGeom>
              <a:solidFill>
                <a:srgbClr val="FFF3E0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63A5AE01-640B-0D9D-7024-8FD18A662465}"/>
                  </a:ext>
                </a:extLst>
              </p:cNvPr>
              <p:cNvSpPr txBox="1"/>
              <p:nvPr/>
            </p:nvSpPr>
            <p:spPr>
              <a:xfrm>
                <a:off x="8046720" y="2185416"/>
                <a:ext cx="1234440" cy="37490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1" i="0">
                    <a:solidFill>
                      <a:srgbClr val="1A1A2E"/>
                    </a:solidFill>
                    <a:latin typeface="맑은 고딕"/>
                  </a:rPr>
                  <a:t>[0.793,0.950]</a:t>
                </a:r>
              </a:p>
            </p:txBody>
          </p:sp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79E99C5B-817C-EA39-6D51-5CC0DF8F2FAC}"/>
                  </a:ext>
                </a:extLst>
              </p:cNvPr>
              <p:cNvSpPr/>
              <p:nvPr/>
            </p:nvSpPr>
            <p:spPr>
              <a:xfrm>
                <a:off x="9326880" y="2185416"/>
                <a:ext cx="1234440" cy="374904"/>
              </a:xfrm>
              <a:prstGeom prst="rect">
                <a:avLst/>
              </a:prstGeom>
              <a:solidFill>
                <a:srgbClr val="FFF3E0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867F2761-AABB-0575-03AB-3B63E8C7DCAB}"/>
                  </a:ext>
                </a:extLst>
              </p:cNvPr>
              <p:cNvSpPr txBox="1"/>
              <p:nvPr/>
            </p:nvSpPr>
            <p:spPr>
              <a:xfrm>
                <a:off x="9326880" y="2185416"/>
                <a:ext cx="1234440" cy="37490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1" i="0">
                    <a:solidFill>
                      <a:srgbClr val="1A1A2E"/>
                    </a:solidFill>
                    <a:latin typeface="맑은 고딕"/>
                  </a:rPr>
                  <a:t>0.6218</a:t>
                </a:r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0E4AB7BC-39B7-3988-D5A8-8F9AAE8377C8}"/>
                  </a:ext>
                </a:extLst>
              </p:cNvPr>
              <p:cNvSpPr/>
              <p:nvPr/>
            </p:nvSpPr>
            <p:spPr>
              <a:xfrm>
                <a:off x="10607040" y="2185416"/>
                <a:ext cx="1417320" cy="374904"/>
              </a:xfrm>
              <a:prstGeom prst="rect">
                <a:avLst/>
              </a:prstGeom>
              <a:solidFill>
                <a:srgbClr val="FFF3E0"/>
              </a:solidFill>
              <a:ln w="6350">
                <a:solidFill>
                  <a:srgbClr val="CCCCCC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BFE0DED7-50C0-A3B3-1A7D-895EDCA0E691}"/>
                  </a:ext>
                </a:extLst>
              </p:cNvPr>
              <p:cNvSpPr txBox="1"/>
              <p:nvPr/>
            </p:nvSpPr>
            <p:spPr>
              <a:xfrm>
                <a:off x="10607040" y="2185416"/>
                <a:ext cx="1417320" cy="37490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ctr"/>
                <a:r>
                  <a:rPr sz="1050" b="1" i="0">
                    <a:solidFill>
                      <a:srgbClr val="1A1A2E"/>
                    </a:solidFill>
                    <a:latin typeface="맑은 고딕"/>
                  </a:rPr>
                  <a:t>0.4883</a:t>
                </a:r>
              </a:p>
            </p:txBody>
          </p:sp>
        </p:grpSp>
      </p:grpSp>
      <p:grpSp>
        <p:nvGrpSpPr>
          <p:cNvPr id="105" name="그룹 104">
            <a:extLst>
              <a:ext uri="{FF2B5EF4-FFF2-40B4-BE49-F238E27FC236}">
                <a16:creationId xmlns:a16="http://schemas.microsoft.com/office/drawing/2014/main" id="{E91C199B-D58F-2972-7077-E4E23899C612}"/>
              </a:ext>
            </a:extLst>
          </p:cNvPr>
          <p:cNvGrpSpPr/>
          <p:nvPr/>
        </p:nvGrpSpPr>
        <p:grpSpPr>
          <a:xfrm>
            <a:off x="350520" y="3298807"/>
            <a:ext cx="6868159" cy="2749086"/>
            <a:chOff x="274320" y="3017520"/>
            <a:chExt cx="7086600" cy="3520440"/>
          </a:xfrm>
        </p:grpSpPr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CDF226CE-3291-01CF-2157-2637DD115120}"/>
                </a:ext>
              </a:extLst>
            </p:cNvPr>
            <p:cNvSpPr/>
            <p:nvPr/>
          </p:nvSpPr>
          <p:spPr>
            <a:xfrm>
              <a:off x="274320" y="3017520"/>
              <a:ext cx="3474720" cy="3520440"/>
            </a:xfrm>
            <a:prstGeom prst="rect">
              <a:avLst/>
            </a:prstGeom>
            <a:solidFill>
              <a:srgbClr val="E8F0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22A42707-4722-8622-170D-DB961F2FC6F7}"/>
                </a:ext>
              </a:extLst>
            </p:cNvPr>
            <p:cNvSpPr/>
            <p:nvPr/>
          </p:nvSpPr>
          <p:spPr>
            <a:xfrm>
              <a:off x="274320" y="3017520"/>
              <a:ext cx="91440" cy="3520440"/>
            </a:xfrm>
            <a:prstGeom prst="rect">
              <a:avLst/>
            </a:prstGeom>
            <a:solidFill>
              <a:srgbClr val="0F6BB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41317D43-4682-8457-0DBD-D38D4CACF9A5}"/>
                </a:ext>
              </a:extLst>
            </p:cNvPr>
            <p:cNvSpPr txBox="1"/>
            <p:nvPr/>
          </p:nvSpPr>
          <p:spPr>
            <a:xfrm>
              <a:off x="457200" y="3090672"/>
              <a:ext cx="3200400" cy="29260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400" b="1" i="0">
                  <a:solidFill>
                    <a:srgbClr val="0F6BBF"/>
                  </a:solidFill>
                  <a:latin typeface="맑은 고딕"/>
                </a:rPr>
                <a:t>남성 비교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EFC70D06-13BB-886E-C055-D0817376EE5A}"/>
                </a:ext>
              </a:extLst>
            </p:cNvPr>
            <p:cNvSpPr txBox="1"/>
            <p:nvPr/>
          </p:nvSpPr>
          <p:spPr>
            <a:xfrm>
              <a:off x="457200" y="3474720"/>
              <a:ext cx="3291840" cy="4572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0" i="0">
                  <a:solidFill>
                    <a:srgbClr val="1A1A2E"/>
                  </a:solidFill>
                  <a:latin typeface="맑은 고딕"/>
                </a:rPr>
                <a:t>• M1→M3: 0.882→0.900  (Δ+0.018)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9C34E710-9ADB-52EA-5E69-05E05DEC558A}"/>
                </a:ext>
              </a:extLst>
            </p:cNvPr>
            <p:cNvSpPr txBox="1"/>
            <p:nvPr/>
          </p:nvSpPr>
          <p:spPr>
            <a:xfrm>
              <a:off x="457200" y="3950208"/>
              <a:ext cx="3291840" cy="4572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0" i="0">
                  <a:solidFill>
                    <a:srgbClr val="1A1A2E"/>
                  </a:solidFill>
                  <a:latin typeface="맑은 고딕"/>
                </a:rPr>
                <a:t>• M3에서 처음으로 AUC 0.90 돌파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9D62DCF6-7A5E-7A9E-9CC5-658451F2FC4F}"/>
                </a:ext>
              </a:extLst>
            </p:cNvPr>
            <p:cNvSpPr txBox="1"/>
            <p:nvPr/>
          </p:nvSpPr>
          <p:spPr>
            <a:xfrm>
              <a:off x="457200" y="4425696"/>
              <a:ext cx="3291840" cy="4572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0" i="0">
                  <a:solidFill>
                    <a:srgbClr val="1A1A2E"/>
                  </a:solidFill>
                  <a:latin typeface="맑은 고딕"/>
                </a:rPr>
                <a:t>• AUPRC: M1(0.671)→M3(0.622)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A5627F3F-7835-3A1F-665F-1D90A6C78C41}"/>
                </a:ext>
              </a:extLst>
            </p:cNvPr>
            <p:cNvSpPr txBox="1"/>
            <p:nvPr/>
          </p:nvSpPr>
          <p:spPr>
            <a:xfrm>
              <a:off x="457200" y="4901183"/>
              <a:ext cx="3291840" cy="4572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0" i="0">
                  <a:solidFill>
                    <a:srgbClr val="1A1A2E"/>
                  </a:solidFill>
                  <a:latin typeface="맑은 고딕"/>
                </a:rPr>
                <a:t>  → Precision관점에서 M1이 더 높음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E69AE15B-AACD-E2AD-F42A-CBB25FD543F0}"/>
                </a:ext>
              </a:extLst>
            </p:cNvPr>
            <p:cNvSpPr txBox="1"/>
            <p:nvPr/>
          </p:nvSpPr>
          <p:spPr>
            <a:xfrm>
              <a:off x="457200" y="5376672"/>
              <a:ext cx="3291840" cy="4572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0" i="0">
                  <a:solidFill>
                    <a:srgbClr val="1A1A2E"/>
                  </a:solidFill>
                  <a:latin typeface="맑은 고딕"/>
                </a:rPr>
                <a:t>• 유병률 15.5% → 균형 잡힌 클래스</a:t>
              </a: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2D14F132-1929-190A-A9D7-EF75BE222805}"/>
                </a:ext>
              </a:extLst>
            </p:cNvPr>
            <p:cNvSpPr txBox="1"/>
            <p:nvPr/>
          </p:nvSpPr>
          <p:spPr>
            <a:xfrm>
              <a:off x="457200" y="5852160"/>
              <a:ext cx="3291840" cy="4572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0" i="0">
                  <a:solidFill>
                    <a:srgbClr val="1A1A2E"/>
                  </a:solidFill>
                  <a:latin typeface="맑은 고딕"/>
                </a:rPr>
                <a:t>  → AUC 해석 안정적</a:t>
              </a:r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206E26B0-3962-18D0-7A8A-03F0091E7C7E}"/>
                </a:ext>
              </a:extLst>
            </p:cNvPr>
            <p:cNvSpPr/>
            <p:nvPr/>
          </p:nvSpPr>
          <p:spPr>
            <a:xfrm>
              <a:off x="3886200" y="3017520"/>
              <a:ext cx="3474720" cy="3520440"/>
            </a:xfrm>
            <a:prstGeom prst="rect">
              <a:avLst/>
            </a:prstGeom>
            <a:solidFill>
              <a:srgbClr val="FFF0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10DB243F-BF15-9D84-BD15-70BA7D7D6443}"/>
                </a:ext>
              </a:extLst>
            </p:cNvPr>
            <p:cNvSpPr/>
            <p:nvPr/>
          </p:nvSpPr>
          <p:spPr>
            <a:xfrm>
              <a:off x="3886200" y="3017520"/>
              <a:ext cx="91440" cy="3520440"/>
            </a:xfrm>
            <a:prstGeom prst="rect">
              <a:avLst/>
            </a:prstGeom>
            <a:solidFill>
              <a:srgbClr val="C0392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A43CE76E-5774-12AA-177D-EB41A41F8C88}"/>
                </a:ext>
              </a:extLst>
            </p:cNvPr>
            <p:cNvSpPr txBox="1"/>
            <p:nvPr/>
          </p:nvSpPr>
          <p:spPr>
            <a:xfrm>
              <a:off x="4069080" y="3090672"/>
              <a:ext cx="3200400" cy="292608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400" b="1" i="0">
                  <a:solidFill>
                    <a:srgbClr val="C0392B"/>
                  </a:solidFill>
                  <a:latin typeface="맑은 고딕"/>
                </a:rPr>
                <a:t>여성 비교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8A1CD0CC-4DC0-70BD-1DAE-BAD90915F7C7}"/>
                </a:ext>
              </a:extLst>
            </p:cNvPr>
            <p:cNvSpPr txBox="1"/>
            <p:nvPr/>
          </p:nvSpPr>
          <p:spPr>
            <a:xfrm>
              <a:off x="4069080" y="3474720"/>
              <a:ext cx="3291840" cy="4572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0" i="0">
                  <a:solidFill>
                    <a:srgbClr val="1A1A2E"/>
                  </a:solidFill>
                  <a:latin typeface="맑은 고딕"/>
                </a:rPr>
                <a:t>• M1→M3: 0.792→0.876  (Δ+0.084)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C2CF4D34-CFAE-8319-2B23-A08AC143C88A}"/>
                </a:ext>
              </a:extLst>
            </p:cNvPr>
            <p:cNvSpPr txBox="1"/>
            <p:nvPr/>
          </p:nvSpPr>
          <p:spPr>
            <a:xfrm>
              <a:off x="4069080" y="3950208"/>
              <a:ext cx="3291840" cy="4572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0" i="0">
                  <a:solidFill>
                    <a:srgbClr val="1A1A2E"/>
                  </a:solidFill>
                  <a:latin typeface="맑은 고딕"/>
                </a:rPr>
                <a:t>  → 여성에서 AEC 기여 효과가 더 큼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CD109DB3-7903-0620-8B5B-9D62DE2371F0}"/>
                </a:ext>
              </a:extLst>
            </p:cNvPr>
            <p:cNvSpPr txBox="1"/>
            <p:nvPr/>
          </p:nvSpPr>
          <p:spPr>
            <a:xfrm>
              <a:off x="4069080" y="4425696"/>
              <a:ext cx="3291840" cy="4572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0" i="0">
                  <a:solidFill>
                    <a:srgbClr val="1A1A2E"/>
                  </a:solidFill>
                  <a:latin typeface="맑은 고딕"/>
                </a:rPr>
                <a:t>• AUPRC: M1(0.320)→M2(0.606)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391ED22E-B473-5449-56A5-C8E844CCC347}"/>
                </a:ext>
              </a:extLst>
            </p:cNvPr>
            <p:cNvSpPr txBox="1"/>
            <p:nvPr/>
          </p:nvSpPr>
          <p:spPr>
            <a:xfrm>
              <a:off x="4069080" y="4901183"/>
              <a:ext cx="3291840" cy="4572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0" i="0">
                  <a:solidFill>
                    <a:srgbClr val="1A1A2E"/>
                  </a:solidFill>
                  <a:latin typeface="맑은 고딕"/>
                </a:rPr>
                <a:t>  → AEC 추가로 양성 정밀도 극적 개선</a:t>
              </a: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26020FB5-F7C1-627B-B7A9-2D1EE6ABD671}"/>
                </a:ext>
              </a:extLst>
            </p:cNvPr>
            <p:cNvSpPr txBox="1"/>
            <p:nvPr/>
          </p:nvSpPr>
          <p:spPr>
            <a:xfrm>
              <a:off x="4069080" y="5376672"/>
              <a:ext cx="3291840" cy="4572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0" i="0">
                  <a:solidFill>
                    <a:srgbClr val="1A1A2E"/>
                  </a:solidFill>
                  <a:latin typeface="맑은 고딕"/>
                </a:rPr>
                <a:t>• 유병률 9.9% → 심한 class imbalance</a:t>
              </a: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4D670706-939B-F823-7F93-A8897167E47D}"/>
                </a:ext>
              </a:extLst>
            </p:cNvPr>
            <p:cNvSpPr txBox="1"/>
            <p:nvPr/>
          </p:nvSpPr>
          <p:spPr>
            <a:xfrm>
              <a:off x="4069080" y="5852160"/>
              <a:ext cx="3291840" cy="45720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200" b="0" i="0">
                  <a:solidFill>
                    <a:srgbClr val="1A1A2E"/>
                  </a:solidFill>
                  <a:latin typeface="맑은 고딕"/>
                </a:rPr>
                <a:t>  → AUPRC가 AUC보다 중요한 지표</a:t>
              </a:r>
            </a:p>
          </p:txBody>
        </p:sp>
      </p:grpSp>
      <p:grpSp>
        <p:nvGrpSpPr>
          <p:cNvPr id="112" name="그룹 111">
            <a:extLst>
              <a:ext uri="{FF2B5EF4-FFF2-40B4-BE49-F238E27FC236}">
                <a16:creationId xmlns:a16="http://schemas.microsoft.com/office/drawing/2014/main" id="{41E72E69-16A7-6530-1857-67CC7B43F476}"/>
              </a:ext>
            </a:extLst>
          </p:cNvPr>
          <p:cNvGrpSpPr/>
          <p:nvPr/>
        </p:nvGrpSpPr>
        <p:grpSpPr>
          <a:xfrm>
            <a:off x="7351612" y="3348841"/>
            <a:ext cx="4654043" cy="2960662"/>
            <a:chOff x="7498079" y="3017520"/>
            <a:chExt cx="4526281" cy="2256817"/>
          </a:xfrm>
        </p:grpSpPr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6CD7410D-001D-8A6F-9672-943F3C8C7CEE}"/>
                </a:ext>
              </a:extLst>
            </p:cNvPr>
            <p:cNvSpPr txBox="1"/>
            <p:nvPr/>
          </p:nvSpPr>
          <p:spPr>
            <a:xfrm>
              <a:off x="8121511" y="3017520"/>
              <a:ext cx="947695" cy="2616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100" b="1" i="0" dirty="0">
                  <a:solidFill>
                    <a:srgbClr val="1A1A2E"/>
                  </a:solidFill>
                  <a:latin typeface="맑은 고딕"/>
                </a:rPr>
                <a:t>M1  by Sex</a:t>
              </a:r>
            </a:p>
          </p:txBody>
        </p:sp>
        <p:pic>
          <p:nvPicPr>
            <p:cNvPr id="97" name="Picture 96" descr="test_roc_by_sex.png">
              <a:extLst>
                <a:ext uri="{FF2B5EF4-FFF2-40B4-BE49-F238E27FC236}">
                  <a16:creationId xmlns:a16="http://schemas.microsoft.com/office/drawing/2014/main" id="{938EE5AB-5B11-5911-1A8D-E4CE88C7326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498079" y="3291840"/>
              <a:ext cx="2194560" cy="1737360"/>
            </a:xfrm>
            <a:prstGeom prst="rect">
              <a:avLst/>
            </a:prstGeom>
          </p:spPr>
        </p:pic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1D67FD77-5F54-8600-48B8-C65E3B94C526}"/>
                </a:ext>
              </a:extLst>
            </p:cNvPr>
            <p:cNvSpPr txBox="1"/>
            <p:nvPr/>
          </p:nvSpPr>
          <p:spPr>
            <a:xfrm>
              <a:off x="10453232" y="3017520"/>
              <a:ext cx="947695" cy="2616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100" b="1" i="0" dirty="0">
                  <a:solidFill>
                    <a:srgbClr val="E87400"/>
                  </a:solidFill>
                  <a:latin typeface="맑은 고딕"/>
                </a:rPr>
                <a:t>M3  by Sex</a:t>
              </a:r>
            </a:p>
          </p:txBody>
        </p:sp>
        <p:pic>
          <p:nvPicPr>
            <p:cNvPr id="99" name="Picture 98" descr="test_roc_by_sex.png">
              <a:extLst>
                <a:ext uri="{FF2B5EF4-FFF2-40B4-BE49-F238E27FC236}">
                  <a16:creationId xmlns:a16="http://schemas.microsoft.com/office/drawing/2014/main" id="{D954F5A2-9D81-0802-942A-18711FA64F8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829800" y="3291840"/>
              <a:ext cx="2194560" cy="1737360"/>
            </a:xfrm>
            <a:prstGeom prst="rect">
              <a:avLst/>
            </a:prstGeom>
          </p:spPr>
        </p:pic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0BA6F3CC-512F-90C0-954F-2CA7CA4E1E05}"/>
                </a:ext>
              </a:extLst>
            </p:cNvPr>
            <p:cNvSpPr txBox="1"/>
            <p:nvPr/>
          </p:nvSpPr>
          <p:spPr>
            <a:xfrm>
              <a:off x="7649657" y="5074920"/>
              <a:ext cx="4268847" cy="199417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100" b="1" i="0" dirty="0">
                  <a:solidFill>
                    <a:srgbClr val="1A1A2E"/>
                  </a:solidFill>
                  <a:latin typeface="맑은 고딕"/>
                </a:rPr>
                <a:t>△ </a:t>
              </a:r>
              <a:r>
                <a:rPr sz="1100" b="1" i="0" dirty="0" err="1">
                  <a:solidFill>
                    <a:srgbClr val="1A1A2E"/>
                  </a:solidFill>
                  <a:latin typeface="맑은 고딕"/>
                </a:rPr>
                <a:t>여성</a:t>
              </a:r>
              <a:r>
                <a:rPr sz="1100" b="1" i="0" dirty="0">
                  <a:solidFill>
                    <a:srgbClr val="1A1A2E"/>
                  </a:solidFill>
                  <a:latin typeface="맑은 고딕"/>
                </a:rPr>
                <a:t> AUC 0.792 → 0.876 </a:t>
              </a:r>
              <a:r>
                <a:rPr lang="en-US" sz="1100" b="1" i="0" dirty="0">
                  <a:solidFill>
                    <a:srgbClr val="1A1A2E"/>
                  </a:solidFill>
                  <a:latin typeface="맑은 고딕"/>
                </a:rPr>
                <a:t>   </a:t>
              </a:r>
              <a:r>
                <a:rPr sz="1100" b="1" i="0" dirty="0">
                  <a:solidFill>
                    <a:srgbClr val="1A1A2E"/>
                  </a:solidFill>
                  <a:latin typeface="맑은 고딕"/>
                </a:rPr>
                <a:t> | </a:t>
              </a:r>
              <a:r>
                <a:rPr lang="en-US" sz="1100" b="1" i="0" dirty="0">
                  <a:solidFill>
                    <a:srgbClr val="1A1A2E"/>
                  </a:solidFill>
                  <a:latin typeface="맑은 고딕"/>
                </a:rPr>
                <a:t>   </a:t>
              </a:r>
              <a:r>
                <a:rPr sz="1100" b="1" i="0" dirty="0">
                  <a:solidFill>
                    <a:srgbClr val="1A1A2E"/>
                  </a:solidFill>
                  <a:latin typeface="맑은 고딕"/>
                </a:rPr>
                <a:t> △ </a:t>
              </a:r>
              <a:r>
                <a:rPr sz="1100" b="1" i="0" dirty="0" err="1">
                  <a:solidFill>
                    <a:srgbClr val="1A1A2E"/>
                  </a:solidFill>
                  <a:latin typeface="맑은 고딕"/>
                </a:rPr>
                <a:t>남성</a:t>
              </a:r>
              <a:r>
                <a:rPr sz="1100" b="1" i="0" dirty="0">
                  <a:solidFill>
                    <a:srgbClr val="1A1A2E"/>
                  </a:solidFill>
                  <a:latin typeface="맑은 고딕"/>
                </a:rPr>
                <a:t> AUC 0.882 → 0.900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5636169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EAB54C-5E11-B9C0-57F3-3D89DA268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8B53D9-E496-0B72-5190-043E5711BC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Conclusion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0C9257B-47A5-8ECA-2B20-1BC833105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26</a:t>
            </a:fld>
            <a:endParaRPr lang="ko-KR" altLang="en-US" dirty="0"/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F90C3E43-AAD6-A770-ACEE-E24BD18FCC1A}"/>
              </a:ext>
            </a:extLst>
          </p:cNvPr>
          <p:cNvGrpSpPr/>
          <p:nvPr/>
        </p:nvGrpSpPr>
        <p:grpSpPr>
          <a:xfrm>
            <a:off x="289560" y="1032765"/>
            <a:ext cx="11612880" cy="5349240"/>
            <a:chOff x="274320" y="1097280"/>
            <a:chExt cx="11612880" cy="5349240"/>
          </a:xfrm>
        </p:grpSpPr>
        <p:sp>
          <p:nvSpPr>
            <p:cNvPr id="6" name="Rectangle 4">
              <a:extLst>
                <a:ext uri="{FF2B5EF4-FFF2-40B4-BE49-F238E27FC236}">
                  <a16:creationId xmlns:a16="http://schemas.microsoft.com/office/drawing/2014/main" id="{6E94F6C7-254A-62FC-C051-7BC6451959FB}"/>
                </a:ext>
              </a:extLst>
            </p:cNvPr>
            <p:cNvSpPr/>
            <p:nvPr/>
          </p:nvSpPr>
          <p:spPr>
            <a:xfrm>
              <a:off x="274320" y="1097280"/>
              <a:ext cx="11612880" cy="1289304"/>
            </a:xfrm>
            <a:prstGeom prst="rect">
              <a:avLst/>
            </a:prstGeom>
            <a:solidFill>
              <a:srgbClr val="F0F4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" name="Rectangle 5">
              <a:extLst>
                <a:ext uri="{FF2B5EF4-FFF2-40B4-BE49-F238E27FC236}">
                  <a16:creationId xmlns:a16="http://schemas.microsoft.com/office/drawing/2014/main" id="{44EE5D80-AF43-4BBE-B105-DC6BDFD072DC}"/>
                </a:ext>
              </a:extLst>
            </p:cNvPr>
            <p:cNvSpPr/>
            <p:nvPr/>
          </p:nvSpPr>
          <p:spPr>
            <a:xfrm>
              <a:off x="274320" y="1097280"/>
              <a:ext cx="109728" cy="1289304"/>
            </a:xfrm>
            <a:prstGeom prst="rect">
              <a:avLst/>
            </a:prstGeom>
            <a:solidFill>
              <a:srgbClr val="0F6BB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42DC449-05A0-E357-C9B3-290FC32D529F}"/>
                </a:ext>
              </a:extLst>
            </p:cNvPr>
            <p:cNvSpPr txBox="1"/>
            <p:nvPr/>
          </p:nvSpPr>
          <p:spPr>
            <a:xfrm>
              <a:off x="502920" y="1161288"/>
              <a:ext cx="11064240" cy="32918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400" b="1" i="0">
                  <a:solidFill>
                    <a:srgbClr val="0F6BBF"/>
                  </a:solidFill>
                  <a:latin typeface="맑은 고딕"/>
                </a:rPr>
                <a:t>① AEC 신호는 Clinic 대비 통계적으로 유의미하게 AUC를 향상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207D437-5694-0157-9730-9A80CC95830F}"/>
                </a:ext>
              </a:extLst>
            </p:cNvPr>
            <p:cNvSpPr txBox="1"/>
            <p:nvPr/>
          </p:nvSpPr>
          <p:spPr>
            <a:xfrm>
              <a:off x="502920" y="1527048"/>
              <a:ext cx="548640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• BCE+AEC128+norm: M1→M3 DeLong p=0.040 (*)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3F0F622-E60C-C8C8-EB5F-239D257B3916}"/>
                </a:ext>
              </a:extLst>
            </p:cNvPr>
            <p:cNvSpPr txBox="1"/>
            <p:nvPr/>
          </p:nvSpPr>
          <p:spPr>
            <a:xfrm>
              <a:off x="502920" y="1819656"/>
              <a:ext cx="548640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• BCE+AEC256+norm: M1→M2 DeLong p=0.013 (*)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1E66DCF-7626-E637-D804-D110813A82E9}"/>
                </a:ext>
              </a:extLst>
            </p:cNvPr>
            <p:cNvSpPr txBox="1"/>
            <p:nvPr/>
          </p:nvSpPr>
          <p:spPr>
            <a:xfrm>
              <a:off x="6217920" y="1527048"/>
              <a:ext cx="55778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• 음성 대조군(M2_2) 대비 M2 일관 우세 → 매칭 효과 검증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AEA980E-08F2-F2C7-E8FA-B6EE91B3B4D6}"/>
                </a:ext>
              </a:extLst>
            </p:cNvPr>
            <p:cNvSpPr txBox="1"/>
            <p:nvPr/>
          </p:nvSpPr>
          <p:spPr>
            <a:xfrm>
              <a:off x="6217920" y="1819656"/>
              <a:ext cx="55778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• 여성 AUPRC: M1(0.320)→M2(0.606) — AEC가 양성 정밀도 극적 개선</a:t>
              </a:r>
            </a:p>
          </p:txBody>
        </p:sp>
        <p:sp>
          <p:nvSpPr>
            <p:cNvPr id="14" name="Rectangle 11">
              <a:extLst>
                <a:ext uri="{FF2B5EF4-FFF2-40B4-BE49-F238E27FC236}">
                  <a16:creationId xmlns:a16="http://schemas.microsoft.com/office/drawing/2014/main" id="{22FD22F1-97B8-0E1D-90F3-A5EE2CD60508}"/>
                </a:ext>
              </a:extLst>
            </p:cNvPr>
            <p:cNvSpPr/>
            <p:nvPr/>
          </p:nvSpPr>
          <p:spPr>
            <a:xfrm>
              <a:off x="274320" y="2450591"/>
              <a:ext cx="11612880" cy="1289304"/>
            </a:xfrm>
            <a:prstGeom prst="rect">
              <a:avLst/>
            </a:prstGeom>
            <a:solidFill>
              <a:srgbClr val="F0F4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" name="Rectangle 12">
              <a:extLst>
                <a:ext uri="{FF2B5EF4-FFF2-40B4-BE49-F238E27FC236}">
                  <a16:creationId xmlns:a16="http://schemas.microsoft.com/office/drawing/2014/main" id="{77591482-4144-BB5C-FB17-7367934637D8}"/>
                </a:ext>
              </a:extLst>
            </p:cNvPr>
            <p:cNvSpPr/>
            <p:nvPr/>
          </p:nvSpPr>
          <p:spPr>
            <a:xfrm>
              <a:off x="274320" y="2450591"/>
              <a:ext cx="109728" cy="1289304"/>
            </a:xfrm>
            <a:prstGeom prst="rect">
              <a:avLst/>
            </a:prstGeom>
            <a:solidFill>
              <a:srgbClr val="0F9B8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01C92B8-22C4-7386-CEBF-191CB7195511}"/>
                </a:ext>
              </a:extLst>
            </p:cNvPr>
            <p:cNvSpPr txBox="1"/>
            <p:nvPr/>
          </p:nvSpPr>
          <p:spPr>
            <a:xfrm>
              <a:off x="502920" y="2514600"/>
              <a:ext cx="11064240" cy="32918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400" b="1" i="0">
                  <a:solidFill>
                    <a:srgbClr val="0F9B8A"/>
                  </a:solidFill>
                  <a:latin typeface="맑은 고딕"/>
                </a:rPr>
                <a:t>② norm 전처리 조건이 최적 — 전 조건 중 가장 일관된 AUC 향상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086C152-E4C9-3221-39D7-426B9F8DD176}"/>
                </a:ext>
              </a:extLst>
            </p:cNvPr>
            <p:cNvSpPr txBox="1"/>
            <p:nvPr/>
          </p:nvSpPr>
          <p:spPr>
            <a:xfrm>
              <a:off x="502920" y="2880360"/>
              <a:ext cx="548640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• 모든 Loss×AEC길이 시나리오에서 norm이 최고 또는 상위 AUC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A770346-D7BD-B251-1095-E0D827F73C4A}"/>
                </a:ext>
              </a:extLst>
            </p:cNvPr>
            <p:cNvSpPr txBox="1"/>
            <p:nvPr/>
          </p:nvSpPr>
          <p:spPr>
            <a:xfrm>
              <a:off x="502920" y="3172968"/>
              <a:ext cx="548640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• crop/truncation 없이 전체 시퀀스 활용이 최선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514C607-A5C8-86F3-5047-1810B5B255B1}"/>
                </a:ext>
              </a:extLst>
            </p:cNvPr>
            <p:cNvSpPr txBox="1"/>
            <p:nvPr/>
          </p:nvSpPr>
          <p:spPr>
            <a:xfrm>
              <a:off x="6217920" y="2880360"/>
              <a:ext cx="55778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• BCE+AEC256+norm에서 M1 vs M2 유의성 강화: p=0.013 (*)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B223D67-E0FD-2090-0D44-DA7029BF3D42}"/>
                </a:ext>
              </a:extLst>
            </p:cNvPr>
            <p:cNvSpPr txBox="1"/>
            <p:nvPr/>
          </p:nvSpPr>
          <p:spPr>
            <a:xfrm>
              <a:off x="6217920" y="3172968"/>
              <a:ext cx="55778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• → AEC 길이 256pt가 M2의 AEC 학습 신호를 증폭</a:t>
              </a:r>
            </a:p>
          </p:txBody>
        </p:sp>
        <p:sp>
          <p:nvSpPr>
            <p:cNvPr id="21" name="Rectangle 18">
              <a:extLst>
                <a:ext uri="{FF2B5EF4-FFF2-40B4-BE49-F238E27FC236}">
                  <a16:creationId xmlns:a16="http://schemas.microsoft.com/office/drawing/2014/main" id="{9AC29C04-1892-8E00-AC83-8B6351B81461}"/>
                </a:ext>
              </a:extLst>
            </p:cNvPr>
            <p:cNvSpPr/>
            <p:nvPr/>
          </p:nvSpPr>
          <p:spPr>
            <a:xfrm>
              <a:off x="274320" y="3803904"/>
              <a:ext cx="11612880" cy="1289304"/>
            </a:xfrm>
            <a:prstGeom prst="rect">
              <a:avLst/>
            </a:prstGeom>
            <a:solidFill>
              <a:srgbClr val="F0F4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" name="Rectangle 19">
              <a:extLst>
                <a:ext uri="{FF2B5EF4-FFF2-40B4-BE49-F238E27FC236}">
                  <a16:creationId xmlns:a16="http://schemas.microsoft.com/office/drawing/2014/main" id="{0A297DCB-C6AB-98B8-ACDF-043BA66266B3}"/>
                </a:ext>
              </a:extLst>
            </p:cNvPr>
            <p:cNvSpPr/>
            <p:nvPr/>
          </p:nvSpPr>
          <p:spPr>
            <a:xfrm>
              <a:off x="274320" y="3803904"/>
              <a:ext cx="109728" cy="1289304"/>
            </a:xfrm>
            <a:prstGeom prst="rect">
              <a:avLst/>
            </a:prstGeom>
            <a:solidFill>
              <a:srgbClr val="E874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474C6EA-AB48-D87F-81B0-BD7FC3F67842}"/>
                </a:ext>
              </a:extLst>
            </p:cNvPr>
            <p:cNvSpPr txBox="1"/>
            <p:nvPr/>
          </p:nvSpPr>
          <p:spPr>
            <a:xfrm>
              <a:off x="502920" y="3867912"/>
              <a:ext cx="11064240" cy="32918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400" b="1" i="0">
                  <a:solidFill>
                    <a:srgbClr val="E87400"/>
                  </a:solidFill>
                  <a:latin typeface="맑은 고딕"/>
                </a:rPr>
                <a:t>③ M2 vs M3: Scanner 추가효과 미입증 — 20개 조건 중 19개 ns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1A1578F2-4AF2-0015-2C10-91EE39E05137}"/>
                </a:ext>
              </a:extLst>
            </p:cNvPr>
            <p:cNvSpPr txBox="1"/>
            <p:nvPr/>
          </p:nvSpPr>
          <p:spPr>
            <a:xfrm>
              <a:off x="502920" y="4233672"/>
              <a:ext cx="548640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• BCE+AEC128+norm: M2(0.887) vs M3(0.894) p=0.437 ns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F548A0A-AFB2-BF02-F570-711C6C0F3BD6}"/>
                </a:ext>
              </a:extLst>
            </p:cNvPr>
            <p:cNvSpPr txBox="1"/>
            <p:nvPr/>
          </p:nvSpPr>
          <p:spPr>
            <a:xfrm>
              <a:off x="502920" y="4526280"/>
              <a:ext cx="548640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• 단, 방향성은 M3≥M2 일관 → 검출력 부족 가능성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EDD587E-BA29-80F1-9E2A-AAA1546C2B15}"/>
                </a:ext>
              </a:extLst>
            </p:cNvPr>
            <p:cNvSpPr txBox="1"/>
            <p:nvPr/>
          </p:nvSpPr>
          <p:spPr>
            <a:xfrm>
              <a:off x="6217920" y="4233672"/>
              <a:ext cx="55778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• 남성 AUC 0.900 달성은 M3에서만 → 성별별 효과 차별화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9641ED4-0674-6556-FF45-4902F74D4B15}"/>
                </a:ext>
              </a:extLst>
            </p:cNvPr>
            <p:cNvSpPr txBox="1"/>
            <p:nvPr/>
          </p:nvSpPr>
          <p:spPr>
            <a:xfrm>
              <a:off x="6217920" y="4526280"/>
              <a:ext cx="55778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• → 다기관·다scanner 데이터 확보 시 M3 효과 강화 예상</a:t>
              </a:r>
            </a:p>
          </p:txBody>
        </p:sp>
        <p:sp>
          <p:nvSpPr>
            <p:cNvPr id="28" name="Rectangle 25">
              <a:extLst>
                <a:ext uri="{FF2B5EF4-FFF2-40B4-BE49-F238E27FC236}">
                  <a16:creationId xmlns:a16="http://schemas.microsoft.com/office/drawing/2014/main" id="{2BE1D5F2-D026-4924-3709-991C5B38D42F}"/>
                </a:ext>
              </a:extLst>
            </p:cNvPr>
            <p:cNvSpPr/>
            <p:nvPr/>
          </p:nvSpPr>
          <p:spPr>
            <a:xfrm>
              <a:off x="274320" y="5157216"/>
              <a:ext cx="11612880" cy="1289304"/>
            </a:xfrm>
            <a:prstGeom prst="rect">
              <a:avLst/>
            </a:prstGeom>
            <a:solidFill>
              <a:srgbClr val="F0F4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9" name="Rectangle 26">
              <a:extLst>
                <a:ext uri="{FF2B5EF4-FFF2-40B4-BE49-F238E27FC236}">
                  <a16:creationId xmlns:a16="http://schemas.microsoft.com/office/drawing/2014/main" id="{BF621C07-9F34-94F5-0592-7BA37385C1D2}"/>
                </a:ext>
              </a:extLst>
            </p:cNvPr>
            <p:cNvSpPr/>
            <p:nvPr/>
          </p:nvSpPr>
          <p:spPr>
            <a:xfrm>
              <a:off x="274320" y="5157216"/>
              <a:ext cx="109728" cy="1289304"/>
            </a:xfrm>
            <a:prstGeom prst="rect">
              <a:avLst/>
            </a:prstGeom>
            <a:solidFill>
              <a:srgbClr val="1E8B4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6865D004-04BE-6E05-5106-89F6409E6B8A}"/>
                </a:ext>
              </a:extLst>
            </p:cNvPr>
            <p:cNvSpPr txBox="1"/>
            <p:nvPr/>
          </p:nvSpPr>
          <p:spPr>
            <a:xfrm>
              <a:off x="502920" y="5221223"/>
              <a:ext cx="11064240" cy="32918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400" b="1" i="0">
                  <a:solidFill>
                    <a:srgbClr val="1E8B4C"/>
                  </a:solidFill>
                  <a:latin typeface="맑은 고딕"/>
                </a:rPr>
                <a:t>④ Zero-cost AEC로 임상 등급 스크리닝 가능성 확인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4416B3FB-1B6E-86C1-DDE6-C3D5A229981D}"/>
                </a:ext>
              </a:extLst>
            </p:cNvPr>
            <p:cNvSpPr txBox="1"/>
            <p:nvPr/>
          </p:nvSpPr>
          <p:spPr>
            <a:xfrm>
              <a:off x="502920" y="5586983"/>
              <a:ext cx="548640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• 기존 CT 스캔 시 자동 수집 — 추가 비용·검사 없음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20EBE78-0114-207A-CEC5-AB359B6E156D}"/>
                </a:ext>
              </a:extLst>
            </p:cNvPr>
            <p:cNvSpPr txBox="1"/>
            <p:nvPr/>
          </p:nvSpPr>
          <p:spPr>
            <a:xfrm>
              <a:off x="502920" y="5879592"/>
              <a:ext cx="548640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• 남성 AUC 0.900 / 여성 AUC 0.876 → 임상 허용 수준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9EAAFC9-7319-4382-9E4D-953F2129062F}"/>
                </a:ext>
              </a:extLst>
            </p:cNvPr>
            <p:cNvSpPr txBox="1"/>
            <p:nvPr/>
          </p:nvSpPr>
          <p:spPr>
            <a:xfrm>
              <a:off x="6217920" y="5586983"/>
              <a:ext cx="55778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• 건강검진 프로그램 연동 시 고위험군 조기 선별 가능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0C01175-4CF2-38A2-80F7-B99A5F009BC7}"/>
                </a:ext>
              </a:extLst>
            </p:cNvPr>
            <p:cNvSpPr txBox="1"/>
            <p:nvPr/>
          </p:nvSpPr>
          <p:spPr>
            <a:xfrm>
              <a:off x="6217920" y="5879592"/>
              <a:ext cx="55778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l"/>
              <a:r>
                <a:rPr sz="1150" b="0" i="0">
                  <a:solidFill>
                    <a:srgbClr val="1A1A2E"/>
                  </a:solidFill>
                  <a:latin typeface="맑은 고딕"/>
                </a:rPr>
                <a:t>  • PACS-DICOM AEC 자동 추출 파이프라인 구축 필요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009936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E57D8-1443-8C20-6C2E-FCDCF256B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61130-A793-105E-54DE-8EA871F435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 Next Plans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DB8E210-F4D7-35FA-114D-7BCD328B7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27</a:t>
            </a:fld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9828B7B1-1197-E94B-2DA5-D3E1CF7069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ko-KR" altLang="en-US" dirty="0"/>
              <a:t>신촌 데이터 </a:t>
            </a:r>
            <a:r>
              <a:rPr lang="ko-KR" altLang="en-US" dirty="0" err="1"/>
              <a:t>전처리</a:t>
            </a:r>
            <a:r>
              <a:rPr lang="ko-KR" altLang="en-US" dirty="0"/>
              <a:t> </a:t>
            </a:r>
            <a:r>
              <a:rPr lang="en-US" altLang="ko-KR" dirty="0"/>
              <a:t>(Total </a:t>
            </a:r>
            <a:r>
              <a:rPr lang="en-US" altLang="ko-KR" dirty="0" err="1"/>
              <a:t>Segmentator</a:t>
            </a:r>
            <a:r>
              <a:rPr lang="en-US" altLang="ko-KR" dirty="0"/>
              <a:t>, AEC)</a:t>
            </a:r>
          </a:p>
          <a:p>
            <a:r>
              <a:rPr lang="ko-KR" altLang="en-US" dirty="0"/>
              <a:t>다기관 검증 </a:t>
            </a:r>
            <a:r>
              <a:rPr lang="en-US" altLang="ko-KR" dirty="0"/>
              <a:t>(</a:t>
            </a:r>
            <a:r>
              <a:rPr lang="ko-KR" altLang="en-US" dirty="0"/>
              <a:t>신촌 데이터</a:t>
            </a:r>
            <a:r>
              <a:rPr lang="en-US" altLang="ko-KR" dirty="0"/>
              <a:t>) </a:t>
            </a:r>
            <a:r>
              <a:rPr lang="ko-KR" altLang="en-US" dirty="0"/>
              <a:t>→ 일반화 성능</a:t>
            </a:r>
            <a:r>
              <a:rPr lang="en-US" altLang="ko-KR" dirty="0"/>
              <a:t>, DeLong </a:t>
            </a:r>
            <a:r>
              <a:rPr lang="ko-KR" altLang="en-US" dirty="0"/>
              <a:t>유의성 재확인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1963848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F0C8C8-C4B1-4336-9468-E6803A595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1809549"/>
            <a:ext cx="11176000" cy="532342"/>
          </a:xfrm>
        </p:spPr>
        <p:txBody>
          <a:bodyPr>
            <a:noAutofit/>
          </a:bodyPr>
          <a:lstStyle/>
          <a:p>
            <a:r>
              <a:rPr lang="ko-KR" altLang="en-US" sz="4000"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Bold" panose="00000800000000000000" pitchFamily="2" charset="-127"/>
              </a:rPr>
              <a:t>부록 </a:t>
            </a:r>
            <a:r>
              <a:rPr lang="en-US" altLang="ko-KR" sz="4000"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Bold" panose="00000800000000000000" pitchFamily="2" charset="-127"/>
              </a:rPr>
              <a:t>– </a:t>
            </a:r>
            <a:r>
              <a:rPr lang="ko-KR" altLang="en-US" sz="4000"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Bold" panose="00000800000000000000" pitchFamily="2" charset="-127"/>
              </a:rPr>
              <a:t>조건별 상세 결과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7768F2-76AD-4898-ABAE-26C158880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28</a:t>
            </a:fld>
            <a:endParaRPr lang="ko-KR" altLang="en-US" dirty="0"/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8A570D2D-D7F2-E2F5-DA27-A7E59611730F}"/>
              </a:ext>
            </a:extLst>
          </p:cNvPr>
          <p:cNvGrpSpPr/>
          <p:nvPr/>
        </p:nvGrpSpPr>
        <p:grpSpPr>
          <a:xfrm>
            <a:off x="915924" y="3100365"/>
            <a:ext cx="10360152" cy="2381154"/>
            <a:chOff x="915988" y="3825552"/>
            <a:chExt cx="10360152" cy="2381154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FAFB6439-1214-C2BD-B2CC-DE4A8CB57D96}"/>
                </a:ext>
              </a:extLst>
            </p:cNvPr>
            <p:cNvSpPr txBox="1"/>
            <p:nvPr/>
          </p:nvSpPr>
          <p:spPr>
            <a:xfrm>
              <a:off x="2671088" y="3825552"/>
              <a:ext cx="6849952" cy="353943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700" dirty="0">
                  <a:latin typeface="맑은 고딕"/>
                </a:rPr>
                <a:t>Loss × AEC </a:t>
              </a:r>
              <a:r>
                <a:rPr sz="1700" dirty="0" err="1">
                  <a:latin typeface="맑은 고딕"/>
                </a:rPr>
                <a:t>길이</a:t>
              </a:r>
              <a:r>
                <a:rPr sz="1700" dirty="0">
                  <a:latin typeface="맑은 고딕"/>
                </a:rPr>
                <a:t> × </a:t>
              </a:r>
              <a:r>
                <a:rPr sz="1700" dirty="0" err="1">
                  <a:latin typeface="맑은 고딕"/>
                </a:rPr>
                <a:t>전처리</a:t>
              </a:r>
              <a:r>
                <a:rPr sz="1700" dirty="0">
                  <a:latin typeface="맑은 고딕"/>
                </a:rPr>
                <a:t>  전 </a:t>
              </a:r>
              <a:r>
                <a:rPr sz="1700" dirty="0" err="1">
                  <a:latin typeface="맑은 고딕"/>
                </a:rPr>
                <a:t>조건</a:t>
              </a:r>
              <a:r>
                <a:rPr sz="1700" dirty="0">
                  <a:latin typeface="맑은 고딕"/>
                </a:rPr>
                <a:t>  |  M2 · M2_2 · M3 </a:t>
              </a:r>
              <a:r>
                <a:rPr sz="1700" dirty="0" err="1">
                  <a:latin typeface="맑은 고딕"/>
                </a:rPr>
                <a:t>개별</a:t>
              </a:r>
              <a:r>
                <a:rPr sz="1700" dirty="0">
                  <a:latin typeface="맑은 고딕"/>
                </a:rPr>
                <a:t> </a:t>
              </a:r>
              <a:r>
                <a:rPr sz="1700" dirty="0" err="1">
                  <a:latin typeface="맑은 고딕"/>
                </a:rPr>
                <a:t>시각화</a:t>
              </a:r>
              <a:endParaRPr sz="1700" dirty="0">
                <a:latin typeface="맑은 고딕"/>
              </a:endParaRPr>
            </a:p>
          </p:txBody>
        </p:sp>
        <p:sp>
          <p:nvSpPr>
            <p:cNvPr id="5" name="Rectangle 6">
              <a:extLst>
                <a:ext uri="{FF2B5EF4-FFF2-40B4-BE49-F238E27FC236}">
                  <a16:creationId xmlns:a16="http://schemas.microsoft.com/office/drawing/2014/main" id="{6CC32F83-5318-E873-37B1-BB0F6314972D}"/>
                </a:ext>
              </a:extLst>
            </p:cNvPr>
            <p:cNvSpPr/>
            <p:nvPr/>
          </p:nvSpPr>
          <p:spPr>
            <a:xfrm>
              <a:off x="2478548" y="4212835"/>
              <a:ext cx="7235032" cy="45719"/>
            </a:xfrm>
            <a:prstGeom prst="rect">
              <a:avLst/>
            </a:prstGeom>
            <a:solidFill>
              <a:srgbClr val="0F9B8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FF587866-2208-CB36-76D7-5288983A6EA3}"/>
                </a:ext>
              </a:extLst>
            </p:cNvPr>
            <p:cNvGrpSpPr/>
            <p:nvPr/>
          </p:nvGrpSpPr>
          <p:grpSpPr>
            <a:xfrm>
              <a:off x="915988" y="4338610"/>
              <a:ext cx="10360152" cy="1868096"/>
              <a:chOff x="915988" y="4030434"/>
              <a:chExt cx="10360152" cy="2176272"/>
            </a:xfrm>
          </p:grpSpPr>
          <p:sp>
            <p:nvSpPr>
              <p:cNvPr id="6" name="Rectangle 7">
                <a:extLst>
                  <a:ext uri="{FF2B5EF4-FFF2-40B4-BE49-F238E27FC236}">
                    <a16:creationId xmlns:a16="http://schemas.microsoft.com/office/drawing/2014/main" id="{CE257A1C-6A1C-C356-3E74-998C42354EF4}"/>
                  </a:ext>
                </a:extLst>
              </p:cNvPr>
              <p:cNvSpPr/>
              <p:nvPr/>
            </p:nvSpPr>
            <p:spPr>
              <a:xfrm>
                <a:off x="915988" y="4030434"/>
                <a:ext cx="10360152" cy="475488"/>
              </a:xfrm>
              <a:prstGeom prst="rect">
                <a:avLst/>
              </a:prstGeom>
              <a:solidFill>
                <a:srgbClr val="0F6BBF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F13F7B2-2F4D-B257-8873-A795A09AE8D2}"/>
                  </a:ext>
                </a:extLst>
              </p:cNvPr>
              <p:cNvSpPr txBox="1"/>
              <p:nvPr/>
            </p:nvSpPr>
            <p:spPr>
              <a:xfrm>
                <a:off x="961708" y="4048723"/>
                <a:ext cx="7175298" cy="29238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l"/>
                <a:r>
                  <a:rPr sz="1300" b="1">
                    <a:solidFill>
                      <a:srgbClr val="FFFFFF"/>
                    </a:solidFill>
                    <a:latin typeface="맑은 고딕"/>
                  </a:rPr>
                  <a:t>  BCEWithLogitsLoss + AEC 128pt   →  norm / crop60 / crop80 / len128 / excl_extreme</a:t>
                </a:r>
              </a:p>
            </p:txBody>
          </p:sp>
          <p:sp>
            <p:nvSpPr>
              <p:cNvPr id="8" name="Rectangle 9">
                <a:extLst>
                  <a:ext uri="{FF2B5EF4-FFF2-40B4-BE49-F238E27FC236}">
                    <a16:creationId xmlns:a16="http://schemas.microsoft.com/office/drawing/2014/main" id="{02EB1431-CBB0-B36C-3CA9-3C95636FF740}"/>
                  </a:ext>
                </a:extLst>
              </p:cNvPr>
              <p:cNvSpPr/>
              <p:nvPr/>
            </p:nvSpPr>
            <p:spPr>
              <a:xfrm>
                <a:off x="915988" y="4597363"/>
                <a:ext cx="10360152" cy="475488"/>
              </a:xfrm>
              <a:prstGeom prst="rect">
                <a:avLst/>
              </a:prstGeom>
              <a:solidFill>
                <a:srgbClr val="0F9B8A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1595E67-BB63-0F4E-9DD7-CA61D5B4CC7F}"/>
                  </a:ext>
                </a:extLst>
              </p:cNvPr>
              <p:cNvSpPr txBox="1"/>
              <p:nvPr/>
            </p:nvSpPr>
            <p:spPr>
              <a:xfrm>
                <a:off x="961708" y="4615651"/>
                <a:ext cx="7895046" cy="29238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l"/>
                <a:r>
                  <a:rPr sz="1300" b="1">
                    <a:solidFill>
                      <a:srgbClr val="FFFFFF"/>
                    </a:solidFill>
                    <a:latin typeface="맑은 고딕"/>
                  </a:rPr>
                  <a:t>  BCEWithLogitsLoss + AEC 256pt   →  norm / crop60 / crop80 / len128 / len256 / excl_extreme</a:t>
                </a:r>
              </a:p>
            </p:txBody>
          </p:sp>
          <p:sp>
            <p:nvSpPr>
              <p:cNvPr id="10" name="Rectangle 11">
                <a:extLst>
                  <a:ext uri="{FF2B5EF4-FFF2-40B4-BE49-F238E27FC236}">
                    <a16:creationId xmlns:a16="http://schemas.microsoft.com/office/drawing/2014/main" id="{BC9D6392-8D35-0CD8-74B5-153AAC59BB4E}"/>
                  </a:ext>
                </a:extLst>
              </p:cNvPr>
              <p:cNvSpPr/>
              <p:nvPr/>
            </p:nvSpPr>
            <p:spPr>
              <a:xfrm>
                <a:off x="915988" y="5164291"/>
                <a:ext cx="10360152" cy="475488"/>
              </a:xfrm>
              <a:prstGeom prst="rect">
                <a:avLst/>
              </a:prstGeom>
              <a:solidFill>
                <a:srgbClr val="E87400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D3DCB47-D498-39D8-6F9A-F7C652548755}"/>
                  </a:ext>
                </a:extLst>
              </p:cNvPr>
              <p:cNvSpPr txBox="1"/>
              <p:nvPr/>
            </p:nvSpPr>
            <p:spPr>
              <a:xfrm>
                <a:off x="961709" y="5182579"/>
                <a:ext cx="6420091" cy="29238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l"/>
                <a:r>
                  <a:rPr sz="1300" b="1">
                    <a:solidFill>
                      <a:srgbClr val="FFFFFF"/>
                    </a:solidFill>
                    <a:latin typeface="맑은 고딕"/>
                  </a:rPr>
                  <a:t>  FocalLoss + AEC 128pt   →  norm / crop60 / crop80 / len128 / excl_extreme</a:t>
                </a:r>
              </a:p>
            </p:txBody>
          </p:sp>
          <p:sp>
            <p:nvSpPr>
              <p:cNvPr id="12" name="Rectangle 13">
                <a:extLst>
                  <a:ext uri="{FF2B5EF4-FFF2-40B4-BE49-F238E27FC236}">
                    <a16:creationId xmlns:a16="http://schemas.microsoft.com/office/drawing/2014/main" id="{A659B4C6-7643-D033-9CEB-A4960FEE6DBB}"/>
                  </a:ext>
                </a:extLst>
              </p:cNvPr>
              <p:cNvSpPr/>
              <p:nvPr/>
            </p:nvSpPr>
            <p:spPr>
              <a:xfrm>
                <a:off x="915988" y="5731218"/>
                <a:ext cx="10360152" cy="475488"/>
              </a:xfrm>
              <a:prstGeom prst="rect">
                <a:avLst/>
              </a:prstGeom>
              <a:solidFill>
                <a:srgbClr val="1E8B4C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8A19849-A693-6A80-C626-11594789CFAF}"/>
                  </a:ext>
                </a:extLst>
              </p:cNvPr>
              <p:cNvSpPr txBox="1"/>
              <p:nvPr/>
            </p:nvSpPr>
            <p:spPr>
              <a:xfrm>
                <a:off x="961709" y="5749507"/>
                <a:ext cx="6420091" cy="29238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l"/>
                <a:r>
                  <a:rPr sz="1300" b="1">
                    <a:solidFill>
                      <a:srgbClr val="FFFFFF"/>
                    </a:solidFill>
                    <a:latin typeface="맑은 고딕"/>
                  </a:rPr>
                  <a:t>  FocalLoss + AEC 256pt   →  norm / crop60 / crop80 / len256 / excl_extreme</a:t>
                </a:r>
              </a:p>
            </p:txBody>
          </p:sp>
        </p:grp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BF48E586-3486-5CCA-EB64-68672E55A2E5}"/>
              </a:ext>
            </a:extLst>
          </p:cNvPr>
          <p:cNvSpPr txBox="1"/>
          <p:nvPr/>
        </p:nvSpPr>
        <p:spPr>
          <a:xfrm>
            <a:off x="2548459" y="5497218"/>
            <a:ext cx="709521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dirty="0">
                <a:solidFill>
                  <a:srgbClr val="9EA3AB"/>
                </a:solidFill>
                <a:latin typeface="맑은 고딕"/>
              </a:rPr>
              <a:t>각 </a:t>
            </a:r>
            <a:r>
              <a:rPr sz="1100" dirty="0" err="1">
                <a:solidFill>
                  <a:srgbClr val="9EA3AB"/>
                </a:solidFill>
                <a:latin typeface="맑은 고딕"/>
              </a:rPr>
              <a:t>슬라이드</a:t>
            </a:r>
            <a:r>
              <a:rPr sz="1100" dirty="0">
                <a:solidFill>
                  <a:srgbClr val="9EA3AB"/>
                </a:solidFill>
                <a:latin typeface="맑은 고딕"/>
              </a:rPr>
              <a:t>: </a:t>
            </a:r>
            <a:r>
              <a:rPr sz="1100" dirty="0" err="1">
                <a:solidFill>
                  <a:srgbClr val="9EA3AB"/>
                </a:solidFill>
                <a:latin typeface="맑은 고딕"/>
              </a:rPr>
              <a:t>전모델</a:t>
            </a:r>
            <a:r>
              <a:rPr sz="1100" dirty="0">
                <a:solidFill>
                  <a:srgbClr val="9EA3AB"/>
                </a:solidFill>
                <a:latin typeface="맑은 고딕"/>
              </a:rPr>
              <a:t> ROC | M2 Calibration | M3 Calibration  ·  M2 Confusion | M3 Confusion | M2 Attention</a:t>
            </a:r>
          </a:p>
        </p:txBody>
      </p:sp>
    </p:spTree>
    <p:extLst>
      <p:ext uri="{BB962C8B-B14F-4D97-AF65-F5344CB8AC3E}">
        <p14:creationId xmlns:p14="http://schemas.microsoft.com/office/powerpoint/2010/main" val="9637765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0"/>
            <a:ext cx="320040" cy="960120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9" y="73153"/>
            <a:ext cx="6061339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BCEWithLogitsLoss  +  AEC 128pt  +  norm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3068" y="566928"/>
            <a:ext cx="545938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7" name="Rectangle 6"/>
          <p:cNvSpPr/>
          <p:nvPr/>
        </p:nvSpPr>
        <p:spPr>
          <a:xfrm>
            <a:off x="230188" y="1005840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9506" y="1024128"/>
            <a:ext cx="252184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80396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87003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21460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828067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n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188" y="1325880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0396" y="1325880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1460" y="1325880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30188" y="4005072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39148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80396" y="4005072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89356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1460" y="4005072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64698" y="4023360"/>
            <a:ext cx="1754005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188" y="4325112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80396" y="4325112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1460" y="4325112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0"/>
            <a:ext cx="320040" cy="960120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8" y="73153"/>
            <a:ext cx="6267678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BCEWithLogitsLoss  +  AEC 128pt  +  crop60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3068" y="566928"/>
            <a:ext cx="545938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7" name="Rectangle 6"/>
          <p:cNvSpPr/>
          <p:nvPr/>
        </p:nvSpPr>
        <p:spPr>
          <a:xfrm>
            <a:off x="230188" y="1005840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9506" y="1024128"/>
            <a:ext cx="252184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80396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87003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21460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828067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crop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188" y="1325880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0396" y="1325880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1460" y="1325880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30188" y="4005072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39148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80396" y="4005072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89356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1460" y="4005072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64698" y="4023360"/>
            <a:ext cx="1754005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188" y="4325112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80396" y="4325112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1460" y="4325112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0"/>
            <a:ext cx="320040" cy="960120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8" y="73153"/>
            <a:ext cx="6267678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BCEWithLogitsLoss  +  AEC 128pt  +  crop80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3068" y="566928"/>
            <a:ext cx="545938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7" name="Rectangle 6"/>
          <p:cNvSpPr/>
          <p:nvPr/>
        </p:nvSpPr>
        <p:spPr>
          <a:xfrm>
            <a:off x="230188" y="1005840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9506" y="1024128"/>
            <a:ext cx="252184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80396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87003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21460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828067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crop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188" y="1325880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0396" y="1325880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1460" y="1325880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30188" y="4005072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39148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80396" y="4005072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89356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1460" y="4005072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64698" y="4023360"/>
            <a:ext cx="1754005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188" y="4325112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80396" y="4325112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1460" y="4325112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0"/>
            <a:ext cx="320040" cy="960120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8" y="73153"/>
            <a:ext cx="6236964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BCEWithLogitsLoss  +  AEC 128pt  +  len128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3068" y="566928"/>
            <a:ext cx="545938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7" name="Rectangle 6"/>
          <p:cNvSpPr/>
          <p:nvPr/>
        </p:nvSpPr>
        <p:spPr>
          <a:xfrm>
            <a:off x="230188" y="1005840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9506" y="1024128"/>
            <a:ext cx="252184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80396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87003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21460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828067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len1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188" y="1325880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0396" y="1325880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1460" y="1325880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30188" y="4005072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39148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80396" y="4005072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89356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1460" y="4005072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64698" y="4023360"/>
            <a:ext cx="1754005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188" y="4325112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80396" y="4325112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1460" y="4325112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0"/>
            <a:ext cx="320040" cy="960120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9" y="73153"/>
            <a:ext cx="7078669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BCEWithLogitsLoss  +  AEC 128pt  +  excl_extreme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3068" y="566928"/>
            <a:ext cx="545938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7" name="Rectangle 6"/>
          <p:cNvSpPr/>
          <p:nvPr/>
        </p:nvSpPr>
        <p:spPr>
          <a:xfrm>
            <a:off x="230188" y="1005840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9506" y="1024128"/>
            <a:ext cx="252184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80396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87003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21460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828067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excl_extre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188" y="1325880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0396" y="1325880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1460" y="1325880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30188" y="4005072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39148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80396" y="4005072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89356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1460" y="4005072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64698" y="4023360"/>
            <a:ext cx="1754005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188" y="4325112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80396" y="4325112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1460" y="4325112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0"/>
            <a:ext cx="320040" cy="960120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9" y="73153"/>
            <a:ext cx="6061339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BCEWithLogitsLoss  +  AEC 256pt  +  norm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3068" y="566928"/>
            <a:ext cx="545938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7" name="Rectangle 6"/>
          <p:cNvSpPr/>
          <p:nvPr/>
        </p:nvSpPr>
        <p:spPr>
          <a:xfrm>
            <a:off x="230188" y="1005840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9506" y="1024128"/>
            <a:ext cx="252184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80396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87003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21460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828067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n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188" y="1325880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0396" y="1325880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1460" y="1325880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30188" y="4005072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39148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80396" y="4005072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89356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1460" y="4005072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64698" y="4023360"/>
            <a:ext cx="1754005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188" y="4325112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80396" y="4325112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1460" y="4325112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0"/>
            <a:ext cx="320040" cy="960120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8" y="73153"/>
            <a:ext cx="6267678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BCEWithLogitsLoss  +  AEC 256pt  +  crop60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3068" y="566928"/>
            <a:ext cx="545938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7" name="Rectangle 6"/>
          <p:cNvSpPr/>
          <p:nvPr/>
        </p:nvSpPr>
        <p:spPr>
          <a:xfrm>
            <a:off x="230188" y="1005840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9506" y="1024128"/>
            <a:ext cx="252184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80396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87003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21460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828067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crop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188" y="1325880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0396" y="1325880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1460" y="1325880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30188" y="4005072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39148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80396" y="4005072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89356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1460" y="4005072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64698" y="4023360"/>
            <a:ext cx="1754005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188" y="4325112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80396" y="4325112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1460" y="4325112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0"/>
            <a:ext cx="320040" cy="960120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8" y="73153"/>
            <a:ext cx="6267678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BCEWithLogitsLoss  +  AEC 256pt  +  crop80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3068" y="566928"/>
            <a:ext cx="545938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7" name="Rectangle 6"/>
          <p:cNvSpPr/>
          <p:nvPr/>
        </p:nvSpPr>
        <p:spPr>
          <a:xfrm>
            <a:off x="230188" y="1005840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9506" y="1024128"/>
            <a:ext cx="252184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80396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87003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21460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828067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crop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188" y="1325880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0396" y="1325880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1460" y="1325880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30188" y="4005072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39148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80396" y="4005072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89356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1460" y="4005072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64698" y="4023360"/>
            <a:ext cx="1754005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188" y="4325112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80396" y="4325112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1460" y="4325112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0"/>
            <a:ext cx="320040" cy="960120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8" y="73153"/>
            <a:ext cx="6236964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BCEWithLogitsLoss  +  AEC 256pt  +  len256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3068" y="566928"/>
            <a:ext cx="545938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7" name="Rectangle 6"/>
          <p:cNvSpPr/>
          <p:nvPr/>
        </p:nvSpPr>
        <p:spPr>
          <a:xfrm>
            <a:off x="230188" y="1005840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9506" y="1024128"/>
            <a:ext cx="252184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80396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87003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21460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828067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len2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188" y="1325880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0396" y="1325880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1460" y="1325880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30188" y="4005072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39148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80396" y="4005072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89356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1460" y="4005072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64698" y="4023360"/>
            <a:ext cx="1754005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188" y="4325112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80396" y="4325112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1460" y="4325112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0"/>
            <a:ext cx="320040" cy="960120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9" y="73153"/>
            <a:ext cx="7078669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BCEWithLogitsLoss  +  AEC 256pt  +  excl_extreme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3068" y="566928"/>
            <a:ext cx="545938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7" name="Rectangle 6"/>
          <p:cNvSpPr/>
          <p:nvPr/>
        </p:nvSpPr>
        <p:spPr>
          <a:xfrm>
            <a:off x="230188" y="1005840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9506" y="1024128"/>
            <a:ext cx="252184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80396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87003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21460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828067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excl_extre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188" y="1325880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0396" y="1325880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1460" y="1325880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30188" y="4005072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39148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80396" y="4005072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89356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1460" y="4005072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64698" y="4023360"/>
            <a:ext cx="1754005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188" y="4325112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80396" y="4325112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1460" y="4325112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0"/>
            <a:ext cx="320040" cy="960120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9" y="73153"/>
            <a:ext cx="4781181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FocalLoss  +  AEC 128pt  +  norm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3068" y="566928"/>
            <a:ext cx="545938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7" name="Rectangle 6"/>
          <p:cNvSpPr/>
          <p:nvPr/>
        </p:nvSpPr>
        <p:spPr>
          <a:xfrm>
            <a:off x="230188" y="1005840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9506" y="1024128"/>
            <a:ext cx="252184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80396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87003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21460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828067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n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188" y="1325880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0396" y="1325880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1460" y="1325880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30188" y="4005072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39148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80396" y="4005072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89356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1460" y="4005072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64698" y="4023360"/>
            <a:ext cx="1754005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188" y="4325112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80396" y="4325112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1460" y="4325112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0"/>
            <a:ext cx="320040" cy="960120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9" y="73153"/>
            <a:ext cx="4987519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FocalLoss  +  AEC 128pt  +  crop60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3068" y="566928"/>
            <a:ext cx="545938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7" name="Rectangle 6"/>
          <p:cNvSpPr/>
          <p:nvPr/>
        </p:nvSpPr>
        <p:spPr>
          <a:xfrm>
            <a:off x="230188" y="1005840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9506" y="1024128"/>
            <a:ext cx="252184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80396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87003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21460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828067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crop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188" y="1325880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0396" y="1325880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1460" y="1325880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30188" y="4005072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39148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80396" y="4005072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89356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1460" y="4005072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64698" y="4023360"/>
            <a:ext cx="1754005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188" y="4325112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80396" y="4325112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1460" y="4325112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0"/>
            <a:ext cx="320040" cy="960120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9" y="73153"/>
            <a:ext cx="4987519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FocalLoss  +  AEC 128pt  +  crop80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3068" y="566928"/>
            <a:ext cx="545938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7" name="Rectangle 6"/>
          <p:cNvSpPr/>
          <p:nvPr/>
        </p:nvSpPr>
        <p:spPr>
          <a:xfrm>
            <a:off x="230188" y="1005840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9506" y="1024128"/>
            <a:ext cx="252184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80396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87003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21460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828067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crop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188" y="1325880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0396" y="1325880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1460" y="1325880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30188" y="4005072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39148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80396" y="4005072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89356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1460" y="4005072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64698" y="4023360"/>
            <a:ext cx="1754005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188" y="4325112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80396" y="4325112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1460" y="4325112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0"/>
            <a:ext cx="320040" cy="960120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8" y="73153"/>
            <a:ext cx="4956806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FocalLoss  +  AEC 128pt  +  len128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3068" y="566928"/>
            <a:ext cx="545938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7" name="Rectangle 6"/>
          <p:cNvSpPr/>
          <p:nvPr/>
        </p:nvSpPr>
        <p:spPr>
          <a:xfrm>
            <a:off x="230188" y="1005840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9506" y="1024128"/>
            <a:ext cx="252184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80396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87003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21460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828067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len1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188" y="1325880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0396" y="1325880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1460" y="1325880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30188" y="4005072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39148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80396" y="4005072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89356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1460" y="4005072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64698" y="4023360"/>
            <a:ext cx="1754005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188" y="4325112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80396" y="4325112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1460" y="4325112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0"/>
            <a:ext cx="320040" cy="960120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8" y="73153"/>
            <a:ext cx="5798510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FocalLoss  +  AEC 128pt  +  excl_extreme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3068" y="566928"/>
            <a:ext cx="545938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7" name="Rectangle 6"/>
          <p:cNvSpPr/>
          <p:nvPr/>
        </p:nvSpPr>
        <p:spPr>
          <a:xfrm>
            <a:off x="230188" y="1005840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9506" y="1024128"/>
            <a:ext cx="252184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80396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87003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21460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828067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excl_extre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188" y="1325880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0396" y="1325880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1460" y="1325880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30188" y="4005072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39148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80396" y="4005072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89356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1460" y="4005072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64698" y="4023360"/>
            <a:ext cx="1754005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188" y="4325112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80396" y="4325112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1460" y="4325112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0"/>
            <a:ext cx="320040" cy="96012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9" y="73153"/>
            <a:ext cx="4781181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FocalLoss  +  AEC 256pt  +  norm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3068" y="566928"/>
            <a:ext cx="545938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7" name="Rectangle 6"/>
          <p:cNvSpPr/>
          <p:nvPr/>
        </p:nvSpPr>
        <p:spPr>
          <a:xfrm>
            <a:off x="230188" y="1005840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9506" y="1024128"/>
            <a:ext cx="252184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80396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87003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21460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828067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n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188" y="1325880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0396" y="1325880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1460" y="1325880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30188" y="4005072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39148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80396" y="4005072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89356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1460" y="4005072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64698" y="4023360"/>
            <a:ext cx="1754005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188" y="4325112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80396" y="4325112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1460" y="4325112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0"/>
            <a:ext cx="320040" cy="96012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9" y="73153"/>
            <a:ext cx="4987519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FocalLoss  +  AEC 256pt  +  crop60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3068" y="566928"/>
            <a:ext cx="545938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7" name="Rectangle 6"/>
          <p:cNvSpPr/>
          <p:nvPr/>
        </p:nvSpPr>
        <p:spPr>
          <a:xfrm>
            <a:off x="230188" y="1005840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9506" y="1024128"/>
            <a:ext cx="252184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80396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87003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21460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828067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crop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188" y="1325880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0396" y="1325880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1460" y="1325880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30188" y="4005072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39148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80396" y="4005072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89356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1460" y="4005072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64698" y="4023360"/>
            <a:ext cx="1754005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188" y="4325112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80396" y="4325112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1460" y="4325112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0"/>
            <a:ext cx="320040" cy="96012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9" y="73153"/>
            <a:ext cx="4987519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FocalLoss  +  AEC 256pt  +  crop80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3068" y="566928"/>
            <a:ext cx="545938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7" name="Rectangle 6"/>
          <p:cNvSpPr/>
          <p:nvPr/>
        </p:nvSpPr>
        <p:spPr>
          <a:xfrm>
            <a:off x="230188" y="1005840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9506" y="1024128"/>
            <a:ext cx="252184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80396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87003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21460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828067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crop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188" y="1325880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0396" y="1325880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1460" y="1325880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30188" y="4005072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39148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80396" y="4005072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89356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1460" y="4005072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64698" y="4023360"/>
            <a:ext cx="1754005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188" y="4325112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80396" y="4325112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1460" y="4325112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0"/>
            <a:ext cx="320040" cy="96012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8" y="73153"/>
            <a:ext cx="4956806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FocalLoss  +  AEC 256pt  +  len256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3068" y="566928"/>
            <a:ext cx="545938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7" name="Rectangle 6"/>
          <p:cNvSpPr/>
          <p:nvPr/>
        </p:nvSpPr>
        <p:spPr>
          <a:xfrm>
            <a:off x="230188" y="1005840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9506" y="1024128"/>
            <a:ext cx="252184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80396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87003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21460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828067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len2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188" y="1325880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0396" y="1325880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1460" y="1325880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30188" y="4005072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39148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80396" y="4005072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89356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1460" y="4005072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64698" y="4023360"/>
            <a:ext cx="1754005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188" y="4325112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80396" y="4325112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1460" y="4325112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0"/>
            <a:ext cx="320040" cy="96012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8" y="73153"/>
            <a:ext cx="5798510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</a:rPr>
              <a:t>FocalLoss  +  AEC 256pt  +  excl_extreme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3068" y="566928"/>
            <a:ext cx="545938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9EA3AB"/>
                </a:solidFill>
                <a:latin typeface="맑은 고딕"/>
              </a:rPr>
              <a:t>M2 (Matched) · M3 (Clinic+Scanner+AEC)  |  Brier → Calibration 포함</a:t>
            </a:r>
          </a:p>
        </p:txBody>
      </p:sp>
      <p:sp>
        <p:nvSpPr>
          <p:cNvPr id="7" name="Rectangle 6"/>
          <p:cNvSpPr/>
          <p:nvPr/>
        </p:nvSpPr>
        <p:spPr>
          <a:xfrm>
            <a:off x="230188" y="1005840"/>
            <a:ext cx="38404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9506" y="1024128"/>
            <a:ext cx="2521844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전모델 ROC 비교  (M1·M2·M2₂·M3)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80396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87003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Calibration  ※ Brier 보정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21460" y="1005840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828067" y="1024128"/>
            <a:ext cx="242726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Calibration  ※ Brier 보정 확인</a:t>
            </a:r>
          </a:p>
        </p:txBody>
      </p:sp>
      <p:pic>
        <p:nvPicPr>
          <p:cNvPr id="13" name="Picture 12" descr="roc_all_models_excl_extre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188" y="1325880"/>
            <a:ext cx="3840480" cy="2606040"/>
          </a:xfrm>
          <a:prstGeom prst="rect">
            <a:avLst/>
          </a:prstGeom>
        </p:spPr>
      </p:pic>
      <p:pic>
        <p:nvPicPr>
          <p:cNvPr id="14" name="Picture 13" descr="calib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0396" y="1325880"/>
            <a:ext cx="3840480" cy="2606040"/>
          </a:xfrm>
          <a:prstGeom prst="rect">
            <a:avLst/>
          </a:prstGeom>
        </p:spPr>
      </p:pic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1460" y="1325880"/>
            <a:ext cx="3840480" cy="26060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30188" y="4005072"/>
            <a:ext cx="3840480" cy="301752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39148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Confusion Matrix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80396" y="4005072"/>
            <a:ext cx="3840480" cy="301752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289356" y="4023360"/>
            <a:ext cx="162256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M3 Confusion Matrix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1460" y="4005072"/>
            <a:ext cx="3840480" cy="301752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64698" y="4023360"/>
            <a:ext cx="1754005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M2 Attention Heatmap</a:t>
            </a:r>
          </a:p>
        </p:txBody>
      </p:sp>
      <p:pic>
        <p:nvPicPr>
          <p:cNvPr id="22" name="Picture 21" descr="confusion_matric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188" y="4325112"/>
            <a:ext cx="3840480" cy="2395728"/>
          </a:xfrm>
          <a:prstGeom prst="rect">
            <a:avLst/>
          </a:prstGeom>
        </p:spPr>
      </p:pic>
      <p:pic>
        <p:nvPicPr>
          <p:cNvPr id="23" name="Picture 22" descr="confusion_matr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80396" y="4325112"/>
            <a:ext cx="3840480" cy="2395728"/>
          </a:xfrm>
          <a:prstGeom prst="rect">
            <a:avLst/>
          </a:prstGeom>
        </p:spPr>
      </p:pic>
      <p:pic>
        <p:nvPicPr>
          <p:cNvPr id="24" name="Picture 23" descr="attention_heat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1460" y="4325112"/>
            <a:ext cx="3840480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FF746-3CA7-7212-DBC0-FC6D3FB66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E17245-F7E6-B644-A1F3-60E65DBA7C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1809549"/>
            <a:ext cx="11176000" cy="532342"/>
          </a:xfrm>
        </p:spPr>
        <p:txBody>
          <a:bodyPr>
            <a:noAutofit/>
          </a:bodyPr>
          <a:lstStyle/>
          <a:p>
            <a:r>
              <a:rPr lang="ko-KR" altLang="en-US" sz="4000"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Bold" panose="00000800000000000000" pitchFamily="2" charset="-127"/>
              </a:rPr>
              <a:t>부록 </a:t>
            </a:r>
            <a:r>
              <a:rPr lang="en-US" altLang="ko-KR" sz="4000"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Bold" panose="00000800000000000000" pitchFamily="2" charset="-127"/>
              </a:rPr>
              <a:t>2 </a:t>
            </a:r>
            <a:r>
              <a:rPr lang="ko-KR" altLang="en-US" sz="4000"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Bold" panose="00000800000000000000" pitchFamily="2" charset="-127"/>
              </a:rPr>
              <a:t> </a:t>
            </a:r>
            <a:r>
              <a:rPr lang="en-US" altLang="ko-KR" sz="4000" dirty="0">
                <a:latin typeface="KoPub돋움체 Bold" panose="00000800000000000000" pitchFamily="2" charset="-127"/>
                <a:ea typeface="KoPub돋움체 Bold" panose="00000800000000000000" pitchFamily="2" charset="-127"/>
                <a:cs typeface="KoPubWorld돋움체 Bold" panose="00000800000000000000" pitchFamily="2" charset="-127"/>
              </a:rPr>
              <a:t>– </a:t>
            </a:r>
            <a:r>
              <a:rPr lang="en-US" altLang="ko-KR" sz="4000" dirty="0" err="1">
                <a:latin typeface="맑은 고딕"/>
              </a:rPr>
              <a:t>OK+Missing</a:t>
            </a:r>
            <a:r>
              <a:rPr lang="ko-KR" altLang="en-US" sz="4000" dirty="0">
                <a:latin typeface="맑은 고딕"/>
              </a:rPr>
              <a:t> 확장 데이터셋</a:t>
            </a:r>
            <a:endParaRPr lang="ko-KR" altLang="en-US" sz="4000" dirty="0">
              <a:latin typeface="KoPub돋움체 Bold" panose="00000800000000000000" pitchFamily="2" charset="-127"/>
              <a:ea typeface="KoPub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961E858-F956-C1B1-3E0B-3A03AB5BC1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49</a:t>
            </a:fld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33DD1A-A7ED-C4F5-DD90-E0EF57E51A80}"/>
              </a:ext>
            </a:extLst>
          </p:cNvPr>
          <p:cNvSpPr txBox="1"/>
          <p:nvPr/>
        </p:nvSpPr>
        <p:spPr>
          <a:xfrm>
            <a:off x="2872201" y="2880361"/>
            <a:ext cx="6447727" cy="3539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700">
                <a:latin typeface="맑은 고딕"/>
              </a:rPr>
              <a:t>누락 데이터 포함 확장 코호트  |  n=1,162 (Train 929 / Test 233)</a:t>
            </a:r>
          </a:p>
        </p:txBody>
      </p:sp>
      <p:sp>
        <p:nvSpPr>
          <p:cNvPr id="18" name="Rectangle 6">
            <a:extLst>
              <a:ext uri="{FF2B5EF4-FFF2-40B4-BE49-F238E27FC236}">
                <a16:creationId xmlns:a16="http://schemas.microsoft.com/office/drawing/2014/main" id="{33C0F9E6-3D17-CB5E-39FF-F59BF385F407}"/>
              </a:ext>
            </a:extLst>
          </p:cNvPr>
          <p:cNvSpPr/>
          <p:nvPr/>
        </p:nvSpPr>
        <p:spPr>
          <a:xfrm>
            <a:off x="3201988" y="3520440"/>
            <a:ext cx="5788152" cy="36576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7">
            <a:extLst>
              <a:ext uri="{FF2B5EF4-FFF2-40B4-BE49-F238E27FC236}">
                <a16:creationId xmlns:a16="http://schemas.microsoft.com/office/drawing/2014/main" id="{9AE57140-237B-5808-E988-2D2BAC99020F}"/>
              </a:ext>
            </a:extLst>
          </p:cNvPr>
          <p:cNvSpPr/>
          <p:nvPr/>
        </p:nvSpPr>
        <p:spPr>
          <a:xfrm>
            <a:off x="1373188" y="3840480"/>
            <a:ext cx="4572000" cy="685800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9FBCD5D-A39B-A260-23FA-9D350B90E52A}"/>
              </a:ext>
            </a:extLst>
          </p:cNvPr>
          <p:cNvSpPr txBox="1"/>
          <p:nvPr/>
        </p:nvSpPr>
        <p:spPr>
          <a:xfrm>
            <a:off x="2824665" y="3913632"/>
            <a:ext cx="1669047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OK 코호트 (n=859)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6A54530-8AA7-18CB-58E2-8916F9E20DC6}"/>
              </a:ext>
            </a:extLst>
          </p:cNvPr>
          <p:cNvSpPr txBox="1"/>
          <p:nvPr/>
        </p:nvSpPr>
        <p:spPr>
          <a:xfrm>
            <a:off x="2039193" y="4206240"/>
            <a:ext cx="323999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맑은 고딕"/>
              </a:rPr>
              <a:t>AEC 매칭 완전한 환자만 포함 — 본 연구 주결과</a:t>
            </a:r>
          </a:p>
        </p:txBody>
      </p:sp>
      <p:sp>
        <p:nvSpPr>
          <p:cNvPr id="22" name="Rectangle 10">
            <a:extLst>
              <a:ext uri="{FF2B5EF4-FFF2-40B4-BE49-F238E27FC236}">
                <a16:creationId xmlns:a16="http://schemas.microsoft.com/office/drawing/2014/main" id="{A8AB756B-BA62-5E22-EAB9-C19A9DC5DC74}"/>
              </a:ext>
            </a:extLst>
          </p:cNvPr>
          <p:cNvSpPr/>
          <p:nvPr/>
        </p:nvSpPr>
        <p:spPr>
          <a:xfrm>
            <a:off x="6219508" y="3840480"/>
            <a:ext cx="4572000" cy="685800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D98BC70-FDE1-F1F1-1139-4CCBDA9B16AA}"/>
              </a:ext>
            </a:extLst>
          </p:cNvPr>
          <p:cNvSpPr txBox="1"/>
          <p:nvPr/>
        </p:nvSpPr>
        <p:spPr>
          <a:xfrm>
            <a:off x="7234967" y="3913632"/>
            <a:ext cx="254108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OK+Missing 코호트 (n=1,162)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343C97C-9EC4-4110-2151-3C1B38C004E1}"/>
              </a:ext>
            </a:extLst>
          </p:cNvPr>
          <p:cNvSpPr txBox="1"/>
          <p:nvPr/>
        </p:nvSpPr>
        <p:spPr>
          <a:xfrm>
            <a:off x="6956045" y="4206240"/>
            <a:ext cx="3098925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맑은 고딕"/>
              </a:rPr>
              <a:t>누락 AEC 포함 확장 — 비교 참고용 간략 제시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D0BB4E-07D8-9A07-2125-B1192AFDE6EF}"/>
              </a:ext>
            </a:extLst>
          </p:cNvPr>
          <p:cNvSpPr txBox="1"/>
          <p:nvPr/>
        </p:nvSpPr>
        <p:spPr>
          <a:xfrm>
            <a:off x="3186037" y="4892040"/>
            <a:ext cx="5820055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i="1">
                <a:solidFill>
                  <a:srgbClr val="9EA3AB"/>
                </a:solidFill>
                <a:latin typeface="맑은 고딕"/>
              </a:rPr>
              <a:t>결과 해석 주의: 누락 데이터 포함 → AEC 기여 효과 희석, 전반적 AUC 감소</a:t>
            </a:r>
          </a:p>
        </p:txBody>
      </p:sp>
    </p:spTree>
    <p:extLst>
      <p:ext uri="{BB962C8B-B14F-4D97-AF65-F5344CB8AC3E}">
        <p14:creationId xmlns:p14="http://schemas.microsoft.com/office/powerpoint/2010/main" val="381449808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1628" y="73152"/>
            <a:ext cx="7143302" cy="4770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OK+Missing 코호트 결과 개요 — OK 대비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1629" y="576072"/>
            <a:ext cx="5788379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9EA3AB"/>
                </a:solidFill>
                <a:latin typeface="맑은 고딕"/>
              </a:rPr>
              <a:t>n=1,162 / Test n=233 / Sarco 25명(10.7%)  |  BCE + AEC128 + norm 기준</a:t>
            </a:r>
          </a:p>
        </p:txBody>
      </p:sp>
      <p:sp>
        <p:nvSpPr>
          <p:cNvPr id="5" name="Rectangle 4"/>
          <p:cNvSpPr/>
          <p:nvPr/>
        </p:nvSpPr>
        <p:spPr>
          <a:xfrm>
            <a:off x="275908" y="1097280"/>
            <a:ext cx="5029200" cy="27432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8788" y="1170433"/>
            <a:ext cx="1324402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  <a:latin typeface="맑은 고딕"/>
              </a:rPr>
              <a:t>데이터셋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8788" y="1463040"/>
            <a:ext cx="4663440" cy="36576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63" name="그룹 162">
            <a:extLst>
              <a:ext uri="{FF2B5EF4-FFF2-40B4-BE49-F238E27FC236}">
                <a16:creationId xmlns:a16="http://schemas.microsoft.com/office/drawing/2014/main" id="{2B5C501A-E890-CDE9-3423-D695FA42A30D}"/>
              </a:ext>
            </a:extLst>
          </p:cNvPr>
          <p:cNvGrpSpPr/>
          <p:nvPr/>
        </p:nvGrpSpPr>
        <p:grpSpPr>
          <a:xfrm>
            <a:off x="465384" y="1543596"/>
            <a:ext cx="4656844" cy="1984248"/>
            <a:chOff x="367348" y="1508760"/>
            <a:chExt cx="5029200" cy="1984248"/>
          </a:xfrm>
        </p:grpSpPr>
        <p:sp>
          <p:nvSpPr>
            <p:cNvPr id="8" name="Rectangle 7"/>
            <p:cNvSpPr/>
            <p:nvPr/>
          </p:nvSpPr>
          <p:spPr>
            <a:xfrm>
              <a:off x="367348" y="1508760"/>
              <a:ext cx="137160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832575" y="1508761"/>
              <a:ext cx="441146" cy="246221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맑은 고딕"/>
                </a:rPr>
                <a:t>구분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1784668" y="1508760"/>
              <a:ext cx="137160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286764" y="1508761"/>
              <a:ext cx="367408" cy="246221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맑은 고딕"/>
                </a:rPr>
                <a:t>OK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3201988" y="1508760"/>
              <a:ext cx="132588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399096" y="1508761"/>
              <a:ext cx="931665" cy="246221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맑은 고딕"/>
                </a:rPr>
                <a:t>OK+Missing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4573588" y="1508760"/>
              <a:ext cx="82296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764495" y="1508761"/>
              <a:ext cx="441146" cy="246221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맑은 고딕"/>
                </a:rPr>
                <a:t>차이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367348" y="1801368"/>
              <a:ext cx="137160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762844" y="1801368"/>
              <a:ext cx="580608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전체 n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1784668" y="1801368"/>
              <a:ext cx="137160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2267528" y="1801368"/>
              <a:ext cx="405880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859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3201988" y="1801368"/>
              <a:ext cx="132588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3610692" y="1801368"/>
              <a:ext cx="508473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1,162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4573588" y="1801368"/>
              <a:ext cx="82296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734840" y="1801368"/>
              <a:ext cx="500457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+303</a:t>
              </a: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367348" y="2139696"/>
              <a:ext cx="137160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746013" y="2139696"/>
              <a:ext cx="614271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Train n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1784668" y="2139696"/>
              <a:ext cx="137160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2267528" y="2139696"/>
              <a:ext cx="405880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687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3201988" y="2139696"/>
              <a:ext cx="132588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661988" y="2139696"/>
              <a:ext cx="405880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929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4573588" y="2139696"/>
              <a:ext cx="82296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4734840" y="2139696"/>
              <a:ext cx="500457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+242</a:t>
              </a: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367348" y="2478024"/>
              <a:ext cx="137160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773264" y="2478024"/>
              <a:ext cx="559769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Test n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784668" y="2478024"/>
              <a:ext cx="137160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2267528" y="2478024"/>
              <a:ext cx="405880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172</a:t>
              </a:r>
            </a:p>
          </p:txBody>
        </p:sp>
        <p:sp>
          <p:nvSpPr>
            <p:cNvPr id="36" name="Rectangle 35"/>
            <p:cNvSpPr/>
            <p:nvPr/>
          </p:nvSpPr>
          <p:spPr>
            <a:xfrm>
              <a:off x="3201988" y="2478024"/>
              <a:ext cx="132588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3661988" y="2478024"/>
              <a:ext cx="405880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233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4573588" y="2478024"/>
              <a:ext cx="82296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4771708" y="2478024"/>
              <a:ext cx="426720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+61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367348" y="2816352"/>
              <a:ext cx="137160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626589" y="2816352"/>
              <a:ext cx="853118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Sarco(Test)</a:t>
              </a: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1784668" y="2816352"/>
              <a:ext cx="137160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2304397" y="2816352"/>
              <a:ext cx="332142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21</a:t>
              </a: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3201988" y="2816352"/>
              <a:ext cx="132588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3698857" y="2816352"/>
              <a:ext cx="332142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25</a:t>
              </a: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4573588" y="2816352"/>
              <a:ext cx="82296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4808578" y="2816352"/>
              <a:ext cx="352981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+4</a:t>
              </a: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367348" y="3154680"/>
              <a:ext cx="137160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633803" y="3154680"/>
              <a:ext cx="838691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Sarco 비율</a:t>
              </a:r>
            </a:p>
          </p:txBody>
        </p:sp>
        <p:sp>
          <p:nvSpPr>
            <p:cNvPr id="50" name="Rectangle 49"/>
            <p:cNvSpPr/>
            <p:nvPr/>
          </p:nvSpPr>
          <p:spPr>
            <a:xfrm>
              <a:off x="1784668" y="3154680"/>
              <a:ext cx="137160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2196996" y="3154680"/>
              <a:ext cx="546945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12.2%</a:t>
              </a: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3201988" y="3154680"/>
              <a:ext cx="132588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3591456" y="3154680"/>
              <a:ext cx="546945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10.7%</a:t>
              </a:r>
            </a:p>
          </p:txBody>
        </p:sp>
        <p:sp>
          <p:nvSpPr>
            <p:cNvPr id="54" name="Rectangle 53"/>
            <p:cNvSpPr/>
            <p:nvPr/>
          </p:nvSpPr>
          <p:spPr>
            <a:xfrm>
              <a:off x="4573588" y="3154680"/>
              <a:ext cx="82296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4681139" y="3154680"/>
              <a:ext cx="607859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-1.5%p</a:t>
              </a:r>
            </a:p>
          </p:txBody>
        </p:sp>
      </p:grpSp>
      <p:sp>
        <p:nvSpPr>
          <p:cNvPr id="56" name="Rectangle 55"/>
          <p:cNvSpPr/>
          <p:nvPr/>
        </p:nvSpPr>
        <p:spPr>
          <a:xfrm>
            <a:off x="275908" y="3977639"/>
            <a:ext cx="5029200" cy="26060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458788" y="4050792"/>
            <a:ext cx="2719462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  <a:latin typeface="맑은 고딕"/>
              </a:rPr>
              <a:t>BCE+AEC128+norm 성능 비교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8788" y="4343400"/>
            <a:ext cx="4663440" cy="36576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64" name="그룹 163">
            <a:extLst>
              <a:ext uri="{FF2B5EF4-FFF2-40B4-BE49-F238E27FC236}">
                <a16:creationId xmlns:a16="http://schemas.microsoft.com/office/drawing/2014/main" id="{9E7FA93B-4A71-87AE-5B56-978C21538BA9}"/>
              </a:ext>
            </a:extLst>
          </p:cNvPr>
          <p:cNvGrpSpPr/>
          <p:nvPr/>
        </p:nvGrpSpPr>
        <p:grpSpPr>
          <a:xfrm>
            <a:off x="458789" y="4457699"/>
            <a:ext cx="4663440" cy="1645920"/>
            <a:chOff x="367348" y="4389120"/>
            <a:chExt cx="4663440" cy="1645920"/>
          </a:xfrm>
        </p:grpSpPr>
        <p:sp>
          <p:nvSpPr>
            <p:cNvPr id="59" name="Rectangle 58"/>
            <p:cNvSpPr/>
            <p:nvPr/>
          </p:nvSpPr>
          <p:spPr>
            <a:xfrm>
              <a:off x="367348" y="4389120"/>
              <a:ext cx="109728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695415" y="4389121"/>
              <a:ext cx="441146" cy="246221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맑은 고딕"/>
                </a:rPr>
                <a:t>모델</a:t>
              </a:r>
            </a:p>
          </p:txBody>
        </p:sp>
        <p:sp>
          <p:nvSpPr>
            <p:cNvPr id="61" name="Rectangle 60"/>
            <p:cNvSpPr/>
            <p:nvPr/>
          </p:nvSpPr>
          <p:spPr>
            <a:xfrm>
              <a:off x="1510348" y="4389120"/>
              <a:ext cx="105156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1697734" y="4389121"/>
              <a:ext cx="676788" cy="246221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맑은 고딕"/>
                </a:rPr>
                <a:t>OK AUC</a:t>
              </a:r>
            </a:p>
          </p:txBody>
        </p:sp>
        <p:sp>
          <p:nvSpPr>
            <p:cNvPr id="63" name="Rectangle 62"/>
            <p:cNvSpPr/>
            <p:nvPr/>
          </p:nvSpPr>
          <p:spPr>
            <a:xfrm>
              <a:off x="2607628" y="4389120"/>
              <a:ext cx="114300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2820697" y="4389121"/>
              <a:ext cx="716863" cy="246221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맑은 고딕"/>
                </a:rPr>
                <a:t>OM AUC</a:t>
              </a:r>
            </a:p>
          </p:txBody>
        </p:sp>
        <p:sp>
          <p:nvSpPr>
            <p:cNvPr id="65" name="Rectangle 64"/>
            <p:cNvSpPr/>
            <p:nvPr/>
          </p:nvSpPr>
          <p:spPr>
            <a:xfrm>
              <a:off x="3796348" y="4389120"/>
              <a:ext cx="1234440" cy="274320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6" name="TextBox 65"/>
            <p:cNvSpPr txBox="1"/>
            <p:nvPr/>
          </p:nvSpPr>
          <p:spPr>
            <a:xfrm>
              <a:off x="4276351" y="4389121"/>
              <a:ext cx="274434" cy="246221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맑은 고딕"/>
                </a:rPr>
                <a:t>Δ</a:t>
              </a:r>
            </a:p>
          </p:txBody>
        </p:sp>
        <p:sp>
          <p:nvSpPr>
            <p:cNvPr id="67" name="Rectangle 66"/>
            <p:cNvSpPr/>
            <p:nvPr/>
          </p:nvSpPr>
          <p:spPr>
            <a:xfrm>
              <a:off x="367348" y="4681728"/>
              <a:ext cx="109728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586411" y="4681728"/>
              <a:ext cx="659155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M1 (LR)</a:t>
              </a:r>
            </a:p>
          </p:txBody>
        </p:sp>
        <p:sp>
          <p:nvSpPr>
            <p:cNvPr id="69" name="Rectangle 68"/>
            <p:cNvSpPr/>
            <p:nvPr/>
          </p:nvSpPr>
          <p:spPr>
            <a:xfrm>
              <a:off x="1510348" y="4681728"/>
              <a:ext cx="105156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1745023" y="4681728"/>
              <a:ext cx="582211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0.8325</a:t>
              </a:r>
            </a:p>
          </p:txBody>
        </p:sp>
        <p:sp>
          <p:nvSpPr>
            <p:cNvPr id="71" name="Rectangle 70"/>
            <p:cNvSpPr/>
            <p:nvPr/>
          </p:nvSpPr>
          <p:spPr>
            <a:xfrm>
              <a:off x="2607628" y="4681728"/>
              <a:ext cx="114300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2" name="TextBox 71"/>
            <p:cNvSpPr txBox="1"/>
            <p:nvPr/>
          </p:nvSpPr>
          <p:spPr>
            <a:xfrm>
              <a:off x="2888023" y="4681728"/>
              <a:ext cx="582211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0.8119</a:t>
              </a:r>
            </a:p>
          </p:txBody>
        </p:sp>
        <p:sp>
          <p:nvSpPr>
            <p:cNvPr id="73" name="Rectangle 72"/>
            <p:cNvSpPr/>
            <p:nvPr/>
          </p:nvSpPr>
          <p:spPr>
            <a:xfrm>
              <a:off x="3796348" y="4681728"/>
              <a:ext cx="123444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4132081" y="4681728"/>
              <a:ext cx="562975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C0392B"/>
                  </a:solidFill>
                  <a:latin typeface="맑은 고딕"/>
                </a:rPr>
                <a:t>-0.021</a:t>
              </a:r>
            </a:p>
          </p:txBody>
        </p:sp>
        <p:sp>
          <p:nvSpPr>
            <p:cNvPr id="75" name="Rectangle 74"/>
            <p:cNvSpPr/>
            <p:nvPr/>
          </p:nvSpPr>
          <p:spPr>
            <a:xfrm>
              <a:off x="367348" y="5020056"/>
              <a:ext cx="1097280" cy="338328"/>
            </a:xfrm>
            <a:prstGeom prst="rect">
              <a:avLst/>
            </a:prstGeom>
            <a:solidFill>
              <a:srgbClr val="E8F4E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572786" y="5020056"/>
              <a:ext cx="686405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M2 (CA)</a:t>
              </a:r>
            </a:p>
          </p:txBody>
        </p:sp>
        <p:sp>
          <p:nvSpPr>
            <p:cNvPr id="77" name="Rectangle 76"/>
            <p:cNvSpPr/>
            <p:nvPr/>
          </p:nvSpPr>
          <p:spPr>
            <a:xfrm>
              <a:off x="1510348" y="5020056"/>
              <a:ext cx="1051560" cy="338328"/>
            </a:xfrm>
            <a:prstGeom prst="rect">
              <a:avLst/>
            </a:prstGeom>
            <a:solidFill>
              <a:srgbClr val="E8F4E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1745023" y="5020056"/>
              <a:ext cx="582211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0.8868</a:t>
              </a:r>
            </a:p>
          </p:txBody>
        </p:sp>
        <p:sp>
          <p:nvSpPr>
            <p:cNvPr id="79" name="Rectangle 78"/>
            <p:cNvSpPr/>
            <p:nvPr/>
          </p:nvSpPr>
          <p:spPr>
            <a:xfrm>
              <a:off x="2607628" y="5020056"/>
              <a:ext cx="1143000" cy="338328"/>
            </a:xfrm>
            <a:prstGeom prst="rect">
              <a:avLst/>
            </a:prstGeom>
            <a:solidFill>
              <a:srgbClr val="E8F4E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0" name="TextBox 79"/>
            <p:cNvSpPr txBox="1"/>
            <p:nvPr/>
          </p:nvSpPr>
          <p:spPr>
            <a:xfrm>
              <a:off x="2888023" y="5020056"/>
              <a:ext cx="582211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0.8254</a:t>
              </a:r>
            </a:p>
          </p:txBody>
        </p:sp>
        <p:sp>
          <p:nvSpPr>
            <p:cNvPr id="81" name="Rectangle 80"/>
            <p:cNvSpPr/>
            <p:nvPr/>
          </p:nvSpPr>
          <p:spPr>
            <a:xfrm>
              <a:off x="3796348" y="5020056"/>
              <a:ext cx="1234440" cy="338328"/>
            </a:xfrm>
            <a:prstGeom prst="rect">
              <a:avLst/>
            </a:prstGeom>
            <a:solidFill>
              <a:srgbClr val="E8F4E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2" name="TextBox 81"/>
            <p:cNvSpPr txBox="1"/>
            <p:nvPr/>
          </p:nvSpPr>
          <p:spPr>
            <a:xfrm>
              <a:off x="4132081" y="5020056"/>
              <a:ext cx="562975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C0392B"/>
                  </a:solidFill>
                  <a:latin typeface="맑은 고딕"/>
                </a:rPr>
                <a:t>-0.061</a:t>
              </a:r>
            </a:p>
          </p:txBody>
        </p:sp>
        <p:sp>
          <p:nvSpPr>
            <p:cNvPr id="83" name="Rectangle 82"/>
            <p:cNvSpPr/>
            <p:nvPr/>
          </p:nvSpPr>
          <p:spPr>
            <a:xfrm>
              <a:off x="367348" y="5358384"/>
              <a:ext cx="109728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4" name="TextBox 83"/>
            <p:cNvSpPr txBox="1"/>
            <p:nvPr/>
          </p:nvSpPr>
          <p:spPr>
            <a:xfrm>
              <a:off x="465384" y="5358384"/>
              <a:ext cx="901209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M2_2 (Neg)</a:t>
              </a:r>
            </a:p>
          </p:txBody>
        </p:sp>
        <p:sp>
          <p:nvSpPr>
            <p:cNvPr id="85" name="Rectangle 84"/>
            <p:cNvSpPr/>
            <p:nvPr/>
          </p:nvSpPr>
          <p:spPr>
            <a:xfrm>
              <a:off x="1510348" y="5358384"/>
              <a:ext cx="105156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6" name="TextBox 85"/>
            <p:cNvSpPr txBox="1"/>
            <p:nvPr/>
          </p:nvSpPr>
          <p:spPr>
            <a:xfrm>
              <a:off x="1745023" y="5358384"/>
              <a:ext cx="582211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0.8420</a:t>
              </a:r>
            </a:p>
          </p:txBody>
        </p:sp>
        <p:sp>
          <p:nvSpPr>
            <p:cNvPr id="87" name="Rectangle 86"/>
            <p:cNvSpPr/>
            <p:nvPr/>
          </p:nvSpPr>
          <p:spPr>
            <a:xfrm>
              <a:off x="2607628" y="5358384"/>
              <a:ext cx="114300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8" name="TextBox 87"/>
            <p:cNvSpPr txBox="1"/>
            <p:nvPr/>
          </p:nvSpPr>
          <p:spPr>
            <a:xfrm>
              <a:off x="2888023" y="5358384"/>
              <a:ext cx="582211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0.8246</a:t>
              </a:r>
            </a:p>
          </p:txBody>
        </p:sp>
        <p:sp>
          <p:nvSpPr>
            <p:cNvPr id="89" name="Rectangle 88"/>
            <p:cNvSpPr/>
            <p:nvPr/>
          </p:nvSpPr>
          <p:spPr>
            <a:xfrm>
              <a:off x="3796348" y="5358384"/>
              <a:ext cx="123444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0" name="TextBox 89"/>
            <p:cNvSpPr txBox="1"/>
            <p:nvPr/>
          </p:nvSpPr>
          <p:spPr>
            <a:xfrm>
              <a:off x="4132081" y="5358384"/>
              <a:ext cx="562975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C0392B"/>
                  </a:solidFill>
                  <a:latin typeface="맑은 고딕"/>
                </a:rPr>
                <a:t>-0.017</a:t>
              </a:r>
            </a:p>
          </p:txBody>
        </p:sp>
        <p:sp>
          <p:nvSpPr>
            <p:cNvPr id="91" name="Rectangle 90"/>
            <p:cNvSpPr/>
            <p:nvPr/>
          </p:nvSpPr>
          <p:spPr>
            <a:xfrm>
              <a:off x="367348" y="5696712"/>
              <a:ext cx="1097280" cy="338328"/>
            </a:xfrm>
            <a:prstGeom prst="rect">
              <a:avLst/>
            </a:prstGeom>
            <a:solidFill>
              <a:srgbClr val="FFF3E0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535916" y="5696712"/>
              <a:ext cx="760144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M3 (CA3)</a:t>
              </a:r>
            </a:p>
          </p:txBody>
        </p:sp>
        <p:sp>
          <p:nvSpPr>
            <p:cNvPr id="93" name="Rectangle 92"/>
            <p:cNvSpPr/>
            <p:nvPr/>
          </p:nvSpPr>
          <p:spPr>
            <a:xfrm>
              <a:off x="1510348" y="5696712"/>
              <a:ext cx="1051560" cy="338328"/>
            </a:xfrm>
            <a:prstGeom prst="rect">
              <a:avLst/>
            </a:prstGeom>
            <a:solidFill>
              <a:srgbClr val="FFF3E0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4" name="TextBox 93"/>
            <p:cNvSpPr txBox="1"/>
            <p:nvPr/>
          </p:nvSpPr>
          <p:spPr>
            <a:xfrm>
              <a:off x="1745023" y="5696712"/>
              <a:ext cx="582211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0.8944</a:t>
              </a:r>
            </a:p>
          </p:txBody>
        </p:sp>
        <p:sp>
          <p:nvSpPr>
            <p:cNvPr id="95" name="Rectangle 94"/>
            <p:cNvSpPr/>
            <p:nvPr/>
          </p:nvSpPr>
          <p:spPr>
            <a:xfrm>
              <a:off x="2607628" y="5696712"/>
              <a:ext cx="1143000" cy="338328"/>
            </a:xfrm>
            <a:prstGeom prst="rect">
              <a:avLst/>
            </a:prstGeom>
            <a:solidFill>
              <a:srgbClr val="FFF3E0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6" name="TextBox 95"/>
            <p:cNvSpPr txBox="1"/>
            <p:nvPr/>
          </p:nvSpPr>
          <p:spPr>
            <a:xfrm>
              <a:off x="2888023" y="5696712"/>
              <a:ext cx="582211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0.8200</a:t>
              </a:r>
            </a:p>
          </p:txBody>
        </p:sp>
        <p:sp>
          <p:nvSpPr>
            <p:cNvPr id="97" name="Rectangle 96"/>
            <p:cNvSpPr/>
            <p:nvPr/>
          </p:nvSpPr>
          <p:spPr>
            <a:xfrm>
              <a:off x="3796348" y="5696712"/>
              <a:ext cx="1234440" cy="338328"/>
            </a:xfrm>
            <a:prstGeom prst="rect">
              <a:avLst/>
            </a:prstGeom>
            <a:solidFill>
              <a:srgbClr val="FFF3E0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8" name="TextBox 97"/>
            <p:cNvSpPr txBox="1"/>
            <p:nvPr/>
          </p:nvSpPr>
          <p:spPr>
            <a:xfrm>
              <a:off x="4132081" y="5696712"/>
              <a:ext cx="562975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C0392B"/>
                  </a:solidFill>
                  <a:latin typeface="맑은 고딕"/>
                </a:rPr>
                <a:t>-0.074</a:t>
              </a:r>
            </a:p>
          </p:txBody>
        </p:sp>
      </p:grpSp>
      <p:sp>
        <p:nvSpPr>
          <p:cNvPr id="99" name="Rectangle 98"/>
          <p:cNvSpPr/>
          <p:nvPr/>
        </p:nvSpPr>
        <p:spPr>
          <a:xfrm>
            <a:off x="5487988" y="1097280"/>
            <a:ext cx="6492240" cy="310896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ectangle 99"/>
          <p:cNvSpPr/>
          <p:nvPr/>
        </p:nvSpPr>
        <p:spPr>
          <a:xfrm>
            <a:off x="5487988" y="1097280"/>
            <a:ext cx="109728" cy="3108960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5716589" y="1170433"/>
            <a:ext cx="96532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E87400"/>
                </a:solidFill>
                <a:latin typeface="맑은 고딕"/>
              </a:rPr>
              <a:t>주요 발견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716588" y="1536193"/>
            <a:ext cx="299255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1A1A2E"/>
                </a:solidFill>
                <a:latin typeface="맑은 고딕"/>
              </a:rPr>
              <a:t>• 전 모델에서 AUC 감소 (Δ –0.02~–0.07)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716589" y="1929385"/>
            <a:ext cx="3302507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1A1A2E"/>
                </a:solidFill>
                <a:latin typeface="맑은 고딕"/>
              </a:rPr>
              <a:t>  → Missing 환자는 더 어려운 케이스를 포함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716588" y="2322577"/>
            <a:ext cx="270619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1A1A2E"/>
                </a:solidFill>
                <a:latin typeface="맑은 고딕"/>
              </a:rPr>
              <a:t>• M1 vs M2/M3 DeLong: 전 조건 ns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716589" y="2715769"/>
            <a:ext cx="303801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1A1A2E"/>
                </a:solidFill>
                <a:latin typeface="맑은 고딕"/>
              </a:rPr>
              <a:t>  → ok에서 유의했던 조건도 유의성 소실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16588" y="3108961"/>
            <a:ext cx="2746008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1A1A2E"/>
                </a:solidFill>
                <a:latin typeface="맑은 고딕"/>
              </a:rPr>
              <a:t>• M2 vs M2_2 excl_extreme: 일관 ***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716589" y="3502153"/>
            <a:ext cx="3046027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1A1A2E"/>
                </a:solidFill>
                <a:latin typeface="맑은 고딕"/>
              </a:rPr>
              <a:t>  → AEC 매칭 효과는 데이터셋 불문 강건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716588" y="3895345"/>
            <a:ext cx="2658100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1A1A2E"/>
                </a:solidFill>
                <a:latin typeface="맑은 고딕"/>
              </a:rPr>
              <a:t>• M2 vs M3: 전 조건 ns (ok와 동일)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5487988" y="4315968"/>
            <a:ext cx="6492240" cy="226771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5670868" y="4389120"/>
            <a:ext cx="3354188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맑은 고딕"/>
              </a:rPr>
              <a:t>DeLong 요약  (norm 기준 / ok+missing)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70868" y="4681728"/>
            <a:ext cx="6035040" cy="36576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65" name="그룹 164">
            <a:extLst>
              <a:ext uri="{FF2B5EF4-FFF2-40B4-BE49-F238E27FC236}">
                <a16:creationId xmlns:a16="http://schemas.microsoft.com/office/drawing/2014/main" id="{64089F2B-1AE7-EFB3-4194-F0C8B226684B}"/>
              </a:ext>
            </a:extLst>
          </p:cNvPr>
          <p:cNvGrpSpPr/>
          <p:nvPr/>
        </p:nvGrpSpPr>
        <p:grpSpPr>
          <a:xfrm>
            <a:off x="5670868" y="4766704"/>
            <a:ext cx="6035040" cy="1627632"/>
            <a:chOff x="5550512" y="4727448"/>
            <a:chExt cx="6292556" cy="1627632"/>
          </a:xfrm>
        </p:grpSpPr>
        <p:sp>
          <p:nvSpPr>
            <p:cNvPr id="112" name="Rectangle 111"/>
            <p:cNvSpPr/>
            <p:nvPr/>
          </p:nvSpPr>
          <p:spPr>
            <a:xfrm>
              <a:off x="5579428" y="4727448"/>
              <a:ext cx="1325880" cy="256032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6021795" y="4727449"/>
              <a:ext cx="441146" cy="246221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맑은 고딕"/>
                </a:rPr>
                <a:t>비교</a:t>
              </a:r>
            </a:p>
          </p:txBody>
        </p:sp>
        <p:sp>
          <p:nvSpPr>
            <p:cNvPr id="114" name="Rectangle 113"/>
            <p:cNvSpPr/>
            <p:nvPr/>
          </p:nvSpPr>
          <p:spPr>
            <a:xfrm>
              <a:off x="6951028" y="4727448"/>
              <a:ext cx="1051560" cy="256032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5" name="TextBox 114"/>
            <p:cNvSpPr txBox="1"/>
            <p:nvPr/>
          </p:nvSpPr>
          <p:spPr>
            <a:xfrm>
              <a:off x="7230588" y="4727449"/>
              <a:ext cx="492443" cy="246221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맑은 고딕"/>
                </a:rPr>
                <a:t>OK p</a:t>
              </a:r>
            </a:p>
          </p:txBody>
        </p:sp>
        <p:sp>
          <p:nvSpPr>
            <p:cNvPr id="116" name="Rectangle 115"/>
            <p:cNvSpPr/>
            <p:nvPr/>
          </p:nvSpPr>
          <p:spPr>
            <a:xfrm>
              <a:off x="8048308" y="4727448"/>
              <a:ext cx="1143000" cy="256032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7" name="TextBox 116"/>
            <p:cNvSpPr txBox="1"/>
            <p:nvPr/>
          </p:nvSpPr>
          <p:spPr>
            <a:xfrm>
              <a:off x="8353550" y="4727449"/>
              <a:ext cx="532517" cy="246221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맑은 고딕"/>
                </a:rPr>
                <a:t>OM p</a:t>
              </a:r>
            </a:p>
          </p:txBody>
        </p:sp>
        <p:sp>
          <p:nvSpPr>
            <p:cNvPr id="118" name="Rectangle 117"/>
            <p:cNvSpPr/>
            <p:nvPr/>
          </p:nvSpPr>
          <p:spPr>
            <a:xfrm>
              <a:off x="9237028" y="4727448"/>
              <a:ext cx="1051560" cy="256032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9" name="TextBox 118"/>
            <p:cNvSpPr txBox="1"/>
            <p:nvPr/>
          </p:nvSpPr>
          <p:spPr>
            <a:xfrm>
              <a:off x="9469298" y="4727449"/>
              <a:ext cx="587020" cy="246221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맑은 고딕"/>
                </a:rPr>
                <a:t>OK sig</a:t>
              </a:r>
            </a:p>
          </p:txBody>
        </p:sp>
        <p:sp>
          <p:nvSpPr>
            <p:cNvPr id="120" name="Rectangle 119"/>
            <p:cNvSpPr/>
            <p:nvPr/>
          </p:nvSpPr>
          <p:spPr>
            <a:xfrm>
              <a:off x="10334308" y="4727448"/>
              <a:ext cx="1508760" cy="256032"/>
            </a:xfrm>
            <a:prstGeom prst="rect">
              <a:avLst/>
            </a:prstGeom>
            <a:solidFill>
              <a:srgbClr val="1A1A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1" name="TextBox 120"/>
            <p:cNvSpPr txBox="1"/>
            <p:nvPr/>
          </p:nvSpPr>
          <p:spPr>
            <a:xfrm>
              <a:off x="10775141" y="4727449"/>
              <a:ext cx="627095" cy="246221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맑은 고딕"/>
                </a:rPr>
                <a:t>OM sig</a:t>
              </a:r>
            </a:p>
          </p:txBody>
        </p:sp>
        <p:sp>
          <p:nvSpPr>
            <p:cNvPr id="122" name="Rectangle 121"/>
            <p:cNvSpPr/>
            <p:nvPr/>
          </p:nvSpPr>
          <p:spPr>
            <a:xfrm>
              <a:off x="5579428" y="5001768"/>
              <a:ext cx="132588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3" name="TextBox 122"/>
            <p:cNvSpPr txBox="1"/>
            <p:nvPr/>
          </p:nvSpPr>
          <p:spPr>
            <a:xfrm>
              <a:off x="5550512" y="5001768"/>
              <a:ext cx="1383712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M1 vs M2 (BCE128)</a:t>
              </a:r>
            </a:p>
          </p:txBody>
        </p:sp>
        <p:sp>
          <p:nvSpPr>
            <p:cNvPr id="124" name="Rectangle 123"/>
            <p:cNvSpPr/>
            <p:nvPr/>
          </p:nvSpPr>
          <p:spPr>
            <a:xfrm>
              <a:off x="6951028" y="5001768"/>
              <a:ext cx="105156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5" name="TextBox 124"/>
            <p:cNvSpPr txBox="1"/>
            <p:nvPr/>
          </p:nvSpPr>
          <p:spPr>
            <a:xfrm>
              <a:off x="7135208" y="5001768"/>
              <a:ext cx="683200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p=0.071</a:t>
              </a:r>
            </a:p>
          </p:txBody>
        </p:sp>
        <p:sp>
          <p:nvSpPr>
            <p:cNvPr id="126" name="Rectangle 125"/>
            <p:cNvSpPr/>
            <p:nvPr/>
          </p:nvSpPr>
          <p:spPr>
            <a:xfrm>
              <a:off x="8048308" y="5001768"/>
              <a:ext cx="114300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7" name="TextBox 126"/>
            <p:cNvSpPr txBox="1"/>
            <p:nvPr/>
          </p:nvSpPr>
          <p:spPr>
            <a:xfrm>
              <a:off x="8278208" y="5001768"/>
              <a:ext cx="683200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p=0.578</a:t>
              </a:r>
            </a:p>
          </p:txBody>
        </p:sp>
        <p:sp>
          <p:nvSpPr>
            <p:cNvPr id="128" name="Rectangle 127"/>
            <p:cNvSpPr/>
            <p:nvPr/>
          </p:nvSpPr>
          <p:spPr>
            <a:xfrm>
              <a:off x="9237028" y="5001768"/>
              <a:ext cx="105156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9" name="TextBox 128"/>
            <p:cNvSpPr txBox="1"/>
            <p:nvPr/>
          </p:nvSpPr>
          <p:spPr>
            <a:xfrm>
              <a:off x="9644827" y="5001768"/>
              <a:ext cx="235962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E8B4C"/>
                  </a:solidFill>
                  <a:latin typeface="맑은 고딕"/>
                </a:rPr>
                <a:t>†</a:t>
              </a:r>
            </a:p>
          </p:txBody>
        </p:sp>
        <p:sp>
          <p:nvSpPr>
            <p:cNvPr id="130" name="Rectangle 129"/>
            <p:cNvSpPr/>
            <p:nvPr/>
          </p:nvSpPr>
          <p:spPr>
            <a:xfrm>
              <a:off x="10334308" y="5001768"/>
              <a:ext cx="150876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1" name="TextBox 130"/>
            <p:cNvSpPr txBox="1"/>
            <p:nvPr/>
          </p:nvSpPr>
          <p:spPr>
            <a:xfrm>
              <a:off x="10928228" y="5001768"/>
              <a:ext cx="320921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9EA3AB"/>
                  </a:solidFill>
                  <a:latin typeface="맑은 고딕"/>
                </a:rPr>
                <a:t>ns</a:t>
              </a:r>
            </a:p>
          </p:txBody>
        </p:sp>
        <p:sp>
          <p:nvSpPr>
            <p:cNvPr id="132" name="Rectangle 131"/>
            <p:cNvSpPr/>
            <p:nvPr/>
          </p:nvSpPr>
          <p:spPr>
            <a:xfrm>
              <a:off x="5579428" y="5340096"/>
              <a:ext cx="132588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3" name="TextBox 132"/>
            <p:cNvSpPr txBox="1"/>
            <p:nvPr/>
          </p:nvSpPr>
          <p:spPr>
            <a:xfrm>
              <a:off x="5550512" y="5340096"/>
              <a:ext cx="1383712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M1 vs M3 (BCE128)</a:t>
              </a:r>
            </a:p>
          </p:txBody>
        </p:sp>
        <p:sp>
          <p:nvSpPr>
            <p:cNvPr id="134" name="Rectangle 133"/>
            <p:cNvSpPr/>
            <p:nvPr/>
          </p:nvSpPr>
          <p:spPr>
            <a:xfrm>
              <a:off x="6951028" y="5340096"/>
              <a:ext cx="105156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5" name="TextBox 134"/>
            <p:cNvSpPr txBox="1"/>
            <p:nvPr/>
          </p:nvSpPr>
          <p:spPr>
            <a:xfrm>
              <a:off x="7135208" y="5340096"/>
              <a:ext cx="683200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p=0.040</a:t>
              </a:r>
            </a:p>
          </p:txBody>
        </p:sp>
        <p:sp>
          <p:nvSpPr>
            <p:cNvPr id="136" name="Rectangle 135"/>
            <p:cNvSpPr/>
            <p:nvPr/>
          </p:nvSpPr>
          <p:spPr>
            <a:xfrm>
              <a:off x="8048308" y="5340096"/>
              <a:ext cx="114300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7" name="TextBox 136"/>
            <p:cNvSpPr txBox="1"/>
            <p:nvPr/>
          </p:nvSpPr>
          <p:spPr>
            <a:xfrm>
              <a:off x="8278208" y="5340096"/>
              <a:ext cx="683200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p=0.773</a:t>
              </a:r>
            </a:p>
          </p:txBody>
        </p:sp>
        <p:sp>
          <p:nvSpPr>
            <p:cNvPr id="138" name="Rectangle 137"/>
            <p:cNvSpPr/>
            <p:nvPr/>
          </p:nvSpPr>
          <p:spPr>
            <a:xfrm>
              <a:off x="9237028" y="5340096"/>
              <a:ext cx="105156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9" name="TextBox 138"/>
            <p:cNvSpPr txBox="1"/>
            <p:nvPr/>
          </p:nvSpPr>
          <p:spPr>
            <a:xfrm>
              <a:off x="9641621" y="5340096"/>
              <a:ext cx="242374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E8B4C"/>
                  </a:solidFill>
                  <a:latin typeface="맑은 고딕"/>
                </a:rPr>
                <a:t>*</a:t>
              </a:r>
            </a:p>
          </p:txBody>
        </p:sp>
        <p:sp>
          <p:nvSpPr>
            <p:cNvPr id="140" name="Rectangle 139"/>
            <p:cNvSpPr/>
            <p:nvPr/>
          </p:nvSpPr>
          <p:spPr>
            <a:xfrm>
              <a:off x="10334308" y="5340096"/>
              <a:ext cx="150876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1" name="TextBox 140"/>
            <p:cNvSpPr txBox="1"/>
            <p:nvPr/>
          </p:nvSpPr>
          <p:spPr>
            <a:xfrm>
              <a:off x="10928228" y="5340096"/>
              <a:ext cx="320921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9EA3AB"/>
                  </a:solidFill>
                  <a:latin typeface="맑은 고딕"/>
                </a:rPr>
                <a:t>ns</a:t>
              </a:r>
            </a:p>
          </p:txBody>
        </p:sp>
        <p:sp>
          <p:nvSpPr>
            <p:cNvPr id="142" name="Rectangle 141"/>
            <p:cNvSpPr/>
            <p:nvPr/>
          </p:nvSpPr>
          <p:spPr>
            <a:xfrm>
              <a:off x="5579428" y="5678424"/>
              <a:ext cx="132588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3" name="TextBox 142"/>
            <p:cNvSpPr txBox="1"/>
            <p:nvPr/>
          </p:nvSpPr>
          <p:spPr>
            <a:xfrm>
              <a:off x="5550512" y="5678424"/>
              <a:ext cx="1383712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M1 vs M2 (BCE256)</a:t>
              </a:r>
            </a:p>
          </p:txBody>
        </p:sp>
        <p:sp>
          <p:nvSpPr>
            <p:cNvPr id="144" name="Rectangle 143"/>
            <p:cNvSpPr/>
            <p:nvPr/>
          </p:nvSpPr>
          <p:spPr>
            <a:xfrm>
              <a:off x="6951028" y="5678424"/>
              <a:ext cx="105156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5" name="TextBox 144"/>
            <p:cNvSpPr txBox="1"/>
            <p:nvPr/>
          </p:nvSpPr>
          <p:spPr>
            <a:xfrm>
              <a:off x="7135208" y="5678424"/>
              <a:ext cx="683200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p=0.013</a:t>
              </a:r>
            </a:p>
          </p:txBody>
        </p:sp>
        <p:sp>
          <p:nvSpPr>
            <p:cNvPr id="146" name="Rectangle 145"/>
            <p:cNvSpPr/>
            <p:nvPr/>
          </p:nvSpPr>
          <p:spPr>
            <a:xfrm>
              <a:off x="8048308" y="5678424"/>
              <a:ext cx="114300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7" name="TextBox 146"/>
            <p:cNvSpPr txBox="1"/>
            <p:nvPr/>
          </p:nvSpPr>
          <p:spPr>
            <a:xfrm>
              <a:off x="8278208" y="5678424"/>
              <a:ext cx="683200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p=0.492</a:t>
              </a:r>
            </a:p>
          </p:txBody>
        </p:sp>
        <p:sp>
          <p:nvSpPr>
            <p:cNvPr id="148" name="Rectangle 147"/>
            <p:cNvSpPr/>
            <p:nvPr/>
          </p:nvSpPr>
          <p:spPr>
            <a:xfrm>
              <a:off x="9237028" y="5678424"/>
              <a:ext cx="105156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9" name="TextBox 148"/>
            <p:cNvSpPr txBox="1"/>
            <p:nvPr/>
          </p:nvSpPr>
          <p:spPr>
            <a:xfrm>
              <a:off x="9641621" y="5678424"/>
              <a:ext cx="242374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E8B4C"/>
                  </a:solidFill>
                  <a:latin typeface="맑은 고딕"/>
                </a:rPr>
                <a:t>*</a:t>
              </a:r>
            </a:p>
          </p:txBody>
        </p:sp>
        <p:sp>
          <p:nvSpPr>
            <p:cNvPr id="150" name="Rectangle 149"/>
            <p:cNvSpPr/>
            <p:nvPr/>
          </p:nvSpPr>
          <p:spPr>
            <a:xfrm>
              <a:off x="10334308" y="5678424"/>
              <a:ext cx="1508760" cy="33832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1" name="TextBox 150"/>
            <p:cNvSpPr txBox="1"/>
            <p:nvPr/>
          </p:nvSpPr>
          <p:spPr>
            <a:xfrm>
              <a:off x="10928228" y="5678424"/>
              <a:ext cx="320921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9EA3AB"/>
                  </a:solidFill>
                  <a:latin typeface="맑은 고딕"/>
                </a:rPr>
                <a:t>ns</a:t>
              </a:r>
            </a:p>
          </p:txBody>
        </p:sp>
        <p:sp>
          <p:nvSpPr>
            <p:cNvPr id="152" name="Rectangle 151"/>
            <p:cNvSpPr/>
            <p:nvPr/>
          </p:nvSpPr>
          <p:spPr>
            <a:xfrm>
              <a:off x="5579428" y="6016752"/>
              <a:ext cx="132588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3" name="TextBox 152"/>
            <p:cNvSpPr txBox="1"/>
            <p:nvPr/>
          </p:nvSpPr>
          <p:spPr>
            <a:xfrm>
              <a:off x="5619441" y="6016752"/>
              <a:ext cx="1245854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M2 vs M2_2(excl)</a:t>
              </a:r>
            </a:p>
          </p:txBody>
        </p:sp>
        <p:sp>
          <p:nvSpPr>
            <p:cNvPr id="154" name="Rectangle 153"/>
            <p:cNvSpPr/>
            <p:nvPr/>
          </p:nvSpPr>
          <p:spPr>
            <a:xfrm>
              <a:off x="6951028" y="6016752"/>
              <a:ext cx="105156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5" name="TextBox 154"/>
            <p:cNvSpPr txBox="1"/>
            <p:nvPr/>
          </p:nvSpPr>
          <p:spPr>
            <a:xfrm>
              <a:off x="7175284" y="6016752"/>
              <a:ext cx="603049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&lt;0.001</a:t>
              </a:r>
            </a:p>
          </p:txBody>
        </p:sp>
        <p:sp>
          <p:nvSpPr>
            <p:cNvPr id="156" name="Rectangle 155"/>
            <p:cNvSpPr/>
            <p:nvPr/>
          </p:nvSpPr>
          <p:spPr>
            <a:xfrm>
              <a:off x="8048308" y="6016752"/>
              <a:ext cx="114300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7" name="TextBox 156"/>
            <p:cNvSpPr txBox="1"/>
            <p:nvPr/>
          </p:nvSpPr>
          <p:spPr>
            <a:xfrm>
              <a:off x="8318284" y="6016752"/>
              <a:ext cx="603049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1A1A2E"/>
                  </a:solidFill>
                  <a:latin typeface="맑은 고딕"/>
                </a:rPr>
                <a:t>&lt;0.001</a:t>
              </a:r>
            </a:p>
          </p:txBody>
        </p:sp>
        <p:sp>
          <p:nvSpPr>
            <p:cNvPr id="158" name="Rectangle 157"/>
            <p:cNvSpPr/>
            <p:nvPr/>
          </p:nvSpPr>
          <p:spPr>
            <a:xfrm>
              <a:off x="9237028" y="6016752"/>
              <a:ext cx="105156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9" name="TextBox 158"/>
            <p:cNvSpPr txBox="1"/>
            <p:nvPr/>
          </p:nvSpPr>
          <p:spPr>
            <a:xfrm>
              <a:off x="9583913" y="6016752"/>
              <a:ext cx="357790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C0392B"/>
                  </a:solidFill>
                  <a:latin typeface="맑은 고딕"/>
                </a:rPr>
                <a:t>***</a:t>
              </a:r>
            </a:p>
          </p:txBody>
        </p:sp>
        <p:sp>
          <p:nvSpPr>
            <p:cNvPr id="160" name="Rectangle 159"/>
            <p:cNvSpPr/>
            <p:nvPr/>
          </p:nvSpPr>
          <p:spPr>
            <a:xfrm>
              <a:off x="10334308" y="6016752"/>
              <a:ext cx="1508760" cy="338328"/>
            </a:xfrm>
            <a:prstGeom prst="rect">
              <a:avLst/>
            </a:prstGeom>
            <a:solidFill>
              <a:srgbClr val="F0F4F8"/>
            </a:solidFill>
            <a:ln w="6350">
              <a:solidFill>
                <a:srgbClr val="CCCCC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1" name="TextBox 160"/>
            <p:cNvSpPr txBox="1"/>
            <p:nvPr/>
          </p:nvSpPr>
          <p:spPr>
            <a:xfrm>
              <a:off x="10909793" y="6016752"/>
              <a:ext cx="357790" cy="25391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sz="1050">
                  <a:solidFill>
                    <a:srgbClr val="C0392B"/>
                  </a:solidFill>
                  <a:latin typeface="맑은 고딕"/>
                </a:rPr>
                <a:t>***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0"/>
            <a:ext cx="320040" cy="960120"/>
          </a:xfrm>
          <a:prstGeom prst="rect">
            <a:avLst/>
          </a:prstGeom>
          <a:solidFill>
            <a:srgbClr val="0F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8" y="73152"/>
            <a:ext cx="7709868" cy="4154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맑은 고딕"/>
              </a:rPr>
              <a:t>[OK+Miss] BCEWithLogitsLoss  +  AEC 128pt  — 간략 요약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3069" y="566929"/>
            <a:ext cx="6145657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9EA3AB"/>
                </a:solidFill>
                <a:latin typeface="맑은 고딕"/>
              </a:rPr>
              <a:t>OK+Missing 코호트 (n=1,162)  |  norm · excl_extreme 조건 비교 / DeLong 전 조건 ns</a:t>
            </a:r>
          </a:p>
        </p:txBody>
      </p:sp>
      <p:sp>
        <p:nvSpPr>
          <p:cNvPr id="7" name="Rectangle 6"/>
          <p:cNvSpPr/>
          <p:nvPr/>
        </p:nvSpPr>
        <p:spPr>
          <a:xfrm>
            <a:off x="230188" y="1005840"/>
            <a:ext cx="539496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221385" y="1024128"/>
            <a:ext cx="1412566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ROC — norm 조건</a:t>
            </a:r>
          </a:p>
        </p:txBody>
      </p:sp>
      <p:pic>
        <p:nvPicPr>
          <p:cNvPr id="9" name="Picture 8" descr="roc_all_models_n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068" y="1325880"/>
            <a:ext cx="5064623" cy="261815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230188" y="3913632"/>
            <a:ext cx="539496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968912" y="3931920"/>
            <a:ext cx="1917513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ROC — excl_extreme 조건</a:t>
            </a:r>
          </a:p>
        </p:txBody>
      </p:sp>
      <p:pic>
        <p:nvPicPr>
          <p:cNvPr id="12" name="Picture 11" descr="roc_all_models_excl_extre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068" y="4233672"/>
            <a:ext cx="5064623" cy="2618153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853748" y="1005840"/>
            <a:ext cx="6126480" cy="301752"/>
          </a:xfrm>
          <a:prstGeom prst="rect">
            <a:avLst/>
          </a:prstGeom>
          <a:solidFill>
            <a:srgbClr val="FFF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26900" y="1024128"/>
            <a:ext cx="6207148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E87400"/>
                </a:solidFill>
                <a:latin typeface="맑은 고딕"/>
              </a:rPr>
              <a:t>※ Calibration — M2  BCEWithLogitsLoss+AEC 128pt+norm  (Brier)  (Brier 보정 품질 확인)</a:t>
            </a:r>
          </a:p>
        </p:txBody>
      </p:sp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3748" y="1325880"/>
            <a:ext cx="6126480" cy="256032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853748" y="4005072"/>
            <a:ext cx="6126480" cy="301752"/>
          </a:xfrm>
          <a:prstGeom prst="rect">
            <a:avLst/>
          </a:prstGeom>
          <a:solidFill>
            <a:srgbClr val="FFF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26900" y="4023359"/>
            <a:ext cx="6207148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E87400"/>
                </a:solidFill>
                <a:latin typeface="맑은 고딕"/>
              </a:rPr>
              <a:t>※ Calibration — M3  BCEWithLogitsLoss+AEC 128pt+norm  (Brier)  (Brier 보정 품질 확인)</a:t>
            </a:r>
          </a:p>
        </p:txBody>
      </p:sp>
      <p:pic>
        <p:nvPicPr>
          <p:cNvPr id="18" name="Picture 17" descr="calibra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3748" y="4325112"/>
            <a:ext cx="6126480" cy="242316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0"/>
            <a:ext cx="320040" cy="960120"/>
          </a:xfrm>
          <a:prstGeom prst="rect">
            <a:avLst/>
          </a:prstGeom>
          <a:solidFill>
            <a:srgbClr val="0F9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8" y="73152"/>
            <a:ext cx="7709868" cy="4154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맑은 고딕"/>
              </a:rPr>
              <a:t>[OK+Miss] BCEWithLogitsLoss  +  AEC 256pt  — 간략 요약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3069" y="566929"/>
            <a:ext cx="6145657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9EA3AB"/>
                </a:solidFill>
                <a:latin typeface="맑은 고딕"/>
              </a:rPr>
              <a:t>OK+Missing 코호트 (n=1,162)  |  norm · excl_extreme 조건 비교 / DeLong 전 조건 ns</a:t>
            </a:r>
          </a:p>
        </p:txBody>
      </p:sp>
      <p:sp>
        <p:nvSpPr>
          <p:cNvPr id="7" name="Rectangle 6"/>
          <p:cNvSpPr/>
          <p:nvPr/>
        </p:nvSpPr>
        <p:spPr>
          <a:xfrm>
            <a:off x="230188" y="1005840"/>
            <a:ext cx="539496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221385" y="1024128"/>
            <a:ext cx="1412566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ROC — norm 조건</a:t>
            </a:r>
          </a:p>
        </p:txBody>
      </p:sp>
      <p:pic>
        <p:nvPicPr>
          <p:cNvPr id="9" name="Picture 8" descr="roc_all_models_n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068" y="1325880"/>
            <a:ext cx="5064623" cy="261815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230188" y="3913632"/>
            <a:ext cx="539496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968912" y="3931920"/>
            <a:ext cx="1917513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ROC — excl_extreme 조건</a:t>
            </a:r>
          </a:p>
        </p:txBody>
      </p:sp>
      <p:pic>
        <p:nvPicPr>
          <p:cNvPr id="12" name="Picture 11" descr="roc_all_models_excl_extre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068" y="4233672"/>
            <a:ext cx="5064623" cy="2618153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853748" y="1005840"/>
            <a:ext cx="6126480" cy="301752"/>
          </a:xfrm>
          <a:prstGeom prst="rect">
            <a:avLst/>
          </a:prstGeom>
          <a:solidFill>
            <a:srgbClr val="FFF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26900" y="1024128"/>
            <a:ext cx="6207148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E87400"/>
                </a:solidFill>
                <a:latin typeface="맑은 고딕"/>
              </a:rPr>
              <a:t>※ Calibration — M2  BCEWithLogitsLoss+AEC 256pt+norm  (Brier)  (Brier 보정 품질 확인)</a:t>
            </a:r>
          </a:p>
        </p:txBody>
      </p:sp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3748" y="1325880"/>
            <a:ext cx="6126480" cy="256032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853748" y="4005072"/>
            <a:ext cx="6126480" cy="301752"/>
          </a:xfrm>
          <a:prstGeom prst="rect">
            <a:avLst/>
          </a:prstGeom>
          <a:solidFill>
            <a:srgbClr val="FFF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26900" y="4023359"/>
            <a:ext cx="6207148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E87400"/>
                </a:solidFill>
                <a:latin typeface="맑은 고딕"/>
              </a:rPr>
              <a:t>※ Calibration — M3  BCEWithLogitsLoss+AEC 256pt+norm  (Brier)  (Brier 보정 품질 확인)</a:t>
            </a:r>
          </a:p>
        </p:txBody>
      </p:sp>
      <p:pic>
        <p:nvPicPr>
          <p:cNvPr id="18" name="Picture 17" descr="calibra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3748" y="4325112"/>
            <a:ext cx="6126480" cy="242316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0"/>
            <a:ext cx="320040" cy="960120"/>
          </a:xfrm>
          <a:prstGeom prst="rect">
            <a:avLst/>
          </a:prstGeom>
          <a:solidFill>
            <a:srgbClr val="E87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9" y="73152"/>
            <a:ext cx="6486071" cy="4154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맑은 고딕"/>
              </a:rPr>
              <a:t>[OK+Miss] FocalLoss  +  AEC 128pt  — 간략 요약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3069" y="566929"/>
            <a:ext cx="6145657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9EA3AB"/>
                </a:solidFill>
                <a:latin typeface="맑은 고딕"/>
              </a:rPr>
              <a:t>OK+Missing 코호트 (n=1,162)  |  norm · excl_extreme 조건 비교 / DeLong 전 조건 ns</a:t>
            </a:r>
          </a:p>
        </p:txBody>
      </p:sp>
      <p:sp>
        <p:nvSpPr>
          <p:cNvPr id="7" name="Rectangle 6"/>
          <p:cNvSpPr/>
          <p:nvPr/>
        </p:nvSpPr>
        <p:spPr>
          <a:xfrm>
            <a:off x="230188" y="1005840"/>
            <a:ext cx="539496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221385" y="1024128"/>
            <a:ext cx="1412566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ROC — norm 조건</a:t>
            </a:r>
          </a:p>
        </p:txBody>
      </p:sp>
      <p:pic>
        <p:nvPicPr>
          <p:cNvPr id="9" name="Picture 8" descr="roc_all_models_n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705" y="1325880"/>
            <a:ext cx="5064623" cy="261815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230188" y="3913632"/>
            <a:ext cx="539496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968912" y="3931920"/>
            <a:ext cx="1917513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ROC — excl_extreme 조건</a:t>
            </a:r>
          </a:p>
        </p:txBody>
      </p:sp>
      <p:pic>
        <p:nvPicPr>
          <p:cNvPr id="12" name="Picture 11" descr="roc_all_models_excl_extre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705" y="4233672"/>
            <a:ext cx="5064623" cy="2618153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853748" y="1005840"/>
            <a:ext cx="6126480" cy="301752"/>
          </a:xfrm>
          <a:prstGeom prst="rect">
            <a:avLst/>
          </a:prstGeom>
          <a:solidFill>
            <a:srgbClr val="FFF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26900" y="1024128"/>
            <a:ext cx="5570756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E87400"/>
                </a:solidFill>
                <a:latin typeface="맑은 고딕"/>
              </a:rPr>
              <a:t>※ Calibration — M2  FocalLoss+AEC 128pt+norm  (Brier)  (Brier 보정 품질 확인)</a:t>
            </a:r>
          </a:p>
        </p:txBody>
      </p:sp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3748" y="1325880"/>
            <a:ext cx="6126480" cy="256032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853748" y="4005072"/>
            <a:ext cx="6126480" cy="301752"/>
          </a:xfrm>
          <a:prstGeom prst="rect">
            <a:avLst/>
          </a:prstGeom>
          <a:solidFill>
            <a:srgbClr val="FFF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26900" y="4023359"/>
            <a:ext cx="5570756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E87400"/>
                </a:solidFill>
                <a:latin typeface="맑은 고딕"/>
              </a:rPr>
              <a:t>※ Calibration — M3  FocalLoss+AEC 128pt+norm  (Brier)  (Brier 보정 품질 확인)</a:t>
            </a:r>
          </a:p>
        </p:txBody>
      </p:sp>
      <p:pic>
        <p:nvPicPr>
          <p:cNvPr id="18" name="Picture 17" descr="calibra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3748" y="4325112"/>
            <a:ext cx="6126480" cy="242316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588" y="0"/>
            <a:ext cx="12188952" cy="9601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588" y="0"/>
            <a:ext cx="320040" cy="960120"/>
          </a:xfrm>
          <a:prstGeom prst="rect">
            <a:avLst/>
          </a:prstGeom>
          <a:solidFill>
            <a:srgbClr val="1E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3069" y="73152"/>
            <a:ext cx="6486071" cy="4154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맑은 고딕"/>
              </a:rPr>
              <a:t>[OK+Miss] FocalLoss  +  AEC 256pt  — 간략 요약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3069" y="566929"/>
            <a:ext cx="6145657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9EA3AB"/>
                </a:solidFill>
                <a:latin typeface="맑은 고딕"/>
              </a:rPr>
              <a:t>OK+Missing 코호트 (n=1,162)  |  norm · excl_extreme 조건 비교 / DeLong 전 조건 ns</a:t>
            </a:r>
          </a:p>
        </p:txBody>
      </p:sp>
      <p:sp>
        <p:nvSpPr>
          <p:cNvPr id="7" name="Rectangle 6"/>
          <p:cNvSpPr/>
          <p:nvPr/>
        </p:nvSpPr>
        <p:spPr>
          <a:xfrm>
            <a:off x="230188" y="1005840"/>
            <a:ext cx="539496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221385" y="1024128"/>
            <a:ext cx="1412566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ROC — norm 조건</a:t>
            </a:r>
          </a:p>
        </p:txBody>
      </p:sp>
      <p:pic>
        <p:nvPicPr>
          <p:cNvPr id="9" name="Picture 8" descr="roc_all_models_n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069" y="1325880"/>
            <a:ext cx="5073332" cy="262265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230188" y="3913632"/>
            <a:ext cx="539496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968912" y="3931920"/>
            <a:ext cx="1917513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ROC — excl_extreme 조건</a:t>
            </a:r>
          </a:p>
        </p:txBody>
      </p:sp>
      <p:pic>
        <p:nvPicPr>
          <p:cNvPr id="12" name="Picture 11" descr="roc_all_models_excl_extre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069" y="4233672"/>
            <a:ext cx="5073332" cy="2622655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853748" y="1005840"/>
            <a:ext cx="6126480" cy="301752"/>
          </a:xfrm>
          <a:prstGeom prst="rect">
            <a:avLst/>
          </a:prstGeom>
          <a:solidFill>
            <a:srgbClr val="FFF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26900" y="1024128"/>
            <a:ext cx="5570756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E87400"/>
                </a:solidFill>
                <a:latin typeface="맑은 고딕"/>
              </a:rPr>
              <a:t>※ Calibration — M2  FocalLoss+AEC 256pt+norm  (Brier)  (Brier 보정 품질 확인)</a:t>
            </a:r>
          </a:p>
        </p:txBody>
      </p:sp>
      <p:pic>
        <p:nvPicPr>
          <p:cNvPr id="15" name="Picture 14" descr="calibr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3748" y="1325880"/>
            <a:ext cx="6126480" cy="256032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853748" y="4005072"/>
            <a:ext cx="6126480" cy="301752"/>
          </a:xfrm>
          <a:prstGeom prst="rect">
            <a:avLst/>
          </a:prstGeom>
          <a:solidFill>
            <a:srgbClr val="FFF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26900" y="4023359"/>
            <a:ext cx="5570756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E87400"/>
                </a:solidFill>
                <a:latin typeface="맑은 고딕"/>
              </a:rPr>
              <a:t>※ Calibration — M3  FocalLoss+AEC 256pt+norm  (Brier)  (Brier 보정 품질 확인)</a:t>
            </a:r>
          </a:p>
        </p:txBody>
      </p:sp>
      <p:pic>
        <p:nvPicPr>
          <p:cNvPr id="18" name="Picture 17" descr="calibra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3748" y="4325112"/>
            <a:ext cx="6126480" cy="242316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6" name="Google Shape;1176;g3d412ffb079_0_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928138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3161</TotalTime>
  <Words>5016</Words>
  <Application>Microsoft Office PowerPoint</Application>
  <PresentationFormat>와이드스크린</PresentationFormat>
  <Paragraphs>1298</Paragraphs>
  <Slides>55</Slides>
  <Notes>24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55</vt:i4>
      </vt:variant>
    </vt:vector>
  </HeadingPairs>
  <TitlesOfParts>
    <vt:vector size="60" baseType="lpstr">
      <vt:lpstr>KoPub돋움체 Medium</vt:lpstr>
      <vt:lpstr>KoPub돋움체 Bold</vt:lpstr>
      <vt:lpstr>맑은 고딕</vt:lpstr>
      <vt:lpstr>Arial</vt:lpstr>
      <vt:lpstr>Office 테마</vt:lpstr>
      <vt:lpstr>PowerPoint 프레젠테이션</vt:lpstr>
      <vt:lpstr>1. What’s discussed in the last meetings</vt:lpstr>
      <vt:lpstr>1. What’s discussed in the last meetings</vt:lpstr>
      <vt:lpstr>1. What’s discussed in the last meetings</vt:lpstr>
      <vt:lpstr>2. Research Summary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4. Conclusion</vt:lpstr>
      <vt:lpstr>5. Next Plans</vt:lpstr>
      <vt:lpstr>부록 – 조건별 상세 결과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부록 2  – OK+Missing 확장 데이터셋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전장훈</dc:creator>
  <cp:lastModifiedBy>전장훈</cp:lastModifiedBy>
  <cp:revision>282</cp:revision>
  <dcterms:created xsi:type="dcterms:W3CDTF">2026-04-09T07:05:16Z</dcterms:created>
  <dcterms:modified xsi:type="dcterms:W3CDTF">2026-05-22T02:17:07Z</dcterms:modified>
</cp:coreProperties>
</file>