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1"/>
  </p:sldMasterIdLst>
  <p:notesMasterIdLst>
    <p:notesMasterId r:id="rId25"/>
  </p:notesMasterIdLst>
  <p:sldIdLst>
    <p:sldId id="256" r:id="rId2"/>
    <p:sldId id="524" r:id="rId3"/>
    <p:sldId id="548" r:id="rId4"/>
    <p:sldId id="551" r:id="rId5"/>
    <p:sldId id="569" r:id="rId6"/>
    <p:sldId id="555" r:id="rId7"/>
    <p:sldId id="556" r:id="rId8"/>
    <p:sldId id="558" r:id="rId9"/>
    <p:sldId id="552" r:id="rId10"/>
    <p:sldId id="559" r:id="rId11"/>
    <p:sldId id="560" r:id="rId12"/>
    <p:sldId id="561" r:id="rId13"/>
    <p:sldId id="562" r:id="rId14"/>
    <p:sldId id="563" r:id="rId15"/>
    <p:sldId id="566" r:id="rId16"/>
    <p:sldId id="567" r:id="rId17"/>
    <p:sldId id="570" r:id="rId18"/>
    <p:sldId id="564" r:id="rId19"/>
    <p:sldId id="565" r:id="rId20"/>
    <p:sldId id="571" r:id="rId21"/>
    <p:sldId id="568" r:id="rId22"/>
    <p:sldId id="572" r:id="rId23"/>
    <p:sldId id="479" r:id="rId24"/>
  </p:sldIdLst>
  <p:sldSz cx="12192000" cy="6858000"/>
  <p:notesSz cx="6858000" cy="9144000"/>
  <p:embeddedFontLst>
    <p:embeddedFont>
      <p:font typeface="KoPub돋움체 Bold" panose="00000800000000000000" pitchFamily="2" charset="-127"/>
      <p:bold r:id="rId26"/>
    </p:embeddedFont>
    <p:embeddedFont>
      <p:font typeface="KoPub돋움체 Medium" panose="00000600000000000000" pitchFamily="2" charset="-127"/>
      <p:regular r:id="rId27"/>
    </p:embeddedFont>
    <p:embeddedFont>
      <p:font typeface="맑은 고딕" panose="020B0503020000020004" pitchFamily="50" charset="-127"/>
      <p:regular r:id="rId28"/>
      <p:bold r:id="rId29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097B6DF2-66C3-4074-9053-F9AA00FED5D5}">
          <p14:sldIdLst>
            <p14:sldId id="256"/>
            <p14:sldId id="524"/>
            <p14:sldId id="548"/>
            <p14:sldId id="551"/>
            <p14:sldId id="569"/>
            <p14:sldId id="555"/>
            <p14:sldId id="556"/>
            <p14:sldId id="558"/>
            <p14:sldId id="552"/>
            <p14:sldId id="559"/>
            <p14:sldId id="560"/>
            <p14:sldId id="561"/>
            <p14:sldId id="562"/>
            <p14:sldId id="563"/>
            <p14:sldId id="566"/>
            <p14:sldId id="567"/>
            <p14:sldId id="570"/>
            <p14:sldId id="564"/>
            <p14:sldId id="565"/>
            <p14:sldId id="571"/>
            <p14:sldId id="568"/>
            <p14:sldId id="572"/>
            <p14:sldId id="4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전장훈" initials="전" lastIdx="19" clrIdx="0">
    <p:extLst>
      <p:ext uri="{19B8F6BF-5375-455C-9EA6-DF929625EA0E}">
        <p15:presenceInfo xmlns:p15="http://schemas.microsoft.com/office/powerpoint/2012/main" userId="전장훈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23670"/>
    <a:srgbClr val="17A5AA"/>
    <a:srgbClr val="1F34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BB50F4-122B-41C8-8B97-E733E2DA839E}" v="104" dt="2026-04-30T01:48:13.387"/>
    <p1510:client id="{59280094-6966-4D40-B0D2-C3AF0E296DD5}" v="33" dt="2026-04-29T05:12:11.973"/>
    <p1510:client id="{F96BF643-3359-45F4-82D4-8AA1E0B6CADD}" v="30" dt="2026-04-29T10:17:24.925"/>
  </p1510:revLst>
</p1510:revInfo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1879" autoAdjust="0"/>
  </p:normalViewPr>
  <p:slideViewPr>
    <p:cSldViewPr snapToGrid="0">
      <p:cViewPr varScale="1">
        <p:scale>
          <a:sx n="110" d="100"/>
          <a:sy n="110" d="100"/>
        </p:scale>
        <p:origin x="57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912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2.fntdata"/><Relationship Id="rId30" Type="http://schemas.openxmlformats.org/officeDocument/2006/relationships/commentAuthors" Target="commentAuthors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33074436-1BEA-4F09-AD5C-9DF87C96BF5A}" type="datetimeFigureOut">
              <a:rPr lang="ko-KR" altLang="en-US" smtClean="0"/>
              <a:pPr/>
              <a:t>2026-05-21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433C9518-700F-4811-95BB-24DAF3FA92F2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77649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oPub돋움체 Medium" panose="00000600000000000000" pitchFamily="2" charset="-127"/>
        <a:ea typeface="KoPub돋움체 Medium" panose="00000600000000000000" pitchFamily="2" charset="-127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발표 시작하겠습니다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이번주 진행한 연구 결과에 대해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공유드리겠습니다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05490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AAC64-4809-CFDB-DD82-8C411BF90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E00CA24-0109-6788-DE0D-8E930A4B7F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DDF5CE1-02A0-E30B-7E00-1067FDF0BD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이번주 연구 요약입니다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핵심은 세 가지 모델 구조의 비교입니다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나이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성별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BMI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만 사용하는 기저모델</a:t>
            </a: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 + AEC**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임상변수에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시계열 추가</a:t>
            </a: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 + AEC + Scanner**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여기에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CT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제조사 모델명을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임베딩으로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추가</a:t>
            </a:r>
          </a:p>
          <a:p>
            <a:b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</a:br>
            <a:endParaRPr lang="ko-KR" altLang="en-US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그리고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SMI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는 앞서 말씀드린 공식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—`SMI = (TAMA − IMATA) / Height²`—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으로 정의하고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한국인 기준 하위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5% threshold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로 이진 분류를 수행하였습니다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참조한 논문은 총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5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편으로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 기준에 대해서는 데이터 섹션에서 자세히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설명드리겠습니다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1FB4E7-21AC-953F-57A3-5376A248A5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88163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973E4-C933-DFB0-A81C-093C5ADA2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A81BF77-46A0-3F97-E11F-B1CCBC0E2C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A2D131A-B82E-CF1E-2996-60F98D0CC5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</a:t>
            </a:r>
            <a:r>
              <a:rPr lang="en-US" altLang="ko-KR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Slide 4</a:t>
            </a:r>
            <a:r>
              <a:rPr lang="ko-KR" altLang="en-US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의 </a:t>
            </a:r>
            <a:r>
              <a:rPr lang="en-US" altLang="ko-KR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Best Model Summary </a:t>
            </a:r>
            <a:r>
              <a:rPr lang="ko-KR" altLang="en-US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표*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를 보시면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세 가지 최상위 모델 성능이 요약되어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1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위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Model 3**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(Clinic + AEC + Scanner, </a:t>
            </a:r>
            <a:r>
              <a:rPr lang="en-US" altLang="ko-KR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CrossAttn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) — Test AUC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0.8453**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Sensitivity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82.1%**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Specificity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69.2%**</a:t>
            </a:r>
            <a:endParaRPr lang="ko-KR" altLang="en-US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2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위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Model 2**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(Clinic + AEC, </a:t>
            </a:r>
            <a:r>
              <a:rPr lang="en-US" altLang="ko-KR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CrossAttn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) — Test AUC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0.8403**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Sensitivity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89.3%**</a:t>
            </a:r>
            <a:endParaRPr lang="ko-KR" altLang="en-US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3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위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Model 1**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(Clinic only, LR) — Test AUC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0.8291**</a:t>
            </a:r>
            <a:endParaRPr lang="ko-KR" altLang="en-US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endParaRPr lang="ko-KR" altLang="en-US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를 추가함으로써 기저모델 대비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AUC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가 최대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0.016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향상되었으며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제조사 정보를 추가로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임베딩하면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추가적인 향상이 관찰되었습니다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또한 하단에는 </a:t>
            </a:r>
            <a:r>
              <a:rPr lang="en-US" altLang="ko-KR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CrossAttn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모델에서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환자 매칭 여부에 따른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AUC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차이도 정리되어 있는데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 부분은 뒤에 별도로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설명드리겠습니다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E9BFFE-6DCB-C54D-A7A4-49A234420B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76652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4AA21-9CF8-678A-C0B8-5BEF83D90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1EA69DB-1308-34E1-27D7-99625C5840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7556C2F-238D-8454-0A8F-4305E1785F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AD18F8-447A-78AA-5E93-0870CCD385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93233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51427D-18AB-FB27-8FFC-A0B6FFCD4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5EBBC08-1943-2DBE-075E-E8FCBA7F46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0942D80-8618-D7E3-0C44-FD1E178E9B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A43CCB-D6EA-6323-E4F9-E92A51F7DE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60696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7CAAC-A43F-15F6-F38E-F4B14F211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CB3547B-80AA-6D0D-79FA-1FCDF983FA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AF9C7F7-4ABD-CFF8-3ED4-082C306DF1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D17007A-A9B5-A594-7165-EBA1B58F66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30598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04183-5D94-C9AF-55C7-FE0777799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50C4E6B-0A09-C4D9-8137-24FAEE29CE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4587777-1F09-382F-5D13-B54DCD6566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C98B68-6805-520F-5878-F22165E086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079937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12615-0334-0285-A650-A668411B1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5B4EA9D-D219-60E3-020F-29B0735E8B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AB41B85-B40F-D632-CFD5-3FCB8B8940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6E2E6CE-BA5D-90EC-DBA0-281A8E406B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41629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60D9A-6523-D812-D915-B8D3DBA9E8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BA079CC-2D42-A96C-B5E8-4C4867CDE1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A98F159-4291-AE78-8BB6-C96A78675D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F4A957C-CF48-C2B8-E93D-76728A1F79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293721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15072A-57AF-2F56-2988-BAC1BF0BB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819B8DA-7169-60BF-A4C9-01A3C30233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2A84043-3191-9E36-3941-6CC71FFC59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DAC91C0-55F5-F34A-2504-0536881EE1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384861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5EBF4-EC6F-1CFF-5ED4-D0BD3EB8A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A3AAE3E-99BB-C674-861A-63DB2DBECC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AEDA680-66E8-0B95-2D60-C536655EF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B6561BC-6ECE-9AB1-FD83-7574AEC478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27661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3336C6-A34E-7C97-D3FB-FB66F1EF7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057F21C-7213-F6F3-A53C-2FCEA1F64F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0124891-6B04-B8A0-10FA-6A1B81EBA8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E55A71-013D-8926-501F-770EF40D0A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721126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9D343F-F1EF-718D-F5F1-6A187083C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5FF268-CD1F-9312-37CA-2CE017812E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1275D2A-1900-478F-72BC-79AACC27DF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666204-5640-D494-16FC-AB3F7D42C8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8976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00BC3-32AD-3DA9-52EB-E344E265F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B971BBF-6E34-CFCA-A12C-8561673A6F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9A60516-EB0C-D9A5-CB26-40B5A40FB4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633A557-5415-E01D-76A6-1A7C7E1BA0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117250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5EBF4-EC6F-1CFF-5ED4-D0BD3EB8A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A3AAE3E-99BB-C674-861A-63DB2DBECC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AEDA680-66E8-0B95-2D60-C536655EF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B6561BC-6ECE-9AB1-FD83-7574AEC478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701880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437020-A913-1A55-15EB-0BF199BA2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9A4BE4-D11F-460C-033D-2C0DE1CE4C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2478A0A-554B-4BD2-D452-75C6C98140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E9E985-0D64-EE15-FDB5-6B3B50C309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03061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A0874E-124A-FA24-D696-D8E0FE116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928EDE4-D95F-FA53-1DB7-76D62D540F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A3FFCAC-18BB-9848-59AE-3EF9233A9F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2B445A-AF34-EA53-97B5-442A7D5961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896269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9CC27-819E-E9C6-8612-B4A6EF20A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F2C5E51-CCB8-54C7-6E23-F5DCCCFA5D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20C343B-BAB9-7678-50A0-097E9769D4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090221D-ACEA-1496-271C-2665BEA77D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857363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Google Shape;1172;g3d412ffb079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40188" y="857250"/>
            <a:ext cx="4113212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3" name="Google Shape;1173;g3d412ffb079_0_61:notes"/>
          <p:cNvSpPr txBox="1">
            <a:spLocks noGrp="1"/>
          </p:cNvSpPr>
          <p:nvPr>
            <p:ph type="body" idx="1"/>
          </p:nvPr>
        </p:nvSpPr>
        <p:spPr>
          <a:xfrm>
            <a:off x="1219200" y="3300413"/>
            <a:ext cx="9753600" cy="2700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4" name="Google Shape;1174;g3d412ffb079_0_61:notes"/>
          <p:cNvSpPr txBox="1">
            <a:spLocks noGrp="1"/>
          </p:cNvSpPr>
          <p:nvPr>
            <p:ph type="sldNum" idx="12"/>
          </p:nvPr>
        </p:nvSpPr>
        <p:spPr>
          <a:xfrm>
            <a:off x="6905625" y="6513513"/>
            <a:ext cx="5283300" cy="3444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223973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ject 2">
            <a:extLst>
              <a:ext uri="{FF2B5EF4-FFF2-40B4-BE49-F238E27FC236}">
                <a16:creationId xmlns:a16="http://schemas.microsoft.com/office/drawing/2014/main" id="{D279837B-A00B-4327-9AB8-97044CBDABA7}"/>
              </a:ext>
            </a:extLst>
          </p:cNvPr>
          <p:cNvPicPr/>
          <p:nvPr userDrawn="1"/>
        </p:nvPicPr>
        <p:blipFill rotWithShape="1">
          <a:blip r:embed="rId2"/>
          <a:stretch>
            <a:fillRect/>
          </a:stretch>
        </p:blipFill>
        <p:spPr>
          <a:xfrm>
            <a:off x="0" y="228731"/>
            <a:ext cx="12192000" cy="640053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B17CE84-3562-483D-8448-6A30899AF09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9699" b="22132"/>
          <a:stretch/>
        </p:blipFill>
        <p:spPr>
          <a:xfrm>
            <a:off x="3461866" y="5273477"/>
            <a:ext cx="4168803" cy="982769"/>
          </a:xfrm>
          <a:prstGeom prst="rect">
            <a:avLst/>
          </a:prstGeom>
        </p:spPr>
      </p:pic>
      <p:pic>
        <p:nvPicPr>
          <p:cNvPr id="8" name="object 4">
            <a:extLst>
              <a:ext uri="{FF2B5EF4-FFF2-40B4-BE49-F238E27FC236}">
                <a16:creationId xmlns:a16="http://schemas.microsoft.com/office/drawing/2014/main" id="{8EF8DD5B-0316-4193-BCC7-D6CFCAE8969D}"/>
              </a:ext>
            </a:extLst>
          </p:cNvPr>
          <p:cNvPicPr/>
          <p:nvPr userDrawn="1"/>
        </p:nvPicPr>
        <p:blipFill rotWithShape="1">
          <a:blip r:embed="rId4"/>
          <a:stretch>
            <a:fillRect/>
          </a:stretch>
        </p:blipFill>
        <p:spPr>
          <a:xfrm>
            <a:off x="-277376" y="5274173"/>
            <a:ext cx="4550839" cy="992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578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그룹 23">
            <a:extLst>
              <a:ext uri="{FF2B5EF4-FFF2-40B4-BE49-F238E27FC236}">
                <a16:creationId xmlns:a16="http://schemas.microsoft.com/office/drawing/2014/main" id="{5EC22856-02EF-4559-9B66-BD5C863FF254}"/>
              </a:ext>
            </a:extLst>
          </p:cNvPr>
          <p:cNvGrpSpPr/>
          <p:nvPr userDrawn="1"/>
        </p:nvGrpSpPr>
        <p:grpSpPr>
          <a:xfrm>
            <a:off x="-8467" y="6463089"/>
            <a:ext cx="12200467" cy="403574"/>
            <a:chOff x="-8467" y="6470661"/>
            <a:chExt cx="12200467" cy="390527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0DFE1C4B-A7EE-47E1-8AAE-3EF4E43D16F6}"/>
                </a:ext>
              </a:extLst>
            </p:cNvPr>
            <p:cNvSpPr/>
            <p:nvPr userDrawn="1"/>
          </p:nvSpPr>
          <p:spPr>
            <a:xfrm>
              <a:off x="0" y="6496062"/>
              <a:ext cx="12192000" cy="365126"/>
            </a:xfrm>
            <a:prstGeom prst="rect">
              <a:avLst/>
            </a:prstGeom>
            <a:solidFill>
              <a:srgbClr val="1F346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28C131E4-1CD9-49D8-B343-8379436586C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8467" y="6470661"/>
              <a:ext cx="12200467" cy="0"/>
            </a:xfrm>
            <a:prstGeom prst="line">
              <a:avLst/>
            </a:prstGeom>
            <a:ln w="571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FE4F955D-C3E9-4033-8442-9095377B06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000" y="365126"/>
            <a:ext cx="11176000" cy="532342"/>
          </a:xfrm>
        </p:spPr>
        <p:txBody>
          <a:bodyPr>
            <a:normAutofit/>
          </a:bodyPr>
          <a:lstStyle>
            <a:lvl1pPr>
              <a:defRPr sz="2400" b="1">
                <a:solidFill>
                  <a:srgbClr val="02367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Arial" panose="020B0604020202020204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A482F1-FC12-443E-892A-B48F9C50AA5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08000" y="897468"/>
            <a:ext cx="11176000" cy="5063066"/>
          </a:xfrm>
        </p:spPr>
        <p:txBody>
          <a:bodyPr/>
          <a:lstStyle>
            <a:lvl1pPr>
              <a:lnSpc>
                <a:spcPct val="200000"/>
              </a:lnSpc>
              <a:defRPr sz="2000" b="0">
                <a:latin typeface="KoPub돋움체 Bold" panose="02020603020101020101" pitchFamily="18" charset="-127"/>
                <a:ea typeface="KoPub돋움체 Bold" panose="02020603020101020101" pitchFamily="18" charset="-127"/>
              </a:defRPr>
            </a:lvl1pPr>
            <a:lvl2pPr>
              <a:lnSpc>
                <a:spcPct val="150000"/>
              </a:lnSpc>
              <a:defRPr sz="18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2pPr>
            <a:lvl3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3pPr>
            <a:lvl4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4pPr>
            <a:lvl5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5A1225D-0BD8-42FD-A091-144615FF073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-583" b="3459"/>
          <a:stretch/>
        </p:blipFill>
        <p:spPr>
          <a:xfrm>
            <a:off x="5452198" y="6510701"/>
            <a:ext cx="1279135" cy="355962"/>
          </a:xfrm>
          <a:prstGeom prst="rect">
            <a:avLst/>
          </a:prstGeom>
          <a:solidFill>
            <a:srgbClr val="1F346B"/>
          </a:solidFill>
        </p:spPr>
      </p:pic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1EFF5A-1B85-42B1-95F5-C4213C5AD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04600" y="6517302"/>
            <a:ext cx="558800" cy="32139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AEAB581-7B9E-4552-9BEC-BDB2FB36C0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6482" b="96122" l="16219" r="85171">
                        <a14:foregroundMark x1="20111" y1="81440" x2="20111" y2="81440"/>
                        <a14:foregroundMark x1="16404" y1="81440" x2="16404" y2="81440"/>
                        <a14:foregroundMark x1="25950" y1="81717" x2="25950" y2="81717"/>
                        <a14:foregroundMark x1="35959" y1="86704" x2="35959" y2="86704"/>
                        <a14:foregroundMark x1="44300" y1="83657" x2="44300" y2="83657"/>
                        <a14:foregroundMark x1="53197" y1="73961" x2="53197" y2="73961"/>
                        <a14:foregroundMark x1="82947" y1="81717" x2="82947" y2="81717"/>
                        <a14:foregroundMark x1="85171" y1="87812" x2="85171" y2="8781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517" t="63297" r="13176"/>
          <a:stretch/>
        </p:blipFill>
        <p:spPr>
          <a:xfrm>
            <a:off x="112017" y="6545265"/>
            <a:ext cx="1744133" cy="288231"/>
          </a:xfrm>
          <a:prstGeom prst="rect">
            <a:avLst/>
          </a:prstGeom>
        </p:spPr>
      </p:pic>
      <p:sp>
        <p:nvSpPr>
          <p:cNvPr id="16" name="날짜 개체 틀 3">
            <a:extLst>
              <a:ext uri="{FF2B5EF4-FFF2-40B4-BE49-F238E27FC236}">
                <a16:creationId xmlns:a16="http://schemas.microsoft.com/office/drawing/2014/main" id="{3920A115-BF94-4DB0-B759-905F580E6A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98025" y="6495439"/>
            <a:ext cx="1258711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7" name="바닥글 개체 틀 4">
            <a:extLst>
              <a:ext uri="{FF2B5EF4-FFF2-40B4-BE49-F238E27FC236}">
                <a16:creationId xmlns:a16="http://schemas.microsoft.com/office/drawing/2014/main" id="{CB761E04-ABC5-4F9B-B7F4-0370F3F02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08348" y="6495439"/>
            <a:ext cx="1888067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6484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D0B4DC-8072-4B8E-A822-FE3A08C0D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927B99-20C3-4D37-8275-EA6400E5C1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C6CE84-6AD8-453A-AD6E-FEAF604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044141"/>
            <a:ext cx="27432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9EF105-0337-4580-9111-FD2F527F9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044141"/>
            <a:ext cx="41148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AB31AF83-2C46-4BF6-B48E-DD76F99A3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40800" y="6044141"/>
            <a:ext cx="2743200" cy="365125"/>
          </a:xfrm>
        </p:spPr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1779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8C8B6C-1DEF-4332-8A14-F6B6981FD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78B35E-5C7A-4650-863C-461C8592BB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A0FC85E-DA01-4C94-8312-2EAB20EAB3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6ADE796-457C-4E05-BBB8-BC7FD1390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65A564A-D398-41C0-BEF2-5D2A53F37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D0DB09-1DC7-4816-820B-2EDD19BAD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9832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073845-DA08-4E02-89E5-279477CDC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FA0F8E2-8F9C-4936-8D92-FA7FE4970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9C35784-8D42-4310-8640-07C1BEB330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B31B950-6CB7-42DB-A303-B407EF83D2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0F35007-CA56-4CB7-8C5F-CF3E2924C5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90CD9AE-54AB-44CB-8910-A70F24EB3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2AFA608-2F47-4FBC-8A45-AC037C64C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EA635AC-BD3D-4D4A-AB07-EAABF5013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6600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D27486-42F6-4B67-8DF8-769971D09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BBFFFA3-6C08-4D2B-B714-F2729D0D9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01B550E-4A2E-4405-8F29-A9633B7A9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40B985F-0B0F-472E-A18E-72C776E30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909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995497-1A46-4FDE-B4B1-CA2510A4E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BDDD35-FFDF-4936-8645-AC2A1F2AB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31037F-312F-4D9B-9119-F134F49B2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92111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062E35-F23E-4CDC-9C00-11DCB7E97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765F35A-C1B0-4F2A-8536-7C9C4EF9C0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B6DFEF-5929-42A1-B17A-6AD3F1AC5E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8A33CA-A779-4AE7-8BB3-0DF9C81A7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1539BD6-447C-4ABC-97CC-BCC453A38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A96239-5406-4F31-95AA-C4BD1AB50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80733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FCC7A7-4C8B-434F-9C38-C6E5AC9E3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7AD0D2C-AE0D-4BDF-B9E8-D91CD7556C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9F58740-6BDA-46A2-A629-765E7E175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2C1AD5-7F55-4125-8A2F-BC07A86DA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AB58409-227F-4B89-B306-5E32E6E4F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7C64012-3A7B-4999-BA77-06258A04A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3037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54230E-387F-465D-9111-5F8ACFE1D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C53B19F-7C90-4073-858B-0BD87654EF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6123FE-787A-4904-AA9D-8ACC7B307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1EAC67-5F52-452E-9E50-F587C6481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0EEB5A-4207-4ADB-95D4-B87AA305B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071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DACCBB6-C18F-485C-A53E-8683CFFE90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12DC10F-92E5-436B-9D63-2A68B11CB0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5DDDF8-BB20-4C9B-9571-A39BA7D6E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54DDF5-9EDE-406E-BFC5-8359CD708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B989F03-47B6-4B39-B0CA-2A216789C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77190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A31B03D-0C42-48E6-948A-722C5EE3F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5A6E46-0B48-4B44-9DA0-C7C1E05C3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0D4B93-E437-4DCC-9E09-16EA88BBC5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A7A77E-05D0-4203-B655-9A2A21B58D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C09CEAC-52D1-4D7C-99C4-13222A951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55485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>
            <a:extLst>
              <a:ext uri="{FF2B5EF4-FFF2-40B4-BE49-F238E27FC236}">
                <a16:creationId xmlns:a16="http://schemas.microsoft.com/office/drawing/2014/main" id="{4C14D9A0-1BB9-428F-B273-3CE24758593B}"/>
              </a:ext>
            </a:extLst>
          </p:cNvPr>
          <p:cNvSpPr txBox="1">
            <a:spLocks/>
          </p:cNvSpPr>
          <p:nvPr/>
        </p:nvSpPr>
        <p:spPr>
          <a:xfrm>
            <a:off x="417068" y="2062806"/>
            <a:ext cx="11387837" cy="398186"/>
          </a:xfrm>
          <a:prstGeom prst="rect">
            <a:avLst/>
          </a:prstGeom>
        </p:spPr>
        <p:txBody>
          <a:bodyPr vert="horz" wrap="square" lIns="0" tIns="13335" rIns="0" bIns="0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lnSpc>
                <a:spcPct val="100000"/>
              </a:lnSpc>
              <a:spcBef>
                <a:spcPts val="104"/>
              </a:spcBef>
              <a:defRPr/>
            </a:pPr>
            <a:r>
              <a:rPr lang="en-US" altLang="ko-KR" sz="2500" b="1" dirty="0">
                <a:solidFill>
                  <a:schemeClr val="lt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Arial" panose="020B0604020202020204" pitchFamily="34" charset="0"/>
              </a:rPr>
              <a:t>Results of Total </a:t>
            </a:r>
            <a:r>
              <a:rPr lang="en-US" altLang="ko-KR" sz="2500" b="1" dirty="0" err="1">
                <a:solidFill>
                  <a:schemeClr val="lt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Arial" panose="020B0604020202020204" pitchFamily="34" charset="0"/>
              </a:rPr>
              <a:t>Segmentator</a:t>
            </a:r>
            <a:r>
              <a:rPr lang="en-US" altLang="ko-KR" sz="2500" b="1" dirty="0">
                <a:solidFill>
                  <a:schemeClr val="lt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Arial" panose="020B0604020202020204" pitchFamily="34" charset="0"/>
              </a:rPr>
              <a:t> &amp; AEC</a:t>
            </a:r>
            <a:r>
              <a:rPr lang="ko-KR" altLang="en-US" sz="2500" b="1" dirty="0">
                <a:solidFill>
                  <a:schemeClr val="lt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Arial" panose="020B0604020202020204" pitchFamily="34" charset="0"/>
              </a:rPr>
              <a:t> </a:t>
            </a:r>
            <a:r>
              <a:rPr lang="en-US" altLang="ko-KR" sz="2500" b="1" dirty="0">
                <a:solidFill>
                  <a:schemeClr val="lt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Arial" panose="020B0604020202020204" pitchFamily="34" charset="0"/>
              </a:rPr>
              <a:t>Study</a:t>
            </a: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94B21C1C-F3A0-440B-961E-968F2C77FB2A}"/>
              </a:ext>
            </a:extLst>
          </p:cNvPr>
          <p:cNvSpPr txBox="1"/>
          <p:nvPr/>
        </p:nvSpPr>
        <p:spPr>
          <a:xfrm>
            <a:off x="417068" y="3139177"/>
            <a:ext cx="7139940" cy="259045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chemeClr val="bg1">
                    <a:lumMod val="7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2026. 05. 22</a:t>
            </a:r>
          </a:p>
        </p:txBody>
      </p:sp>
      <p:sp>
        <p:nvSpPr>
          <p:cNvPr id="6" name="object 5">
            <a:extLst>
              <a:ext uri="{FF2B5EF4-FFF2-40B4-BE49-F238E27FC236}">
                <a16:creationId xmlns:a16="http://schemas.microsoft.com/office/drawing/2014/main" id="{63F70F93-076B-4BBC-B933-AC7768BB0AE5}"/>
              </a:ext>
            </a:extLst>
          </p:cNvPr>
          <p:cNvSpPr txBox="1"/>
          <p:nvPr/>
        </p:nvSpPr>
        <p:spPr>
          <a:xfrm>
            <a:off x="417068" y="3564777"/>
            <a:ext cx="7139940" cy="289823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800" b="1" dirty="0" err="1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JangHoon</a:t>
            </a:r>
            <a:r>
              <a:rPr lang="en-US" altLang="ko-KR" sz="1800" b="1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 Chun</a:t>
            </a:r>
          </a:p>
        </p:txBody>
      </p:sp>
      <p:sp>
        <p:nvSpPr>
          <p:cNvPr id="7" name="object 5">
            <a:extLst>
              <a:ext uri="{FF2B5EF4-FFF2-40B4-BE49-F238E27FC236}">
                <a16:creationId xmlns:a16="http://schemas.microsoft.com/office/drawing/2014/main" id="{CEB5E8A0-083F-4B6E-AA66-93BFFD6A8E1A}"/>
              </a:ext>
            </a:extLst>
          </p:cNvPr>
          <p:cNvSpPr txBox="1"/>
          <p:nvPr/>
        </p:nvSpPr>
        <p:spPr>
          <a:xfrm>
            <a:off x="417068" y="3978214"/>
            <a:ext cx="7139940" cy="1213153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Department of, Medical Device Engineering &amp; Management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Gangnam Severance Hospital,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Yonsei University College of Medicine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endParaRPr lang="en-US" altLang="ko-KR" sz="1600" b="1" dirty="0">
              <a:solidFill>
                <a:srgbClr val="FFFFFF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  <a:cs typeface="Arial" panose="020B0604020202020204" pitchFamily="34" charset="0"/>
            </a:endParaRP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endParaRPr sz="1600" b="1" baseline="25000" dirty="0">
              <a:latin typeface="KoPub돋움체 Medium" panose="02020603020101020101" pitchFamily="18" charset="-127"/>
              <a:ea typeface="KoPub돋움체 Medium" panose="02020603020101020101" pitchFamily="18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88515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AA67D-2B66-3F85-5AE9-73AF22ED4D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742438-A8A9-C072-F2AE-2206B24BF2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What’s discussed in the last meetings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2A4B13E-D4FF-F6EF-0421-904F6E47B8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IMATA </a:t>
            </a:r>
            <a:r>
              <a:rPr lang="ko-KR" altLang="en-US" dirty="0"/>
              <a:t>값을 반영하여 </a:t>
            </a:r>
            <a:r>
              <a:rPr lang="en-US" altLang="ko-KR" dirty="0"/>
              <a:t>SMI </a:t>
            </a:r>
            <a:r>
              <a:rPr lang="ko-KR" altLang="en-US" dirty="0"/>
              <a:t>데이터 재확인</a:t>
            </a:r>
            <a:endParaRPr lang="en-US" altLang="ko-KR" dirty="0"/>
          </a:p>
          <a:p>
            <a:pPr lvl="1"/>
            <a:r>
              <a:rPr lang="en-US" altLang="ko-KR" dirty="0"/>
              <a:t>SMI = (TAMA − IMATA) / Height²</a:t>
            </a:r>
          </a:p>
          <a:p>
            <a:r>
              <a:rPr lang="en-US" altLang="ko-KR" dirty="0"/>
              <a:t>SMI </a:t>
            </a:r>
            <a:r>
              <a:rPr lang="ko-KR" altLang="en-US" dirty="0"/>
              <a:t>기준 논문 </a:t>
            </a:r>
            <a:r>
              <a:rPr lang="en-US" altLang="ko-KR" dirty="0"/>
              <a:t>5</a:t>
            </a:r>
            <a:r>
              <a:rPr lang="ko-KR" altLang="en-US" dirty="0"/>
              <a:t>개 확인 후 남녀 </a:t>
            </a:r>
            <a:r>
              <a:rPr lang="en-US" altLang="ko-KR" dirty="0"/>
              <a:t>SMI threshold </a:t>
            </a:r>
            <a:r>
              <a:rPr lang="ko-KR" altLang="en-US" dirty="0"/>
              <a:t>결정</a:t>
            </a:r>
            <a:endParaRPr lang="en-US" altLang="ko-KR" dirty="0"/>
          </a:p>
          <a:p>
            <a:pPr lvl="1"/>
            <a:r>
              <a:rPr lang="en-US" altLang="ko-KR" dirty="0"/>
              <a:t>‘</a:t>
            </a:r>
            <a:r>
              <a:rPr lang="ko-KR" altLang="en-US" dirty="0"/>
              <a:t>한국 기준 하위 </a:t>
            </a:r>
            <a:r>
              <a:rPr lang="en-US" altLang="ko-KR" dirty="0"/>
              <a:t>5%’</a:t>
            </a:r>
            <a:r>
              <a:rPr lang="ko-KR" altLang="en-US" dirty="0"/>
              <a:t>로 설정 → </a:t>
            </a:r>
            <a:r>
              <a:rPr lang="en-US" altLang="ko-KR" dirty="0"/>
              <a:t>M: 40.96 cm</a:t>
            </a:r>
            <a:r>
              <a:rPr lang="en-US" altLang="ko-KR" baseline="30000" dirty="0"/>
              <a:t>2</a:t>
            </a:r>
            <a:r>
              <a:rPr lang="en-US" altLang="ko-KR" dirty="0"/>
              <a:t>/m</a:t>
            </a:r>
            <a:r>
              <a:rPr lang="en-US" altLang="ko-KR" baseline="30000" dirty="0"/>
              <a:t>2</a:t>
            </a:r>
            <a:r>
              <a:rPr lang="en-US" altLang="ko-KR" dirty="0"/>
              <a:t>, F: 30.6 cm</a:t>
            </a:r>
            <a:r>
              <a:rPr lang="en-US" altLang="ko-KR" baseline="30000" dirty="0"/>
              <a:t>2</a:t>
            </a:r>
            <a:r>
              <a:rPr lang="en-US" altLang="ko-KR" dirty="0"/>
              <a:t>/m</a:t>
            </a:r>
            <a:r>
              <a:rPr lang="en-US" altLang="ko-KR" baseline="30000" dirty="0"/>
              <a:t>2</a:t>
            </a:r>
            <a:endParaRPr lang="en-US" altLang="ko-KR" dirty="0"/>
          </a:p>
          <a:p>
            <a:r>
              <a:rPr lang="ko-KR" altLang="en-US" dirty="0"/>
              <a:t>모델은 </a:t>
            </a:r>
            <a:r>
              <a:rPr lang="en-US" altLang="ko-KR" dirty="0"/>
              <a:t>Logistic Regression</a:t>
            </a:r>
            <a:r>
              <a:rPr lang="ko-KR" altLang="en-US" dirty="0"/>
              <a:t>과 </a:t>
            </a:r>
            <a:r>
              <a:rPr lang="en-US" altLang="ko-KR" dirty="0"/>
              <a:t>Multimodal (Cross Attention)</a:t>
            </a:r>
            <a:r>
              <a:rPr lang="ko-KR" altLang="en-US" dirty="0"/>
              <a:t> 사용</a:t>
            </a:r>
            <a:endParaRPr lang="en-US" altLang="ko-KR" dirty="0"/>
          </a:p>
          <a:p>
            <a:r>
              <a:rPr lang="en-US" altLang="ko-KR" dirty="0"/>
              <a:t>Clinic [Age, Sex, BMI] vs Clinic + AEC vs Clinic + AEC + Scanner [</a:t>
            </a:r>
            <a:r>
              <a:rPr lang="ko-KR" altLang="en-US" dirty="0"/>
              <a:t>모델명</a:t>
            </a:r>
            <a:r>
              <a:rPr lang="en-US" altLang="ko-KR" dirty="0"/>
              <a:t>]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3A8356-A9FE-00F5-FFBF-D1A2F9D6D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710079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C4419C-94C1-0072-6BC7-99231F181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B87E29-ECD2-C1AB-F064-B9899724F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What’s discussed in the last meetings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AEBF44-283B-F2F4-6E93-B97D83EE2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</a:t>
            </a:fld>
            <a:endParaRPr lang="ko-KR" altLang="en-US" dirty="0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46B1940-76D7-EF5C-4BDC-815E2CBB84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Best Model Summary</a:t>
            </a:r>
            <a:endParaRPr lang="ko-KR" altLang="en-US" dirty="0"/>
          </a:p>
        </p:txBody>
      </p:sp>
      <p:graphicFrame>
        <p:nvGraphicFramePr>
          <p:cNvPr id="7" name="Table 24">
            <a:extLst>
              <a:ext uri="{FF2B5EF4-FFF2-40B4-BE49-F238E27FC236}">
                <a16:creationId xmlns:a16="http://schemas.microsoft.com/office/drawing/2014/main" id="{9D213DDB-0128-112A-A576-93C1261EEA17}"/>
              </a:ext>
            </a:extLst>
          </p:cNvPr>
          <p:cNvGraphicFramePr>
            <a:graphicFrameLocks noGrp="1"/>
          </p:cNvGraphicFramePr>
          <p:nvPr/>
        </p:nvGraphicFramePr>
        <p:xfrm>
          <a:off x="1398856" y="1714954"/>
          <a:ext cx="9394288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42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4286">
                  <a:extLst>
                    <a:ext uri="{9D8B030D-6E8A-4147-A177-3AD203B41FA5}">
                      <a16:colId xmlns:a16="http://schemas.microsoft.com/office/drawing/2014/main" val="2550189988"/>
                    </a:ext>
                  </a:extLst>
                </a:gridCol>
                <a:gridCol w="11742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742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7428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74286">
                  <a:extLst>
                    <a:ext uri="{9D8B030D-6E8A-4147-A177-3AD203B41FA5}">
                      <a16:colId xmlns:a16="http://schemas.microsoft.com/office/drawing/2014/main" val="3153164272"/>
                    </a:ext>
                  </a:extLst>
                </a:gridCol>
                <a:gridCol w="1174286">
                  <a:extLst>
                    <a:ext uri="{9D8B030D-6E8A-4147-A177-3AD203B41FA5}">
                      <a16:colId xmlns:a16="http://schemas.microsoft.com/office/drawing/2014/main" val="493313760"/>
                    </a:ext>
                  </a:extLst>
                </a:gridCol>
                <a:gridCol w="1174286">
                  <a:extLst>
                    <a:ext uri="{9D8B030D-6E8A-4147-A177-3AD203B41FA5}">
                      <a16:colId xmlns:a16="http://schemas.microsoft.com/office/drawing/2014/main" val="340720469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effectLst/>
                        </a:rPr>
                        <a:t>순위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b="1" dirty="0">
                          <a:effectLst/>
                        </a:rPr>
                        <a:t>모델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Test AUC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AUPRC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Brier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F1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Sensitivity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Specificity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1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Model 3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0.8453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0.3993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0.2036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0.3802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82.1%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69.2%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96269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2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Model 2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0.8403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0.3367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0.2253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0.3788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89.3%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65.2%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3654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3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0" dirty="0">
                          <a:effectLst/>
                        </a:rPr>
                        <a:t>Model 1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0.8291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0.3249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0.1931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0.3636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78.6%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68.7%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0003389"/>
                  </a:ext>
                </a:extLst>
              </a:tr>
            </a:tbl>
          </a:graphicData>
        </a:graphic>
      </p:graphicFrame>
      <p:graphicFrame>
        <p:nvGraphicFramePr>
          <p:cNvPr id="8" name="Table 24">
            <a:extLst>
              <a:ext uri="{FF2B5EF4-FFF2-40B4-BE49-F238E27FC236}">
                <a16:creationId xmlns:a16="http://schemas.microsoft.com/office/drawing/2014/main" id="{BE15D723-D86F-BA75-8899-E4D00AE065A1}"/>
              </a:ext>
            </a:extLst>
          </p:cNvPr>
          <p:cNvGraphicFramePr>
            <a:graphicFrameLocks noGrp="1"/>
          </p:cNvGraphicFramePr>
          <p:nvPr/>
        </p:nvGraphicFramePr>
        <p:xfrm>
          <a:off x="2771931" y="3773592"/>
          <a:ext cx="6648138" cy="2186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90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30835">
                  <a:extLst>
                    <a:ext uri="{9D8B030D-6E8A-4147-A177-3AD203B41FA5}">
                      <a16:colId xmlns:a16="http://schemas.microsoft.com/office/drawing/2014/main" val="3397596428"/>
                    </a:ext>
                  </a:extLst>
                </a:gridCol>
                <a:gridCol w="18308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974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조건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Clinic + AEC</a:t>
                      </a:r>
                    </a:p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Matching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Clinic + AEC</a:t>
                      </a:r>
                    </a:p>
                    <a:p>
                      <a:pPr algn="ctr">
                        <a:buNone/>
                      </a:pPr>
                      <a:r>
                        <a:rPr lang="en-US" altLang="ko-KR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Unmatching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차이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len064 / scale_clinic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0.8140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0.8037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−</a:t>
                      </a: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0.010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416148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len064 / scale_both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0.8403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0.7683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−</a:t>
                      </a: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0.072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548336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len128 / scale_clinic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0.8287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0.7989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−</a:t>
                      </a: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0.030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015156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len128 / scale_both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0.8310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0.8151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−</a:t>
                      </a: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0.016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187186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8CAC6-5AAE-071D-A20C-3363A9415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C34E84-7F24-BDDE-EA03-702E9D9E13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Research Summary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60B46D-A414-4C6A-6877-8F8F9387CB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4</a:t>
            </a:fld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1085DB8A-F2FD-AB70-F0B6-F5E8612C16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/>
              <a:t>Total </a:t>
            </a:r>
            <a:r>
              <a:rPr lang="en-US" altLang="ko-KR" dirty="0" err="1"/>
              <a:t>Segmentator</a:t>
            </a:r>
            <a:r>
              <a:rPr lang="ko-KR" altLang="en-US" dirty="0"/>
              <a:t>를 이용하여 </a:t>
            </a:r>
            <a:r>
              <a:rPr lang="en-US" altLang="ko-KR" dirty="0"/>
              <a:t>Range </a:t>
            </a:r>
            <a:r>
              <a:rPr lang="ko-KR" altLang="en-US" dirty="0"/>
              <a:t>정규화</a:t>
            </a:r>
            <a:endParaRPr lang="en-US" altLang="ko-KR" dirty="0"/>
          </a:p>
          <a:p>
            <a:pPr lvl="1"/>
            <a:r>
              <a:rPr lang="ko-KR" altLang="en-US" dirty="0"/>
              <a:t>상단 </a:t>
            </a:r>
            <a:r>
              <a:rPr lang="en-US" altLang="ko-KR" dirty="0"/>
              <a:t>: T12 upper, </a:t>
            </a:r>
            <a:r>
              <a:rPr lang="ko-KR" altLang="en-US" dirty="0"/>
              <a:t>하단 </a:t>
            </a:r>
            <a:r>
              <a:rPr lang="en-US" altLang="ko-KR" dirty="0"/>
              <a:t>: left/right hip bottom</a:t>
            </a:r>
          </a:p>
          <a:p>
            <a:pPr lvl="1"/>
            <a:r>
              <a:rPr lang="ko-KR" altLang="en-US" dirty="0"/>
              <a:t>갖고 있는 </a:t>
            </a:r>
            <a:r>
              <a:rPr lang="en-US" altLang="ko-KR" dirty="0"/>
              <a:t>patient 2,054</a:t>
            </a:r>
            <a:r>
              <a:rPr lang="ko-KR" altLang="en-US" dirty="0"/>
              <a:t>에 대해서 </a:t>
            </a:r>
            <a:r>
              <a:rPr lang="en-US" altLang="ko-KR" dirty="0"/>
              <a:t>630</a:t>
            </a:r>
            <a:r>
              <a:rPr lang="ko-KR" altLang="en-US" dirty="0"/>
              <a:t>명의 데이터는 </a:t>
            </a:r>
            <a:r>
              <a:rPr lang="en-US" altLang="ko-KR" dirty="0"/>
              <a:t>T12 missing</a:t>
            </a:r>
            <a:r>
              <a:rPr lang="ko-KR" altLang="en-US" dirty="0"/>
              <a:t>으로 분류</a:t>
            </a:r>
            <a:endParaRPr lang="en-US" altLang="ko-KR" dirty="0"/>
          </a:p>
          <a:p>
            <a:r>
              <a:rPr lang="en-US" altLang="ko-KR" dirty="0"/>
              <a:t>AEC </a:t>
            </a:r>
            <a:r>
              <a:rPr lang="en-US" altLang="ko-KR" dirty="0" err="1"/>
              <a:t>len</a:t>
            </a:r>
            <a:r>
              <a:rPr lang="ko-KR" altLang="en-US" dirty="0"/>
              <a:t>을 </a:t>
            </a:r>
            <a:r>
              <a:rPr lang="en-US" altLang="ko-KR" dirty="0"/>
              <a:t>128, 256</a:t>
            </a:r>
            <a:r>
              <a:rPr lang="ko-KR" altLang="en-US" dirty="0"/>
              <a:t>으로 </a:t>
            </a:r>
            <a:r>
              <a:rPr lang="en-US" altLang="ko-KR" dirty="0"/>
              <a:t>Model </a:t>
            </a:r>
            <a:r>
              <a:rPr lang="en-US" altLang="ko-KR" dirty="0" err="1"/>
              <a:t>Performace</a:t>
            </a:r>
            <a:r>
              <a:rPr lang="en-US" altLang="ko-KR" dirty="0"/>
              <a:t> </a:t>
            </a:r>
            <a:r>
              <a:rPr lang="ko-KR" altLang="en-US" dirty="0"/>
              <a:t>비교</a:t>
            </a:r>
            <a:endParaRPr lang="en-US" altLang="ko-KR" dirty="0"/>
          </a:p>
          <a:p>
            <a:pPr lvl="1"/>
            <a:r>
              <a:rPr lang="en-US" altLang="ko-KR" dirty="0"/>
              <a:t>Clinic + AEC</a:t>
            </a:r>
            <a:r>
              <a:rPr lang="ko-KR" altLang="en-US" dirty="0"/>
              <a:t>가 </a:t>
            </a:r>
            <a:r>
              <a:rPr lang="en-US" altLang="ko-KR" dirty="0"/>
              <a:t>Clinic </a:t>
            </a:r>
            <a:r>
              <a:rPr lang="ko-KR" altLang="en-US" dirty="0"/>
              <a:t>보다는 </a:t>
            </a:r>
            <a:r>
              <a:rPr lang="en-US" altLang="ko-KR" dirty="0"/>
              <a:t>test dataset</a:t>
            </a:r>
            <a:r>
              <a:rPr lang="ko-KR" altLang="en-US" dirty="0"/>
              <a:t> </a:t>
            </a:r>
            <a:r>
              <a:rPr lang="en-US" altLang="ko-KR" dirty="0"/>
              <a:t>AUC </a:t>
            </a:r>
            <a:r>
              <a:rPr lang="ko-KR" altLang="en-US" dirty="0"/>
              <a:t>기준 </a:t>
            </a:r>
            <a:r>
              <a:rPr lang="en-US" altLang="ko-KR" dirty="0"/>
              <a:t>0.02~0.03 </a:t>
            </a:r>
            <a:r>
              <a:rPr lang="ko-KR" altLang="en-US" dirty="0"/>
              <a:t>향상 </a:t>
            </a:r>
            <a:r>
              <a:rPr lang="en-US" altLang="ko-KR" dirty="0"/>
              <a:t>(ex. 0.833 </a:t>
            </a:r>
            <a:r>
              <a:rPr lang="ko-KR" altLang="en-US" dirty="0"/>
              <a:t>→ </a:t>
            </a:r>
            <a:r>
              <a:rPr lang="en-US" altLang="ko-KR" dirty="0"/>
              <a:t>0.868)</a:t>
            </a:r>
          </a:p>
          <a:p>
            <a:pPr lvl="1"/>
            <a:r>
              <a:rPr lang="en-US" altLang="ko-KR" dirty="0"/>
              <a:t>Clinic + AEC + Scanner</a:t>
            </a:r>
            <a:r>
              <a:rPr lang="ko-KR" altLang="en-US" dirty="0"/>
              <a:t>인 경우에는 성능 하락 </a:t>
            </a:r>
            <a:r>
              <a:rPr lang="en-US" altLang="ko-KR" dirty="0"/>
              <a:t>(ex. 0.868 </a:t>
            </a:r>
            <a:r>
              <a:rPr lang="ko-KR" altLang="en-US" dirty="0"/>
              <a:t>→ </a:t>
            </a:r>
            <a:r>
              <a:rPr lang="en-US" altLang="ko-KR" dirty="0"/>
              <a:t>0.752)</a:t>
            </a:r>
          </a:p>
          <a:p>
            <a:r>
              <a:rPr lang="en-US" altLang="ko-KR" dirty="0"/>
              <a:t>AEC</a:t>
            </a:r>
            <a:r>
              <a:rPr lang="ko-KR" altLang="en-US" dirty="0"/>
              <a:t>가 </a:t>
            </a:r>
            <a:r>
              <a:rPr lang="en-US" altLang="ko-KR" dirty="0"/>
              <a:t>Sarcopenia</a:t>
            </a:r>
            <a:r>
              <a:rPr lang="ko-KR" altLang="en-US" dirty="0"/>
              <a:t>를 분류할 때 영향력이 있다는 결론 도출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179669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8CC32-5641-0D56-4EE1-F5AE46297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41A162-FB10-71F8-2866-5300F3B84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2E6304-7EF9-ED4D-337C-C88493207A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5</a:t>
            </a:fld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031FB97D-BA7A-DBC7-BB95-5B9D0B5C6F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/>
              <a:t>Data Preprocessing Pipeline Work Flow</a:t>
            </a:r>
          </a:p>
          <a:p>
            <a:pPr lvl="1"/>
            <a:r>
              <a:rPr lang="en-US" altLang="ko-KR" dirty="0"/>
              <a:t>Step 1. Clinic Data </a:t>
            </a:r>
            <a:r>
              <a:rPr lang="ko-KR" altLang="en-US" dirty="0"/>
              <a:t>정제 → 중복 제거</a:t>
            </a:r>
            <a:r>
              <a:rPr lang="en-US" altLang="ko-KR" dirty="0"/>
              <a:t>, SMI </a:t>
            </a:r>
            <a:r>
              <a:rPr lang="ko-KR" altLang="en-US" dirty="0"/>
              <a:t>산출 등</a:t>
            </a:r>
            <a:endParaRPr lang="en-US" altLang="ko-KR" dirty="0"/>
          </a:p>
          <a:p>
            <a:pPr lvl="1"/>
            <a:r>
              <a:rPr lang="en-US" altLang="ko-KR" b="1" dirty="0"/>
              <a:t>Step 2. </a:t>
            </a:r>
            <a:r>
              <a:rPr lang="en-US" altLang="ko-KR" b="1" dirty="0" err="1"/>
              <a:t>TotalSegmentator</a:t>
            </a:r>
            <a:r>
              <a:rPr lang="ko-KR" altLang="en-US" b="1" dirty="0"/>
              <a:t>를 이용한 해부학적 경계 추출</a:t>
            </a:r>
            <a:endParaRPr lang="en-US" altLang="ko-KR" b="1" dirty="0"/>
          </a:p>
          <a:p>
            <a:pPr lvl="2"/>
            <a:r>
              <a:rPr lang="en-US" altLang="ko-KR" dirty="0"/>
              <a:t>DICOM </a:t>
            </a:r>
            <a:r>
              <a:rPr lang="ko-KR" altLang="en-US" dirty="0"/>
              <a:t>→ </a:t>
            </a:r>
            <a:r>
              <a:rPr lang="en-US" altLang="ko-KR" dirty="0" err="1"/>
              <a:t>NifTI</a:t>
            </a:r>
            <a:r>
              <a:rPr lang="ko-KR" altLang="en-US" dirty="0"/>
              <a:t> 변환 → </a:t>
            </a:r>
            <a:r>
              <a:rPr lang="en-US" altLang="ko-KR" dirty="0" err="1"/>
              <a:t>totalsegmentator</a:t>
            </a:r>
            <a:r>
              <a:rPr lang="ko-KR" altLang="en-US" dirty="0"/>
              <a:t> </a:t>
            </a:r>
            <a:r>
              <a:rPr lang="en-US" altLang="ko-KR" dirty="0"/>
              <a:t>[“vertebrae_T12”, “</a:t>
            </a:r>
            <a:r>
              <a:rPr lang="en-US" altLang="ko-KR" dirty="0" err="1"/>
              <a:t>hip_left</a:t>
            </a:r>
            <a:r>
              <a:rPr lang="en-US" altLang="ko-KR" dirty="0"/>
              <a:t>”, “</a:t>
            </a:r>
            <a:r>
              <a:rPr lang="en-US" altLang="ko-KR" dirty="0" err="1"/>
              <a:t>hip_right</a:t>
            </a:r>
            <a:r>
              <a:rPr lang="en-US" altLang="ko-KR" dirty="0"/>
              <a:t>”] </a:t>
            </a:r>
            <a:r>
              <a:rPr lang="ko-KR" altLang="en-US" dirty="0"/>
              <a:t>진행</a:t>
            </a:r>
            <a:endParaRPr lang="en-US" altLang="ko-KR" dirty="0"/>
          </a:p>
          <a:p>
            <a:pPr lvl="2"/>
            <a:r>
              <a:rPr lang="en-US" altLang="ko-KR" dirty="0"/>
              <a:t>T12</a:t>
            </a:r>
            <a:r>
              <a:rPr lang="ko-KR" altLang="en-US" dirty="0"/>
              <a:t> </a:t>
            </a:r>
            <a:r>
              <a:rPr lang="en-US" altLang="ko-KR" dirty="0"/>
              <a:t>upper,</a:t>
            </a:r>
            <a:r>
              <a:rPr lang="ko-KR" altLang="en-US" dirty="0"/>
              <a:t> </a:t>
            </a:r>
            <a:r>
              <a:rPr lang="en-US" altLang="ko-KR" dirty="0"/>
              <a:t>pubis bottom</a:t>
            </a:r>
            <a:r>
              <a:rPr lang="ko-KR" altLang="en-US" dirty="0"/>
              <a:t>으로 경계 추출</a:t>
            </a:r>
            <a:endParaRPr lang="en-US" altLang="ko-KR" dirty="0"/>
          </a:p>
          <a:p>
            <a:pPr lvl="2"/>
            <a:r>
              <a:rPr lang="en-US" altLang="ko-KR" dirty="0"/>
              <a:t>Slice </a:t>
            </a:r>
            <a:r>
              <a:rPr lang="ko-KR" altLang="en-US" dirty="0"/>
              <a:t>번호를 확인하여 구간에 대한 </a:t>
            </a:r>
            <a:r>
              <a:rPr lang="en-US" altLang="ko-KR" dirty="0"/>
              <a:t>AEC value</a:t>
            </a:r>
            <a:r>
              <a:rPr lang="ko-KR" altLang="en-US" dirty="0"/>
              <a:t> 확인</a:t>
            </a:r>
            <a:endParaRPr lang="en-US" altLang="ko-KR" dirty="0"/>
          </a:p>
          <a:p>
            <a:pPr lvl="1"/>
            <a:r>
              <a:rPr lang="en-US" altLang="ko-KR" dirty="0"/>
              <a:t>Step 3. AEC crop </a:t>
            </a:r>
            <a:r>
              <a:rPr lang="ko-KR" altLang="en-US" dirty="0"/>
              <a:t>및 </a:t>
            </a:r>
            <a:r>
              <a:rPr lang="en-US" altLang="ko-KR" dirty="0"/>
              <a:t>interpolation</a:t>
            </a:r>
          </a:p>
          <a:p>
            <a:pPr lvl="2"/>
            <a:r>
              <a:rPr lang="en-US" altLang="ko-KR" dirty="0"/>
              <a:t>128, 256 pt</a:t>
            </a:r>
            <a:r>
              <a:rPr lang="ko-KR" altLang="en-US" dirty="0"/>
              <a:t>로 </a:t>
            </a:r>
            <a:r>
              <a:rPr lang="en-US" altLang="ko-KR" dirty="0"/>
              <a:t>interpolation </a:t>
            </a:r>
            <a:r>
              <a:rPr lang="ko-KR" altLang="en-US" dirty="0"/>
              <a:t>진행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0265111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91C564-C4E3-C7E5-176D-3C71C0D4C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C90F66-DE53-7F78-BD26-F25903C36D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F651BCC-0290-4B0F-F77B-B861A8312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6</a:t>
            </a:fld>
            <a:endParaRPr lang="ko-KR" altLang="en-US" dirty="0"/>
          </a:p>
        </p:txBody>
      </p:sp>
      <p:graphicFrame>
        <p:nvGraphicFramePr>
          <p:cNvPr id="3" name="Table 24">
            <a:extLst>
              <a:ext uri="{FF2B5EF4-FFF2-40B4-BE49-F238E27FC236}">
                <a16:creationId xmlns:a16="http://schemas.microsoft.com/office/drawing/2014/main" id="{F296F737-8C82-7794-102A-912EE34FC89B}"/>
              </a:ext>
            </a:extLst>
          </p:cNvPr>
          <p:cNvGraphicFramePr>
            <a:graphicFrameLocks noGrp="1"/>
          </p:cNvGraphicFramePr>
          <p:nvPr/>
        </p:nvGraphicFramePr>
        <p:xfrm>
          <a:off x="1306216" y="1668340"/>
          <a:ext cx="9579568" cy="45604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74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1286114323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2865512279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198448097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3203679715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8262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PatientID</a:t>
                      </a: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n_slices</a:t>
                      </a: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slices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t12_slice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pubis_slice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z_range</a:t>
                      </a: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z_t12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z_pubis</a:t>
                      </a: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5512384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402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667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265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4554284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8855221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396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871.07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475.07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3997030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5022329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372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338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388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88.5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-299.5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4533384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5121596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330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382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949.5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567.5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6633271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9466484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396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-249.5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-645.5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4768561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5023331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399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50.3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-348.7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5962543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2554290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387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1590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1203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3689657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8597283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336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767.46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431.46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2464310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8405417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381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877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496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5066104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6695154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372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766.5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394.5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114221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8856360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429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370.32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-58.68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2750539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5824638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390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851.75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461.75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7519507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9956604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417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801.03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384.03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9854852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5642762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378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850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472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915461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6737751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369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811.01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442.01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3652768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8719829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218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381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-383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-764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6635945"/>
                  </a:ext>
                </a:extLst>
              </a:tr>
            </a:tbl>
          </a:graphicData>
        </a:graphic>
      </p:graphicFrame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C4AE4587-D9EE-3494-C321-6EC6B13EF6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/>
              <a:t>Total </a:t>
            </a:r>
            <a:r>
              <a:rPr lang="en-US" altLang="ko-KR" dirty="0" err="1"/>
              <a:t>Segmentator</a:t>
            </a:r>
            <a:r>
              <a:rPr lang="ko-KR" altLang="en-US" dirty="0"/>
              <a:t>로 상하단 기준 좌표 </a:t>
            </a:r>
            <a:r>
              <a:rPr lang="en-US" altLang="ko-KR" dirty="0"/>
              <a:t>Success </a:t>
            </a:r>
            <a:r>
              <a:rPr lang="ko-KR" altLang="en-US" dirty="0"/>
              <a:t>건 </a:t>
            </a:r>
            <a:r>
              <a:rPr lang="en-US" altLang="ko-KR" dirty="0"/>
              <a:t>(1,424 / 2,054)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28425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48FAC-6559-FA72-39FE-1AA0E5E58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2F9739BD-5468-0C0D-59AA-2DC93A5557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6304" y="3783078"/>
            <a:ext cx="2597696" cy="259769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B43BB6E6-0BEC-C0FD-C255-9CD3F5A071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5029" y="3783077"/>
            <a:ext cx="2597696" cy="259769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F05FB83E-7A97-4920-BFB3-307946C19DF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8669" y="1041424"/>
            <a:ext cx="2597697" cy="259769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7690F12-C34C-CD20-F6F2-DAE35C065C3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359" y="3783078"/>
            <a:ext cx="2597697" cy="259769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F6B37CD-B782-19AD-78E3-40D87F0D710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9944" y="1041424"/>
            <a:ext cx="2597697" cy="2597697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13FD4611-EADF-F611-B462-9C197D31557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5634" y="3783078"/>
            <a:ext cx="2597697" cy="2597697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3B759C7-15AA-B137-0D3A-B65E7736B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EB8198E-299A-21E3-48A4-7E6A0A6DD0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7</a:t>
            </a:fld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6D45AB0-4F2C-6E96-B454-01CAB6F0187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5635" y="1041425"/>
            <a:ext cx="2597696" cy="259769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2A4CE79-59ED-BC30-0997-8765E5DBE45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360" y="1041426"/>
            <a:ext cx="2597696" cy="2597696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353DC1EB-9D7D-9654-CC9B-3DA5604E67FD}"/>
              </a:ext>
            </a:extLst>
          </p:cNvPr>
          <p:cNvSpPr/>
          <p:nvPr/>
        </p:nvSpPr>
        <p:spPr>
          <a:xfrm>
            <a:off x="435429" y="979404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5CD3C67-3ACE-05B4-F684-F64C95002FF4}"/>
              </a:ext>
            </a:extLst>
          </p:cNvPr>
          <p:cNvSpPr/>
          <p:nvPr/>
        </p:nvSpPr>
        <p:spPr>
          <a:xfrm>
            <a:off x="435429" y="3721055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8FBAB0B9-DEB1-CFCF-91A8-2717470D4424}"/>
              </a:ext>
            </a:extLst>
          </p:cNvPr>
          <p:cNvSpPr/>
          <p:nvPr/>
        </p:nvSpPr>
        <p:spPr>
          <a:xfrm>
            <a:off x="6217922" y="3721055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BE09F8B0-FAF8-B1A5-7AC9-EE1459B25154}"/>
              </a:ext>
            </a:extLst>
          </p:cNvPr>
          <p:cNvSpPr/>
          <p:nvPr/>
        </p:nvSpPr>
        <p:spPr>
          <a:xfrm>
            <a:off x="6217922" y="979404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57890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E50AC8-338A-1158-76EA-D64DC8438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>
            <a:extLst>
              <a:ext uri="{FF2B5EF4-FFF2-40B4-BE49-F238E27FC236}">
                <a16:creationId xmlns:a16="http://schemas.microsoft.com/office/drawing/2014/main" id="{1031CC66-3883-3C51-4843-3FF47AF258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8668" y="3783076"/>
            <a:ext cx="2597698" cy="2597698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F98C6AFF-E238-63AB-BD0E-D6E0CA1E5D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1627" y="3783076"/>
            <a:ext cx="2597698" cy="2597698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F2B68A90-A338-48E9-C01A-27BA55D77B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359" y="1041424"/>
            <a:ext cx="2597696" cy="259769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04FF049E-E3D0-2DE8-0EE0-6CD14953DC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6304" y="1041425"/>
            <a:ext cx="2597696" cy="259769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26CA4459-5738-3F7A-F9E0-7C37EAB4890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5634" y="1041425"/>
            <a:ext cx="2597696" cy="259769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3BB99752-FE4C-8A78-718F-9C581A4F91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452D2D-B6E3-8DFB-0255-EFC92A92F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8</a:t>
            </a:fld>
            <a:endParaRPr lang="ko-KR" alt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AB13EF4D-8046-52A4-4B63-7251FB9273E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8670" y="1041424"/>
            <a:ext cx="2597696" cy="2597696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2E812040-DA8D-74E2-58EE-BAD02B7C23D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6303" y="3783077"/>
            <a:ext cx="2597697" cy="2597697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45D83A1E-274A-F160-377D-DB5DCC85ACD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1993" y="3783077"/>
            <a:ext cx="2597697" cy="2597697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8BE00C01-4FE3-22AF-BA8B-287D9068170B}"/>
              </a:ext>
            </a:extLst>
          </p:cNvPr>
          <p:cNvSpPr/>
          <p:nvPr/>
        </p:nvSpPr>
        <p:spPr>
          <a:xfrm>
            <a:off x="435429" y="979404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B88B883B-D4CA-0562-22FE-62155C9EB799}"/>
              </a:ext>
            </a:extLst>
          </p:cNvPr>
          <p:cNvSpPr/>
          <p:nvPr/>
        </p:nvSpPr>
        <p:spPr>
          <a:xfrm>
            <a:off x="435429" y="3721055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C00449D3-228D-391C-4994-0A1FEAA97876}"/>
              </a:ext>
            </a:extLst>
          </p:cNvPr>
          <p:cNvSpPr/>
          <p:nvPr/>
        </p:nvSpPr>
        <p:spPr>
          <a:xfrm>
            <a:off x="6217922" y="3721055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8262A1ED-B519-3128-8D25-753500ACD704}"/>
              </a:ext>
            </a:extLst>
          </p:cNvPr>
          <p:cNvSpPr/>
          <p:nvPr/>
        </p:nvSpPr>
        <p:spPr>
          <a:xfrm>
            <a:off x="6217922" y="979404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36638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D5F4A-1614-34FB-3E65-F5ECF683E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36A608-BF70-97BF-04A8-978857FEBC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13E44E-F5DB-2C33-2FD3-8CD2FCEA47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9</a:t>
            </a:fld>
            <a:endParaRPr lang="ko-KR" altLang="en-US" dirty="0"/>
          </a:p>
        </p:txBody>
      </p:sp>
      <p:graphicFrame>
        <p:nvGraphicFramePr>
          <p:cNvPr id="3" name="Table 24">
            <a:extLst>
              <a:ext uri="{FF2B5EF4-FFF2-40B4-BE49-F238E27FC236}">
                <a16:creationId xmlns:a16="http://schemas.microsoft.com/office/drawing/2014/main" id="{6C52E79A-42FB-6B0C-41EB-5ABDBAE56D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1689273"/>
              </p:ext>
            </p:extLst>
          </p:nvPr>
        </p:nvGraphicFramePr>
        <p:xfrm>
          <a:off x="1306216" y="1672047"/>
          <a:ext cx="9579568" cy="45604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74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1286114323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2865512279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198448097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3203679715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8262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PatientID</a:t>
                      </a: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n_slices</a:t>
                      </a: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slices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t12_slice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pubis_slice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z_range</a:t>
                      </a: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z_t12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z_pubis</a:t>
                      </a: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280328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427.5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-249.596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-677.096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4554284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288473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445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-19.498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-464.498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3887785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300279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435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-205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-640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2802478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305343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450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-207.049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-657.049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3217534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334474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422.5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-3.044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-425.544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4019222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433117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425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-232.5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-657.5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6713263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580790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452.5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-154.753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-607.253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1556210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661644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407.5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-187.5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-595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4336897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723671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417.5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-222.5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-640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4682490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727292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445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-8.044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-453.044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141678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836829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410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-31.538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-441.539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1863335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871616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412.5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-192.5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-605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1984369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1003064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402.5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-212.5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-615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4333430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1134913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220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502.5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-3.447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-505.947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4347136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1146907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457.5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-202.5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-660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155605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1154785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242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515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31.161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-483.839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2464310"/>
                  </a:ext>
                </a:extLst>
              </a:tr>
            </a:tbl>
          </a:graphicData>
        </a:graphic>
      </p:graphicFrame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3AE7AC7A-8188-574D-4B8B-28B7BDDF12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/>
              <a:t>Total </a:t>
            </a:r>
            <a:r>
              <a:rPr lang="en-US" altLang="ko-KR" dirty="0" err="1"/>
              <a:t>Segmentator</a:t>
            </a:r>
            <a:r>
              <a:rPr lang="ko-KR" altLang="en-US" dirty="0"/>
              <a:t>로 상하단 기준 좌표 </a:t>
            </a:r>
            <a:r>
              <a:rPr lang="en-US" altLang="ko-KR" dirty="0"/>
              <a:t>Fail </a:t>
            </a:r>
            <a:r>
              <a:rPr lang="ko-KR" altLang="en-US" dirty="0"/>
              <a:t>건 </a:t>
            </a:r>
            <a:r>
              <a:rPr lang="en-US" altLang="ko-KR" dirty="0"/>
              <a:t>(630 / 2,054)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510780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C959DD-5D42-3875-4DC7-8F2DB46B8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그림 22">
            <a:extLst>
              <a:ext uri="{FF2B5EF4-FFF2-40B4-BE49-F238E27FC236}">
                <a16:creationId xmlns:a16="http://schemas.microsoft.com/office/drawing/2014/main" id="{24810271-C350-C0A7-A93D-BF6B665574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6303" y="3783077"/>
            <a:ext cx="2597697" cy="2597697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ED2F30B3-2FF4-0C99-038A-213799B7FB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5633" y="3783077"/>
            <a:ext cx="2597697" cy="259769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6D94A278-CAD7-495F-6C53-609B61273EB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5029" y="1041425"/>
            <a:ext cx="2597696" cy="2597696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C4B959AE-2659-5CCA-FBF4-4A8510C0A2F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360" y="1041425"/>
            <a:ext cx="2597696" cy="259769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98EFE7B0-F668-180D-A921-43E60A018DE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6304" y="1041425"/>
            <a:ext cx="2597696" cy="2597696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D34C8665-D67E-5E60-4712-5A415F164FF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5634" y="1041425"/>
            <a:ext cx="2597696" cy="259769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AE167BB6-919B-D2F0-1598-AC33D6CC82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F78459-93E7-11F9-E175-4D240B103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10</a:t>
            </a:fld>
            <a:endParaRPr lang="ko-KR" altLang="en-US" dirty="0"/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7329C039-B937-20A6-23C2-6110C7445B0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5028" y="3783077"/>
            <a:ext cx="2597697" cy="2597697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9D73A435-675D-61F4-9212-9E9A3BF9C21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360" y="3783077"/>
            <a:ext cx="2597697" cy="2597697"/>
          </a:xfrm>
          <a:prstGeom prst="rect">
            <a:avLst/>
          </a:prstGeom>
        </p:spPr>
      </p:pic>
      <p:sp>
        <p:nvSpPr>
          <p:cNvPr id="30" name="직사각형 29">
            <a:extLst>
              <a:ext uri="{FF2B5EF4-FFF2-40B4-BE49-F238E27FC236}">
                <a16:creationId xmlns:a16="http://schemas.microsoft.com/office/drawing/2014/main" id="{D41EADB1-7A22-7627-52D5-8C1926DCCEE3}"/>
              </a:ext>
            </a:extLst>
          </p:cNvPr>
          <p:cNvSpPr/>
          <p:nvPr/>
        </p:nvSpPr>
        <p:spPr>
          <a:xfrm>
            <a:off x="435429" y="979404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32348F9D-0B29-756A-8A0E-53705748B329}"/>
              </a:ext>
            </a:extLst>
          </p:cNvPr>
          <p:cNvSpPr/>
          <p:nvPr/>
        </p:nvSpPr>
        <p:spPr>
          <a:xfrm>
            <a:off x="435429" y="3721055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3DFBFD1D-DF98-070D-B714-C2FC71CF93EF}"/>
              </a:ext>
            </a:extLst>
          </p:cNvPr>
          <p:cNvSpPr/>
          <p:nvPr/>
        </p:nvSpPr>
        <p:spPr>
          <a:xfrm>
            <a:off x="6217922" y="3721055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505A7F3A-F201-9BFD-5195-145026F77FF9}"/>
              </a:ext>
            </a:extLst>
          </p:cNvPr>
          <p:cNvSpPr/>
          <p:nvPr/>
        </p:nvSpPr>
        <p:spPr>
          <a:xfrm>
            <a:off x="6217922" y="979404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95676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8C51F2-CA9F-9F6C-AD80-88CEC23E1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>
            <a:extLst>
              <a:ext uri="{FF2B5EF4-FFF2-40B4-BE49-F238E27FC236}">
                <a16:creationId xmlns:a16="http://schemas.microsoft.com/office/drawing/2014/main" id="{FAB8B76D-54C2-E6B3-CE27-B810700B9E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8668" y="3783076"/>
            <a:ext cx="2597698" cy="2597698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40DFA1AC-EBBE-3FBA-8EA0-0ED3147156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3783076"/>
            <a:ext cx="2608751" cy="2608751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A8E12289-CE3A-95C5-EBCB-BF3F97A40D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5248" y="1041424"/>
            <a:ext cx="2605125" cy="260512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82B1BB50-63CC-829E-615D-E24AED5F8E7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9263" y="1041425"/>
            <a:ext cx="2597696" cy="259769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335208F9-C588-FC15-2A2B-65500CBA2E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E9A425-4DBD-EE0A-882D-B57F04662B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11</a:t>
            </a:fld>
            <a:endParaRPr lang="ko-KR" alt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459A045-59EF-641C-92CE-0B8C983AD9F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8670" y="1041425"/>
            <a:ext cx="2597696" cy="259769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34CBF506-845A-CFB1-5296-3FB61684EAC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1041425"/>
            <a:ext cx="2597696" cy="2597696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AA953309-683A-CE75-C722-BF5E329C5F7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9264" y="3766869"/>
            <a:ext cx="2608752" cy="2608752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2BC64F05-9936-549F-BE8F-E1B19737BB5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2675" y="3783076"/>
            <a:ext cx="2597698" cy="2597698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ECCFC49D-E3A2-F950-CAE3-EE0C42279E85}"/>
              </a:ext>
            </a:extLst>
          </p:cNvPr>
          <p:cNvSpPr/>
          <p:nvPr/>
        </p:nvSpPr>
        <p:spPr>
          <a:xfrm>
            <a:off x="435429" y="979404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21EC528B-03DE-BB97-5152-BBF0F53CF398}"/>
              </a:ext>
            </a:extLst>
          </p:cNvPr>
          <p:cNvSpPr/>
          <p:nvPr/>
        </p:nvSpPr>
        <p:spPr>
          <a:xfrm>
            <a:off x="435429" y="3721055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B7A95EFE-304A-9B32-5EC0-3C081FE6F920}"/>
              </a:ext>
            </a:extLst>
          </p:cNvPr>
          <p:cNvSpPr/>
          <p:nvPr/>
        </p:nvSpPr>
        <p:spPr>
          <a:xfrm>
            <a:off x="6217922" y="3721055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55BE590B-6E41-7B8F-A8F6-005E0CA4FDE6}"/>
              </a:ext>
            </a:extLst>
          </p:cNvPr>
          <p:cNvSpPr/>
          <p:nvPr/>
        </p:nvSpPr>
        <p:spPr>
          <a:xfrm>
            <a:off x="6217922" y="979404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78114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1EE7E-817F-C87E-FB8F-5DC3D30556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C73284-FE7C-1617-5215-A21962FA4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82B2E8-63B2-A9B4-C8F0-7C8F2D1CF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12</a:t>
            </a:fld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309B0CD4-5439-E6B0-4BB1-FB9064D99B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/>
              <a:t>Data </a:t>
            </a:r>
            <a:r>
              <a:rPr lang="ko-KR" altLang="en-US" dirty="0"/>
              <a:t>정리</a:t>
            </a:r>
            <a:endParaRPr lang="en-US" altLang="ko-KR" dirty="0"/>
          </a:p>
          <a:p>
            <a:pPr lvl="1"/>
            <a:r>
              <a:rPr lang="en-US" altLang="ko-KR" dirty="0"/>
              <a:t>Clinic Data: Patient 3,762 </a:t>
            </a:r>
            <a:r>
              <a:rPr lang="ko-KR" altLang="en-US" dirty="0"/>
              <a:t>→ 중복 제거 </a:t>
            </a:r>
            <a:r>
              <a:rPr lang="en-US" altLang="ko-KR" dirty="0"/>
              <a:t>2,033 </a:t>
            </a:r>
            <a:r>
              <a:rPr lang="ko-KR" altLang="en-US" dirty="0"/>
              <a:t>→ </a:t>
            </a:r>
            <a:r>
              <a:rPr lang="en-US" altLang="ko-KR" dirty="0"/>
              <a:t>BMI, Height, Weight, SMI </a:t>
            </a:r>
            <a:r>
              <a:rPr lang="ko-KR" altLang="en-US" dirty="0" err="1"/>
              <a:t>결측치</a:t>
            </a:r>
            <a:r>
              <a:rPr lang="ko-KR" altLang="en-US" dirty="0"/>
              <a:t> 제거 </a:t>
            </a:r>
            <a:r>
              <a:rPr lang="en-US" altLang="ko-KR" dirty="0"/>
              <a:t>1,458</a:t>
            </a:r>
          </a:p>
          <a:p>
            <a:pPr lvl="1"/>
            <a:r>
              <a:rPr lang="en-US" altLang="ko-KR" dirty="0"/>
              <a:t>AEC: Patient 2,054 (Crop ok : T12 missing = 1,424 : 630)</a:t>
            </a:r>
            <a:endParaRPr lang="en-US" altLang="ko-KR" sz="1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728E35-0D99-09CC-7F38-FFF8B28A6F33}"/>
              </a:ext>
            </a:extLst>
          </p:cNvPr>
          <p:cNvSpPr txBox="1"/>
          <p:nvPr/>
        </p:nvSpPr>
        <p:spPr>
          <a:xfrm>
            <a:off x="6096000" y="2942014"/>
            <a:ext cx="4458789" cy="414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/>
              <a:t>(OK 1,375 + Missing 384)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AB8C363B-E1A7-1AB9-B827-AC5E7549F1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1261712"/>
              </p:ext>
            </p:extLst>
          </p:nvPr>
        </p:nvGraphicFramePr>
        <p:xfrm>
          <a:off x="508000" y="3429000"/>
          <a:ext cx="5414555" cy="2251560"/>
        </p:xfrm>
        <a:graphic>
          <a:graphicData uri="http://schemas.openxmlformats.org/drawingml/2006/table">
            <a:tbl>
              <a:tblPr/>
              <a:tblGrid>
                <a:gridCol w="609838">
                  <a:extLst>
                    <a:ext uri="{9D8B030D-6E8A-4147-A177-3AD203B41FA5}">
                      <a16:colId xmlns:a16="http://schemas.microsoft.com/office/drawing/2014/main" val="2939389252"/>
                    </a:ext>
                  </a:extLst>
                </a:gridCol>
                <a:gridCol w="2731351">
                  <a:extLst>
                    <a:ext uri="{9D8B030D-6E8A-4147-A177-3AD203B41FA5}">
                      <a16:colId xmlns:a16="http://schemas.microsoft.com/office/drawing/2014/main" val="1349768137"/>
                    </a:ext>
                  </a:extLst>
                </a:gridCol>
                <a:gridCol w="1210491">
                  <a:extLst>
                    <a:ext uri="{9D8B030D-6E8A-4147-A177-3AD203B41FA5}">
                      <a16:colId xmlns:a16="http://schemas.microsoft.com/office/drawing/2014/main" val="3404613820"/>
                    </a:ext>
                  </a:extLst>
                </a:gridCol>
                <a:gridCol w="862875">
                  <a:extLst>
                    <a:ext uri="{9D8B030D-6E8A-4147-A177-3AD203B41FA5}">
                      <a16:colId xmlns:a16="http://schemas.microsoft.com/office/drawing/2014/main" val="1751584630"/>
                    </a:ext>
                  </a:extLst>
                </a:gridCol>
              </a:tblGrid>
              <a:tr h="25544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단계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100" b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제외 기준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제외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n)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잔여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n)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3973608"/>
                  </a:ext>
                </a:extLst>
              </a:tr>
              <a:tr h="33611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OK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中 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Fixed AEC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제거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1,424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1,375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8784053"/>
                  </a:ext>
                </a:extLst>
              </a:tr>
              <a:tr h="336116">
                <a:tc rowSpan="3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Clinic Data ∩ AEC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교집합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—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960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7570177"/>
                  </a:ext>
                </a:extLst>
              </a:tr>
              <a:tr h="25544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└ </a:t>
                      </a: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kVp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≠ 100</a:t>
                      </a:r>
                    </a:p>
                  </a:txBody>
                  <a:tcPr marL="2286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83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—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5024795"/>
                  </a:ext>
                </a:extLst>
              </a:tr>
              <a:tr h="46086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└ </a:t>
                      </a: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ManufacturerModelName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소수 비율</a:t>
                      </a:r>
                    </a:p>
                  </a:txBody>
                  <a:tcPr marL="2286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18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—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096403"/>
                  </a:ext>
                </a:extLst>
              </a:tr>
              <a:tr h="336116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altLang="en-US" sz="1100">
                        <a:solidFill>
                          <a:schemeClr val="tx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100" b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최종 분석 대상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b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101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859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4693103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CDD56B47-8E93-08E0-6F46-C26B944C12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6606919"/>
              </p:ext>
            </p:extLst>
          </p:nvPr>
        </p:nvGraphicFramePr>
        <p:xfrm>
          <a:off x="6096000" y="3429000"/>
          <a:ext cx="5414555" cy="2251560"/>
        </p:xfrm>
        <a:graphic>
          <a:graphicData uri="http://schemas.openxmlformats.org/drawingml/2006/table">
            <a:tbl>
              <a:tblPr/>
              <a:tblGrid>
                <a:gridCol w="609838">
                  <a:extLst>
                    <a:ext uri="{9D8B030D-6E8A-4147-A177-3AD203B41FA5}">
                      <a16:colId xmlns:a16="http://schemas.microsoft.com/office/drawing/2014/main" val="2939389252"/>
                    </a:ext>
                  </a:extLst>
                </a:gridCol>
                <a:gridCol w="2731351">
                  <a:extLst>
                    <a:ext uri="{9D8B030D-6E8A-4147-A177-3AD203B41FA5}">
                      <a16:colId xmlns:a16="http://schemas.microsoft.com/office/drawing/2014/main" val="1349768137"/>
                    </a:ext>
                  </a:extLst>
                </a:gridCol>
                <a:gridCol w="1210491">
                  <a:extLst>
                    <a:ext uri="{9D8B030D-6E8A-4147-A177-3AD203B41FA5}">
                      <a16:colId xmlns:a16="http://schemas.microsoft.com/office/drawing/2014/main" val="3404613820"/>
                    </a:ext>
                  </a:extLst>
                </a:gridCol>
                <a:gridCol w="862875">
                  <a:extLst>
                    <a:ext uri="{9D8B030D-6E8A-4147-A177-3AD203B41FA5}">
                      <a16:colId xmlns:a16="http://schemas.microsoft.com/office/drawing/2014/main" val="1751584630"/>
                    </a:ext>
                  </a:extLst>
                </a:gridCol>
              </a:tblGrid>
              <a:tr h="25544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단계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100" b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제외 기준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제외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n)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잔여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n)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3973608"/>
                  </a:ext>
                </a:extLst>
              </a:tr>
              <a:tr h="33611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Fixed AEC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제거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2.054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1,759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8784053"/>
                  </a:ext>
                </a:extLst>
              </a:tr>
              <a:tr h="336116">
                <a:tc rowSpan="3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Clinic Data ∩ AEC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교집합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—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1,273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7570177"/>
                  </a:ext>
                </a:extLst>
              </a:tr>
              <a:tr h="25544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└ </a:t>
                      </a: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kVp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≠ 100</a:t>
                      </a:r>
                    </a:p>
                  </a:txBody>
                  <a:tcPr marL="2286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93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—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5024795"/>
                  </a:ext>
                </a:extLst>
              </a:tr>
              <a:tr h="46086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└ </a:t>
                      </a: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ManufacturerModelName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소수 비율</a:t>
                      </a:r>
                    </a:p>
                  </a:txBody>
                  <a:tcPr marL="2286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18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—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096403"/>
                  </a:ext>
                </a:extLst>
              </a:tr>
              <a:tr h="336116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altLang="en-US" sz="1100">
                        <a:solidFill>
                          <a:schemeClr val="tx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100" b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최종 분석 대상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111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1,162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4693103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FAF9F448-5919-1AC9-2EC6-07FEC1113E44}"/>
              </a:ext>
            </a:extLst>
          </p:cNvPr>
          <p:cNvSpPr txBox="1"/>
          <p:nvPr/>
        </p:nvSpPr>
        <p:spPr>
          <a:xfrm>
            <a:off x="508000" y="2942014"/>
            <a:ext cx="4458789" cy="414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/>
              <a:t>(OK 1,375)</a:t>
            </a:r>
          </a:p>
        </p:txBody>
      </p:sp>
    </p:spTree>
    <p:extLst>
      <p:ext uri="{BB962C8B-B14F-4D97-AF65-F5344CB8AC3E}">
        <p14:creationId xmlns:p14="http://schemas.microsoft.com/office/powerpoint/2010/main" val="23757666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55F62-1267-C774-42E2-A96C1B5CC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225FCC-9ECE-ADE9-222B-BE6E1BA461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091E6F-837A-157A-05A5-E726FECA8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13</a:t>
            </a:fld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43D3B6C9-9925-1415-5F8B-622A5F415D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/>
              <a:t>Model </a:t>
            </a:r>
            <a:r>
              <a:rPr lang="ko-KR" altLang="en-US" dirty="0"/>
              <a:t>성능 비교</a:t>
            </a:r>
            <a:endParaRPr lang="en-US" altLang="ko-KR" dirty="0"/>
          </a:p>
          <a:p>
            <a:pPr lvl="1"/>
            <a:r>
              <a:rPr lang="en-US" altLang="ko-KR" dirty="0"/>
              <a:t>Model 1: Clinic </a:t>
            </a:r>
            <a:r>
              <a:rPr lang="ko-KR" altLang="en-US" dirty="0"/>
              <a:t>→ </a:t>
            </a:r>
            <a:r>
              <a:rPr lang="en-US" altLang="ko-KR" dirty="0"/>
              <a:t>Logistic</a:t>
            </a:r>
            <a:r>
              <a:rPr lang="ko-KR" altLang="en-US" dirty="0"/>
              <a:t> </a:t>
            </a:r>
            <a:r>
              <a:rPr lang="en-US" altLang="ko-KR" dirty="0"/>
              <a:t>Regression</a:t>
            </a:r>
          </a:p>
          <a:p>
            <a:pPr lvl="1"/>
            <a:r>
              <a:rPr lang="en-US" altLang="ko-KR" dirty="0"/>
              <a:t>Model 2: Clinic + AEC (Matching) </a:t>
            </a:r>
            <a:r>
              <a:rPr lang="ko-KR" altLang="en-US" dirty="0"/>
              <a:t>→ </a:t>
            </a:r>
            <a:r>
              <a:rPr lang="en-US" altLang="ko-KR" dirty="0"/>
              <a:t>Cross-Attention</a:t>
            </a:r>
          </a:p>
          <a:p>
            <a:pPr lvl="1"/>
            <a:r>
              <a:rPr lang="en-US" altLang="ko-KR" dirty="0"/>
              <a:t>Model 2_2: Clinic + AEC (</a:t>
            </a:r>
            <a:r>
              <a:rPr lang="en-US" altLang="ko-KR" dirty="0" err="1"/>
              <a:t>UnMatching</a:t>
            </a:r>
            <a:r>
              <a:rPr lang="en-US" altLang="ko-KR" dirty="0"/>
              <a:t>) </a:t>
            </a:r>
            <a:r>
              <a:rPr lang="ko-KR" altLang="en-US" dirty="0"/>
              <a:t>→ </a:t>
            </a:r>
            <a:r>
              <a:rPr lang="en-US" altLang="ko-KR" dirty="0"/>
              <a:t>Cross-Attention</a:t>
            </a:r>
          </a:p>
          <a:p>
            <a:pPr lvl="1"/>
            <a:r>
              <a:rPr lang="en-US" altLang="ko-KR" dirty="0"/>
              <a:t>Model 3: Clinic + AEC + Scanner </a:t>
            </a:r>
            <a:r>
              <a:rPr lang="ko-KR" altLang="en-US" dirty="0"/>
              <a:t>→ </a:t>
            </a:r>
            <a:r>
              <a:rPr lang="en-US" altLang="ko-KR" dirty="0"/>
              <a:t>Cross-Attention</a:t>
            </a:r>
          </a:p>
        </p:txBody>
      </p:sp>
    </p:spTree>
    <p:extLst>
      <p:ext uri="{BB962C8B-B14F-4D97-AF65-F5344CB8AC3E}">
        <p14:creationId xmlns:p14="http://schemas.microsoft.com/office/powerpoint/2010/main" val="5731896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3BDEF-35C7-C11D-0F64-7636B941A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D3D11AAD-C7C2-9B2B-29C3-F43F5F3362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4227" y="1289835"/>
            <a:ext cx="7655602" cy="5063067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D7FF2745-FF28-6AEC-B91D-BB32ED8B2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75617B0-A438-3AF0-7964-D09973EDD2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14</a:t>
            </a:fld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0ED9F990-AC1E-6A36-2393-445ECF9CE5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/>
              <a:t>Dataset (OK : 859)</a:t>
            </a:r>
          </a:p>
        </p:txBody>
      </p:sp>
    </p:spTree>
    <p:extLst>
      <p:ext uri="{BB962C8B-B14F-4D97-AF65-F5344CB8AC3E}">
        <p14:creationId xmlns:p14="http://schemas.microsoft.com/office/powerpoint/2010/main" val="6920697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1607A-045E-7965-7092-A93C7BC93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2AED6B4E-C419-F72A-19AE-F4C6D39549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250" y="3949875"/>
            <a:ext cx="5495174" cy="23400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B330761D-88B4-F17A-292E-B06D49C7C7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5444" y="1609875"/>
            <a:ext cx="7061109" cy="234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59A5A664-7C44-261C-21AF-779EC599A6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EAD2B6D-F9F3-8F7E-AE18-44A9A12ED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15</a:t>
            </a:fld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5146E24D-C6E8-D7F9-BBE1-1851EB6E7E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/>
              <a:t>Dataset (OK : 859) – Model 1(Clinic)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28636B80-02AD-F632-72AA-CB7A7F4079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8424" y="3949875"/>
            <a:ext cx="2725163" cy="2340000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F7BA5898-F1C9-93E9-BC5C-E1DFEFCCA7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43587" y="3949875"/>
            <a:ext cx="2725163" cy="23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60679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9F3BA-1ED7-3DA1-7A91-EF6E11A16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EEBD04-4480-D036-7AC8-ADDD10A259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303ECC-83DE-3243-5347-60109977E1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16</a:t>
            </a:fld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9F31A94B-7401-7DA8-690E-551A0A2B1C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/>
              <a:t>Dataset (OK : 859) – Model Comparison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94EE8C7-DB22-C430-4CAE-62CE3B8492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5305" y="1827551"/>
            <a:ext cx="4898481" cy="4281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81280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D60E3-7A5D-B581-62C8-BC467A43F9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BF4F90-B328-47BE-F0A4-469A87F56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523D8B-73E7-1D8B-6A23-0B40FB1F8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17</a:t>
            </a:fld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659C21BE-9F56-3505-503C-564C4A2D25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/>
              <a:t>Dataset (OK : 859) – Model Comparison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2394811-30A7-094C-8A44-678E5F7F89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5304" y="1827550"/>
            <a:ext cx="4898482" cy="4281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88558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0B69C-B945-EF83-DFB9-70C46077D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0D49ACD-E479-50DB-CFBC-4D0EDBB661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4227" y="1289834"/>
            <a:ext cx="7651788" cy="5063067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1E8FCDBE-EBB1-3273-F995-EAF5F21F96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7556199-8A66-BA3E-A800-B0BBCF1B7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18</a:t>
            </a:fld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426F6D65-75E4-4010-7724-DBCAEF2CE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/>
              <a:t>Dataset (OK + Missing : 1,162)</a:t>
            </a:r>
          </a:p>
        </p:txBody>
      </p:sp>
    </p:spTree>
    <p:extLst>
      <p:ext uri="{BB962C8B-B14F-4D97-AF65-F5344CB8AC3E}">
        <p14:creationId xmlns:p14="http://schemas.microsoft.com/office/powerpoint/2010/main" val="16511421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1607A-045E-7965-7092-A93C7BC93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A5A664-7C44-261C-21AF-779EC599A6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EAD2B6D-F9F3-8F7E-AE18-44A9A12ED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19</a:t>
            </a:fld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5146E24D-C6E8-D7F9-BBE1-1851EB6E7E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/>
              <a:t>Dataset (OK + Missing : 1,162) – Model 1(Clinic)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7A302C2-68A7-DA60-732C-FA4AD6F03C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5444" y="1609875"/>
            <a:ext cx="7061112" cy="2340000"/>
          </a:xfrm>
          <a:prstGeom prst="rect">
            <a:avLst/>
          </a:prstGeom>
        </p:spPr>
      </p:pic>
      <p:grpSp>
        <p:nvGrpSpPr>
          <p:cNvPr id="14" name="그룹 13">
            <a:extLst>
              <a:ext uri="{FF2B5EF4-FFF2-40B4-BE49-F238E27FC236}">
                <a16:creationId xmlns:a16="http://schemas.microsoft.com/office/drawing/2014/main" id="{58D38C82-337B-1B1C-FBF2-95A6AC4235C3}"/>
              </a:ext>
            </a:extLst>
          </p:cNvPr>
          <p:cNvGrpSpPr/>
          <p:nvPr/>
        </p:nvGrpSpPr>
        <p:grpSpPr>
          <a:xfrm>
            <a:off x="623250" y="3949875"/>
            <a:ext cx="10945500" cy="2350290"/>
            <a:chOff x="508000" y="3949875"/>
            <a:chExt cx="10945500" cy="2350290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261427DE-A790-745C-F288-C42A5E1FAE1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003174" y="3960165"/>
              <a:ext cx="2725163" cy="2340000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8D4D4EFF-12C4-958F-8945-811636F449F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728337" y="3949875"/>
              <a:ext cx="2725163" cy="2340000"/>
            </a:xfrm>
            <a:prstGeom prst="rect">
              <a:avLst/>
            </a:prstGeom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F0CB96A1-3F2B-5043-7D68-C3CE543FED8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08000" y="3960165"/>
              <a:ext cx="5495174" cy="234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088875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909EE-B05E-1302-48A5-B80E4D111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D58B411F-4A4E-78C5-CA53-CD6D43F34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5305" y="1827549"/>
            <a:ext cx="4898483" cy="4281514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AB57A7E-412E-FEAA-B4CE-5C7DA2AC1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9053BC-633C-948B-FBCD-F656EBDA9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20</a:t>
            </a:fld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167F749F-8155-E0D3-3A96-1CDE7D2CBB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/>
              <a:t>Dataset (OK + Missing : 1,162) – Model Comparison</a:t>
            </a:r>
          </a:p>
        </p:txBody>
      </p:sp>
    </p:spTree>
    <p:extLst>
      <p:ext uri="{BB962C8B-B14F-4D97-AF65-F5344CB8AC3E}">
        <p14:creationId xmlns:p14="http://schemas.microsoft.com/office/powerpoint/2010/main" val="20333066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F1932A-5A2A-9503-BEC3-00F96EA129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DB957ED0-E11C-31C2-E0AD-BEE1A8DF1B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5304" y="1827548"/>
            <a:ext cx="4898484" cy="428151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E80AF78E-F656-C431-6237-E9DAB51D1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B9CD50-97F0-CF76-C060-719B3AB1E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21</a:t>
            </a:fld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9AE5DDE2-BC07-8CFF-D71A-399EE70C8D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/>
              <a:t>Dataset (OK + Missing : 1,162) – Model Comparison</a:t>
            </a:r>
          </a:p>
        </p:txBody>
      </p:sp>
    </p:spTree>
    <p:extLst>
      <p:ext uri="{BB962C8B-B14F-4D97-AF65-F5344CB8AC3E}">
        <p14:creationId xmlns:p14="http://schemas.microsoft.com/office/powerpoint/2010/main" val="27027337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EAB54C-5E11-B9C0-57F3-3D89DA268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8B53D9-E496-0B72-5190-043E5711BC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Next Plans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0C9257B-47A5-8ECA-2B20-1BC833105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22</a:t>
            </a:fld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2DE961D9-2791-8DE0-0EBF-0635190F1F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5009936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6" name="Google Shape;1176;g3d412ffb079_0_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928138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2940</TotalTime>
  <Words>1352</Words>
  <Application>Microsoft Office PowerPoint</Application>
  <PresentationFormat>와이드스크린</PresentationFormat>
  <Paragraphs>492</Paragraphs>
  <Slides>23</Slides>
  <Notes>19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28" baseType="lpstr">
      <vt:lpstr>KoPub돋움체 Medium</vt:lpstr>
      <vt:lpstr>맑은 고딕</vt:lpstr>
      <vt:lpstr>Arial</vt:lpstr>
      <vt:lpstr>KoPub돋움체 Bold</vt:lpstr>
      <vt:lpstr>Office 테마</vt:lpstr>
      <vt:lpstr>PowerPoint 프레젠테이션</vt:lpstr>
      <vt:lpstr>1. What’s discussed in the last meetings</vt:lpstr>
      <vt:lpstr>1. What’s discussed in the last meetings</vt:lpstr>
      <vt:lpstr>2. Research Summary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4. Next Plans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전장훈</dc:creator>
  <cp:lastModifiedBy>전장훈</cp:lastModifiedBy>
  <cp:revision>265</cp:revision>
  <dcterms:created xsi:type="dcterms:W3CDTF">2026-04-09T07:05:16Z</dcterms:created>
  <dcterms:modified xsi:type="dcterms:W3CDTF">2026-05-21T07:01:27Z</dcterms:modified>
</cp:coreProperties>
</file>