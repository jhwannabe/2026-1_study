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71" r:id="rId11"/>
    <p:sldId id="272" r:id="rId12"/>
    <p:sldId id="277" r:id="rId13"/>
    <p:sldId id="273" r:id="rId14"/>
    <p:sldId id="276" r:id="rId15"/>
    <p:sldId id="274" r:id="rId16"/>
    <p:sldId id="275" r:id="rId17"/>
    <p:sldId id="269" r:id="rId18"/>
  </p:sldIdLst>
  <p:sldSz cx="12192000" cy="6858000"/>
  <p:notesSz cx="12192000" cy="68580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기본 구역" id="{84D7001C-9E28-4083-B81B-823770F10E7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Stratification Result" id="{18FC91BA-6DF7-48F9-87D0-452576217DD2}">
          <p14:sldIdLst>
            <p14:sldId id="265"/>
            <p14:sldId id="271"/>
            <p14:sldId id="272"/>
            <p14:sldId id="277"/>
            <p14:sldId id="273"/>
            <p14:sldId id="276"/>
            <p14:sldId id="274"/>
            <p14:sldId id="275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53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69FF03A-DF0C-4845-94BB-EF2385AD676B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2700" cmpd="sng">
              <a:solidFill>
                <a:schemeClr val="accent1"/>
              </a:solidFill>
            </a:ln>
          </a:top>
          <a:bottom>
            <a:ln w="2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 w="10000" cmpd="sng">
              <a:solidFill>
                <a:schemeClr val="accent1"/>
              </a:solidFill>
            </a:ln>
          </a:top>
          <a:bottom>
            <a:ln w="10000" cmpd="sng">
              <a:solidFill>
                <a:schemeClr val="accent1"/>
              </a:solidFill>
            </a:ln>
          </a:bottom>
        </a:tcBdr>
        <a:fill>
          <a:solidFill>
            <a:schemeClr val="accent1">
              <a:alpha val="20000"/>
              <a:tint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A19EC50-B813-4FCE-9F78-2F8D5DE6B856}" styleName="Normal Style 2 - Accent 1">
    <a:tblBg>
      <a:effectRef idx="1">
        <a:schemeClr val="dk1"/>
      </a:effectRef>
    </a:tblBg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10000"/>
              <a:satMod val="53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30000"/>
              <a:satMod val="33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20000"/>
              <a:satMod val="73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>
              <a:alpha val="90000"/>
              <a:satMod val="150000"/>
            </a:schemeClr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>
              <a:alpha val="90000"/>
              <a:satMod val="150000"/>
            </a:schemeClr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>
              <a:alpha val="50000"/>
              <a:satMod val="630000"/>
            </a:schemeClr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>
              <a:shade val="50000"/>
              <a:satMod val="230000"/>
            </a:schemeClr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06F615A-370F-48FF-96DE-FFA2584FB0C5}" styleName="Light Style 2 - Body/Background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  <a:top>
            <a:lnRef idx="1">
              <a:schemeClr val="dk1"/>
            </a:lnRef>
          </a:top>
          <a:bottom>
            <a:lnRef idx="1">
              <a:schemeClr val="dk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dk1"/>
            </a:lnRef>
          </a:top>
          <a:bottom>
            <a:lnRef idx="1">
              <a:schemeClr val="dk1"/>
            </a:lnRef>
          </a:bottom>
        </a:tcBdr>
      </a:tcStyle>
    </a:band1H>
    <a:band1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1V>
    <a:band2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>
        <a:fontRef idx="minor">
          <a:scrgbClr r="0" g="0" b="0"/>
        </a:fontRef>
        <a:schemeClr val="dk1"/>
      </a:tcTxStyle>
      <a:tcStyle>
        <a:tcBdr>
          <a:top>
            <a:ln w="60800" cmpd="dbl">
              <a:solidFill>
                <a:schemeClr val="dk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dk1">
          <a:shade val="40000"/>
        </a:schemeClr>
      </a:tcTxStyle>
      <a:tcStyle>
        <a:tcBdr/>
        <a:fill>
          <a:solidFill>
            <a:schemeClr val="dk1">
              <a:alpha val="4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29D6073-5DEC-478E-BFBB-120F47F47B7E}" styleName="Light Style 1 - Body/Background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2700" cmpd="sng">
              <a:solidFill>
                <a:schemeClr val="dk1"/>
              </a:solidFill>
            </a:ln>
          </a:top>
          <a:bottom>
            <a:ln w="2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 w="10000" cmpd="sng">
              <a:solidFill>
                <a:schemeClr val="dk1"/>
              </a:solidFill>
            </a:ln>
          </a:top>
          <a:bottom>
            <a:ln w="10000" cmpd="sng">
              <a:solidFill>
                <a:schemeClr val="dk1"/>
              </a:solidFill>
            </a:ln>
          </a:bottom>
        </a:tcBdr>
        <a:fill>
          <a:solidFill>
            <a:schemeClr val="dk1">
              <a:alpha val="20000"/>
              <a:tint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dbl">
              <a:solidFill>
                <a:schemeClr val="dk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270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F0A0EA-C916-463C-A3AD-4CCFBD9124EA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>
        <a:fontRef idx="minor">
          <a:scrgbClr r="0" g="0" b="0"/>
        </a:fontRef>
        <a:schemeClr val="accent1"/>
      </a:tcTxStyle>
      <a:tcStyle>
        <a:tcBdr>
          <a:top>
            <a:ln w="6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accent1">
          <a:shade val="40000"/>
        </a:schemeClr>
      </a:tcTxStyle>
      <a:tcStyle>
        <a:tcBdr/>
        <a:fill>
          <a:solidFill>
            <a:schemeClr val="accent1">
              <a:alpha val="4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76831" autoAdjust="0"/>
  </p:normalViewPr>
  <p:slideViewPr>
    <p:cSldViewPr>
      <p:cViewPr varScale="1">
        <p:scale>
          <a:sx n="88" d="100"/>
          <a:sy n="88" d="100"/>
        </p:scale>
        <p:origin x="255" y="54"/>
      </p:cViewPr>
      <p:guideLst>
        <p:guide orient="horz" pos="2153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29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6905978" y="0"/>
            <a:ext cx="5283200" cy="3429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2025-12-26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5283200" cy="3429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6905978" y="6513910"/>
            <a:ext cx="5283200" cy="3429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24F3D1CD-0EED-4DFA-AF12-8E73FDA834A4}" type="datetime1">
              <a:rPr lang="ko-KR" altLang="en-US"/>
              <a:pPr lvl="0">
                <a:defRPr/>
              </a:pPr>
              <a:t>2025-12-26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B338DA34-01F3-43BF-904F-885132A129B0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en-US" altLang="ko-KR"/>
              <a:pPr lvl="0">
                <a:defRPr/>
              </a:pPr>
              <a:t>12/26/2025</a:t>
            </a:fld>
            <a:endParaRPr lang="ko-KR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7" name="직사각형 6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>
              <a:alpha val="100000"/>
            </a:srgbClr>
          </a:solidFill>
          <a:ln w="25400" cap="flat" cmpd="sng" algn="ctr">
            <a:noFill/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en-US" altLang="ko-KR">
              <a:solidFill>
                <a:srgbClr val="FFFFFF"/>
              </a:solidFill>
              <a:latin typeface="Arial"/>
              <a:ea typeface="맑은 고딕"/>
              <a:cs typeface="Arial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701" y="446405"/>
            <a:ext cx="11353699" cy="353695"/>
          </a:xfrm>
        </p:spPr>
        <p:txBody>
          <a:bodyPr lIns="0" tIns="0" rIns="0" bIns="0"/>
          <a:lstStyle>
            <a:lvl1pPr>
              <a:defRPr sz="2400" b="1" i="0">
                <a:solidFill>
                  <a:srgbClr val="1F346B"/>
                </a:solidFill>
                <a:latin typeface="Arial"/>
                <a:cs typeface="Arial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en-US" altLang="ko-KR"/>
              <a:pPr lvl="0">
                <a:defRPr/>
              </a:pPr>
              <a:t>12/26/2025</a:t>
            </a:fld>
            <a:endParaRPr lang="ko-KR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800"/>
            <a:ext cx="11125200" cy="1466850"/>
          </a:xfrm>
        </p:spPr>
        <p:txBody>
          <a:bodyPr/>
          <a:lstStyle>
            <a:lvl1pPr marL="285750" indent="-285750">
              <a:lnSpc>
                <a:spcPct val="100000"/>
              </a:lnSpc>
              <a:buFont typeface="Arial"/>
              <a:buChar char="•"/>
              <a:defRPr sz="2400"/>
            </a:lvl1pPr>
            <a:lvl2pPr marL="742950" indent="-285750">
              <a:lnSpc>
                <a:spcPct val="100000"/>
              </a:lnSpc>
              <a:buFont typeface="Arial"/>
              <a:buChar char="•"/>
              <a:defRPr sz="2000"/>
            </a:lvl2pPr>
            <a:lvl3pPr marL="1200150" indent="-285750">
              <a:lnSpc>
                <a:spcPct val="100000"/>
              </a:lnSpc>
              <a:buFont typeface="Arial"/>
              <a:buChar char="•"/>
              <a:defRPr sz="1800"/>
            </a:lvl3pPr>
            <a:lvl4pPr marL="1657350" indent="-285750">
              <a:lnSpc>
                <a:spcPct val="100000"/>
              </a:lnSpc>
              <a:buFont typeface="Arial"/>
              <a:buChar char="•"/>
              <a:defRPr sz="1600"/>
            </a:lvl4pPr>
            <a:lvl5pPr marL="2114550" indent="-285750">
              <a:lnSpc>
                <a:spcPct val="100000"/>
              </a:lnSpc>
              <a:buFont typeface="Arial"/>
              <a:buChar char="•"/>
              <a:defRPr/>
            </a:lvl5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F346B"/>
                </a:solidFill>
                <a:latin typeface="Arial"/>
                <a:cs typeface="Arial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en-US" altLang="ko-KR"/>
              <a:pPr lvl="0">
                <a:defRPr/>
              </a:pPr>
              <a:t>12/26/2025</a:t>
            </a:fld>
            <a:endParaRPr lang="ko-KR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8" name="직사각형 7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>
              <a:alpha val="100000"/>
            </a:srgbClr>
          </a:solidFill>
          <a:ln w="25400" cap="flat" cmpd="sng" algn="ctr">
            <a:noFill/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en-US" altLang="ko-KR">
              <a:solidFill>
                <a:srgbClr val="FFFFFF"/>
              </a:solidFill>
              <a:latin typeface="Arial"/>
              <a:ea typeface="맑은 고딕"/>
              <a:cs typeface="Arial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F346B"/>
                </a:solidFill>
                <a:latin typeface="Arial"/>
                <a:cs typeface="Arial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en-US" altLang="ko-KR"/>
              <a:pPr lvl="0">
                <a:defRPr/>
              </a:pPr>
              <a:t>12/26/2025</a:t>
            </a:fld>
            <a:endParaRPr lang="ko-KR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6" name="직사각형 5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>
              <a:alpha val="100000"/>
            </a:srgbClr>
          </a:solidFill>
          <a:ln w="25400" cap="flat" cmpd="sng" algn="ctr">
            <a:noFill/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en-US" altLang="ko-KR">
              <a:solidFill>
                <a:srgbClr val="FFFFFF"/>
              </a:solidFill>
              <a:latin typeface="Arial"/>
              <a:ea typeface="맑은 고딕"/>
              <a:cs typeface="Arial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en-US" altLang="ko-KR"/>
              <a:pPr lvl="0">
                <a:defRPr/>
              </a:pPr>
              <a:t>12/26/2025</a:t>
            </a:fld>
            <a:endParaRPr lang="ko-KR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403205" cy="353695"/>
          </a:xfrm>
          <a:custGeom>
            <a:avLst/>
            <a:gdLst/>
            <a:ahLst/>
            <a:cxnLst/>
            <a:rect l="l" t="t" r="r" b="b"/>
            <a:pathLst>
              <a:path w="10403205" h="353695">
                <a:moveTo>
                  <a:pt x="10402824" y="0"/>
                </a:moveTo>
                <a:lnTo>
                  <a:pt x="0" y="0"/>
                </a:lnTo>
                <a:lnTo>
                  <a:pt x="0" y="353568"/>
                </a:lnTo>
                <a:lnTo>
                  <a:pt x="10402824" y="353568"/>
                </a:lnTo>
                <a:lnTo>
                  <a:pt x="10402824" y="0"/>
                </a:lnTo>
                <a:close/>
              </a:path>
            </a:pathLst>
          </a:custGeom>
          <a:solidFill>
            <a:srgbClr val="1F346B"/>
          </a:solidFill>
        </p:spPr>
        <p:txBody>
          <a:bodyPr wrap="square" lIns="0" tIns="0" rIns="0" bIns="0"/>
          <a:lstStyle/>
          <a:p>
            <a:pPr lvl="0">
              <a:defRPr/>
            </a:pPr>
            <a:endParaRPr/>
          </a:p>
        </p:txBody>
      </p:sp>
      <p:pic>
        <p:nvPicPr>
          <p:cNvPr id="17" name="bg object 17"/>
          <p:cNvPicPr/>
          <p:nvPr/>
        </p:nvPicPr>
        <p:blipFill rotWithShape="1">
          <a:blip r:embed="rId7"/>
          <a:stretch>
            <a:fillRect/>
          </a:stretch>
        </p:blipFill>
        <p:spPr>
          <a:xfrm>
            <a:off x="105155" y="12745"/>
            <a:ext cx="1045403" cy="32405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701" y="379298"/>
            <a:ext cx="1831339" cy="391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1F346B"/>
                </a:solidFill>
                <a:latin typeface="Arial"/>
                <a:cs typeface="Arial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11008" y="1695830"/>
            <a:ext cx="9821545" cy="1677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0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en-US" altLang="ko-KR"/>
              <a:pPr lvl="0">
                <a:defRPr/>
              </a:pPr>
              <a:t>12/26/2025</a:t>
            </a:fld>
            <a:endParaRPr lang="ko-KR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56619" y="6419409"/>
            <a:ext cx="25654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18" name="직사각형 17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>
              <a:alpha val="100000"/>
            </a:srgbClr>
          </a:solidFill>
          <a:ln w="25400" cap="flat" cmpd="sng" algn="ctr">
            <a:noFill/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en-US" altLang="ko-KR">
              <a:solidFill>
                <a:srgbClr val="FFFFFF"/>
              </a:solidFill>
              <a:latin typeface="Arial"/>
              <a:ea typeface="맑은 고딕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</p:sldLayoutIdLst>
  <p:transition/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/>
          <a:stretch>
            <a:fillRect/>
          </a:stretch>
        </p:blipFill>
        <p:spPr>
          <a:xfrm>
            <a:off x="0" y="342901"/>
            <a:ext cx="12192000" cy="6540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9363" y="2062806"/>
            <a:ext cx="11387837" cy="385119"/>
          </a:xfrm>
          <a:prstGeom prst="rect">
            <a:avLst/>
          </a:prstGeom>
        </p:spPr>
        <p:txBody>
          <a:bodyPr vert="horz" wrap="square" lIns="0" tIns="13335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4"/>
              </a:spcBef>
              <a:defRPr/>
            </a:pPr>
            <a:r>
              <a:rPr lang="en-US" altLang="ko-KR" sz="2500">
                <a:solidFill>
                  <a:schemeClr val="lt1"/>
                </a:solidFill>
              </a:rPr>
              <a:t>Tabular Data Analysis</a:t>
            </a:r>
          </a:p>
        </p:txBody>
      </p:sp>
      <p:pic>
        <p:nvPicPr>
          <p:cNvPr id="4" name="object 4"/>
          <p:cNvPicPr/>
          <p:nvPr/>
        </p:nvPicPr>
        <p:blipFill rotWithShape="1">
          <a:blip r:embed="rId3"/>
          <a:stretch>
            <a:fillRect/>
          </a:stretch>
        </p:blipFill>
        <p:spPr>
          <a:xfrm>
            <a:off x="0" y="5446776"/>
            <a:ext cx="4561332" cy="100431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17068" y="3139177"/>
            <a:ext cx="7139940" cy="25904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Arial"/>
                <a:ea typeface="+mj-ea"/>
                <a:cs typeface="Arial"/>
              </a:rPr>
              <a:t>2025. 12. 26.</a:t>
            </a:r>
          </a:p>
        </p:txBody>
      </p:sp>
      <p:sp>
        <p:nvSpPr>
          <p:cNvPr id="6" name="object 5"/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800" b="1">
                <a:solidFill>
                  <a:srgbClr val="FFFFFF"/>
                </a:solidFill>
                <a:latin typeface="Arial"/>
                <a:ea typeface="+mj-ea"/>
                <a:cs typeface="Arial"/>
              </a:rPr>
              <a:t>JangHoon Chun</a:t>
            </a:r>
          </a:p>
        </p:txBody>
      </p:sp>
      <p:sp>
        <p:nvSpPr>
          <p:cNvPr id="7" name="object 5"/>
          <p:cNvSpPr txBox="1"/>
          <p:nvPr/>
        </p:nvSpPr>
        <p:spPr>
          <a:xfrm>
            <a:off x="417068" y="3978214"/>
            <a:ext cx="7139940" cy="1193861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>
                <a:solidFill>
                  <a:srgbClr val="FFFFFF"/>
                </a:solidFill>
                <a:latin typeface="Arial"/>
                <a:ea typeface="+mj-ea"/>
                <a:cs typeface="Arial"/>
              </a:rPr>
              <a:t>Department of Medical Device Industry,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>
                <a:solidFill>
                  <a:srgbClr val="FFFFFF"/>
                </a:solidFill>
                <a:latin typeface="Arial"/>
                <a:ea typeface="+mj-ea"/>
                <a:cs typeface="Arial"/>
              </a:rPr>
              <a:t>Gangnam Severance Hospital,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>
                <a:solidFill>
                  <a:srgbClr val="FFFFFF"/>
                </a:solidFill>
                <a:latin typeface="Arial"/>
                <a:ea typeface="+mj-ea"/>
                <a:cs typeface="Arial"/>
              </a:rPr>
              <a:t>Yonsei University College of Medicine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lang="en-US" altLang="ko-KR" sz="1600">
              <a:solidFill>
                <a:srgbClr val="FFFFFF"/>
              </a:solidFill>
              <a:latin typeface="Arial"/>
              <a:ea typeface="+mj-ea"/>
              <a:cs typeface="Arial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sz="1600" baseline="25000">
              <a:latin typeface="Arial"/>
              <a:ea typeface="+mj-ea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1. What’s discussed in the last meetings</a:t>
            </a:r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2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09645"/>
            <a:ext cx="11125200" cy="1751185"/>
          </a:xfrm>
        </p:spPr>
        <p:txBody>
          <a:bodyPr/>
          <a:lstStyle/>
          <a:p>
            <a:pPr>
              <a:lnSpc>
                <a:spcPct val="200000"/>
              </a:lnSpc>
              <a:defRPr/>
            </a:pPr>
            <a:r>
              <a:rPr lang="en-US" altLang="ko-KR" sz="2000" dirty="0"/>
              <a:t>Re-implement the code to check deeply for any errors or missing</a:t>
            </a:r>
          </a:p>
          <a:p>
            <a:pPr>
              <a:lnSpc>
                <a:spcPct val="200000"/>
              </a:lnSpc>
              <a:defRPr/>
            </a:pPr>
            <a:r>
              <a:rPr lang="en-US" altLang="ko-KR" sz="2000" dirty="0"/>
              <a:t>After the model test, store it as Excel data to check and analyze the data directly</a:t>
            </a:r>
          </a:p>
          <a:p>
            <a:pPr>
              <a:lnSpc>
                <a:spcPct val="200000"/>
              </a:lnSpc>
              <a:defRPr/>
            </a:pPr>
            <a:r>
              <a:rPr lang="en-US" altLang="ko-KR" sz="2000" dirty="0"/>
              <a:t>Compare Holdout and 5-fold cv results</a:t>
            </a:r>
            <a:endParaRPr lang="en-US" altLang="ko-KR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</a:t>
            </a:r>
            <a:r>
              <a:rPr lang="en-US" altLang="ko-KR"/>
              <a:t>Research Summary</a:t>
            </a:r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3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09645"/>
            <a:ext cx="11125200" cy="4089838"/>
          </a:xfrm>
        </p:spPr>
        <p:txBody>
          <a:bodyPr/>
          <a:lstStyle/>
          <a:p>
            <a:pPr>
              <a:lnSpc>
                <a:spcPct val="200000"/>
              </a:lnSpc>
              <a:defRPr/>
            </a:pPr>
            <a:r>
              <a:rPr lang="en-US" altLang="ko-KR" sz="2000" dirty="0"/>
              <a:t>Stratification Analysis</a:t>
            </a:r>
          </a:p>
          <a:p>
            <a:pPr lvl="1">
              <a:lnSpc>
                <a:spcPct val="200000"/>
              </a:lnSpc>
              <a:defRPr/>
            </a:pPr>
            <a:r>
              <a:rPr lang="ko-KR" altLang="en-US" sz="1600" dirty="0"/>
              <a:t>약물 여부 </a:t>
            </a:r>
            <a:r>
              <a:rPr lang="en-US" altLang="ko-KR" sz="1600" dirty="0"/>
              <a:t>[</a:t>
            </a:r>
            <a:r>
              <a:rPr lang="ko-KR" altLang="en-US" sz="1600" dirty="0" err="1"/>
              <a:t>혈압약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당뇨약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고지혈증약</a:t>
            </a:r>
            <a:r>
              <a:rPr lang="en-US" altLang="ko-KR" sz="1600" dirty="0"/>
              <a:t>, </a:t>
            </a:r>
            <a:r>
              <a:rPr lang="ko-KR" altLang="en-US" sz="1600" dirty="0"/>
              <a:t>진통소염제</a:t>
            </a:r>
            <a:r>
              <a:rPr lang="en-US" altLang="ko-KR" sz="1600" dirty="0"/>
              <a:t>]</a:t>
            </a:r>
          </a:p>
          <a:p>
            <a:pPr lvl="1">
              <a:lnSpc>
                <a:spcPct val="200000"/>
              </a:lnSpc>
              <a:defRPr/>
            </a:pPr>
            <a:r>
              <a:rPr lang="ko-KR" altLang="en-US" sz="1600" dirty="0"/>
              <a:t>흡연</a:t>
            </a:r>
            <a:r>
              <a:rPr lang="en-US" altLang="ko-KR" sz="1600" dirty="0"/>
              <a:t>, </a:t>
            </a:r>
            <a:r>
              <a:rPr lang="ko-KR" altLang="en-US" sz="1600" dirty="0"/>
              <a:t>운동</a:t>
            </a:r>
            <a:r>
              <a:rPr lang="en-US" altLang="ko-KR" sz="1600" dirty="0"/>
              <a:t>, </a:t>
            </a:r>
            <a:r>
              <a:rPr lang="ko-KR" altLang="en-US" sz="1600" dirty="0"/>
              <a:t>음주 여부</a:t>
            </a:r>
            <a:endParaRPr lang="en-US" altLang="ko-KR" sz="1600" dirty="0"/>
          </a:p>
          <a:p>
            <a:pPr lvl="1">
              <a:lnSpc>
                <a:spcPct val="200000"/>
              </a:lnSpc>
              <a:defRPr/>
            </a:pPr>
            <a:r>
              <a:rPr lang="ko-KR" altLang="en-US" sz="1600" dirty="0"/>
              <a:t>연령대 </a:t>
            </a:r>
            <a:r>
              <a:rPr lang="en-US" altLang="ko-KR" sz="1600" dirty="0"/>
              <a:t>[40</a:t>
            </a:r>
            <a:r>
              <a:rPr lang="ko-KR" altLang="en-US" sz="1600" dirty="0"/>
              <a:t>세 이하</a:t>
            </a:r>
            <a:r>
              <a:rPr lang="en-US" altLang="ko-KR" sz="1600" dirty="0"/>
              <a:t>, 40</a:t>
            </a:r>
            <a:r>
              <a:rPr lang="ko-KR" altLang="en-US" sz="1600" dirty="0"/>
              <a:t>대</a:t>
            </a:r>
            <a:r>
              <a:rPr lang="en-US" altLang="ko-KR" sz="1600" dirty="0"/>
              <a:t>, 50</a:t>
            </a:r>
            <a:r>
              <a:rPr lang="ko-KR" altLang="en-US" sz="1600" dirty="0"/>
              <a:t>대</a:t>
            </a:r>
            <a:r>
              <a:rPr lang="en-US" altLang="ko-KR" sz="1600" dirty="0"/>
              <a:t>, 60</a:t>
            </a:r>
            <a:r>
              <a:rPr lang="ko-KR" altLang="en-US" sz="1600" dirty="0"/>
              <a:t>대</a:t>
            </a:r>
            <a:r>
              <a:rPr lang="en-US" altLang="ko-KR" sz="1600" dirty="0"/>
              <a:t>, 70</a:t>
            </a:r>
            <a:r>
              <a:rPr lang="ko-KR" altLang="en-US" sz="1600" dirty="0"/>
              <a:t>대</a:t>
            </a:r>
            <a:r>
              <a:rPr lang="en-US" altLang="ko-KR" sz="1600" dirty="0"/>
              <a:t>, 80</a:t>
            </a:r>
            <a:r>
              <a:rPr lang="ko-KR" altLang="en-US" sz="1600" dirty="0"/>
              <a:t>세 이상</a:t>
            </a:r>
            <a:r>
              <a:rPr lang="en-US" altLang="ko-KR" sz="1600" dirty="0"/>
              <a:t>]</a:t>
            </a:r>
          </a:p>
          <a:p>
            <a:pPr lvl="1">
              <a:lnSpc>
                <a:spcPct val="200000"/>
              </a:lnSpc>
              <a:defRPr/>
            </a:pPr>
            <a:r>
              <a:rPr lang="ko-KR" altLang="en-US" sz="1600" dirty="0" err="1"/>
              <a:t>근육량</a:t>
            </a:r>
            <a:r>
              <a:rPr lang="ko-KR" altLang="en-US" sz="1600" dirty="0"/>
              <a:t> </a:t>
            </a:r>
            <a:r>
              <a:rPr lang="en-US" altLang="ko-KR" sz="1600" dirty="0"/>
              <a:t>[30 </a:t>
            </a:r>
            <a:r>
              <a:rPr lang="ko-KR" altLang="en-US" sz="1600" dirty="0"/>
              <a:t>미만</a:t>
            </a:r>
            <a:r>
              <a:rPr lang="en-US" altLang="ko-KR" sz="1600" dirty="0"/>
              <a:t>, 30-35, 35-40, </a:t>
            </a:r>
            <a:r>
              <a:rPr lang="en-US" altLang="ko-KR" sz="1600"/>
              <a:t>40 </a:t>
            </a:r>
            <a:r>
              <a:rPr lang="ko-KR" altLang="en-US" sz="1600"/>
              <a:t>이상</a:t>
            </a:r>
            <a:r>
              <a:rPr lang="en-US" altLang="ko-KR" sz="1600"/>
              <a:t>]</a:t>
            </a:r>
            <a:endParaRPr lang="en-US" altLang="ko-KR" sz="1600" dirty="0"/>
          </a:p>
          <a:p>
            <a:pPr lvl="1">
              <a:lnSpc>
                <a:spcPct val="200000"/>
              </a:lnSpc>
              <a:defRPr/>
            </a:pPr>
            <a:r>
              <a:rPr lang="en-US" altLang="ko-KR" sz="1600" dirty="0"/>
              <a:t>Breast Density Grade [0, 1, 2, 3]</a:t>
            </a:r>
          </a:p>
          <a:p>
            <a:pPr lvl="1">
              <a:lnSpc>
                <a:spcPct val="200000"/>
              </a:lnSpc>
              <a:defRPr/>
            </a:pPr>
            <a:r>
              <a:rPr lang="en-US" altLang="ko-KR" sz="1600" dirty="0"/>
              <a:t>BI-RAID </a:t>
            </a:r>
            <a:r>
              <a:rPr lang="ko-KR" altLang="en-US" sz="1600" dirty="0"/>
              <a:t>등급 </a:t>
            </a:r>
            <a:r>
              <a:rPr lang="en-US" altLang="ko-KR" sz="1600" dirty="0"/>
              <a:t>[0, 1, 2, 3, 4]</a:t>
            </a:r>
          </a:p>
          <a:p>
            <a:pPr>
              <a:lnSpc>
                <a:spcPct val="200000"/>
              </a:lnSpc>
              <a:defRPr/>
            </a:pPr>
            <a:r>
              <a:rPr lang="en-US" altLang="ko-KR" sz="2000" dirty="0"/>
              <a:t>FP</a:t>
            </a:r>
            <a:r>
              <a:rPr lang="ko-KR" altLang="en-US" sz="2000" dirty="0"/>
              <a:t>의 비율이 높게 나타남 </a:t>
            </a:r>
            <a:r>
              <a:rPr lang="en-US" altLang="ko-KR" sz="2000" dirty="0"/>
              <a:t>(Threshold </a:t>
            </a:r>
            <a:r>
              <a:rPr lang="ko-KR" altLang="en-US" sz="2000" dirty="0"/>
              <a:t>조정 및 </a:t>
            </a:r>
            <a:r>
              <a:rPr lang="en-US" altLang="ko-KR" sz="2000" dirty="0"/>
              <a:t>Precision-Recall Curve </a:t>
            </a:r>
            <a:r>
              <a:rPr lang="ko-KR" altLang="en-US" sz="2000" dirty="0"/>
              <a:t>확인</a:t>
            </a:r>
            <a:r>
              <a:rPr lang="en-US" altLang="ko-KR" sz="2000" dirty="0"/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E5005-23A7-7AFB-BC2B-6E2832B0B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5AD6832-7334-44B4-725E-86C0EBDBE0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 progress</a:t>
            </a:r>
          </a:p>
        </p:txBody>
      </p:sp>
      <p:sp>
        <p:nvSpPr>
          <p:cNvPr id="12" name="Holder 6">
            <a:extLst>
              <a:ext uri="{FF2B5EF4-FFF2-40B4-BE49-F238E27FC236}">
                <a16:creationId xmlns:a16="http://schemas.microsoft.com/office/drawing/2014/main" id="{14875F32-8918-4B60-499C-4A83AF0936D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4</a:t>
            </a:fld>
            <a:endParaRPr lang="en-US" spc="-25"/>
          </a:p>
        </p:txBody>
      </p:sp>
      <p:sp>
        <p:nvSpPr>
          <p:cNvPr id="13" name="텍스트 개체 틀 7">
            <a:extLst>
              <a:ext uri="{FF2B5EF4-FFF2-40B4-BE49-F238E27FC236}">
                <a16:creationId xmlns:a16="http://schemas.microsoft.com/office/drawing/2014/main" id="{523AEAB0-2284-3E91-EC4F-83CD26934C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007846"/>
            <a:ext cx="5486400" cy="363754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ko-KR" altLang="en-US" sz="1800" dirty="0"/>
              <a:t>인체 임상 변수</a:t>
            </a:r>
            <a:endParaRPr lang="ko-KR" altLang="en-US" sz="1800" dirty="0">
              <a:solidFill>
                <a:srgbClr val="FF0000"/>
              </a:solidFill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5DA0C6FA-5764-D095-FA59-83B19B75D2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7815846"/>
              </p:ext>
            </p:extLst>
          </p:nvPr>
        </p:nvGraphicFramePr>
        <p:xfrm>
          <a:off x="685800" y="1542803"/>
          <a:ext cx="5562600" cy="5162797"/>
        </p:xfrm>
        <a:graphic>
          <a:graphicData uri="http://schemas.openxmlformats.org/drawingml/2006/table">
            <a:tbl>
              <a:tblPr firstRow="1" bandRow="1">
                <a:tableStyleId>{729D6073-5DEC-478E-BFBB-120F47F47B7E}</a:tableStyleId>
              </a:tblPr>
              <a:tblGrid>
                <a:gridCol w="1602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1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647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Variable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Description</a:t>
                      </a:r>
                      <a:endParaRPr lang="ko-KR" altLang="en-US" sz="1200">
                        <a:latin typeface="맑은 고딕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 dirty="0">
                          <a:latin typeface="맑은 고딕"/>
                        </a:rPr>
                        <a:t>Units / Classification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File Analyzed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환자 / 케이스 식별자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ID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477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Osteoporosis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골다공증 여부</a:t>
                      </a:r>
                    </a:p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(0=정상, 1=골다공증)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Binary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Age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나이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세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진료년월일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검사 날짜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YYYY-MM-DD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키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키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cm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체중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몸무게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</a:t>
                      </a: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BMI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체질량지수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kg/m²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허리둘레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허리 둘레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cm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근육량SoftLeanMass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부위별 평균 근육량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체지방율BodyFat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체지방 비율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%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체지방량FatMassKg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체지방 총량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복부지방율WHRatio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복부지방률 (WH Ratio)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%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복부내장지방량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내장지방량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복부피하지방량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피하지방량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초경연령ALL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초경 시작 나이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세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폐경여부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폐경 여부 (1=예, 0=아니오)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Binary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475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출산횟수ALL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출산</a:t>
                      </a: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횟수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Count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4" name="텍스트 개체 틀 7"/>
          <p:cNvSpPr txBox="1">
            <a:spLocks/>
          </p:cNvSpPr>
          <p:nvPr/>
        </p:nvSpPr>
        <p:spPr>
          <a:xfrm>
            <a:off x="6858000" y="1013289"/>
            <a:ext cx="3352800" cy="3637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85750" indent="-285750">
              <a:lnSpc>
                <a:spcPct val="100000"/>
              </a:lnSpc>
              <a:buFont typeface="Arial"/>
              <a:buChar char="•"/>
              <a:defRPr sz="24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>
              <a:lnSpc>
                <a:spcPct val="100000"/>
              </a:lnSpc>
              <a:buFont typeface="Arial"/>
              <a:buChar char="•"/>
              <a:defRPr sz="2000">
                <a:latin typeface="+mn-lt"/>
                <a:ea typeface="+mn-ea"/>
                <a:cs typeface="+mn-cs"/>
              </a:defRPr>
            </a:lvl2pPr>
            <a:lvl3pPr marL="1200150" indent="-285750">
              <a:lnSpc>
                <a:spcPct val="100000"/>
              </a:lnSpc>
              <a:buFont typeface="Arial"/>
              <a:buChar char="•"/>
              <a:defRPr sz="1800">
                <a:latin typeface="+mn-lt"/>
                <a:ea typeface="+mn-ea"/>
                <a:cs typeface="+mn-cs"/>
              </a:defRPr>
            </a:lvl3pPr>
            <a:lvl4pPr marL="1657350" indent="-285750">
              <a:lnSpc>
                <a:spcPct val="100000"/>
              </a:lnSpc>
              <a:buFont typeface="Arial"/>
              <a:buChar char="•"/>
              <a:defRPr sz="1600">
                <a:latin typeface="+mn-lt"/>
                <a:ea typeface="+mn-ea"/>
                <a:cs typeface="+mn-cs"/>
              </a:defRPr>
            </a:lvl4pPr>
            <a:lvl5pPr marL="2114550" indent="-285750">
              <a:lnSpc>
                <a:spcPct val="100000"/>
              </a:lnSpc>
              <a:buFont typeface="Arial"/>
              <a:buChar char="•"/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ko-KR" altLang="en-US" sz="1800" dirty="0"/>
              <a:t>약물 복용 변수</a:t>
            </a:r>
            <a:endParaRPr lang="en-US" altLang="ko-KR" sz="1800" dirty="0"/>
          </a:p>
        </p:txBody>
      </p:sp>
      <p:graphicFrame>
        <p:nvGraphicFramePr>
          <p:cNvPr id="17" name="표 16"/>
          <p:cNvGraphicFramePr/>
          <p:nvPr>
            <p:extLst>
              <p:ext uri="{D42A27DB-BD31-4B8C-83A1-F6EECF244321}">
                <p14:modId xmlns:p14="http://schemas.microsoft.com/office/powerpoint/2010/main" val="2851986789"/>
              </p:ext>
            </p:extLst>
          </p:nvPr>
        </p:nvGraphicFramePr>
        <p:xfrm>
          <a:off x="6781800" y="1542803"/>
          <a:ext cx="4343400" cy="2237040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852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1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 dirty="0">
                          <a:latin typeface="맑은 고딕"/>
                        </a:rPr>
                        <a:t>Variable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 dirty="0">
                          <a:latin typeface="맑은 고딕"/>
                        </a:rPr>
                        <a:t>Units / Classification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094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혈압약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yes: 1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094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당뇨약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yes: 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094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고지혈증약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yes: 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094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흡연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current: 1 / </a:t>
                      </a:r>
                      <a:r>
                        <a:rPr lang="en-US" altLang="ko-KR" sz="1200" b="0" i="0" strike="noStrik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exsmoke</a:t>
                      </a: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: 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094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운동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yes: 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835299"/>
                  </a:ext>
                </a:extLst>
              </a:tr>
              <a:tr h="164094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음주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yes: 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675657"/>
                  </a:ext>
                </a:extLst>
              </a:tr>
              <a:tr h="164094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유방암 가족력 이력</a:t>
                      </a:r>
                      <a:endParaRPr sz="1200" b="0" i="0" strike="noStrike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strike="noStrik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no: 0 / yes: 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5208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 progress</a:t>
            </a:r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5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09645"/>
            <a:ext cx="5486400" cy="785343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ko-KR" altLang="en-US" sz="2000"/>
              <a:t>영상 파생 변수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ko-KR" sz="1600"/>
              <a:t>Mammography</a:t>
            </a:r>
            <a:r>
              <a:rPr lang="ko-KR" altLang="en-US" sz="1600"/>
              <a:t>로부터 계산된 값</a:t>
            </a:r>
          </a:p>
        </p:txBody>
      </p:sp>
      <p:graphicFrame>
        <p:nvGraphicFramePr>
          <p:cNvPr id="17" name="표 16"/>
          <p:cNvGraphicFramePr/>
          <p:nvPr/>
        </p:nvGraphicFramePr>
        <p:xfrm>
          <a:off x="1219200" y="2133600"/>
          <a:ext cx="9601200" cy="2074571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34458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2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26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817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>
                          <a:latin typeface="맑은 고딕"/>
                        </a:rPr>
                        <a:t>Variable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>
                          <a:latin typeface="맑은 고딕"/>
                        </a:rPr>
                        <a:t>Description</a:t>
                      </a:r>
                      <a:endParaRPr lang="ko-KR" altLang="en-US" sz="1600">
                        <a:latin typeface="맑은 고딕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>
                          <a:latin typeface="맑은 고딕"/>
                        </a:rPr>
                        <a:t>Units / Classification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44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Average b</a:t>
                      </a: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reast</a:t>
                      </a:r>
                      <a:r>
                        <a:rPr 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 a</a:t>
                      </a: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rea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유방 전체 면적 평균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cm²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44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Average d</a:t>
                      </a: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ense</a:t>
                      </a:r>
                      <a:r>
                        <a:rPr 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 a</a:t>
                      </a: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rea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치밀 조직 면적 평균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cm²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44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Average b</a:t>
                      </a: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reast</a:t>
                      </a:r>
                      <a:r>
                        <a:rPr 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 d</a:t>
                      </a: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ensity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유방 내 치밀조직 비율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%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44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Breast</a:t>
                      </a:r>
                      <a:r>
                        <a:rPr 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 d</a:t>
                      </a: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ensity</a:t>
                      </a:r>
                      <a:r>
                        <a:rPr 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 g</a:t>
                      </a: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rading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유방 밀도 등급</a:t>
                      </a:r>
                      <a:endParaRPr lang="en-US" altLang="ko-KR" sz="16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1~4 </a:t>
                      </a:r>
                      <a:r>
                        <a:rPr lang="ko-KR" alt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단계</a:t>
                      </a:r>
                      <a:endParaRPr sz="1600" b="0" i="0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445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*</a:t>
                      </a: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BIRADS</a:t>
                      </a:r>
                      <a:r>
                        <a:rPr 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 </a:t>
                      </a: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Category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BI-RADS </a:t>
                      </a:r>
                      <a:r>
                        <a:rPr lang="ko-KR" alt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평가 카테고리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1~5</a:t>
                      </a:r>
                      <a:r>
                        <a:rPr lang="ko-KR" altLang="en-US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 등급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43000" y="454049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</a:rPr>
              <a:t>*BIRADS (Breast Imaging Reporting and Data System)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 dirty="0"/>
              <a:t>3. Detailed progress</a:t>
            </a:r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6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09645"/>
            <a:ext cx="5486400" cy="785343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ko-KR" altLang="en-US" sz="2000"/>
              <a:t>환자 데이터</a:t>
            </a:r>
          </a:p>
          <a:p>
            <a:pPr lvl="1">
              <a:lnSpc>
                <a:spcPct val="150000"/>
              </a:lnSpc>
              <a:defRPr/>
            </a:pPr>
            <a:r>
              <a:rPr lang="ko-KR" altLang="en-US" sz="1600"/>
              <a:t>전체 </a:t>
            </a:r>
            <a:r>
              <a:rPr lang="en-US" altLang="ko-KR" sz="1600"/>
              <a:t>8,768</a:t>
            </a:r>
            <a:r>
              <a:rPr lang="ko-KR" altLang="en-US" sz="1600"/>
              <a:t>명 중 폐경 환자군만 고려</a:t>
            </a:r>
          </a:p>
        </p:txBody>
      </p:sp>
      <p:graphicFrame>
        <p:nvGraphicFramePr>
          <p:cNvPr id="2" name="표 18"/>
          <p:cNvGraphicFramePr/>
          <p:nvPr/>
        </p:nvGraphicFramePr>
        <p:xfrm>
          <a:off x="1251408" y="2819401"/>
          <a:ext cx="3124200" cy="1447800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562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600">
                          <a:latin typeface="맑은 고딕"/>
                        </a:rPr>
                        <a:t>Group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600">
                          <a:latin typeface="맑은 고딕"/>
                        </a:rPr>
                        <a:t>Samples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lang="en-US" altLang="ko-KR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3,961(100)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  <a:r>
                        <a:rPr lang="en-US" altLang="ko-KR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(87.7)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  <a:r>
                        <a:rPr lang="en-US" altLang="ko-KR" sz="16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(12.3)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19200" y="222146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>
                <a:latin typeface="맑은 고딕"/>
                <a:ea typeface="맑은 고딕"/>
              </a:rPr>
              <a:t>&lt;</a:t>
            </a:r>
            <a:r>
              <a:rPr lang="ko-KR" altLang="en-US" sz="1800">
                <a:latin typeface="맑은 고딕"/>
                <a:ea typeface="맑은 고딕"/>
              </a:rPr>
              <a:t>폐경 환자군 내 정상</a:t>
            </a:r>
            <a:r>
              <a:rPr lang="en-US" altLang="ko-KR" sz="1800">
                <a:latin typeface="맑은 고딕"/>
                <a:ea typeface="맑은 고딕"/>
              </a:rPr>
              <a:t>/</a:t>
            </a:r>
            <a:r>
              <a:rPr lang="ko-KR" altLang="en-US" sz="1800">
                <a:latin typeface="맑은 고딕"/>
                <a:ea typeface="맑은 고딕"/>
              </a:rPr>
              <a:t>골다공증 비율</a:t>
            </a:r>
            <a:r>
              <a:rPr lang="en-US" altLang="ko-KR" sz="1800">
                <a:latin typeface="맑은 고딕"/>
                <a:ea typeface="맑은 고딕"/>
              </a:rPr>
              <a:t>&gt;</a:t>
            </a:r>
            <a:endParaRPr lang="ko-KR" altLang="en-US"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graphicFrame>
        <p:nvGraphicFramePr>
          <p:cNvPr id="20" name="표 19"/>
          <p:cNvGraphicFramePr/>
          <p:nvPr>
            <p:extLst>
              <p:ext uri="{D42A27DB-BD31-4B8C-83A1-F6EECF244321}">
                <p14:modId xmlns:p14="http://schemas.microsoft.com/office/powerpoint/2010/main" val="862446855"/>
              </p:ext>
            </p:extLst>
          </p:nvPr>
        </p:nvGraphicFramePr>
        <p:xfrm>
          <a:off x="1029991" y="2860362"/>
          <a:ext cx="6041684" cy="3901440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934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1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1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1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19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195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Variable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Classification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N_Sample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mean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std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952">
                <a:tc rowSpan="3"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Age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 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60.3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7.34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(0)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59.81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7.07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63.78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8.18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952">
                <a:tc rowSpan="3"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BMI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23.07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3.12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(0)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23.21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3.12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22.07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2.99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1952">
                <a:tc rowSpan="3"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BreastDensity(%)AVG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26.75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11.45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(0)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26.59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11.24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27.87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12.81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1952">
                <a:tc rowSpan="3"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BreastArea(sqcm)AVG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122.54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38.10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(0)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123.57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38.38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115.22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35.22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1952">
                <a:tc rowSpan="3"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DenseArea(sqcm)AVG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29.73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10.59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(0)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29.87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10.71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1952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  <a:r>
                        <a:rPr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(1)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28.68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1000" b="0" i="0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9.58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43397"/>
              </p:ext>
            </p:extLst>
          </p:nvPr>
        </p:nvGraphicFramePr>
        <p:xfrm>
          <a:off x="1029991" y="1855638"/>
          <a:ext cx="10650493" cy="837730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343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9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9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5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65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909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Type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Age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BMI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BreastDensity(%)AVG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BreastArea(sqcm)AVG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DenseArea(sqcm)AVG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t-stat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-10.18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7.86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-2.09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4.84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2.53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41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ko-KR" sz="1200" b="1">
                          <a:solidFill>
                            <a:srgbClr val="FF0000"/>
                          </a:solidFill>
                          <a:latin typeface="맑은 고딕"/>
                        </a:rPr>
                        <a:t>p-value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>
                          <a:solidFill>
                            <a:srgbClr val="FF0000"/>
                          </a:solidFill>
                          <a:latin typeface="맑은 고딕"/>
                        </a:rPr>
                        <a:t>&lt;0.001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>
                          <a:solidFill>
                            <a:srgbClr val="FF0000"/>
                          </a:solidFill>
                          <a:latin typeface="맑은 고딕"/>
                        </a:rPr>
                        <a:t>&lt;0.001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>
                          <a:solidFill>
                            <a:srgbClr val="FF0000"/>
                          </a:solidFill>
                          <a:latin typeface="맑은 고딕"/>
                        </a:rPr>
                        <a:t>0.037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>
                          <a:solidFill>
                            <a:srgbClr val="FF0000"/>
                          </a:solidFill>
                          <a:latin typeface="맑은 고딕"/>
                        </a:rPr>
                        <a:t>&lt;0.001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200" b="1">
                          <a:solidFill>
                            <a:srgbClr val="FF0000"/>
                          </a:solidFill>
                          <a:latin typeface="맑은 고딕"/>
                        </a:rPr>
                        <a:t>0.012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텍스트 개체 틀 7">
            <a:extLst>
              <a:ext uri="{FF2B5EF4-FFF2-40B4-BE49-F238E27FC236}">
                <a16:creationId xmlns:a16="http://schemas.microsoft.com/office/drawing/2014/main" id="{AB9BFF4D-47DF-B8E5-82D8-8FA2E663DE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91057"/>
            <a:ext cx="5486400" cy="825867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ko-KR" altLang="en-US" sz="2000"/>
              <a:t>주요 변수별 정상</a:t>
            </a:r>
            <a:r>
              <a:rPr lang="en-US" altLang="ko-KR" sz="2000"/>
              <a:t>/</a:t>
            </a:r>
            <a:r>
              <a:rPr lang="ko-KR" altLang="en-US" sz="2000"/>
              <a:t>골다공증 분포 비교</a:t>
            </a:r>
            <a:endParaRPr lang="en-US" altLang="ko-KR" sz="2000"/>
          </a:p>
          <a:p>
            <a:pPr lvl="1">
              <a:lnSpc>
                <a:spcPct val="150000"/>
              </a:lnSpc>
              <a:defRPr/>
            </a:pPr>
            <a:r>
              <a:rPr lang="en-US" altLang="ko-KR" sz="1800"/>
              <a:t>Performed t-test</a:t>
            </a:r>
            <a:endParaRPr lang="ko-KR" altLang="en-US" sz="1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그림 4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1288256"/>
            <a:ext cx="12192000" cy="54173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 altLang="ko-KR"/>
              <a:t>3. Detailed progress</a:t>
            </a:r>
            <a:endParaRPr lang="en-US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>
          <a:xfrm>
            <a:off x="11056619" y="6419409"/>
            <a:ext cx="256540" cy="171891"/>
          </a:xfrm>
        </p:spPr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8</a:t>
            </a:fld>
            <a:endParaRPr lang="en-US" spc="-25"/>
          </a:p>
        </p:txBody>
      </p:sp>
      <p:pic>
        <p:nvPicPr>
          <p:cNvPr id="47" name="그림 4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382000" y="3934119"/>
            <a:ext cx="3497580" cy="2914650"/>
          </a:xfrm>
          <a:prstGeom prst="rect">
            <a:avLst/>
          </a:prstGeom>
        </p:spPr>
      </p:pic>
      <p:sp>
        <p:nvSpPr>
          <p:cNvPr id="2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91057"/>
            <a:ext cx="5486400" cy="404213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ko-KR" altLang="en-US" sz="2000"/>
              <a:t>주요 변수별 정상</a:t>
            </a:r>
            <a:r>
              <a:rPr lang="en-US" altLang="ko-KR" sz="2000"/>
              <a:t>/</a:t>
            </a:r>
            <a:r>
              <a:rPr lang="ko-KR" altLang="en-US" sz="2000"/>
              <a:t>골다공증 분포 비교</a:t>
            </a:r>
            <a:endParaRPr lang="ko-KR" altLang="en-US" sz="16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sp>
        <p:nvSpPr>
          <p:cNvPr id="2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91057"/>
            <a:ext cx="10972800" cy="1327992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altLang="ko-KR" sz="2000" dirty="0"/>
              <a:t>Stratification Analysis Result – Drugs [</a:t>
            </a:r>
            <a:r>
              <a:rPr lang="ko-KR" altLang="en-US" sz="2000" dirty="0" err="1"/>
              <a:t>혈압약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당뇨약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고지혈증약</a:t>
            </a:r>
            <a:r>
              <a:rPr lang="en-US" altLang="ko-KR" sz="2000" dirty="0"/>
              <a:t>, </a:t>
            </a:r>
            <a:r>
              <a:rPr lang="ko-KR" altLang="en-US" sz="2000" dirty="0"/>
              <a:t>진통소염제</a:t>
            </a:r>
            <a:r>
              <a:rPr lang="en-US" altLang="ko-KR" sz="2000" dirty="0"/>
              <a:t>]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2000" dirty="0"/>
              <a:t>해당 약물에 대해서 다음과 같이 매핑 → </a:t>
            </a:r>
            <a:r>
              <a:rPr lang="en-US" altLang="ko-KR" sz="2000" dirty="0"/>
              <a:t>[HTN, DM, LIP, NSAID]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2000" dirty="0"/>
              <a:t>Train Dataset : 3168, Test Dataset : 793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4D8E9C4-86CA-F9B8-F44E-7C7464021A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525547"/>
              </p:ext>
            </p:extLst>
          </p:nvPr>
        </p:nvGraphicFramePr>
        <p:xfrm>
          <a:off x="609600" y="2743200"/>
          <a:ext cx="11125197" cy="3500120"/>
        </p:xfrm>
        <a:graphic>
          <a:graphicData uri="http://schemas.openxmlformats.org/drawingml/2006/table">
            <a:tbl>
              <a:tblPr firstRow="1" bandRow="1"/>
              <a:tblGrid>
                <a:gridCol w="1236133">
                  <a:extLst>
                    <a:ext uri="{9D8B030D-6E8A-4147-A177-3AD203B41FA5}">
                      <a16:colId xmlns:a16="http://schemas.microsoft.com/office/drawing/2014/main" val="2177094910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1354873850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2163230211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1955944993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816032306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4175807113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1352281352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1682575506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327224469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Type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err="1"/>
                        <a:t>Test_n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FP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TP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Accuracy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Precision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Recall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8494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[0,0,0,0]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481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280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139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21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41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.6674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.2278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.6613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4916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[0,0,0,1]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24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.6667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.1111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74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[0,0,1,0]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79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36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32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.5570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.2000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.7272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1611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[0,0,1,1]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.8333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226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[0,1,0,0]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.8333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.3333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1424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[0,1,0,1]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587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[0,1,1,0]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.5556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3183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[0,1,1,1]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023163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C9FBE-7CF9-C9E5-2A63-11A6FD310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9DF0C65-0F84-6F59-F1C8-1F1C23D9F6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sp>
        <p:nvSpPr>
          <p:cNvPr id="2" name="텍스트 개체 틀 7">
            <a:extLst>
              <a:ext uri="{FF2B5EF4-FFF2-40B4-BE49-F238E27FC236}">
                <a16:creationId xmlns:a16="http://schemas.microsoft.com/office/drawing/2014/main" id="{33DA58C2-D158-0583-3D92-BDEA219039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91057"/>
            <a:ext cx="10972800" cy="1327992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altLang="ko-KR" sz="2000" dirty="0"/>
              <a:t>Stratification Analysis Result – Drugs [</a:t>
            </a:r>
            <a:r>
              <a:rPr lang="ko-KR" altLang="en-US" sz="2000" dirty="0" err="1"/>
              <a:t>혈압약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당뇨약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고지혈증약</a:t>
            </a:r>
            <a:r>
              <a:rPr lang="en-US" altLang="ko-KR" sz="2000" dirty="0"/>
              <a:t>, </a:t>
            </a:r>
            <a:r>
              <a:rPr lang="ko-KR" altLang="en-US" sz="2000" dirty="0"/>
              <a:t>진통소염제</a:t>
            </a:r>
            <a:r>
              <a:rPr lang="en-US" altLang="ko-KR" sz="2000" dirty="0"/>
              <a:t>]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2000" dirty="0"/>
              <a:t>해당 약물에 대해서 다음과 같이 매핑 → </a:t>
            </a:r>
            <a:r>
              <a:rPr lang="en-US" altLang="ko-KR" sz="2000" dirty="0"/>
              <a:t>[HTN, DM, LIP, NSAID]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2000" dirty="0"/>
              <a:t>Train Dataset : 3168, Test Dataset : 793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686112C-FEA1-5A45-CF1E-E1C71E32DB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14195"/>
              </p:ext>
            </p:extLst>
          </p:nvPr>
        </p:nvGraphicFramePr>
        <p:xfrm>
          <a:off x="609600" y="2743200"/>
          <a:ext cx="11125197" cy="3500120"/>
        </p:xfrm>
        <a:graphic>
          <a:graphicData uri="http://schemas.openxmlformats.org/drawingml/2006/table">
            <a:tbl>
              <a:tblPr firstRow="1" bandRow="1"/>
              <a:tblGrid>
                <a:gridCol w="1236133">
                  <a:extLst>
                    <a:ext uri="{9D8B030D-6E8A-4147-A177-3AD203B41FA5}">
                      <a16:colId xmlns:a16="http://schemas.microsoft.com/office/drawing/2014/main" val="2177094910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1354873850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2163230211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1955944993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816032306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4175807113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1352281352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1682575506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327224469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Type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err="1"/>
                        <a:t>Test_n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FP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TP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Accuracy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Precision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Recall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8494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[1,0,0,0]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79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51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.7342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.2800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.7000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4916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[1,0,0,1]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.5000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74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[1,0,1,0]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64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.7343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.3043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.8750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1611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[1,0,1,1]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.7778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226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[1,1,0,0]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.7500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1424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[1,1,0,1]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587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[1,1,1,0]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.6667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3183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[1,1,1,1]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0231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1601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09FC7-5319-7551-FC5F-4F77F138E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E94225B-EAD8-6C40-79D0-DFC88D2AF8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sp>
        <p:nvSpPr>
          <p:cNvPr id="2" name="텍스트 개체 틀 7">
            <a:extLst>
              <a:ext uri="{FF2B5EF4-FFF2-40B4-BE49-F238E27FC236}">
                <a16:creationId xmlns:a16="http://schemas.microsoft.com/office/drawing/2014/main" id="{66087F6B-EB4E-3D06-9CEB-8CB36A48B8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91057"/>
            <a:ext cx="10972800" cy="1327992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altLang="ko-KR" sz="2000" dirty="0"/>
              <a:t>Stratification Analysis Result – [</a:t>
            </a:r>
            <a:r>
              <a:rPr lang="ko-KR" altLang="en-US" sz="2000" dirty="0"/>
              <a:t>흡연</a:t>
            </a:r>
            <a:r>
              <a:rPr lang="en-US" altLang="ko-KR" sz="2000" dirty="0"/>
              <a:t>, </a:t>
            </a:r>
            <a:r>
              <a:rPr lang="ko-KR" altLang="en-US" sz="2000" dirty="0"/>
              <a:t>운동</a:t>
            </a:r>
            <a:r>
              <a:rPr lang="en-US" altLang="ko-KR" sz="2000" dirty="0"/>
              <a:t>, </a:t>
            </a:r>
            <a:r>
              <a:rPr lang="ko-KR" altLang="en-US" sz="2000" dirty="0"/>
              <a:t>음주</a:t>
            </a:r>
            <a:r>
              <a:rPr lang="en-US" altLang="ko-KR" sz="2000" dirty="0"/>
              <a:t>]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2000" dirty="0"/>
              <a:t>해당 행동에 대해서 다음과 같이 매핑 → </a:t>
            </a:r>
            <a:r>
              <a:rPr lang="en-US" altLang="ko-KR" sz="2000" dirty="0"/>
              <a:t>[SMK, EXE, DRK]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2000" dirty="0"/>
              <a:t>Train Dataset : 3168, Test Dataset : 793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30EDE21-CC42-AA45-5137-8693DB6ABE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510143"/>
              </p:ext>
            </p:extLst>
          </p:nvPr>
        </p:nvGraphicFramePr>
        <p:xfrm>
          <a:off x="609600" y="2743200"/>
          <a:ext cx="11125197" cy="3500120"/>
        </p:xfrm>
        <a:graphic>
          <a:graphicData uri="http://schemas.openxmlformats.org/drawingml/2006/table">
            <a:tbl>
              <a:tblPr firstRow="1" bandRow="1"/>
              <a:tblGrid>
                <a:gridCol w="1236133">
                  <a:extLst>
                    <a:ext uri="{9D8B030D-6E8A-4147-A177-3AD203B41FA5}">
                      <a16:colId xmlns:a16="http://schemas.microsoft.com/office/drawing/2014/main" val="2177094910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1354873850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2163230211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1955944993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816032306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4175807113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1352281352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1682575506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327224469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Type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err="1"/>
                        <a:t>Test_n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FP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TP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Accuracy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Precision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Recall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8494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[0,0,0]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167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86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55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21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.6407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.2763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.8077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4916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[0,0,1]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58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.5862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.1818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.4000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74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[0,1,0]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355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191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118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36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.6394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.2338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.7826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1611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[0,1,1]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180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134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36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.7722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.1220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.5000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226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[1,0,0]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1424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[1,0,1]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587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[1,1,0]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3183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[1,1,1]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0.5714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0231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7680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739D6-58F5-C115-0EDF-D9017F41E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E4C57A9-B146-3A47-99BB-6B1B35CD5F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sp>
        <p:nvSpPr>
          <p:cNvPr id="2" name="텍스트 개체 틀 7">
            <a:extLst>
              <a:ext uri="{FF2B5EF4-FFF2-40B4-BE49-F238E27FC236}">
                <a16:creationId xmlns:a16="http://schemas.microsoft.com/office/drawing/2014/main" id="{9313A89D-A4FC-F45B-36D5-98DEE8A32B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91057"/>
            <a:ext cx="10972800" cy="1789657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altLang="ko-KR" sz="2000" dirty="0"/>
              <a:t>Stratification Analysis Result – [</a:t>
            </a:r>
            <a:r>
              <a:rPr lang="ko-KR" altLang="en-US" sz="2000" dirty="0"/>
              <a:t>흡연</a:t>
            </a:r>
            <a:r>
              <a:rPr lang="en-US" altLang="ko-KR" sz="2000" dirty="0"/>
              <a:t>, </a:t>
            </a:r>
            <a:r>
              <a:rPr lang="ko-KR" altLang="en-US" sz="2000" dirty="0"/>
              <a:t>운동</a:t>
            </a:r>
            <a:r>
              <a:rPr lang="en-US" altLang="ko-KR" sz="2000" dirty="0"/>
              <a:t>, </a:t>
            </a:r>
            <a:r>
              <a:rPr lang="ko-KR" altLang="en-US" sz="2000" dirty="0"/>
              <a:t>음주</a:t>
            </a:r>
            <a:r>
              <a:rPr lang="en-US" altLang="ko-KR" sz="2000" dirty="0"/>
              <a:t>]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2000" dirty="0"/>
              <a:t>해당 행동에 대해서 다음과 같이 매핑 → </a:t>
            </a:r>
            <a:r>
              <a:rPr lang="en-US" altLang="ko-KR" sz="2000" dirty="0"/>
              <a:t>[SMK, EXE, DRK]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2000" dirty="0"/>
              <a:t>SMK</a:t>
            </a:r>
            <a:r>
              <a:rPr lang="ko-KR" altLang="en-US" sz="2000" dirty="0"/>
              <a:t>의 경우 경험은 있으나 현재 금연인 경우 </a:t>
            </a:r>
            <a:r>
              <a:rPr lang="en-US" altLang="ko-KR" sz="2000" dirty="0"/>
              <a:t>2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2000" dirty="0"/>
              <a:t>Train Dataset : 3168, Test Dataset : 793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3A76E0D-9A74-4A36-43DE-F6981CEDD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052954"/>
              </p:ext>
            </p:extLst>
          </p:nvPr>
        </p:nvGraphicFramePr>
        <p:xfrm>
          <a:off x="609600" y="3168907"/>
          <a:ext cx="11125197" cy="2016760"/>
        </p:xfrm>
        <a:graphic>
          <a:graphicData uri="http://schemas.openxmlformats.org/drawingml/2006/table">
            <a:tbl>
              <a:tblPr firstRow="1" bandRow="1"/>
              <a:tblGrid>
                <a:gridCol w="1236133">
                  <a:extLst>
                    <a:ext uri="{9D8B030D-6E8A-4147-A177-3AD203B41FA5}">
                      <a16:colId xmlns:a16="http://schemas.microsoft.com/office/drawing/2014/main" val="2177094910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1354873850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2163230211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1955944993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816032306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4175807113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1352281352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1682575506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327224469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Type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err="1"/>
                        <a:t>Test_n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FP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TP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Accuracy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Precision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Recall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8494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[2,0,0]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.5000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4916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[2,0,1]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74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[2,1,0]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1611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[2,1,1]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.8571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.5000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0231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901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943AE-D36B-1292-E0C7-81863EA59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2103B19-A370-B668-70C8-6AA2093D28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sp>
        <p:nvSpPr>
          <p:cNvPr id="2" name="텍스트 개체 틀 7">
            <a:extLst>
              <a:ext uri="{FF2B5EF4-FFF2-40B4-BE49-F238E27FC236}">
                <a16:creationId xmlns:a16="http://schemas.microsoft.com/office/drawing/2014/main" id="{87F4F384-303D-5258-EC34-1333363A7B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91057"/>
            <a:ext cx="10972800" cy="866327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altLang="ko-KR" sz="2000" dirty="0"/>
              <a:t>Stratification Analysis Result – Age [40-, 40-49, 50-59, 60-69, 70-79, 80+]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2000" dirty="0"/>
              <a:t>Train Dataset : 3168, Test Dataset : 793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3834E4C-2C0A-7409-953D-0063AD1E23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8568347"/>
              </p:ext>
            </p:extLst>
          </p:nvPr>
        </p:nvGraphicFramePr>
        <p:xfrm>
          <a:off x="609600" y="2743200"/>
          <a:ext cx="11125197" cy="2758440"/>
        </p:xfrm>
        <a:graphic>
          <a:graphicData uri="http://schemas.openxmlformats.org/drawingml/2006/table">
            <a:tbl>
              <a:tblPr firstRow="1" bandRow="1"/>
              <a:tblGrid>
                <a:gridCol w="1236133">
                  <a:extLst>
                    <a:ext uri="{9D8B030D-6E8A-4147-A177-3AD203B41FA5}">
                      <a16:colId xmlns:a16="http://schemas.microsoft.com/office/drawing/2014/main" val="2177094910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1354873850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2163230211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1955944993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816032306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4175807113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1352281352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1682575506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327224469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Type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err="1"/>
                        <a:t>Test_n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FP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TP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Accuracy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Precision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Recall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8494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40 -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4916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40 – 49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.9000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74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50 – 59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395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280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83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.7392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.1263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.3750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1611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60 – 69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91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27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48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.4615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.2381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.9375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2226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70 – 79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276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139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95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34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.6268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.2636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.8095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1424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80 +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.7778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.7500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0231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0360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F63CF-BDEB-0866-77B2-E5E033777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EAD9199-DB4B-E8A4-1D99-D1DD6BB2F6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sp>
        <p:nvSpPr>
          <p:cNvPr id="2" name="텍스트 개체 틀 7">
            <a:extLst>
              <a:ext uri="{FF2B5EF4-FFF2-40B4-BE49-F238E27FC236}">
                <a16:creationId xmlns:a16="http://schemas.microsoft.com/office/drawing/2014/main" id="{5AA1053A-94F0-7375-A785-6F9EA65A0C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91057"/>
            <a:ext cx="10972800" cy="866327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altLang="ko-KR" sz="2000" dirty="0"/>
              <a:t>Stratification Analysis Result – Muscle [30-, 30-35, 35-40, 40+]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2000" dirty="0"/>
              <a:t>Train Dataset : 3168, Test Dataset : 793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67718D1-F9AB-11D2-1C9C-14EC37D942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800165"/>
              </p:ext>
            </p:extLst>
          </p:nvPr>
        </p:nvGraphicFramePr>
        <p:xfrm>
          <a:off x="609600" y="2743200"/>
          <a:ext cx="11125197" cy="2016760"/>
        </p:xfrm>
        <a:graphic>
          <a:graphicData uri="http://schemas.openxmlformats.org/drawingml/2006/table">
            <a:tbl>
              <a:tblPr firstRow="1" bandRow="1"/>
              <a:tblGrid>
                <a:gridCol w="1236133">
                  <a:extLst>
                    <a:ext uri="{9D8B030D-6E8A-4147-A177-3AD203B41FA5}">
                      <a16:colId xmlns:a16="http://schemas.microsoft.com/office/drawing/2014/main" val="2177094910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1354873850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2163230211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1955944993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816032306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4175807113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1352281352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1682575506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327224469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Type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err="1"/>
                        <a:t>Test_n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FP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TP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Accuracy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Precision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Recall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8494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30 -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.3692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.3492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1.0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4916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 – 35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371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151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165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.5121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.1912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.7091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74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35 – 40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260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.8867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.2069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.3529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1424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40 +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.9474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0231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6737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041C0-FE7B-ACE8-E6D9-7C0E4A0F4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6B7EE4C-4101-8271-0A24-C1B48A0857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sp>
        <p:nvSpPr>
          <p:cNvPr id="2" name="텍스트 개체 틀 7">
            <a:extLst>
              <a:ext uri="{FF2B5EF4-FFF2-40B4-BE49-F238E27FC236}">
                <a16:creationId xmlns:a16="http://schemas.microsoft.com/office/drawing/2014/main" id="{240689B2-C4FF-6DCC-4360-D7ED183C66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91057"/>
            <a:ext cx="10972800" cy="866327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altLang="ko-KR" sz="2000" dirty="0"/>
              <a:t>Stratification Analysis Result – </a:t>
            </a:r>
            <a:r>
              <a:rPr lang="en-US" altLang="ko-KR" sz="2000" dirty="0" err="1"/>
              <a:t>Breast_Density_Grade</a:t>
            </a:r>
            <a:r>
              <a:rPr lang="en-US" altLang="ko-KR" sz="2000" dirty="0"/>
              <a:t> [1, 2, 3, 4]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2000" dirty="0"/>
              <a:t>Train Dataset : 3168, Test Dataset : 793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B85D3AC-FF07-F397-0EE5-F554DB5E97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939862"/>
              </p:ext>
            </p:extLst>
          </p:nvPr>
        </p:nvGraphicFramePr>
        <p:xfrm>
          <a:off x="609600" y="2743200"/>
          <a:ext cx="11125197" cy="2016760"/>
        </p:xfrm>
        <a:graphic>
          <a:graphicData uri="http://schemas.openxmlformats.org/drawingml/2006/table">
            <a:tbl>
              <a:tblPr firstRow="1" bandRow="1"/>
              <a:tblGrid>
                <a:gridCol w="1236133">
                  <a:extLst>
                    <a:ext uri="{9D8B030D-6E8A-4147-A177-3AD203B41FA5}">
                      <a16:colId xmlns:a16="http://schemas.microsoft.com/office/drawing/2014/main" val="2177094910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1354873850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2163230211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1955944993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816032306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4175807113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1352281352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1682575506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327224469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Type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err="1"/>
                        <a:t>Test_n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FP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TP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Accuracy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Precision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Recall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8494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BDG 1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.6852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.1429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.2857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4916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BDG 2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89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.7303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.3636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.8000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74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BDG 3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540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319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160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.6722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.2157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.7213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1611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BDG 4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.6272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.2000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.6429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0231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0635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8D28B-1512-1CBA-22B8-6FB204153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46FB563-99E5-2C02-6648-268FC028C3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701" y="446405"/>
            <a:ext cx="11353699" cy="38215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3. Detailed</a:t>
            </a:r>
            <a:r>
              <a:rPr lang="ko-KR" altLang="en-US"/>
              <a:t> </a:t>
            </a:r>
            <a:r>
              <a:rPr lang="en-US" altLang="ko-KR"/>
              <a:t>progress</a:t>
            </a:r>
            <a:endParaRPr lang="en-US"/>
          </a:p>
        </p:txBody>
      </p:sp>
      <p:sp>
        <p:nvSpPr>
          <p:cNvPr id="2" name="텍스트 개체 틀 7">
            <a:extLst>
              <a:ext uri="{FF2B5EF4-FFF2-40B4-BE49-F238E27FC236}">
                <a16:creationId xmlns:a16="http://schemas.microsoft.com/office/drawing/2014/main" id="{6A4B4E50-9870-6DA9-88DC-FB4C98C7007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891057"/>
            <a:ext cx="10972800" cy="866327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altLang="ko-KR" sz="2000" dirty="0"/>
              <a:t>Stratification Analysis Result – BI-RADS [0, 1, 2, 3, 4]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2000" dirty="0"/>
              <a:t>Train Dataset : 3168, Test Dataset : 793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10F1EEF-2408-FD65-7CDA-112B592478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338467"/>
              </p:ext>
            </p:extLst>
          </p:nvPr>
        </p:nvGraphicFramePr>
        <p:xfrm>
          <a:off x="381001" y="2743200"/>
          <a:ext cx="11429997" cy="2387600"/>
        </p:xfrm>
        <a:graphic>
          <a:graphicData uri="http://schemas.openxmlformats.org/drawingml/2006/table">
            <a:tbl>
              <a:tblPr firstRow="1" bandRow="1"/>
              <a:tblGrid>
                <a:gridCol w="1540933">
                  <a:extLst>
                    <a:ext uri="{9D8B030D-6E8A-4147-A177-3AD203B41FA5}">
                      <a16:colId xmlns:a16="http://schemas.microsoft.com/office/drawing/2014/main" val="2177094910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1354873850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2163230211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1955944993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816032306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4175807113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1352281352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1682575506"/>
                    </a:ext>
                  </a:extLst>
                </a:gridCol>
                <a:gridCol w="1236133">
                  <a:extLst>
                    <a:ext uri="{9D8B030D-6E8A-4147-A177-3AD203B41FA5}">
                      <a16:colId xmlns:a16="http://schemas.microsoft.com/office/drawing/2014/main" val="327224469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Type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err="1"/>
                        <a:t>Test_n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FP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TP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Accuracy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Precision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Recall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8494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BI-RAIDS 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178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114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.6967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.1724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.6250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4916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BI-RAIDS 1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329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186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.6444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.1970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.7027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74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BI-RAIDS 2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271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160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.7011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.3030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.7143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1611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BI-RAIDS 3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.5385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.1429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1.0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02343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BI-RAIDS 4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.5000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0231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95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/>
          <a:stretch>
            <a:fillRect/>
          </a:stretch>
        </p:blipFill>
        <p:spPr>
          <a:xfrm>
            <a:off x="0" y="1262062"/>
            <a:ext cx="12192000" cy="55959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</TotalTime>
  <Words>1545</Words>
  <Application>Microsoft Office PowerPoint</Application>
  <PresentationFormat>와이드스크린</PresentationFormat>
  <Paragraphs>707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Malgun Gothic</vt:lpstr>
      <vt:lpstr>Malgun Gothic</vt:lpstr>
      <vt:lpstr>Arial</vt:lpstr>
      <vt:lpstr>Office Theme</vt:lpstr>
      <vt:lpstr>Tabular Data Analysis</vt:lpstr>
      <vt:lpstr>1. What’s discussed in the last meetings</vt:lpstr>
      <vt:lpstr>2. Research Summary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이소영</dc:creator>
  <cp:lastModifiedBy>전장훈</cp:lastModifiedBy>
  <cp:revision>650</cp:revision>
  <dcterms:created xsi:type="dcterms:W3CDTF">2023-07-18T06:54:54Z</dcterms:created>
  <dcterms:modified xsi:type="dcterms:W3CDTF">2025-12-26T01:49:11Z</dcterms:modified>
  <cp:version/>
</cp:coreProperties>
</file>