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comments/comment1.xml" ContentType="application/vnd.openxmlformats-officedocument.presentationml.comments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>
  <p:sldMasterIdLst>
    <p:sldMasterId id="2147483648" r:id="rId1"/>
  </p:sldMasterIdLst>
  <p:notesMasterIdLst>
    <p:notesMasterId r:id="rId44"/>
  </p:notesMasterIdLst>
  <p:sldIdLst>
    <p:sldId id="256" r:id="rId2"/>
    <p:sldId id="257" r:id="rId3"/>
    <p:sldId id="258" r:id="rId4"/>
    <p:sldId id="346" r:id="rId5"/>
    <p:sldId id="350" r:id="rId6"/>
    <p:sldId id="351" r:id="rId7"/>
    <p:sldId id="352" r:id="rId8"/>
    <p:sldId id="354" r:id="rId9"/>
    <p:sldId id="383" r:id="rId10"/>
    <p:sldId id="403" r:id="rId11"/>
    <p:sldId id="404" r:id="rId12"/>
    <p:sldId id="424" r:id="rId13"/>
    <p:sldId id="425" r:id="rId14"/>
    <p:sldId id="426" r:id="rId15"/>
    <p:sldId id="369" r:id="rId16"/>
    <p:sldId id="438" r:id="rId17"/>
    <p:sldId id="439" r:id="rId18"/>
    <p:sldId id="355" r:id="rId19"/>
    <p:sldId id="417" r:id="rId20"/>
    <p:sldId id="427" r:id="rId21"/>
    <p:sldId id="429" r:id="rId22"/>
    <p:sldId id="397" r:id="rId23"/>
    <p:sldId id="398" r:id="rId24"/>
    <p:sldId id="390" r:id="rId25"/>
    <p:sldId id="391" r:id="rId26"/>
    <p:sldId id="419" r:id="rId27"/>
    <p:sldId id="430" r:id="rId28"/>
    <p:sldId id="431" r:id="rId29"/>
    <p:sldId id="420" r:id="rId30"/>
    <p:sldId id="421" r:id="rId31"/>
    <p:sldId id="384" r:id="rId32"/>
    <p:sldId id="422" r:id="rId33"/>
    <p:sldId id="432" r:id="rId34"/>
    <p:sldId id="433" r:id="rId35"/>
    <p:sldId id="423" r:id="rId36"/>
    <p:sldId id="405" r:id="rId37"/>
    <p:sldId id="434" r:id="rId38"/>
    <p:sldId id="435" r:id="rId39"/>
    <p:sldId id="436" r:id="rId40"/>
    <p:sldId id="437" r:id="rId41"/>
    <p:sldId id="399" r:id="rId42"/>
    <p:sldId id="345" r:id="rId43"/>
  </p:sldIdLst>
  <p:sldSz cx="12192000" cy="6858000"/>
  <p:notesSz cx="6858000" cy="9144000"/>
  <p:embeddedFontLst>
    <p:embeddedFont>
      <p:font typeface="KoPubWorld돋움체 Bold" panose="020B0600000101010101" charset="-127"/>
      <p:bold r:id="rId45"/>
    </p:embeddedFont>
    <p:embeddedFont>
      <p:font typeface="KoPubWorld돋움체 Medium" panose="020B0600000101010101" charset="-127"/>
      <p:regular r:id="rId46"/>
    </p:embeddedFont>
    <p:embeddedFont>
      <p:font typeface="KoPub돋움체 Bold" panose="00000800000000000000" pitchFamily="2" charset="-127"/>
      <p:bold r:id="rId47"/>
    </p:embeddedFont>
    <p:embeddedFont>
      <p:font typeface="KoPub돋움체 Medium" panose="00000600000000000000" pitchFamily="2" charset="-127"/>
      <p:regular r:id="rId48"/>
    </p:embeddedFont>
    <p:embeddedFont>
      <p:font typeface="맑은 고딕" panose="020B0503020000020004" pitchFamily="50" charset="-127"/>
      <p:regular r:id="rId49"/>
      <p:bold r:id="rId50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097B6DF2-66C3-4074-9053-F9AA00FED5D5}">
          <p14:sldIdLst>
            <p14:sldId id="256"/>
            <p14:sldId id="257"/>
            <p14:sldId id="258"/>
            <p14:sldId id="346"/>
            <p14:sldId id="350"/>
            <p14:sldId id="351"/>
            <p14:sldId id="352"/>
            <p14:sldId id="354"/>
            <p14:sldId id="383"/>
            <p14:sldId id="403"/>
            <p14:sldId id="404"/>
            <p14:sldId id="424"/>
            <p14:sldId id="425"/>
            <p14:sldId id="426"/>
            <p14:sldId id="369"/>
            <p14:sldId id="438"/>
            <p14:sldId id="439"/>
            <p14:sldId id="355"/>
            <p14:sldId id="417"/>
            <p14:sldId id="427"/>
            <p14:sldId id="429"/>
            <p14:sldId id="397"/>
            <p14:sldId id="398"/>
            <p14:sldId id="390"/>
            <p14:sldId id="391"/>
            <p14:sldId id="419"/>
            <p14:sldId id="430"/>
            <p14:sldId id="431"/>
            <p14:sldId id="420"/>
            <p14:sldId id="421"/>
            <p14:sldId id="384"/>
            <p14:sldId id="422"/>
            <p14:sldId id="432"/>
            <p14:sldId id="433"/>
            <p14:sldId id="423"/>
            <p14:sldId id="405"/>
            <p14:sldId id="434"/>
            <p14:sldId id="435"/>
            <p14:sldId id="436"/>
            <p14:sldId id="437"/>
            <p14:sldId id="399"/>
            <p14:sldId id="34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전장훈" initials="전" lastIdx="19" clrIdx="0">
    <p:extLst>
      <p:ext uri="{19B8F6BF-5375-455C-9EA6-DF929625EA0E}">
        <p15:presenceInfo xmlns:p15="http://schemas.microsoft.com/office/powerpoint/2012/main" userId="전장훈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7A5AA"/>
    <a:srgbClr val="1F346B"/>
    <a:srgbClr val="02367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9280094-6966-4D40-B0D2-C3AF0E296DD5}" v="9" dt="2026-04-29T00:58:34.506"/>
  </p1510:revLst>
</p1510:revInfo>
</file>

<file path=ppt/tableStyles.xml><?xml version="1.0" encoding="utf-8"?>
<a:tblStyleLst xmlns:a="http://schemas.openxmlformats.org/drawingml/2006/main" def="{5C22544A-7EE6-4342-B048-85BDC9FD1C3A}"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82185" autoAdjust="0"/>
  </p:normalViewPr>
  <p:slideViewPr>
    <p:cSldViewPr snapToGrid="0">
      <p:cViewPr varScale="1">
        <p:scale>
          <a:sx n="161" d="100"/>
          <a:sy n="161" d="100"/>
        </p:scale>
        <p:origin x="30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font" Target="fonts/font3.fntdata"/><Relationship Id="rId50" Type="http://schemas.openxmlformats.org/officeDocument/2006/relationships/font" Target="fonts/font6.fntdata"/><Relationship Id="rId55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font" Target="fonts/font1.fntdata"/><Relationship Id="rId53" Type="http://schemas.openxmlformats.org/officeDocument/2006/relationships/viewProps" Target="viewProp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font" Target="fonts/font4.fntdata"/><Relationship Id="rId56" Type="http://schemas.microsoft.com/office/2016/11/relationships/changesInfo" Target="changesInfos/changesInfo1.xml"/><Relationship Id="rId8" Type="http://schemas.openxmlformats.org/officeDocument/2006/relationships/slide" Target="slides/slide7.xml"/><Relationship Id="rId51" Type="http://schemas.openxmlformats.org/officeDocument/2006/relationships/commentAuthors" Target="commentAuthor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font" Target="fonts/font2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font" Target="fonts/font5.fntdata"/><Relationship Id="rId57" Type="http://schemas.microsoft.com/office/2015/10/relationships/revisionInfo" Target="revisionInfo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52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nghoon jun" userId="056a5883350c2f5e" providerId="LiveId" clId="{74AFAB52-6487-4651-9B79-2F181DBD8D0A}"/>
    <pc:docChg chg="undo custSel addSld delSld modSld sldOrd">
      <pc:chgData name="janghoon jun" userId="056a5883350c2f5e" providerId="LiveId" clId="{74AFAB52-6487-4651-9B79-2F181DBD8D0A}" dt="2026-04-29T01:39:44.323" v="1131" actId="478"/>
      <pc:docMkLst>
        <pc:docMk/>
      </pc:docMkLst>
      <pc:sldChg chg="modSp mod">
        <pc:chgData name="janghoon jun" userId="056a5883350c2f5e" providerId="LiveId" clId="{74AFAB52-6487-4651-9B79-2F181DBD8D0A}" dt="2026-04-29T00:52:38.595" v="540" actId="20577"/>
        <pc:sldMkLst>
          <pc:docMk/>
          <pc:sldMk cId="3808511553" sldId="258"/>
        </pc:sldMkLst>
        <pc:spChg chg="mod">
          <ac:chgData name="janghoon jun" userId="056a5883350c2f5e" providerId="LiveId" clId="{74AFAB52-6487-4651-9B79-2F181DBD8D0A}" dt="2026-04-29T00:52:38.595" v="540" actId="20577"/>
          <ac:spMkLst>
            <pc:docMk/>
            <pc:sldMk cId="3808511553" sldId="258"/>
            <ac:spMk id="3" creationId="{A84C152F-6AC6-4EBB-8679-327588602FD5}"/>
          </ac:spMkLst>
        </pc:spChg>
      </pc:sldChg>
      <pc:sldChg chg="modSp">
        <pc:chgData name="janghoon jun" userId="056a5883350c2f5e" providerId="LiveId" clId="{74AFAB52-6487-4651-9B79-2F181DBD8D0A}" dt="2026-04-23T04:33:29.886" v="1"/>
        <pc:sldMkLst>
          <pc:docMk/>
          <pc:sldMk cId="3042847678" sldId="355"/>
        </pc:sldMkLst>
        <pc:graphicFrameChg chg="mod">
          <ac:chgData name="janghoon jun" userId="056a5883350c2f5e" providerId="LiveId" clId="{74AFAB52-6487-4651-9B79-2F181DBD8D0A}" dt="2026-04-23T04:33:29.886" v="1"/>
          <ac:graphicFrameMkLst>
            <pc:docMk/>
            <pc:sldMk cId="3042847678" sldId="355"/>
            <ac:graphicFrameMk id="8" creationId="{3649AB2B-068A-41A4-9569-D888FFBE35F3}"/>
          </ac:graphicFrameMkLst>
        </pc:graphicFrameChg>
      </pc:sldChg>
      <pc:sldChg chg="modSp mod">
        <pc:chgData name="janghoon jun" userId="056a5883350c2f5e" providerId="LiveId" clId="{74AFAB52-6487-4651-9B79-2F181DBD8D0A}" dt="2026-04-29T01:29:47.884" v="1057" actId="20577"/>
        <pc:sldMkLst>
          <pc:docMk/>
          <pc:sldMk cId="566521264" sldId="383"/>
        </pc:sldMkLst>
        <pc:spChg chg="mod">
          <ac:chgData name="janghoon jun" userId="056a5883350c2f5e" providerId="LiveId" clId="{74AFAB52-6487-4651-9B79-2F181DBD8D0A}" dt="2026-04-29T01:24:32.544" v="1012" actId="20577"/>
          <ac:spMkLst>
            <pc:docMk/>
            <pc:sldMk cId="566521264" sldId="383"/>
            <ac:spMk id="41" creationId="{FA0E5E16-BED6-4786-BA12-4B9DA00E5C69}"/>
          </ac:spMkLst>
        </pc:spChg>
        <pc:spChg chg="mod">
          <ac:chgData name="janghoon jun" userId="056a5883350c2f5e" providerId="LiveId" clId="{74AFAB52-6487-4651-9B79-2F181DBD8D0A}" dt="2026-04-29T01:25:14.384" v="1039" actId="20577"/>
          <ac:spMkLst>
            <pc:docMk/>
            <pc:sldMk cId="566521264" sldId="383"/>
            <ac:spMk id="44" creationId="{43CA52CD-5E1B-4300-A6A1-8E0FB8D87ABE}"/>
          </ac:spMkLst>
        </pc:spChg>
        <pc:spChg chg="mod">
          <ac:chgData name="janghoon jun" userId="056a5883350c2f5e" providerId="LiveId" clId="{74AFAB52-6487-4651-9B79-2F181DBD8D0A}" dt="2026-04-29T01:25:24.398" v="1043" actId="20577"/>
          <ac:spMkLst>
            <pc:docMk/>
            <pc:sldMk cId="566521264" sldId="383"/>
            <ac:spMk id="47" creationId="{DD5D9754-A87E-43AF-A4C5-5CF4B1571F89}"/>
          </ac:spMkLst>
        </pc:spChg>
        <pc:spChg chg="mod">
          <ac:chgData name="janghoon jun" userId="056a5883350c2f5e" providerId="LiveId" clId="{74AFAB52-6487-4651-9B79-2F181DBD8D0A}" dt="2026-04-29T01:29:47.884" v="1057" actId="20577"/>
          <ac:spMkLst>
            <pc:docMk/>
            <pc:sldMk cId="566521264" sldId="383"/>
            <ac:spMk id="61" creationId="{F8B5CF73-5AD1-47BB-9047-4C29B1832002}"/>
          </ac:spMkLst>
        </pc:spChg>
        <pc:graphicFrameChg chg="modGraphic">
          <ac:chgData name="janghoon jun" userId="056a5883350c2f5e" providerId="LiveId" clId="{74AFAB52-6487-4651-9B79-2F181DBD8D0A}" dt="2026-04-29T01:24:53.790" v="1035" actId="20577"/>
          <ac:graphicFrameMkLst>
            <pc:docMk/>
            <pc:sldMk cId="566521264" sldId="383"/>
            <ac:graphicFrameMk id="58" creationId="{482DE016-3F1C-4650-8969-98555872D4F0}"/>
          </ac:graphicFrameMkLst>
        </pc:graphicFrameChg>
      </pc:sldChg>
      <pc:sldChg chg="addSp modSp">
        <pc:chgData name="janghoon jun" userId="056a5883350c2f5e" providerId="LiveId" clId="{74AFAB52-6487-4651-9B79-2F181DBD8D0A}" dt="2026-04-23T05:26:23.108" v="73"/>
        <pc:sldMkLst>
          <pc:docMk/>
          <pc:sldMk cId="1785302506" sldId="384"/>
        </pc:sldMkLst>
        <pc:spChg chg="mod">
          <ac:chgData name="janghoon jun" userId="056a5883350c2f5e" providerId="LiveId" clId="{74AFAB52-6487-4651-9B79-2F181DBD8D0A}" dt="2026-04-23T05:26:23.108" v="73"/>
          <ac:spMkLst>
            <pc:docMk/>
            <pc:sldMk cId="1785302506" sldId="384"/>
            <ac:spMk id="3" creationId="{A84C152F-6AC6-4EBB-8679-327588602FD5}"/>
          </ac:spMkLst>
        </pc:spChg>
        <pc:spChg chg="add mod">
          <ac:chgData name="janghoon jun" userId="056a5883350c2f5e" providerId="LiveId" clId="{74AFAB52-6487-4651-9B79-2F181DBD8D0A}" dt="2026-04-23T04:50:55.939" v="17"/>
          <ac:spMkLst>
            <pc:docMk/>
            <pc:sldMk cId="1785302506" sldId="384"/>
            <ac:spMk id="9" creationId="{A8A31DB4-74F8-99BD-8C54-8965D199945F}"/>
          </ac:spMkLst>
        </pc:spChg>
        <pc:graphicFrameChg chg="add mod">
          <ac:chgData name="janghoon jun" userId="056a5883350c2f5e" providerId="LiveId" clId="{74AFAB52-6487-4651-9B79-2F181DBD8D0A}" dt="2026-04-23T04:50:55.939" v="17"/>
          <ac:graphicFrameMkLst>
            <pc:docMk/>
            <pc:sldMk cId="1785302506" sldId="384"/>
            <ac:graphicFrameMk id="6" creationId="{449A8616-0BBF-393C-F264-102EB2DE8C23}"/>
          </ac:graphicFrameMkLst>
        </pc:graphicFrameChg>
      </pc:sldChg>
      <pc:sldChg chg="addSp modSp">
        <pc:chgData name="janghoon jun" userId="056a5883350c2f5e" providerId="LiveId" clId="{74AFAB52-6487-4651-9B79-2F181DBD8D0A}" dt="2026-04-23T04:46:19.098" v="15"/>
        <pc:sldMkLst>
          <pc:docMk/>
          <pc:sldMk cId="1047168083" sldId="391"/>
        </pc:sldMkLst>
        <pc:spChg chg="add mod">
          <ac:chgData name="janghoon jun" userId="056a5883350c2f5e" providerId="LiveId" clId="{74AFAB52-6487-4651-9B79-2F181DBD8D0A}" dt="2026-04-23T04:39:40.977" v="9"/>
          <ac:spMkLst>
            <pc:docMk/>
            <pc:sldMk cId="1047168083" sldId="391"/>
            <ac:spMk id="8" creationId="{84A053AA-276C-91F0-E133-71F75BB9D47E}"/>
          </ac:spMkLst>
        </pc:spChg>
        <pc:spChg chg="add mod">
          <ac:chgData name="janghoon jun" userId="056a5883350c2f5e" providerId="LiveId" clId="{74AFAB52-6487-4651-9B79-2F181DBD8D0A}" dt="2026-04-23T04:43:19.617" v="13"/>
          <ac:spMkLst>
            <pc:docMk/>
            <pc:sldMk cId="1047168083" sldId="391"/>
            <ac:spMk id="13" creationId="{F1991196-0B56-3DBE-CD44-995DAEF96C3D}"/>
          </ac:spMkLst>
        </pc:spChg>
        <pc:graphicFrameChg chg="add mod">
          <ac:chgData name="janghoon jun" userId="056a5883350c2f5e" providerId="LiveId" clId="{74AFAB52-6487-4651-9B79-2F181DBD8D0A}" dt="2026-04-23T04:46:19.098" v="15"/>
          <ac:graphicFrameMkLst>
            <pc:docMk/>
            <pc:sldMk cId="1047168083" sldId="391"/>
            <ac:graphicFrameMk id="14" creationId="{67ED52CC-D33E-5A69-7988-C4AFDD527EC3}"/>
          </ac:graphicFrameMkLst>
        </pc:graphicFrameChg>
        <pc:picChg chg="add mod">
          <ac:chgData name="janghoon jun" userId="056a5883350c2f5e" providerId="LiveId" clId="{74AFAB52-6487-4651-9B79-2F181DBD8D0A}" dt="2026-04-23T04:39:40.977" v="9"/>
          <ac:picMkLst>
            <pc:docMk/>
            <pc:sldMk cId="1047168083" sldId="391"/>
            <ac:picMk id="10" creationId="{732D5664-492E-BFBB-E390-1378B0AE8742}"/>
          </ac:picMkLst>
        </pc:picChg>
        <pc:picChg chg="add mod">
          <ac:chgData name="janghoon jun" userId="056a5883350c2f5e" providerId="LiveId" clId="{74AFAB52-6487-4651-9B79-2F181DBD8D0A}" dt="2026-04-23T04:39:40.977" v="9"/>
          <ac:picMkLst>
            <pc:docMk/>
            <pc:sldMk cId="1047168083" sldId="391"/>
            <ac:picMk id="12" creationId="{D9EF556A-F928-C17A-585F-2FA9CA53D843}"/>
          </ac:picMkLst>
        </pc:picChg>
      </pc:sldChg>
      <pc:sldChg chg="addSp modSp ord">
        <pc:chgData name="janghoon jun" userId="056a5883350c2f5e" providerId="LiveId" clId="{74AFAB52-6487-4651-9B79-2F181DBD8D0A}" dt="2026-04-23T05:33:25.772" v="86"/>
        <pc:sldMkLst>
          <pc:docMk/>
          <pc:sldMk cId="433290991" sldId="397"/>
        </pc:sldMkLst>
        <pc:spChg chg="add mod">
          <ac:chgData name="janghoon jun" userId="056a5883350c2f5e" providerId="LiveId" clId="{74AFAB52-6487-4651-9B79-2F181DBD8D0A}" dt="2026-04-23T05:32:00.228" v="85"/>
          <ac:spMkLst>
            <pc:docMk/>
            <pc:sldMk cId="433290991" sldId="397"/>
            <ac:spMk id="7" creationId="{E7E0ACB4-8F9E-E8EE-4C62-427B6EC3AE55}"/>
          </ac:spMkLst>
        </pc:spChg>
        <pc:spChg chg="mod">
          <ac:chgData name="janghoon jun" userId="056a5883350c2f5e" providerId="LiveId" clId="{74AFAB52-6487-4651-9B79-2F181DBD8D0A}" dt="2026-04-23T05:33:25.772" v="86"/>
          <ac:spMkLst>
            <pc:docMk/>
            <pc:sldMk cId="433290991" sldId="397"/>
            <ac:spMk id="11" creationId="{2F49DB3D-7569-41CE-98E6-0D040C938EC9}"/>
          </ac:spMkLst>
        </pc:spChg>
        <pc:graphicFrameChg chg="add mod">
          <ac:chgData name="janghoon jun" userId="056a5883350c2f5e" providerId="LiveId" clId="{74AFAB52-6487-4651-9B79-2F181DBD8D0A}" dt="2026-04-23T05:32:00.228" v="85"/>
          <ac:graphicFrameMkLst>
            <pc:docMk/>
            <pc:sldMk cId="433290991" sldId="397"/>
            <ac:graphicFrameMk id="8" creationId="{28DA11E0-4E3C-811C-B8A9-9CD0FDFDB9D9}"/>
          </ac:graphicFrameMkLst>
        </pc:graphicFrameChg>
        <pc:graphicFrameChg chg="mod">
          <ac:chgData name="janghoon jun" userId="056a5883350c2f5e" providerId="LiveId" clId="{74AFAB52-6487-4651-9B79-2F181DBD8D0A}" dt="2026-04-23T04:34:00.740" v="2"/>
          <ac:graphicFrameMkLst>
            <pc:docMk/>
            <pc:sldMk cId="433290991" sldId="397"/>
            <ac:graphicFrameMk id="9" creationId="{C580C458-2EE5-4689-8617-EE9C75945DE5}"/>
          </ac:graphicFrameMkLst>
        </pc:graphicFrameChg>
      </pc:sldChg>
      <pc:sldChg chg="modSp mod ord">
        <pc:chgData name="janghoon jun" userId="056a5883350c2f5e" providerId="LiveId" clId="{74AFAB52-6487-4651-9B79-2F181DBD8D0A}" dt="2026-04-29T01:36:00.416" v="1112" actId="6549"/>
        <pc:sldMkLst>
          <pc:docMk/>
          <pc:sldMk cId="1327445754" sldId="403"/>
        </pc:sldMkLst>
        <pc:spChg chg="mod">
          <ac:chgData name="janghoon jun" userId="056a5883350c2f5e" providerId="LiveId" clId="{74AFAB52-6487-4651-9B79-2F181DBD8D0A}" dt="2026-04-29T01:36:00.416" v="1112" actId="6549"/>
          <ac:spMkLst>
            <pc:docMk/>
            <pc:sldMk cId="1327445754" sldId="403"/>
            <ac:spMk id="11" creationId="{2F49DB3D-7569-41CE-98E6-0D040C938EC9}"/>
          </ac:spMkLst>
        </pc:spChg>
      </pc:sldChg>
      <pc:sldChg chg="addSp delSp modSp mod ord">
        <pc:chgData name="janghoon jun" userId="056a5883350c2f5e" providerId="LiveId" clId="{74AFAB52-6487-4651-9B79-2F181DBD8D0A}" dt="2026-04-29T01:39:44.323" v="1131" actId="478"/>
        <pc:sldMkLst>
          <pc:docMk/>
          <pc:sldMk cId="79559792" sldId="404"/>
        </pc:sldMkLst>
        <pc:picChg chg="add del">
          <ac:chgData name="janghoon jun" userId="056a5883350c2f5e" providerId="LiveId" clId="{74AFAB52-6487-4651-9B79-2F181DBD8D0A}" dt="2026-04-29T01:39:14.961" v="1124" actId="478"/>
          <ac:picMkLst>
            <pc:docMk/>
            <pc:sldMk cId="79559792" sldId="404"/>
            <ac:picMk id="5" creationId="{0D09B646-F084-4AEA-BEEF-1A6E6900AD82}"/>
          </ac:picMkLst>
        </pc:picChg>
        <pc:picChg chg="add del">
          <ac:chgData name="janghoon jun" userId="056a5883350c2f5e" providerId="LiveId" clId="{74AFAB52-6487-4651-9B79-2F181DBD8D0A}" dt="2026-04-29T01:39:15.555" v="1125" actId="478"/>
          <ac:picMkLst>
            <pc:docMk/>
            <pc:sldMk cId="79559792" sldId="404"/>
            <ac:picMk id="6" creationId="{E0F76B1F-ACFD-F8B9-7EB7-7F91F47F3EB9}"/>
          </ac:picMkLst>
        </pc:picChg>
        <pc:picChg chg="add mod ord">
          <ac:chgData name="janghoon jun" userId="056a5883350c2f5e" providerId="LiveId" clId="{74AFAB52-6487-4651-9B79-2F181DBD8D0A}" dt="2026-04-29T01:39:13.256" v="1123" actId="167"/>
          <ac:picMkLst>
            <pc:docMk/>
            <pc:sldMk cId="79559792" sldId="404"/>
            <ac:picMk id="7" creationId="{589A79D3-6C6E-4C9C-5192-74A2A746330D}"/>
          </ac:picMkLst>
        </pc:picChg>
        <pc:picChg chg="add del mod">
          <ac:chgData name="janghoon jun" userId="056a5883350c2f5e" providerId="LiveId" clId="{74AFAB52-6487-4651-9B79-2F181DBD8D0A}" dt="2026-04-29T01:39:44.323" v="1131" actId="478"/>
          <ac:picMkLst>
            <pc:docMk/>
            <pc:sldMk cId="79559792" sldId="404"/>
            <ac:picMk id="10" creationId="{7DA4E8E9-B57F-6CE5-8D2E-7AAD5ABC9D0E}"/>
          </ac:picMkLst>
        </pc:picChg>
      </pc:sldChg>
      <pc:sldChg chg="addSp modSp">
        <pc:chgData name="janghoon jun" userId="056a5883350c2f5e" providerId="LiveId" clId="{74AFAB52-6487-4651-9B79-2F181DBD8D0A}" dt="2026-04-23T05:56:02.974" v="110"/>
        <pc:sldMkLst>
          <pc:docMk/>
          <pc:sldMk cId="466496045" sldId="405"/>
        </pc:sldMkLst>
        <pc:spChg chg="mod">
          <ac:chgData name="janghoon jun" userId="056a5883350c2f5e" providerId="LiveId" clId="{74AFAB52-6487-4651-9B79-2F181DBD8D0A}" dt="2026-04-23T05:26:32.903" v="76"/>
          <ac:spMkLst>
            <pc:docMk/>
            <pc:sldMk cId="466496045" sldId="405"/>
            <ac:spMk id="3" creationId="{A84C152F-6AC6-4EBB-8679-327588602FD5}"/>
          </ac:spMkLst>
        </pc:spChg>
      </pc:sldChg>
      <pc:sldChg chg="addSp modSp add">
        <pc:chgData name="janghoon jun" userId="056a5883350c2f5e" providerId="LiveId" clId="{74AFAB52-6487-4651-9B79-2F181DBD8D0A}" dt="2026-04-23T04:35:26.921" v="6"/>
        <pc:sldMkLst>
          <pc:docMk/>
          <pc:sldMk cId="3676489374" sldId="417"/>
        </pc:sldMkLst>
        <pc:spChg chg="add mod">
          <ac:chgData name="janghoon jun" userId="056a5883350c2f5e" providerId="LiveId" clId="{74AFAB52-6487-4651-9B79-2F181DBD8D0A}" dt="2026-04-23T04:35:26.921" v="6"/>
          <ac:spMkLst>
            <pc:docMk/>
            <pc:sldMk cId="3676489374" sldId="417"/>
            <ac:spMk id="5" creationId="{4C9684D0-6B99-1180-BF76-12BB17EF2C68}"/>
          </ac:spMkLst>
        </pc:spChg>
        <pc:spChg chg="add mod">
          <ac:chgData name="janghoon jun" userId="056a5883350c2f5e" providerId="LiveId" clId="{74AFAB52-6487-4651-9B79-2F181DBD8D0A}" dt="2026-04-23T04:35:26.921" v="6"/>
          <ac:spMkLst>
            <pc:docMk/>
            <pc:sldMk cId="3676489374" sldId="417"/>
            <ac:spMk id="6" creationId="{34822450-56D6-3C68-EC35-67694DCE4E74}"/>
          </ac:spMkLst>
        </pc:spChg>
        <pc:spChg chg="add mod">
          <ac:chgData name="janghoon jun" userId="056a5883350c2f5e" providerId="LiveId" clId="{74AFAB52-6487-4651-9B79-2F181DBD8D0A}" dt="2026-04-23T04:35:26.921" v="6"/>
          <ac:spMkLst>
            <pc:docMk/>
            <pc:sldMk cId="3676489374" sldId="417"/>
            <ac:spMk id="7" creationId="{AC04B9AC-8772-8B96-7F03-E1EF4382D9AE}"/>
          </ac:spMkLst>
        </pc:spChg>
        <pc:spChg chg="add mod">
          <ac:chgData name="janghoon jun" userId="056a5883350c2f5e" providerId="LiveId" clId="{74AFAB52-6487-4651-9B79-2F181DBD8D0A}" dt="2026-04-23T04:35:26.921" v="6"/>
          <ac:spMkLst>
            <pc:docMk/>
            <pc:sldMk cId="3676489374" sldId="417"/>
            <ac:spMk id="8" creationId="{83C401FB-FA8A-2F8D-50D3-DDBA228454E0}"/>
          </ac:spMkLst>
        </pc:spChg>
        <pc:spChg chg="add mod">
          <ac:chgData name="janghoon jun" userId="056a5883350c2f5e" providerId="LiveId" clId="{74AFAB52-6487-4651-9B79-2F181DBD8D0A}" dt="2026-04-23T04:35:26.921" v="6"/>
          <ac:spMkLst>
            <pc:docMk/>
            <pc:sldMk cId="3676489374" sldId="417"/>
            <ac:spMk id="12" creationId="{FE07F3C3-F812-DBB2-745F-F80D6E7A19B1}"/>
          </ac:spMkLst>
        </pc:spChg>
        <pc:spChg chg="add mod">
          <ac:chgData name="janghoon jun" userId="056a5883350c2f5e" providerId="LiveId" clId="{74AFAB52-6487-4651-9B79-2F181DBD8D0A}" dt="2026-04-23T04:35:26.921" v="6"/>
          <ac:spMkLst>
            <pc:docMk/>
            <pc:sldMk cId="3676489374" sldId="417"/>
            <ac:spMk id="13" creationId="{A1D05AAE-DD22-4C4B-0372-40E57D60574B}"/>
          </ac:spMkLst>
        </pc:spChg>
        <pc:picChg chg="add mod">
          <ac:chgData name="janghoon jun" userId="056a5883350c2f5e" providerId="LiveId" clId="{74AFAB52-6487-4651-9B79-2F181DBD8D0A}" dt="2026-04-23T04:34:50.464" v="5"/>
          <ac:picMkLst>
            <pc:docMk/>
            <pc:sldMk cId="3676489374" sldId="417"/>
            <ac:picMk id="3" creationId="{81973C61-AA1B-00DF-5FC3-AEE5ECE2C1D5}"/>
          </ac:picMkLst>
        </pc:picChg>
      </pc:sldChg>
      <pc:sldChg chg="addSp modSp add">
        <pc:chgData name="janghoon jun" userId="056a5883350c2f5e" providerId="LiveId" clId="{74AFAB52-6487-4651-9B79-2F181DBD8D0A}" dt="2026-04-23T05:26:15.564" v="72"/>
        <pc:sldMkLst>
          <pc:docMk/>
          <pc:sldMk cId="547293721" sldId="419"/>
        </pc:sldMkLst>
        <pc:spChg chg="mod">
          <ac:chgData name="janghoon jun" userId="056a5883350c2f5e" providerId="LiveId" clId="{74AFAB52-6487-4651-9B79-2F181DBD8D0A}" dt="2026-04-23T05:26:15.564" v="72"/>
          <ac:spMkLst>
            <pc:docMk/>
            <pc:sldMk cId="547293721" sldId="419"/>
            <ac:spMk id="3" creationId="{367681B0-02D1-D323-2098-6BC583C0F342}"/>
          </ac:spMkLst>
        </pc:spChg>
        <pc:spChg chg="add mod">
          <ac:chgData name="janghoon jun" userId="056a5883350c2f5e" providerId="LiveId" clId="{74AFAB52-6487-4651-9B79-2F181DBD8D0A}" dt="2026-04-23T04:45:37.540" v="14"/>
          <ac:spMkLst>
            <pc:docMk/>
            <pc:sldMk cId="547293721" sldId="419"/>
            <ac:spMk id="6" creationId="{AE86DF03-11BB-9F3C-7425-DF380FE33C5C}"/>
          </ac:spMkLst>
        </pc:spChg>
        <pc:graphicFrameChg chg="add mod">
          <ac:chgData name="janghoon jun" userId="056a5883350c2f5e" providerId="LiveId" clId="{74AFAB52-6487-4651-9B79-2F181DBD8D0A}" dt="2026-04-23T04:45:37.540" v="14"/>
          <ac:graphicFrameMkLst>
            <pc:docMk/>
            <pc:sldMk cId="547293721" sldId="419"/>
            <ac:graphicFrameMk id="5" creationId="{50E6AAC0-F358-4B19-9CE3-93F4BA13BB1D}"/>
          </ac:graphicFrameMkLst>
        </pc:graphicFrameChg>
        <pc:picChg chg="add mod">
          <ac:chgData name="janghoon jun" userId="056a5883350c2f5e" providerId="LiveId" clId="{74AFAB52-6487-4651-9B79-2F181DBD8D0A}" dt="2026-04-23T04:45:37.540" v="14"/>
          <ac:picMkLst>
            <pc:docMk/>
            <pc:sldMk cId="547293721" sldId="419"/>
            <ac:picMk id="8" creationId="{01922D40-4E57-A870-E95F-274DC9593DE0}"/>
          </ac:picMkLst>
        </pc:picChg>
      </pc:sldChg>
      <pc:sldChg chg="add">
        <pc:chgData name="janghoon jun" userId="056a5883350c2f5e" providerId="LiveId" clId="{74AFAB52-6487-4651-9B79-2F181DBD8D0A}" dt="2026-04-23T04:39:03.863" v="8"/>
        <pc:sldMkLst>
          <pc:docMk/>
          <pc:sldMk cId="3365920944" sldId="420"/>
        </pc:sldMkLst>
      </pc:sldChg>
      <pc:sldChg chg="add">
        <pc:chgData name="janghoon jun" userId="056a5883350c2f5e" providerId="LiveId" clId="{74AFAB52-6487-4651-9B79-2F181DBD8D0A}" dt="2026-04-23T04:39:03.863" v="8"/>
        <pc:sldMkLst>
          <pc:docMk/>
          <pc:sldMk cId="7921919" sldId="421"/>
        </pc:sldMkLst>
      </pc:sldChg>
      <pc:sldChg chg="addSp modSp add">
        <pc:chgData name="janghoon jun" userId="056a5883350c2f5e" providerId="LiveId" clId="{74AFAB52-6487-4651-9B79-2F181DBD8D0A}" dt="2026-04-23T05:57:19.986" v="113"/>
        <pc:sldMkLst>
          <pc:docMk/>
          <pc:sldMk cId="3547569925" sldId="422"/>
        </pc:sldMkLst>
        <pc:spChg chg="mod">
          <ac:chgData name="janghoon jun" userId="056a5883350c2f5e" providerId="LiveId" clId="{74AFAB52-6487-4651-9B79-2F181DBD8D0A}" dt="2026-04-23T05:26:26.545" v="74"/>
          <ac:spMkLst>
            <pc:docMk/>
            <pc:sldMk cId="3547569925" sldId="422"/>
            <ac:spMk id="3" creationId="{30721414-7466-5650-BAC8-D758D5070DDF}"/>
          </ac:spMkLst>
        </pc:spChg>
        <pc:graphicFrameChg chg="mod">
          <ac:chgData name="janghoon jun" userId="056a5883350c2f5e" providerId="LiveId" clId="{74AFAB52-6487-4651-9B79-2F181DBD8D0A}" dt="2026-04-23T05:57:19.986" v="113"/>
          <ac:graphicFrameMkLst>
            <pc:docMk/>
            <pc:sldMk cId="3547569925" sldId="422"/>
            <ac:graphicFrameMk id="5" creationId="{4699A663-B3CC-B714-E6F9-499E8573ACF4}"/>
          </ac:graphicFrameMkLst>
        </pc:graphicFrameChg>
      </pc:sldChg>
      <pc:sldChg chg="addSp modSp add ord">
        <pc:chgData name="janghoon jun" userId="056a5883350c2f5e" providerId="LiveId" clId="{74AFAB52-6487-4651-9B79-2F181DBD8D0A}" dt="2026-04-23T05:26:29.992" v="75"/>
        <pc:sldMkLst>
          <pc:docMk/>
          <pc:sldMk cId="3308675570" sldId="423"/>
        </pc:sldMkLst>
        <pc:spChg chg="mod">
          <ac:chgData name="janghoon jun" userId="056a5883350c2f5e" providerId="LiveId" clId="{74AFAB52-6487-4651-9B79-2F181DBD8D0A}" dt="2026-04-23T05:26:29.992" v="75"/>
          <ac:spMkLst>
            <pc:docMk/>
            <pc:sldMk cId="3308675570" sldId="423"/>
            <ac:spMk id="3" creationId="{A44B45EA-279F-152C-D434-8555DC90FDC3}"/>
          </ac:spMkLst>
        </pc:spChg>
        <pc:spChg chg="add mod">
          <ac:chgData name="janghoon jun" userId="056a5883350c2f5e" providerId="LiveId" clId="{74AFAB52-6487-4651-9B79-2F181DBD8D0A}" dt="2026-04-23T04:56:06.740" v="22" actId="164"/>
          <ac:spMkLst>
            <pc:docMk/>
            <pc:sldMk cId="3308675570" sldId="423"/>
            <ac:spMk id="8" creationId="{5FD278BE-2939-A140-95D1-C7B1675A82D8}"/>
          </ac:spMkLst>
        </pc:spChg>
        <pc:spChg chg="add mod">
          <ac:chgData name="janghoon jun" userId="056a5883350c2f5e" providerId="LiveId" clId="{74AFAB52-6487-4651-9B79-2F181DBD8D0A}" dt="2026-04-23T04:56:06.740" v="22" actId="164"/>
          <ac:spMkLst>
            <pc:docMk/>
            <pc:sldMk cId="3308675570" sldId="423"/>
            <ac:spMk id="10" creationId="{87DABCD7-4336-E07B-7F55-27928E031AAF}"/>
          </ac:spMkLst>
        </pc:spChg>
        <pc:spChg chg="mod">
          <ac:chgData name="janghoon jun" userId="056a5883350c2f5e" providerId="LiveId" clId="{74AFAB52-6487-4651-9B79-2F181DBD8D0A}" dt="2026-04-23T04:56:06.740" v="22" actId="164"/>
          <ac:spMkLst>
            <pc:docMk/>
            <pc:sldMk cId="3308675570" sldId="423"/>
            <ac:spMk id="11" creationId="{0887E2A8-F60D-2C0A-3D81-B79D5BDA9995}"/>
          </ac:spMkLst>
        </pc:spChg>
        <pc:spChg chg="mod">
          <ac:chgData name="janghoon jun" userId="056a5883350c2f5e" providerId="LiveId" clId="{74AFAB52-6487-4651-9B79-2F181DBD8D0A}" dt="2026-04-23T04:56:06.740" v="22" actId="164"/>
          <ac:spMkLst>
            <pc:docMk/>
            <pc:sldMk cId="3308675570" sldId="423"/>
            <ac:spMk id="14" creationId="{B0C3C66E-CEF0-6110-680E-9998A5F03F3B}"/>
          </ac:spMkLst>
        </pc:spChg>
        <pc:spChg chg="add mod">
          <ac:chgData name="janghoon jun" userId="056a5883350c2f5e" providerId="LiveId" clId="{74AFAB52-6487-4651-9B79-2F181DBD8D0A}" dt="2026-04-23T04:56:06.740" v="22" actId="164"/>
          <ac:spMkLst>
            <pc:docMk/>
            <pc:sldMk cId="3308675570" sldId="423"/>
            <ac:spMk id="15" creationId="{83F9244F-FBB3-25C7-6EA3-541E8BD7119E}"/>
          </ac:spMkLst>
        </pc:spChg>
        <pc:spChg chg="add mod">
          <ac:chgData name="janghoon jun" userId="056a5883350c2f5e" providerId="LiveId" clId="{74AFAB52-6487-4651-9B79-2F181DBD8D0A}" dt="2026-04-23T04:56:06.740" v="22" actId="164"/>
          <ac:spMkLst>
            <pc:docMk/>
            <pc:sldMk cId="3308675570" sldId="423"/>
            <ac:spMk id="16" creationId="{05CEC35F-70AA-7B03-9F4B-3FC1821FAD56}"/>
          </ac:spMkLst>
        </pc:spChg>
        <pc:spChg chg="add mod">
          <ac:chgData name="janghoon jun" userId="056a5883350c2f5e" providerId="LiveId" clId="{74AFAB52-6487-4651-9B79-2F181DBD8D0A}" dt="2026-04-23T04:56:06.740" v="22" actId="164"/>
          <ac:spMkLst>
            <pc:docMk/>
            <pc:sldMk cId="3308675570" sldId="423"/>
            <ac:spMk id="17" creationId="{69A261BF-B7FA-C0AB-B04E-83E43FA4E0F4}"/>
          </ac:spMkLst>
        </pc:spChg>
        <pc:spChg chg="add mod">
          <ac:chgData name="janghoon jun" userId="056a5883350c2f5e" providerId="LiveId" clId="{74AFAB52-6487-4651-9B79-2F181DBD8D0A}" dt="2026-04-23T04:56:06.740" v="22" actId="164"/>
          <ac:spMkLst>
            <pc:docMk/>
            <pc:sldMk cId="3308675570" sldId="423"/>
            <ac:spMk id="19" creationId="{853DBD02-12E1-A458-5544-9226CC8F7FC6}"/>
          </ac:spMkLst>
        </pc:spChg>
        <pc:spChg chg="add mod">
          <ac:chgData name="janghoon jun" userId="056a5883350c2f5e" providerId="LiveId" clId="{74AFAB52-6487-4651-9B79-2F181DBD8D0A}" dt="2026-04-23T04:56:06.740" v="22" actId="164"/>
          <ac:spMkLst>
            <pc:docMk/>
            <pc:sldMk cId="3308675570" sldId="423"/>
            <ac:spMk id="20" creationId="{BAFD56FE-D663-EF0C-CA7D-EC3BA87C6010}"/>
          </ac:spMkLst>
        </pc:spChg>
        <pc:spChg chg="add mod">
          <ac:chgData name="janghoon jun" userId="056a5883350c2f5e" providerId="LiveId" clId="{74AFAB52-6487-4651-9B79-2F181DBD8D0A}" dt="2026-04-23T04:56:06.740" v="22" actId="164"/>
          <ac:spMkLst>
            <pc:docMk/>
            <pc:sldMk cId="3308675570" sldId="423"/>
            <ac:spMk id="24" creationId="{591DDF2B-35A1-CF06-B6AD-94F9E36D309E}"/>
          </ac:spMkLst>
        </pc:spChg>
        <pc:spChg chg="add mod">
          <ac:chgData name="janghoon jun" userId="056a5883350c2f5e" providerId="LiveId" clId="{74AFAB52-6487-4651-9B79-2F181DBD8D0A}" dt="2026-04-23T04:53:10.993" v="20"/>
          <ac:spMkLst>
            <pc:docMk/>
            <pc:sldMk cId="3308675570" sldId="423"/>
            <ac:spMk id="25" creationId="{674C3EF3-0935-826A-B417-0D31D506C774}"/>
          </ac:spMkLst>
        </pc:spChg>
        <pc:graphicFrameChg chg="mod">
          <ac:chgData name="janghoon jun" userId="056a5883350c2f5e" providerId="LiveId" clId="{74AFAB52-6487-4651-9B79-2F181DBD8D0A}" dt="2026-04-23T04:56:56.939" v="24"/>
          <ac:graphicFrameMkLst>
            <pc:docMk/>
            <pc:sldMk cId="3308675570" sldId="423"/>
            <ac:graphicFrameMk id="26" creationId="{04CB2AEB-4DC2-EB2F-42C7-3FEE6A0C3CFB}"/>
          </ac:graphicFrameMkLst>
        </pc:graphicFrameChg>
      </pc:sldChg>
      <pc:sldChg chg="modSp add mod">
        <pc:chgData name="janghoon jun" userId="056a5883350c2f5e" providerId="LiveId" clId="{74AFAB52-6487-4651-9B79-2F181DBD8D0A}" dt="2026-04-29T01:32:34.711" v="1071" actId="20577"/>
        <pc:sldMkLst>
          <pc:docMk/>
          <pc:sldMk cId="1183344318" sldId="424"/>
        </pc:sldMkLst>
        <pc:spChg chg="mod">
          <ac:chgData name="janghoon jun" userId="056a5883350c2f5e" providerId="LiveId" clId="{74AFAB52-6487-4651-9B79-2F181DBD8D0A}" dt="2026-04-29T01:32:32.495" v="1069" actId="20577"/>
          <ac:spMkLst>
            <pc:docMk/>
            <pc:sldMk cId="1183344318" sldId="424"/>
            <ac:spMk id="44" creationId="{D400DB57-6635-6B94-9E8D-6E2BDBEFAFFC}"/>
          </ac:spMkLst>
        </pc:spChg>
        <pc:spChg chg="mod">
          <ac:chgData name="janghoon jun" userId="056a5883350c2f5e" providerId="LiveId" clId="{74AFAB52-6487-4651-9B79-2F181DBD8D0A}" dt="2026-04-29T01:32:34.711" v="1071" actId="20577"/>
          <ac:spMkLst>
            <pc:docMk/>
            <pc:sldMk cId="1183344318" sldId="424"/>
            <ac:spMk id="47" creationId="{5732E968-2554-EB9D-16F9-8131E5A09DCB}"/>
          </ac:spMkLst>
        </pc:spChg>
        <pc:spChg chg="mod">
          <ac:chgData name="janghoon jun" userId="056a5883350c2f5e" providerId="LiveId" clId="{74AFAB52-6487-4651-9B79-2F181DBD8D0A}" dt="2026-04-23T05:07:02.374" v="32"/>
          <ac:spMkLst>
            <pc:docMk/>
            <pc:sldMk cId="1183344318" sldId="424"/>
            <ac:spMk id="50" creationId="{05208522-6278-D741-9B2F-262FBDEFC690}"/>
          </ac:spMkLst>
        </pc:spChg>
        <pc:spChg chg="mod">
          <ac:chgData name="janghoon jun" userId="056a5883350c2f5e" providerId="LiveId" clId="{74AFAB52-6487-4651-9B79-2F181DBD8D0A}" dt="2026-04-23T05:07:06.294" v="33"/>
          <ac:spMkLst>
            <pc:docMk/>
            <pc:sldMk cId="1183344318" sldId="424"/>
            <ac:spMk id="53" creationId="{4D59BBC4-D670-C230-0E3D-6E9A8CC1071C}"/>
          </ac:spMkLst>
        </pc:spChg>
        <pc:spChg chg="mod">
          <ac:chgData name="janghoon jun" userId="056a5883350c2f5e" providerId="LiveId" clId="{74AFAB52-6487-4651-9B79-2F181DBD8D0A}" dt="2026-04-23T05:07:11.726" v="34"/>
          <ac:spMkLst>
            <pc:docMk/>
            <pc:sldMk cId="1183344318" sldId="424"/>
            <ac:spMk id="56" creationId="{BAEC52FB-84B6-559A-4886-34A0FC2877A8}"/>
          </ac:spMkLst>
        </pc:spChg>
        <pc:spChg chg="mod">
          <ac:chgData name="janghoon jun" userId="056a5883350c2f5e" providerId="LiveId" clId="{74AFAB52-6487-4651-9B79-2F181DBD8D0A}" dt="2026-04-29T01:31:34.994" v="1063" actId="20577"/>
          <ac:spMkLst>
            <pc:docMk/>
            <pc:sldMk cId="1183344318" sldId="424"/>
            <ac:spMk id="61" creationId="{6D2F29C0-3430-B09B-78DB-3454E73F31E6}"/>
          </ac:spMkLst>
        </pc:spChg>
        <pc:graphicFrameChg chg="mod modGraphic">
          <ac:chgData name="janghoon jun" userId="056a5883350c2f5e" providerId="LiveId" clId="{74AFAB52-6487-4651-9B79-2F181DBD8D0A}" dt="2026-04-29T01:32:30.040" v="1067" actId="20577"/>
          <ac:graphicFrameMkLst>
            <pc:docMk/>
            <pc:sldMk cId="1183344318" sldId="424"/>
            <ac:graphicFrameMk id="58" creationId="{93111E9C-3E6D-1CC0-B18B-8040697D5774}"/>
          </ac:graphicFrameMkLst>
        </pc:graphicFrameChg>
      </pc:sldChg>
      <pc:sldChg chg="modSp add mod ord">
        <pc:chgData name="janghoon jun" userId="056a5883350c2f5e" providerId="LiveId" clId="{74AFAB52-6487-4651-9B79-2F181DBD8D0A}" dt="2026-04-29T01:34:58.301" v="1085" actId="20577"/>
        <pc:sldMkLst>
          <pc:docMk/>
          <pc:sldMk cId="3567372362" sldId="425"/>
        </pc:sldMkLst>
        <pc:spChg chg="mod">
          <ac:chgData name="janghoon jun" userId="056a5883350c2f5e" providerId="LiveId" clId="{74AFAB52-6487-4651-9B79-2F181DBD8D0A}" dt="2026-04-29T01:34:58.301" v="1085" actId="20577"/>
          <ac:spMkLst>
            <pc:docMk/>
            <pc:sldMk cId="3567372362" sldId="425"/>
            <ac:spMk id="11" creationId="{4925A88E-9A76-1866-300E-75B3BD583781}"/>
          </ac:spMkLst>
        </pc:spChg>
      </pc:sldChg>
      <pc:sldChg chg="addSp add ord">
        <pc:chgData name="janghoon jun" userId="056a5883350c2f5e" providerId="LiveId" clId="{74AFAB52-6487-4651-9B79-2F181DBD8D0A}" dt="2026-04-23T05:18:43.630" v="50"/>
        <pc:sldMkLst>
          <pc:docMk/>
          <pc:sldMk cId="2035619833" sldId="426"/>
        </pc:sldMkLst>
        <pc:picChg chg="add">
          <ac:chgData name="janghoon jun" userId="056a5883350c2f5e" providerId="LiveId" clId="{74AFAB52-6487-4651-9B79-2F181DBD8D0A}" dt="2026-04-23T05:17:25.589" v="47"/>
          <ac:picMkLst>
            <pc:docMk/>
            <pc:sldMk cId="2035619833" sldId="426"/>
            <ac:picMk id="7" creationId="{F4CEE441-38AF-6F6C-F259-1C70D50A04DC}"/>
          </ac:picMkLst>
        </pc:picChg>
        <pc:picChg chg="add">
          <ac:chgData name="janghoon jun" userId="056a5883350c2f5e" providerId="LiveId" clId="{74AFAB52-6487-4651-9B79-2F181DBD8D0A}" dt="2026-04-23T05:17:56.648" v="48"/>
          <ac:picMkLst>
            <pc:docMk/>
            <pc:sldMk cId="2035619833" sldId="426"/>
            <ac:picMk id="10" creationId="{585EAB18-FCD9-0D20-39A8-0352ED13AA94}"/>
          </ac:picMkLst>
        </pc:picChg>
      </pc:sldChg>
      <pc:sldChg chg="addSp modSp add ord">
        <pc:chgData name="janghoon jun" userId="056a5883350c2f5e" providerId="LiveId" clId="{74AFAB52-6487-4651-9B79-2F181DBD8D0A}" dt="2026-04-23T05:22:22.222" v="59"/>
        <pc:sldMkLst>
          <pc:docMk/>
          <pc:sldMk cId="3896853274" sldId="427"/>
        </pc:sldMkLst>
        <pc:graphicFrameChg chg="mod">
          <ac:chgData name="janghoon jun" userId="056a5883350c2f5e" providerId="LiveId" clId="{74AFAB52-6487-4651-9B79-2F181DBD8D0A}" dt="2026-04-23T05:21:58.202" v="58"/>
          <ac:graphicFrameMkLst>
            <pc:docMk/>
            <pc:sldMk cId="3896853274" sldId="427"/>
            <ac:graphicFrameMk id="8" creationId="{E1BF661B-644B-B413-5A1F-111F1F8F21AD}"/>
          </ac:graphicFrameMkLst>
        </pc:graphicFrameChg>
        <pc:picChg chg="add">
          <ac:chgData name="janghoon jun" userId="056a5883350c2f5e" providerId="LiveId" clId="{74AFAB52-6487-4651-9B79-2F181DBD8D0A}" dt="2026-04-23T05:20:34.915" v="53"/>
          <ac:picMkLst>
            <pc:docMk/>
            <pc:sldMk cId="3896853274" sldId="427"/>
            <ac:picMk id="6" creationId="{C54047D0-AF13-B2B0-3AD7-EC4D64CA5AA4}"/>
          </ac:picMkLst>
        </pc:picChg>
      </pc:sldChg>
      <pc:sldChg chg="addSp modSp add ord modCm">
        <pc:chgData name="janghoon jun" userId="056a5883350c2f5e" providerId="LiveId" clId="{74AFAB52-6487-4651-9B79-2F181DBD8D0A}" dt="2026-04-23T05:53:44.401" v="108"/>
        <pc:sldMkLst>
          <pc:docMk/>
          <pc:sldMk cId="2959586648" sldId="429"/>
        </pc:sldMkLst>
        <pc:spChg chg="mod">
          <ac:chgData name="janghoon jun" userId="056a5883350c2f5e" providerId="LiveId" clId="{74AFAB52-6487-4651-9B79-2F181DBD8D0A}" dt="2026-04-23T05:25:25.602" v="71"/>
          <ac:spMkLst>
            <pc:docMk/>
            <pc:sldMk cId="2959586648" sldId="429"/>
            <ac:spMk id="13" creationId="{384C69F6-FC22-F7F9-5B8D-069C48FEF9F2}"/>
          </ac:spMkLst>
        </pc:spChg>
        <pc:picChg chg="add">
          <ac:chgData name="janghoon jun" userId="056a5883350c2f5e" providerId="LiveId" clId="{74AFAB52-6487-4651-9B79-2F181DBD8D0A}" dt="2026-04-23T05:24:20.940" v="67"/>
          <ac:picMkLst>
            <pc:docMk/>
            <pc:sldMk cId="2959586648" sldId="429"/>
            <ac:picMk id="10" creationId="{7BF96678-64E9-7310-CE38-2362C5926BC2}"/>
          </ac:picMkLst>
        </pc:picChg>
      </pc:sldChg>
      <pc:sldChg chg="addSp modSp add">
        <pc:chgData name="janghoon jun" userId="056a5883350c2f5e" providerId="LiveId" clId="{74AFAB52-6487-4651-9B79-2F181DBD8D0A}" dt="2026-04-23T05:27:44.787" v="79"/>
        <pc:sldMkLst>
          <pc:docMk/>
          <pc:sldMk cId="2349903612" sldId="430"/>
        </pc:sldMkLst>
        <pc:graphicFrameChg chg="mod">
          <ac:chgData name="janghoon jun" userId="056a5883350c2f5e" providerId="LiveId" clId="{74AFAB52-6487-4651-9B79-2F181DBD8D0A}" dt="2026-04-23T05:27:37.533" v="78"/>
          <ac:graphicFrameMkLst>
            <pc:docMk/>
            <pc:sldMk cId="2349903612" sldId="430"/>
            <ac:graphicFrameMk id="14" creationId="{78D7AE0F-53A2-31AC-D9B9-9FE6CC6C5B0E}"/>
          </ac:graphicFrameMkLst>
        </pc:graphicFrameChg>
        <pc:picChg chg="add mod">
          <ac:chgData name="janghoon jun" userId="056a5883350c2f5e" providerId="LiveId" clId="{74AFAB52-6487-4651-9B79-2F181DBD8D0A}" dt="2026-04-23T05:27:44.787" v="79"/>
          <ac:picMkLst>
            <pc:docMk/>
            <pc:sldMk cId="2349903612" sldId="430"/>
            <ac:picMk id="3" creationId="{552E7177-C455-7B7A-6A5F-A2E23BE08E4D}"/>
          </ac:picMkLst>
        </pc:picChg>
        <pc:picChg chg="add mod">
          <ac:chgData name="janghoon jun" userId="056a5883350c2f5e" providerId="LiveId" clId="{74AFAB52-6487-4651-9B79-2F181DBD8D0A}" dt="2026-04-23T05:27:44.787" v="79"/>
          <ac:picMkLst>
            <pc:docMk/>
            <pc:sldMk cId="2349903612" sldId="430"/>
            <ac:picMk id="5" creationId="{AF2DD5C6-0B9B-B2AD-123C-1498A0FBBEF1}"/>
          </ac:picMkLst>
        </pc:picChg>
      </pc:sldChg>
      <pc:sldChg chg="addSp modSp add">
        <pc:chgData name="janghoon jun" userId="056a5883350c2f5e" providerId="LiveId" clId="{74AFAB52-6487-4651-9B79-2F181DBD8D0A}" dt="2026-04-23T05:30:06.132" v="82"/>
        <pc:sldMkLst>
          <pc:docMk/>
          <pc:sldMk cId="3899760896" sldId="431"/>
        </pc:sldMkLst>
        <pc:graphicFrameChg chg="mod">
          <ac:chgData name="janghoon jun" userId="056a5883350c2f5e" providerId="LiveId" clId="{74AFAB52-6487-4651-9B79-2F181DBD8D0A}" dt="2026-04-23T05:29:56.931" v="81"/>
          <ac:graphicFrameMkLst>
            <pc:docMk/>
            <pc:sldMk cId="3899760896" sldId="431"/>
            <ac:graphicFrameMk id="5" creationId="{7B119F95-E3E8-D36D-AC89-9012804306DA}"/>
          </ac:graphicFrameMkLst>
        </pc:graphicFrameChg>
        <pc:picChg chg="add mod">
          <ac:chgData name="janghoon jun" userId="056a5883350c2f5e" providerId="LiveId" clId="{74AFAB52-6487-4651-9B79-2F181DBD8D0A}" dt="2026-04-23T05:30:06.132" v="82"/>
          <ac:picMkLst>
            <pc:docMk/>
            <pc:sldMk cId="3899760896" sldId="431"/>
            <ac:picMk id="7" creationId="{211022FC-C84A-26A4-97C3-8C21320C9035}"/>
          </ac:picMkLst>
        </pc:picChg>
      </pc:sldChg>
      <pc:sldChg chg="modSp add">
        <pc:chgData name="janghoon jun" userId="056a5883350c2f5e" providerId="LiveId" clId="{74AFAB52-6487-4651-9B79-2F181DBD8D0A}" dt="2026-04-23T05:39:15.891" v="89"/>
        <pc:sldMkLst>
          <pc:docMk/>
          <pc:sldMk cId="2969810267" sldId="432"/>
        </pc:sldMkLst>
        <pc:graphicFrameChg chg="mod">
          <ac:chgData name="janghoon jun" userId="056a5883350c2f5e" providerId="LiveId" clId="{74AFAB52-6487-4651-9B79-2F181DBD8D0A}" dt="2026-04-23T05:39:15.891" v="89"/>
          <ac:graphicFrameMkLst>
            <pc:docMk/>
            <pc:sldMk cId="2969810267" sldId="432"/>
            <ac:graphicFrameMk id="6" creationId="{87B1BB24-C14C-5EA9-3753-52F08462A815}"/>
          </ac:graphicFrameMkLst>
        </pc:graphicFrameChg>
      </pc:sldChg>
      <pc:sldChg chg="addSp modSp add">
        <pc:chgData name="janghoon jun" userId="056a5883350c2f5e" providerId="LiveId" clId="{74AFAB52-6487-4651-9B79-2F181DBD8D0A}" dt="2026-04-23T05:43:54.193" v="98"/>
        <pc:sldMkLst>
          <pc:docMk/>
          <pc:sldMk cId="1692516220" sldId="433"/>
        </pc:sldMkLst>
        <pc:graphicFrameChg chg="mod">
          <ac:chgData name="janghoon jun" userId="056a5883350c2f5e" providerId="LiveId" clId="{74AFAB52-6487-4651-9B79-2F181DBD8D0A}" dt="2026-04-23T05:43:54.193" v="98"/>
          <ac:graphicFrameMkLst>
            <pc:docMk/>
            <pc:sldMk cId="1692516220" sldId="433"/>
            <ac:graphicFrameMk id="5" creationId="{D8ACE963-4A5C-2307-31E4-57C078ACF9A7}"/>
          </ac:graphicFrameMkLst>
        </pc:graphicFrameChg>
        <pc:picChg chg="add mod">
          <ac:chgData name="janghoon jun" userId="056a5883350c2f5e" providerId="LiveId" clId="{74AFAB52-6487-4651-9B79-2F181DBD8D0A}" dt="2026-04-23T05:39:57.027" v="90"/>
          <ac:picMkLst>
            <pc:docMk/>
            <pc:sldMk cId="1692516220" sldId="433"/>
            <ac:picMk id="9" creationId="{3CFBF344-A77E-61E0-8A5A-E2E2B6A04A26}"/>
          </ac:picMkLst>
        </pc:picChg>
      </pc:sldChg>
      <pc:sldChg chg="addSp modSp add">
        <pc:chgData name="janghoon jun" userId="056a5883350c2f5e" providerId="LiveId" clId="{74AFAB52-6487-4651-9B79-2F181DBD8D0A}" dt="2026-04-23T05:46:02.267" v="101"/>
        <pc:sldMkLst>
          <pc:docMk/>
          <pc:sldMk cId="893488612" sldId="434"/>
        </pc:sldMkLst>
        <pc:graphicFrameChg chg="mod">
          <ac:chgData name="janghoon jun" userId="056a5883350c2f5e" providerId="LiveId" clId="{74AFAB52-6487-4651-9B79-2F181DBD8D0A}" dt="2026-04-23T05:45:56.324" v="100"/>
          <ac:graphicFrameMkLst>
            <pc:docMk/>
            <pc:sldMk cId="893488612" sldId="434"/>
            <ac:graphicFrameMk id="26" creationId="{3A76AD0E-611F-DE73-5345-869AF07F99C3}"/>
          </ac:graphicFrameMkLst>
        </pc:graphicFrameChg>
        <pc:picChg chg="add mod">
          <ac:chgData name="janghoon jun" userId="056a5883350c2f5e" providerId="LiveId" clId="{74AFAB52-6487-4651-9B79-2F181DBD8D0A}" dt="2026-04-23T05:46:02.267" v="101"/>
          <ac:picMkLst>
            <pc:docMk/>
            <pc:sldMk cId="893488612" sldId="434"/>
            <ac:picMk id="6" creationId="{DE9F1DF5-E762-D36C-B819-A343CF944A70}"/>
          </ac:picMkLst>
        </pc:picChg>
      </pc:sldChg>
      <pc:sldChg chg="addSp delSp modSp add">
        <pc:chgData name="janghoon jun" userId="056a5883350c2f5e" providerId="LiveId" clId="{74AFAB52-6487-4651-9B79-2F181DBD8D0A}" dt="2026-04-23T05:48:35.651" v="107"/>
        <pc:sldMkLst>
          <pc:docMk/>
          <pc:sldMk cId="1865432423" sldId="435"/>
        </pc:sldMkLst>
        <pc:graphicFrameChg chg="mod">
          <ac:chgData name="janghoon jun" userId="056a5883350c2f5e" providerId="LiveId" clId="{74AFAB52-6487-4651-9B79-2F181DBD8D0A}" dt="2026-04-23T05:48:31.315" v="106"/>
          <ac:graphicFrameMkLst>
            <pc:docMk/>
            <pc:sldMk cId="1865432423" sldId="435"/>
            <ac:graphicFrameMk id="15" creationId="{61E140C2-30D8-84E7-4462-DB355F84FBEC}"/>
          </ac:graphicFrameMkLst>
        </pc:graphicFrameChg>
        <pc:picChg chg="add mod">
          <ac:chgData name="janghoon jun" userId="056a5883350c2f5e" providerId="LiveId" clId="{74AFAB52-6487-4651-9B79-2F181DBD8D0A}" dt="2026-04-23T05:46:54.122" v="102"/>
          <ac:picMkLst>
            <pc:docMk/>
            <pc:sldMk cId="1865432423" sldId="435"/>
            <ac:picMk id="7" creationId="{2AA11500-F8DA-3AEA-D9BE-F3024A955622}"/>
          </ac:picMkLst>
        </pc:picChg>
      </pc:sldChg>
      <pc:sldChg chg="addSp modSp add">
        <pc:chgData name="janghoon jun" userId="056a5883350c2f5e" providerId="LiveId" clId="{74AFAB52-6487-4651-9B79-2F181DBD8D0A}" dt="2026-04-23T06:03:17.716" v="115" actId="571"/>
        <pc:sldMkLst>
          <pc:docMk/>
          <pc:sldMk cId="3977348690" sldId="436"/>
        </pc:sldMkLst>
        <pc:spChg chg="add mod">
          <ac:chgData name="janghoon jun" userId="056a5883350c2f5e" providerId="LiveId" clId="{74AFAB52-6487-4651-9B79-2F181DBD8D0A}" dt="2026-04-23T06:03:17.716" v="115" actId="571"/>
          <ac:spMkLst>
            <pc:docMk/>
            <pc:sldMk cId="3977348690" sldId="436"/>
            <ac:spMk id="12" creationId="{83A9C69A-BC9E-3158-2906-F42B4EE922E5}"/>
          </ac:spMkLst>
        </pc:spChg>
      </pc:sldChg>
      <pc:sldChg chg="add">
        <pc:chgData name="janghoon jun" userId="056a5883350c2f5e" providerId="LiveId" clId="{74AFAB52-6487-4651-9B79-2F181DBD8D0A}" dt="2026-04-23T06:03:44.517" v="116"/>
        <pc:sldMkLst>
          <pc:docMk/>
          <pc:sldMk cId="3506109384" sldId="437"/>
        </pc:sldMkLst>
      </pc:sldChg>
      <pc:sldChg chg="addSp delSp modSp add mod">
        <pc:chgData name="janghoon jun" userId="056a5883350c2f5e" providerId="LiveId" clId="{74AFAB52-6487-4651-9B79-2F181DBD8D0A}" dt="2026-04-29T00:58:34.506" v="999"/>
        <pc:sldMkLst>
          <pc:docMk/>
          <pc:sldMk cId="4099219520" sldId="438"/>
        </pc:sldMkLst>
        <pc:spChg chg="add del mod">
          <ac:chgData name="janghoon jun" userId="056a5883350c2f5e" providerId="LiveId" clId="{74AFAB52-6487-4651-9B79-2F181DBD8D0A}" dt="2026-04-29T00:56:21.849" v="726" actId="478"/>
          <ac:spMkLst>
            <pc:docMk/>
            <pc:sldMk cId="4099219520" sldId="438"/>
            <ac:spMk id="3" creationId="{E1F33830-6301-294E-965D-34195F4CF66F}"/>
          </ac:spMkLst>
        </pc:spChg>
        <pc:spChg chg="mod">
          <ac:chgData name="janghoon jun" userId="056a5883350c2f5e" providerId="LiveId" clId="{74AFAB52-6487-4651-9B79-2F181DBD8D0A}" dt="2026-04-29T00:58:34.506" v="999"/>
          <ac:spMkLst>
            <pc:docMk/>
            <pc:sldMk cId="4099219520" sldId="438"/>
            <ac:spMk id="14" creationId="{776DA4E4-00A3-E690-8224-10FF5B020CD9}"/>
          </ac:spMkLst>
        </pc:spChg>
      </pc:sldChg>
      <pc:sldChg chg="add">
        <pc:chgData name="janghoon jun" userId="056a5883350c2f5e" providerId="LiveId" clId="{74AFAB52-6487-4651-9B79-2F181DBD8D0A}" dt="2026-04-29T00:56:54.481" v="732"/>
        <pc:sldMkLst>
          <pc:docMk/>
          <pc:sldMk cId="2448059843" sldId="439"/>
        </pc:sldMkLst>
      </pc:sldChg>
    </pc:docChg>
  </pc:docChgLst>
  <pc:docChgLst>
    <pc:chgData name="Jihun Kim" userId="2469e03939fca47a" providerId="LiveId" clId="{0EC0481E-6524-4E60-9AD2-E07F55D3906F}"/>
    <pc:docChg chg="undo custSel modSld modMainMaster">
      <pc:chgData name="Jihun Kim" userId="2469e03939fca47a" providerId="LiveId" clId="{0EC0481E-6524-4E60-9AD2-E07F55D3906F}" dt="2026-04-09T12:43:38.717" v="9" actId="113"/>
      <pc:docMkLst>
        <pc:docMk/>
      </pc:docMkLst>
      <pc:sldChg chg="modSp mod">
        <pc:chgData name="Jihun Kim" userId="2469e03939fca47a" providerId="LiveId" clId="{0EC0481E-6524-4E60-9AD2-E07F55D3906F}" dt="2026-04-09T12:43:04.015" v="5" actId="2711"/>
        <pc:sldMkLst>
          <pc:docMk/>
          <pc:sldMk cId="1998851532" sldId="256"/>
        </pc:sldMkLst>
        <pc:spChg chg="mod">
          <ac:chgData name="Jihun Kim" userId="2469e03939fca47a" providerId="LiveId" clId="{0EC0481E-6524-4E60-9AD2-E07F55D3906F}" dt="2026-04-09T12:41:51.143" v="2" actId="207"/>
          <ac:spMkLst>
            <pc:docMk/>
            <pc:sldMk cId="1998851532" sldId="256"/>
            <ac:spMk id="4" creationId="{4C14D9A0-1BB9-428F-B273-3CE24758593B}"/>
          </ac:spMkLst>
        </pc:spChg>
        <pc:spChg chg="mod">
          <ac:chgData name="Jihun Kim" userId="2469e03939fca47a" providerId="LiveId" clId="{0EC0481E-6524-4E60-9AD2-E07F55D3906F}" dt="2026-04-09T12:42:23.172" v="3" actId="2711"/>
          <ac:spMkLst>
            <pc:docMk/>
            <pc:sldMk cId="1998851532" sldId="256"/>
            <ac:spMk id="5" creationId="{94B21C1C-F3A0-440B-961E-968F2C77FB2A}"/>
          </ac:spMkLst>
        </pc:spChg>
        <pc:spChg chg="mod">
          <ac:chgData name="Jihun Kim" userId="2469e03939fca47a" providerId="LiveId" clId="{0EC0481E-6524-4E60-9AD2-E07F55D3906F}" dt="2026-04-09T12:42:57.903" v="4" actId="2711"/>
          <ac:spMkLst>
            <pc:docMk/>
            <pc:sldMk cId="1998851532" sldId="256"/>
            <ac:spMk id="6" creationId="{63F70F93-076B-4BBC-B933-AC7768BB0AE5}"/>
          </ac:spMkLst>
        </pc:spChg>
        <pc:spChg chg="mod">
          <ac:chgData name="Jihun Kim" userId="2469e03939fca47a" providerId="LiveId" clId="{0EC0481E-6524-4E60-9AD2-E07F55D3906F}" dt="2026-04-09T12:43:04.015" v="5" actId="2711"/>
          <ac:spMkLst>
            <pc:docMk/>
            <pc:sldMk cId="1998851532" sldId="256"/>
            <ac:spMk id="7" creationId="{CEB5E8A0-083F-4B6E-AA66-93BFFD6A8E1A}"/>
          </ac:spMkLst>
        </pc:spChg>
      </pc:sldChg>
      <pc:sldMasterChg chg="modSldLayout">
        <pc:chgData name="Jihun Kim" userId="2469e03939fca47a" providerId="LiveId" clId="{0EC0481E-6524-4E60-9AD2-E07F55D3906F}" dt="2026-04-09T12:43:38.717" v="9" actId="113"/>
        <pc:sldMasterMkLst>
          <pc:docMk/>
          <pc:sldMasterMk cId="2755485914" sldId="2147483648"/>
        </pc:sldMasterMkLst>
        <pc:sldLayoutChg chg="modSp mod">
          <pc:chgData name="Jihun Kim" userId="2469e03939fca47a" providerId="LiveId" clId="{0EC0481E-6524-4E60-9AD2-E07F55D3906F}" dt="2026-04-09T12:43:38.717" v="9" actId="113"/>
          <pc:sldLayoutMkLst>
            <pc:docMk/>
            <pc:sldMasterMk cId="2755485914" sldId="2147483648"/>
            <pc:sldLayoutMk cId="3176484067" sldId="2147483650"/>
          </pc:sldLayoutMkLst>
          <pc:spChg chg="mod">
            <ac:chgData name="Jihun Kim" userId="2469e03939fca47a" providerId="LiveId" clId="{0EC0481E-6524-4E60-9AD2-E07F55D3906F}" dt="2026-04-09T12:43:24.420" v="6" actId="2711"/>
            <ac:spMkLst>
              <pc:docMk/>
              <pc:sldMasterMk cId="2755485914" sldId="2147483648"/>
              <pc:sldLayoutMk cId="3176484067" sldId="2147483650"/>
              <ac:spMk id="2" creationId="{FE4F955D-C3E9-4033-8442-9095377B0662}"/>
            </ac:spMkLst>
          </pc:spChg>
          <pc:spChg chg="mod">
            <ac:chgData name="Jihun Kim" userId="2469e03939fca47a" providerId="LiveId" clId="{0EC0481E-6524-4E60-9AD2-E07F55D3906F}" dt="2026-04-09T12:43:38.717" v="9" actId="113"/>
            <ac:spMkLst>
              <pc:docMk/>
              <pc:sldMasterMk cId="2755485914" sldId="2147483648"/>
              <pc:sldLayoutMk cId="3176484067" sldId="2147483650"/>
              <ac:spMk id="3" creationId="{9CA482F1-FC12-443E-892A-B48F9C50AA53}"/>
            </ac:spMkLst>
          </pc:spChg>
        </pc:sldLayoutChg>
      </pc:sldMasterChg>
    </pc:docChg>
  </pc:docChgLst>
</pc:chgInfo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6-04-20T13:46:21.592" idx="17">
    <p:pos x="10" y="10"/>
    <p:text>mean과 AUC_normalized 중 한 개만 제외 했을 때도 VIF가 높은지? (보통 둘 중에 하나만 뺌)
Model에 kVp도 들어가야 하네요. (전압을 얼마 기준으로 하느냐에 따라 전류값이 달라짐)
kVp 분포를 보고 main (아마도 100) 이 있는지 확인</p:text>
    <p:extLst>
      <p:ext uri="{C676402C-5697-4E1C-873F-D02D1690AC5C}">
        <p15:threadingInfo xmlns:p15="http://schemas.microsoft.com/office/powerpoint/2012/main" timeZoneBias="-540"/>
      </p:ext>
    </p:extLst>
  </p:cm>
</p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3074436-1BEA-4F09-AD5C-9DF87C96BF5A}" type="datetimeFigureOut">
              <a:rPr lang="ko-KR" altLang="en-US" smtClean="0"/>
              <a:t>2026-04-29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33C9518-700F-4811-95BB-24DAF3FA92F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776494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054903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9443538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0970617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01138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733181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0345276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3789887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1484703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951218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8883083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F70E41-9C8E-B03B-C05B-15F9B63B3F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E954644-C05C-2FF6-A2B3-FEF9FBDD0D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692B7A4-4E18-F32E-24A9-EAC20F218C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B43AA19-E653-9BF7-F509-8622929EEE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057493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DC3EA7-A598-8F5D-837D-6EC551DCD9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C4D1BA7-9B98-21D1-222D-EC65DE89B8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BFFCE0E-4C46-6EC2-916D-7984E0CF17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27C60D6-CA25-C30C-20FD-4750FEF051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423248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B70686-E559-A47E-16BB-A9B20FBB19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DC4B8A5-BE21-01F1-B2F1-611793A3F8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60EB328-114E-113A-F1E7-D1969E3E9A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43DED06-FBCA-CB43-944A-FE267C2480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4863571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48324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AA566F-2E6E-1FA1-19C9-7DF770D628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1B90227-C94C-C1B8-0CEE-61B007ED77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A060A00-4238-8358-3234-740712683B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5CACDF0-3A10-A885-EC0C-7D4698CCF4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4277922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76489A-CEE8-338E-B78B-094157534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31F500A-8AB8-2AAC-71C0-B36548C153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AEB6B2D-447F-9132-5DDA-6DF3CA1B20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3CD8D70-DAE0-6BF5-1824-C0307E0025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9973744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417160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3E1598-858D-3E51-A013-2B3763CD5D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FF4065B-C9CA-E306-4CD1-FD16A30A5F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9EA47DE-6319-EE37-A8BB-20CC5DAE12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4A51F9-08B6-8F25-731C-DA11008056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69500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BA44EB-FD53-71A2-1186-B02757E918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7567FCD-F122-4801-820B-B26195B426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1049407-EF8C-912F-23A8-2264476891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8A795E1-0C43-0923-3307-17CC375B5A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8873407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F0ECB1-A04F-46FA-3FC2-ADC8058C83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F0720AB-E13E-D83D-6F4D-39DB219040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1A43EFA-F769-FCA7-38C6-FB554A52D9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E40A08-11BE-36BF-706C-75EDEF4EA8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6681979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585522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721922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3106724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45DB92-17F9-E82D-00C2-909FD4663C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DAE9C98-EA01-9D0C-4F5C-6CA9A7F617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EE9E6D3-90EB-6FEA-9B3B-3CC758E91C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F74986E-1037-D6DB-D933-786F60A51D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942170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DD6E7-737D-D882-4FD8-E3B2E178F8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6AE05C8-13C7-EDB6-E5B6-625678527C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E14C7AF-A844-0436-DDBC-089CAC19D0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828F305-ABA0-767B-12CB-F0A32D2DC1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688152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4761D-F717-10D4-EDA3-2B9F9D0DE8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FED7B16-76B9-1F3C-59B4-559B252C17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CD4BBB6-5072-83D4-6313-D6EC363148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2EB13D8-2FEE-11F7-FBBE-9128C6FFE6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5816775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1FBB85-D33F-7374-F67A-C8C9B6A693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F5D622B-815A-2180-79F1-12D5E2BE63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21B4D4A-E9F3-B71F-2A59-1962C49C75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5CEEE48-2199-BC00-7EFD-75C3AC72CF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39378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31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461502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2A6245-DB9A-F47F-B14D-0B353890D5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0FE06F2-0A71-D07E-F1A3-2FF464C7E1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78A2ADC-24A1-8673-9D45-E11229EDE4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833A2E1-D5E5-BE03-303E-F5545C46DB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32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7821094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A59E3B-3D2F-9DC3-D40B-07AAB67B6F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1061D2B-F2C6-2703-8A04-C3C36FC065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FE12116-01AE-737B-BF1F-EBA70485FF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DA9BAEA-192D-7A89-D611-378392EF7A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33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6718535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BB58D9-1E7B-8D02-EE5C-019730E14E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34AE8D9-C875-820E-D04A-0F4946EDFB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0A96155-5604-4EC0-A2C2-2D30699D9D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1A954AA-74F0-521C-8EB2-F497FBCA44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34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006563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A16686-73B2-2FD0-2673-9BDC1D000F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2A6E402-2092-EAE6-7523-59B91FCA53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D1DA056-7B31-0AD2-6183-A7204872FA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840613D-FA93-BE9D-A284-99E622409C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35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76741869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36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284500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52B747-2D87-F7A2-C407-F3311E867D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E00FD61-2A70-74E2-0184-B7390E65D7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E85EB6D-4E31-26AC-D723-885CB48FFB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6F4AB6C-0325-A5BA-827A-95D35852553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37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9925283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D9A02B-016D-8A41-BC8B-A0A34E71CD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6EF15B9-4ABD-0637-A623-39A417F3F3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8F8B715-9B1A-70E2-85E5-EFA65E52F1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89D98EF-B398-3C8B-2875-782FFD1821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38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9032604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7CFDFA-9BED-DED7-91DA-C0756141B3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DFD1FDF-043F-A493-897D-C0166A0E48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F012544-F95D-EEF9-F5C9-385D8A4E0D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5B43907-6542-B02B-2659-B7A165B095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39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8594432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CA5AC7-FD01-10F0-9F67-F2596330B0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AE8D0B2-F3E8-5268-2B9F-7BFA45D34D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011D7D7-9E32-F38F-A6E6-5C444D778C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689128D-7B41-E0EC-FBD6-939A7D1B4B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40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355899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41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533270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2" name="Google Shape;1172;g3d412ffb079_0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40188" y="857250"/>
            <a:ext cx="4113212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3" name="Google Shape;1173;g3d412ffb079_0_61:notes"/>
          <p:cNvSpPr txBox="1">
            <a:spLocks noGrp="1"/>
          </p:cNvSpPr>
          <p:nvPr>
            <p:ph type="body" idx="1"/>
          </p:nvPr>
        </p:nvSpPr>
        <p:spPr>
          <a:xfrm>
            <a:off x="1219200" y="3300413"/>
            <a:ext cx="9753600" cy="27003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4" name="Google Shape;1174;g3d412ffb079_0_61:notes"/>
          <p:cNvSpPr txBox="1">
            <a:spLocks noGrp="1"/>
          </p:cNvSpPr>
          <p:nvPr>
            <p:ph type="sldNum" idx="12"/>
          </p:nvPr>
        </p:nvSpPr>
        <p:spPr>
          <a:xfrm>
            <a:off x="6905625" y="6513513"/>
            <a:ext cx="5283300" cy="3444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42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microsoft.com/office/2007/relationships/hdphoto" Target="../media/hdphoto1.wdp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object 2">
            <a:extLst>
              <a:ext uri="{FF2B5EF4-FFF2-40B4-BE49-F238E27FC236}">
                <a16:creationId xmlns:a16="http://schemas.microsoft.com/office/drawing/2014/main" id="{D279837B-A00B-4327-9AB8-97044CBDABA7}"/>
              </a:ext>
            </a:extLst>
          </p:cNvPr>
          <p:cNvPicPr/>
          <p:nvPr userDrawn="1"/>
        </p:nvPicPr>
        <p:blipFill rotWithShape="1">
          <a:blip r:embed="rId2"/>
          <a:stretch>
            <a:fillRect/>
          </a:stretch>
        </p:blipFill>
        <p:spPr>
          <a:xfrm>
            <a:off x="0" y="228731"/>
            <a:ext cx="12192000" cy="6400538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4B17CE84-3562-483D-8448-6A30899AF09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19699" b="22132"/>
          <a:stretch/>
        </p:blipFill>
        <p:spPr>
          <a:xfrm>
            <a:off x="3461866" y="5273477"/>
            <a:ext cx="4168803" cy="982769"/>
          </a:xfrm>
          <a:prstGeom prst="rect">
            <a:avLst/>
          </a:prstGeom>
        </p:spPr>
      </p:pic>
      <p:pic>
        <p:nvPicPr>
          <p:cNvPr id="8" name="object 4">
            <a:extLst>
              <a:ext uri="{FF2B5EF4-FFF2-40B4-BE49-F238E27FC236}">
                <a16:creationId xmlns:a16="http://schemas.microsoft.com/office/drawing/2014/main" id="{8EF8DD5B-0316-4193-BCC7-D6CFCAE8969D}"/>
              </a:ext>
            </a:extLst>
          </p:cNvPr>
          <p:cNvPicPr/>
          <p:nvPr userDrawn="1"/>
        </p:nvPicPr>
        <p:blipFill rotWithShape="1">
          <a:blip r:embed="rId4"/>
          <a:stretch>
            <a:fillRect/>
          </a:stretch>
        </p:blipFill>
        <p:spPr>
          <a:xfrm>
            <a:off x="-277376" y="5274173"/>
            <a:ext cx="4550839" cy="992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85786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그룹 23">
            <a:extLst>
              <a:ext uri="{FF2B5EF4-FFF2-40B4-BE49-F238E27FC236}">
                <a16:creationId xmlns:a16="http://schemas.microsoft.com/office/drawing/2014/main" id="{5EC22856-02EF-4559-9B66-BD5C863FF254}"/>
              </a:ext>
            </a:extLst>
          </p:cNvPr>
          <p:cNvGrpSpPr/>
          <p:nvPr userDrawn="1"/>
        </p:nvGrpSpPr>
        <p:grpSpPr>
          <a:xfrm>
            <a:off x="-8467" y="6463089"/>
            <a:ext cx="12200467" cy="403574"/>
            <a:chOff x="-8467" y="6470661"/>
            <a:chExt cx="12200467" cy="390527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0DFE1C4B-A7EE-47E1-8AAE-3EF4E43D16F6}"/>
                </a:ext>
              </a:extLst>
            </p:cNvPr>
            <p:cNvSpPr/>
            <p:nvPr userDrawn="1"/>
          </p:nvSpPr>
          <p:spPr>
            <a:xfrm>
              <a:off x="0" y="6496062"/>
              <a:ext cx="12192000" cy="365126"/>
            </a:xfrm>
            <a:prstGeom prst="rect">
              <a:avLst/>
            </a:prstGeom>
            <a:solidFill>
              <a:srgbClr val="1F346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5" name="직선 연결선 14">
              <a:extLst>
                <a:ext uri="{FF2B5EF4-FFF2-40B4-BE49-F238E27FC236}">
                  <a16:creationId xmlns:a16="http://schemas.microsoft.com/office/drawing/2014/main" id="{28C131E4-1CD9-49D8-B343-8379436586C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8467" y="6470661"/>
              <a:ext cx="12200467" cy="0"/>
            </a:xfrm>
            <a:prstGeom prst="line">
              <a:avLst/>
            </a:prstGeom>
            <a:ln w="5715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제목 1">
            <a:extLst>
              <a:ext uri="{FF2B5EF4-FFF2-40B4-BE49-F238E27FC236}">
                <a16:creationId xmlns:a16="http://schemas.microsoft.com/office/drawing/2014/main" id="{FE4F955D-C3E9-4033-8442-9095377B06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8000" y="365126"/>
            <a:ext cx="11176000" cy="532342"/>
          </a:xfrm>
        </p:spPr>
        <p:txBody>
          <a:bodyPr>
            <a:normAutofit/>
          </a:bodyPr>
          <a:lstStyle>
            <a:lvl1pPr>
              <a:defRPr sz="2400" b="1">
                <a:solidFill>
                  <a:srgbClr val="02367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Arial" panose="020B0604020202020204" pitchFamily="34" charset="0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CA482F1-FC12-443E-892A-B48F9C50AA5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08000" y="897468"/>
            <a:ext cx="11176000" cy="5063066"/>
          </a:xfrm>
        </p:spPr>
        <p:txBody>
          <a:bodyPr/>
          <a:lstStyle>
            <a:lvl1pPr>
              <a:lnSpc>
                <a:spcPct val="200000"/>
              </a:lnSpc>
              <a:defRPr sz="2000" b="0">
                <a:latin typeface="KoPub돋움체 Bold" panose="02020603020101020101" pitchFamily="18" charset="-127"/>
                <a:ea typeface="KoPub돋움체 Bold" panose="02020603020101020101" pitchFamily="18" charset="-127"/>
              </a:defRPr>
            </a:lvl1pPr>
            <a:lvl2pPr>
              <a:lnSpc>
                <a:spcPct val="150000"/>
              </a:lnSpc>
              <a:defRPr sz="18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2pPr>
            <a:lvl3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3pPr>
            <a:lvl4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4pPr>
            <a:lvl5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95A1225D-0BD8-42FD-A091-144615FF073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-583" b="3459"/>
          <a:stretch/>
        </p:blipFill>
        <p:spPr>
          <a:xfrm>
            <a:off x="5452198" y="6510701"/>
            <a:ext cx="1279135" cy="356658"/>
          </a:xfrm>
          <a:prstGeom prst="rect">
            <a:avLst/>
          </a:prstGeom>
          <a:solidFill>
            <a:srgbClr val="1F346B"/>
          </a:solidFill>
        </p:spPr>
      </p:pic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31EFF5A-1B85-42B1-95F5-C4213C5AD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04600" y="6517302"/>
            <a:ext cx="558800" cy="32139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F4AF89A-28FA-47FA-B28F-9A9C6913CB7A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DAEAB581-7B9E-4552-9BEC-BDB2FB36C0F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6482" b="96122" l="16219" r="85171">
                        <a14:foregroundMark x1="20111" y1="81440" x2="20111" y2="81440"/>
                        <a14:foregroundMark x1="16404" y1="81440" x2="16404" y2="81440"/>
                        <a14:foregroundMark x1="25950" y1="81717" x2="25950" y2="81717"/>
                        <a14:foregroundMark x1="35959" y1="86704" x2="35959" y2="86704"/>
                        <a14:foregroundMark x1="44300" y1="83657" x2="44300" y2="83657"/>
                        <a14:foregroundMark x1="53197" y1="73961" x2="53197" y2="73961"/>
                        <a14:foregroundMark x1="82947" y1="81717" x2="82947" y2="81717"/>
                        <a14:foregroundMark x1="85171" y1="87812" x2="85171" y2="8781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2517" t="63297" r="13176"/>
          <a:stretch/>
        </p:blipFill>
        <p:spPr>
          <a:xfrm>
            <a:off x="112017" y="6545265"/>
            <a:ext cx="1744133" cy="288231"/>
          </a:xfrm>
          <a:prstGeom prst="rect">
            <a:avLst/>
          </a:prstGeom>
        </p:spPr>
      </p:pic>
      <p:sp>
        <p:nvSpPr>
          <p:cNvPr id="16" name="날짜 개체 틀 3">
            <a:extLst>
              <a:ext uri="{FF2B5EF4-FFF2-40B4-BE49-F238E27FC236}">
                <a16:creationId xmlns:a16="http://schemas.microsoft.com/office/drawing/2014/main" id="{3920A115-BF94-4DB0-B759-905F580E6A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698025" y="6495439"/>
            <a:ext cx="1258711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7" name="바닥글 개체 틀 4">
            <a:extLst>
              <a:ext uri="{FF2B5EF4-FFF2-40B4-BE49-F238E27FC236}">
                <a16:creationId xmlns:a16="http://schemas.microsoft.com/office/drawing/2014/main" id="{CB761E04-ABC5-4F9B-B7F4-0370F3F02E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308348" y="6495439"/>
            <a:ext cx="1888067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764840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D0B4DC-8072-4B8E-A822-FE3A08C0D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D927B99-20C3-4D37-8275-EA6400E5C1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7C6CE84-6AD8-453A-AD6E-FEAF6049C1C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044141"/>
            <a:ext cx="2743200" cy="365125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49EF105-0337-4580-9111-FD2F527F97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044141"/>
            <a:ext cx="4114800" cy="365125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5">
            <a:extLst>
              <a:ext uri="{FF2B5EF4-FFF2-40B4-BE49-F238E27FC236}">
                <a16:creationId xmlns:a16="http://schemas.microsoft.com/office/drawing/2014/main" id="{AB31AF83-2C46-4BF6-B48E-DD76F99A3E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40800" y="6044141"/>
            <a:ext cx="2743200" cy="365125"/>
          </a:xfrm>
        </p:spPr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517793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8C8B6C-1DEF-4332-8A14-F6B6981FD9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078B35E-5C7A-4650-863C-461C8592BB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A0FC85E-DA01-4C94-8312-2EAB20EAB3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6ADE796-457C-4E05-BBB8-BC7FD13901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65A564A-D398-41C0-BEF2-5D2A53F37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BD0DB09-1DC7-4816-820B-2EDD19BADB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98322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073845-DA08-4E02-89E5-279477CDC1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FA0F8E2-8F9C-4936-8D92-FA7FE49702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9C35784-8D42-4310-8640-07C1BEB330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B31B950-6CB7-42DB-A303-B407EF83D2A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0F35007-CA56-4CB7-8C5F-CF3E2924C58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90CD9AE-54AB-44CB-8910-A70F24EB3A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42AFA608-2F47-4FBC-8A45-AC037C64C0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FEA635AC-BD3D-4D4A-AB07-EAABF50137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76600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D27486-42F6-4B67-8DF8-769971D09A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BBFFFA3-6C08-4D2B-B714-F2729D0D9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01B550E-4A2E-4405-8F29-A9633B7A92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40B985F-0B0F-472E-A18E-72C776E302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9097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5995497-1A46-4FDE-B4B1-CA2510A4E8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6BDDD35-FFDF-4936-8645-AC2A1F2AB0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A31037F-312F-4D9B-9119-F134F49B29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92111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062E35-F23E-4CDC-9C00-11DCB7E970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765F35A-C1B0-4F2A-8536-7C9C4EF9C0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6B6DFEF-5929-42A1-B17A-6AD3F1AC5E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8A33CA-A779-4AE7-8BB3-0DF9C81A74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1539BD6-447C-4ABC-97CC-BCC453A389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6A96239-5406-4F31-95AA-C4BD1AB505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80733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FCC7A7-4C8B-434F-9C38-C6E5AC9E37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97AD0D2C-AE0D-4BDF-B9E8-D91CD7556C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9F58740-6BDA-46A2-A629-765E7E175B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92C1AD5-7F55-4125-8A2F-BC07A86DA4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AB58409-227F-4B89-B306-5E32E6E4F5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7C64012-3A7B-4999-BA77-06258A04A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30372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54230E-387F-465D-9111-5F8ACFE1D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C53B19F-7C90-4073-858B-0BD87654EF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96123FE-787A-4904-AA9D-8ACC7B307B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F1EAC67-5F52-452E-9E50-F587C64817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50EEB5A-4207-4ADB-95D4-B87AA305BA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00714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4DACCBB6-C18F-485C-A53E-8683CFFE90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12DC10F-92E5-436B-9D63-2A68B11CB0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5DDDF8-BB20-4C9B-9571-A39BA7D6E9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354DDF5-9EDE-406E-BFC5-8359CD7084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B989F03-47B6-4B39-B0CA-2A216789CA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777190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A31B03D-0C42-48E6-948A-722C5EE3FD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95A6E46-0B48-4B44-9DA0-C7C1E05C33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0D4B93-E437-4DCC-9E09-16EA88BBC51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4A7A77E-05D0-4203-B655-9A2A21B58D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C09CEAC-52D1-4D7C-99C4-13222A951E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54859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comments" Target="../comments/commen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3">
            <a:extLst>
              <a:ext uri="{FF2B5EF4-FFF2-40B4-BE49-F238E27FC236}">
                <a16:creationId xmlns:a16="http://schemas.microsoft.com/office/drawing/2014/main" id="{4C14D9A0-1BB9-428F-B273-3CE24758593B}"/>
              </a:ext>
            </a:extLst>
          </p:cNvPr>
          <p:cNvSpPr txBox="1">
            <a:spLocks/>
          </p:cNvSpPr>
          <p:nvPr/>
        </p:nvSpPr>
        <p:spPr>
          <a:xfrm>
            <a:off x="417068" y="2062806"/>
            <a:ext cx="11387837" cy="398186"/>
          </a:xfrm>
          <a:prstGeom prst="rect">
            <a:avLst/>
          </a:prstGeom>
        </p:spPr>
        <p:txBody>
          <a:bodyPr vert="horz" wrap="square" lIns="0" tIns="13335" rIns="0" bIns="0">
            <a:sp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12700">
              <a:lnSpc>
                <a:spcPct val="100000"/>
              </a:lnSpc>
              <a:spcBef>
                <a:spcPts val="104"/>
              </a:spcBef>
              <a:defRPr/>
            </a:pPr>
            <a:r>
              <a:rPr lang="en-US" altLang="ko-KR" sz="2500" b="1" dirty="0">
                <a:solidFill>
                  <a:schemeClr val="lt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Arial" panose="020B0604020202020204" pitchFamily="34" charset="0"/>
              </a:rPr>
              <a:t>Linear &amp; Logistic Regression</a:t>
            </a: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94B21C1C-F3A0-440B-961E-968F2C77FB2A}"/>
              </a:ext>
            </a:extLst>
          </p:cNvPr>
          <p:cNvSpPr txBox="1"/>
          <p:nvPr/>
        </p:nvSpPr>
        <p:spPr>
          <a:xfrm>
            <a:off x="417068" y="3139177"/>
            <a:ext cx="7139940" cy="259045"/>
          </a:xfrm>
          <a:prstGeom prst="rect">
            <a:avLst/>
          </a:prstGeom>
        </p:spPr>
        <p:txBody>
          <a:bodyPr vert="horz" wrap="square" lIns="0" tIns="12700" rIns="0" bIns="0">
            <a:spAutoFit/>
          </a:bodyPr>
          <a:lstStyle/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600" dirty="0">
                <a:solidFill>
                  <a:schemeClr val="bg1">
                    <a:lumMod val="75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2026. 04. 30</a:t>
            </a:r>
          </a:p>
        </p:txBody>
      </p:sp>
      <p:sp>
        <p:nvSpPr>
          <p:cNvPr id="6" name="object 5">
            <a:extLst>
              <a:ext uri="{FF2B5EF4-FFF2-40B4-BE49-F238E27FC236}">
                <a16:creationId xmlns:a16="http://schemas.microsoft.com/office/drawing/2014/main" id="{63F70F93-076B-4BBC-B933-AC7768BB0AE5}"/>
              </a:ext>
            </a:extLst>
          </p:cNvPr>
          <p:cNvSpPr txBox="1"/>
          <p:nvPr/>
        </p:nvSpPr>
        <p:spPr>
          <a:xfrm>
            <a:off x="417068" y="3564777"/>
            <a:ext cx="7139940" cy="289823"/>
          </a:xfrm>
          <a:prstGeom prst="rect">
            <a:avLst/>
          </a:prstGeom>
        </p:spPr>
        <p:txBody>
          <a:bodyPr vert="horz" wrap="square" lIns="0" tIns="12700" rIns="0" bIns="0">
            <a:spAutoFit/>
          </a:bodyPr>
          <a:lstStyle/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800" b="1" dirty="0" err="1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JangHoon</a:t>
            </a:r>
            <a:r>
              <a:rPr lang="en-US" altLang="ko-KR" sz="1800" b="1" dirty="0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 Chun</a:t>
            </a:r>
          </a:p>
        </p:txBody>
      </p:sp>
      <p:sp>
        <p:nvSpPr>
          <p:cNvPr id="7" name="object 5">
            <a:extLst>
              <a:ext uri="{FF2B5EF4-FFF2-40B4-BE49-F238E27FC236}">
                <a16:creationId xmlns:a16="http://schemas.microsoft.com/office/drawing/2014/main" id="{CEB5E8A0-083F-4B6E-AA66-93BFFD6A8E1A}"/>
              </a:ext>
            </a:extLst>
          </p:cNvPr>
          <p:cNvSpPr txBox="1"/>
          <p:nvPr/>
        </p:nvSpPr>
        <p:spPr>
          <a:xfrm>
            <a:off x="417068" y="3978214"/>
            <a:ext cx="7139940" cy="1213153"/>
          </a:xfrm>
          <a:prstGeom prst="rect">
            <a:avLst/>
          </a:prstGeom>
        </p:spPr>
        <p:txBody>
          <a:bodyPr vert="horz" wrap="square" lIns="0" tIns="12700" rIns="0" bIns="0">
            <a:spAutoFit/>
          </a:bodyPr>
          <a:lstStyle/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600" dirty="0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Department of, Medical Device Engineering &amp; Management</a:t>
            </a:r>
          </a:p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600" dirty="0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Gangnam Severance Hospital,</a:t>
            </a:r>
          </a:p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600" dirty="0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Yonsei University College of Medicine</a:t>
            </a:r>
          </a:p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endParaRPr lang="en-US" altLang="ko-KR" sz="1600" b="1" dirty="0">
              <a:solidFill>
                <a:srgbClr val="FFFFFF"/>
              </a:solidFill>
              <a:latin typeface="KoPub돋움체 Medium" panose="02020603020101020101" pitchFamily="18" charset="-127"/>
              <a:ea typeface="KoPub돋움체 Medium" panose="02020603020101020101" pitchFamily="18" charset="-127"/>
              <a:cs typeface="Arial" panose="020B0604020202020204" pitchFamily="34" charset="0"/>
            </a:endParaRPr>
          </a:p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endParaRPr sz="1600" b="1" baseline="25000" dirty="0">
              <a:latin typeface="KoPub돋움체 Medium" panose="02020603020101020101" pitchFamily="18" charset="-127"/>
              <a:ea typeface="KoPub돋움체 Medium" panose="02020603020101020101" pitchFamily="18" charset="-127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88515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1. What’s discussed in the last meetings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4C152F-6AC6-4EBB-8679-327588602F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AEC Features Extracting</a:t>
            </a:r>
            <a:endParaRPr lang="en-US" altLang="ko-KR" dirty="0">
              <a:ea typeface="KoPub돋움체 Bold" panose="02020603020101020101"/>
            </a:endParaRPr>
          </a:p>
          <a:p>
            <a:r>
              <a:rPr lang="en-US" altLang="ko-KR" b="1" dirty="0"/>
              <a:t>Linear &amp; Logistic Regression (</a:t>
            </a:r>
            <a:r>
              <a:rPr lang="ko-KR" altLang="en-US" b="1" dirty="0" err="1"/>
              <a:t>단변량</a:t>
            </a:r>
            <a:r>
              <a:rPr lang="en-US" altLang="ko-KR" b="1" dirty="0"/>
              <a:t>, </a:t>
            </a:r>
            <a:r>
              <a:rPr lang="ko-KR" altLang="en-US" b="1" dirty="0" err="1"/>
              <a:t>다변량</a:t>
            </a:r>
            <a:r>
              <a:rPr lang="en-US" altLang="ko-KR" b="1" dirty="0"/>
              <a:t>)</a:t>
            </a:r>
          </a:p>
          <a:p>
            <a:r>
              <a:rPr lang="en-US" altLang="ko-KR" b="1" dirty="0"/>
              <a:t>Multivariable Analysis (</a:t>
            </a:r>
            <a:r>
              <a:rPr lang="ko-KR" altLang="en-US" b="1" dirty="0"/>
              <a:t>심화</a:t>
            </a:r>
            <a:r>
              <a:rPr lang="en-US" altLang="ko-KR" b="1" dirty="0"/>
              <a:t>)</a:t>
            </a:r>
          </a:p>
          <a:p>
            <a:pPr lvl="1"/>
            <a:r>
              <a:rPr lang="en-US" altLang="ko-KR" dirty="0"/>
              <a:t>Case1 [</a:t>
            </a:r>
            <a:r>
              <a:rPr lang="ko-KR" altLang="en-US" dirty="0"/>
              <a:t>성별</a:t>
            </a:r>
            <a:r>
              <a:rPr lang="en-US" altLang="ko-KR" dirty="0"/>
              <a:t>, </a:t>
            </a:r>
            <a:r>
              <a:rPr lang="ko-KR" altLang="en-US" dirty="0"/>
              <a:t>나이</a:t>
            </a:r>
            <a:r>
              <a:rPr lang="en-US" altLang="ko-KR" dirty="0"/>
              <a:t>], Case2 [+AEC features], Case3 [+</a:t>
            </a:r>
            <a:r>
              <a:rPr lang="ko-KR" altLang="en-US" dirty="0"/>
              <a:t>모델명</a:t>
            </a:r>
            <a:r>
              <a:rPr lang="en-US" altLang="ko-KR" dirty="0"/>
              <a:t>]</a:t>
            </a:r>
          </a:p>
          <a:p>
            <a:pPr lvl="1"/>
            <a:r>
              <a:rPr lang="ko-KR" altLang="en-US" dirty="0"/>
              <a:t>비교분석결과 </a:t>
            </a:r>
            <a:r>
              <a:rPr lang="en-US" altLang="ko-KR" dirty="0"/>
              <a:t>AEC</a:t>
            </a:r>
            <a:r>
              <a:rPr lang="ko-KR" altLang="en-US" dirty="0"/>
              <a:t> </a:t>
            </a:r>
            <a:r>
              <a:rPr lang="en-US" altLang="ko-KR" dirty="0"/>
              <a:t>feature</a:t>
            </a:r>
            <a:r>
              <a:rPr lang="ko-KR" altLang="en-US" dirty="0"/>
              <a:t>가 독립적으로 </a:t>
            </a:r>
            <a:r>
              <a:rPr lang="en-US" altLang="ko-KR" dirty="0"/>
              <a:t>TAMA </a:t>
            </a:r>
            <a:r>
              <a:rPr lang="ko-KR" altLang="en-US" dirty="0"/>
              <a:t>예측에 기여한다고 판단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191132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 Research</a:t>
            </a:r>
            <a:r>
              <a:rPr lang="ko-KR" altLang="en-US" dirty="0"/>
              <a:t> </a:t>
            </a:r>
            <a:r>
              <a:rPr lang="en-US" altLang="ko-KR" dirty="0"/>
              <a:t>Summary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4C152F-6AC6-4EBB-8679-327588602F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Clinic Data :  Age, Sex </a:t>
            </a:r>
            <a:r>
              <a:rPr lang="ko-KR" altLang="en-US" dirty="0"/>
              <a:t>→ </a:t>
            </a:r>
            <a:r>
              <a:rPr lang="en-US" altLang="ko-KR" dirty="0"/>
              <a:t>Age, Sex, BMI</a:t>
            </a:r>
          </a:p>
          <a:p>
            <a:pPr lvl="1"/>
            <a:r>
              <a:rPr lang="en-US" altLang="ko-KR" dirty="0"/>
              <a:t>BMI </a:t>
            </a:r>
            <a:r>
              <a:rPr lang="ko-KR" altLang="en-US" dirty="0"/>
              <a:t>교란변수 보정</a:t>
            </a:r>
            <a:endParaRPr lang="en-US" altLang="ko-KR" dirty="0"/>
          </a:p>
          <a:p>
            <a:r>
              <a:rPr lang="en-US" altLang="ko-KR" dirty="0"/>
              <a:t>AEC Features Extraction : </a:t>
            </a:r>
            <a:r>
              <a:rPr lang="ko-KR" altLang="en-US" dirty="0"/>
              <a:t>수동 → 자동 파이프라인 </a:t>
            </a:r>
            <a:r>
              <a:rPr lang="en-US" altLang="ko-KR" dirty="0"/>
              <a:t>(4</a:t>
            </a:r>
            <a:r>
              <a:rPr lang="ko-KR" altLang="en-US" dirty="0"/>
              <a:t>단계</a:t>
            </a:r>
            <a:r>
              <a:rPr lang="en-US" altLang="ko-KR" dirty="0"/>
              <a:t>)</a:t>
            </a:r>
          </a:p>
          <a:p>
            <a:pPr lvl="1"/>
            <a:r>
              <a:rPr lang="ko-KR" altLang="en-US" dirty="0" err="1"/>
              <a:t>다중공선성</a:t>
            </a:r>
            <a:r>
              <a:rPr lang="en-US" altLang="ko-KR" dirty="0"/>
              <a:t>, </a:t>
            </a:r>
            <a:r>
              <a:rPr lang="ko-KR" altLang="en-US" dirty="0" err="1"/>
              <a:t>과적합</a:t>
            </a:r>
            <a:r>
              <a:rPr lang="ko-KR" altLang="en-US" dirty="0"/>
              <a:t> 위험 제거</a:t>
            </a:r>
            <a:r>
              <a:rPr lang="en-US" altLang="ko-KR" dirty="0"/>
              <a:t>, </a:t>
            </a:r>
            <a:r>
              <a:rPr lang="ko-KR" altLang="en-US" dirty="0"/>
              <a:t>객관적 </a:t>
            </a:r>
            <a:r>
              <a:rPr lang="en-US" altLang="ko-KR" dirty="0"/>
              <a:t>Feature Selection</a:t>
            </a:r>
          </a:p>
          <a:p>
            <a:r>
              <a:rPr lang="ko-KR" altLang="en-US" dirty="0"/>
              <a:t>이전 </a:t>
            </a:r>
            <a:r>
              <a:rPr lang="en-US" altLang="ko-KR" dirty="0"/>
              <a:t>AEC Feature</a:t>
            </a:r>
            <a:r>
              <a:rPr lang="ko-KR" altLang="en-US" dirty="0"/>
              <a:t>와의 성능 비교</a:t>
            </a:r>
            <a:endParaRPr lang="en-US" altLang="ko-KR" dirty="0"/>
          </a:p>
          <a:p>
            <a:pPr lvl="1"/>
            <a:r>
              <a:rPr lang="ko-KR" altLang="en-US" dirty="0"/>
              <a:t>어떤 </a:t>
            </a:r>
            <a:r>
              <a:rPr lang="en-US" altLang="ko-KR" dirty="0"/>
              <a:t>AEC Feature Set</a:t>
            </a:r>
            <a:r>
              <a:rPr lang="ko-KR" altLang="en-US" dirty="0"/>
              <a:t>가 더 유용한지 정량 비교</a:t>
            </a:r>
            <a:endParaRPr lang="en-US" altLang="ko-KR" dirty="0"/>
          </a:p>
          <a:p>
            <a:pPr lvl="1"/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085115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2896658"/>
            <a:ext cx="11176000" cy="532342"/>
          </a:xfrm>
        </p:spPr>
        <p:txBody>
          <a:bodyPr>
            <a:noAutofit/>
          </a:bodyPr>
          <a:lstStyle/>
          <a:p>
            <a:r>
              <a:rPr lang="ko-KR" altLang="en-US" sz="4000" dirty="0"/>
              <a:t>연구 프로토타입 정의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210006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Research Overview – Main Study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4C152F-6AC6-4EBB-8679-327588602F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ko-KR" altLang="en-US" dirty="0"/>
              <a:t>연구 목적</a:t>
            </a:r>
            <a:endParaRPr lang="en-US" altLang="ko-KR" dirty="0"/>
          </a:p>
          <a:p>
            <a:pPr lvl="1"/>
            <a:r>
              <a:rPr lang="en-US" altLang="ko-KR" dirty="0"/>
              <a:t>Opportunistic CT Biomarker </a:t>
            </a:r>
            <a:r>
              <a:rPr lang="ko-KR" altLang="en-US" dirty="0"/>
              <a:t>기반 → </a:t>
            </a:r>
            <a:r>
              <a:rPr lang="en-US" altLang="ko-KR" dirty="0"/>
              <a:t>5</a:t>
            </a:r>
            <a:r>
              <a:rPr lang="ko-KR" altLang="en-US" dirty="0"/>
              <a:t>년 내 </a:t>
            </a:r>
            <a:r>
              <a:rPr lang="en-US" altLang="ko-KR" dirty="0"/>
              <a:t>vertebral compression fracture </a:t>
            </a:r>
            <a:r>
              <a:rPr lang="ko-KR" altLang="en-US" dirty="0"/>
              <a:t>예측</a:t>
            </a:r>
            <a:endParaRPr lang="en-US" altLang="ko-KR" dirty="0"/>
          </a:p>
          <a:p>
            <a:pPr lvl="1"/>
            <a:r>
              <a:rPr lang="en-US" altLang="ko-KR" dirty="0"/>
              <a:t>AEC</a:t>
            </a:r>
            <a:r>
              <a:rPr lang="ko-KR" altLang="en-US" dirty="0"/>
              <a:t>의 </a:t>
            </a:r>
            <a:r>
              <a:rPr lang="en-US" altLang="ko-KR" dirty="0"/>
              <a:t>incremental value </a:t>
            </a:r>
            <a:r>
              <a:rPr lang="ko-KR" altLang="en-US" dirty="0"/>
              <a:t>검증</a:t>
            </a:r>
            <a:endParaRPr lang="en-US" altLang="ko-KR" dirty="0"/>
          </a:p>
          <a:p>
            <a:r>
              <a:rPr lang="ko-KR" altLang="en-US" dirty="0"/>
              <a:t>데이터</a:t>
            </a:r>
            <a:endParaRPr lang="en-US" altLang="ko-KR" dirty="0"/>
          </a:p>
          <a:p>
            <a:pPr lvl="1"/>
            <a:r>
              <a:rPr lang="en-US" altLang="ko-KR" dirty="0"/>
              <a:t>Baseline APCT + follow-up imaging </a:t>
            </a:r>
            <a:r>
              <a:rPr lang="ko-KR" altLang="en-US" dirty="0"/>
              <a:t>보유 환자</a:t>
            </a:r>
            <a:endParaRPr lang="en-US" altLang="ko-KR" dirty="0"/>
          </a:p>
          <a:p>
            <a:pPr lvl="1"/>
            <a:r>
              <a:rPr lang="ko-KR" altLang="en-US" dirty="0"/>
              <a:t>주요 변수</a:t>
            </a:r>
            <a:r>
              <a:rPr lang="en-US" altLang="ko-KR" dirty="0"/>
              <a:t>: Age, Sex, AEC, Muscle, Bone Density </a:t>
            </a:r>
            <a:r>
              <a:rPr lang="ko-KR" altLang="en-US" dirty="0"/>
              <a:t>등</a:t>
            </a:r>
            <a:endParaRPr lang="en-US" altLang="ko-KR" dirty="0"/>
          </a:p>
          <a:p>
            <a:r>
              <a:rPr lang="ko-KR" altLang="en-US" dirty="0"/>
              <a:t>모델 구조</a:t>
            </a:r>
            <a:endParaRPr lang="en-US" altLang="ko-KR" dirty="0"/>
          </a:p>
          <a:p>
            <a:pPr lvl="1"/>
            <a:r>
              <a:rPr lang="en-US" altLang="ko-KR" dirty="0"/>
              <a:t>Model A: Age + Sex</a:t>
            </a:r>
          </a:p>
          <a:p>
            <a:pPr lvl="1"/>
            <a:r>
              <a:rPr lang="en-US" altLang="ko-KR" dirty="0"/>
              <a:t>Model B: + Bone</a:t>
            </a:r>
          </a:p>
          <a:p>
            <a:pPr lvl="1"/>
            <a:r>
              <a:rPr lang="en-US" altLang="ko-KR" dirty="0"/>
              <a:t>Model C: + Muscle</a:t>
            </a:r>
          </a:p>
          <a:p>
            <a:pPr lvl="1"/>
            <a:r>
              <a:rPr lang="en-US" altLang="ko-KR" dirty="0"/>
              <a:t>Model D: + AEC (</a:t>
            </a:r>
            <a:r>
              <a:rPr lang="ko-KR" altLang="en-US" dirty="0"/>
              <a:t>핵심 비교</a:t>
            </a:r>
            <a:r>
              <a:rPr lang="en-US" altLang="ko-KR" dirty="0"/>
              <a:t>)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652996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Research Overview – Pilot Feasibility Study (</a:t>
            </a:r>
            <a:r>
              <a:rPr lang="ko-KR" altLang="en-US" dirty="0"/>
              <a:t>현재 진행 연구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4C152F-6AC6-4EBB-8679-327588602F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연구 목적</a:t>
            </a:r>
            <a:endParaRPr lang="en-US" altLang="ko-KR" dirty="0"/>
          </a:p>
          <a:p>
            <a:pPr lvl="1"/>
            <a:r>
              <a:rPr lang="en-US" altLang="ko-KR" dirty="0"/>
              <a:t>AEC</a:t>
            </a:r>
            <a:r>
              <a:rPr lang="ko-KR" altLang="en-US" dirty="0"/>
              <a:t>가 단순 보조 변수인지 </a:t>
            </a:r>
            <a:r>
              <a:rPr lang="en-US" altLang="ko-KR" dirty="0"/>
              <a:t>vs </a:t>
            </a:r>
            <a:r>
              <a:rPr lang="ko-KR" altLang="en-US" dirty="0"/>
              <a:t>독립적인 </a:t>
            </a:r>
            <a:r>
              <a:rPr lang="en-US" altLang="ko-KR" dirty="0"/>
              <a:t>biomarker</a:t>
            </a:r>
            <a:r>
              <a:rPr lang="ko-KR" altLang="en-US" dirty="0"/>
              <a:t>인지 검증</a:t>
            </a:r>
            <a:endParaRPr lang="en-US" altLang="ko-KR" dirty="0"/>
          </a:p>
          <a:p>
            <a:pPr marL="457200" lvl="1" indent="0">
              <a:buNone/>
            </a:pPr>
            <a:r>
              <a:rPr lang="ko-KR" altLang="en-US" dirty="0"/>
              <a:t>→ 본 연구 모델 포함 가능성 평가</a:t>
            </a:r>
            <a:endParaRPr lang="en-US" altLang="ko-KR" dirty="0"/>
          </a:p>
          <a:p>
            <a:r>
              <a:rPr lang="ko-KR" altLang="en-US" dirty="0"/>
              <a:t>핵심 질문</a:t>
            </a:r>
            <a:endParaRPr lang="en-US" altLang="ko-KR" dirty="0"/>
          </a:p>
          <a:p>
            <a:pPr lvl="1"/>
            <a:r>
              <a:rPr lang="en-US" altLang="ko-KR" dirty="0"/>
              <a:t>AEC</a:t>
            </a:r>
            <a:r>
              <a:rPr lang="ko-KR" altLang="en-US" dirty="0"/>
              <a:t>는 </a:t>
            </a:r>
            <a:r>
              <a:rPr lang="en-US" altLang="ko-KR" dirty="0"/>
              <a:t>age/sex </a:t>
            </a:r>
            <a:r>
              <a:rPr lang="ko-KR" altLang="en-US" dirty="0"/>
              <a:t>이상 정보를 가지는가</a:t>
            </a:r>
            <a:r>
              <a:rPr lang="en-US" altLang="ko-KR" dirty="0"/>
              <a:t>?</a:t>
            </a:r>
          </a:p>
          <a:p>
            <a:pPr lvl="1"/>
            <a:r>
              <a:rPr lang="en-US" altLang="ko-KR" dirty="0"/>
              <a:t>Muscle/Bone</a:t>
            </a:r>
            <a:r>
              <a:rPr lang="ko-KR" altLang="en-US" dirty="0"/>
              <a:t>과 독립적 연관성이 존재하는가</a:t>
            </a:r>
            <a:r>
              <a:rPr lang="en-US" altLang="ko-KR" dirty="0"/>
              <a:t>?</a:t>
            </a:r>
          </a:p>
          <a:p>
            <a:pPr lvl="1"/>
            <a:r>
              <a:rPr lang="en-US" altLang="ko-KR" dirty="0"/>
              <a:t>Scanner/Center </a:t>
            </a:r>
            <a:r>
              <a:rPr lang="ko-KR" altLang="en-US" dirty="0"/>
              <a:t>보정 후에도 유지되는가</a:t>
            </a:r>
            <a:r>
              <a:rPr lang="en-US" altLang="ko-KR" dirty="0"/>
              <a:t>?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104373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Research Overview – Pilot Feasibility Study (</a:t>
            </a:r>
            <a:r>
              <a:rPr lang="ko-KR" altLang="en-US" dirty="0"/>
              <a:t>현재 진행 연구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4C152F-6AC6-4EBB-8679-327588602F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ko-KR" altLang="en-US" dirty="0"/>
              <a:t>분석 전략</a:t>
            </a:r>
            <a:endParaRPr lang="en-US" altLang="ko-KR" dirty="0"/>
          </a:p>
          <a:p>
            <a:pPr lvl="1"/>
            <a:r>
              <a:rPr lang="ko-KR" altLang="en-US" dirty="0"/>
              <a:t>분포 분석 </a:t>
            </a:r>
            <a:r>
              <a:rPr lang="en-US" altLang="ko-KR" dirty="0"/>
              <a:t>(AEC by </a:t>
            </a:r>
            <a:r>
              <a:rPr lang="ko-KR" altLang="en-US" dirty="0"/>
              <a:t>센터</a:t>
            </a:r>
            <a:r>
              <a:rPr lang="en-US" altLang="ko-KR" dirty="0"/>
              <a:t>, </a:t>
            </a:r>
            <a:r>
              <a:rPr lang="ko-KR" altLang="en-US" dirty="0"/>
              <a:t>성별</a:t>
            </a:r>
            <a:r>
              <a:rPr lang="en-US" altLang="ko-KR" dirty="0"/>
              <a:t>, </a:t>
            </a:r>
            <a:r>
              <a:rPr lang="ko-KR" altLang="en-US" dirty="0"/>
              <a:t>연령</a:t>
            </a:r>
            <a:r>
              <a:rPr lang="en-US" altLang="ko-KR" dirty="0"/>
              <a:t>) – Complete</a:t>
            </a:r>
          </a:p>
          <a:p>
            <a:pPr lvl="1"/>
            <a:r>
              <a:rPr lang="ko-KR" altLang="en-US" b="1" dirty="0"/>
              <a:t>회귀 분석 </a:t>
            </a:r>
            <a:r>
              <a:rPr lang="en-US" altLang="ko-KR" b="1" dirty="0"/>
              <a:t>(muscle area / attenuation / bone density ~ AEC + age + sex)</a:t>
            </a:r>
          </a:p>
          <a:p>
            <a:pPr lvl="1"/>
            <a:r>
              <a:rPr lang="ko-KR" altLang="en-US" b="1" dirty="0"/>
              <a:t>고급 분석</a:t>
            </a:r>
            <a:endParaRPr lang="en-US" altLang="ko-KR" b="1" dirty="0"/>
          </a:p>
          <a:p>
            <a:pPr lvl="2"/>
            <a:r>
              <a:rPr lang="en-US" altLang="ko-KR" b="1" dirty="0"/>
              <a:t>Multivariable (center, scanner </a:t>
            </a:r>
            <a:r>
              <a:rPr lang="ko-KR" altLang="en-US" b="1" dirty="0"/>
              <a:t>보정</a:t>
            </a:r>
            <a:r>
              <a:rPr lang="en-US" altLang="ko-KR" b="1" dirty="0"/>
              <a:t>)</a:t>
            </a:r>
          </a:p>
          <a:p>
            <a:pPr lvl="2"/>
            <a:r>
              <a:rPr lang="en-US" altLang="ko-KR" dirty="0"/>
              <a:t>Spline </a:t>
            </a:r>
            <a:r>
              <a:rPr lang="ko-KR" altLang="en-US" dirty="0"/>
              <a:t>분석 →</a:t>
            </a:r>
            <a:r>
              <a:rPr lang="en-US" altLang="ko-KR" dirty="0"/>
              <a:t> </a:t>
            </a:r>
            <a:r>
              <a:rPr lang="ko-KR" altLang="en-US" dirty="0"/>
              <a:t>비선형 관계 확인</a:t>
            </a:r>
            <a:endParaRPr lang="en-US" altLang="ko-KR" dirty="0"/>
          </a:p>
          <a:p>
            <a:pPr lvl="2"/>
            <a:r>
              <a:rPr lang="en-US" altLang="ko-KR" dirty="0"/>
              <a:t>Center-stratified </a:t>
            </a:r>
            <a:r>
              <a:rPr lang="ko-KR" altLang="en-US" dirty="0"/>
              <a:t>분석</a:t>
            </a:r>
            <a:endParaRPr lang="en-US" altLang="ko-KR" dirty="0"/>
          </a:p>
          <a:p>
            <a:r>
              <a:rPr lang="ko-KR" altLang="en-US" dirty="0"/>
              <a:t>결과물</a:t>
            </a:r>
            <a:endParaRPr lang="en-US" altLang="ko-KR" dirty="0"/>
          </a:p>
          <a:p>
            <a:pPr lvl="1"/>
            <a:r>
              <a:rPr lang="en-US" altLang="ko-KR" dirty="0"/>
              <a:t>AEC distribution plot</a:t>
            </a:r>
          </a:p>
          <a:p>
            <a:pPr lvl="1"/>
            <a:r>
              <a:rPr lang="en-US" altLang="ko-KR" dirty="0"/>
              <a:t>AEC vs biomarker scatter</a:t>
            </a:r>
          </a:p>
          <a:p>
            <a:pPr lvl="1"/>
            <a:r>
              <a:rPr lang="en-US" altLang="ko-KR" dirty="0"/>
              <a:t>Regression Table</a:t>
            </a:r>
          </a:p>
          <a:p>
            <a:pPr lvl="1"/>
            <a:r>
              <a:rPr lang="en-US" altLang="ko-KR" dirty="0"/>
              <a:t>Stratified Result Figure </a:t>
            </a:r>
            <a:r>
              <a:rPr lang="ko-KR" altLang="en-US" dirty="0"/>
              <a:t>등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79017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2896658"/>
            <a:ext cx="11176000" cy="532342"/>
          </a:xfrm>
        </p:spPr>
        <p:txBody>
          <a:bodyPr>
            <a:noAutofit/>
          </a:bodyPr>
          <a:lstStyle/>
          <a:p>
            <a:r>
              <a:rPr lang="ko-KR" altLang="en-US" sz="4000" dirty="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데이터 정리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258343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9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2F49DB3D-7569-41CE-98E6-0D040C938E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Data - </a:t>
            </a:r>
            <a:r>
              <a:rPr lang="ko-KR" altLang="en-US" dirty="0"/>
              <a:t>강남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3FB8A9B4-0370-4CA4-9AF7-A25EA9F5BC67}"/>
              </a:ext>
            </a:extLst>
          </p:cNvPr>
          <p:cNvGrpSpPr/>
          <p:nvPr/>
        </p:nvGrpSpPr>
        <p:grpSpPr>
          <a:xfrm>
            <a:off x="769620" y="1727033"/>
            <a:ext cx="10652760" cy="1874520"/>
            <a:chOff x="320040" y="1591057"/>
            <a:chExt cx="11247120" cy="1874520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39" name="Rectangle 5">
              <a:extLst>
                <a:ext uri="{FF2B5EF4-FFF2-40B4-BE49-F238E27FC236}">
                  <a16:creationId xmlns:a16="http://schemas.microsoft.com/office/drawing/2014/main" id="{BE12C57E-DDA6-448D-86BC-F1DC21EC5D54}"/>
                </a:ext>
              </a:extLst>
            </p:cNvPr>
            <p:cNvSpPr/>
            <p:nvPr/>
          </p:nvSpPr>
          <p:spPr>
            <a:xfrm>
              <a:off x="320040" y="1591057"/>
              <a:ext cx="3566160" cy="8686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E75B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9341836B-E0D9-4AAE-A183-22EFDBEB5A9F}"/>
                </a:ext>
              </a:extLst>
            </p:cNvPr>
            <p:cNvSpPr txBox="1"/>
            <p:nvPr/>
          </p:nvSpPr>
          <p:spPr>
            <a:xfrm>
              <a:off x="429768" y="1636777"/>
              <a:ext cx="338328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0" i="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총 </a:t>
              </a:r>
              <a:r>
                <a:rPr sz="1400" b="0" i="0" dirty="0" err="1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환자</a:t>
              </a:r>
              <a:r>
                <a:rPr sz="1400" b="0" i="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 수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FA0E5E16-BED6-4786-BA12-4B9DA00E5C69}"/>
                </a:ext>
              </a:extLst>
            </p:cNvPr>
            <p:cNvSpPr txBox="1"/>
            <p:nvPr/>
          </p:nvSpPr>
          <p:spPr>
            <a:xfrm>
              <a:off x="429768" y="1975105"/>
              <a:ext cx="3383280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1,</a:t>
              </a:r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365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명</a:t>
              </a:r>
            </a:p>
          </p:txBody>
        </p:sp>
        <p:sp>
          <p:nvSpPr>
            <p:cNvPr id="42" name="Rectangle 8">
              <a:extLst>
                <a:ext uri="{FF2B5EF4-FFF2-40B4-BE49-F238E27FC236}">
                  <a16:creationId xmlns:a16="http://schemas.microsoft.com/office/drawing/2014/main" id="{2BDD2FD2-D736-4432-A9D6-16A0A1C7E0A0}"/>
                </a:ext>
              </a:extLst>
            </p:cNvPr>
            <p:cNvSpPr/>
            <p:nvPr/>
          </p:nvSpPr>
          <p:spPr>
            <a:xfrm>
              <a:off x="4160520" y="1591057"/>
              <a:ext cx="3566160" cy="8686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E75B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393F3D5B-8095-49E6-98D3-E24267C25BDA}"/>
                </a:ext>
              </a:extLst>
            </p:cNvPr>
            <p:cNvSpPr txBox="1"/>
            <p:nvPr/>
          </p:nvSpPr>
          <p:spPr>
            <a:xfrm>
              <a:off x="4270248" y="1636777"/>
              <a:ext cx="338328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0" i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남성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43CA52CD-5E1B-4300-A6A1-8E0FB8D87ABE}"/>
                </a:ext>
              </a:extLst>
            </p:cNvPr>
            <p:cNvSpPr txBox="1"/>
            <p:nvPr/>
          </p:nvSpPr>
          <p:spPr>
            <a:xfrm>
              <a:off x="4270248" y="1975105"/>
              <a:ext cx="3383280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524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명 (3</a:t>
              </a:r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8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.</a:t>
              </a:r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4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%)</a:t>
              </a:r>
            </a:p>
          </p:txBody>
        </p:sp>
        <p:sp>
          <p:nvSpPr>
            <p:cNvPr id="45" name="Rectangle 11">
              <a:extLst>
                <a:ext uri="{FF2B5EF4-FFF2-40B4-BE49-F238E27FC236}">
                  <a16:creationId xmlns:a16="http://schemas.microsoft.com/office/drawing/2014/main" id="{20A8A9A3-5B0C-4B19-B70F-63963F3E6EDA}"/>
                </a:ext>
              </a:extLst>
            </p:cNvPr>
            <p:cNvSpPr/>
            <p:nvPr/>
          </p:nvSpPr>
          <p:spPr>
            <a:xfrm>
              <a:off x="8001000" y="1591057"/>
              <a:ext cx="3566160" cy="8686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E75B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40535323-FE78-4A6C-BA8C-0B802F73AE17}"/>
                </a:ext>
              </a:extLst>
            </p:cNvPr>
            <p:cNvSpPr txBox="1"/>
            <p:nvPr/>
          </p:nvSpPr>
          <p:spPr>
            <a:xfrm>
              <a:off x="8110727" y="1636777"/>
              <a:ext cx="338328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0" i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여성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D5D9754-A87E-43AF-A4C5-5CF4B1571F89}"/>
                </a:ext>
              </a:extLst>
            </p:cNvPr>
            <p:cNvSpPr txBox="1"/>
            <p:nvPr/>
          </p:nvSpPr>
          <p:spPr>
            <a:xfrm>
              <a:off x="8110727" y="1975105"/>
              <a:ext cx="3383280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841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명 (6</a:t>
              </a:r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1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.</a:t>
              </a:r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6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%)</a:t>
              </a:r>
            </a:p>
          </p:txBody>
        </p:sp>
        <p:sp>
          <p:nvSpPr>
            <p:cNvPr id="48" name="Rectangle 14">
              <a:extLst>
                <a:ext uri="{FF2B5EF4-FFF2-40B4-BE49-F238E27FC236}">
                  <a16:creationId xmlns:a16="http://schemas.microsoft.com/office/drawing/2014/main" id="{7A62C207-1358-4540-BAF7-886B262642A4}"/>
                </a:ext>
              </a:extLst>
            </p:cNvPr>
            <p:cNvSpPr/>
            <p:nvPr/>
          </p:nvSpPr>
          <p:spPr>
            <a:xfrm>
              <a:off x="320040" y="2596897"/>
              <a:ext cx="3566160" cy="8686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E75B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D247224A-B980-4279-B627-9DE525993057}"/>
                </a:ext>
              </a:extLst>
            </p:cNvPr>
            <p:cNvSpPr txBox="1"/>
            <p:nvPr/>
          </p:nvSpPr>
          <p:spPr>
            <a:xfrm>
              <a:off x="429768" y="2642617"/>
              <a:ext cx="338328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0" i="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CT </a:t>
              </a:r>
              <a:r>
                <a:rPr sz="1400" b="0" i="0" dirty="0" err="1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스캐너</a:t>
              </a:r>
              <a:r>
                <a:rPr sz="1400" b="0" i="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 </a:t>
              </a:r>
              <a:r>
                <a:rPr lang="en-US" sz="140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/ </a:t>
              </a:r>
              <a:r>
                <a:rPr lang="ko-KR" altLang="en-US" sz="140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주요 </a:t>
              </a:r>
              <a:r>
                <a:rPr lang="en-US" altLang="ko-KR" sz="1400" dirty="0" err="1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kVp</a:t>
              </a:r>
              <a:endParaRPr sz="1400" b="0" i="0" dirty="0">
                <a:solidFill>
                  <a:srgbClr val="2E75B6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3DF80006-189B-46B5-B51D-3D8BBBB8A175}"/>
                </a:ext>
              </a:extLst>
            </p:cNvPr>
            <p:cNvSpPr txBox="1"/>
            <p:nvPr/>
          </p:nvSpPr>
          <p:spPr>
            <a:xfrm>
              <a:off x="429768" y="2980945"/>
              <a:ext cx="3383280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31종</a:t>
              </a:r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 | 100 </a:t>
              </a:r>
              <a:r>
                <a:rPr lang="en-US" sz="1600" b="1" i="0" dirty="0" err="1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kVp</a:t>
              </a:r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 (93.3%)</a:t>
              </a:r>
              <a:endParaRPr sz="1600" b="1" i="0" dirty="0">
                <a:solidFill>
                  <a:srgbClr val="1A355E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51" name="Rectangle 17">
              <a:extLst>
                <a:ext uri="{FF2B5EF4-FFF2-40B4-BE49-F238E27FC236}">
                  <a16:creationId xmlns:a16="http://schemas.microsoft.com/office/drawing/2014/main" id="{4B6BE63E-0123-4F18-8E59-967505038D69}"/>
                </a:ext>
              </a:extLst>
            </p:cNvPr>
            <p:cNvSpPr/>
            <p:nvPr/>
          </p:nvSpPr>
          <p:spPr>
            <a:xfrm>
              <a:off x="4160520" y="2596897"/>
              <a:ext cx="3566160" cy="8686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E75B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0BA79CE8-F960-47A9-AC4D-67BD17CA8306}"/>
                </a:ext>
              </a:extLst>
            </p:cNvPr>
            <p:cNvSpPr txBox="1"/>
            <p:nvPr/>
          </p:nvSpPr>
          <p:spPr>
            <a:xfrm>
              <a:off x="4270248" y="2642617"/>
              <a:ext cx="338328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0" i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TAMA 범위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124F43EC-9CF1-44BF-9E3E-4BF33DCA13C3}"/>
                </a:ext>
              </a:extLst>
            </p:cNvPr>
            <p:cNvSpPr txBox="1"/>
            <p:nvPr/>
          </p:nvSpPr>
          <p:spPr>
            <a:xfrm>
              <a:off x="4270248" y="2980945"/>
              <a:ext cx="3383280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600" b="1" i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14 ~ 299 cm²</a:t>
              </a:r>
            </a:p>
          </p:txBody>
        </p:sp>
        <p:sp>
          <p:nvSpPr>
            <p:cNvPr id="54" name="Rectangle 20">
              <a:extLst>
                <a:ext uri="{FF2B5EF4-FFF2-40B4-BE49-F238E27FC236}">
                  <a16:creationId xmlns:a16="http://schemas.microsoft.com/office/drawing/2014/main" id="{1DC6C060-CEA6-4E72-A09E-83151C02FBFB}"/>
                </a:ext>
              </a:extLst>
            </p:cNvPr>
            <p:cNvSpPr/>
            <p:nvPr/>
          </p:nvSpPr>
          <p:spPr>
            <a:xfrm>
              <a:off x="8001000" y="2596897"/>
              <a:ext cx="3566160" cy="8686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E75B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0173FB4F-2768-4C0B-9D08-4D1348DEB512}"/>
                </a:ext>
              </a:extLst>
            </p:cNvPr>
            <p:cNvSpPr txBox="1"/>
            <p:nvPr/>
          </p:nvSpPr>
          <p:spPr>
            <a:xfrm>
              <a:off x="8110727" y="2642617"/>
              <a:ext cx="338328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0" i="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TAMA </a:t>
              </a:r>
              <a:r>
                <a:rPr sz="1400" b="0" i="0" dirty="0" err="1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평균</a:t>
              </a:r>
              <a:r>
                <a:rPr sz="1400" b="0" i="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 (</a:t>
              </a:r>
              <a:r>
                <a:rPr lang="en-US" sz="140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std</a:t>
              </a:r>
              <a:r>
                <a:rPr sz="1400" b="0" i="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)</a:t>
              </a: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0EBFA46C-0E8B-4078-B998-CFCF1C15E333}"/>
                </a:ext>
              </a:extLst>
            </p:cNvPr>
            <p:cNvSpPr txBox="1"/>
            <p:nvPr/>
          </p:nvSpPr>
          <p:spPr>
            <a:xfrm>
              <a:off x="8110727" y="2980945"/>
              <a:ext cx="3383280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122.5</a:t>
              </a:r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1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 (±30.4</a:t>
              </a:r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9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) cm²</a:t>
              </a:r>
            </a:p>
          </p:txBody>
        </p:sp>
      </p:grpSp>
      <p:graphicFrame>
        <p:nvGraphicFramePr>
          <p:cNvPr id="58" name="Table 24">
            <a:extLst>
              <a:ext uri="{FF2B5EF4-FFF2-40B4-BE49-F238E27FC236}">
                <a16:creationId xmlns:a16="http://schemas.microsoft.com/office/drawing/2014/main" id="{482DE016-3F1C-4650-8969-98555872D4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0427355"/>
              </p:ext>
            </p:extLst>
          </p:nvPr>
        </p:nvGraphicFramePr>
        <p:xfrm>
          <a:off x="769620" y="4041312"/>
          <a:ext cx="6408416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54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25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184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54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1548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1548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b="1" dirty="0" err="1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성별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N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mean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std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median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P25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P75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Male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524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149.52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27.46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150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132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166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F</a:t>
                      </a:r>
                      <a:r>
                        <a:rPr lang="en-US"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emale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841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104.</a:t>
                      </a:r>
                      <a:r>
                        <a:rPr lang="en-US"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69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15.7</a:t>
                      </a:r>
                      <a:r>
                        <a:rPr lang="en-US"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1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103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95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11</a:t>
                      </a:r>
                      <a:r>
                        <a:rPr lang="en-US" altLang="ko-KR"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4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" name="그룹 4">
            <a:extLst>
              <a:ext uri="{FF2B5EF4-FFF2-40B4-BE49-F238E27FC236}">
                <a16:creationId xmlns:a16="http://schemas.microsoft.com/office/drawing/2014/main" id="{6EC54C22-54C7-4731-BDAE-0EFC4B4170E3}"/>
              </a:ext>
            </a:extLst>
          </p:cNvPr>
          <p:cNvGrpSpPr/>
          <p:nvPr/>
        </p:nvGrpSpPr>
        <p:grpSpPr>
          <a:xfrm>
            <a:off x="7406640" y="4041312"/>
            <a:ext cx="4015740" cy="1572768"/>
            <a:chOff x="7406640" y="3694177"/>
            <a:chExt cx="4480560" cy="157276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59" name="Rectangle 25">
              <a:extLst>
                <a:ext uri="{FF2B5EF4-FFF2-40B4-BE49-F238E27FC236}">
                  <a16:creationId xmlns:a16="http://schemas.microsoft.com/office/drawing/2014/main" id="{5A932513-CAD4-42B2-A511-65EE77DD71BF}"/>
                </a:ext>
              </a:extLst>
            </p:cNvPr>
            <p:cNvSpPr/>
            <p:nvPr/>
          </p:nvSpPr>
          <p:spPr>
            <a:xfrm>
              <a:off x="7406640" y="3694177"/>
              <a:ext cx="4480560" cy="1572768"/>
            </a:xfrm>
            <a:prstGeom prst="rect">
              <a:avLst/>
            </a:prstGeom>
            <a:solidFill>
              <a:srgbClr val="1A355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950D8626-1C62-4DF4-92E7-901154E92F9F}"/>
                </a:ext>
              </a:extLst>
            </p:cNvPr>
            <p:cNvSpPr txBox="1"/>
            <p:nvPr/>
          </p:nvSpPr>
          <p:spPr>
            <a:xfrm>
              <a:off x="7543800" y="3739897"/>
              <a:ext cx="420624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200" b="1" i="0" dirty="0">
                  <a:solidFill>
                    <a:srgbClr val="FF7F27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Logistic Regression </a:t>
              </a:r>
              <a:r>
                <a:rPr lang="en-US" sz="1200" b="1" i="0" dirty="0">
                  <a:solidFill>
                    <a:srgbClr val="FF7F27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binary cutoff</a:t>
              </a:r>
              <a:endParaRPr sz="1200" b="1" i="0" dirty="0">
                <a:solidFill>
                  <a:srgbClr val="FF7F27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endParaRP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F8B5CF73-5AD1-47BB-9047-4C29B1832002}"/>
                </a:ext>
              </a:extLst>
            </p:cNvPr>
            <p:cNvSpPr txBox="1"/>
            <p:nvPr/>
          </p:nvSpPr>
          <p:spPr>
            <a:xfrm>
              <a:off x="7543800" y="4133089"/>
              <a:ext cx="4206240" cy="90024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• </a:t>
              </a:r>
              <a:r>
                <a:rPr lang="en-US" sz="120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Male</a:t>
              </a:r>
              <a:r>
                <a:rPr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: TAMA &lt; 1</a:t>
              </a:r>
              <a:r>
                <a:rPr lang="en-US" sz="120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32</a:t>
              </a:r>
              <a:r>
                <a:rPr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 cm²  →  Low Muscle (1)
•</a:t>
              </a:r>
              <a:r>
                <a:rPr lang="ko-KR" altLang="en-US"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 </a:t>
              </a:r>
              <a:r>
                <a:rPr lang="en-US" altLang="ko-KR"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Female</a:t>
              </a:r>
              <a:r>
                <a:rPr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: TAMA &lt; </a:t>
              </a:r>
              <a:r>
                <a:rPr lang="en-US" sz="120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95</a:t>
              </a:r>
              <a:r>
                <a:rPr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 cm²  →  Low Muscle (1)
• </a:t>
              </a:r>
              <a:r>
                <a:rPr sz="1200" b="0" i="0" dirty="0" err="1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양성</a:t>
              </a:r>
              <a:r>
                <a:rPr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 </a:t>
              </a:r>
              <a:r>
                <a:rPr sz="1200" b="0" i="0" dirty="0" err="1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비율</a:t>
              </a:r>
              <a:r>
                <a:rPr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: </a:t>
              </a:r>
              <a:r>
                <a:rPr lang="en-US"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322</a:t>
              </a:r>
              <a:r>
                <a:rPr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 / 1,</a:t>
              </a:r>
              <a:r>
                <a:rPr lang="en-US"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365</a:t>
              </a:r>
              <a:r>
                <a:rPr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 = </a:t>
              </a:r>
              <a:r>
                <a:rPr lang="en-US"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23</a:t>
              </a:r>
              <a:r>
                <a:rPr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.</a:t>
              </a:r>
              <a:r>
                <a:rPr lang="en-US"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6</a:t>
              </a:r>
              <a:r>
                <a:rPr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 %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665212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10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2F49DB3D-7569-41CE-98E6-0D040C938E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총 환자수가 </a:t>
            </a:r>
            <a:r>
              <a:rPr lang="en-US" altLang="ko-KR" dirty="0"/>
              <a:t>1,365</a:t>
            </a:r>
            <a:r>
              <a:rPr lang="ko-KR" altLang="en-US" dirty="0"/>
              <a:t>명인 이유</a:t>
            </a:r>
            <a:endParaRPr lang="en-US" altLang="ko-KR" dirty="0"/>
          </a:p>
          <a:p>
            <a:pPr lvl="1"/>
            <a:r>
              <a:rPr lang="en-US" altLang="ko-KR" dirty="0"/>
              <a:t>Clinic Data </a:t>
            </a:r>
            <a:r>
              <a:rPr lang="ko-KR" altLang="en-US" dirty="0"/>
              <a:t>수 </a:t>
            </a:r>
            <a:r>
              <a:rPr lang="en-US" altLang="ko-KR" dirty="0"/>
              <a:t>: 3,672 </a:t>
            </a:r>
            <a:r>
              <a:rPr lang="ko-KR" altLang="en-US" dirty="0"/>
              <a:t>→ 중복 </a:t>
            </a:r>
            <a:r>
              <a:rPr lang="en-US" altLang="ko-KR" dirty="0" err="1"/>
              <a:t>PatientID</a:t>
            </a:r>
            <a:r>
              <a:rPr lang="en-US" altLang="ko-KR" dirty="0"/>
              <a:t> </a:t>
            </a:r>
            <a:r>
              <a:rPr lang="ko-KR" altLang="en-US" dirty="0"/>
              <a:t>제거 </a:t>
            </a:r>
            <a:r>
              <a:rPr lang="en-US" altLang="ko-KR" dirty="0"/>
              <a:t>: 2,025 </a:t>
            </a:r>
            <a:r>
              <a:rPr lang="ko-KR" altLang="en-US" dirty="0"/>
              <a:t>→ </a:t>
            </a:r>
            <a:r>
              <a:rPr lang="en-US" altLang="ko-KR" dirty="0"/>
              <a:t>TAMA outlier(0, 1), BMI</a:t>
            </a:r>
            <a:r>
              <a:rPr lang="ko-KR" altLang="en-US" dirty="0"/>
              <a:t> 제거 </a:t>
            </a:r>
            <a:r>
              <a:rPr lang="en-US" altLang="ko-KR" dirty="0"/>
              <a:t>: 1,642</a:t>
            </a:r>
          </a:p>
          <a:p>
            <a:pPr lvl="1"/>
            <a:r>
              <a:rPr lang="en-US" altLang="ko-KR" dirty="0"/>
              <a:t>Axial Data </a:t>
            </a:r>
            <a:r>
              <a:rPr lang="ko-KR" altLang="en-US" dirty="0"/>
              <a:t>수 </a:t>
            </a:r>
            <a:r>
              <a:rPr lang="en-US" altLang="ko-KR" dirty="0"/>
              <a:t>: 1,642 </a:t>
            </a:r>
            <a:r>
              <a:rPr lang="ko-KR" altLang="en-US" dirty="0"/>
              <a:t>→ </a:t>
            </a:r>
            <a:r>
              <a:rPr lang="en-US" altLang="ko-KR" dirty="0"/>
              <a:t>Fixed Tube Current Value </a:t>
            </a:r>
            <a:r>
              <a:rPr lang="ko-KR" altLang="en-US" dirty="0"/>
              <a:t>제거 </a:t>
            </a:r>
            <a:r>
              <a:rPr lang="en-US" altLang="ko-KR" dirty="0"/>
              <a:t>: 1,365</a:t>
            </a:r>
          </a:p>
        </p:txBody>
      </p:sp>
    </p:spTree>
    <p:extLst>
      <p:ext uri="{BB962C8B-B14F-4D97-AF65-F5344CB8AC3E}">
        <p14:creationId xmlns:p14="http://schemas.microsoft.com/office/powerpoint/2010/main" val="13274457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589A79D3-6C6E-4C9C-5192-74A2A746330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823" y="1811867"/>
            <a:ext cx="7378419" cy="442705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11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2F49DB3D-7569-41CE-98E6-0D040C938E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CT </a:t>
            </a:r>
            <a:r>
              <a:rPr lang="ko-KR" altLang="en-US" dirty="0"/>
              <a:t>스캐너 모델 및 </a:t>
            </a:r>
            <a:r>
              <a:rPr lang="en-US" altLang="ko-KR" dirty="0" err="1"/>
              <a:t>kVp</a:t>
            </a:r>
            <a:r>
              <a:rPr lang="en-US" altLang="ko-KR" dirty="0"/>
              <a:t> </a:t>
            </a:r>
            <a:r>
              <a:rPr lang="ko-KR" altLang="en-US" dirty="0"/>
              <a:t>데이터 분포 </a:t>
            </a:r>
            <a:r>
              <a:rPr lang="en-US" altLang="ko-KR" dirty="0"/>
              <a:t>- </a:t>
            </a:r>
            <a:r>
              <a:rPr lang="ko-KR" altLang="en-US" dirty="0"/>
              <a:t>강남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FB89FDA-A353-493A-B9D5-D8613A24BF2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7242" y="1811868"/>
            <a:ext cx="4496158" cy="3556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5597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26BAEE-540D-67B5-2012-FA8FAD0F85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80948C-93BB-5162-77E1-A6DBD6C4A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EA8834E-C396-512B-D8A6-FEB2A3719E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12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594F712F-1DB0-B5A0-BE58-7BFD2221BF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Data - </a:t>
            </a:r>
            <a:r>
              <a:rPr lang="ko-KR" altLang="en-US" dirty="0"/>
              <a:t>신촌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8E3AF0F8-8A3D-9AE6-728E-3F5519570389}"/>
              </a:ext>
            </a:extLst>
          </p:cNvPr>
          <p:cNvGrpSpPr/>
          <p:nvPr/>
        </p:nvGrpSpPr>
        <p:grpSpPr>
          <a:xfrm>
            <a:off x="769620" y="1727033"/>
            <a:ext cx="10652760" cy="1874520"/>
            <a:chOff x="320040" y="1591057"/>
            <a:chExt cx="11247120" cy="1874520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39" name="Rectangle 5">
              <a:extLst>
                <a:ext uri="{FF2B5EF4-FFF2-40B4-BE49-F238E27FC236}">
                  <a16:creationId xmlns:a16="http://schemas.microsoft.com/office/drawing/2014/main" id="{74709CDB-3511-EB3A-EB8B-DF963D2B515F}"/>
                </a:ext>
              </a:extLst>
            </p:cNvPr>
            <p:cNvSpPr/>
            <p:nvPr/>
          </p:nvSpPr>
          <p:spPr>
            <a:xfrm>
              <a:off x="320040" y="1591057"/>
              <a:ext cx="3566160" cy="8686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E75B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29DAD80C-8BB0-BD76-4CD8-1E2A19475F0A}"/>
                </a:ext>
              </a:extLst>
            </p:cNvPr>
            <p:cNvSpPr txBox="1"/>
            <p:nvPr/>
          </p:nvSpPr>
          <p:spPr>
            <a:xfrm>
              <a:off x="429768" y="1636777"/>
              <a:ext cx="338328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0" i="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총 </a:t>
              </a:r>
              <a:r>
                <a:rPr sz="1400" b="0" i="0" dirty="0" err="1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환자</a:t>
              </a:r>
              <a:r>
                <a:rPr sz="1400" b="0" i="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 수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513777AE-C7E1-CE07-B746-19A75A1A8EE1}"/>
                </a:ext>
              </a:extLst>
            </p:cNvPr>
            <p:cNvSpPr txBox="1"/>
            <p:nvPr/>
          </p:nvSpPr>
          <p:spPr>
            <a:xfrm>
              <a:off x="429768" y="1975105"/>
              <a:ext cx="3383280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1,</a:t>
              </a:r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269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명</a:t>
              </a:r>
            </a:p>
          </p:txBody>
        </p:sp>
        <p:sp>
          <p:nvSpPr>
            <p:cNvPr id="42" name="Rectangle 8">
              <a:extLst>
                <a:ext uri="{FF2B5EF4-FFF2-40B4-BE49-F238E27FC236}">
                  <a16:creationId xmlns:a16="http://schemas.microsoft.com/office/drawing/2014/main" id="{9CDA1897-BED6-81E9-B864-D37489699BA6}"/>
                </a:ext>
              </a:extLst>
            </p:cNvPr>
            <p:cNvSpPr/>
            <p:nvPr/>
          </p:nvSpPr>
          <p:spPr>
            <a:xfrm>
              <a:off x="4160520" y="1591057"/>
              <a:ext cx="3566160" cy="8686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E75B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778CDC44-B827-AE00-4D82-C5AAAF0929B6}"/>
                </a:ext>
              </a:extLst>
            </p:cNvPr>
            <p:cNvSpPr txBox="1"/>
            <p:nvPr/>
          </p:nvSpPr>
          <p:spPr>
            <a:xfrm>
              <a:off x="4270248" y="1636777"/>
              <a:ext cx="338328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0" i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남성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D400DB57-6635-6B94-9E8D-6E2BDBEFAFFC}"/>
                </a:ext>
              </a:extLst>
            </p:cNvPr>
            <p:cNvSpPr txBox="1"/>
            <p:nvPr/>
          </p:nvSpPr>
          <p:spPr>
            <a:xfrm>
              <a:off x="4270248" y="1975105"/>
              <a:ext cx="3383280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600" b="1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638</a:t>
              </a:r>
              <a:r>
                <a:rPr lang="ko-KR" altLang="en-US" sz="1600" b="1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명 </a:t>
              </a:r>
              <a:r>
                <a:rPr lang="en-US" altLang="ko-KR" sz="1600" b="1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(50.2%)</a:t>
              </a:r>
            </a:p>
          </p:txBody>
        </p:sp>
        <p:sp>
          <p:nvSpPr>
            <p:cNvPr id="45" name="Rectangle 11">
              <a:extLst>
                <a:ext uri="{FF2B5EF4-FFF2-40B4-BE49-F238E27FC236}">
                  <a16:creationId xmlns:a16="http://schemas.microsoft.com/office/drawing/2014/main" id="{32141635-C4C2-7A98-989A-2541DBB4E694}"/>
                </a:ext>
              </a:extLst>
            </p:cNvPr>
            <p:cNvSpPr/>
            <p:nvPr/>
          </p:nvSpPr>
          <p:spPr>
            <a:xfrm>
              <a:off x="8001000" y="1591057"/>
              <a:ext cx="3566160" cy="8686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E75B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6C4F65FA-0C59-AD1B-0695-D13B08091D29}"/>
                </a:ext>
              </a:extLst>
            </p:cNvPr>
            <p:cNvSpPr txBox="1"/>
            <p:nvPr/>
          </p:nvSpPr>
          <p:spPr>
            <a:xfrm>
              <a:off x="8110727" y="1636777"/>
              <a:ext cx="338328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0" i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여성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5732E968-2554-EB9D-16F9-8131E5A09DCB}"/>
                </a:ext>
              </a:extLst>
            </p:cNvPr>
            <p:cNvSpPr txBox="1"/>
            <p:nvPr/>
          </p:nvSpPr>
          <p:spPr>
            <a:xfrm>
              <a:off x="8110727" y="1975105"/>
              <a:ext cx="3383280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600" b="1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631</a:t>
              </a:r>
              <a:r>
                <a:rPr lang="ko-KR" altLang="en-US" sz="1600" b="1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명 </a:t>
              </a:r>
              <a:r>
                <a:rPr lang="en-US" altLang="ko-KR" sz="1600" b="1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(49.8%)</a:t>
              </a:r>
            </a:p>
          </p:txBody>
        </p:sp>
        <p:sp>
          <p:nvSpPr>
            <p:cNvPr id="48" name="Rectangle 14">
              <a:extLst>
                <a:ext uri="{FF2B5EF4-FFF2-40B4-BE49-F238E27FC236}">
                  <a16:creationId xmlns:a16="http://schemas.microsoft.com/office/drawing/2014/main" id="{FA7CA55E-15DC-9D15-13B8-8A14AAC56E54}"/>
                </a:ext>
              </a:extLst>
            </p:cNvPr>
            <p:cNvSpPr/>
            <p:nvPr/>
          </p:nvSpPr>
          <p:spPr>
            <a:xfrm>
              <a:off x="320040" y="2596897"/>
              <a:ext cx="3566160" cy="8686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E75B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11880D5B-0F7C-4470-AA10-C6A33AA4198D}"/>
                </a:ext>
              </a:extLst>
            </p:cNvPr>
            <p:cNvSpPr txBox="1"/>
            <p:nvPr/>
          </p:nvSpPr>
          <p:spPr>
            <a:xfrm>
              <a:off x="429768" y="2642617"/>
              <a:ext cx="338328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0" i="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CT </a:t>
              </a:r>
              <a:r>
                <a:rPr sz="1400" b="0" i="0" dirty="0" err="1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스캐너</a:t>
              </a:r>
              <a:r>
                <a:rPr sz="1400" b="0" i="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 </a:t>
              </a:r>
              <a:r>
                <a:rPr lang="en-US" sz="140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/ </a:t>
              </a:r>
              <a:r>
                <a:rPr lang="ko-KR" altLang="en-US" sz="140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주요 </a:t>
              </a:r>
              <a:r>
                <a:rPr lang="en-US" altLang="ko-KR" sz="1400" dirty="0" err="1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kVp</a:t>
              </a:r>
              <a:endParaRPr sz="1400" b="0" i="0" dirty="0">
                <a:solidFill>
                  <a:srgbClr val="2E75B6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05208522-6278-D741-9B2F-262FBDEFC690}"/>
                </a:ext>
              </a:extLst>
            </p:cNvPr>
            <p:cNvSpPr txBox="1"/>
            <p:nvPr/>
          </p:nvSpPr>
          <p:spPr>
            <a:xfrm>
              <a:off x="429768" y="2980945"/>
              <a:ext cx="3383280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600" b="1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46</a:t>
              </a:r>
              <a:r>
                <a:rPr lang="ko-KR" altLang="en-US" sz="1600" b="1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종  </a:t>
              </a:r>
              <a:r>
                <a:rPr lang="en-US" altLang="ko-KR" sz="1600" b="1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|  100 </a:t>
              </a:r>
              <a:r>
                <a:rPr lang="en-US" altLang="ko-KR" sz="1600" b="1" dirty="0" err="1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kVp</a:t>
              </a:r>
              <a:r>
                <a:rPr lang="en-US" altLang="ko-KR" sz="1600" b="1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 (75.3%)</a:t>
              </a:r>
            </a:p>
          </p:txBody>
        </p:sp>
        <p:sp>
          <p:nvSpPr>
            <p:cNvPr id="51" name="Rectangle 17">
              <a:extLst>
                <a:ext uri="{FF2B5EF4-FFF2-40B4-BE49-F238E27FC236}">
                  <a16:creationId xmlns:a16="http://schemas.microsoft.com/office/drawing/2014/main" id="{7FA5140B-7E90-34EC-DBE2-FFF673BDF000}"/>
                </a:ext>
              </a:extLst>
            </p:cNvPr>
            <p:cNvSpPr/>
            <p:nvPr/>
          </p:nvSpPr>
          <p:spPr>
            <a:xfrm>
              <a:off x="4160520" y="2596897"/>
              <a:ext cx="3566160" cy="8686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E75B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3AEEF341-5712-B06D-4E32-C100545D2439}"/>
                </a:ext>
              </a:extLst>
            </p:cNvPr>
            <p:cNvSpPr txBox="1"/>
            <p:nvPr/>
          </p:nvSpPr>
          <p:spPr>
            <a:xfrm>
              <a:off x="4270248" y="2642617"/>
              <a:ext cx="338328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0" i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TAMA 범위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4D59BBC4-D670-C230-0E3D-6E9A8CC1071C}"/>
                </a:ext>
              </a:extLst>
            </p:cNvPr>
            <p:cNvSpPr txBox="1"/>
            <p:nvPr/>
          </p:nvSpPr>
          <p:spPr>
            <a:xfrm>
              <a:off x="4270248" y="2980945"/>
              <a:ext cx="3383280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600" b="1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29 ~ 279 cm²</a:t>
              </a:r>
            </a:p>
          </p:txBody>
        </p:sp>
        <p:sp>
          <p:nvSpPr>
            <p:cNvPr id="54" name="Rectangle 20">
              <a:extLst>
                <a:ext uri="{FF2B5EF4-FFF2-40B4-BE49-F238E27FC236}">
                  <a16:creationId xmlns:a16="http://schemas.microsoft.com/office/drawing/2014/main" id="{7EC843AF-ADFB-C9DF-BB2F-72BE02FB9E0F}"/>
                </a:ext>
              </a:extLst>
            </p:cNvPr>
            <p:cNvSpPr/>
            <p:nvPr/>
          </p:nvSpPr>
          <p:spPr>
            <a:xfrm>
              <a:off x="8001000" y="2596897"/>
              <a:ext cx="3566160" cy="8686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E75B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5089480E-2BC3-C771-0EC1-613CBF8B14EA}"/>
                </a:ext>
              </a:extLst>
            </p:cNvPr>
            <p:cNvSpPr txBox="1"/>
            <p:nvPr/>
          </p:nvSpPr>
          <p:spPr>
            <a:xfrm>
              <a:off x="8110727" y="2642617"/>
              <a:ext cx="338328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0" i="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TAMA </a:t>
              </a:r>
              <a:r>
                <a:rPr sz="1400" b="0" i="0" dirty="0" err="1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평균</a:t>
              </a:r>
              <a:r>
                <a:rPr sz="1400" b="0" i="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 (</a:t>
              </a:r>
              <a:r>
                <a:rPr lang="en-US" sz="140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std</a:t>
              </a:r>
              <a:r>
                <a:rPr sz="1400" b="0" i="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)</a:t>
              </a: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BAEC52FB-84B6-559A-4886-34A0FC2877A8}"/>
                </a:ext>
              </a:extLst>
            </p:cNvPr>
            <p:cNvSpPr txBox="1"/>
            <p:nvPr/>
          </p:nvSpPr>
          <p:spPr>
            <a:xfrm>
              <a:off x="8110727" y="2980945"/>
              <a:ext cx="3383280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600" b="1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126.25 (±30.82) cm²</a:t>
              </a:r>
            </a:p>
          </p:txBody>
        </p:sp>
      </p:grpSp>
      <p:graphicFrame>
        <p:nvGraphicFramePr>
          <p:cNvPr id="58" name="Table 24">
            <a:extLst>
              <a:ext uri="{FF2B5EF4-FFF2-40B4-BE49-F238E27FC236}">
                <a16:creationId xmlns:a16="http://schemas.microsoft.com/office/drawing/2014/main" id="{93111E9C-3E6D-1CC0-B18B-8040697D577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4930649"/>
              </p:ext>
            </p:extLst>
          </p:nvPr>
        </p:nvGraphicFramePr>
        <p:xfrm>
          <a:off x="769620" y="4041312"/>
          <a:ext cx="6408416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54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25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184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54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1548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1548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b="1" dirty="0" err="1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성별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N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mean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std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median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P25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P75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Male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63</a:t>
                      </a:r>
                      <a:r>
                        <a:rPr lang="en-US"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8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148.00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26.56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147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131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165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F</a:t>
                      </a:r>
                      <a:r>
                        <a:rPr lang="en-US"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emale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63</a:t>
                      </a:r>
                      <a:r>
                        <a:rPr lang="en-US"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104.33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15.46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95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114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" name="그룹 4">
            <a:extLst>
              <a:ext uri="{FF2B5EF4-FFF2-40B4-BE49-F238E27FC236}">
                <a16:creationId xmlns:a16="http://schemas.microsoft.com/office/drawing/2014/main" id="{B26F2A04-8962-095D-B8EE-17154B7B11AA}"/>
              </a:ext>
            </a:extLst>
          </p:cNvPr>
          <p:cNvGrpSpPr/>
          <p:nvPr/>
        </p:nvGrpSpPr>
        <p:grpSpPr>
          <a:xfrm>
            <a:off x="7406640" y="4041312"/>
            <a:ext cx="4015740" cy="1572768"/>
            <a:chOff x="7406640" y="3694177"/>
            <a:chExt cx="4480560" cy="157276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59" name="Rectangle 25">
              <a:extLst>
                <a:ext uri="{FF2B5EF4-FFF2-40B4-BE49-F238E27FC236}">
                  <a16:creationId xmlns:a16="http://schemas.microsoft.com/office/drawing/2014/main" id="{8BF55F90-37EC-EBF6-7013-6EC1F6B7A634}"/>
                </a:ext>
              </a:extLst>
            </p:cNvPr>
            <p:cNvSpPr/>
            <p:nvPr/>
          </p:nvSpPr>
          <p:spPr>
            <a:xfrm>
              <a:off x="7406640" y="3694177"/>
              <a:ext cx="4480560" cy="1572768"/>
            </a:xfrm>
            <a:prstGeom prst="rect">
              <a:avLst/>
            </a:prstGeom>
            <a:solidFill>
              <a:srgbClr val="1A355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34DDB249-E131-8FFF-FC85-77623C25CEAF}"/>
                </a:ext>
              </a:extLst>
            </p:cNvPr>
            <p:cNvSpPr txBox="1"/>
            <p:nvPr/>
          </p:nvSpPr>
          <p:spPr>
            <a:xfrm>
              <a:off x="7543800" y="3739897"/>
              <a:ext cx="420624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200" b="1" i="0" dirty="0">
                  <a:solidFill>
                    <a:srgbClr val="FF7F27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Logistic Regression </a:t>
              </a:r>
              <a:r>
                <a:rPr lang="en-US" sz="1200" b="1" i="0" dirty="0">
                  <a:solidFill>
                    <a:srgbClr val="FF7F27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binary cutoff</a:t>
              </a:r>
              <a:endParaRPr sz="1200" b="1" i="0" dirty="0">
                <a:solidFill>
                  <a:srgbClr val="FF7F27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endParaRP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6D2F29C0-3430-B09B-78DB-3454E73F31E6}"/>
                </a:ext>
              </a:extLst>
            </p:cNvPr>
            <p:cNvSpPr txBox="1"/>
            <p:nvPr/>
          </p:nvSpPr>
          <p:spPr>
            <a:xfrm>
              <a:off x="7543800" y="4133089"/>
              <a:ext cx="4206240" cy="90024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• </a:t>
              </a:r>
              <a:r>
                <a:rPr lang="en-US" sz="120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Male</a:t>
              </a:r>
              <a:r>
                <a:rPr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: TAMA &lt; 1</a:t>
              </a:r>
              <a:r>
                <a:rPr lang="en-US" sz="120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32</a:t>
              </a:r>
              <a:r>
                <a:rPr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 cm²  →  Low Muscle (1)
•</a:t>
              </a:r>
              <a:r>
                <a:rPr lang="ko-KR" altLang="en-US"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 </a:t>
              </a:r>
              <a:r>
                <a:rPr lang="en-US" altLang="ko-KR"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Female</a:t>
              </a:r>
              <a:r>
                <a:rPr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: TAMA &lt; </a:t>
              </a:r>
              <a:r>
                <a:rPr lang="en-US" sz="120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95</a:t>
              </a:r>
              <a:r>
                <a:rPr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 cm²  →  Low Muscle (1)
• </a:t>
              </a:r>
              <a:r>
                <a:rPr sz="1200" b="0" i="0" dirty="0" err="1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양성</a:t>
              </a:r>
              <a:r>
                <a:rPr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 </a:t>
              </a:r>
              <a:r>
                <a:rPr sz="1200" b="0" i="0" dirty="0" err="1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비율</a:t>
              </a:r>
              <a:r>
                <a:rPr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: </a:t>
              </a:r>
              <a:r>
                <a:rPr lang="en-US" altLang="ko-KR" sz="120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314 / 1,269 = 24.7 %</a:t>
              </a:r>
              <a:endParaRPr sz="1200" b="0" i="0" dirty="0">
                <a:solidFill>
                  <a:srgbClr val="FFFFFF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Bold" panose="00000800000000000000" pitchFamily="2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833443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217591-5C0D-5A51-134D-715536A904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9EA5533-F6F1-F9CD-797E-C2FA290BEC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C364F1-27A3-AB98-D76B-9096583CD1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13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4925A88E-9A76-1866-300E-75B3BD5837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총 환자수가 </a:t>
            </a:r>
            <a:r>
              <a:rPr lang="en-US" altLang="ko-KR" dirty="0"/>
              <a:t>1,269</a:t>
            </a:r>
            <a:r>
              <a:rPr lang="ko-KR" altLang="en-US" dirty="0"/>
              <a:t>명인 이유</a:t>
            </a:r>
            <a:endParaRPr lang="en-US" altLang="ko-KR" dirty="0"/>
          </a:p>
          <a:p>
            <a:pPr lvl="1"/>
            <a:r>
              <a:rPr lang="en-US" altLang="ko-KR" dirty="0"/>
              <a:t>Clinic Data </a:t>
            </a:r>
            <a:r>
              <a:rPr lang="ko-KR" altLang="en-US" dirty="0"/>
              <a:t>수 </a:t>
            </a:r>
            <a:r>
              <a:rPr lang="en-US" altLang="ko-KR" dirty="0"/>
              <a:t>: 3,162 </a:t>
            </a:r>
            <a:r>
              <a:rPr lang="ko-KR" altLang="en-US" dirty="0"/>
              <a:t>→ 중복 </a:t>
            </a:r>
            <a:r>
              <a:rPr lang="en-US" altLang="ko-KR" dirty="0" err="1"/>
              <a:t>PatientID</a:t>
            </a:r>
            <a:r>
              <a:rPr lang="en-US" altLang="ko-KR" dirty="0"/>
              <a:t> </a:t>
            </a:r>
            <a:r>
              <a:rPr lang="ko-KR" altLang="en-US" dirty="0"/>
              <a:t>제거 </a:t>
            </a:r>
            <a:r>
              <a:rPr lang="en-US" altLang="ko-KR" dirty="0"/>
              <a:t>: 3,162 </a:t>
            </a:r>
            <a:r>
              <a:rPr lang="ko-KR" altLang="en-US" dirty="0"/>
              <a:t>→ </a:t>
            </a:r>
            <a:r>
              <a:rPr lang="en-US" altLang="ko-KR" dirty="0"/>
              <a:t>TAMA, BMI </a:t>
            </a:r>
            <a:r>
              <a:rPr lang="ko-KR" altLang="en-US" dirty="0" err="1"/>
              <a:t>결측치</a:t>
            </a:r>
            <a:r>
              <a:rPr lang="ko-KR" altLang="en-US" dirty="0"/>
              <a:t> 제거 </a:t>
            </a:r>
            <a:r>
              <a:rPr lang="en-US" altLang="ko-KR" dirty="0"/>
              <a:t>: 2,254</a:t>
            </a:r>
          </a:p>
          <a:p>
            <a:pPr lvl="1"/>
            <a:r>
              <a:rPr lang="en-US" altLang="ko-KR" dirty="0"/>
              <a:t>Axial Data </a:t>
            </a:r>
            <a:r>
              <a:rPr lang="ko-KR" altLang="en-US" dirty="0"/>
              <a:t>수 </a:t>
            </a:r>
            <a:r>
              <a:rPr lang="en-US" altLang="ko-KR" dirty="0"/>
              <a:t>: 2,254 </a:t>
            </a:r>
            <a:r>
              <a:rPr lang="ko-KR" altLang="en-US" dirty="0"/>
              <a:t>→ </a:t>
            </a:r>
            <a:r>
              <a:rPr lang="en-US" altLang="ko-KR" dirty="0"/>
              <a:t>[Fixed | No] Tube Current Value </a:t>
            </a:r>
            <a:r>
              <a:rPr lang="ko-KR" altLang="en-US" dirty="0"/>
              <a:t>제거 </a:t>
            </a:r>
            <a:r>
              <a:rPr lang="en-US" altLang="ko-KR" dirty="0"/>
              <a:t>: 1,269</a:t>
            </a:r>
          </a:p>
        </p:txBody>
      </p:sp>
    </p:spTree>
    <p:extLst>
      <p:ext uri="{BB962C8B-B14F-4D97-AF65-F5344CB8AC3E}">
        <p14:creationId xmlns:p14="http://schemas.microsoft.com/office/powerpoint/2010/main" val="35673723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58461A-C233-43B7-338E-82A39EDF31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>
            <a:extLst>
              <a:ext uri="{FF2B5EF4-FFF2-40B4-BE49-F238E27FC236}">
                <a16:creationId xmlns:a16="http://schemas.microsoft.com/office/drawing/2014/main" id="{585EAB18-FCD9-0D20-39A8-0352ED13AA9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811868"/>
            <a:ext cx="7363535" cy="4427050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BC1F4BBC-90CD-A9A8-90E9-192C692B7D9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1811868"/>
            <a:ext cx="7363536" cy="442705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D95132E7-4DF0-CE49-08DF-B2CC98A637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9EACCD8-F2F4-A426-023A-0502919243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14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EB581E43-DDE9-8FD1-DC13-2E1E8CD8BC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CT </a:t>
            </a:r>
            <a:r>
              <a:rPr lang="ko-KR" altLang="en-US" dirty="0"/>
              <a:t>스캐너 모델 및 </a:t>
            </a:r>
            <a:r>
              <a:rPr lang="en-US" altLang="ko-KR" dirty="0" err="1"/>
              <a:t>kVp</a:t>
            </a:r>
            <a:r>
              <a:rPr lang="en-US" altLang="ko-KR" dirty="0"/>
              <a:t> </a:t>
            </a:r>
            <a:r>
              <a:rPr lang="ko-KR" altLang="en-US" dirty="0"/>
              <a:t>데이터 분포 </a:t>
            </a:r>
            <a:r>
              <a:rPr lang="en-US" altLang="ko-KR" dirty="0"/>
              <a:t>- </a:t>
            </a:r>
            <a:r>
              <a:rPr lang="ko-KR" altLang="en-US" dirty="0"/>
              <a:t>신촌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4CEE441-38AF-6F6C-F259-1C70D50A04D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1209" y="1811405"/>
            <a:ext cx="4279275" cy="355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561983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en-US" altLang="ko-KR"/>
              <a:t>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15</a:t>
            </a:fld>
            <a:endParaRPr lang="ko-KR" altLang="en-US" dirty="0"/>
          </a:p>
        </p:txBody>
      </p:sp>
      <p:sp>
        <p:nvSpPr>
          <p:cNvPr id="14" name="내용 개체 틀 2">
            <a:extLst>
              <a:ext uri="{FF2B5EF4-FFF2-40B4-BE49-F238E27FC236}">
                <a16:creationId xmlns:a16="http://schemas.microsoft.com/office/drawing/2014/main" id="{612BE9E3-6536-4FF8-AC4E-29FBCA148D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>
            <a:normAutofit fontScale="92500" lnSpcReduction="10000"/>
          </a:bodyPr>
          <a:lstStyle/>
          <a:p>
            <a:r>
              <a:rPr lang="en-US" altLang="ko-KR" b="1" dirty="0"/>
              <a:t>AEC Feature Extracting ~</a:t>
            </a:r>
            <a:r>
              <a:rPr lang="ko-KR" altLang="en-US" b="1" dirty="0"/>
              <a:t> </a:t>
            </a:r>
            <a:r>
              <a:rPr lang="en-US" altLang="ko-KR" b="1" dirty="0"/>
              <a:t>65 features</a:t>
            </a:r>
            <a:endParaRPr lang="en-US" altLang="ko-KR" dirty="0"/>
          </a:p>
          <a:p>
            <a:pPr lvl="1"/>
            <a:r>
              <a:rPr lang="en-US" altLang="ko-KR" dirty="0"/>
              <a:t>Signal Info</a:t>
            </a:r>
          </a:p>
          <a:p>
            <a:pPr lvl="2"/>
            <a:r>
              <a:rPr lang="en-US" altLang="ko-KR" dirty="0"/>
              <a:t>Signal length</a:t>
            </a:r>
          </a:p>
          <a:p>
            <a:pPr lvl="1"/>
            <a:r>
              <a:rPr lang="en-US" altLang="ko-KR" dirty="0"/>
              <a:t>Basic Statistics</a:t>
            </a:r>
          </a:p>
          <a:p>
            <a:pPr lvl="2"/>
            <a:r>
              <a:rPr lang="en-US" altLang="ko-KR" dirty="0"/>
              <a:t>mean, std, min, max, range, median, IQR, skewness, kurtosis</a:t>
            </a:r>
          </a:p>
          <a:p>
            <a:pPr lvl="2"/>
            <a:r>
              <a:rPr lang="en-US" altLang="ko-KR" dirty="0"/>
              <a:t>percentile (p5, p10, p25, p75, p90, p95), p90_p10_ratio</a:t>
            </a:r>
          </a:p>
          <a:p>
            <a:pPr lvl="2"/>
            <a:r>
              <a:rPr lang="en-US" altLang="ko-KR" dirty="0"/>
              <a:t>CV (Coefficient of Variation), RMSE, </a:t>
            </a:r>
            <a:r>
              <a:rPr lang="en-US" altLang="ko-KR" dirty="0" err="1"/>
              <a:t>signal_energy</a:t>
            </a:r>
            <a:r>
              <a:rPr lang="en-US" altLang="ko-KR" dirty="0"/>
              <a:t> (Sum of squared values), </a:t>
            </a:r>
            <a:r>
              <a:rPr lang="en-US" altLang="ko-KR" dirty="0" err="1"/>
              <a:t>mean_abs_deviation</a:t>
            </a:r>
            <a:endParaRPr lang="en-US" altLang="ko-KR" dirty="0"/>
          </a:p>
          <a:p>
            <a:pPr lvl="1"/>
            <a:r>
              <a:rPr lang="en-US" altLang="ko-KR" dirty="0"/>
              <a:t>Shape</a:t>
            </a:r>
          </a:p>
          <a:p>
            <a:pPr lvl="2"/>
            <a:r>
              <a:rPr lang="en-US" altLang="ko-KR" dirty="0"/>
              <a:t>peak (count, max, mean, std, </a:t>
            </a:r>
            <a:r>
              <a:rPr lang="en-US" altLang="ko-KR" dirty="0" err="1"/>
              <a:t>first_position</a:t>
            </a:r>
            <a:r>
              <a:rPr lang="en-US" altLang="ko-KR" dirty="0"/>
              <a:t>, </a:t>
            </a:r>
            <a:r>
              <a:rPr lang="en-US" altLang="ko-KR" dirty="0" err="1"/>
              <a:t>last_position</a:t>
            </a:r>
            <a:r>
              <a:rPr lang="en-US" altLang="ko-KR" dirty="0"/>
              <a:t>)</a:t>
            </a:r>
          </a:p>
          <a:p>
            <a:pPr lvl="2"/>
            <a:r>
              <a:rPr lang="en-US" altLang="ko-KR" dirty="0"/>
              <a:t>Slope (count, max, min, mean, std, </a:t>
            </a:r>
            <a:r>
              <a:rPr lang="en-US" altLang="ko-KR" dirty="0" err="1"/>
              <a:t>abs_mean</a:t>
            </a:r>
            <a:r>
              <a:rPr lang="en-US" altLang="ko-KR" dirty="0"/>
              <a:t>)</a:t>
            </a:r>
          </a:p>
          <a:p>
            <a:pPr lvl="2"/>
            <a:r>
              <a:rPr lang="en-US" altLang="ko-KR" dirty="0"/>
              <a:t>Valley count, AUC</a:t>
            </a:r>
          </a:p>
          <a:p>
            <a:pPr lvl="1"/>
            <a:r>
              <a:rPr lang="en-US" altLang="ko-KR" dirty="0"/>
              <a:t>Frequency &amp; Wavelet</a:t>
            </a:r>
          </a:p>
        </p:txBody>
      </p:sp>
    </p:spTree>
    <p:extLst>
      <p:ext uri="{BB962C8B-B14F-4D97-AF65-F5344CB8AC3E}">
        <p14:creationId xmlns:p14="http://schemas.microsoft.com/office/powerpoint/2010/main" val="27938191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D65BD2-87D5-C074-EAAD-D6924743BE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99DBCB-83BA-7224-5DD3-7B3DC26396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en-US" altLang="ko-KR"/>
              <a:t>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3B16D1B-6E8C-B89F-8724-DBEB8948FC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16</a:t>
            </a:fld>
            <a:endParaRPr lang="ko-KR" altLang="en-US" dirty="0"/>
          </a:p>
        </p:txBody>
      </p:sp>
      <p:sp>
        <p:nvSpPr>
          <p:cNvPr id="14" name="내용 개체 틀 2">
            <a:extLst>
              <a:ext uri="{FF2B5EF4-FFF2-40B4-BE49-F238E27FC236}">
                <a16:creationId xmlns:a16="http://schemas.microsoft.com/office/drawing/2014/main" id="{776DA4E4-00A3-E690-8224-10FF5B020C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>
            <a:normAutofit/>
          </a:bodyPr>
          <a:lstStyle/>
          <a:p>
            <a:r>
              <a:rPr lang="ko-KR" altLang="en-US" b="1" dirty="0"/>
              <a:t>수동 선택</a:t>
            </a:r>
            <a:endParaRPr lang="en-US" altLang="ko-KR" b="1" dirty="0"/>
          </a:p>
          <a:p>
            <a:pPr lvl="1"/>
            <a:r>
              <a:rPr lang="ko-KR" altLang="en-US" dirty="0"/>
              <a:t>전체 </a:t>
            </a:r>
            <a:r>
              <a:rPr lang="en-US" altLang="ko-KR" dirty="0"/>
              <a:t>AEC Feature vs</a:t>
            </a:r>
            <a:r>
              <a:rPr lang="ko-KR" altLang="en-US" dirty="0"/>
              <a:t> </a:t>
            </a:r>
            <a:r>
              <a:rPr lang="en-US" altLang="ko-KR" dirty="0"/>
              <a:t>TAMA</a:t>
            </a:r>
            <a:r>
              <a:rPr lang="ko-KR" altLang="en-US" dirty="0"/>
              <a:t>를 통해 </a:t>
            </a:r>
            <a:r>
              <a:rPr lang="en-US" altLang="ko-KR" dirty="0"/>
              <a:t>Pearson/Spearman </a:t>
            </a:r>
            <a:r>
              <a:rPr lang="ko-KR" altLang="en-US" dirty="0"/>
              <a:t>상관계수 </a:t>
            </a:r>
            <a:r>
              <a:rPr lang="en-US" altLang="ko-KR" dirty="0"/>
              <a:t>+ VIF </a:t>
            </a:r>
            <a:r>
              <a:rPr lang="ko-KR" altLang="en-US" dirty="0"/>
              <a:t>계산</a:t>
            </a:r>
            <a:endParaRPr lang="en-US" altLang="ko-KR" dirty="0"/>
          </a:p>
          <a:p>
            <a:pPr lvl="1"/>
            <a:r>
              <a:rPr lang="ko-KR" altLang="en-US" dirty="0">
                <a:solidFill>
                  <a:srgbClr val="1A1A2E"/>
                </a:solidFill>
              </a:rPr>
              <a:t>결과 확인 후 수동으로 </a:t>
            </a:r>
            <a:r>
              <a:rPr lang="en-US" altLang="ko-KR" dirty="0">
                <a:solidFill>
                  <a:srgbClr val="1A1A2E"/>
                </a:solidFill>
              </a:rPr>
              <a:t>feature </a:t>
            </a:r>
            <a:r>
              <a:rPr lang="ko-KR" altLang="en-US" dirty="0">
                <a:solidFill>
                  <a:srgbClr val="1A1A2E"/>
                </a:solidFill>
              </a:rPr>
              <a:t>선택</a:t>
            </a:r>
            <a:endParaRPr lang="en-US" altLang="ko-KR" dirty="0">
              <a:solidFill>
                <a:srgbClr val="1A1A2E"/>
              </a:solidFill>
            </a:endParaRPr>
          </a:p>
          <a:p>
            <a:pPr lvl="1"/>
            <a:r>
              <a:rPr lang="ko-KR" altLang="en-US" dirty="0">
                <a:solidFill>
                  <a:srgbClr val="1A1A2E"/>
                </a:solidFill>
              </a:rPr>
              <a:t>단일 병원</a:t>
            </a:r>
            <a:r>
              <a:rPr lang="en-US" altLang="ko-KR" dirty="0">
                <a:solidFill>
                  <a:srgbClr val="1A1A2E"/>
                </a:solidFill>
              </a:rPr>
              <a:t>(</a:t>
            </a:r>
            <a:r>
              <a:rPr lang="ko-KR" altLang="en-US" dirty="0">
                <a:solidFill>
                  <a:srgbClr val="1A1A2E"/>
                </a:solidFill>
              </a:rPr>
              <a:t>강남</a:t>
            </a:r>
            <a:r>
              <a:rPr lang="en-US" altLang="ko-KR" dirty="0">
                <a:solidFill>
                  <a:srgbClr val="1A1A2E"/>
                </a:solidFill>
              </a:rPr>
              <a:t>)</a:t>
            </a:r>
            <a:r>
              <a:rPr lang="ko-KR" altLang="en-US" dirty="0">
                <a:solidFill>
                  <a:srgbClr val="1A1A2E"/>
                </a:solidFill>
              </a:rPr>
              <a:t>만 분석</a:t>
            </a:r>
            <a:endParaRPr lang="en-US" altLang="ko-KR" dirty="0">
              <a:solidFill>
                <a:srgbClr val="1A1A2E"/>
              </a:solidFill>
            </a:endParaRPr>
          </a:p>
          <a:p>
            <a:pPr lvl="1"/>
            <a:r>
              <a:rPr lang="ko-KR" altLang="en-US" dirty="0">
                <a:solidFill>
                  <a:srgbClr val="1A1A2E"/>
                </a:solidFill>
              </a:rPr>
              <a:t>선택 결과</a:t>
            </a:r>
            <a:r>
              <a:rPr lang="en-US" altLang="ko-KR" dirty="0">
                <a:solidFill>
                  <a:srgbClr val="1A1A2E"/>
                </a:solidFill>
              </a:rPr>
              <a:t>:  ['mean', 'CV', 'skewness', '</a:t>
            </a:r>
            <a:r>
              <a:rPr lang="en-US" altLang="ko-KR" dirty="0" err="1">
                <a:solidFill>
                  <a:srgbClr val="1A1A2E"/>
                </a:solidFill>
              </a:rPr>
              <a:t>slope_abs_mean</a:t>
            </a:r>
            <a:r>
              <a:rPr lang="en-US" altLang="ko-KR" dirty="0">
                <a:solidFill>
                  <a:srgbClr val="1A1A2E"/>
                </a:solidFill>
              </a:rPr>
              <a:t>']</a:t>
            </a:r>
            <a:endParaRPr lang="ko-KR" altLang="en-US" dirty="0">
              <a:solidFill>
                <a:srgbClr val="1A1A2E"/>
              </a:solidFill>
            </a:endParaRPr>
          </a:p>
          <a:p>
            <a:pPr lvl="1"/>
            <a:endParaRPr lang="en-US" altLang="ko-KR" dirty="0">
              <a:solidFill>
                <a:srgbClr val="1A1A2E"/>
              </a:solidFill>
            </a:endParaRPr>
          </a:p>
          <a:p>
            <a:pPr lvl="1"/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09921952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896C61-0560-DFF9-6385-475BEB734F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859806-4F9B-C58F-568A-671515A8C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en-US" altLang="ko-KR"/>
              <a:t>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958E39A-2CEC-3AE7-D3E9-EFF1EDC0A0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17</a:t>
            </a:fld>
            <a:endParaRPr lang="ko-KR" altLang="en-US" dirty="0"/>
          </a:p>
        </p:txBody>
      </p:sp>
      <p:sp>
        <p:nvSpPr>
          <p:cNvPr id="14" name="내용 개체 틀 2">
            <a:extLst>
              <a:ext uri="{FF2B5EF4-FFF2-40B4-BE49-F238E27FC236}">
                <a16:creationId xmlns:a16="http://schemas.microsoft.com/office/drawing/2014/main" id="{30577F5C-B21D-CABE-BC19-67450CCB75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>
            <a:normAutofit/>
          </a:bodyPr>
          <a:lstStyle/>
          <a:p>
            <a:r>
              <a:rPr lang="ko-KR" altLang="en-US" b="1" dirty="0"/>
              <a:t>자동 파이프라인</a:t>
            </a:r>
            <a:endParaRPr lang="en-US" altLang="ko-KR" b="1" dirty="0"/>
          </a:p>
          <a:p>
            <a:pPr lvl="1"/>
            <a:r>
              <a:rPr lang="en-US" altLang="ko-KR" dirty="0"/>
              <a:t>Step 1 : Near-zero</a:t>
            </a:r>
            <a:r>
              <a:rPr lang="ko-KR" altLang="en-US" dirty="0"/>
              <a:t> </a:t>
            </a:r>
            <a:r>
              <a:rPr lang="en-US" altLang="ko-KR" dirty="0"/>
              <a:t>variance</a:t>
            </a:r>
            <a:r>
              <a:rPr lang="ko-KR" altLang="en-US" dirty="0"/>
              <a:t> 제거</a:t>
            </a:r>
            <a:r>
              <a:rPr lang="en-US" altLang="ko-KR" dirty="0"/>
              <a:t> (</a:t>
            </a:r>
            <a:r>
              <a:rPr lang="ko-KR" altLang="en-US" dirty="0"/>
              <a:t>표준화 후 </a:t>
            </a:r>
            <a:r>
              <a:rPr lang="en-US" altLang="ko-KR" dirty="0"/>
              <a:t>threshold=0.01)</a:t>
            </a:r>
          </a:p>
          <a:p>
            <a:pPr lvl="1"/>
            <a:r>
              <a:rPr lang="en-US" altLang="ko-KR" dirty="0"/>
              <a:t>Step 2 : </a:t>
            </a:r>
            <a:r>
              <a:rPr lang="en-US" altLang="ko-KR" dirty="0">
                <a:solidFill>
                  <a:srgbClr val="1A1A2E"/>
                </a:solidFill>
              </a:rPr>
              <a:t>Pearson |r| ≥ 0.95 </a:t>
            </a:r>
            <a:r>
              <a:rPr lang="ko-KR" altLang="en-US" dirty="0">
                <a:solidFill>
                  <a:srgbClr val="1A1A2E"/>
                </a:solidFill>
              </a:rPr>
              <a:t>중복 피처 제거 </a:t>
            </a:r>
            <a:r>
              <a:rPr lang="en-US" altLang="ko-KR" dirty="0">
                <a:solidFill>
                  <a:srgbClr val="1A1A2E"/>
                </a:solidFill>
              </a:rPr>
              <a:t>(VIF</a:t>
            </a:r>
            <a:r>
              <a:rPr lang="ko-KR" altLang="en-US" dirty="0">
                <a:solidFill>
                  <a:srgbClr val="1A1A2E"/>
                </a:solidFill>
              </a:rPr>
              <a:t>는 참고용 보고만</a:t>
            </a:r>
            <a:r>
              <a:rPr lang="en-US" altLang="ko-KR" dirty="0">
                <a:solidFill>
                  <a:srgbClr val="1A1A2E"/>
                </a:solidFill>
              </a:rPr>
              <a:t>)</a:t>
            </a:r>
          </a:p>
          <a:p>
            <a:pPr lvl="1"/>
            <a:r>
              <a:rPr lang="en-US" altLang="ko-KR" dirty="0"/>
              <a:t>Step 3 : </a:t>
            </a:r>
            <a:r>
              <a:rPr lang="ko-KR" altLang="en-US" dirty="0" err="1">
                <a:solidFill>
                  <a:srgbClr val="1A1A2E"/>
                </a:solidFill>
              </a:rPr>
              <a:t>단변량</a:t>
            </a:r>
            <a:r>
              <a:rPr lang="ko-KR" altLang="en-US" dirty="0">
                <a:solidFill>
                  <a:srgbClr val="1A1A2E"/>
                </a:solidFill>
              </a:rPr>
              <a:t> 필터</a:t>
            </a:r>
            <a:r>
              <a:rPr lang="en-US" altLang="ko-KR" dirty="0">
                <a:solidFill>
                  <a:srgbClr val="1A1A2E"/>
                </a:solidFill>
              </a:rPr>
              <a:t>: MI &gt; 0  OR  Spearman p &lt; 0.05 (</a:t>
            </a:r>
            <a:r>
              <a:rPr lang="ko-KR" altLang="en-US" dirty="0">
                <a:solidFill>
                  <a:srgbClr val="1A1A2E"/>
                </a:solidFill>
              </a:rPr>
              <a:t>상한 없음 </a:t>
            </a:r>
            <a:r>
              <a:rPr lang="en-US" altLang="ko-KR" dirty="0">
                <a:solidFill>
                  <a:srgbClr val="1A1A2E"/>
                </a:solidFill>
              </a:rPr>
              <a:t>— </a:t>
            </a:r>
            <a:r>
              <a:rPr lang="ko-KR" altLang="en-US" dirty="0">
                <a:solidFill>
                  <a:srgbClr val="1A1A2E"/>
                </a:solidFill>
              </a:rPr>
              <a:t>후보 최대 보존</a:t>
            </a:r>
            <a:r>
              <a:rPr lang="en-US" altLang="ko-KR" dirty="0">
                <a:solidFill>
                  <a:srgbClr val="1A1A2E"/>
                </a:solidFill>
              </a:rPr>
              <a:t>)</a:t>
            </a:r>
          </a:p>
          <a:p>
            <a:pPr lvl="1"/>
            <a:r>
              <a:rPr lang="en-US" altLang="ko-KR" dirty="0">
                <a:solidFill>
                  <a:srgbClr val="1A1A2E"/>
                </a:solidFill>
              </a:rPr>
              <a:t>Step 4 : </a:t>
            </a:r>
            <a:r>
              <a:rPr lang="ko-KR" altLang="en-US" dirty="0">
                <a:solidFill>
                  <a:srgbClr val="1A1A2E"/>
                </a:solidFill>
              </a:rPr>
              <a:t>모델 기반 앙상블 투표  </a:t>
            </a:r>
            <a:r>
              <a:rPr lang="en-US" altLang="ko-KR" dirty="0">
                <a:solidFill>
                  <a:srgbClr val="1A1A2E"/>
                </a:solidFill>
              </a:rPr>
              <a:t>LASSO + RFECV(Ridge) + RF Permutation → pool </a:t>
            </a:r>
            <a:r>
              <a:rPr lang="ko-KR" altLang="en-US" dirty="0">
                <a:solidFill>
                  <a:srgbClr val="1A1A2E"/>
                </a:solidFill>
              </a:rPr>
              <a:t>구성 후 </a:t>
            </a:r>
            <a:r>
              <a:rPr lang="en-US" altLang="ko-KR" dirty="0">
                <a:solidFill>
                  <a:srgbClr val="1A1A2E"/>
                </a:solidFill>
              </a:rPr>
              <a:t>CV R² </a:t>
            </a:r>
            <a:r>
              <a:rPr lang="ko-KR" altLang="en-US" dirty="0">
                <a:solidFill>
                  <a:srgbClr val="1A1A2E"/>
                </a:solidFill>
              </a:rPr>
              <a:t>최적화
</a:t>
            </a:r>
            <a:r>
              <a:rPr lang="en-US" altLang="ko-KR" dirty="0">
                <a:solidFill>
                  <a:srgbClr val="1A1A2E"/>
                </a:solidFill>
              </a:rPr>
              <a:t>Final : VIF &gt; 10 </a:t>
            </a:r>
            <a:r>
              <a:rPr lang="ko-KR" altLang="en-US" dirty="0">
                <a:solidFill>
                  <a:srgbClr val="1A1A2E"/>
                </a:solidFill>
              </a:rPr>
              <a:t>반복 제거 </a:t>
            </a:r>
            <a:r>
              <a:rPr lang="en-US" altLang="ko-KR" dirty="0">
                <a:solidFill>
                  <a:srgbClr val="1A1A2E"/>
                </a:solidFill>
              </a:rPr>
              <a:t>(FIXED: 'mean' </a:t>
            </a:r>
            <a:r>
              <a:rPr lang="ko-KR" altLang="en-US" dirty="0">
                <a:solidFill>
                  <a:srgbClr val="1A1A2E"/>
                </a:solidFill>
              </a:rPr>
              <a:t>강제 보존</a:t>
            </a:r>
            <a:r>
              <a:rPr lang="en-US" altLang="ko-KR" dirty="0">
                <a:solidFill>
                  <a:srgbClr val="1A1A2E"/>
                </a:solidFill>
              </a:rPr>
              <a:t>) → </a:t>
            </a:r>
            <a:r>
              <a:rPr lang="ko-KR" altLang="en-US" dirty="0">
                <a:solidFill>
                  <a:srgbClr val="1A1A2E"/>
                </a:solidFill>
              </a:rPr>
              <a:t>강남 </a:t>
            </a:r>
            <a:r>
              <a:rPr lang="en-US" altLang="ko-KR" dirty="0">
                <a:solidFill>
                  <a:srgbClr val="1A1A2E"/>
                </a:solidFill>
              </a:rPr>
              <a:t>/ </a:t>
            </a:r>
            <a:r>
              <a:rPr lang="ko-KR" altLang="en-US" dirty="0">
                <a:solidFill>
                  <a:srgbClr val="1A1A2E"/>
                </a:solidFill>
              </a:rPr>
              <a:t>신촌 </a:t>
            </a:r>
            <a:r>
              <a:rPr lang="en-US" altLang="ko-KR" dirty="0">
                <a:solidFill>
                  <a:srgbClr val="1A1A2E"/>
                </a:solidFill>
              </a:rPr>
              <a:t>/ </a:t>
            </a:r>
            <a:r>
              <a:rPr lang="ko-KR" altLang="en-US" dirty="0">
                <a:solidFill>
                  <a:srgbClr val="1A1A2E"/>
                </a:solidFill>
              </a:rPr>
              <a:t>병합 각각 독립 실행</a:t>
            </a:r>
            <a:endParaRPr lang="en-US" altLang="ko-KR" dirty="0">
              <a:solidFill>
                <a:srgbClr val="1A1A2E"/>
              </a:solidFill>
            </a:endParaRPr>
          </a:p>
          <a:p>
            <a:pPr lvl="2"/>
            <a:r>
              <a:rPr lang="ko-KR" altLang="en-US" b="1" dirty="0">
                <a:solidFill>
                  <a:srgbClr val="1A355E"/>
                </a:solidFill>
              </a:rPr>
              <a:t>고정 피처</a:t>
            </a:r>
            <a:r>
              <a:rPr lang="en-US" altLang="ko-KR" b="1" dirty="0">
                <a:solidFill>
                  <a:srgbClr val="1A355E"/>
                </a:solidFill>
              </a:rPr>
              <a:t>: 'mean'</a:t>
            </a:r>
            <a:r>
              <a:rPr lang="ko-KR" altLang="en-US" b="1" dirty="0">
                <a:solidFill>
                  <a:srgbClr val="1A355E"/>
                </a:solidFill>
              </a:rPr>
              <a:t>은 임상 해석을 위해 모든 단계에서 강제 보존</a:t>
            </a:r>
          </a:p>
          <a:p>
            <a:pPr lvl="2"/>
            <a:endParaRPr lang="ko-KR" altLang="en-US" dirty="0">
              <a:solidFill>
                <a:srgbClr val="1A1A2E"/>
              </a:solidFill>
            </a:endParaRPr>
          </a:p>
          <a:p>
            <a:pPr lvl="1"/>
            <a:endParaRPr lang="en-US" altLang="ko-KR" dirty="0">
              <a:solidFill>
                <a:srgbClr val="1A1A2E"/>
              </a:solidFill>
            </a:endParaRPr>
          </a:p>
          <a:p>
            <a:pPr lvl="1"/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44805984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18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2F49DB3D-7569-41CE-98E6-0D040C938E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AEC</a:t>
            </a:r>
            <a:r>
              <a:rPr lang="ko-KR" altLang="en-US" dirty="0"/>
              <a:t> </a:t>
            </a:r>
            <a:r>
              <a:rPr lang="en-US" altLang="ko-KR" dirty="0"/>
              <a:t>Feature</a:t>
            </a:r>
            <a:r>
              <a:rPr lang="ko-KR" altLang="en-US" dirty="0"/>
              <a:t> </a:t>
            </a:r>
            <a:r>
              <a:rPr lang="en-US" altLang="ko-KR" dirty="0"/>
              <a:t>Extracting - </a:t>
            </a:r>
            <a:r>
              <a:rPr lang="ko-KR" altLang="en-US" dirty="0"/>
              <a:t>강남</a:t>
            </a:r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3649AB2B-068A-41A4-9569-D888FFBE35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2822373"/>
              </p:ext>
            </p:extLst>
          </p:nvPr>
        </p:nvGraphicFramePr>
        <p:xfrm>
          <a:off x="508000" y="1920240"/>
          <a:ext cx="6043310" cy="3108960"/>
        </p:xfrm>
        <a:graphic>
          <a:graphicData uri="http://schemas.openxmlformats.org/drawingml/2006/table">
            <a:tbl>
              <a:tblPr>
                <a:tableStyleId>{9D7B26C5-4107-4FEC-AEDC-1716B250A1EF}</a:tableStyleId>
              </a:tblPr>
              <a:tblGrid>
                <a:gridCol w="648000">
                  <a:extLst>
                    <a:ext uri="{9D8B030D-6E8A-4147-A177-3AD203B41FA5}">
                      <a16:colId xmlns:a16="http://schemas.microsoft.com/office/drawing/2014/main" val="4071944343"/>
                    </a:ext>
                  </a:extLst>
                </a:gridCol>
                <a:gridCol w="1341667">
                  <a:extLst>
                    <a:ext uri="{9D8B030D-6E8A-4147-A177-3AD203B41FA5}">
                      <a16:colId xmlns:a16="http://schemas.microsoft.com/office/drawing/2014/main" val="1350440363"/>
                    </a:ext>
                  </a:extLst>
                </a:gridCol>
                <a:gridCol w="998333">
                  <a:extLst>
                    <a:ext uri="{9D8B030D-6E8A-4147-A177-3AD203B41FA5}">
                      <a16:colId xmlns:a16="http://schemas.microsoft.com/office/drawing/2014/main" val="842904912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469704887"/>
                    </a:ext>
                  </a:extLst>
                </a:gridCol>
                <a:gridCol w="1512000">
                  <a:extLst>
                    <a:ext uri="{9D8B030D-6E8A-4147-A177-3AD203B41FA5}">
                      <a16:colId xmlns:a16="http://schemas.microsoft.com/office/drawing/2014/main" val="3956378830"/>
                    </a:ext>
                  </a:extLst>
                </a:gridCol>
                <a:gridCol w="895310">
                  <a:extLst>
                    <a:ext uri="{9D8B030D-6E8A-4147-A177-3AD203B41FA5}">
                      <a16:colId xmlns:a16="http://schemas.microsoft.com/office/drawing/2014/main" val="100390581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b="1" u="none" strike="noStrike" dirty="0">
                          <a:effectLst/>
                        </a:rPr>
                        <a:t>Rank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b="1" u="none" strike="noStrike" dirty="0">
                          <a:effectLst/>
                        </a:rPr>
                        <a:t>Feature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b="1" u="none" strike="noStrike" dirty="0">
                          <a:effectLst/>
                        </a:rPr>
                        <a:t>|</a:t>
                      </a:r>
                      <a:r>
                        <a:rPr lang="en-US" sz="1200" b="1" u="none" strike="noStrike" dirty="0" err="1">
                          <a:effectLst/>
                        </a:rPr>
                        <a:t>Pearson_r</a:t>
                      </a:r>
                      <a:r>
                        <a:rPr lang="en-US" sz="1200" b="1" u="none" strike="noStrike" dirty="0">
                          <a:effectLst/>
                        </a:rPr>
                        <a:t>|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b="1" u="none" strike="noStrike" dirty="0">
                          <a:effectLst/>
                        </a:rPr>
                        <a:t>Rank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b="1" u="none" strike="noStrike" dirty="0">
                          <a:effectLst/>
                        </a:rPr>
                        <a:t>Feature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b="1" u="none" strike="noStrike" dirty="0">
                          <a:effectLst/>
                        </a:rPr>
                        <a:t>|</a:t>
                      </a:r>
                      <a:r>
                        <a:rPr lang="en-US" sz="1200" b="1" u="none" strike="noStrike" dirty="0" err="1">
                          <a:effectLst/>
                        </a:rPr>
                        <a:t>Pearson_r</a:t>
                      </a:r>
                      <a:r>
                        <a:rPr lang="en-US" sz="1200" b="1" u="none" strike="noStrike" dirty="0">
                          <a:effectLst/>
                        </a:rPr>
                        <a:t>|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20160882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u="none" strike="noStrike" dirty="0">
                          <a:effectLst/>
                        </a:rPr>
                        <a:t>1</a:t>
                      </a:r>
                      <a:endParaRPr lang="en-US" altLang="ko-KR" sz="12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p25</a:t>
                      </a:r>
                    </a:p>
                  </a:txBody>
                  <a:tcPr marL="6350" marR="6350" marT="635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0.3664</a:t>
                      </a: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11</a:t>
                      </a:r>
                      <a:endParaRPr lang="en-US" altLang="ko-KR" sz="12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p5</a:t>
                      </a:r>
                    </a:p>
                  </a:txBody>
                  <a:tcPr marL="6350" marR="6350" marT="635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0.3039</a:t>
                      </a:r>
                    </a:p>
                  </a:txBody>
                  <a:tcPr marL="6350" marR="6350" marT="635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012631871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u="none" strike="noStrike">
                          <a:effectLst/>
                        </a:rPr>
                        <a:t>2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p10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0.3578</a:t>
                      </a: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b="0" u="none" strike="noStrike">
                          <a:solidFill>
                            <a:srgbClr val="000000"/>
                          </a:solidFill>
                          <a:effectLst/>
                        </a:rPr>
                        <a:t>12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min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0.2975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100193453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u="none" strike="noStrike">
                          <a:effectLst/>
                        </a:rPr>
                        <a:t>3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CV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0.3490</a:t>
                      </a: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b="0" u="none" strike="noStrike">
                          <a:solidFill>
                            <a:srgbClr val="000000"/>
                          </a:solidFill>
                          <a:effectLst/>
                        </a:rPr>
                        <a:t>13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peak_mean_height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0.2974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809721237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u="none" strike="noStrike">
                          <a:effectLst/>
                        </a:rPr>
                        <a:t>4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signal_energy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0.3434</a:t>
                      </a: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b="0" u="none" strike="noStrike">
                          <a:solidFill>
                            <a:srgbClr val="000000"/>
                          </a:solidFill>
                          <a:effectLst/>
                        </a:rPr>
                        <a:t>14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AUC_normalized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0.2974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2376607832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u="none" strike="noStrike">
                          <a:effectLst/>
                        </a:rPr>
                        <a:t>5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skewness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0.3433</a:t>
                      </a: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b="0" u="none" strike="noStrike">
                          <a:solidFill>
                            <a:srgbClr val="000000"/>
                          </a:solidFill>
                          <a:effectLst/>
                        </a:rPr>
                        <a:t>15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mean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0.2968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632487635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u="none" strike="noStrike">
                          <a:effectLst/>
                        </a:rPr>
                        <a:t>6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kurtosis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0.3310</a:t>
                      </a: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16</a:t>
                      </a:r>
                      <a:endParaRPr lang="en-US" altLang="ko-KR" sz="12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IQR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0.2637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515596843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u="none" strike="noStrike">
                          <a:effectLst/>
                        </a:rPr>
                        <a:t>7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AUC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0.3309</a:t>
                      </a: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b="0" u="none" strike="noStrike">
                          <a:solidFill>
                            <a:srgbClr val="000000"/>
                          </a:solidFill>
                          <a:effectLst/>
                        </a:rPr>
                        <a:t>17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peak_max_width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0.2616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273596302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u="none" strike="noStrike">
                          <a:effectLst/>
                        </a:rPr>
                        <a:t>8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median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0.3290</a:t>
                      </a: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b="0" u="none" strike="noStrike">
                          <a:solidFill>
                            <a:srgbClr val="000000"/>
                          </a:solidFill>
                          <a:effectLst/>
                        </a:rPr>
                        <a:t>18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peak_max_height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0.2463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4259642724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u="none" strike="noStrike">
                          <a:effectLst/>
                        </a:rPr>
                        <a:t>9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wavelet_cA_energy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0.3228</a:t>
                      </a: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b="0" u="none" strike="noStrike">
                          <a:solidFill>
                            <a:srgbClr val="000000"/>
                          </a:solidFill>
                          <a:effectLst/>
                        </a:rPr>
                        <a:t>19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dominant_freq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0.2455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840627745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u="none" strike="noStrike">
                          <a:effectLst/>
                        </a:rPr>
                        <a:t>10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p90_p10_ratio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0.3183</a:t>
                      </a: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b="0" u="none" strike="noStrike">
                          <a:solidFill>
                            <a:srgbClr val="000000"/>
                          </a:solidFill>
                          <a:effectLst/>
                        </a:rPr>
                        <a:t>20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peak_mean_width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0.2367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04610224"/>
                  </a:ext>
                </a:extLst>
              </a:tr>
            </a:tbl>
          </a:graphicData>
        </a:graphic>
      </p:graphicFrame>
      <p:pic>
        <p:nvPicPr>
          <p:cNvPr id="5" name="그림 4">
            <a:extLst>
              <a:ext uri="{FF2B5EF4-FFF2-40B4-BE49-F238E27FC236}">
                <a16:creationId xmlns:a16="http://schemas.microsoft.com/office/drawing/2014/main" id="{3069512A-1034-4976-1550-EAA8B67F6E5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4618" y="1454236"/>
            <a:ext cx="5298782" cy="41131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28476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EC0137-B53A-78B6-3CD1-F4ED5EC413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F5A0E5-74F3-A6A3-81D3-7E93862473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E985846-9678-CF75-A62A-DE8755587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19</a:t>
            </a:fld>
            <a:endParaRPr lang="ko-KR" altLang="en-US" dirty="0"/>
          </a:p>
        </p:txBody>
      </p:sp>
      <p:pic>
        <p:nvPicPr>
          <p:cNvPr id="3" name="Picture 6" descr="18_correlation_matrix.png">
            <a:extLst>
              <a:ext uri="{FF2B5EF4-FFF2-40B4-BE49-F238E27FC236}">
                <a16:creationId xmlns:a16="http://schemas.microsoft.com/office/drawing/2014/main" id="{81973C61-AA1B-00DF-5FC3-AEE5ECE2C1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5266" y="1307772"/>
            <a:ext cx="5871117" cy="4937536"/>
          </a:xfrm>
          <a:prstGeom prst="rect">
            <a:avLst/>
          </a:prstGeom>
        </p:spPr>
      </p:pic>
      <p:sp>
        <p:nvSpPr>
          <p:cNvPr id="5" name="Rectangle 7">
            <a:extLst>
              <a:ext uri="{FF2B5EF4-FFF2-40B4-BE49-F238E27FC236}">
                <a16:creationId xmlns:a16="http://schemas.microsoft.com/office/drawing/2014/main" id="{4C9684D0-6B99-1180-BF76-12BB17EF2C68}"/>
              </a:ext>
            </a:extLst>
          </p:cNvPr>
          <p:cNvSpPr/>
          <p:nvPr/>
        </p:nvSpPr>
        <p:spPr>
          <a:xfrm>
            <a:off x="8051866" y="1043445"/>
            <a:ext cx="3566160" cy="23774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4822450-56D6-3C68-EC35-67694DCE4E74}"/>
              </a:ext>
            </a:extLst>
          </p:cNvPr>
          <p:cNvSpPr txBox="1"/>
          <p:nvPr/>
        </p:nvSpPr>
        <p:spPr>
          <a:xfrm>
            <a:off x="8189026" y="1116597"/>
            <a:ext cx="32918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 err="1">
                <a:solidFill>
                  <a:srgbClr val="FF7F27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해석</a:t>
            </a:r>
            <a:r>
              <a:rPr sz="1400" b="1" i="0" dirty="0">
                <a:solidFill>
                  <a:srgbClr val="FF7F27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</a:t>
            </a:r>
            <a:r>
              <a:rPr sz="1400" b="1" i="0" dirty="0" err="1">
                <a:solidFill>
                  <a:srgbClr val="FF7F27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기준</a:t>
            </a:r>
            <a:endParaRPr sz="1400" b="1" i="0" dirty="0">
              <a:solidFill>
                <a:srgbClr val="FF7F27"/>
              </a:solidFill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C04B9AC-8772-8B96-7F03-E1EF4382D9AE}"/>
              </a:ext>
            </a:extLst>
          </p:cNvPr>
          <p:cNvSpPr txBox="1"/>
          <p:nvPr/>
        </p:nvSpPr>
        <p:spPr>
          <a:xfrm>
            <a:off x="8189026" y="1518933"/>
            <a:ext cx="329184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• |r| &lt; 0.5  →  </a:t>
            </a:r>
            <a:r>
              <a:rPr sz="1200" b="0" i="0" dirty="0" err="1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낮은</a:t>
            </a:r>
            <a:r>
              <a:rPr sz="1200" b="0" i="0" dirty="0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상관</a:t>
            </a:r>
            <a:r>
              <a:rPr sz="1200" b="0" i="0" dirty="0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
• 0.5 ≤ |r| &lt; 0.8  →  </a:t>
            </a:r>
            <a:r>
              <a:rPr sz="1200" b="0" i="0" dirty="0" err="1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중간</a:t>
            </a:r>
            <a:r>
              <a:rPr sz="1200" b="0" i="0" dirty="0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상관</a:t>
            </a:r>
            <a:r>
              <a:rPr sz="1200" b="0" i="0" dirty="0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
• |r| ≥ 0.8  →  </a:t>
            </a:r>
            <a:r>
              <a:rPr sz="1200" b="0" i="0" dirty="0" err="1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다중공선성</a:t>
            </a:r>
            <a:r>
              <a:rPr sz="1200" b="0" i="0" dirty="0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주의</a:t>
            </a:r>
            <a:r>
              <a:rPr sz="1200" b="0" i="0" dirty="0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
VIF &gt; 10 과 </a:t>
            </a:r>
            <a:r>
              <a:rPr sz="1200" b="0" i="0" dirty="0" err="1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함께</a:t>
            </a:r>
            <a:r>
              <a:rPr sz="1200" b="0" i="0" dirty="0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확인하여</a:t>
            </a:r>
            <a:r>
              <a:rPr sz="1200" b="0" i="0" dirty="0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
</a:t>
            </a:r>
            <a:r>
              <a:rPr sz="1200" b="0" i="0" dirty="0" err="1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제거</a:t>
            </a:r>
            <a:r>
              <a:rPr sz="1200" b="0" i="0" dirty="0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여부</a:t>
            </a:r>
            <a:r>
              <a:rPr sz="1200" b="0" i="0" dirty="0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결정</a:t>
            </a:r>
            <a:endParaRPr sz="1200" b="0" i="0" dirty="0">
              <a:solidFill>
                <a:srgbClr val="FFFFFF"/>
              </a:solidFill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sp>
        <p:nvSpPr>
          <p:cNvPr id="8" name="Rectangle 10">
            <a:extLst>
              <a:ext uri="{FF2B5EF4-FFF2-40B4-BE49-F238E27FC236}">
                <a16:creationId xmlns:a16="http://schemas.microsoft.com/office/drawing/2014/main" id="{83C401FB-FA8A-2F8D-50D3-DDBA228454E0}"/>
              </a:ext>
            </a:extLst>
          </p:cNvPr>
          <p:cNvSpPr/>
          <p:nvPr/>
        </p:nvSpPr>
        <p:spPr>
          <a:xfrm>
            <a:off x="8051866" y="3603765"/>
            <a:ext cx="3566160" cy="2606040"/>
          </a:xfrm>
          <a:prstGeom prst="rect">
            <a:avLst/>
          </a:prstGeom>
          <a:solidFill>
            <a:srgbClr val="FFFFFF"/>
          </a:solidFill>
          <a:ln w="19050">
            <a:solidFill>
              <a:srgbClr val="FF7F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E07F3C3-F812-DBB2-745F-F80D6E7A19B1}"/>
              </a:ext>
            </a:extLst>
          </p:cNvPr>
          <p:cNvSpPr txBox="1"/>
          <p:nvPr/>
        </p:nvSpPr>
        <p:spPr>
          <a:xfrm>
            <a:off x="8189026" y="3676917"/>
            <a:ext cx="32918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7F27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⚠  제외 결정 사례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1D05AAE-DD22-4C4B-0372-40E57D60574B}"/>
              </a:ext>
            </a:extLst>
          </p:cNvPr>
          <p:cNvSpPr txBox="1"/>
          <p:nvPr/>
        </p:nvSpPr>
        <p:spPr>
          <a:xfrm>
            <a:off x="8189026" y="4060965"/>
            <a:ext cx="329184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제외된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amplitude </a:t>
            </a:r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그룹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:
• p25: </a:t>
            </a:r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제외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(amplitude </a:t>
            </a:r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중복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)
• </a:t>
            </a:r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AUC_normalized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: </a:t>
            </a:r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제외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(amplitude </a:t>
            </a:r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중복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)
• </a:t>
            </a:r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peak_max_height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: </a:t>
            </a:r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제외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(amplitude </a:t>
            </a:r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중복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)
</a:t>
            </a:r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선택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</a:t>
            </a:r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대표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: mean
(VIF </a:t>
            </a:r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확인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후 </a:t>
            </a:r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포함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67648937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9D0B0C-8128-0E3D-D347-28912C2496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C54047D0-AF13-B2B0-3AD7-EC4D64CA5AA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4618" y="1454236"/>
            <a:ext cx="5298782" cy="411311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D978E7EB-E2BF-C1B7-6D30-550E8D7E8B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5D50687-CA39-FD6C-EEF2-546C35A8E9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20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516FF268-E11B-74BA-5023-2397CABC4B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AEC</a:t>
            </a:r>
            <a:r>
              <a:rPr lang="ko-KR" altLang="en-US" dirty="0"/>
              <a:t> </a:t>
            </a:r>
            <a:r>
              <a:rPr lang="en-US" altLang="ko-KR" dirty="0"/>
              <a:t>Feature</a:t>
            </a:r>
            <a:r>
              <a:rPr lang="ko-KR" altLang="en-US" dirty="0"/>
              <a:t> </a:t>
            </a:r>
            <a:r>
              <a:rPr lang="en-US" altLang="ko-KR" dirty="0"/>
              <a:t>Extracting - </a:t>
            </a:r>
            <a:r>
              <a:rPr lang="ko-KR" altLang="en-US" dirty="0"/>
              <a:t>신촌</a:t>
            </a:r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E1BF661B-644B-B413-5A1F-111F1F8F21A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43258328"/>
              </p:ext>
            </p:extLst>
          </p:nvPr>
        </p:nvGraphicFramePr>
        <p:xfrm>
          <a:off x="508000" y="1920240"/>
          <a:ext cx="6043310" cy="3108960"/>
        </p:xfrm>
        <a:graphic>
          <a:graphicData uri="http://schemas.openxmlformats.org/drawingml/2006/table">
            <a:tbl>
              <a:tblPr>
                <a:tableStyleId>{9D7B26C5-4107-4FEC-AEDC-1716B250A1EF}</a:tableStyleId>
              </a:tblPr>
              <a:tblGrid>
                <a:gridCol w="648000">
                  <a:extLst>
                    <a:ext uri="{9D8B030D-6E8A-4147-A177-3AD203B41FA5}">
                      <a16:colId xmlns:a16="http://schemas.microsoft.com/office/drawing/2014/main" val="4071944343"/>
                    </a:ext>
                  </a:extLst>
                </a:gridCol>
                <a:gridCol w="1341667">
                  <a:extLst>
                    <a:ext uri="{9D8B030D-6E8A-4147-A177-3AD203B41FA5}">
                      <a16:colId xmlns:a16="http://schemas.microsoft.com/office/drawing/2014/main" val="1350440363"/>
                    </a:ext>
                  </a:extLst>
                </a:gridCol>
                <a:gridCol w="998333">
                  <a:extLst>
                    <a:ext uri="{9D8B030D-6E8A-4147-A177-3AD203B41FA5}">
                      <a16:colId xmlns:a16="http://schemas.microsoft.com/office/drawing/2014/main" val="842904912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469704887"/>
                    </a:ext>
                  </a:extLst>
                </a:gridCol>
                <a:gridCol w="1512000">
                  <a:extLst>
                    <a:ext uri="{9D8B030D-6E8A-4147-A177-3AD203B41FA5}">
                      <a16:colId xmlns:a16="http://schemas.microsoft.com/office/drawing/2014/main" val="3956378830"/>
                    </a:ext>
                  </a:extLst>
                </a:gridCol>
                <a:gridCol w="895310">
                  <a:extLst>
                    <a:ext uri="{9D8B030D-6E8A-4147-A177-3AD203B41FA5}">
                      <a16:colId xmlns:a16="http://schemas.microsoft.com/office/drawing/2014/main" val="100390581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b="1" u="none" strike="noStrike" dirty="0">
                          <a:effectLst/>
                        </a:rPr>
                        <a:t>Rank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b="1" u="none" strike="noStrike" dirty="0">
                          <a:effectLst/>
                        </a:rPr>
                        <a:t>Feature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b="1" u="none" strike="noStrike" dirty="0">
                          <a:effectLst/>
                        </a:rPr>
                        <a:t>|</a:t>
                      </a:r>
                      <a:r>
                        <a:rPr lang="en-US" sz="1200" b="1" u="none" strike="noStrike" dirty="0" err="1">
                          <a:effectLst/>
                        </a:rPr>
                        <a:t>Pearson_r</a:t>
                      </a:r>
                      <a:r>
                        <a:rPr lang="en-US" sz="1200" b="1" u="none" strike="noStrike" dirty="0">
                          <a:effectLst/>
                        </a:rPr>
                        <a:t>|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b="1" u="none" strike="noStrike" dirty="0">
                          <a:effectLst/>
                        </a:rPr>
                        <a:t>Rank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b="1" u="none" strike="noStrike" dirty="0">
                          <a:effectLst/>
                        </a:rPr>
                        <a:t>Feature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b="1" u="none" strike="noStrike" dirty="0">
                          <a:effectLst/>
                        </a:rPr>
                        <a:t>|</a:t>
                      </a:r>
                      <a:r>
                        <a:rPr lang="en-US" sz="1200" b="1" u="none" strike="noStrike" dirty="0" err="1">
                          <a:effectLst/>
                        </a:rPr>
                        <a:t>Pearson_r</a:t>
                      </a:r>
                      <a:r>
                        <a:rPr lang="en-US" sz="1200" b="1" u="none" strike="noStrike" dirty="0">
                          <a:effectLst/>
                        </a:rPr>
                        <a:t>|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20160882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u="none" strike="noStrike" dirty="0">
                          <a:effectLst/>
                        </a:rPr>
                        <a:t>1</a:t>
                      </a:r>
                      <a:endParaRPr lang="en-US" altLang="ko-KR" sz="12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p25</a:t>
                      </a:r>
                    </a:p>
                  </a:txBody>
                  <a:tcPr marL="6350" marR="6350" marT="635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0.2442</a:t>
                      </a: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11</a:t>
                      </a:r>
                      <a:endParaRPr lang="en-US" altLang="ko-KR" sz="12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p95</a:t>
                      </a:r>
                    </a:p>
                  </a:txBody>
                  <a:tcPr marL="6350" marR="6350" marT="635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0.2145</a:t>
                      </a:r>
                    </a:p>
                  </a:txBody>
                  <a:tcPr marL="6350" marR="6350" marT="635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012631871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u="none" strike="noStrike">
                          <a:effectLst/>
                        </a:rPr>
                        <a:t>2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min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0.2427</a:t>
                      </a: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b="0" u="none" strike="noStrike">
                          <a:solidFill>
                            <a:srgbClr val="000000"/>
                          </a:solidFill>
                          <a:effectLst/>
                        </a:rPr>
                        <a:t>12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p75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0.2140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100193453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u="none" strike="noStrike">
                          <a:effectLst/>
                        </a:rPr>
                        <a:t>3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p10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0.2422</a:t>
                      </a: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13</a:t>
                      </a:r>
                      <a:endParaRPr lang="en-US" altLang="ko-KR" sz="12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p90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0.2125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809721237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u="none" strike="noStrike">
                          <a:effectLst/>
                        </a:rPr>
                        <a:t>4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p5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0.2368</a:t>
                      </a: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b="0" u="none" strike="noStrike">
                          <a:solidFill>
                            <a:srgbClr val="000000"/>
                          </a:solidFill>
                          <a:effectLst/>
                        </a:rPr>
                        <a:t>14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AUC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0.2042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2376607832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u="none" strike="noStrike">
                          <a:effectLst/>
                        </a:rPr>
                        <a:t>5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AUC_normalized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0.2338</a:t>
                      </a: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b="0" u="none" strike="noStrike">
                          <a:solidFill>
                            <a:srgbClr val="000000"/>
                          </a:solidFill>
                          <a:effectLst/>
                        </a:rPr>
                        <a:t>15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signal_energy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0.2038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632487635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u="none" strike="noStrike">
                          <a:effectLst/>
                        </a:rPr>
                        <a:t>6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mean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0.2337</a:t>
                      </a: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16</a:t>
                      </a:r>
                      <a:endParaRPr lang="en-US" altLang="ko-KR" sz="12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wavelet_cA_energy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0.1995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515596843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u="none" strike="noStrike">
                          <a:effectLst/>
                        </a:rPr>
                        <a:t>7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median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0.2332</a:t>
                      </a: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b="0" u="none" strike="noStrike">
                          <a:solidFill>
                            <a:srgbClr val="000000"/>
                          </a:solidFill>
                          <a:effectLst/>
                        </a:rPr>
                        <a:t>17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slope_max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0.1470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273596302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u="none" strike="noStrike">
                          <a:effectLst/>
                        </a:rPr>
                        <a:t>8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peak_max_height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0.2288</a:t>
                      </a: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b="0" u="none" strike="noStrike">
                          <a:solidFill>
                            <a:srgbClr val="000000"/>
                          </a:solidFill>
                          <a:effectLst/>
                        </a:rPr>
                        <a:t>18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zero_crossing_rate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0.1419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4259642724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u="none" strike="noStrike">
                          <a:effectLst/>
                        </a:rPr>
                        <a:t>9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peak_mean_height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0.2236</a:t>
                      </a: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b="0" u="none" strike="noStrike">
                          <a:solidFill>
                            <a:srgbClr val="000000"/>
                          </a:solidFill>
                          <a:effectLst/>
                        </a:rPr>
                        <a:t>19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CV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0.1257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840627745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u="none" strike="noStrike">
                          <a:effectLst/>
                        </a:rPr>
                        <a:t>10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max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0.2172</a:t>
                      </a: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b="0" u="none" strike="noStrike">
                          <a:solidFill>
                            <a:srgbClr val="000000"/>
                          </a:solidFill>
                          <a:effectLst/>
                        </a:rPr>
                        <a:t>20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slope_min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0.1227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0461022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9685327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3B0D4F-4F07-D04C-64D2-EA610AE52A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>
            <a:extLst>
              <a:ext uri="{FF2B5EF4-FFF2-40B4-BE49-F238E27FC236}">
                <a16:creationId xmlns:a16="http://schemas.microsoft.com/office/drawing/2014/main" id="{7BF96678-64E9-7310-CE38-2362C5926BC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7534" y="1307772"/>
            <a:ext cx="5766579" cy="49392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3D8D3C6D-12ED-FA03-C6F3-5DAD565322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C3262DA-A8E8-B536-2970-E7E0B8C3B2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21</a:t>
            </a:fld>
            <a:endParaRPr lang="ko-KR" altLang="en-US" dirty="0"/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34FA492C-0DD5-AF48-928F-236A05625832}"/>
              </a:ext>
            </a:extLst>
          </p:cNvPr>
          <p:cNvSpPr/>
          <p:nvPr/>
        </p:nvSpPr>
        <p:spPr>
          <a:xfrm>
            <a:off x="8051866" y="1043445"/>
            <a:ext cx="3566160" cy="23774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17259D6-502E-DDDC-8DB7-ABE175B43598}"/>
              </a:ext>
            </a:extLst>
          </p:cNvPr>
          <p:cNvSpPr txBox="1"/>
          <p:nvPr/>
        </p:nvSpPr>
        <p:spPr>
          <a:xfrm>
            <a:off x="8189026" y="1116597"/>
            <a:ext cx="32918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 err="1">
                <a:solidFill>
                  <a:srgbClr val="FF7F27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해석</a:t>
            </a:r>
            <a:r>
              <a:rPr sz="1400" b="1" i="0" dirty="0">
                <a:solidFill>
                  <a:srgbClr val="FF7F27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</a:t>
            </a:r>
            <a:r>
              <a:rPr sz="1400" b="1" i="0" dirty="0" err="1">
                <a:solidFill>
                  <a:srgbClr val="FF7F27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기준</a:t>
            </a:r>
            <a:endParaRPr sz="1400" b="1" i="0" dirty="0">
              <a:solidFill>
                <a:srgbClr val="FF7F27"/>
              </a:solidFill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FB2F96-2728-06BD-9210-029EEE2495C2}"/>
              </a:ext>
            </a:extLst>
          </p:cNvPr>
          <p:cNvSpPr txBox="1"/>
          <p:nvPr/>
        </p:nvSpPr>
        <p:spPr>
          <a:xfrm>
            <a:off x="8189026" y="1518933"/>
            <a:ext cx="329184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• |r| &lt; 0.5  →  </a:t>
            </a:r>
            <a:r>
              <a:rPr sz="1200" b="0" i="0" dirty="0" err="1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낮은</a:t>
            </a:r>
            <a:r>
              <a:rPr sz="1200" b="0" i="0" dirty="0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상관</a:t>
            </a:r>
            <a:r>
              <a:rPr sz="1200" b="0" i="0" dirty="0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
• 0.5 ≤ |r| &lt; 0.8  →  </a:t>
            </a:r>
            <a:r>
              <a:rPr sz="1200" b="0" i="0" dirty="0" err="1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중간</a:t>
            </a:r>
            <a:r>
              <a:rPr sz="1200" b="0" i="0" dirty="0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상관</a:t>
            </a:r>
            <a:r>
              <a:rPr sz="1200" b="0" i="0" dirty="0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
• |r| ≥ 0.8  →  </a:t>
            </a:r>
            <a:r>
              <a:rPr sz="1200" b="0" i="0" dirty="0" err="1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다중공선성</a:t>
            </a:r>
            <a:r>
              <a:rPr sz="1200" b="0" i="0" dirty="0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주의</a:t>
            </a:r>
            <a:r>
              <a:rPr sz="1200" b="0" i="0" dirty="0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
VIF &gt; 10 과 </a:t>
            </a:r>
            <a:r>
              <a:rPr sz="1200" b="0" i="0" dirty="0" err="1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함께</a:t>
            </a:r>
            <a:r>
              <a:rPr sz="1200" b="0" i="0" dirty="0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확인하여</a:t>
            </a:r>
            <a:r>
              <a:rPr sz="1200" b="0" i="0" dirty="0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
</a:t>
            </a:r>
            <a:r>
              <a:rPr sz="1200" b="0" i="0" dirty="0" err="1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제거</a:t>
            </a:r>
            <a:r>
              <a:rPr sz="1200" b="0" i="0" dirty="0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여부</a:t>
            </a:r>
            <a:r>
              <a:rPr sz="1200" b="0" i="0" dirty="0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결정</a:t>
            </a:r>
            <a:endParaRPr sz="1200" b="0" i="0" dirty="0">
              <a:solidFill>
                <a:srgbClr val="FFFFFF"/>
              </a:solidFill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sp>
        <p:nvSpPr>
          <p:cNvPr id="8" name="Rectangle 10">
            <a:extLst>
              <a:ext uri="{FF2B5EF4-FFF2-40B4-BE49-F238E27FC236}">
                <a16:creationId xmlns:a16="http://schemas.microsoft.com/office/drawing/2014/main" id="{E364434A-6B7E-0BBE-580C-2C5B1A7D5ECA}"/>
              </a:ext>
            </a:extLst>
          </p:cNvPr>
          <p:cNvSpPr/>
          <p:nvPr/>
        </p:nvSpPr>
        <p:spPr>
          <a:xfrm>
            <a:off x="8051866" y="3603765"/>
            <a:ext cx="3566160" cy="2606040"/>
          </a:xfrm>
          <a:prstGeom prst="rect">
            <a:avLst/>
          </a:prstGeom>
          <a:solidFill>
            <a:srgbClr val="FFFFFF"/>
          </a:solidFill>
          <a:ln w="19050">
            <a:solidFill>
              <a:srgbClr val="FF7F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144B12F-9B04-136A-485D-28AB7F391A28}"/>
              </a:ext>
            </a:extLst>
          </p:cNvPr>
          <p:cNvSpPr txBox="1"/>
          <p:nvPr/>
        </p:nvSpPr>
        <p:spPr>
          <a:xfrm>
            <a:off x="8189026" y="3676917"/>
            <a:ext cx="32918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7F27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⚠  제외 결정 사례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84C69F6-FC22-F7F9-5B8D-069C48FEF9F2}"/>
              </a:ext>
            </a:extLst>
          </p:cNvPr>
          <p:cNvSpPr txBox="1"/>
          <p:nvPr/>
        </p:nvSpPr>
        <p:spPr>
          <a:xfrm>
            <a:off x="8189026" y="4060965"/>
            <a:ext cx="329184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제외된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amplitude </a:t>
            </a:r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그룹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:
• p25: </a:t>
            </a:r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제외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(amplitude </a:t>
            </a:r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중복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)
• </a:t>
            </a:r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AUC_normalized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: </a:t>
            </a:r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제외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(amplitude </a:t>
            </a:r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중복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)
• </a:t>
            </a:r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peak_max_height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: </a:t>
            </a:r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제외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(amplitude </a:t>
            </a:r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중복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)
</a:t>
            </a:r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선택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</a:t>
            </a:r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대표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: mean
(VIF </a:t>
            </a:r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확인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후 </a:t>
            </a:r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포함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95958664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22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2F49DB3D-7569-41CE-98E6-0D040C938E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AEC</a:t>
            </a:r>
            <a:r>
              <a:rPr lang="ko-KR" altLang="en-US" dirty="0"/>
              <a:t> </a:t>
            </a:r>
            <a:r>
              <a:rPr lang="en-US" altLang="ko-KR" dirty="0"/>
              <a:t>Feature</a:t>
            </a:r>
            <a:r>
              <a:rPr lang="ko-KR" altLang="en-US" dirty="0"/>
              <a:t> </a:t>
            </a:r>
            <a:r>
              <a:rPr lang="en-US" altLang="ko-KR" dirty="0"/>
              <a:t>Extracting</a:t>
            </a:r>
          </a:p>
          <a:p>
            <a:pPr lvl="1"/>
            <a:r>
              <a:rPr lang="ko-KR" altLang="en-US" dirty="0"/>
              <a:t>강남</a:t>
            </a:r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marL="457200" lvl="1" indent="0">
              <a:buNone/>
            </a:pPr>
            <a:endParaRPr lang="en-US" altLang="ko-KR" sz="2500" dirty="0"/>
          </a:p>
          <a:p>
            <a:pPr lvl="1"/>
            <a:r>
              <a:rPr lang="ko-KR" altLang="en-US" dirty="0"/>
              <a:t>신촌</a:t>
            </a:r>
            <a:endParaRPr lang="en-US" altLang="ko-KR" dirty="0"/>
          </a:p>
        </p:txBody>
      </p:sp>
      <p:graphicFrame>
        <p:nvGraphicFramePr>
          <p:cNvPr id="9" name="Table 6">
            <a:extLst>
              <a:ext uri="{FF2B5EF4-FFF2-40B4-BE49-F238E27FC236}">
                <a16:creationId xmlns:a16="http://schemas.microsoft.com/office/drawing/2014/main" id="{C580C458-2EE5-4689-8617-EE9C75945D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9783509"/>
              </p:ext>
            </p:extLst>
          </p:nvPr>
        </p:nvGraphicFramePr>
        <p:xfrm>
          <a:off x="2007002" y="1751532"/>
          <a:ext cx="9151774" cy="1799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028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957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2430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3536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7151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Feature</a:t>
                      </a:r>
                    </a:p>
                  </a:txBody>
                  <a:tcPr marL="81943" marR="81943" marT="40971" marB="40971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Pearson r</a:t>
                      </a:r>
                    </a:p>
                  </a:txBody>
                  <a:tcPr marL="81943" marR="81943" marT="40971" marB="40971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해석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marL="81943" marR="81943" marT="40971" marB="40971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VIF</a:t>
                      </a:r>
                    </a:p>
                  </a:txBody>
                  <a:tcPr marL="81943" marR="81943" marT="40971" marB="40971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선택</a:t>
                      </a:r>
                    </a:p>
                  </a:txBody>
                  <a:tcPr marL="81943" marR="81943" marT="40971" marB="40971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7141"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rgbClr val="1A1A2E"/>
                          </a:solidFill>
                        </a:rPr>
                        <a:t>mean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+0.297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AEC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평균값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→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체격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전반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반영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(amplitude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그룹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대표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)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1.53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✔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7141"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rgbClr val="1A1A2E"/>
                          </a:solidFill>
                        </a:rPr>
                        <a:t>CV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-0.349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변동계수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(std/mean) →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체형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불균일성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반영</a:t>
                      </a:r>
                      <a:endParaRPr sz="1000" dirty="0">
                        <a:solidFill>
                          <a:srgbClr val="1A1A2E"/>
                        </a:solidFill>
                      </a:endParaRP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1.58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✔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7141"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rgbClr val="1A1A2E"/>
                          </a:solidFill>
                        </a:rPr>
                        <a:t>skewness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-0.343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AEC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곡선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비대칭성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→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체형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분포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특성</a:t>
                      </a:r>
                      <a:endParaRPr sz="1000" dirty="0">
                        <a:solidFill>
                          <a:srgbClr val="1A1A2E"/>
                        </a:solidFill>
                      </a:endParaRP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1.49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✔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7141">
                <a:tc>
                  <a:txBody>
                    <a:bodyPr/>
                    <a:lstStyle/>
                    <a:p>
                      <a:pPr algn="ctr"/>
                      <a:r>
                        <a:rPr sz="1000" b="1" dirty="0" err="1">
                          <a:solidFill>
                            <a:srgbClr val="1A1A2E"/>
                          </a:solidFill>
                        </a:rPr>
                        <a:t>slope_abs_mean</a:t>
                      </a:r>
                      <a:endParaRPr sz="1000" b="1" dirty="0">
                        <a:solidFill>
                          <a:srgbClr val="1A1A2E"/>
                        </a:solidFill>
                      </a:endParaRP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+0.042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평균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절대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기울기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→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곡선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동역학</a:t>
                      </a:r>
                      <a:endParaRPr sz="1000" dirty="0">
                        <a:solidFill>
                          <a:srgbClr val="1A1A2E"/>
                        </a:solidFill>
                      </a:endParaRP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1.42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✔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7141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p25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높음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mean과 amplitude 동일 그룹 (r=0.97)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&gt;70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✗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제외</a:t>
                      </a:r>
                      <a:endParaRPr sz="1000" dirty="0">
                        <a:solidFill>
                          <a:srgbClr val="1A1A2E"/>
                        </a:solidFill>
                      </a:endParaRP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7143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AUC_normalized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높음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mean과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r≈1.00,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사실상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동일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feature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&gt;57,000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✗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제외</a:t>
                      </a:r>
                      <a:endParaRPr sz="1000" dirty="0">
                        <a:solidFill>
                          <a:srgbClr val="1A1A2E"/>
                        </a:solidFill>
                      </a:endParaRP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E7E0ACB4-8F9E-E8EE-4C62-427B6EC3AE55}"/>
              </a:ext>
            </a:extLst>
          </p:cNvPr>
          <p:cNvSpPr txBox="1"/>
          <p:nvPr/>
        </p:nvSpPr>
        <p:spPr>
          <a:xfrm>
            <a:off x="2007002" y="5653622"/>
            <a:ext cx="915177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i="1" dirty="0">
                <a:solidFill>
                  <a:srgbClr val="FF7F27"/>
                </a:solidFill>
              </a:rPr>
              <a:t>⚠  </a:t>
            </a:r>
            <a:r>
              <a:rPr lang="en-US" altLang="ko-KR" sz="1200" i="1" dirty="0">
                <a:solidFill>
                  <a:srgbClr val="FF7F27"/>
                </a:solidFill>
              </a:rPr>
              <a:t>p25·AUC_normalized: mean</a:t>
            </a:r>
            <a:r>
              <a:rPr lang="ko-KR" altLang="en-US" sz="1200" i="1" dirty="0">
                <a:solidFill>
                  <a:srgbClr val="FF7F27"/>
                </a:solidFill>
              </a:rPr>
              <a:t>과 동일 </a:t>
            </a:r>
            <a:r>
              <a:rPr lang="en-US" altLang="ko-KR" sz="1200" i="1" dirty="0">
                <a:solidFill>
                  <a:srgbClr val="FF7F27"/>
                </a:solidFill>
              </a:rPr>
              <a:t>amplitude </a:t>
            </a:r>
            <a:r>
              <a:rPr lang="ko-KR" altLang="en-US" sz="1200" i="1" dirty="0">
                <a:solidFill>
                  <a:srgbClr val="FF7F27"/>
                </a:solidFill>
              </a:rPr>
              <a:t>그룹</a:t>
            </a:r>
            <a:r>
              <a:rPr lang="en-US" altLang="ko-KR" sz="1200" i="1" dirty="0">
                <a:solidFill>
                  <a:srgbClr val="FF7F27"/>
                </a:solidFill>
              </a:rPr>
              <a:t>(r≥0.88) → </a:t>
            </a:r>
            <a:r>
              <a:rPr lang="ko-KR" altLang="en-US" sz="1200" i="1" dirty="0" err="1">
                <a:solidFill>
                  <a:srgbClr val="FF7F27"/>
                </a:solidFill>
              </a:rPr>
              <a:t>다중공선성</a:t>
            </a:r>
            <a:r>
              <a:rPr lang="ko-KR" altLang="en-US" sz="1200" i="1" dirty="0">
                <a:solidFill>
                  <a:srgbClr val="FF7F27"/>
                </a:solidFill>
              </a:rPr>
              <a:t> 제거 </a:t>
            </a:r>
            <a:r>
              <a:rPr lang="en-US" altLang="ko-KR" sz="1200" i="1" dirty="0">
                <a:solidFill>
                  <a:srgbClr val="FF7F27"/>
                </a:solidFill>
              </a:rPr>
              <a:t>/ mean</a:t>
            </a:r>
            <a:r>
              <a:rPr lang="ko-KR" altLang="en-US" sz="1200" i="1" dirty="0">
                <a:solidFill>
                  <a:srgbClr val="FF7F27"/>
                </a:solidFill>
              </a:rPr>
              <a:t>을 대표로 포함</a:t>
            </a:r>
          </a:p>
        </p:txBody>
      </p:sp>
      <p:graphicFrame>
        <p:nvGraphicFramePr>
          <p:cNvPr id="8" name="Table 6">
            <a:extLst>
              <a:ext uri="{FF2B5EF4-FFF2-40B4-BE49-F238E27FC236}">
                <a16:creationId xmlns:a16="http://schemas.microsoft.com/office/drawing/2014/main" id="{28DA11E0-4E3C-811C-B8A9-9CD0FDFDB9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0379147"/>
              </p:ext>
            </p:extLst>
          </p:nvPr>
        </p:nvGraphicFramePr>
        <p:xfrm>
          <a:off x="2007002" y="3823707"/>
          <a:ext cx="9151774" cy="180000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028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957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2430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3536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7143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Feature</a:t>
                      </a:r>
                    </a:p>
                  </a:txBody>
                  <a:tcPr marL="81943" marR="81943" marT="40971" marB="40971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Pearson r</a:t>
                      </a:r>
                    </a:p>
                  </a:txBody>
                  <a:tcPr marL="81943" marR="81943" marT="40971" marB="40971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해석</a:t>
                      </a:r>
                    </a:p>
                  </a:txBody>
                  <a:tcPr marL="81943" marR="81943" marT="40971" marB="40971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VIF</a:t>
                      </a:r>
                    </a:p>
                  </a:txBody>
                  <a:tcPr marL="81943" marR="81943" marT="40971" marB="40971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선택</a:t>
                      </a:r>
                    </a:p>
                  </a:txBody>
                  <a:tcPr marL="81943" marR="81943" marT="40971" marB="40971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7143"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rgbClr val="1A1A2E"/>
                          </a:solidFill>
                        </a:rPr>
                        <a:t>mean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+0.234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AEC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평균값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→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체격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전반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반영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(amplitude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그룹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대표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)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1.12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✔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7143"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rgbClr val="1A1A2E"/>
                          </a:solidFill>
                        </a:rPr>
                        <a:t>CV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-0.126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변동계수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(std/mean) →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체형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불균일성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반영</a:t>
                      </a:r>
                      <a:endParaRPr sz="1000" dirty="0">
                        <a:solidFill>
                          <a:srgbClr val="1A1A2E"/>
                        </a:solidFill>
                      </a:endParaRP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1.27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✔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7143"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rgbClr val="1A1A2E"/>
                          </a:solidFill>
                        </a:rPr>
                        <a:t>skewness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-0.044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AEC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곡선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비대칭성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→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체형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분포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특성</a:t>
                      </a:r>
                      <a:endParaRPr sz="1000" dirty="0">
                        <a:solidFill>
                          <a:srgbClr val="1A1A2E"/>
                        </a:solidFill>
                      </a:endParaRP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1.20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✔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7143">
                <a:tc>
                  <a:txBody>
                    <a:bodyPr/>
                    <a:lstStyle/>
                    <a:p>
                      <a:pPr algn="ctr"/>
                      <a:r>
                        <a:rPr sz="1000" b="1" dirty="0" err="1">
                          <a:solidFill>
                            <a:srgbClr val="1A1A2E"/>
                          </a:solidFill>
                        </a:rPr>
                        <a:t>slope_abs_mean</a:t>
                      </a:r>
                      <a:endParaRPr sz="1000" b="1" dirty="0">
                        <a:solidFill>
                          <a:srgbClr val="1A1A2E"/>
                        </a:solidFill>
                      </a:endParaRP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+0.102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평균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절대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기울기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→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곡선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동역학</a:t>
                      </a:r>
                      <a:endParaRPr sz="1000" dirty="0">
                        <a:solidFill>
                          <a:srgbClr val="1A1A2E"/>
                        </a:solidFill>
                      </a:endParaRP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1.10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✔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7143"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p25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높음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mean과 amplitude 동일 그룹 (r=0.97)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&gt;70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✗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제외</a:t>
                      </a:r>
                      <a:endParaRPr sz="1000" dirty="0">
                        <a:solidFill>
                          <a:srgbClr val="1A1A2E"/>
                        </a:solidFill>
                      </a:endParaRP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714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AUC_normalized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높음</a:t>
                      </a:r>
                      <a:endParaRPr sz="1000" dirty="0">
                        <a:solidFill>
                          <a:srgbClr val="1A1A2E"/>
                        </a:solidFill>
                      </a:endParaRP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mean과 r≈1.00, 사실상 동일 feature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&gt;57,000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✗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제외</a:t>
                      </a:r>
                      <a:endParaRPr sz="1000" dirty="0">
                        <a:solidFill>
                          <a:srgbClr val="1A1A2E"/>
                        </a:solidFill>
                      </a:endParaRP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3329099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23</a:t>
            </a:fld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FFCCBB0-676E-4847-9AB2-B740348A580D}"/>
              </a:ext>
            </a:extLst>
          </p:cNvPr>
          <p:cNvSpPr txBox="1"/>
          <p:nvPr/>
        </p:nvSpPr>
        <p:spPr>
          <a:xfrm>
            <a:off x="508000" y="1143000"/>
            <a:ext cx="5029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>
                <a:solidFill>
                  <a:srgbClr val="1A355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전처리</a:t>
            </a:r>
          </a:p>
        </p:txBody>
      </p:sp>
      <p:graphicFrame>
        <p:nvGraphicFramePr>
          <p:cNvPr id="14" name="Table 6">
            <a:extLst>
              <a:ext uri="{FF2B5EF4-FFF2-40B4-BE49-F238E27FC236}">
                <a16:creationId xmlns:a16="http://schemas.microsoft.com/office/drawing/2014/main" id="{D580AC9F-0DD3-4342-AF67-67F0821742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6236562"/>
              </p:ext>
            </p:extLst>
          </p:nvPr>
        </p:nvGraphicFramePr>
        <p:xfrm>
          <a:off x="508000" y="1508760"/>
          <a:ext cx="54864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변수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dirty="0" err="1">
                          <a:solidFill>
                            <a:srgbClr val="FFFFFF"/>
                          </a:solidFill>
                        </a:rPr>
                        <a:t>처리</a:t>
                      </a:r>
                      <a:r>
                        <a:rPr sz="1400" b="1" dirty="0">
                          <a:solidFill>
                            <a:srgbClr val="FFFFFF"/>
                          </a:solidFill>
                        </a:rPr>
                        <a:t> </a:t>
                      </a:r>
                      <a:r>
                        <a:rPr sz="1400" b="1" dirty="0" err="1">
                          <a:solidFill>
                            <a:srgbClr val="FFFFFF"/>
                          </a:solidFill>
                        </a:rPr>
                        <a:t>방법</a:t>
                      </a:r>
                      <a:endParaRPr sz="1400" b="1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PatientSex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이진 인코딩 (M=1, F=0)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PatientAge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Z-score 표준화 (StandardScaler)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AEC features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Z-score 표준화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 dirty="0">
                          <a:solidFill>
                            <a:srgbClr val="1A1A2E"/>
                          </a:solidFill>
                        </a:rPr>
                        <a:t>Model</a:t>
                      </a:r>
                      <a:r>
                        <a:rPr lang="en-US" sz="14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rgbClr val="1A1A2E"/>
                          </a:solidFill>
                        </a:rPr>
                        <a:t>Name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dirty="0">
                          <a:solidFill>
                            <a:srgbClr val="1A1A2E"/>
                          </a:solidFill>
                        </a:rPr>
                        <a:t>One-hot encoding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4C77E2BB-1799-4B59-B5B7-2C5CDD2840DA}"/>
              </a:ext>
            </a:extLst>
          </p:cNvPr>
          <p:cNvSpPr txBox="1"/>
          <p:nvPr/>
        </p:nvSpPr>
        <p:spPr>
          <a:xfrm>
            <a:off x="6608492" y="1143000"/>
            <a:ext cx="47737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>
                <a:solidFill>
                  <a:srgbClr val="1A355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모델</a:t>
            </a:r>
          </a:p>
        </p:txBody>
      </p:sp>
      <p:sp>
        <p:nvSpPr>
          <p:cNvPr id="16" name="Rectangle 8">
            <a:extLst>
              <a:ext uri="{FF2B5EF4-FFF2-40B4-BE49-F238E27FC236}">
                <a16:creationId xmlns:a16="http://schemas.microsoft.com/office/drawing/2014/main" id="{FABE816E-5173-468F-AECB-91929F28626A}"/>
              </a:ext>
            </a:extLst>
          </p:cNvPr>
          <p:cNvSpPr/>
          <p:nvPr/>
        </p:nvSpPr>
        <p:spPr>
          <a:xfrm>
            <a:off x="6647688" y="1508760"/>
            <a:ext cx="5036312" cy="868680"/>
          </a:xfrm>
          <a:prstGeom prst="rect">
            <a:avLst/>
          </a:prstGeom>
          <a:solidFill>
            <a:srgbClr val="FFFFFF"/>
          </a:solidFill>
          <a:ln w="15240">
            <a:solidFill>
              <a:srgbClr val="2E75B6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A1F8D97-BF6F-4D4B-8C3D-2EE29484D2BB}"/>
              </a:ext>
            </a:extLst>
          </p:cNvPr>
          <p:cNvSpPr txBox="1"/>
          <p:nvPr/>
        </p:nvSpPr>
        <p:spPr>
          <a:xfrm>
            <a:off x="6733774" y="1554480"/>
            <a:ext cx="2784691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 err="1">
                <a:solidFill>
                  <a:srgbClr val="1A355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선형</a:t>
            </a:r>
            <a:r>
              <a:rPr sz="1300" b="1" i="0" dirty="0">
                <a:solidFill>
                  <a:srgbClr val="1A355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sz="1300" b="1" i="0" dirty="0" err="1">
                <a:solidFill>
                  <a:srgbClr val="1A355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회귀</a:t>
            </a:r>
            <a:endParaRPr sz="1300" b="1" i="0" dirty="0">
              <a:solidFill>
                <a:srgbClr val="1A355E"/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DA6B442-8E7F-4C02-BA3A-AA8F6615BA9E}"/>
              </a:ext>
            </a:extLst>
          </p:cNvPr>
          <p:cNvSpPr txBox="1"/>
          <p:nvPr/>
        </p:nvSpPr>
        <p:spPr>
          <a:xfrm>
            <a:off x="6733774" y="1846068"/>
            <a:ext cx="469419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statsmodels OLS
(Ordinary Least Squares)</a:t>
            </a:r>
          </a:p>
        </p:txBody>
      </p:sp>
      <p:sp>
        <p:nvSpPr>
          <p:cNvPr id="19" name="Rectangle 11">
            <a:extLst>
              <a:ext uri="{FF2B5EF4-FFF2-40B4-BE49-F238E27FC236}">
                <a16:creationId xmlns:a16="http://schemas.microsoft.com/office/drawing/2014/main" id="{CA15040D-26ED-427B-8A02-B600C767E3C5}"/>
              </a:ext>
            </a:extLst>
          </p:cNvPr>
          <p:cNvSpPr/>
          <p:nvPr/>
        </p:nvSpPr>
        <p:spPr>
          <a:xfrm>
            <a:off x="6647688" y="2514600"/>
            <a:ext cx="5036312" cy="868680"/>
          </a:xfrm>
          <a:prstGeom prst="rect">
            <a:avLst/>
          </a:prstGeom>
          <a:solidFill>
            <a:srgbClr val="FFFFFF"/>
          </a:solidFill>
          <a:ln w="15240">
            <a:solidFill>
              <a:srgbClr val="2E75B6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72E6A60-AD0C-495A-B9BE-D7CCD291496A}"/>
              </a:ext>
            </a:extLst>
          </p:cNvPr>
          <p:cNvSpPr txBox="1"/>
          <p:nvPr/>
        </p:nvSpPr>
        <p:spPr>
          <a:xfrm>
            <a:off x="6733774" y="2560320"/>
            <a:ext cx="2784691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로지스틱 회귀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35A3F8D-13A4-4355-B19C-9CE28B178117}"/>
              </a:ext>
            </a:extLst>
          </p:cNvPr>
          <p:cNvSpPr txBox="1"/>
          <p:nvPr/>
        </p:nvSpPr>
        <p:spPr>
          <a:xfrm>
            <a:off x="6733774" y="2851908"/>
            <a:ext cx="469419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 err="1">
                <a:solidFill>
                  <a:srgbClr val="1A1A2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statsmodels</a:t>
            </a:r>
            <a:r>
              <a:rPr sz="1200" b="0" i="0" dirty="0">
                <a:solidFill>
                  <a:srgbClr val="1A1A2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Logit
(BFGS, </a:t>
            </a:r>
            <a:r>
              <a:rPr sz="1200" b="0" i="0" dirty="0" err="1">
                <a:solidFill>
                  <a:srgbClr val="1A1A2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maxiter</a:t>
            </a:r>
            <a:r>
              <a:rPr sz="1200" b="0" i="0" dirty="0">
                <a:solidFill>
                  <a:srgbClr val="1A1A2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=1,000)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F6A4BCF-6B4B-41DF-B085-EE80E6A29BBF}"/>
              </a:ext>
            </a:extLst>
          </p:cNvPr>
          <p:cNvSpPr txBox="1"/>
          <p:nvPr/>
        </p:nvSpPr>
        <p:spPr>
          <a:xfrm>
            <a:off x="508000" y="3566160"/>
            <a:ext cx="115214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dirty="0" err="1">
                <a:solidFill>
                  <a:srgbClr val="1A355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모델</a:t>
            </a:r>
            <a:r>
              <a:rPr b="1" i="0" dirty="0">
                <a:solidFill>
                  <a:srgbClr val="1A355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b="1" i="0" dirty="0" err="1">
                <a:solidFill>
                  <a:srgbClr val="1A355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검증</a:t>
            </a:r>
            <a:r>
              <a:rPr b="1" i="0" dirty="0">
                <a:solidFill>
                  <a:srgbClr val="1A355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b="1" i="0" dirty="0" err="1">
                <a:solidFill>
                  <a:srgbClr val="1A355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전략</a:t>
            </a:r>
            <a:endParaRPr b="1" i="0" dirty="0">
              <a:solidFill>
                <a:srgbClr val="1A355E"/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graphicFrame>
        <p:nvGraphicFramePr>
          <p:cNvPr id="23" name="Table 15">
            <a:extLst>
              <a:ext uri="{FF2B5EF4-FFF2-40B4-BE49-F238E27FC236}">
                <a16:creationId xmlns:a16="http://schemas.microsoft.com/office/drawing/2014/main" id="{784D0E6A-BB73-461D-A2D6-C8B46A2BD3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6479115"/>
              </p:ext>
            </p:extLst>
          </p:nvPr>
        </p:nvGraphicFramePr>
        <p:xfrm>
          <a:off x="508000" y="3931920"/>
          <a:ext cx="111760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8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8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 b="1" dirty="0" err="1">
                          <a:solidFill>
                            <a:srgbClr val="FFFFFF"/>
                          </a:solidFill>
                        </a:rPr>
                        <a:t>검증</a:t>
                      </a:r>
                      <a:r>
                        <a:rPr sz="1400" b="1" dirty="0">
                          <a:solidFill>
                            <a:srgbClr val="FFFFFF"/>
                          </a:solidFill>
                        </a:rPr>
                        <a:t> </a:t>
                      </a:r>
                      <a:r>
                        <a:rPr sz="1400" b="1" dirty="0" err="1">
                          <a:solidFill>
                            <a:srgbClr val="FFFFFF"/>
                          </a:solidFill>
                        </a:rPr>
                        <a:t>방법</a:t>
                      </a:r>
                      <a:endParaRPr sz="1400" b="1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dirty="0" err="1">
                          <a:solidFill>
                            <a:srgbClr val="FFFFFF"/>
                          </a:solidFill>
                        </a:rPr>
                        <a:t>상세</a:t>
                      </a:r>
                      <a:endParaRPr sz="1400" b="1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5-Fold Cross Validation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각 Fold에서 scaler 재적합 (Data Leakage 방지)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Bootstrap AUC 95% CI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n=1,000 resampling — 비모수 신뢰구간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Hosmer-Lemeshow 검정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로지스틱 보정도(Calibration) 검증 — p&gt;0.05 양호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잔차 진단 3종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dirty="0">
                          <a:solidFill>
                            <a:srgbClr val="1A1A2E"/>
                          </a:solidFill>
                        </a:rPr>
                        <a:t>Shapiro-Wilk · Breusch-Pagan · Durbin-Watson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4" name="TextBox 23">
            <a:extLst>
              <a:ext uri="{FF2B5EF4-FFF2-40B4-BE49-F238E27FC236}">
                <a16:creationId xmlns:a16="http://schemas.microsoft.com/office/drawing/2014/main" id="{E8622571-6AAB-407B-9DAA-FC7685AA1F20}"/>
              </a:ext>
            </a:extLst>
          </p:cNvPr>
          <p:cNvSpPr txBox="1"/>
          <p:nvPr/>
        </p:nvSpPr>
        <p:spPr>
          <a:xfrm>
            <a:off x="320040" y="5943600"/>
            <a:ext cx="115214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 dirty="0">
                <a:solidFill>
                  <a:srgbClr val="2E75B6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※ </a:t>
            </a:r>
            <a:r>
              <a:rPr sz="1100" b="0" i="1" dirty="0" err="1">
                <a:solidFill>
                  <a:srgbClr val="2E75B6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선형·로지스틱</a:t>
            </a:r>
            <a:r>
              <a:rPr sz="1100" b="0" i="1" dirty="0">
                <a:solidFill>
                  <a:srgbClr val="2E75B6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sz="1100" b="0" i="1" dirty="0" err="1">
                <a:solidFill>
                  <a:srgbClr val="2E75B6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회귀</a:t>
            </a:r>
            <a:r>
              <a:rPr sz="1100" b="0" i="1" dirty="0">
                <a:solidFill>
                  <a:srgbClr val="2E75B6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sz="1100" b="0" i="1" dirty="0" err="1">
                <a:solidFill>
                  <a:srgbClr val="2E75B6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모두</a:t>
            </a:r>
            <a:r>
              <a:rPr sz="1100" b="0" i="1" dirty="0">
                <a:solidFill>
                  <a:srgbClr val="2E75B6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Case 1(Sex</a:t>
            </a:r>
            <a:r>
              <a:rPr lang="en-US" sz="1100" b="0" i="1" dirty="0">
                <a:solidFill>
                  <a:srgbClr val="2E75B6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, </a:t>
            </a:r>
            <a:r>
              <a:rPr sz="1100" b="0" i="1" dirty="0">
                <a:solidFill>
                  <a:srgbClr val="2E75B6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Age) → Case 2(+AEC) → Case 3(+CT Model</a:t>
            </a:r>
            <a:r>
              <a:rPr lang="en-US" sz="1100" i="1" dirty="0">
                <a:solidFill>
                  <a:srgbClr val="2E75B6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, </a:t>
            </a:r>
            <a:r>
              <a:rPr lang="en-US" sz="1100" b="0" i="1" dirty="0" err="1">
                <a:solidFill>
                  <a:srgbClr val="2E75B6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kVp</a:t>
            </a:r>
            <a:r>
              <a:rPr sz="1100" b="0" i="1" dirty="0">
                <a:solidFill>
                  <a:srgbClr val="2E75B6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) </a:t>
            </a:r>
            <a:r>
              <a:rPr sz="1100" b="0" i="1" dirty="0" err="1">
                <a:solidFill>
                  <a:srgbClr val="2E75B6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순으로</a:t>
            </a:r>
            <a:r>
              <a:rPr sz="1100" b="0" i="1" dirty="0">
                <a:solidFill>
                  <a:srgbClr val="2E75B6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sz="1100" b="0" i="1" dirty="0" err="1">
                <a:solidFill>
                  <a:srgbClr val="2E75B6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점진</a:t>
            </a:r>
            <a:r>
              <a:rPr sz="1100" b="0" i="1" dirty="0">
                <a:solidFill>
                  <a:srgbClr val="2E75B6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sz="1100" b="0" i="1" dirty="0" err="1">
                <a:solidFill>
                  <a:srgbClr val="2E75B6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투입</a:t>
            </a:r>
            <a:endParaRPr sz="1100" b="0" i="1" dirty="0">
              <a:solidFill>
                <a:srgbClr val="2E75B6"/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4360444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2896658"/>
            <a:ext cx="11176000" cy="532342"/>
          </a:xfrm>
        </p:spPr>
        <p:txBody>
          <a:bodyPr>
            <a:noAutofit/>
          </a:bodyPr>
          <a:lstStyle/>
          <a:p>
            <a:r>
              <a:rPr lang="en-US" altLang="ko-KR" sz="4000" dirty="0"/>
              <a:t>Univariate Analysis</a:t>
            </a:r>
            <a:endParaRPr lang="ko-KR" altLang="en-US" sz="40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116732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F1991196-0B56-3DBE-CD44-995DAEF96C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>
            <a:normAutofit/>
          </a:bodyPr>
          <a:lstStyle/>
          <a:p>
            <a:r>
              <a:rPr lang="en-US" altLang="ko-KR" dirty="0"/>
              <a:t>Linear Regression - </a:t>
            </a:r>
            <a:r>
              <a:rPr lang="ko-KR" altLang="en-US" dirty="0"/>
              <a:t>강남</a:t>
            </a:r>
            <a:endParaRPr lang="en-US" altLang="ko-KR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en-US" altLang="ko-KR"/>
              <a:t>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25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4A053AA-276C-91F0-E133-71F75BB9D47E}"/>
              </a:ext>
            </a:extLst>
          </p:cNvPr>
          <p:cNvSpPr txBox="1"/>
          <p:nvPr/>
        </p:nvSpPr>
        <p:spPr>
          <a:xfrm>
            <a:off x="1056000" y="3704551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 dirty="0">
                <a:solidFill>
                  <a:srgbClr val="FF7F27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* p &lt; 0.05 </a:t>
            </a:r>
            <a:r>
              <a:rPr sz="1100" b="0" i="1" dirty="0" err="1">
                <a:solidFill>
                  <a:srgbClr val="FF7F27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유의</a:t>
            </a:r>
            <a:endParaRPr sz="1100" b="0" i="1" dirty="0">
              <a:solidFill>
                <a:srgbClr val="FF7F27"/>
              </a:solidFill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pic>
        <p:nvPicPr>
          <p:cNvPr id="10" name="Picture 8" descr="07_linear_univariate_r2.png">
            <a:extLst>
              <a:ext uri="{FF2B5EF4-FFF2-40B4-BE49-F238E27FC236}">
                <a16:creationId xmlns:a16="http://schemas.microsoft.com/office/drawing/2014/main" id="{732D5664-492E-BFBB-E390-1378B0AE87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69350" y="4101527"/>
            <a:ext cx="5699562" cy="2323023"/>
          </a:xfrm>
          <a:prstGeom prst="rect">
            <a:avLst/>
          </a:prstGeom>
        </p:spPr>
      </p:pic>
      <p:pic>
        <p:nvPicPr>
          <p:cNvPr id="12" name="Picture 10" descr="06_linear_forest.png">
            <a:extLst>
              <a:ext uri="{FF2B5EF4-FFF2-40B4-BE49-F238E27FC236}">
                <a16:creationId xmlns:a16="http://schemas.microsoft.com/office/drawing/2014/main" id="{D9EF556A-F928-C17A-585F-2FA9CA53D8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962" y="4101527"/>
            <a:ext cx="6013038" cy="2323023"/>
          </a:xfrm>
          <a:prstGeom prst="rect">
            <a:avLst/>
          </a:prstGeom>
        </p:spPr>
      </p:pic>
      <p:graphicFrame>
        <p:nvGraphicFramePr>
          <p:cNvPr id="14" name="Table 5">
            <a:extLst>
              <a:ext uri="{FF2B5EF4-FFF2-40B4-BE49-F238E27FC236}">
                <a16:creationId xmlns:a16="http://schemas.microsoft.com/office/drawing/2014/main" id="{67ED52CC-D33E-5A69-7988-C4AFDD527E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7434012"/>
              </p:ext>
            </p:extLst>
          </p:nvPr>
        </p:nvGraphicFramePr>
        <p:xfrm>
          <a:off x="1056000" y="1543791"/>
          <a:ext cx="10080000" cy="21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91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0287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변수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β 계수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95% CI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p-value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R²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Sex (M=1, F=0)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44.84 *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[42.76, 46.91]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&lt; 0.001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0.518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Age (표준화)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-2.99 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[-4.45, -1.54]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&lt; 0.001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AEC: mean (표준화)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9.05 *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[7.65, 10.45]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&lt; 0.001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0.088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AEC: CV (표준화)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-10.64 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[-12.01, -9.27]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&lt; 0.001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0.122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AEC: skewness (표준화)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-10.47 *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[-11.84, -9.09]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&lt; 0.001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0.118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AEC: slope_abs_mean (표준화)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1.28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[-0.19, 2.74]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ManufacturerModelName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N/A (범주형) *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N/A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&lt; 0.001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0.045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4716808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89A0E4-4528-FC77-03A6-2E3D76B44F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7B6059A-25F8-EA87-18B4-618C26C366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en-US" altLang="ko-KR"/>
              <a:t>Detailed progress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67681B0-02D1-D323-2098-6BC583C0F3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Logistic Regression - </a:t>
            </a:r>
            <a:r>
              <a:rPr lang="ko-KR" altLang="en-US" dirty="0"/>
              <a:t>강남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B565F31-626B-B160-358F-0E1558B3E9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26</a:t>
            </a:fld>
            <a:endParaRPr lang="ko-KR" altLang="en-US" dirty="0"/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50E6AAC0-F358-4B19-9CE3-93F4BA13BB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74202539"/>
              </p:ext>
            </p:extLst>
          </p:nvPr>
        </p:nvGraphicFramePr>
        <p:xfrm>
          <a:off x="1056000" y="1583460"/>
          <a:ext cx="10080000" cy="21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440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1759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변수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Crude OR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95% CI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p-value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AUC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Sex (M=1, F=0)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1.056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[0.840, 1.328]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0.639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0.507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Age (표준화)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1.585 *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[1.402, 1.792]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&lt; 0.001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0.623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AEC: mean (표준화)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0.586 *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[0.520, 0.661]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&lt; 0.001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0.653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AEC: CV (표준화)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1.117 *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[1.000, 1.249]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0.050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0.541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AEC: skewness (표준화)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1.173 *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[1.044, 1.319]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0.0074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0.544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AEC: slope_abs_mean (표준화)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1.029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[0.920, 1.150]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0.618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0.495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ManufacturerModelName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LR_χ²=50.59 *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N/A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0.011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0.581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AE86DF03-11BB-9F3C-7425-DF380FE33C5C}"/>
              </a:ext>
            </a:extLst>
          </p:cNvPr>
          <p:cNvSpPr txBox="1"/>
          <p:nvPr/>
        </p:nvSpPr>
        <p:spPr>
          <a:xfrm>
            <a:off x="1056000" y="3743460"/>
            <a:ext cx="10080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 dirty="0">
                <a:solidFill>
                  <a:srgbClr val="FF7F27"/>
                </a:solidFill>
              </a:rPr>
              <a:t>* p &lt; 0.05 </a:t>
            </a:r>
            <a:r>
              <a:rPr sz="1100" b="0" i="1" dirty="0" err="1">
                <a:solidFill>
                  <a:srgbClr val="FF7F27"/>
                </a:solidFill>
              </a:rPr>
              <a:t>유의</a:t>
            </a:r>
            <a:r>
              <a:rPr sz="1100" b="0" i="1" dirty="0">
                <a:solidFill>
                  <a:srgbClr val="FF7F27"/>
                </a:solidFill>
              </a:rPr>
              <a:t>  |  mean, CV, skewness, </a:t>
            </a:r>
            <a:r>
              <a:rPr sz="1100" b="0" i="1" dirty="0" err="1">
                <a:solidFill>
                  <a:srgbClr val="FF7F27"/>
                </a:solidFill>
              </a:rPr>
              <a:t>slope_abs_mean</a:t>
            </a:r>
            <a:r>
              <a:rPr sz="1100" b="0" i="1" dirty="0">
                <a:solidFill>
                  <a:srgbClr val="FF7F27"/>
                </a:solidFill>
              </a:rPr>
              <a:t>: OR </a:t>
            </a:r>
            <a:r>
              <a:rPr sz="1100" b="0" i="1" dirty="0" err="1">
                <a:solidFill>
                  <a:srgbClr val="FF7F27"/>
                </a:solidFill>
              </a:rPr>
              <a:t>방향</a:t>
            </a:r>
            <a:r>
              <a:rPr sz="1100" b="0" i="1" dirty="0">
                <a:solidFill>
                  <a:srgbClr val="FF7F27"/>
                </a:solidFill>
              </a:rPr>
              <a:t> </a:t>
            </a:r>
            <a:r>
              <a:rPr sz="1100" b="0" i="1" dirty="0" err="1">
                <a:solidFill>
                  <a:srgbClr val="FF7F27"/>
                </a:solidFill>
              </a:rPr>
              <a:t>확인</a:t>
            </a:r>
            <a:r>
              <a:rPr sz="1100" b="0" i="1" dirty="0">
                <a:solidFill>
                  <a:srgbClr val="FF7F27"/>
                </a:solidFill>
              </a:rPr>
              <a:t>  |  Sex: </a:t>
            </a:r>
            <a:r>
              <a:rPr sz="1100" b="0" i="1" dirty="0" err="1">
                <a:solidFill>
                  <a:srgbClr val="FF7F27"/>
                </a:solidFill>
              </a:rPr>
              <a:t>이진화</a:t>
            </a:r>
            <a:r>
              <a:rPr sz="1100" b="0" i="1" dirty="0">
                <a:solidFill>
                  <a:srgbClr val="FF7F27"/>
                </a:solidFill>
              </a:rPr>
              <a:t> 후 </a:t>
            </a:r>
            <a:r>
              <a:rPr sz="1100" b="0" i="1" dirty="0" err="1">
                <a:solidFill>
                  <a:srgbClr val="FF7F27"/>
                </a:solidFill>
              </a:rPr>
              <a:t>단변량</a:t>
            </a:r>
            <a:r>
              <a:rPr sz="1100" b="0" i="1" dirty="0">
                <a:solidFill>
                  <a:srgbClr val="FF7F27"/>
                </a:solidFill>
              </a:rPr>
              <a:t> </a:t>
            </a:r>
            <a:r>
              <a:rPr sz="1100" b="0" i="1" dirty="0" err="1">
                <a:solidFill>
                  <a:srgbClr val="FF7F27"/>
                </a:solidFill>
              </a:rPr>
              <a:t>비유의</a:t>
            </a:r>
            <a:endParaRPr sz="1100" b="0" i="1" dirty="0">
              <a:solidFill>
                <a:srgbClr val="FF7F27"/>
              </a:solidFill>
            </a:endParaRPr>
          </a:p>
        </p:txBody>
      </p:sp>
      <p:pic>
        <p:nvPicPr>
          <p:cNvPr id="8" name="Picture 8" descr="11_logistic_forest.png">
            <a:extLst>
              <a:ext uri="{FF2B5EF4-FFF2-40B4-BE49-F238E27FC236}">
                <a16:creationId xmlns:a16="http://schemas.microsoft.com/office/drawing/2014/main" id="{01922D40-4E57-A870-E95F-274DC9593D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11533" y="4005070"/>
            <a:ext cx="5486400" cy="23774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729372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E22BA2-AC0D-774E-E251-38BDEDD9C1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8" descr="07_linear_univariate_r2.png">
            <a:extLst>
              <a:ext uri="{FF2B5EF4-FFF2-40B4-BE49-F238E27FC236}">
                <a16:creationId xmlns:a16="http://schemas.microsoft.com/office/drawing/2014/main" id="{552E7177-C455-7B7A-6A5F-A2E23BE08E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69350" y="4101526"/>
            <a:ext cx="5699562" cy="2323023"/>
          </a:xfrm>
          <a:prstGeom prst="rect">
            <a:avLst/>
          </a:prstGeom>
        </p:spPr>
      </p:pic>
      <p:pic>
        <p:nvPicPr>
          <p:cNvPr id="5" name="Picture 10" descr="06_linear_forest.png">
            <a:extLst>
              <a:ext uri="{FF2B5EF4-FFF2-40B4-BE49-F238E27FC236}">
                <a16:creationId xmlns:a16="http://schemas.microsoft.com/office/drawing/2014/main" id="{AF2DD5C6-0B9B-B2AD-123C-1498A0FBBE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6312" y="4101526"/>
            <a:ext cx="6013038" cy="2323023"/>
          </a:xfrm>
          <a:prstGeom prst="rect">
            <a:avLst/>
          </a:prstGeom>
        </p:spPr>
      </p:pic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7CA7E6BF-D608-61CE-80B1-8DC1EEAA62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>
            <a:normAutofit/>
          </a:bodyPr>
          <a:lstStyle/>
          <a:p>
            <a:r>
              <a:rPr lang="en-US" altLang="ko-KR" dirty="0"/>
              <a:t>Linear Regression - </a:t>
            </a:r>
            <a:r>
              <a:rPr lang="ko-KR" altLang="en-US" dirty="0"/>
              <a:t>신촌</a:t>
            </a:r>
            <a:endParaRPr lang="en-US" altLang="ko-KR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57DBE7C-0456-55AD-ED77-2D3D45434A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en-US" altLang="ko-KR"/>
              <a:t>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FB3555-72D5-2506-2F26-995291A967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27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E154CFD-0E0D-729C-2E1C-0C50B6B4017E}"/>
              </a:ext>
            </a:extLst>
          </p:cNvPr>
          <p:cNvSpPr txBox="1"/>
          <p:nvPr/>
        </p:nvSpPr>
        <p:spPr>
          <a:xfrm>
            <a:off x="1056000" y="3704551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 dirty="0">
                <a:solidFill>
                  <a:srgbClr val="FF7F27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* p &lt; 0.05 </a:t>
            </a:r>
            <a:r>
              <a:rPr sz="1100" b="0" i="1" dirty="0" err="1">
                <a:solidFill>
                  <a:srgbClr val="FF7F27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유의</a:t>
            </a:r>
            <a:endParaRPr sz="1100" b="0" i="1" dirty="0">
              <a:solidFill>
                <a:srgbClr val="FF7F27"/>
              </a:solidFill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graphicFrame>
        <p:nvGraphicFramePr>
          <p:cNvPr id="14" name="Table 5">
            <a:extLst>
              <a:ext uri="{FF2B5EF4-FFF2-40B4-BE49-F238E27FC236}">
                <a16:creationId xmlns:a16="http://schemas.microsoft.com/office/drawing/2014/main" id="{78D7AE0F-53A2-31AC-D9B9-9FE6CC6C5B0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5260105"/>
              </p:ext>
            </p:extLst>
          </p:nvPr>
        </p:nvGraphicFramePr>
        <p:xfrm>
          <a:off x="1056000" y="1543791"/>
          <a:ext cx="10080000" cy="21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91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0287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변수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β 계수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95% CI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p-value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R²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Sex (M=1, F=0)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43.67 *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[41.27, 46.07]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&lt; 0.001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0.502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Age (표준화)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-2.31 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[-4.00, -0.61]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0.0076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AEC: mean (표준화)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7.20 *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[5.55, 8.85]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&lt; 0.001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0.055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AEC: CV (표준화)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-3.87 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[-5.56, -2.19]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&lt; 0.001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AEC: skewness (표준화)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-1.36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[-3.05, 0.34]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0.117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0.002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AEC: slope_abs_mean (표준화)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3.14 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[1.45, 4.83]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&lt; 0.001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0.010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ManufacturerModelName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N/A (범주형) *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N/A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0.0052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0.057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4990361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41813E-DB4D-AF29-D1AC-ADF12B8F4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8" descr="11_logistic_forest.png">
            <a:extLst>
              <a:ext uri="{FF2B5EF4-FFF2-40B4-BE49-F238E27FC236}">
                <a16:creationId xmlns:a16="http://schemas.microsoft.com/office/drawing/2014/main" id="{211022FC-C84A-26A4-97C3-8C21320C90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11533" y="4005069"/>
            <a:ext cx="5486400" cy="2377403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3C7B2F77-C95E-9FB4-3CD7-D4BB211383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en-US" altLang="ko-KR"/>
              <a:t>Detailed progress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25A5383-39B5-E8B4-13B5-6BA134F581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Logistic Regression - </a:t>
            </a:r>
            <a:r>
              <a:rPr lang="ko-KR" altLang="en-US" dirty="0"/>
              <a:t>신촌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EAEC14-AEE3-28E5-55CE-951C60721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28</a:t>
            </a:fld>
            <a:endParaRPr lang="ko-KR" altLang="en-US" dirty="0"/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7B119F95-E3E8-D36D-AC89-9012804306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2160731"/>
              </p:ext>
            </p:extLst>
          </p:nvPr>
        </p:nvGraphicFramePr>
        <p:xfrm>
          <a:off x="1056000" y="1583460"/>
          <a:ext cx="10080000" cy="21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440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1759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변수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Crude OR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95% CI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p-value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AUC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Sex (M=1, F=0)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1.050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[0.814, 1.353]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0.709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0.506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Age (표준화)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1.409 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[1.224, 1.621]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&lt; 0.001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0.610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AEC: mean (표준화)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0.705 *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[0.608, 0.818]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&lt; 0.001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0.595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AEC: CV (표준화)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1.098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[0.969, 1.244]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0.143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0.535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AEC: skewness (표준화)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0.934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[0.824, 1.059]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0.285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0.519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AEC: slope_abs_mean (표준화)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0.715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[0.498, 1.026]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0.559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ManufacturerModelName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LR_χ²=69.278 *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N/A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0.601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4B38F5A2-255A-EAFC-708F-830EA94F6548}"/>
              </a:ext>
            </a:extLst>
          </p:cNvPr>
          <p:cNvSpPr txBox="1"/>
          <p:nvPr/>
        </p:nvSpPr>
        <p:spPr>
          <a:xfrm>
            <a:off x="1056000" y="3743460"/>
            <a:ext cx="10080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 dirty="0">
                <a:solidFill>
                  <a:srgbClr val="FF7F27"/>
                </a:solidFill>
              </a:rPr>
              <a:t>* p &lt; 0.05 </a:t>
            </a:r>
            <a:r>
              <a:rPr sz="1100" b="0" i="1" dirty="0" err="1">
                <a:solidFill>
                  <a:srgbClr val="FF7F27"/>
                </a:solidFill>
              </a:rPr>
              <a:t>유의</a:t>
            </a:r>
            <a:r>
              <a:rPr sz="1100" b="0" i="1" dirty="0">
                <a:solidFill>
                  <a:srgbClr val="FF7F27"/>
                </a:solidFill>
              </a:rPr>
              <a:t>  |  mean, CV, skewness, </a:t>
            </a:r>
            <a:r>
              <a:rPr sz="1100" b="0" i="1" dirty="0" err="1">
                <a:solidFill>
                  <a:srgbClr val="FF7F27"/>
                </a:solidFill>
              </a:rPr>
              <a:t>slope_abs_mean</a:t>
            </a:r>
            <a:r>
              <a:rPr sz="1100" b="0" i="1" dirty="0">
                <a:solidFill>
                  <a:srgbClr val="FF7F27"/>
                </a:solidFill>
              </a:rPr>
              <a:t>: OR </a:t>
            </a:r>
            <a:r>
              <a:rPr sz="1100" b="0" i="1" dirty="0" err="1">
                <a:solidFill>
                  <a:srgbClr val="FF7F27"/>
                </a:solidFill>
              </a:rPr>
              <a:t>방향</a:t>
            </a:r>
            <a:r>
              <a:rPr sz="1100" b="0" i="1" dirty="0">
                <a:solidFill>
                  <a:srgbClr val="FF7F27"/>
                </a:solidFill>
              </a:rPr>
              <a:t> </a:t>
            </a:r>
            <a:r>
              <a:rPr sz="1100" b="0" i="1" dirty="0" err="1">
                <a:solidFill>
                  <a:srgbClr val="FF7F27"/>
                </a:solidFill>
              </a:rPr>
              <a:t>확인</a:t>
            </a:r>
            <a:r>
              <a:rPr sz="1100" b="0" i="1" dirty="0">
                <a:solidFill>
                  <a:srgbClr val="FF7F27"/>
                </a:solidFill>
              </a:rPr>
              <a:t>  |  Sex: </a:t>
            </a:r>
            <a:r>
              <a:rPr sz="1100" b="0" i="1" dirty="0" err="1">
                <a:solidFill>
                  <a:srgbClr val="FF7F27"/>
                </a:solidFill>
              </a:rPr>
              <a:t>이진화</a:t>
            </a:r>
            <a:r>
              <a:rPr sz="1100" b="0" i="1" dirty="0">
                <a:solidFill>
                  <a:srgbClr val="FF7F27"/>
                </a:solidFill>
              </a:rPr>
              <a:t> 후 </a:t>
            </a:r>
            <a:r>
              <a:rPr sz="1100" b="0" i="1" dirty="0" err="1">
                <a:solidFill>
                  <a:srgbClr val="FF7F27"/>
                </a:solidFill>
              </a:rPr>
              <a:t>단변량</a:t>
            </a:r>
            <a:r>
              <a:rPr sz="1100" b="0" i="1" dirty="0">
                <a:solidFill>
                  <a:srgbClr val="FF7F27"/>
                </a:solidFill>
              </a:rPr>
              <a:t> </a:t>
            </a:r>
            <a:r>
              <a:rPr sz="1100" b="0" i="1" dirty="0" err="1">
                <a:solidFill>
                  <a:srgbClr val="FF7F27"/>
                </a:solidFill>
              </a:rPr>
              <a:t>비유의</a:t>
            </a:r>
            <a:endParaRPr sz="1100" b="0" i="1" dirty="0">
              <a:solidFill>
                <a:srgbClr val="FF7F27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9976089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059333-5D10-83CB-AA31-404CAED856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A2DBD3-62E5-96A7-3E5F-73205B97DF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2896658"/>
            <a:ext cx="11176000" cy="532342"/>
          </a:xfrm>
        </p:spPr>
        <p:txBody>
          <a:bodyPr>
            <a:noAutofit/>
          </a:bodyPr>
          <a:lstStyle/>
          <a:p>
            <a:r>
              <a:rPr lang="en-US" altLang="ko-KR" sz="4000" dirty="0"/>
              <a:t>Multivariable Analysis</a:t>
            </a:r>
            <a:endParaRPr lang="ko-KR" altLang="en-US" sz="40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64AA3F2-ECC9-8DC2-BE19-247AABEF74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6592094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4C2C15-0464-5B58-1DF0-E5F02C03B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E7878C8-7E01-B204-A2C6-A7A89B7A81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en-US" altLang="ko-KR"/>
              <a:t>Detailed progress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8BA47C3-775A-C51F-B8C3-4496044EDB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알고리즘 설명</a:t>
            </a:r>
            <a:endParaRPr lang="en-US" altLang="ko-KR" dirty="0"/>
          </a:p>
          <a:p>
            <a:pPr lvl="1"/>
            <a:r>
              <a:rPr lang="en-US" altLang="ko-KR" dirty="0"/>
              <a:t>AEC</a:t>
            </a:r>
            <a:r>
              <a:rPr lang="ko-KR" altLang="en-US" dirty="0"/>
              <a:t> </a:t>
            </a:r>
            <a:r>
              <a:rPr lang="en-US" altLang="ko-KR" dirty="0"/>
              <a:t>Feature</a:t>
            </a:r>
            <a:r>
              <a:rPr lang="ko-KR" altLang="en-US" dirty="0"/>
              <a:t> </a:t>
            </a:r>
            <a:r>
              <a:rPr lang="en-US" altLang="ko-KR" dirty="0"/>
              <a:t>:</a:t>
            </a:r>
            <a:r>
              <a:rPr lang="ko-KR" altLang="en-US" dirty="0"/>
              <a:t> </a:t>
            </a:r>
            <a:r>
              <a:rPr lang="en-US" altLang="ko-KR" dirty="0"/>
              <a:t>[mean, CV, skewness, </a:t>
            </a:r>
            <a:r>
              <a:rPr lang="en-US" altLang="ko-KR" dirty="0" err="1"/>
              <a:t>slope_abs_mean</a:t>
            </a:r>
            <a:r>
              <a:rPr lang="en-US" altLang="ko-KR" dirty="0"/>
              <a:t>]</a:t>
            </a:r>
          </a:p>
          <a:p>
            <a:pPr lvl="1"/>
            <a:r>
              <a:rPr lang="en-US" altLang="ko-KR" dirty="0"/>
              <a:t>Input : [</a:t>
            </a:r>
            <a:r>
              <a:rPr lang="ko-KR" altLang="en-US" dirty="0"/>
              <a:t>나이</a:t>
            </a:r>
            <a:r>
              <a:rPr lang="en-US" altLang="ko-KR" dirty="0"/>
              <a:t>, </a:t>
            </a:r>
            <a:r>
              <a:rPr lang="ko-KR" altLang="en-US" dirty="0"/>
              <a:t>성별</a:t>
            </a:r>
            <a:r>
              <a:rPr lang="en-US" altLang="ko-KR" dirty="0"/>
              <a:t>], [+</a:t>
            </a:r>
            <a:r>
              <a:rPr lang="ko-KR" altLang="en-US" dirty="0"/>
              <a:t> </a:t>
            </a:r>
            <a:r>
              <a:rPr lang="en-US" altLang="ko-KR" dirty="0"/>
              <a:t>AEC Feature], [+ </a:t>
            </a:r>
            <a:r>
              <a:rPr lang="ko-KR" altLang="en-US" dirty="0"/>
              <a:t>모델명</a:t>
            </a:r>
            <a:r>
              <a:rPr lang="en-US" altLang="ko-KR" dirty="0"/>
              <a:t>, </a:t>
            </a:r>
            <a:r>
              <a:rPr lang="en-US" altLang="ko-KR" dirty="0" err="1"/>
              <a:t>kVp</a:t>
            </a:r>
            <a:r>
              <a:rPr lang="en-US" altLang="ko-KR" dirty="0"/>
              <a:t>]</a:t>
            </a:r>
          </a:p>
          <a:p>
            <a:pPr lvl="1"/>
            <a:r>
              <a:rPr lang="en-US" altLang="ko-KR" dirty="0"/>
              <a:t>Output</a:t>
            </a:r>
          </a:p>
          <a:p>
            <a:pPr lvl="2"/>
            <a:r>
              <a:rPr lang="en-US" altLang="ko-KR" dirty="0"/>
              <a:t>Linear Reg: TAMA value</a:t>
            </a:r>
          </a:p>
          <a:p>
            <a:pPr lvl="2"/>
            <a:r>
              <a:rPr lang="en-US" altLang="ko-KR" dirty="0"/>
              <a:t>Logistic Reg: Binary Classification (threshold cutoff)</a:t>
            </a:r>
          </a:p>
          <a:p>
            <a:pPr lvl="1"/>
            <a:r>
              <a:rPr lang="en-US" altLang="ko-KR" dirty="0"/>
              <a:t>Evaluation Matrix</a:t>
            </a:r>
          </a:p>
          <a:p>
            <a:pPr lvl="2"/>
            <a:r>
              <a:rPr lang="en-US" altLang="ko-KR" dirty="0"/>
              <a:t>Linear Reg: R</a:t>
            </a:r>
            <a:r>
              <a:rPr lang="en-US" altLang="ko-KR" baseline="30000" dirty="0"/>
              <a:t>2</a:t>
            </a:r>
            <a:r>
              <a:rPr lang="en-US" altLang="ko-KR" dirty="0"/>
              <a:t>, Adjusted R</a:t>
            </a:r>
            <a:r>
              <a:rPr lang="en-US" altLang="ko-KR" baseline="30000" dirty="0"/>
              <a:t>2</a:t>
            </a:r>
            <a:r>
              <a:rPr lang="en-US" altLang="ko-KR" dirty="0"/>
              <a:t>, RMSE, AIC</a:t>
            </a:r>
          </a:p>
          <a:p>
            <a:pPr lvl="2"/>
            <a:r>
              <a:rPr lang="en-US" altLang="ko-KR" dirty="0"/>
              <a:t>Logistic Reg: AUC-ROC, </a:t>
            </a:r>
            <a:r>
              <a:rPr lang="en-US" altLang="ko-KR" dirty="0" err="1"/>
              <a:t>Nagelkerke</a:t>
            </a:r>
            <a:r>
              <a:rPr lang="en-US" altLang="ko-KR" dirty="0"/>
              <a:t> R</a:t>
            </a:r>
            <a:r>
              <a:rPr lang="en-US" altLang="ko-KR" baseline="30000" dirty="0"/>
              <a:t>2</a:t>
            </a:r>
            <a:r>
              <a:rPr lang="en-US" altLang="ko-KR" dirty="0"/>
              <a:t>, AIC, HL p-value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5B1368D-4361-95BD-BD52-3304B729E5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30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92191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en-US" altLang="ko-KR"/>
              <a:t>Detailed progress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4C152F-6AC6-4EBB-8679-327588602F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Linear Regression - </a:t>
            </a:r>
            <a:r>
              <a:rPr lang="ko-KR" altLang="en-US" dirty="0"/>
              <a:t>강남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31</a:t>
            </a:fld>
            <a:endParaRPr lang="ko-KR" alt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449A8616-0BBF-393C-F264-102EB2DE8C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4358084"/>
              </p:ext>
            </p:extLst>
          </p:nvPr>
        </p:nvGraphicFramePr>
        <p:xfrm>
          <a:off x="1056000" y="1652395"/>
          <a:ext cx="10080000" cy="25035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0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709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8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8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8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44008">
                <a:tc>
                  <a:txBody>
                    <a:bodyPr/>
                    <a:lstStyle/>
                    <a:p>
                      <a:pPr algn="ctr"/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변수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β </a:t>
                      </a:r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계수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95% CI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100" b="1" dirty="0">
                          <a:solidFill>
                            <a:srgbClr val="FFFFFF"/>
                          </a:solidFill>
                        </a:rPr>
                        <a:t>SE</a:t>
                      </a:r>
                    </a:p>
                    <a:p>
                      <a:pPr algn="ctr"/>
                      <a:r>
                        <a:rPr lang="en-US" altLang="ko-KR" sz="1100" b="1" dirty="0">
                          <a:solidFill>
                            <a:srgbClr val="FFFFFF"/>
                          </a:solidFill>
                        </a:rPr>
                        <a:t>(</a:t>
                      </a:r>
                      <a:r>
                        <a:rPr lang="ko-KR" altLang="en-US" sz="1100" b="1" dirty="0">
                          <a:solidFill>
                            <a:srgbClr val="FFFFFF"/>
                          </a:solidFill>
                        </a:rPr>
                        <a:t>표준 오차</a:t>
                      </a:r>
                      <a:r>
                        <a:rPr lang="en-US" altLang="ko-KR" sz="1100" b="1" dirty="0">
                          <a:solidFill>
                            <a:srgbClr val="FFFFFF"/>
                          </a:solidFill>
                        </a:rPr>
                        <a:t>)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</a:t>
                      </a:r>
                    </a:p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(</a:t>
                      </a:r>
                      <a:r>
                        <a:rPr lang="el-GR" altLang="ko-KR" sz="1100" b="1" dirty="0">
                          <a:solidFill>
                            <a:srgbClr val="FFFFFF"/>
                          </a:solidFill>
                        </a:rPr>
                        <a:t>β </a:t>
                      </a:r>
                      <a:r>
                        <a:rPr lang="en-US" altLang="ko-KR" sz="1100" b="1" dirty="0">
                          <a:solidFill>
                            <a:srgbClr val="FFFFFF"/>
                          </a:solidFill>
                        </a:rPr>
                        <a:t>/SE</a:t>
                      </a: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)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p-value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400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Sex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42.7220 *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[40.661, 44.783]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1.0506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40.664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&lt; 0.001</a:t>
                      </a:r>
                      <a:endParaRPr sz="1100" dirty="0">
                        <a:solidFill>
                          <a:srgbClr val="1A1A2E"/>
                        </a:solidFill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400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Age (표준화)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-6.6056 *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[-7.555, -5.656]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0.4842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-13.641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100" dirty="0">
                          <a:solidFill>
                            <a:srgbClr val="1A1A2E"/>
                          </a:solidFill>
                        </a:rPr>
                        <a:t>&lt; 0.001</a:t>
                      </a:r>
                      <a:endParaRPr sz="1100" dirty="0">
                        <a:solidFill>
                          <a:srgbClr val="1A1A2E"/>
                        </a:solidFill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400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mean (표준화)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9.2879 *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[8.103, 10.473]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0.6040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15.377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100" dirty="0">
                          <a:solidFill>
                            <a:srgbClr val="1A1A2E"/>
                          </a:solidFill>
                        </a:rPr>
                        <a:t>&lt; 0.001</a:t>
                      </a:r>
                      <a:endParaRPr sz="1100" dirty="0">
                        <a:solidFill>
                          <a:srgbClr val="1A1A2E"/>
                        </a:solidFill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400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CV (표준화)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-1.5131 *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[-2.701, -0.325]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0.6056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-2.498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1.2576e-02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400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skewness (표준화)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-1.7919 *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[-2.886, -0.698]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0.5577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-3.213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1.3380e-03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6794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slope_abs_mean (표준화)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-5.0111 *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[-6.415, -3.607]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0.7158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-7.001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100" dirty="0">
                          <a:solidFill>
                            <a:srgbClr val="1A1A2E"/>
                          </a:solidFill>
                        </a:rPr>
                        <a:t>&lt; 0.001</a:t>
                      </a:r>
                      <a:endParaRPr sz="1100" dirty="0">
                        <a:solidFill>
                          <a:srgbClr val="1A1A2E"/>
                        </a:solidFill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A8A31DB4-74F8-99BD-8C54-8965D199945F}"/>
              </a:ext>
            </a:extLst>
          </p:cNvPr>
          <p:cNvSpPr txBox="1"/>
          <p:nvPr/>
        </p:nvSpPr>
        <p:spPr>
          <a:xfrm>
            <a:off x="1056000" y="4155949"/>
            <a:ext cx="10080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 dirty="0">
                <a:solidFill>
                  <a:srgbClr val="FF7F27"/>
                </a:solidFill>
              </a:rPr>
              <a:t>* p &lt; 0.05 </a:t>
            </a:r>
            <a:r>
              <a:rPr sz="1000" b="0" i="1" dirty="0" err="1">
                <a:solidFill>
                  <a:srgbClr val="FF7F27"/>
                </a:solidFill>
              </a:rPr>
              <a:t>유의</a:t>
            </a:r>
            <a:r>
              <a:rPr sz="1000" b="0" i="1" dirty="0">
                <a:solidFill>
                  <a:srgbClr val="FF7F27"/>
                </a:solidFill>
              </a:rPr>
              <a:t>  |  CT </a:t>
            </a:r>
            <a:r>
              <a:rPr sz="1000" b="0" i="1" dirty="0" err="1">
                <a:solidFill>
                  <a:srgbClr val="FF7F27"/>
                </a:solidFill>
              </a:rPr>
              <a:t>모델명</a:t>
            </a:r>
            <a:r>
              <a:rPr sz="1000" b="0" i="1" dirty="0">
                <a:solidFill>
                  <a:srgbClr val="FF7F27"/>
                </a:solidFill>
              </a:rPr>
              <a:t> </a:t>
            </a:r>
            <a:r>
              <a:rPr sz="1000" b="0" i="1" dirty="0" err="1">
                <a:solidFill>
                  <a:srgbClr val="FF7F27"/>
                </a:solidFill>
              </a:rPr>
              <a:t>더미는</a:t>
            </a:r>
            <a:r>
              <a:rPr sz="1000" b="0" i="1" dirty="0">
                <a:solidFill>
                  <a:srgbClr val="FF7F27"/>
                </a:solidFill>
              </a:rPr>
              <a:t> </a:t>
            </a:r>
            <a:r>
              <a:rPr sz="1000" b="0" i="1" dirty="0" err="1">
                <a:solidFill>
                  <a:srgbClr val="FF7F27"/>
                </a:solidFill>
              </a:rPr>
              <a:t>생략</a:t>
            </a:r>
            <a:r>
              <a:rPr sz="1000" b="0" i="1" dirty="0">
                <a:solidFill>
                  <a:srgbClr val="FF7F27"/>
                </a:solidFill>
              </a:rPr>
              <a:t> (</a:t>
            </a:r>
            <a:r>
              <a:rPr sz="1000" b="0" i="1" dirty="0" err="1">
                <a:solidFill>
                  <a:srgbClr val="FF7F27"/>
                </a:solidFill>
              </a:rPr>
              <a:t>별도</a:t>
            </a:r>
            <a:r>
              <a:rPr sz="1000" b="0" i="1" dirty="0">
                <a:solidFill>
                  <a:srgbClr val="FF7F27"/>
                </a:solidFill>
              </a:rPr>
              <a:t> </a:t>
            </a:r>
            <a:r>
              <a:rPr sz="1000" b="0" i="1" dirty="0" err="1">
                <a:solidFill>
                  <a:srgbClr val="FF7F27"/>
                </a:solidFill>
              </a:rPr>
              <a:t>슬라이드</a:t>
            </a:r>
            <a:r>
              <a:rPr sz="1000" b="0" i="1" dirty="0">
                <a:solidFill>
                  <a:srgbClr val="FF7F27"/>
                </a:solidFill>
              </a:rPr>
              <a:t>)  |  </a:t>
            </a:r>
            <a:r>
              <a:rPr sz="1000" b="0" i="1" dirty="0" err="1">
                <a:solidFill>
                  <a:srgbClr val="FF7F27"/>
                </a:solidFill>
              </a:rPr>
              <a:t>표준화</a:t>
            </a:r>
            <a:r>
              <a:rPr sz="1000" b="0" i="1" dirty="0">
                <a:solidFill>
                  <a:srgbClr val="FF7F27"/>
                </a:solidFill>
              </a:rPr>
              <a:t> </a:t>
            </a:r>
            <a:r>
              <a:rPr sz="1000" b="0" i="1" dirty="0" err="1">
                <a:solidFill>
                  <a:srgbClr val="FF7F27"/>
                </a:solidFill>
              </a:rPr>
              <a:t>계수</a:t>
            </a:r>
            <a:r>
              <a:rPr sz="1000" b="0" i="1" dirty="0">
                <a:solidFill>
                  <a:srgbClr val="FF7F27"/>
                </a:solidFill>
              </a:rPr>
              <a:t>: 1 SD </a:t>
            </a:r>
            <a:r>
              <a:rPr sz="1000" b="0" i="1" dirty="0" err="1">
                <a:solidFill>
                  <a:srgbClr val="FF7F27"/>
                </a:solidFill>
              </a:rPr>
              <a:t>변화</a:t>
            </a:r>
            <a:r>
              <a:rPr sz="1000" b="0" i="1" dirty="0">
                <a:solidFill>
                  <a:srgbClr val="FF7F27"/>
                </a:solidFill>
              </a:rPr>
              <a:t> 시 TAMA </a:t>
            </a:r>
            <a:r>
              <a:rPr sz="1000" b="0" i="1" dirty="0" err="1">
                <a:solidFill>
                  <a:srgbClr val="FF7F27"/>
                </a:solidFill>
              </a:rPr>
              <a:t>변화량</a:t>
            </a:r>
            <a:endParaRPr sz="1000" b="0" i="1" dirty="0">
              <a:solidFill>
                <a:srgbClr val="FF7F27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8530250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E379D0-8FB0-CCBA-899D-A506150AE6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A142FDB3-914E-A10D-F32E-771001FF71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52799" y="3429000"/>
            <a:ext cx="5486400" cy="280924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D97E290C-248E-FE5E-4A97-471798F536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en-US" altLang="ko-KR"/>
              <a:t>Detailed progress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0721414-7466-5650-BAC8-D758D5070D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Linear Regression - </a:t>
            </a:r>
            <a:r>
              <a:rPr lang="ko-KR" altLang="en-US" dirty="0"/>
              <a:t>강남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23E586C-F83A-1851-207B-D8D49D7F4C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32</a:t>
            </a:fld>
            <a:endParaRPr lang="ko-KR" alt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4699A663-B3CC-B714-E6F9-499E8573ACF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3683335"/>
              </p:ext>
            </p:extLst>
          </p:nvPr>
        </p:nvGraphicFramePr>
        <p:xfrm>
          <a:off x="1516582" y="1625599"/>
          <a:ext cx="9158835" cy="13045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84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3102561567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지표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Case 0</a:t>
                      </a:r>
                    </a:p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[only AEC]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Case 1</a:t>
                      </a:r>
                      <a:endParaRPr lang="en-US" sz="11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[Age,</a:t>
                      </a: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 </a:t>
                      </a:r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Sex]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Case 2</a:t>
                      </a:r>
                      <a:endParaRPr lang="en-US" sz="11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[+AEC]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Case 3</a:t>
                      </a:r>
                      <a:endParaRPr lang="en-US" sz="11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[+Model</a:t>
                      </a: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, </a:t>
                      </a:r>
                      <a:r>
                        <a:rPr lang="en-US" sz="1100" b="1" dirty="0" err="1">
                          <a:solidFill>
                            <a:srgbClr val="FFFFFF"/>
                          </a:solidFill>
                        </a:rPr>
                        <a:t>kVp</a:t>
                      </a:r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]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Δ C1→C2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Δ C2→C3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R²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0.1909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0.5507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0.6356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0.6597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+0.0849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+0.0241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RMSE (cm²)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27.4216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20.4337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18.4019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17.784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-2.03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-0.62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AIC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15837.48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14849.28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14506.83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14454.56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-342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-52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D1DBFA0A-83E4-4F16-8464-20769B02D75A}"/>
              </a:ext>
            </a:extLst>
          </p:cNvPr>
          <p:cNvSpPr txBox="1"/>
          <p:nvPr/>
        </p:nvSpPr>
        <p:spPr>
          <a:xfrm>
            <a:off x="1516582" y="2930143"/>
            <a:ext cx="9158835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>
                <a:solidFill>
                  <a:srgbClr val="2E75B6"/>
                </a:solidFill>
              </a:rPr>
              <a:t>AEC </a:t>
            </a:r>
            <a:r>
              <a:rPr sz="1300" b="1" i="0" dirty="0" err="1">
                <a:solidFill>
                  <a:srgbClr val="2E75B6"/>
                </a:solidFill>
              </a:rPr>
              <a:t>특징</a:t>
            </a:r>
            <a:r>
              <a:rPr sz="1300" b="1" i="0" dirty="0">
                <a:solidFill>
                  <a:srgbClr val="2E75B6"/>
                </a:solidFill>
              </a:rPr>
              <a:t> </a:t>
            </a:r>
            <a:r>
              <a:rPr sz="1300" b="1" i="0" dirty="0" err="1">
                <a:solidFill>
                  <a:srgbClr val="2E75B6"/>
                </a:solidFill>
              </a:rPr>
              <a:t>추가</a:t>
            </a:r>
            <a:r>
              <a:rPr sz="1300" b="1" i="0" dirty="0">
                <a:solidFill>
                  <a:srgbClr val="2E75B6"/>
                </a:solidFill>
              </a:rPr>
              <a:t>(Case1→2)로 R² +15.4% </a:t>
            </a:r>
            <a:r>
              <a:rPr sz="1300" b="1" i="0" dirty="0" err="1">
                <a:solidFill>
                  <a:srgbClr val="2E75B6"/>
                </a:solidFill>
              </a:rPr>
              <a:t>향상</a:t>
            </a:r>
            <a:r>
              <a:rPr sz="1300" b="1" i="0" dirty="0">
                <a:solidFill>
                  <a:srgbClr val="2E75B6"/>
                </a:solidFill>
              </a:rPr>
              <a:t>  |  CT </a:t>
            </a:r>
            <a:r>
              <a:rPr sz="1300" b="1" i="0" dirty="0" err="1">
                <a:solidFill>
                  <a:srgbClr val="2E75B6"/>
                </a:solidFill>
              </a:rPr>
              <a:t>모델명</a:t>
            </a:r>
            <a:r>
              <a:rPr sz="1300" b="1" i="0" dirty="0">
                <a:solidFill>
                  <a:srgbClr val="2E75B6"/>
                </a:solidFill>
              </a:rPr>
              <a:t>/</a:t>
            </a:r>
            <a:r>
              <a:rPr sz="1300" b="1" i="0" dirty="0" err="1">
                <a:solidFill>
                  <a:srgbClr val="2E75B6"/>
                </a:solidFill>
              </a:rPr>
              <a:t>kVp</a:t>
            </a:r>
            <a:r>
              <a:rPr sz="1300" b="1" i="0" dirty="0">
                <a:solidFill>
                  <a:srgbClr val="2E75B6"/>
                </a:solidFill>
              </a:rPr>
              <a:t> </a:t>
            </a:r>
            <a:r>
              <a:rPr sz="1300" b="1" i="0" dirty="0" err="1">
                <a:solidFill>
                  <a:srgbClr val="2E75B6"/>
                </a:solidFill>
              </a:rPr>
              <a:t>추가</a:t>
            </a:r>
            <a:r>
              <a:rPr sz="1300" b="1" i="0" dirty="0">
                <a:solidFill>
                  <a:srgbClr val="2E75B6"/>
                </a:solidFill>
              </a:rPr>
              <a:t>(Case2→3)로 </a:t>
            </a:r>
            <a:r>
              <a:rPr sz="1300" b="1" i="0" dirty="0" err="1">
                <a:solidFill>
                  <a:srgbClr val="2E75B6"/>
                </a:solidFill>
              </a:rPr>
              <a:t>추가</a:t>
            </a:r>
            <a:r>
              <a:rPr sz="1300" b="1" i="0" dirty="0">
                <a:solidFill>
                  <a:srgbClr val="2E75B6"/>
                </a:solidFill>
              </a:rPr>
              <a:t> +3.8% </a:t>
            </a:r>
            <a:r>
              <a:rPr sz="1300" b="1" i="0" dirty="0" err="1">
                <a:solidFill>
                  <a:srgbClr val="2E75B6"/>
                </a:solidFill>
              </a:rPr>
              <a:t>향상</a:t>
            </a:r>
            <a:endParaRPr sz="1300" b="1" i="0" dirty="0">
              <a:solidFill>
                <a:srgbClr val="2E75B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4756992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C26146-F6C5-FFE5-6D90-7F52078828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CAF0658-B463-5F2A-9A90-96F01E75DA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en-US" altLang="ko-KR"/>
              <a:t>Detailed progress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F79F982-16DC-61DE-5BCD-C239074A56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Linear Regression - </a:t>
            </a:r>
            <a:r>
              <a:rPr lang="ko-KR" altLang="en-US" dirty="0"/>
              <a:t>신촌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C1C5E98-D667-C816-1D6B-12FD9CDA49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33</a:t>
            </a:fld>
            <a:endParaRPr lang="ko-KR" alt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87B1BB24-C14C-5EA9-3753-52F08462A8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42470"/>
              </p:ext>
            </p:extLst>
          </p:nvPr>
        </p:nvGraphicFramePr>
        <p:xfrm>
          <a:off x="1056000" y="1652395"/>
          <a:ext cx="10080000" cy="25035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0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709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8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8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8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44008">
                <a:tc>
                  <a:txBody>
                    <a:bodyPr/>
                    <a:lstStyle/>
                    <a:p>
                      <a:pPr algn="ctr"/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변수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β </a:t>
                      </a:r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계수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95% CI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100" b="1" dirty="0">
                          <a:solidFill>
                            <a:srgbClr val="FFFFFF"/>
                          </a:solidFill>
                        </a:rPr>
                        <a:t>SE</a:t>
                      </a:r>
                    </a:p>
                    <a:p>
                      <a:pPr algn="ctr"/>
                      <a:r>
                        <a:rPr lang="en-US" altLang="ko-KR" sz="1100" b="1" dirty="0">
                          <a:solidFill>
                            <a:srgbClr val="FFFFFF"/>
                          </a:solidFill>
                        </a:rPr>
                        <a:t>(</a:t>
                      </a:r>
                      <a:r>
                        <a:rPr lang="ko-KR" altLang="en-US" sz="1100" b="1" dirty="0">
                          <a:solidFill>
                            <a:srgbClr val="FFFFFF"/>
                          </a:solidFill>
                        </a:rPr>
                        <a:t>표준 오차</a:t>
                      </a:r>
                      <a:r>
                        <a:rPr lang="en-US" altLang="ko-KR" sz="1100" b="1" dirty="0">
                          <a:solidFill>
                            <a:srgbClr val="FFFFFF"/>
                          </a:solidFill>
                        </a:rPr>
                        <a:t>)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</a:t>
                      </a:r>
                    </a:p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(</a:t>
                      </a:r>
                      <a:r>
                        <a:rPr lang="el-GR" altLang="ko-KR" sz="1100" b="1" dirty="0">
                          <a:solidFill>
                            <a:srgbClr val="FFFFFF"/>
                          </a:solidFill>
                        </a:rPr>
                        <a:t>β </a:t>
                      </a:r>
                      <a:r>
                        <a:rPr lang="en-US" altLang="ko-KR" sz="1100" b="1" dirty="0">
                          <a:solidFill>
                            <a:srgbClr val="FFFFFF"/>
                          </a:solidFill>
                        </a:rPr>
                        <a:t>/SE</a:t>
                      </a: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)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p-value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4008"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Sex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42.0461 *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[39.703, 44.389]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1.1941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35.210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100" dirty="0">
                          <a:solidFill>
                            <a:srgbClr val="1A1A2E"/>
                          </a:solidFill>
                        </a:rPr>
                        <a:t>&lt; 0.001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400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Age (표준화)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-4.4900 *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[-5.676, -3.304]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0.6043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-7.430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100" dirty="0">
                          <a:solidFill>
                            <a:srgbClr val="1A1A2E"/>
                          </a:solidFill>
                        </a:rPr>
                        <a:t>&lt; 0.001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400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mean (표준화)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6.7256 *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[5.388, 8.063]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0.6818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9.864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100" dirty="0">
                          <a:solidFill>
                            <a:srgbClr val="1A1A2E"/>
                          </a:solidFill>
                        </a:rPr>
                        <a:t>&lt; 0.001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400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CV (표준화)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-1.8994 *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[-3.240, -0.559]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0.6834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-2.780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5.5270e-03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400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skewness (표준화)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2.0131 *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[0.662, 3.364]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0.6885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2.924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3.5210e-03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6794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slope_abs_mean (표준화)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0.6668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[-0.626, 1.960]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0.6591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1.012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3.1187e-01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C75B638D-DBC6-B8BE-F7CC-8FDD84F2B8AE}"/>
              </a:ext>
            </a:extLst>
          </p:cNvPr>
          <p:cNvSpPr txBox="1"/>
          <p:nvPr/>
        </p:nvSpPr>
        <p:spPr>
          <a:xfrm>
            <a:off x="1056000" y="4155949"/>
            <a:ext cx="10080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 dirty="0">
                <a:solidFill>
                  <a:srgbClr val="FF7F27"/>
                </a:solidFill>
              </a:rPr>
              <a:t>* p &lt; 0.05 </a:t>
            </a:r>
            <a:r>
              <a:rPr sz="1000" b="0" i="1" dirty="0" err="1">
                <a:solidFill>
                  <a:srgbClr val="FF7F27"/>
                </a:solidFill>
              </a:rPr>
              <a:t>유의</a:t>
            </a:r>
            <a:r>
              <a:rPr sz="1000" b="0" i="1" dirty="0">
                <a:solidFill>
                  <a:srgbClr val="FF7F27"/>
                </a:solidFill>
              </a:rPr>
              <a:t>  |  CT </a:t>
            </a:r>
            <a:r>
              <a:rPr sz="1000" b="0" i="1" dirty="0" err="1">
                <a:solidFill>
                  <a:srgbClr val="FF7F27"/>
                </a:solidFill>
              </a:rPr>
              <a:t>모델명</a:t>
            </a:r>
            <a:r>
              <a:rPr sz="1000" b="0" i="1" dirty="0">
                <a:solidFill>
                  <a:srgbClr val="FF7F27"/>
                </a:solidFill>
              </a:rPr>
              <a:t> </a:t>
            </a:r>
            <a:r>
              <a:rPr sz="1000" b="0" i="1" dirty="0" err="1">
                <a:solidFill>
                  <a:srgbClr val="FF7F27"/>
                </a:solidFill>
              </a:rPr>
              <a:t>더미는</a:t>
            </a:r>
            <a:r>
              <a:rPr sz="1000" b="0" i="1" dirty="0">
                <a:solidFill>
                  <a:srgbClr val="FF7F27"/>
                </a:solidFill>
              </a:rPr>
              <a:t> </a:t>
            </a:r>
            <a:r>
              <a:rPr sz="1000" b="0" i="1" dirty="0" err="1">
                <a:solidFill>
                  <a:srgbClr val="FF7F27"/>
                </a:solidFill>
              </a:rPr>
              <a:t>생략</a:t>
            </a:r>
            <a:r>
              <a:rPr sz="1000" b="0" i="1" dirty="0">
                <a:solidFill>
                  <a:srgbClr val="FF7F27"/>
                </a:solidFill>
              </a:rPr>
              <a:t> (</a:t>
            </a:r>
            <a:r>
              <a:rPr sz="1000" b="0" i="1" dirty="0" err="1">
                <a:solidFill>
                  <a:srgbClr val="FF7F27"/>
                </a:solidFill>
              </a:rPr>
              <a:t>별도</a:t>
            </a:r>
            <a:r>
              <a:rPr sz="1000" b="0" i="1" dirty="0">
                <a:solidFill>
                  <a:srgbClr val="FF7F27"/>
                </a:solidFill>
              </a:rPr>
              <a:t> </a:t>
            </a:r>
            <a:r>
              <a:rPr sz="1000" b="0" i="1" dirty="0" err="1">
                <a:solidFill>
                  <a:srgbClr val="FF7F27"/>
                </a:solidFill>
              </a:rPr>
              <a:t>슬라이드</a:t>
            </a:r>
            <a:r>
              <a:rPr sz="1000" b="0" i="1" dirty="0">
                <a:solidFill>
                  <a:srgbClr val="FF7F27"/>
                </a:solidFill>
              </a:rPr>
              <a:t>)  |  </a:t>
            </a:r>
            <a:r>
              <a:rPr lang="el-GR" altLang="ko-KR" sz="1000" i="1" dirty="0">
                <a:solidFill>
                  <a:schemeClr val="accent2"/>
                </a:solidFill>
              </a:rPr>
              <a:t>β</a:t>
            </a:r>
            <a:r>
              <a:rPr sz="1000" i="1" dirty="0">
                <a:solidFill>
                  <a:schemeClr val="accent2"/>
                </a:solidFill>
              </a:rPr>
              <a:t> </a:t>
            </a:r>
            <a:r>
              <a:rPr sz="1000" b="0" i="1" dirty="0" err="1">
                <a:solidFill>
                  <a:srgbClr val="FF7F27"/>
                </a:solidFill>
              </a:rPr>
              <a:t>계수</a:t>
            </a:r>
            <a:r>
              <a:rPr sz="1000" b="0" i="1" dirty="0">
                <a:solidFill>
                  <a:srgbClr val="FF7F27"/>
                </a:solidFill>
              </a:rPr>
              <a:t>: 1 SD </a:t>
            </a:r>
            <a:r>
              <a:rPr sz="1000" b="0" i="1" dirty="0" err="1">
                <a:solidFill>
                  <a:srgbClr val="FF7F27"/>
                </a:solidFill>
              </a:rPr>
              <a:t>변화</a:t>
            </a:r>
            <a:r>
              <a:rPr sz="1000" b="0" i="1" dirty="0">
                <a:solidFill>
                  <a:srgbClr val="FF7F27"/>
                </a:solidFill>
              </a:rPr>
              <a:t> 시 TAMA </a:t>
            </a:r>
            <a:r>
              <a:rPr sz="1000" b="0" i="1" dirty="0" err="1">
                <a:solidFill>
                  <a:srgbClr val="FF7F27"/>
                </a:solidFill>
              </a:rPr>
              <a:t>변화량</a:t>
            </a:r>
            <a:endParaRPr sz="1000" b="0" i="1" dirty="0">
              <a:solidFill>
                <a:srgbClr val="FF7F27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6981026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018E98-C897-7001-0B80-0A17F0BEFC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12_case_metrics_bar.png">
            <a:extLst>
              <a:ext uri="{FF2B5EF4-FFF2-40B4-BE49-F238E27FC236}">
                <a16:creationId xmlns:a16="http://schemas.microsoft.com/office/drawing/2014/main" id="{3CFBF344-A77E-61E0-8A5A-E2E2B6A04A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2799" y="3429000"/>
            <a:ext cx="5486400" cy="280924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42778021-0612-8A4E-78A5-DDA23C1397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en-US" altLang="ko-KR"/>
              <a:t>Detailed progress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3B44F3-0831-E2E6-F27D-8F9F9C47C3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Linear Regression - </a:t>
            </a:r>
            <a:r>
              <a:rPr lang="ko-KR" altLang="en-US" dirty="0"/>
              <a:t>신촌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0A4DB38-04A1-140F-26F5-EF697334F5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34</a:t>
            </a:fld>
            <a:endParaRPr lang="ko-KR" alt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D8ACE963-4A5C-2307-31E4-57C078ACF9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8127861"/>
              </p:ext>
            </p:extLst>
          </p:nvPr>
        </p:nvGraphicFramePr>
        <p:xfrm>
          <a:off x="1516582" y="1625599"/>
          <a:ext cx="9158835" cy="13045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84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3102561567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지표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Case 0</a:t>
                      </a:r>
                    </a:p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[only AEC]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Case 1</a:t>
                      </a:r>
                      <a:endParaRPr lang="en-US" sz="11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[Age,</a:t>
                      </a: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 </a:t>
                      </a:r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Sex]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Case 2</a:t>
                      </a:r>
                      <a:endParaRPr lang="en-US" sz="11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[+AEC]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Case 3</a:t>
                      </a:r>
                      <a:endParaRPr lang="en-US" sz="11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[+Model</a:t>
                      </a: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, </a:t>
                      </a:r>
                      <a:r>
                        <a:rPr lang="en-US" sz="1100" b="1" dirty="0" err="1">
                          <a:solidFill>
                            <a:srgbClr val="FFFFFF"/>
                          </a:solidFill>
                        </a:rPr>
                        <a:t>kVp</a:t>
                      </a:r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]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Δ C1→C2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Δ C2→C3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R²</a:t>
                      </a:r>
                    </a:p>
                  </a:txBody>
                  <a:tcPr marL="45720" marR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0.074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0.5203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0.548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0.5901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+0.0277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+0.0421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RMSE (cm²)</a:t>
                      </a:r>
                    </a:p>
                  </a:txBody>
                  <a:tcPr marL="45720" marR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29.6475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21.3386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20.7131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19.7243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-0.63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-0.99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AIC</a:t>
                      </a:r>
                    </a:p>
                  </a:txBody>
                  <a:tcPr marL="45720" marR="45720"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12213.51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11374.86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11307.35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11275.2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-68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-32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A8A5A128-A194-4E5F-ACEF-30B3E6B5196F}"/>
              </a:ext>
            </a:extLst>
          </p:cNvPr>
          <p:cNvSpPr txBox="1"/>
          <p:nvPr/>
        </p:nvSpPr>
        <p:spPr>
          <a:xfrm>
            <a:off x="1516582" y="2930143"/>
            <a:ext cx="9158835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>
                <a:solidFill>
                  <a:srgbClr val="2E75B6"/>
                </a:solidFill>
              </a:rPr>
              <a:t>AEC </a:t>
            </a:r>
            <a:r>
              <a:rPr sz="1300" b="1" i="0" dirty="0" err="1">
                <a:solidFill>
                  <a:srgbClr val="2E75B6"/>
                </a:solidFill>
              </a:rPr>
              <a:t>특징</a:t>
            </a:r>
            <a:r>
              <a:rPr sz="1300" b="1" i="0" dirty="0">
                <a:solidFill>
                  <a:srgbClr val="2E75B6"/>
                </a:solidFill>
              </a:rPr>
              <a:t> </a:t>
            </a:r>
            <a:r>
              <a:rPr sz="1300" b="1" i="0" dirty="0" err="1">
                <a:solidFill>
                  <a:srgbClr val="2E75B6"/>
                </a:solidFill>
              </a:rPr>
              <a:t>추가</a:t>
            </a:r>
            <a:r>
              <a:rPr sz="1300" b="1" i="0" dirty="0">
                <a:solidFill>
                  <a:srgbClr val="2E75B6"/>
                </a:solidFill>
              </a:rPr>
              <a:t>(Case1→2)로 R² +5.3% </a:t>
            </a:r>
            <a:r>
              <a:rPr sz="1300" b="1" i="0" dirty="0" err="1">
                <a:solidFill>
                  <a:srgbClr val="2E75B6"/>
                </a:solidFill>
              </a:rPr>
              <a:t>향상</a:t>
            </a:r>
            <a:r>
              <a:rPr sz="1300" b="1" i="0" dirty="0">
                <a:solidFill>
                  <a:srgbClr val="2E75B6"/>
                </a:solidFill>
              </a:rPr>
              <a:t>  |  CT </a:t>
            </a:r>
            <a:r>
              <a:rPr sz="1300" b="1" i="0" dirty="0" err="1">
                <a:solidFill>
                  <a:srgbClr val="2E75B6"/>
                </a:solidFill>
              </a:rPr>
              <a:t>모델명</a:t>
            </a:r>
            <a:r>
              <a:rPr sz="1300" b="1" i="0" dirty="0">
                <a:solidFill>
                  <a:srgbClr val="2E75B6"/>
                </a:solidFill>
              </a:rPr>
              <a:t>/</a:t>
            </a:r>
            <a:r>
              <a:rPr sz="1300" b="1" i="0" dirty="0" err="1">
                <a:solidFill>
                  <a:srgbClr val="2E75B6"/>
                </a:solidFill>
              </a:rPr>
              <a:t>kVp</a:t>
            </a:r>
            <a:r>
              <a:rPr sz="1300" b="1" i="0" dirty="0">
                <a:solidFill>
                  <a:srgbClr val="2E75B6"/>
                </a:solidFill>
              </a:rPr>
              <a:t> </a:t>
            </a:r>
            <a:r>
              <a:rPr sz="1300" b="1" i="0" dirty="0" err="1">
                <a:solidFill>
                  <a:srgbClr val="2E75B6"/>
                </a:solidFill>
              </a:rPr>
              <a:t>추가</a:t>
            </a:r>
            <a:r>
              <a:rPr sz="1300" b="1" i="0" dirty="0">
                <a:solidFill>
                  <a:srgbClr val="2E75B6"/>
                </a:solidFill>
              </a:rPr>
              <a:t>(Case2→3)로 </a:t>
            </a:r>
            <a:r>
              <a:rPr sz="1300" b="1" i="0" dirty="0" err="1">
                <a:solidFill>
                  <a:srgbClr val="2E75B6"/>
                </a:solidFill>
              </a:rPr>
              <a:t>추가</a:t>
            </a:r>
            <a:r>
              <a:rPr sz="1300" b="1" i="0" dirty="0">
                <a:solidFill>
                  <a:srgbClr val="2E75B6"/>
                </a:solidFill>
              </a:rPr>
              <a:t> +7.7% </a:t>
            </a:r>
            <a:r>
              <a:rPr sz="1300" b="1" i="0" dirty="0" err="1">
                <a:solidFill>
                  <a:srgbClr val="2E75B6"/>
                </a:solidFill>
              </a:rPr>
              <a:t>향상</a:t>
            </a:r>
            <a:endParaRPr sz="1300" b="1" i="0" dirty="0">
              <a:solidFill>
                <a:srgbClr val="2E75B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9251622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D07054-555B-4B05-DD8F-D83D84876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408364-0DA0-F96A-04D4-8FDD928E81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en-US" altLang="ko-KR"/>
              <a:t>Detailed progress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44B45EA-279F-152C-D434-8555DC90FD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Logistic Regression - </a:t>
            </a:r>
            <a:r>
              <a:rPr lang="ko-KR" altLang="en-US" dirty="0"/>
              <a:t>강남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A318B1-CDA5-5344-DFAE-2FA165AF0D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35</a:t>
            </a:fld>
            <a:endParaRPr lang="ko-KR" altLang="en-US" dirty="0"/>
          </a:p>
        </p:txBody>
      </p:sp>
      <p:grpSp>
        <p:nvGrpSpPr>
          <p:cNvPr id="31" name="그룹 30">
            <a:extLst>
              <a:ext uri="{FF2B5EF4-FFF2-40B4-BE49-F238E27FC236}">
                <a16:creationId xmlns:a16="http://schemas.microsoft.com/office/drawing/2014/main" id="{A9F47A15-E389-2EE8-9912-A33B798E3B05}"/>
              </a:ext>
            </a:extLst>
          </p:cNvPr>
          <p:cNvGrpSpPr/>
          <p:nvPr/>
        </p:nvGrpSpPr>
        <p:grpSpPr>
          <a:xfrm>
            <a:off x="508000" y="1550671"/>
            <a:ext cx="10896600" cy="1731223"/>
            <a:chOff x="320040" y="1143000"/>
            <a:chExt cx="11247120" cy="2103120"/>
          </a:xfrm>
        </p:grpSpPr>
        <p:sp>
          <p:nvSpPr>
            <p:cNvPr id="5" name="Rectangle 5">
              <a:extLst>
                <a:ext uri="{FF2B5EF4-FFF2-40B4-BE49-F238E27FC236}">
                  <a16:creationId xmlns:a16="http://schemas.microsoft.com/office/drawing/2014/main" id="{4637E24C-80FA-B7C1-7F9A-1585CA12D13D}"/>
                </a:ext>
              </a:extLst>
            </p:cNvPr>
            <p:cNvSpPr/>
            <p:nvPr/>
          </p:nvSpPr>
          <p:spPr>
            <a:xfrm>
              <a:off x="320040" y="1143000"/>
              <a:ext cx="3566160" cy="1005840"/>
            </a:xfrm>
            <a:prstGeom prst="rect">
              <a:avLst/>
            </a:prstGeom>
            <a:solidFill>
              <a:srgbClr val="1A355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A9EACBE6-D3A6-5631-5C4A-37B17B8199B8}"/>
                </a:ext>
              </a:extLst>
            </p:cNvPr>
            <p:cNvSpPr txBox="1"/>
            <p:nvPr/>
          </p:nvSpPr>
          <p:spPr>
            <a:xfrm>
              <a:off x="457200" y="1197864"/>
              <a:ext cx="3291840" cy="34747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1" i="0">
                  <a:solidFill>
                    <a:srgbClr val="FF7F27"/>
                  </a:solidFill>
                </a:rPr>
                <a:t>AUC-ROC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FD278BE-2939-A140-95D1-C7B1675A82D8}"/>
                </a:ext>
              </a:extLst>
            </p:cNvPr>
            <p:cNvSpPr txBox="1"/>
            <p:nvPr/>
          </p:nvSpPr>
          <p:spPr>
            <a:xfrm>
              <a:off x="457200" y="1600200"/>
              <a:ext cx="3291840" cy="4754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700" b="1" i="0">
                  <a:solidFill>
                    <a:srgbClr val="FFFFFF"/>
                  </a:solidFill>
                </a:rPr>
                <a:t>0.7514</a:t>
              </a:r>
            </a:p>
          </p:txBody>
        </p:sp>
        <p:sp>
          <p:nvSpPr>
            <p:cNvPr id="10" name="Rectangle 8">
              <a:extLst>
                <a:ext uri="{FF2B5EF4-FFF2-40B4-BE49-F238E27FC236}">
                  <a16:creationId xmlns:a16="http://schemas.microsoft.com/office/drawing/2014/main" id="{87DABCD7-4336-E07B-7F55-27928E031AAF}"/>
                </a:ext>
              </a:extLst>
            </p:cNvPr>
            <p:cNvSpPr/>
            <p:nvPr/>
          </p:nvSpPr>
          <p:spPr>
            <a:xfrm>
              <a:off x="4160520" y="1143000"/>
              <a:ext cx="3566160" cy="1005840"/>
            </a:xfrm>
            <a:prstGeom prst="rect">
              <a:avLst/>
            </a:prstGeom>
            <a:solidFill>
              <a:srgbClr val="1A355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0887E2A8-F60D-2C0A-3D81-B79D5BDA9995}"/>
                </a:ext>
              </a:extLst>
            </p:cNvPr>
            <p:cNvSpPr txBox="1"/>
            <p:nvPr/>
          </p:nvSpPr>
          <p:spPr>
            <a:xfrm>
              <a:off x="4297680" y="1197864"/>
              <a:ext cx="3291840" cy="34747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1" i="0">
                  <a:solidFill>
                    <a:srgbClr val="FF7F27"/>
                  </a:solidFill>
                </a:rPr>
                <a:t>Bootstrap 95% CI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36024FB-2645-582F-93F5-16A5DBF82F15}"/>
                </a:ext>
              </a:extLst>
            </p:cNvPr>
            <p:cNvSpPr txBox="1"/>
            <p:nvPr/>
          </p:nvSpPr>
          <p:spPr>
            <a:xfrm>
              <a:off x="4297680" y="1600200"/>
              <a:ext cx="3291840" cy="4754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700" b="1" i="0">
                  <a:solidFill>
                    <a:srgbClr val="FFFFFF"/>
                  </a:solidFill>
                </a:rPr>
                <a:t>[0.7258 – 0.7775]</a:t>
              </a:r>
            </a:p>
          </p:txBody>
        </p:sp>
        <p:sp>
          <p:nvSpPr>
            <p:cNvPr id="13" name="Rectangle 11">
              <a:extLst>
                <a:ext uri="{FF2B5EF4-FFF2-40B4-BE49-F238E27FC236}">
                  <a16:creationId xmlns:a16="http://schemas.microsoft.com/office/drawing/2014/main" id="{3D2B0F40-185A-E9AC-5AC3-2431ABDBB7A2}"/>
                </a:ext>
              </a:extLst>
            </p:cNvPr>
            <p:cNvSpPr/>
            <p:nvPr/>
          </p:nvSpPr>
          <p:spPr>
            <a:xfrm>
              <a:off x="8001000" y="1143000"/>
              <a:ext cx="3566160" cy="1005840"/>
            </a:xfrm>
            <a:prstGeom prst="rect">
              <a:avLst/>
            </a:prstGeom>
            <a:solidFill>
              <a:srgbClr val="1A355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B0C3C66E-CEF0-6110-680E-9998A5F03F3B}"/>
                </a:ext>
              </a:extLst>
            </p:cNvPr>
            <p:cNvSpPr txBox="1"/>
            <p:nvPr/>
          </p:nvSpPr>
          <p:spPr>
            <a:xfrm>
              <a:off x="8138160" y="1197864"/>
              <a:ext cx="3291840" cy="34747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1" i="0">
                  <a:solidFill>
                    <a:srgbClr val="FF7F27"/>
                  </a:solidFill>
                </a:rPr>
                <a:t>Sensitivity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83F9244F-FBB3-25C7-6EA3-541E8BD7119E}"/>
                </a:ext>
              </a:extLst>
            </p:cNvPr>
            <p:cNvSpPr txBox="1"/>
            <p:nvPr/>
          </p:nvSpPr>
          <p:spPr>
            <a:xfrm>
              <a:off x="8138160" y="1600200"/>
              <a:ext cx="3291840" cy="4754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700" b="1" i="0">
                  <a:solidFill>
                    <a:srgbClr val="FFFFFF"/>
                  </a:solidFill>
                </a:rPr>
                <a:t>0.7350</a:t>
              </a:r>
            </a:p>
          </p:txBody>
        </p:sp>
        <p:sp>
          <p:nvSpPr>
            <p:cNvPr id="16" name="Rectangle 14">
              <a:extLst>
                <a:ext uri="{FF2B5EF4-FFF2-40B4-BE49-F238E27FC236}">
                  <a16:creationId xmlns:a16="http://schemas.microsoft.com/office/drawing/2014/main" id="{05CEC35F-70AA-7B03-9F4B-3FC1821FAD56}"/>
                </a:ext>
              </a:extLst>
            </p:cNvPr>
            <p:cNvSpPr/>
            <p:nvPr/>
          </p:nvSpPr>
          <p:spPr>
            <a:xfrm>
              <a:off x="320040" y="2240280"/>
              <a:ext cx="3566160" cy="1005840"/>
            </a:xfrm>
            <a:prstGeom prst="rect">
              <a:avLst/>
            </a:prstGeom>
            <a:solidFill>
              <a:srgbClr val="1A355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69A261BF-B7FA-C0AB-B04E-83E43FA4E0F4}"/>
                </a:ext>
              </a:extLst>
            </p:cNvPr>
            <p:cNvSpPr txBox="1"/>
            <p:nvPr/>
          </p:nvSpPr>
          <p:spPr>
            <a:xfrm>
              <a:off x="457200" y="2295144"/>
              <a:ext cx="3291840" cy="34747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1" i="0">
                  <a:solidFill>
                    <a:srgbClr val="FF7F27"/>
                  </a:solidFill>
                </a:rPr>
                <a:t>Specificity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FCAC3040-B8F5-C550-7BBB-18662F7B5384}"/>
                </a:ext>
              </a:extLst>
            </p:cNvPr>
            <p:cNvSpPr txBox="1"/>
            <p:nvPr/>
          </p:nvSpPr>
          <p:spPr>
            <a:xfrm>
              <a:off x="457200" y="2697480"/>
              <a:ext cx="3291840" cy="4754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700" b="1" i="0">
                  <a:solidFill>
                    <a:srgbClr val="FFFFFF"/>
                  </a:solidFill>
                </a:rPr>
                <a:t>0.6520</a:t>
              </a:r>
            </a:p>
          </p:txBody>
        </p:sp>
        <p:sp>
          <p:nvSpPr>
            <p:cNvPr id="19" name="Rectangle 17">
              <a:extLst>
                <a:ext uri="{FF2B5EF4-FFF2-40B4-BE49-F238E27FC236}">
                  <a16:creationId xmlns:a16="http://schemas.microsoft.com/office/drawing/2014/main" id="{853DBD02-12E1-A458-5544-9226CC8F7FC6}"/>
                </a:ext>
              </a:extLst>
            </p:cNvPr>
            <p:cNvSpPr/>
            <p:nvPr/>
          </p:nvSpPr>
          <p:spPr>
            <a:xfrm>
              <a:off x="4160520" y="2240280"/>
              <a:ext cx="3566160" cy="1005840"/>
            </a:xfrm>
            <a:prstGeom prst="rect">
              <a:avLst/>
            </a:prstGeom>
            <a:solidFill>
              <a:srgbClr val="1A355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BAFD56FE-D663-EF0C-CA7D-EC3BA87C6010}"/>
                </a:ext>
              </a:extLst>
            </p:cNvPr>
            <p:cNvSpPr txBox="1"/>
            <p:nvPr/>
          </p:nvSpPr>
          <p:spPr>
            <a:xfrm>
              <a:off x="4297680" y="2295144"/>
              <a:ext cx="3291840" cy="34747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1" i="0">
                  <a:solidFill>
                    <a:srgbClr val="FF7F27"/>
                  </a:solidFill>
                </a:rPr>
                <a:t>PPV / NPV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E646A120-C481-F4C5-EFD9-6AB79B80231D}"/>
                </a:ext>
              </a:extLst>
            </p:cNvPr>
            <p:cNvSpPr txBox="1"/>
            <p:nvPr/>
          </p:nvSpPr>
          <p:spPr>
            <a:xfrm>
              <a:off x="4297680" y="2697480"/>
              <a:ext cx="3291840" cy="4754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700" b="1" i="0">
                  <a:solidFill>
                    <a:srgbClr val="FFFFFF"/>
                  </a:solidFill>
                </a:rPr>
                <a:t>0.3989 / 0.8868</a:t>
              </a:r>
            </a:p>
          </p:txBody>
        </p:sp>
        <p:sp>
          <p:nvSpPr>
            <p:cNvPr id="22" name="Rectangle 20">
              <a:extLst>
                <a:ext uri="{FF2B5EF4-FFF2-40B4-BE49-F238E27FC236}">
                  <a16:creationId xmlns:a16="http://schemas.microsoft.com/office/drawing/2014/main" id="{493CC514-F525-6D20-63F5-A11AC31E6A77}"/>
                </a:ext>
              </a:extLst>
            </p:cNvPr>
            <p:cNvSpPr/>
            <p:nvPr/>
          </p:nvSpPr>
          <p:spPr>
            <a:xfrm>
              <a:off x="8001000" y="2240280"/>
              <a:ext cx="3566160" cy="1005840"/>
            </a:xfrm>
            <a:prstGeom prst="rect">
              <a:avLst/>
            </a:prstGeom>
            <a:solidFill>
              <a:srgbClr val="1A355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92CBC363-9499-7E94-1694-380EA7881920}"/>
                </a:ext>
              </a:extLst>
            </p:cNvPr>
            <p:cNvSpPr txBox="1"/>
            <p:nvPr/>
          </p:nvSpPr>
          <p:spPr>
            <a:xfrm>
              <a:off x="8138160" y="2295144"/>
              <a:ext cx="3291840" cy="34747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1" i="0">
                  <a:solidFill>
                    <a:srgbClr val="FF7F27"/>
                  </a:solidFill>
                </a:rPr>
                <a:t>Nagelkerke R²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591DDF2B-35A1-CF06-B6AD-94F9E36D309E}"/>
                </a:ext>
              </a:extLst>
            </p:cNvPr>
            <p:cNvSpPr txBox="1"/>
            <p:nvPr/>
          </p:nvSpPr>
          <p:spPr>
            <a:xfrm>
              <a:off x="8138160" y="2697480"/>
              <a:ext cx="3291840" cy="4754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700" b="1" i="0">
                  <a:solidFill>
                    <a:srgbClr val="FFFFFF"/>
                  </a:solidFill>
                </a:rPr>
                <a:t>0.2135</a:t>
              </a:r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674C3EF3-0935-826A-B417-0D31D506C774}"/>
              </a:ext>
            </a:extLst>
          </p:cNvPr>
          <p:cNvSpPr txBox="1"/>
          <p:nvPr/>
        </p:nvSpPr>
        <p:spPr>
          <a:xfrm>
            <a:off x="508000" y="3576107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 err="1">
                <a:solidFill>
                  <a:srgbClr val="1A355E"/>
                </a:solidFill>
              </a:rPr>
              <a:t>보정도</a:t>
            </a:r>
            <a:r>
              <a:rPr sz="1300" b="1" i="0" dirty="0">
                <a:solidFill>
                  <a:srgbClr val="1A355E"/>
                </a:solidFill>
              </a:rPr>
              <a:t> 및 </a:t>
            </a:r>
            <a:r>
              <a:rPr sz="1300" b="1" i="0" dirty="0" err="1">
                <a:solidFill>
                  <a:srgbClr val="1A355E"/>
                </a:solidFill>
              </a:rPr>
              <a:t>적합도</a:t>
            </a:r>
            <a:endParaRPr sz="1300" b="1" i="0" dirty="0">
              <a:solidFill>
                <a:srgbClr val="1A355E"/>
              </a:solidFill>
            </a:endParaRPr>
          </a:p>
        </p:txBody>
      </p:sp>
      <p:graphicFrame>
        <p:nvGraphicFramePr>
          <p:cNvPr id="26" name="Table 24">
            <a:extLst>
              <a:ext uri="{FF2B5EF4-FFF2-40B4-BE49-F238E27FC236}">
                <a16:creationId xmlns:a16="http://schemas.microsoft.com/office/drawing/2014/main" id="{04CB2AEB-4DC2-EB2F-42C7-3FEE6A0C3C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3009357"/>
              </p:ext>
            </p:extLst>
          </p:nvPr>
        </p:nvGraphicFramePr>
        <p:xfrm>
          <a:off x="508000" y="3923578"/>
          <a:ext cx="6400800" cy="10663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1768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495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66583">
                <a:tc>
                  <a:txBody>
                    <a:bodyPr/>
                    <a:lstStyle/>
                    <a:p>
                      <a:pPr algn="ctr"/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지표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값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해석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6583"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Hosmer-</a:t>
                      </a:r>
                      <a:r>
                        <a:rPr sz="1100" dirty="0" err="1">
                          <a:solidFill>
                            <a:srgbClr val="1A1A2E"/>
                          </a:solidFill>
                        </a:rPr>
                        <a:t>Lemeshow</a:t>
                      </a:r>
                      <a:r>
                        <a:rPr sz="1100" dirty="0">
                          <a:solidFill>
                            <a:srgbClr val="1A1A2E"/>
                          </a:solidFill>
                        </a:rPr>
                        <a:t> χ²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6.410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p=0.601 → </a:t>
                      </a:r>
                      <a:r>
                        <a:rPr sz="1100" dirty="0" err="1">
                          <a:solidFill>
                            <a:srgbClr val="1A1A2E"/>
                          </a:solidFill>
                        </a:rPr>
                        <a:t>보정도</a:t>
                      </a:r>
                      <a:r>
                        <a:rPr sz="11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100" dirty="0" err="1">
                          <a:solidFill>
                            <a:srgbClr val="1A1A2E"/>
                          </a:solidFill>
                        </a:rPr>
                        <a:t>양호</a:t>
                      </a:r>
                      <a:r>
                        <a:rPr sz="1100" dirty="0">
                          <a:solidFill>
                            <a:srgbClr val="1A1A2E"/>
                          </a:solidFill>
                        </a:rPr>
                        <a:t> ✔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6583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Brier Score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0.1557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 err="1">
                          <a:solidFill>
                            <a:srgbClr val="1A1A2E"/>
                          </a:solidFill>
                        </a:rPr>
                        <a:t>낮을수록</a:t>
                      </a:r>
                      <a:r>
                        <a:rPr sz="11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100" dirty="0" err="1">
                          <a:solidFill>
                            <a:srgbClr val="1A1A2E"/>
                          </a:solidFill>
                        </a:rPr>
                        <a:t>우수</a:t>
                      </a:r>
                      <a:r>
                        <a:rPr sz="1100" dirty="0">
                          <a:solidFill>
                            <a:srgbClr val="1A1A2E"/>
                          </a:solidFill>
                        </a:rPr>
                        <a:t> (0=</a:t>
                      </a:r>
                      <a:r>
                        <a:rPr sz="1100" dirty="0" err="1">
                          <a:solidFill>
                            <a:srgbClr val="1A1A2E"/>
                          </a:solidFill>
                        </a:rPr>
                        <a:t>완벽</a:t>
                      </a:r>
                      <a:r>
                        <a:rPr sz="1100" dirty="0">
                          <a:solidFill>
                            <a:srgbClr val="1A1A2E"/>
                          </a:solidFill>
                        </a:rPr>
                        <a:t>, 0.25=</a:t>
                      </a:r>
                      <a:r>
                        <a:rPr sz="1100" dirty="0" err="1">
                          <a:solidFill>
                            <a:srgbClr val="1A1A2E"/>
                          </a:solidFill>
                        </a:rPr>
                        <a:t>무작위</a:t>
                      </a:r>
                      <a:r>
                        <a:rPr sz="1100" dirty="0">
                          <a:solidFill>
                            <a:srgbClr val="1A1A2E"/>
                          </a:solidFill>
                        </a:rPr>
                        <a:t>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6583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AIC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1,657.30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Case </a:t>
                      </a:r>
                      <a:r>
                        <a:rPr sz="1100" dirty="0" err="1">
                          <a:solidFill>
                            <a:srgbClr val="1A1A2E"/>
                          </a:solidFill>
                        </a:rPr>
                        <a:t>비교</a:t>
                      </a:r>
                      <a:r>
                        <a:rPr sz="11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100" dirty="0" err="1">
                          <a:solidFill>
                            <a:srgbClr val="1A1A2E"/>
                          </a:solidFill>
                        </a:rPr>
                        <a:t>기준</a:t>
                      </a:r>
                      <a:endParaRPr sz="1100" dirty="0">
                        <a:solidFill>
                          <a:srgbClr val="1A1A2E"/>
                        </a:solidFill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30" name="Picture 28" descr="10_logistic_confusion.png">
            <a:extLst>
              <a:ext uri="{FF2B5EF4-FFF2-40B4-BE49-F238E27FC236}">
                <a16:creationId xmlns:a16="http://schemas.microsoft.com/office/drawing/2014/main" id="{583066E9-21CC-D3FD-183A-4F691F15D4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0" y="3583776"/>
            <a:ext cx="3422864" cy="25423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867557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4C152F-6AC6-4EBB-8679-327588602F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Logistic Regression - </a:t>
            </a:r>
            <a:r>
              <a:rPr lang="ko-KR" altLang="en-US" dirty="0"/>
              <a:t>강남</a:t>
            </a:r>
            <a:endParaRPr lang="en-US" altLang="ko-KR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en-US" altLang="ko-KR"/>
              <a:t>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36</a:t>
            </a:fld>
            <a:endParaRPr lang="ko-KR" alt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07E8D31-0774-5031-517E-89AF611A7C1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52799" y="3612403"/>
            <a:ext cx="5486400" cy="2777067"/>
          </a:xfrm>
          <a:prstGeom prst="rect">
            <a:avLst/>
          </a:prstGeom>
        </p:spPr>
      </p:pic>
      <p:graphicFrame>
        <p:nvGraphicFramePr>
          <p:cNvPr id="15" name="Table 4">
            <a:extLst>
              <a:ext uri="{FF2B5EF4-FFF2-40B4-BE49-F238E27FC236}">
                <a16:creationId xmlns:a16="http://schemas.microsoft.com/office/drawing/2014/main" id="{CA97934B-5930-420A-4B39-F3744DEF7D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0996520"/>
              </p:ext>
            </p:extLst>
          </p:nvPr>
        </p:nvGraphicFramePr>
        <p:xfrm>
          <a:off x="1516582" y="1625599"/>
          <a:ext cx="9158835" cy="15971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84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3102561567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지표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Case 0</a:t>
                      </a:r>
                    </a:p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[only AEC]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Case 1</a:t>
                      </a:r>
                      <a:endParaRPr lang="en-US" sz="11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[Age,</a:t>
                      </a: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 </a:t>
                      </a:r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Sex]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Case 2</a:t>
                      </a:r>
                      <a:endParaRPr lang="en-US" sz="11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[+AEC]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Case 3</a:t>
                      </a:r>
                      <a:endParaRPr lang="en-US" sz="11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[+Model</a:t>
                      </a: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, </a:t>
                      </a:r>
                      <a:r>
                        <a:rPr lang="en-US" sz="1100" b="1" dirty="0" err="1">
                          <a:solidFill>
                            <a:srgbClr val="FFFFFF"/>
                          </a:solidFill>
                        </a:rPr>
                        <a:t>kVp</a:t>
                      </a:r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]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Δ C1→C2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Δ C2→C3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AUC-ROC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0.6786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0.624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0.7196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0.7548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+0.096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+0.035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Nagelkerke R²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0.0979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0.0516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0.1596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0.2169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+0.108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+0.057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AIC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1739.35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1787.8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1668.07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1656.88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-120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-11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HL p-value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0.132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1.26e-03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0.387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0.728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 err="1">
                          <a:solidFill>
                            <a:srgbClr val="1A1A2E"/>
                          </a:solidFill>
                        </a:rPr>
                        <a:t>보정도</a:t>
                      </a:r>
                      <a:r>
                        <a:rPr sz="12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200" dirty="0" err="1">
                          <a:solidFill>
                            <a:srgbClr val="1A1A2E"/>
                          </a:solidFill>
                        </a:rPr>
                        <a:t>개선</a:t>
                      </a:r>
                      <a:endParaRPr sz="1200" dirty="0">
                        <a:solidFill>
                          <a:srgbClr val="1A1A2E"/>
                        </a:solidFill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 err="1">
                          <a:solidFill>
                            <a:srgbClr val="1A1A2E"/>
                          </a:solidFill>
                        </a:rPr>
                        <a:t>보정도</a:t>
                      </a:r>
                      <a:r>
                        <a:rPr sz="12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200" dirty="0" err="1">
                          <a:solidFill>
                            <a:srgbClr val="1A1A2E"/>
                          </a:solidFill>
                        </a:rPr>
                        <a:t>양호</a:t>
                      </a:r>
                      <a:endParaRPr sz="1200" dirty="0">
                        <a:solidFill>
                          <a:srgbClr val="1A1A2E"/>
                        </a:solidFill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3419071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645F0D73-93A0-4946-B4BA-3EEAA4935A8D}"/>
              </a:ext>
            </a:extLst>
          </p:cNvPr>
          <p:cNvSpPr txBox="1"/>
          <p:nvPr/>
        </p:nvSpPr>
        <p:spPr>
          <a:xfrm>
            <a:off x="1516582" y="3222751"/>
            <a:ext cx="9158835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>
                <a:solidFill>
                  <a:srgbClr val="2E75B6"/>
                </a:solidFill>
              </a:rPr>
              <a:t>AEC </a:t>
            </a:r>
            <a:r>
              <a:rPr sz="1300" b="1" i="0" dirty="0" err="1">
                <a:solidFill>
                  <a:srgbClr val="2E75B6"/>
                </a:solidFill>
              </a:rPr>
              <a:t>추가</a:t>
            </a:r>
            <a:r>
              <a:rPr sz="1300" b="1" i="0" dirty="0">
                <a:solidFill>
                  <a:srgbClr val="2E75B6"/>
                </a:solidFill>
              </a:rPr>
              <a:t>(Case1→2)로 AUC +15.2% </a:t>
            </a:r>
            <a:r>
              <a:rPr sz="1300" b="1" i="0" dirty="0" err="1">
                <a:solidFill>
                  <a:srgbClr val="2E75B6"/>
                </a:solidFill>
              </a:rPr>
              <a:t>향상</a:t>
            </a:r>
            <a:r>
              <a:rPr sz="1300" b="1" i="0" dirty="0">
                <a:solidFill>
                  <a:srgbClr val="2E75B6"/>
                </a:solidFill>
              </a:rPr>
              <a:t>  |  CT </a:t>
            </a:r>
            <a:r>
              <a:rPr sz="1300" b="1" i="0" dirty="0" err="1">
                <a:solidFill>
                  <a:srgbClr val="2E75B6"/>
                </a:solidFill>
              </a:rPr>
              <a:t>모델명</a:t>
            </a:r>
            <a:r>
              <a:rPr sz="1300" b="1" i="0" dirty="0">
                <a:solidFill>
                  <a:srgbClr val="2E75B6"/>
                </a:solidFill>
              </a:rPr>
              <a:t>/</a:t>
            </a:r>
            <a:r>
              <a:rPr sz="1300" b="1" i="0" dirty="0" err="1">
                <a:solidFill>
                  <a:srgbClr val="2E75B6"/>
                </a:solidFill>
              </a:rPr>
              <a:t>kVp</a:t>
            </a:r>
            <a:r>
              <a:rPr sz="1300" b="1" i="0" dirty="0">
                <a:solidFill>
                  <a:srgbClr val="2E75B6"/>
                </a:solidFill>
              </a:rPr>
              <a:t> </a:t>
            </a:r>
            <a:r>
              <a:rPr sz="1300" b="1" i="0" dirty="0" err="1">
                <a:solidFill>
                  <a:srgbClr val="2E75B6"/>
                </a:solidFill>
              </a:rPr>
              <a:t>추가</a:t>
            </a:r>
            <a:r>
              <a:rPr sz="1300" b="1" i="0" dirty="0">
                <a:solidFill>
                  <a:srgbClr val="2E75B6"/>
                </a:solidFill>
              </a:rPr>
              <a:t>(Case2→3)로 +4.9% </a:t>
            </a:r>
            <a:r>
              <a:rPr sz="1300" b="1" i="0" dirty="0" err="1">
                <a:solidFill>
                  <a:srgbClr val="2E75B6"/>
                </a:solidFill>
              </a:rPr>
              <a:t>추가</a:t>
            </a:r>
            <a:r>
              <a:rPr sz="1300" b="1" i="0" dirty="0">
                <a:solidFill>
                  <a:srgbClr val="2E75B6"/>
                </a:solidFill>
              </a:rPr>
              <a:t> </a:t>
            </a:r>
            <a:r>
              <a:rPr sz="1300" b="1" i="0" dirty="0" err="1">
                <a:solidFill>
                  <a:srgbClr val="2E75B6"/>
                </a:solidFill>
              </a:rPr>
              <a:t>개선</a:t>
            </a:r>
            <a:endParaRPr sz="1300" b="1" i="0" dirty="0">
              <a:solidFill>
                <a:srgbClr val="2E75B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6649604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D504D7-9D95-DC70-35E7-BC361CD12A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28" descr="10_logistic_confusion.png">
            <a:extLst>
              <a:ext uri="{FF2B5EF4-FFF2-40B4-BE49-F238E27FC236}">
                <a16:creationId xmlns:a16="http://schemas.microsoft.com/office/drawing/2014/main" id="{DE9F1DF5-E762-D36C-B819-A343CF944A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0925" y="3583776"/>
            <a:ext cx="3461459" cy="2542384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B9AE6D8E-AF1D-A548-D946-375E9254EE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en-US" altLang="ko-KR"/>
              <a:t>Detailed progress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6E78CE6-CB47-DFEF-6339-F152D83CCA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Logistic Regression - </a:t>
            </a:r>
            <a:r>
              <a:rPr lang="ko-KR" altLang="en-US" dirty="0"/>
              <a:t>신촌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CECB5C5-9C83-9314-FA8D-BFA87A1177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37</a:t>
            </a:fld>
            <a:endParaRPr lang="ko-KR" altLang="en-US" dirty="0"/>
          </a:p>
        </p:txBody>
      </p:sp>
      <p:grpSp>
        <p:nvGrpSpPr>
          <p:cNvPr id="31" name="그룹 30">
            <a:extLst>
              <a:ext uri="{FF2B5EF4-FFF2-40B4-BE49-F238E27FC236}">
                <a16:creationId xmlns:a16="http://schemas.microsoft.com/office/drawing/2014/main" id="{2147E0F5-C52B-9243-2900-D8B10DF07C33}"/>
              </a:ext>
            </a:extLst>
          </p:cNvPr>
          <p:cNvGrpSpPr/>
          <p:nvPr/>
        </p:nvGrpSpPr>
        <p:grpSpPr>
          <a:xfrm>
            <a:off x="508000" y="1550671"/>
            <a:ext cx="10896600" cy="1731223"/>
            <a:chOff x="320040" y="1143000"/>
            <a:chExt cx="11247120" cy="2103120"/>
          </a:xfrm>
        </p:grpSpPr>
        <p:sp>
          <p:nvSpPr>
            <p:cNvPr id="5" name="Rectangle 5">
              <a:extLst>
                <a:ext uri="{FF2B5EF4-FFF2-40B4-BE49-F238E27FC236}">
                  <a16:creationId xmlns:a16="http://schemas.microsoft.com/office/drawing/2014/main" id="{C96F7109-CD29-312C-3805-13C1D654A54C}"/>
                </a:ext>
              </a:extLst>
            </p:cNvPr>
            <p:cNvSpPr/>
            <p:nvPr/>
          </p:nvSpPr>
          <p:spPr>
            <a:xfrm>
              <a:off x="320040" y="1143000"/>
              <a:ext cx="3566160" cy="1005840"/>
            </a:xfrm>
            <a:prstGeom prst="rect">
              <a:avLst/>
            </a:prstGeom>
            <a:solidFill>
              <a:srgbClr val="1A355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016B8225-F8DD-0C5D-8ED3-62E1435CB96A}"/>
                </a:ext>
              </a:extLst>
            </p:cNvPr>
            <p:cNvSpPr txBox="1"/>
            <p:nvPr/>
          </p:nvSpPr>
          <p:spPr>
            <a:xfrm>
              <a:off x="457200" y="1197864"/>
              <a:ext cx="3291840" cy="34747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1" i="0">
                  <a:solidFill>
                    <a:srgbClr val="FF7F27"/>
                  </a:solidFill>
                </a:rPr>
                <a:t>AUC-ROC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40F5455-1542-5B75-BF52-D00DE81AF527}"/>
                </a:ext>
              </a:extLst>
            </p:cNvPr>
            <p:cNvSpPr txBox="1"/>
            <p:nvPr/>
          </p:nvSpPr>
          <p:spPr>
            <a:xfrm>
              <a:off x="457200" y="1600200"/>
              <a:ext cx="3291840" cy="42997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700" b="1" i="0" dirty="0">
                  <a:solidFill>
                    <a:srgbClr val="FFFFFF"/>
                  </a:solidFill>
                </a:rPr>
                <a:t>0.7</a:t>
              </a:r>
              <a:r>
                <a:rPr lang="en-US" sz="1700" b="1" i="0" dirty="0">
                  <a:solidFill>
                    <a:srgbClr val="FFFFFF"/>
                  </a:solidFill>
                </a:rPr>
                <a:t>170</a:t>
              </a:r>
              <a:endParaRPr sz="1700" b="1" i="0" dirty="0">
                <a:solidFill>
                  <a:srgbClr val="FFFFFF"/>
                </a:solidFill>
              </a:endParaRPr>
            </a:p>
          </p:txBody>
        </p:sp>
        <p:sp>
          <p:nvSpPr>
            <p:cNvPr id="10" name="Rectangle 8">
              <a:extLst>
                <a:ext uri="{FF2B5EF4-FFF2-40B4-BE49-F238E27FC236}">
                  <a16:creationId xmlns:a16="http://schemas.microsoft.com/office/drawing/2014/main" id="{BB2E53AC-9FD8-9067-A23C-820665F3D2EB}"/>
                </a:ext>
              </a:extLst>
            </p:cNvPr>
            <p:cNvSpPr/>
            <p:nvPr/>
          </p:nvSpPr>
          <p:spPr>
            <a:xfrm>
              <a:off x="4160520" y="1143000"/>
              <a:ext cx="3566160" cy="1005840"/>
            </a:xfrm>
            <a:prstGeom prst="rect">
              <a:avLst/>
            </a:prstGeom>
            <a:solidFill>
              <a:srgbClr val="1A355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9AF5FF38-CFC6-004D-1A77-BDC9546015EB}"/>
                </a:ext>
              </a:extLst>
            </p:cNvPr>
            <p:cNvSpPr txBox="1"/>
            <p:nvPr/>
          </p:nvSpPr>
          <p:spPr>
            <a:xfrm>
              <a:off x="4297680" y="1197864"/>
              <a:ext cx="3291840" cy="34747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1" i="0">
                  <a:solidFill>
                    <a:srgbClr val="FF7F27"/>
                  </a:solidFill>
                </a:rPr>
                <a:t>Bootstrap 95% CI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25E00485-8856-23F4-1102-3EF54F037A73}"/>
                </a:ext>
              </a:extLst>
            </p:cNvPr>
            <p:cNvSpPr txBox="1"/>
            <p:nvPr/>
          </p:nvSpPr>
          <p:spPr>
            <a:xfrm>
              <a:off x="4297680" y="1600200"/>
              <a:ext cx="3291840" cy="42997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700" b="1" i="0" dirty="0">
                  <a:solidFill>
                    <a:srgbClr val="FFFFFF"/>
                  </a:solidFill>
                </a:rPr>
                <a:t>[0.</a:t>
              </a:r>
              <a:r>
                <a:rPr lang="en-US" sz="1700" b="1" i="0" dirty="0">
                  <a:solidFill>
                    <a:srgbClr val="FFFFFF"/>
                  </a:solidFill>
                </a:rPr>
                <a:t>6850</a:t>
              </a:r>
              <a:r>
                <a:rPr sz="1700" b="1" i="0" dirty="0">
                  <a:solidFill>
                    <a:srgbClr val="FFFFFF"/>
                  </a:solidFill>
                </a:rPr>
                <a:t> – 0.7</a:t>
              </a:r>
              <a:r>
                <a:rPr lang="en-US" sz="1700" b="1" i="0" dirty="0">
                  <a:solidFill>
                    <a:srgbClr val="FFFFFF"/>
                  </a:solidFill>
                </a:rPr>
                <a:t>487</a:t>
              </a:r>
              <a:r>
                <a:rPr sz="1700" b="1" i="0" dirty="0">
                  <a:solidFill>
                    <a:srgbClr val="FFFFFF"/>
                  </a:solidFill>
                </a:rPr>
                <a:t>]</a:t>
              </a:r>
            </a:p>
          </p:txBody>
        </p:sp>
        <p:sp>
          <p:nvSpPr>
            <p:cNvPr id="13" name="Rectangle 11">
              <a:extLst>
                <a:ext uri="{FF2B5EF4-FFF2-40B4-BE49-F238E27FC236}">
                  <a16:creationId xmlns:a16="http://schemas.microsoft.com/office/drawing/2014/main" id="{CB9F921F-8132-3853-8CBE-80F19097D31D}"/>
                </a:ext>
              </a:extLst>
            </p:cNvPr>
            <p:cNvSpPr/>
            <p:nvPr/>
          </p:nvSpPr>
          <p:spPr>
            <a:xfrm>
              <a:off x="8001000" y="1143000"/>
              <a:ext cx="3566160" cy="1005840"/>
            </a:xfrm>
            <a:prstGeom prst="rect">
              <a:avLst/>
            </a:prstGeom>
            <a:solidFill>
              <a:srgbClr val="1A355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E0BE7A29-BB4D-0416-9DC6-F84F10D35A1E}"/>
                </a:ext>
              </a:extLst>
            </p:cNvPr>
            <p:cNvSpPr txBox="1"/>
            <p:nvPr/>
          </p:nvSpPr>
          <p:spPr>
            <a:xfrm>
              <a:off x="8138160" y="1197864"/>
              <a:ext cx="3291840" cy="34747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1" i="0">
                  <a:solidFill>
                    <a:srgbClr val="FF7F27"/>
                  </a:solidFill>
                </a:rPr>
                <a:t>Sensitivity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29E3B2D4-B131-5D48-3CEE-823DEF3197BE}"/>
                </a:ext>
              </a:extLst>
            </p:cNvPr>
            <p:cNvSpPr txBox="1"/>
            <p:nvPr/>
          </p:nvSpPr>
          <p:spPr>
            <a:xfrm>
              <a:off x="8138160" y="1600200"/>
              <a:ext cx="3291840" cy="42997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700" b="1" i="0" dirty="0">
                  <a:solidFill>
                    <a:srgbClr val="FFFFFF"/>
                  </a:solidFill>
                </a:rPr>
                <a:t>0.</a:t>
              </a:r>
              <a:r>
                <a:rPr lang="en-US" sz="1700" b="1" i="0" dirty="0">
                  <a:solidFill>
                    <a:srgbClr val="FFFFFF"/>
                  </a:solidFill>
                </a:rPr>
                <a:t>6940</a:t>
              </a:r>
              <a:endParaRPr sz="1700" b="1" i="0" dirty="0">
                <a:solidFill>
                  <a:srgbClr val="FFFFFF"/>
                </a:solidFill>
              </a:endParaRPr>
            </a:p>
          </p:txBody>
        </p:sp>
        <p:sp>
          <p:nvSpPr>
            <p:cNvPr id="16" name="Rectangle 14">
              <a:extLst>
                <a:ext uri="{FF2B5EF4-FFF2-40B4-BE49-F238E27FC236}">
                  <a16:creationId xmlns:a16="http://schemas.microsoft.com/office/drawing/2014/main" id="{8294CC62-1854-3F02-E799-DEB08AF221DE}"/>
                </a:ext>
              </a:extLst>
            </p:cNvPr>
            <p:cNvSpPr/>
            <p:nvPr/>
          </p:nvSpPr>
          <p:spPr>
            <a:xfrm>
              <a:off x="320040" y="2240280"/>
              <a:ext cx="3566160" cy="1005840"/>
            </a:xfrm>
            <a:prstGeom prst="rect">
              <a:avLst/>
            </a:prstGeom>
            <a:solidFill>
              <a:srgbClr val="1A355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9508EA9A-C3B2-9306-F6F1-AC8989413DB6}"/>
                </a:ext>
              </a:extLst>
            </p:cNvPr>
            <p:cNvSpPr txBox="1"/>
            <p:nvPr/>
          </p:nvSpPr>
          <p:spPr>
            <a:xfrm>
              <a:off x="457200" y="2295144"/>
              <a:ext cx="3291840" cy="34747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1" i="0">
                  <a:solidFill>
                    <a:srgbClr val="FF7F27"/>
                  </a:solidFill>
                </a:rPr>
                <a:t>Specificity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518F117-99D3-2E5C-D929-D400CB66DC1C}"/>
                </a:ext>
              </a:extLst>
            </p:cNvPr>
            <p:cNvSpPr txBox="1"/>
            <p:nvPr/>
          </p:nvSpPr>
          <p:spPr>
            <a:xfrm>
              <a:off x="457200" y="2697480"/>
              <a:ext cx="3291840" cy="42997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700" b="1" i="0" dirty="0">
                  <a:solidFill>
                    <a:srgbClr val="FFFFFF"/>
                  </a:solidFill>
                </a:rPr>
                <a:t>0.6</a:t>
              </a:r>
              <a:r>
                <a:rPr lang="en-US" sz="1700" b="1" i="0" dirty="0">
                  <a:solidFill>
                    <a:srgbClr val="FFFFFF"/>
                  </a:solidFill>
                </a:rPr>
                <a:t>324</a:t>
              </a:r>
              <a:endParaRPr sz="1700" b="1" i="0" dirty="0">
                <a:solidFill>
                  <a:srgbClr val="FFFFFF"/>
                </a:solidFill>
              </a:endParaRPr>
            </a:p>
          </p:txBody>
        </p:sp>
        <p:sp>
          <p:nvSpPr>
            <p:cNvPr id="19" name="Rectangle 17">
              <a:extLst>
                <a:ext uri="{FF2B5EF4-FFF2-40B4-BE49-F238E27FC236}">
                  <a16:creationId xmlns:a16="http://schemas.microsoft.com/office/drawing/2014/main" id="{0AC746FD-E352-ADD8-2DAA-43BC3B819022}"/>
                </a:ext>
              </a:extLst>
            </p:cNvPr>
            <p:cNvSpPr/>
            <p:nvPr/>
          </p:nvSpPr>
          <p:spPr>
            <a:xfrm>
              <a:off x="4160520" y="2240280"/>
              <a:ext cx="3566160" cy="1005840"/>
            </a:xfrm>
            <a:prstGeom prst="rect">
              <a:avLst/>
            </a:prstGeom>
            <a:solidFill>
              <a:srgbClr val="1A355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737CE1B8-2B16-3EDD-709D-CE3EB1D6528A}"/>
                </a:ext>
              </a:extLst>
            </p:cNvPr>
            <p:cNvSpPr txBox="1"/>
            <p:nvPr/>
          </p:nvSpPr>
          <p:spPr>
            <a:xfrm>
              <a:off x="4297680" y="2295144"/>
              <a:ext cx="3291840" cy="34747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1" i="0">
                  <a:solidFill>
                    <a:srgbClr val="FF7F27"/>
                  </a:solidFill>
                </a:rPr>
                <a:t>PPV / NPV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6C796207-BFFC-7740-7790-09CE450971FC}"/>
                </a:ext>
              </a:extLst>
            </p:cNvPr>
            <p:cNvSpPr txBox="1"/>
            <p:nvPr/>
          </p:nvSpPr>
          <p:spPr>
            <a:xfrm>
              <a:off x="4297680" y="2697480"/>
              <a:ext cx="3291840" cy="42997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700" b="1" i="0" dirty="0">
                  <a:solidFill>
                    <a:srgbClr val="FFFFFF"/>
                  </a:solidFill>
                </a:rPr>
                <a:t>0.3</a:t>
              </a:r>
              <a:r>
                <a:rPr lang="en-US" sz="1700" b="1" i="0" dirty="0">
                  <a:solidFill>
                    <a:srgbClr val="FFFFFF"/>
                  </a:solidFill>
                </a:rPr>
                <a:t>860</a:t>
              </a:r>
              <a:r>
                <a:rPr sz="1700" b="1" i="0" dirty="0">
                  <a:solidFill>
                    <a:srgbClr val="FFFFFF"/>
                  </a:solidFill>
                </a:rPr>
                <a:t> / 0.86</a:t>
              </a:r>
              <a:r>
                <a:rPr lang="en-US" sz="1700" b="1" i="0" dirty="0">
                  <a:solidFill>
                    <a:srgbClr val="FFFFFF"/>
                  </a:solidFill>
                </a:rPr>
                <a:t>12</a:t>
              </a:r>
              <a:endParaRPr sz="1700" b="1" i="0" dirty="0">
                <a:solidFill>
                  <a:srgbClr val="FFFFFF"/>
                </a:solidFill>
              </a:endParaRPr>
            </a:p>
          </p:txBody>
        </p:sp>
        <p:sp>
          <p:nvSpPr>
            <p:cNvPr id="22" name="Rectangle 20">
              <a:extLst>
                <a:ext uri="{FF2B5EF4-FFF2-40B4-BE49-F238E27FC236}">
                  <a16:creationId xmlns:a16="http://schemas.microsoft.com/office/drawing/2014/main" id="{D21C8FFF-D22E-66C4-9FA3-7C131ECBCFBA}"/>
                </a:ext>
              </a:extLst>
            </p:cNvPr>
            <p:cNvSpPr/>
            <p:nvPr/>
          </p:nvSpPr>
          <p:spPr>
            <a:xfrm>
              <a:off x="8001000" y="2240280"/>
              <a:ext cx="3566160" cy="1005840"/>
            </a:xfrm>
            <a:prstGeom prst="rect">
              <a:avLst/>
            </a:prstGeom>
            <a:solidFill>
              <a:srgbClr val="1A355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C06CFC95-30EB-6F5E-F3A7-626CDA6F1BB1}"/>
                </a:ext>
              </a:extLst>
            </p:cNvPr>
            <p:cNvSpPr txBox="1"/>
            <p:nvPr/>
          </p:nvSpPr>
          <p:spPr>
            <a:xfrm>
              <a:off x="8138160" y="2295144"/>
              <a:ext cx="3291840" cy="34747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1" i="0">
                  <a:solidFill>
                    <a:srgbClr val="FF7F27"/>
                  </a:solidFill>
                </a:rPr>
                <a:t>Nagelkerke R²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7B47537D-287A-836B-7A36-95B926BFFA54}"/>
                </a:ext>
              </a:extLst>
            </p:cNvPr>
            <p:cNvSpPr txBox="1"/>
            <p:nvPr/>
          </p:nvSpPr>
          <p:spPr>
            <a:xfrm>
              <a:off x="8138160" y="2697480"/>
              <a:ext cx="3291840" cy="42997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700" b="1" i="0" dirty="0">
                  <a:solidFill>
                    <a:srgbClr val="FFFFFF"/>
                  </a:solidFill>
                </a:rPr>
                <a:t>0.</a:t>
              </a:r>
              <a:r>
                <a:rPr lang="en-US" sz="1700" b="1" i="0" dirty="0">
                  <a:solidFill>
                    <a:srgbClr val="FFFFFF"/>
                  </a:solidFill>
                </a:rPr>
                <a:t>1681</a:t>
              </a:r>
              <a:endParaRPr sz="1700" b="1" i="0" dirty="0">
                <a:solidFill>
                  <a:srgbClr val="FFFFFF"/>
                </a:solidFill>
              </a:endParaRPr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C419AE23-1629-4CEC-59F3-4ACBC1E0D296}"/>
              </a:ext>
            </a:extLst>
          </p:cNvPr>
          <p:cNvSpPr txBox="1"/>
          <p:nvPr/>
        </p:nvSpPr>
        <p:spPr>
          <a:xfrm>
            <a:off x="508000" y="3576107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 err="1">
                <a:solidFill>
                  <a:srgbClr val="1A355E"/>
                </a:solidFill>
              </a:rPr>
              <a:t>보정도</a:t>
            </a:r>
            <a:r>
              <a:rPr sz="1300" b="1" i="0" dirty="0">
                <a:solidFill>
                  <a:srgbClr val="1A355E"/>
                </a:solidFill>
              </a:rPr>
              <a:t> 및 </a:t>
            </a:r>
            <a:r>
              <a:rPr sz="1300" b="1" i="0" dirty="0" err="1">
                <a:solidFill>
                  <a:srgbClr val="1A355E"/>
                </a:solidFill>
              </a:rPr>
              <a:t>적합도</a:t>
            </a:r>
            <a:endParaRPr sz="1300" b="1" i="0" dirty="0">
              <a:solidFill>
                <a:srgbClr val="1A355E"/>
              </a:solidFill>
            </a:endParaRPr>
          </a:p>
        </p:txBody>
      </p:sp>
      <p:graphicFrame>
        <p:nvGraphicFramePr>
          <p:cNvPr id="26" name="Table 24">
            <a:extLst>
              <a:ext uri="{FF2B5EF4-FFF2-40B4-BE49-F238E27FC236}">
                <a16:creationId xmlns:a16="http://schemas.microsoft.com/office/drawing/2014/main" id="{3A76AD0E-611F-DE73-5345-869AF07F99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9384595"/>
              </p:ext>
            </p:extLst>
          </p:nvPr>
        </p:nvGraphicFramePr>
        <p:xfrm>
          <a:off x="508000" y="3923578"/>
          <a:ext cx="6400800" cy="10663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1768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495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66583">
                <a:tc>
                  <a:txBody>
                    <a:bodyPr/>
                    <a:lstStyle/>
                    <a:p>
                      <a:pPr algn="ctr"/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지표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값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해석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6583"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Hosmer-</a:t>
                      </a:r>
                      <a:r>
                        <a:rPr sz="1100" dirty="0" err="1">
                          <a:solidFill>
                            <a:srgbClr val="1A1A2E"/>
                          </a:solidFill>
                        </a:rPr>
                        <a:t>Lemeshow</a:t>
                      </a:r>
                      <a:r>
                        <a:rPr sz="1100" dirty="0">
                          <a:solidFill>
                            <a:srgbClr val="1A1A2E"/>
                          </a:solidFill>
                        </a:rPr>
                        <a:t> χ²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5.249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p=0.731 → 보정도 양호 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6583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Brier Score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0.1638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 err="1">
                          <a:solidFill>
                            <a:srgbClr val="1A1A2E"/>
                          </a:solidFill>
                        </a:rPr>
                        <a:t>낮을수록</a:t>
                      </a:r>
                      <a:r>
                        <a:rPr sz="11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100" dirty="0" err="1">
                          <a:solidFill>
                            <a:srgbClr val="1A1A2E"/>
                          </a:solidFill>
                        </a:rPr>
                        <a:t>우수</a:t>
                      </a:r>
                      <a:r>
                        <a:rPr sz="1100" dirty="0">
                          <a:solidFill>
                            <a:srgbClr val="1A1A2E"/>
                          </a:solidFill>
                        </a:rPr>
                        <a:t> (0=</a:t>
                      </a:r>
                      <a:r>
                        <a:rPr sz="1100" dirty="0" err="1">
                          <a:solidFill>
                            <a:srgbClr val="1A1A2E"/>
                          </a:solidFill>
                        </a:rPr>
                        <a:t>완벽</a:t>
                      </a:r>
                      <a:r>
                        <a:rPr sz="1100" dirty="0">
                          <a:solidFill>
                            <a:srgbClr val="1A1A2E"/>
                          </a:solidFill>
                        </a:rPr>
                        <a:t>, 0.25=</a:t>
                      </a:r>
                      <a:r>
                        <a:rPr sz="1100" dirty="0" err="1">
                          <a:solidFill>
                            <a:srgbClr val="1A1A2E"/>
                          </a:solidFill>
                        </a:rPr>
                        <a:t>무작위</a:t>
                      </a:r>
                      <a:r>
                        <a:rPr sz="1100" dirty="0">
                          <a:solidFill>
                            <a:srgbClr val="1A1A2E"/>
                          </a:solidFill>
                        </a:rPr>
                        <a:t>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6583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AIC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1,377.83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Case </a:t>
                      </a:r>
                      <a:r>
                        <a:rPr sz="1100" dirty="0" err="1">
                          <a:solidFill>
                            <a:srgbClr val="1A1A2E"/>
                          </a:solidFill>
                        </a:rPr>
                        <a:t>비교</a:t>
                      </a:r>
                      <a:r>
                        <a:rPr sz="11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100" dirty="0" err="1">
                          <a:solidFill>
                            <a:srgbClr val="1A1A2E"/>
                          </a:solidFill>
                        </a:rPr>
                        <a:t>기준</a:t>
                      </a:r>
                      <a:endParaRPr sz="1100" dirty="0">
                        <a:solidFill>
                          <a:srgbClr val="1A1A2E"/>
                        </a:solidFill>
                      </a:endParaRP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9348861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485521-6681-CD1E-F259-B7BD3419A6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8" descr="13_case_auc_bar.png">
            <a:extLst>
              <a:ext uri="{FF2B5EF4-FFF2-40B4-BE49-F238E27FC236}">
                <a16:creationId xmlns:a16="http://schemas.microsoft.com/office/drawing/2014/main" id="{2AA11500-F8DA-3AEA-D9BE-F3024A9556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2799" y="3612403"/>
            <a:ext cx="5486400" cy="2788267"/>
          </a:xfrm>
          <a:prstGeom prst="rect">
            <a:avLst/>
          </a:prstGeom>
        </p:spPr>
      </p:pic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2A064FC-D4FD-B112-A2F9-18EEF71ECF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Logistic Regression - </a:t>
            </a:r>
            <a:r>
              <a:rPr lang="ko-KR" altLang="en-US" dirty="0"/>
              <a:t>신촌</a:t>
            </a:r>
            <a:endParaRPr lang="en-US" altLang="ko-KR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122CD35-01BA-C055-1065-99FC579BC8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en-US" altLang="ko-KR"/>
              <a:t>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E107738-2C68-25CA-38CA-FF4F12D4AC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38</a:t>
            </a:fld>
            <a:endParaRPr lang="ko-KR" altLang="en-US" dirty="0"/>
          </a:p>
        </p:txBody>
      </p:sp>
      <p:graphicFrame>
        <p:nvGraphicFramePr>
          <p:cNvPr id="15" name="Table 4">
            <a:extLst>
              <a:ext uri="{FF2B5EF4-FFF2-40B4-BE49-F238E27FC236}">
                <a16:creationId xmlns:a16="http://schemas.microsoft.com/office/drawing/2014/main" id="{61E140C2-30D8-84E7-4462-DB355F84FB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2277592"/>
              </p:ext>
            </p:extLst>
          </p:nvPr>
        </p:nvGraphicFramePr>
        <p:xfrm>
          <a:off x="1516582" y="1625599"/>
          <a:ext cx="9158835" cy="15971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84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3102561567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지표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Case 0</a:t>
                      </a:r>
                    </a:p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[only AEC]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Case 1</a:t>
                      </a:r>
                      <a:endParaRPr lang="en-US" sz="11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[Age,</a:t>
                      </a: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 </a:t>
                      </a:r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Sex]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Case 2</a:t>
                      </a:r>
                      <a:endParaRPr lang="en-US" sz="11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[+AEC]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Case 3</a:t>
                      </a:r>
                      <a:endParaRPr lang="en-US" sz="11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[+Model</a:t>
                      </a: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, </a:t>
                      </a:r>
                      <a:r>
                        <a:rPr lang="en-US" sz="1100" b="1" dirty="0" err="1">
                          <a:solidFill>
                            <a:srgbClr val="FFFFFF"/>
                          </a:solidFill>
                        </a:rPr>
                        <a:t>kVp</a:t>
                      </a:r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]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Δ C1→C2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Δ C2→C3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AUC-ROC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0.6117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0.6097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0.6497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0.7282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+0.040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+0.078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Nagelkerke R²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0.0369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0.0286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0.0727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0.1791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+0.044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+0.106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AIC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1404.66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1407.95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1376.83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1369.12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-31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-8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HL p-value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0.330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6.23e-04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0.168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0.189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 err="1">
                          <a:solidFill>
                            <a:srgbClr val="1A1A2E"/>
                          </a:solidFill>
                        </a:rPr>
                        <a:t>보정도</a:t>
                      </a:r>
                      <a:r>
                        <a:rPr sz="12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200" dirty="0" err="1">
                          <a:solidFill>
                            <a:srgbClr val="1A1A2E"/>
                          </a:solidFill>
                        </a:rPr>
                        <a:t>개선</a:t>
                      </a:r>
                      <a:endParaRPr sz="1200" dirty="0">
                        <a:solidFill>
                          <a:srgbClr val="1A1A2E"/>
                        </a:solidFill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 err="1">
                          <a:solidFill>
                            <a:srgbClr val="1A1A2E"/>
                          </a:solidFill>
                        </a:rPr>
                        <a:t>보정도</a:t>
                      </a:r>
                      <a:r>
                        <a:rPr sz="12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200" dirty="0" err="1">
                          <a:solidFill>
                            <a:srgbClr val="1A1A2E"/>
                          </a:solidFill>
                        </a:rPr>
                        <a:t>양호</a:t>
                      </a:r>
                      <a:endParaRPr sz="1200" dirty="0">
                        <a:solidFill>
                          <a:srgbClr val="1A1A2E"/>
                        </a:solidFill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1627529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CF3D8027-4E7E-4FA6-8079-6AD17C2111C2}"/>
              </a:ext>
            </a:extLst>
          </p:cNvPr>
          <p:cNvSpPr txBox="1"/>
          <p:nvPr/>
        </p:nvSpPr>
        <p:spPr>
          <a:xfrm>
            <a:off x="1516582" y="3222751"/>
            <a:ext cx="9158835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>
                <a:solidFill>
                  <a:srgbClr val="2E75B6"/>
                </a:solidFill>
              </a:rPr>
              <a:t>AEC </a:t>
            </a:r>
            <a:r>
              <a:rPr sz="1300" b="1" i="0" dirty="0" err="1">
                <a:solidFill>
                  <a:srgbClr val="2E75B6"/>
                </a:solidFill>
              </a:rPr>
              <a:t>추가</a:t>
            </a:r>
            <a:r>
              <a:rPr sz="1300" b="1" i="0" dirty="0">
                <a:solidFill>
                  <a:srgbClr val="2E75B6"/>
                </a:solidFill>
              </a:rPr>
              <a:t>(Case1→2)로 AUC +6.6% </a:t>
            </a:r>
            <a:r>
              <a:rPr sz="1300" b="1" i="0" dirty="0" err="1">
                <a:solidFill>
                  <a:srgbClr val="2E75B6"/>
                </a:solidFill>
              </a:rPr>
              <a:t>향상</a:t>
            </a:r>
            <a:r>
              <a:rPr sz="1300" b="1" i="0" dirty="0">
                <a:solidFill>
                  <a:srgbClr val="2E75B6"/>
                </a:solidFill>
              </a:rPr>
              <a:t>  |  CT </a:t>
            </a:r>
            <a:r>
              <a:rPr sz="1300" b="1" i="0" dirty="0" err="1">
                <a:solidFill>
                  <a:srgbClr val="2E75B6"/>
                </a:solidFill>
              </a:rPr>
              <a:t>모델명</a:t>
            </a:r>
            <a:r>
              <a:rPr sz="1300" b="1" i="0" dirty="0">
                <a:solidFill>
                  <a:srgbClr val="2E75B6"/>
                </a:solidFill>
              </a:rPr>
              <a:t>/</a:t>
            </a:r>
            <a:r>
              <a:rPr sz="1300" b="1" i="0" dirty="0" err="1">
                <a:solidFill>
                  <a:srgbClr val="2E75B6"/>
                </a:solidFill>
              </a:rPr>
              <a:t>kVp</a:t>
            </a:r>
            <a:r>
              <a:rPr sz="1300" b="1" i="0" dirty="0">
                <a:solidFill>
                  <a:srgbClr val="2E75B6"/>
                </a:solidFill>
              </a:rPr>
              <a:t> </a:t>
            </a:r>
            <a:r>
              <a:rPr sz="1300" b="1" i="0" dirty="0" err="1">
                <a:solidFill>
                  <a:srgbClr val="2E75B6"/>
                </a:solidFill>
              </a:rPr>
              <a:t>추가</a:t>
            </a:r>
            <a:r>
              <a:rPr sz="1300" b="1" i="0" dirty="0">
                <a:solidFill>
                  <a:srgbClr val="2E75B6"/>
                </a:solidFill>
              </a:rPr>
              <a:t>(Case2→3)로 +12.1% </a:t>
            </a:r>
            <a:r>
              <a:rPr sz="1300" b="1" i="0" dirty="0" err="1">
                <a:solidFill>
                  <a:srgbClr val="2E75B6"/>
                </a:solidFill>
              </a:rPr>
              <a:t>추가</a:t>
            </a:r>
            <a:r>
              <a:rPr sz="1300" b="1" i="0" dirty="0">
                <a:solidFill>
                  <a:srgbClr val="2E75B6"/>
                </a:solidFill>
              </a:rPr>
              <a:t> </a:t>
            </a:r>
            <a:r>
              <a:rPr sz="1300" b="1" i="0" dirty="0" err="1">
                <a:solidFill>
                  <a:srgbClr val="2E75B6"/>
                </a:solidFill>
              </a:rPr>
              <a:t>개선</a:t>
            </a:r>
            <a:endParaRPr sz="1300" b="1" i="0" dirty="0">
              <a:solidFill>
                <a:srgbClr val="2E75B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6543242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08A7B9-17F4-2071-1E3B-B4A0FF22BE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17D00FC-F61D-BFDC-90E5-F908042C78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BMI </a:t>
            </a:r>
            <a:r>
              <a:rPr lang="ko-KR" altLang="en-US" dirty="0"/>
              <a:t>데이터 </a:t>
            </a:r>
            <a:r>
              <a:rPr lang="ko-KR" altLang="en-US"/>
              <a:t>병합 현황</a:t>
            </a:r>
            <a:endParaRPr lang="en-US" altLang="ko-KR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1A0C4ADD-571C-4CA3-A67F-B66C131BEA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en-US" altLang="ko-KR"/>
              <a:t>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0313003-AA7B-08A8-F747-0BFB1BDBA4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39</a:t>
            </a:fld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87386F9-CEAC-8AD6-F986-7CC5ABAEB2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1763339"/>
            <a:ext cx="5387292" cy="2799184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BF976A80-9761-A301-2A98-3CEC71346B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7665" y="1763339"/>
            <a:ext cx="5003639" cy="2545797"/>
          </a:xfrm>
          <a:prstGeom prst="rect">
            <a:avLst/>
          </a:prstGeom>
        </p:spPr>
      </p:pic>
      <p:sp>
        <p:nvSpPr>
          <p:cNvPr id="10" name="화살표: 왼쪽 9">
            <a:extLst>
              <a:ext uri="{FF2B5EF4-FFF2-40B4-BE49-F238E27FC236}">
                <a16:creationId xmlns:a16="http://schemas.microsoft.com/office/drawing/2014/main" id="{9CE5CD74-CC2B-3DB8-C37B-B06D124B24FD}"/>
              </a:ext>
            </a:extLst>
          </p:cNvPr>
          <p:cNvSpPr/>
          <p:nvPr/>
        </p:nvSpPr>
        <p:spPr>
          <a:xfrm>
            <a:off x="6058690" y="2856059"/>
            <a:ext cx="585577" cy="360355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749D49BF-C23A-5C74-91FF-294DE5BB9DC6}"/>
              </a:ext>
            </a:extLst>
          </p:cNvPr>
          <p:cNvSpPr/>
          <p:nvPr/>
        </p:nvSpPr>
        <p:spPr>
          <a:xfrm>
            <a:off x="4507606" y="1725769"/>
            <a:ext cx="1387686" cy="286769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83A9C69A-BC9E-3158-2906-F42B4EE922E5}"/>
              </a:ext>
            </a:extLst>
          </p:cNvPr>
          <p:cNvSpPr/>
          <p:nvPr/>
        </p:nvSpPr>
        <p:spPr>
          <a:xfrm>
            <a:off x="10844010" y="1763339"/>
            <a:ext cx="1003387" cy="254579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7734869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74114E-B2FF-5818-CB8D-1DB2974784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A6E2355-4048-EA0F-4FD6-16AEF5CFD8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BMI </a:t>
            </a:r>
            <a:r>
              <a:rPr lang="ko-KR" altLang="en-US" dirty="0"/>
              <a:t>데이터 병합 현황</a:t>
            </a:r>
            <a:endParaRPr lang="en-US" altLang="ko-KR" dirty="0"/>
          </a:p>
          <a:p>
            <a:pPr lvl="1"/>
            <a:r>
              <a:rPr lang="ko-KR" altLang="en-US" dirty="0"/>
              <a:t>강남 데이터</a:t>
            </a:r>
            <a:endParaRPr lang="en-US" altLang="ko-KR" dirty="0"/>
          </a:p>
          <a:p>
            <a:pPr lvl="2"/>
            <a:r>
              <a:rPr lang="en-US" altLang="ko-KR" dirty="0"/>
              <a:t>2,025</a:t>
            </a:r>
            <a:r>
              <a:rPr lang="ko-KR" altLang="en-US" dirty="0"/>
              <a:t>명 中 </a:t>
            </a:r>
            <a:r>
              <a:rPr lang="en-US" altLang="ko-KR" dirty="0"/>
              <a:t>383</a:t>
            </a:r>
            <a:r>
              <a:rPr lang="ko-KR" altLang="en-US" dirty="0"/>
              <a:t>명 </a:t>
            </a:r>
            <a:r>
              <a:rPr lang="en-US" altLang="ko-KR" dirty="0"/>
              <a:t>(18.9%)</a:t>
            </a:r>
            <a:r>
              <a:rPr lang="ko-KR" altLang="en-US" dirty="0"/>
              <a:t> </a:t>
            </a:r>
            <a:r>
              <a:rPr lang="en-US" altLang="ko-KR" dirty="0"/>
              <a:t>: </a:t>
            </a:r>
            <a:r>
              <a:rPr lang="ko-KR" altLang="en-US" dirty="0"/>
              <a:t>신장</a:t>
            </a:r>
            <a:r>
              <a:rPr lang="en-US" altLang="ko-KR" dirty="0"/>
              <a:t>, </a:t>
            </a:r>
            <a:r>
              <a:rPr lang="ko-KR" altLang="en-US" dirty="0"/>
              <a:t>체중</a:t>
            </a:r>
            <a:r>
              <a:rPr lang="en-US" altLang="ko-KR" dirty="0"/>
              <a:t>, BMI </a:t>
            </a:r>
            <a:r>
              <a:rPr lang="ko-KR" altLang="en-US" dirty="0"/>
              <a:t>데이터 부재</a:t>
            </a:r>
            <a:endParaRPr lang="en-US" altLang="ko-KR" dirty="0"/>
          </a:p>
          <a:p>
            <a:pPr lvl="1"/>
            <a:r>
              <a:rPr lang="ko-KR" altLang="en-US" dirty="0"/>
              <a:t>신촌 데이터</a:t>
            </a:r>
            <a:endParaRPr lang="en-US" altLang="ko-KR" dirty="0"/>
          </a:p>
          <a:p>
            <a:pPr lvl="2"/>
            <a:r>
              <a:rPr lang="en-US" altLang="ko-KR" dirty="0"/>
              <a:t>2,257</a:t>
            </a:r>
            <a:r>
              <a:rPr lang="ko-KR" altLang="en-US" dirty="0"/>
              <a:t>명 中 </a:t>
            </a:r>
            <a:r>
              <a:rPr lang="en-US" altLang="ko-KR" dirty="0"/>
              <a:t>3</a:t>
            </a:r>
            <a:r>
              <a:rPr lang="ko-KR" altLang="en-US" dirty="0"/>
              <a:t>명 </a:t>
            </a:r>
            <a:r>
              <a:rPr lang="en-US" altLang="ko-KR" dirty="0"/>
              <a:t>(0.13%) : </a:t>
            </a:r>
            <a:r>
              <a:rPr lang="ko-KR" altLang="en-US" dirty="0"/>
              <a:t>신장</a:t>
            </a:r>
            <a:r>
              <a:rPr lang="en-US" altLang="ko-KR" dirty="0"/>
              <a:t>, </a:t>
            </a:r>
            <a:r>
              <a:rPr lang="ko-KR" altLang="en-US" dirty="0"/>
              <a:t>체중</a:t>
            </a:r>
            <a:r>
              <a:rPr lang="en-US" altLang="ko-KR" dirty="0"/>
              <a:t>, BMI </a:t>
            </a:r>
            <a:r>
              <a:rPr lang="ko-KR" altLang="en-US" dirty="0"/>
              <a:t>데이터 부재</a:t>
            </a:r>
            <a:endParaRPr lang="en-US" altLang="ko-KR" dirty="0"/>
          </a:p>
          <a:p>
            <a:pPr lvl="1"/>
            <a:r>
              <a:rPr lang="ko-KR" altLang="en-US" dirty="0"/>
              <a:t>신촌 </a:t>
            </a:r>
            <a:r>
              <a:rPr lang="ko-KR" altLang="en-US" dirty="0" err="1"/>
              <a:t>결측치는</a:t>
            </a:r>
            <a:r>
              <a:rPr lang="ko-KR" altLang="en-US" dirty="0"/>
              <a:t> 제외하지만</a:t>
            </a:r>
            <a:r>
              <a:rPr lang="en-US" altLang="ko-KR" dirty="0"/>
              <a:t>, </a:t>
            </a:r>
            <a:r>
              <a:rPr lang="ko-KR" altLang="en-US" dirty="0"/>
              <a:t>강남 </a:t>
            </a:r>
            <a:r>
              <a:rPr lang="ko-KR" altLang="en-US" dirty="0" err="1"/>
              <a:t>결측치는</a:t>
            </a:r>
            <a:r>
              <a:rPr lang="ko-KR" altLang="en-US" dirty="0"/>
              <a:t> 비율이 꽤 높음</a:t>
            </a:r>
            <a:endParaRPr lang="en-US" altLang="ko-KR" dirty="0"/>
          </a:p>
          <a:p>
            <a:pPr lvl="1"/>
            <a:r>
              <a:rPr lang="ko-KR" altLang="en-US" dirty="0"/>
              <a:t>강남 </a:t>
            </a:r>
            <a:r>
              <a:rPr lang="ko-KR" altLang="en-US" dirty="0" err="1"/>
              <a:t>결측치의</a:t>
            </a:r>
            <a:r>
              <a:rPr lang="ko-KR" altLang="en-US" dirty="0"/>
              <a:t> </a:t>
            </a:r>
            <a:r>
              <a:rPr lang="en-US" altLang="ko-KR" dirty="0"/>
              <a:t>92%</a:t>
            </a:r>
            <a:r>
              <a:rPr lang="ko-KR" altLang="en-US" dirty="0"/>
              <a:t>가 </a:t>
            </a:r>
            <a:r>
              <a:rPr lang="en-US" altLang="ko-KR" dirty="0"/>
              <a:t>BMI</a:t>
            </a:r>
            <a:r>
              <a:rPr lang="ko-KR" altLang="en-US" dirty="0"/>
              <a:t> 파일에서 병원 구분이 신촌으로 되어 있음</a:t>
            </a:r>
            <a:endParaRPr lang="en-US" altLang="ko-KR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7B2D737D-D466-5D4B-3B59-BE09873224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en-US" altLang="ko-KR"/>
              <a:t>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190B83B-B820-DA13-4B87-1CDBCFC24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40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0610938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4C152F-6AC6-4EBB-8679-327588602F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ML </a:t>
            </a:r>
            <a:r>
              <a:rPr lang="ko-KR" altLang="en-US" dirty="0"/>
              <a:t>기반 앙상블 모델 비교 </a:t>
            </a:r>
            <a:r>
              <a:rPr lang="en-US" altLang="ko-KR" dirty="0"/>
              <a:t>(Random Forest, </a:t>
            </a:r>
            <a:r>
              <a:rPr lang="en-US" altLang="ko-KR" dirty="0" err="1"/>
              <a:t>XGBoost</a:t>
            </a:r>
            <a:r>
              <a:rPr lang="en-US" altLang="ko-KR" dirty="0"/>
              <a:t> </a:t>
            </a:r>
            <a:r>
              <a:rPr lang="ko-KR" altLang="en-US" dirty="0"/>
              <a:t>등</a:t>
            </a:r>
            <a:r>
              <a:rPr lang="en-US" altLang="ko-KR" dirty="0"/>
              <a:t>)</a:t>
            </a:r>
          </a:p>
          <a:p>
            <a:r>
              <a:rPr lang="ko-KR" altLang="en-US" dirty="0"/>
              <a:t>신장</a:t>
            </a:r>
            <a:r>
              <a:rPr lang="en-US" altLang="ko-KR" dirty="0"/>
              <a:t>, </a:t>
            </a:r>
            <a:r>
              <a:rPr lang="ko-KR" altLang="en-US" dirty="0"/>
              <a:t>체중</a:t>
            </a:r>
            <a:r>
              <a:rPr lang="en-US" altLang="ko-KR" dirty="0"/>
              <a:t>, BMI</a:t>
            </a:r>
            <a:r>
              <a:rPr lang="ko-KR" altLang="en-US" dirty="0"/>
              <a:t>를 추가한 데이터셋으로 성능 비교</a:t>
            </a:r>
            <a:endParaRPr lang="en-US" altLang="ko-KR" dirty="0"/>
          </a:p>
          <a:p>
            <a:r>
              <a:rPr lang="ko-KR" altLang="en-US" dirty="0"/>
              <a:t>추후 </a:t>
            </a:r>
            <a:r>
              <a:rPr lang="en-US" altLang="ko-KR" dirty="0"/>
              <a:t>SMI(TAMA/Height</a:t>
            </a:r>
            <a:r>
              <a:rPr lang="en-US" altLang="ko-KR" baseline="30000" dirty="0"/>
              <a:t>2</a:t>
            </a:r>
            <a:r>
              <a:rPr lang="en-US" altLang="ko-KR" dirty="0"/>
              <a:t>)</a:t>
            </a:r>
            <a:r>
              <a:rPr lang="ko-KR" altLang="en-US" dirty="0"/>
              <a:t>도 활용 가능</a:t>
            </a:r>
            <a:endParaRPr lang="en-US" altLang="ko-KR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 Next Plan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41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266179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6" name="Google Shape;1176;g3d412ffb079_0_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865</TotalTime>
  <Words>3499</Words>
  <Application>Microsoft Office PowerPoint</Application>
  <PresentationFormat>와이드스크린</PresentationFormat>
  <Paragraphs>999</Paragraphs>
  <Slides>42</Slides>
  <Notes>39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42</vt:i4>
      </vt:variant>
    </vt:vector>
  </HeadingPairs>
  <TitlesOfParts>
    <vt:vector size="49" baseType="lpstr">
      <vt:lpstr>KoPub돋움체 Medium</vt:lpstr>
      <vt:lpstr>Arial</vt:lpstr>
      <vt:lpstr>맑은 고딕</vt:lpstr>
      <vt:lpstr>KoPubWorld돋움체 Bold</vt:lpstr>
      <vt:lpstr>KoPub돋움체 Bold</vt:lpstr>
      <vt:lpstr>KoPubWorld돋움체 Medium</vt:lpstr>
      <vt:lpstr>Office 테마</vt:lpstr>
      <vt:lpstr>PowerPoint 프레젠테이션</vt:lpstr>
      <vt:lpstr>1. What’s discussed in the last meetings</vt:lpstr>
      <vt:lpstr>2. Research Summary</vt:lpstr>
      <vt:lpstr>연구 프로토타입 정의</vt:lpstr>
      <vt:lpstr>Research Overview – Main Study</vt:lpstr>
      <vt:lpstr>Research Overview – Pilot Feasibility Study (현재 진행 연구)</vt:lpstr>
      <vt:lpstr>Research Overview – Pilot Feasibility Study (현재 진행 연구)</vt:lpstr>
      <vt:lpstr>데이터 정리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Univariate Analysis</vt:lpstr>
      <vt:lpstr>3. Detailed progress</vt:lpstr>
      <vt:lpstr>3. Detailed progress</vt:lpstr>
      <vt:lpstr>3. Detailed progress</vt:lpstr>
      <vt:lpstr>3. Detailed progress</vt:lpstr>
      <vt:lpstr>Multivariable Analysis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4. Next Plan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전장훈</dc:creator>
  <cp:lastModifiedBy>janghoon jun</cp:lastModifiedBy>
  <cp:revision>99</cp:revision>
  <dcterms:created xsi:type="dcterms:W3CDTF">2026-04-09T07:05:16Z</dcterms:created>
  <dcterms:modified xsi:type="dcterms:W3CDTF">2026-04-29T01:39:54Z</dcterms:modified>
</cp:coreProperties>
</file>