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3" r:id="rId11"/>
    <p:sldId id="404" r:id="rId12"/>
    <p:sldId id="369" r:id="rId13"/>
    <p:sldId id="355" r:id="rId14"/>
    <p:sldId id="397" r:id="rId15"/>
    <p:sldId id="398" r:id="rId16"/>
    <p:sldId id="390" r:id="rId17"/>
    <p:sldId id="391" r:id="rId18"/>
    <p:sldId id="384" r:id="rId19"/>
    <p:sldId id="405" r:id="rId20"/>
    <p:sldId id="406" r:id="rId21"/>
    <p:sldId id="407" r:id="rId22"/>
    <p:sldId id="408" r:id="rId23"/>
    <p:sldId id="409" r:id="rId24"/>
    <p:sldId id="410" r:id="rId25"/>
    <p:sldId id="411" r:id="rId26"/>
    <p:sldId id="412" r:id="rId27"/>
    <p:sldId id="413" r:id="rId28"/>
    <p:sldId id="414" r:id="rId29"/>
    <p:sldId id="415" r:id="rId30"/>
    <p:sldId id="416" r:id="rId31"/>
    <p:sldId id="399" r:id="rId32"/>
    <p:sldId id="345" r:id="rId33"/>
  </p:sldIdLst>
  <p:sldSz cx="12192000" cy="6858000"/>
  <p:notesSz cx="6858000" cy="9144000"/>
  <p:embeddedFontLst>
    <p:embeddedFont>
      <p:font typeface="KoPubWorld돋움체 Bold" panose="020B0600000101010101" charset="-127"/>
      <p:bold r:id="rId35"/>
    </p:embeddedFont>
    <p:embeddedFont>
      <p:font typeface="KoPubWorld돋움체 Medium" panose="020B0600000101010101" charset="-127"/>
      <p:regular r:id="rId36"/>
    </p:embeddedFont>
    <p:embeddedFont>
      <p:font typeface="KoPub돋움체 Bold" panose="00000800000000000000" pitchFamily="2" charset="-127"/>
      <p:bold r:id="rId37"/>
    </p:embeddedFont>
    <p:embeddedFont>
      <p:font typeface="KoPub돋움체 Medium" panose="00000600000000000000" pitchFamily="2" charset="-127"/>
      <p:regular r:id="rId38"/>
    </p:embeddedFont>
    <p:embeddedFont>
      <p:font typeface="맑은 고딕" panose="020B0503020000020004" pitchFamily="50" charset="-127"/>
      <p:regular r:id="rId39"/>
      <p:bold r:id="rId4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3"/>
            <p14:sldId id="404"/>
            <p14:sldId id="369"/>
            <p14:sldId id="355"/>
            <p14:sldId id="397"/>
            <p14:sldId id="398"/>
            <p14:sldId id="390"/>
            <p14:sldId id="391"/>
            <p14:sldId id="384"/>
            <p14:sldId id="405"/>
          </p14:sldIdLst>
        </p14:section>
        <p14:section name="신촌" id="{54739BC2-CCCC-4E40-88A4-AF7FBE587446}">
          <p14:sldIdLst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6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17DE01-B194-4AA4-8F7A-8A78165FB08E}" v="19" dt="2026-04-23T01:57:27.503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48" d="100"/>
          <a:sy n="148" d="100"/>
        </p:scale>
        <p:origin x="7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4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6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8:39.093" idx="10">
    <p:pos x="10" y="10"/>
    <p:text>+ 추가 데이터
BMI 전체 데이터 추가 예정. 키/체중을 이용한 SMI 계산 고려중.</p:text>
    <p:extLst>
      <p:ext uri="{C676402C-5697-4E1C-873F-D02D1690AC5C}">
        <p15:threadingInfo xmlns:p15="http://schemas.microsoft.com/office/powerpoint/2012/main" timeZoneBias="-540"/>
      </p:ext>
    </p:extLst>
  </p:cm>
  <p:cm authorId="1" dt="2026-04-20T15:49:01.920" idx="14">
    <p:pos x="10" y="146"/>
    <p:text>수정완료</p:text>
    <p:extLst>
      <p:ext uri="{C676402C-5697-4E1C-873F-D02D1690AC5C}">
        <p15:threadingInfo xmlns:p15="http://schemas.microsoft.com/office/powerpoint/2012/main" timeZoneBias="-540">
          <p15:parentCm authorId="1" idx="10"/>
        </p15:threadingInfo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05B4-F283-4C6F-BB42-0C678B43C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F85F88-E7A9-A669-47B1-6C6E09BD6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E46E3C-CA6C-C87C-D86D-FA860513F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585C97-18EB-33E1-700C-79979F8AE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8949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602C-8016-D4D0-5760-E97B4E384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72662C-B8B1-71C9-F7FD-F9BB5A100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A18AF7-54B2-3783-3CF1-2C7B4F4E7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C70E-B527-F9FD-5465-D2DB8282F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40671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C50A-7D9A-C28F-A6C0-899883ADB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3DAD43-DF8B-7D0E-392F-FF8CB670C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A39C7-8990-E8A9-DF9C-DA6FC1EA8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01376-06DC-4E45-7489-5C7F6786A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2108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7D754-4352-5638-49D6-726B64E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07F53E-9B5C-1B7A-C69B-AF54FC870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2739FB-205F-2911-B460-9CFA01B89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E8D052-EA2A-D94F-0439-92D3FA8F2D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9407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CA62C-0B2C-AF2C-4069-FAA415CF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311EC5-DF42-9FA4-42E8-4537E984D7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802EE6-FB93-9424-013E-65A42AC27E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6353C4-6070-98C7-FBAF-2249A0D1C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6587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BFF5-47B1-67A7-97AA-1231D3C8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96915D-1C44-7BEC-8D9C-2FE97C8CB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130AE2-1F3B-0AFB-5C6B-CE46B78BB3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7F6D4-69ED-06C9-BBBC-2AAA85CBA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124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57094-A063-E6C7-539A-7041BE0C5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0F52A2-681D-309C-EDD4-7F3528595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57E92-067B-8697-16CD-5DAFB072C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8C782A-A862-FCAF-F34F-509C3F6FB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5432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E57A1-5B3D-C3D9-55D0-5F281E53C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C52520-AB77-9ACD-44F4-597E92E18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0D4D11C-A2F6-7E45-E054-F3F4D55E5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97DD9-0863-AFC9-4C72-4F2FEF47A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2216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7E5C2-2BAD-EE88-94E3-883624CA7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C68158-8985-A5AF-3D37-076F81AD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216F3B-D265-9429-8532-6229DC8A5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035408-1C87-A686-5683-8DD00586A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65076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51CFF-3051-18A4-08A7-0F5B51C8B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969F6-14CA-0304-6812-08CFEF99E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49C89-A592-3E32-A30B-36B087D8E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5AAC60-E58E-95C8-0CA7-ECC60D0EF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1467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</a:t>
            </a:r>
            <a:r>
              <a:rPr lang="en-US" altLang="ko-KR" sz="160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24</a:t>
            </a:r>
            <a:endParaRPr lang="en-US" altLang="ko-KR" sz="1600" dirty="0">
              <a:solidFill>
                <a:schemeClr val="bg1">
                  <a:lumMod val="7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dirty="0"/>
              <a:t>Linear &amp; Logistic Regression (</a:t>
            </a:r>
            <a:r>
              <a:rPr lang="ko-KR" altLang="en-US" dirty="0" err="1"/>
              <a:t>단변량</a:t>
            </a:r>
            <a:r>
              <a:rPr lang="en-US" altLang="ko-KR" dirty="0"/>
              <a:t>, </a:t>
            </a:r>
            <a:r>
              <a:rPr lang="ko-KR" altLang="en-US" dirty="0" err="1"/>
              <a:t>다변량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Multivariable Analysis (</a:t>
            </a:r>
            <a:r>
              <a:rPr lang="ko-KR" altLang="en-US" dirty="0"/>
              <a:t>심화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신촌 데이터 동일 알고리즘으로 분석 </a:t>
            </a:r>
            <a:r>
              <a:rPr lang="en-US" altLang="ko-KR" dirty="0"/>
              <a:t>(</a:t>
            </a:r>
            <a:r>
              <a:rPr lang="ko-KR" altLang="en-US" dirty="0" err="1"/>
              <a:t>이홍선</a:t>
            </a:r>
            <a:r>
              <a:rPr lang="ko-KR" altLang="en-US" dirty="0"/>
              <a:t> 교수님 피드백 참고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 err="1"/>
              <a:t>강남세브란스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1,67</a:t>
              </a:r>
              <a:r>
                <a:rPr lang="en-US"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665명 (39.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1,00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278036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1,00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</a:rPr>
                <a:t>binary cutoff</a:t>
              </a:r>
              <a:endParaRPr sz="1200" b="1" i="0" dirty="0">
                <a:solidFill>
                  <a:srgbClr val="FF7F27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400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/ 1,67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3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.9 %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1,673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1,675</a:t>
            </a:r>
          </a:p>
          <a:p>
            <a:pPr lvl="1"/>
            <a:r>
              <a:rPr lang="en-US" altLang="ko-KR" dirty="0"/>
              <a:t>TAMA outlier(0, 1)</a:t>
            </a:r>
            <a:r>
              <a:rPr lang="ko-KR" altLang="en-US" dirty="0"/>
              <a:t> 제거 </a:t>
            </a:r>
            <a:r>
              <a:rPr lang="en-US" altLang="ko-KR" dirty="0"/>
              <a:t>: 1,673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9B646-F084-4AEA-BEEF-1A6E6900AD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253944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0.30393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0.35776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0.33086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0.26156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0.32281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0.24549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0.23665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  <a:endParaRPr lang="ko-KR" altLang="en-US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6880"/>
              </p:ext>
            </p:extLst>
          </p:nvPr>
        </p:nvGraphicFramePr>
        <p:xfrm>
          <a:off x="989753" y="1618826"/>
          <a:ext cx="1021249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01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AEC 하위 25% 값 → 저선량 구간 tube current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-0.344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AEC 곡선 비대칭성 → 체형 분포 특성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~+0.09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+0.297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평균값 → 체격 전반 반영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확인됨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AUC_normalized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mean과 심각한 공선성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&gt;50,000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588C9C7-B387-4087-9EAB-6D811EB80CBC}"/>
              </a:ext>
            </a:extLst>
          </p:cNvPr>
          <p:cNvSpPr txBox="1"/>
          <p:nvPr/>
        </p:nvSpPr>
        <p:spPr>
          <a:xfrm>
            <a:off x="989752" y="3974251"/>
            <a:ext cx="102124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 err="1">
                <a:solidFill>
                  <a:srgbClr val="FF7F27"/>
                </a:solidFill>
              </a:rPr>
              <a:t>AUC_normalized</a:t>
            </a:r>
            <a:r>
              <a:rPr lang="ko-KR" altLang="en-US" sz="1200" i="1" dirty="0">
                <a:solidFill>
                  <a:srgbClr val="FF7F27"/>
                </a:solidFill>
              </a:rPr>
              <a:t>는 </a:t>
            </a:r>
            <a:r>
              <a:rPr lang="en-US" altLang="ko-KR" sz="1200" i="1" dirty="0">
                <a:solidFill>
                  <a:srgbClr val="FF7F27"/>
                </a:solidFill>
              </a:rPr>
              <a:t>VIF &gt; 50,000</a:t>
            </a:r>
            <a:r>
              <a:rPr lang="ko-KR" altLang="en-US" sz="1200" i="1" dirty="0">
                <a:solidFill>
                  <a:srgbClr val="FF7F27"/>
                </a:solidFill>
              </a:rPr>
              <a:t>으로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심각 → 제외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은 모델에 포함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2E32B4-5075-5E86-9D94-BFF0F8B33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270" y="3974251"/>
            <a:ext cx="4343130" cy="2455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선형·로지스틱 회귀 모두 Case 1(Sex+Age) → Case 2(+AEC) → Case 3(+CT Model) 순으로 점진 투입</a:t>
            </a: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[p25,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, </a:t>
            </a:r>
            <a:r>
              <a:rPr lang="en-US" altLang="ko-KR" b="1" dirty="0"/>
              <a:t>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6477EB04-C066-1308-E66C-67CC16F54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3255" y="3645654"/>
            <a:ext cx="5787181" cy="264185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0056C97-AE87-C3F1-B577-1110405F4D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4" y="3645407"/>
            <a:ext cx="5486400" cy="259283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CD5BDA3-1BA3-46AC-82B4-CE3A6B069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299174"/>
              </p:ext>
            </p:extLst>
          </p:nvPr>
        </p:nvGraphicFramePr>
        <p:xfrm>
          <a:off x="1516582" y="1625599"/>
          <a:ext cx="915883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 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 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 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 [+Model]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0.6358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+0.0851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Adj. R²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0.1914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0.6343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0.652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+0.0177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27.3719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18.3967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17.7773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15833.41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14507.89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14455.29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-53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BC47C13-6355-4919-A259-EEA7F5790E1C}"/>
              </a:ext>
            </a:extLst>
          </p:cNvPr>
          <p:cNvSpPr txBox="1"/>
          <p:nvPr/>
        </p:nvSpPr>
        <p:spPr>
          <a:xfrm>
            <a:off x="1516582" y="3136612"/>
            <a:ext cx="82296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</a:t>
            </a:r>
            <a:r>
              <a:rPr lang="en-US" sz="1300" b="1" i="0" dirty="0">
                <a:solidFill>
                  <a:srgbClr val="2E75B6"/>
                </a:solidFill>
              </a:rPr>
              <a:t>15</a:t>
            </a:r>
            <a:r>
              <a:rPr sz="1300" b="1" i="0" dirty="0">
                <a:solidFill>
                  <a:srgbClr val="2E75B6"/>
                </a:solidFill>
              </a:rPr>
              <a:t>.5%p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</a:t>
            </a:r>
            <a:r>
              <a:rPr lang="en-US" sz="1300" b="1" i="0" dirty="0">
                <a:solidFill>
                  <a:srgbClr val="2E75B6"/>
                </a:solidFill>
              </a:rPr>
              <a:t>3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8</a:t>
            </a:r>
            <a:r>
              <a:rPr sz="1300" b="1" i="0" dirty="0">
                <a:solidFill>
                  <a:srgbClr val="2E75B6"/>
                </a:solidFill>
              </a:rPr>
              <a:t>%p</a:t>
            </a:r>
            <a:r>
              <a:rPr lang="en-US" sz="1300" b="1" i="0" dirty="0">
                <a:solidFill>
                  <a:srgbClr val="2E75B6"/>
                </a:solidFill>
              </a:rPr>
              <a:t> </a:t>
            </a:r>
            <a:r>
              <a:rPr lang="ko-KR" altLang="en-US" sz="1300" b="1" i="0" dirty="0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" y="3246120"/>
            <a:ext cx="5486400" cy="277706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D564373-302F-9766-6390-B6AE6CDAC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6616" y="3240520"/>
            <a:ext cx="4185264" cy="3133070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763040"/>
              </p:ext>
            </p:extLst>
          </p:nvPr>
        </p:nvGraphicFramePr>
        <p:xfrm>
          <a:off x="1516582" y="1625599"/>
          <a:ext cx="915883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 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 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 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 [+Model]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D00044F-843B-6D39-3A82-A4756E293870}"/>
              </a:ext>
            </a:extLst>
          </p:cNvPr>
          <p:cNvSpPr txBox="1"/>
          <p:nvPr/>
        </p:nvSpPr>
        <p:spPr>
          <a:xfrm>
            <a:off x="1516582" y="2796031"/>
            <a:ext cx="82296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</a:t>
            </a:r>
            <a:r>
              <a:rPr lang="en-US" sz="1300" b="1" i="0" dirty="0">
                <a:solidFill>
                  <a:srgbClr val="2E75B6"/>
                </a:solidFill>
              </a:rPr>
              <a:t>15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3</a:t>
            </a:r>
            <a:r>
              <a:rPr sz="1300" b="1" i="0" dirty="0">
                <a:solidFill>
                  <a:srgbClr val="2E75B6"/>
                </a:solidFill>
              </a:rPr>
              <a:t>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lang="en-US" sz="1300" b="1" i="0" dirty="0">
                <a:solidFill>
                  <a:srgbClr val="2E75B6"/>
                </a:solidFill>
              </a:rPr>
              <a:t>/</a:t>
            </a:r>
            <a:r>
              <a:rPr lang="en-US"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lang="en-US" sz="1300" b="1" i="0" dirty="0">
                <a:solidFill>
                  <a:srgbClr val="2E75B6"/>
                </a:solidFill>
              </a:rPr>
              <a:t>+4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9</a:t>
            </a:r>
            <a:r>
              <a:rPr sz="1300" b="1" i="0" dirty="0">
                <a:solidFill>
                  <a:srgbClr val="2E75B6"/>
                </a:solidFill>
              </a:rPr>
              <a:t>%p</a:t>
            </a:r>
            <a:r>
              <a:rPr lang="en-US" sz="1300" b="1" i="0" dirty="0">
                <a:solidFill>
                  <a:srgbClr val="2E75B6"/>
                </a:solidFill>
              </a:rPr>
              <a:t> </a:t>
            </a:r>
            <a:r>
              <a:rPr lang="ko-KR" altLang="en-US" sz="1300" b="1" i="0" dirty="0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8ABAB-1DB4-3BC1-BBDA-CDCEE3DB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1E6A1-A555-2F12-C954-12D016AB5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702235-D929-8F73-5C85-DB365719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4DEF360-CABF-6257-E7B0-3719F9E2F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 err="1"/>
              <a:t>신촌세브란스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C9DF814-56D5-6F58-FC57-AFE04B85946A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D750D65B-5602-E29D-ED47-0B530B8D314B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C33C681-4E5C-E518-B65A-DC1C93B72777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8E455E4-6133-E82D-E525-A14F1846E97F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548FDE48-DF0C-E7F4-022E-04ED8DC68DC7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5F5486B-492C-42A5-C74B-2832DD818F4B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82A8A2D-FB61-8CB0-35CF-B98AC8EDE6D0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50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6CD70370-A915-BAF5-7721-F33DCF2D260B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CA68A-C10A-0323-1E5A-2A3EE651C9AA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5AA9850-99B2-1807-BF7C-D7833B74CA3F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632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F6CD96B-B077-606F-F356-86B7121711A3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90BB971-74B4-E2E9-88FF-F7348209B771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F90A96-45C1-8105-C298-517D3B783966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(75.3%)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99A77D5D-4DFC-9C8E-0EBA-ACA91937D8F7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8C18DF6-587E-D450-1B31-7D9C3F595A70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67C31D6-3FEC-97CA-2914-52A4E7D8E9ED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~ 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BC8F08EA-46DD-3688-6B69-7E5BFA1F6F9A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D3F38C1-D805-2E02-FF6F-ECEFF9929CC1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13D0A3B-0D67-8B32-DB5C-13970F7DE209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C9ECE377-D5E7-C847-7FDB-F8D3A690C7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867063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637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3D130627-59EE-8CF5-1BD3-123E7A516A5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91F0C72E-C707-46A4-9547-DF3E1491C482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463D570-984C-4B3D-3B97-45EC53345C9B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</a:rPr>
                <a:t>binary cutoff</a:t>
              </a:r>
              <a:endParaRPr sz="1200" b="1" i="0" dirty="0">
                <a:solidFill>
                  <a:srgbClr val="FF7F27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E9A8064-6B2E-928C-13C6-19F5A6566BFA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317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/ 1,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269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25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.</a:t>
              </a:r>
              <a:r>
                <a:rPr lang="en-US"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0</a:t>
              </a:r>
              <a:r>
                <a:rPr sz="1200" b="0" i="0" dirty="0">
                  <a:solidFill>
                    <a:srgbClr val="FFFFFF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4913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47763-1B9B-0E48-9FBF-37826389A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698FA-46CB-C342-D75B-2D7D7B00C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F8E65-2F8B-31DD-0E5F-933F645C2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10790E6-24A0-4D76-83DB-56972F1B9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</p:txBody>
      </p:sp>
    </p:spTree>
    <p:extLst>
      <p:ext uri="{BB962C8B-B14F-4D97-AF65-F5344CB8AC3E}">
        <p14:creationId xmlns:p14="http://schemas.microsoft.com/office/powerpoint/2010/main" val="2224441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615E-315E-C8B2-47FF-6CE364C6D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312B05BA-96A3-0F7F-07BC-76FCD5FDC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7370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B405F8-E4BC-A644-5405-C28F1CA3A9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53" y="1811868"/>
            <a:ext cx="7363535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7D3E27D-8716-EF83-6AD2-C60B10BD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B412C6-3D90-9133-C1DA-C80C5EEE6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DAC8BB0-B161-B97A-E168-A0E44606A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</a:t>
            </a:r>
          </a:p>
        </p:txBody>
      </p:sp>
    </p:spTree>
    <p:extLst>
      <p:ext uri="{BB962C8B-B14F-4D97-AF65-F5344CB8AC3E}">
        <p14:creationId xmlns:p14="http://schemas.microsoft.com/office/powerpoint/2010/main" val="3681509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865C-3D5D-6E93-5F62-D01F581A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1AD1C0-F18A-92FD-2847-3BC501F78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0A404-7B63-7BFB-3AB2-F4174EF4D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893CAC0-F863-EEF0-AB6E-F4DDC99AC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304679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A6C8F-4C83-D8D2-0489-629EDBBBA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860DD455-20F1-E489-AB13-9581E2EC5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4C06EED-E087-D2DD-6D66-9CA8305E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E2FBC9-2644-B5F1-1223-B4F572A2F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4D4B920-96F6-867B-7E3F-BA2429CA7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36ECC5A-5180-2722-5F46-A8B2D7161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3510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0.24419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0.21453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0.24271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0.21395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0.24219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0.21249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0.23381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0.23366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0.19947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0.14697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0.22876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0.21718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5017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1943-EF30-8E54-800D-480E278C9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811EF-A164-81CD-2293-14A554E3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13A0F9-CFBB-FF14-46D9-11B5D12A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E004EAA-4137-82C5-573E-431249A01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  <a:endParaRPr lang="ko-KR" altLang="en-US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8CFBBECD-CB7C-B2E8-87E2-3EF4CBCFB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512669"/>
              </p:ext>
            </p:extLst>
          </p:nvPr>
        </p:nvGraphicFramePr>
        <p:xfrm>
          <a:off x="989753" y="1618826"/>
          <a:ext cx="1021249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01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0.2442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AEC 하위 25% 값 → 저선량 구간 tube current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0.1257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변동계수(std/mean) → 체형 불균일성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AEC 곡선 비대칭성 → 체형 분포 특성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slope_abs_mean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평균 절대 기울기 → 곡선 동역학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평균값 → 체격 전반 반영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확인됨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mean과 심각한 공선성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&gt;50,000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2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2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44AB5B5-675B-6285-E87B-1BFBCE52E81B}"/>
              </a:ext>
            </a:extLst>
          </p:cNvPr>
          <p:cNvSpPr txBox="1"/>
          <p:nvPr/>
        </p:nvSpPr>
        <p:spPr>
          <a:xfrm>
            <a:off x="989752" y="3974251"/>
            <a:ext cx="102124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 err="1">
                <a:solidFill>
                  <a:srgbClr val="FF7F27"/>
                </a:solidFill>
              </a:rPr>
              <a:t>AUC_normalized</a:t>
            </a:r>
            <a:r>
              <a:rPr lang="ko-KR" altLang="en-US" sz="1200" i="1" dirty="0">
                <a:solidFill>
                  <a:srgbClr val="FF7F27"/>
                </a:solidFill>
              </a:rPr>
              <a:t>는 </a:t>
            </a:r>
            <a:r>
              <a:rPr lang="en-US" altLang="ko-KR" sz="1200" i="1" dirty="0">
                <a:solidFill>
                  <a:srgbClr val="FF7F27"/>
                </a:solidFill>
              </a:rPr>
              <a:t>VIF &gt; 50,000</a:t>
            </a:r>
            <a:r>
              <a:rPr lang="ko-KR" altLang="en-US" sz="1200" i="1" dirty="0">
                <a:solidFill>
                  <a:srgbClr val="FF7F27"/>
                </a:solidFill>
              </a:rPr>
              <a:t>으로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심각 → 제외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은 모델에 포함</a:t>
            </a:r>
          </a:p>
        </p:txBody>
      </p:sp>
    </p:spTree>
    <p:extLst>
      <p:ext uri="{BB962C8B-B14F-4D97-AF65-F5344CB8AC3E}">
        <p14:creationId xmlns:p14="http://schemas.microsoft.com/office/powerpoint/2010/main" val="2101753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B4E7A-D436-8625-D186-C2B4805E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717B92-B30C-0407-799A-1CDC8726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E5F1D6-3AA6-1A90-D866-C3BB0362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34267-0A21-2B5E-4B83-55D1BB2A94E3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8AA15B66-9716-0F3E-3844-B51C2B5B4124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8AAA96D-AB97-3964-06A0-2ED507D59B21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DFFB1A41-9EE9-A018-4B23-8B00DBD8645F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870005-184E-C936-E01B-C45056A02A64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F1EFA-4382-8661-7E09-6656CC5B64A7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4ED88920-8F17-4076-7165-E3CF4F708874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4D57DF-E11D-1888-91D2-4503EE86F550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57E0F7-5F99-EF29-5439-9D7B8F3641A5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E0311F-7C3F-4B31-22DB-A38753B20D21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3BC97B9A-B929-06FF-90EF-2055CC75F43B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A85CB9F-69D4-7695-764A-24432EA7ED5A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선형·로지스틱 회귀 모두 Case 1(Sex+Age) → Case 2(+AEC) → Case 3(+CT Model) 순으로 점진 투입</a:t>
            </a:r>
          </a:p>
        </p:txBody>
      </p:sp>
    </p:spTree>
    <p:extLst>
      <p:ext uri="{BB962C8B-B14F-4D97-AF65-F5344CB8AC3E}">
        <p14:creationId xmlns:p14="http://schemas.microsoft.com/office/powerpoint/2010/main" val="1542736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47A56-DA27-9FFE-E3C4-89031A308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7DDA3-859E-1FB2-176B-E645A703E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9FA4A7-3FDA-EA46-6292-6C89A2B52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0444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CD10D-88FC-D575-46C7-B7F4F4FD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BC92D-F2C9-5907-D43B-63EDB3BA0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461400-12A6-65C3-0B9A-8FE291971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[p25,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, </a:t>
            </a:r>
            <a:r>
              <a:rPr lang="en-US" altLang="ko-KR" b="1" dirty="0"/>
              <a:t>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037D0A-8893-A168-AF2F-3174C35AE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7483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98F-0432-7D21-5D48-FAFB44566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9DEF65A-334B-746B-E2F7-F992D08AFE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3255" y="3645654"/>
            <a:ext cx="5787181" cy="264185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9CFAA39-1FE0-4B04-4256-6A5FD27A1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4" y="3645407"/>
            <a:ext cx="5486400" cy="259283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F60850A-D601-0E93-FB00-25DB812CB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138096-67F1-CB45-AAA7-04CB5C4EB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029528-9C65-C400-1945-08EC671F3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625711-2596-9BF7-0B60-7090D71C111F}"/>
              </a:ext>
            </a:extLst>
          </p:cNvPr>
          <p:cNvGraphicFramePr>
            <a:graphicFrameLocks noGrp="1"/>
          </p:cNvGraphicFramePr>
          <p:nvPr/>
        </p:nvGraphicFramePr>
        <p:xfrm>
          <a:off x="1516582" y="1625599"/>
          <a:ext cx="915883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 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 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 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 [+Model]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0.6358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+0.0851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Adj. R²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0.1914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0.6343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0.652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+0.0177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27.3719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18.3967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17.7773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15833.41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14507.89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14455.29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-53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3D35415-9FF5-5216-5DD7-27F6DE79E2A2}"/>
              </a:ext>
            </a:extLst>
          </p:cNvPr>
          <p:cNvSpPr txBox="1"/>
          <p:nvPr/>
        </p:nvSpPr>
        <p:spPr>
          <a:xfrm>
            <a:off x="1516582" y="3136612"/>
            <a:ext cx="82296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</a:t>
            </a:r>
            <a:r>
              <a:rPr lang="en-US" sz="1300" b="1" i="0" dirty="0">
                <a:solidFill>
                  <a:srgbClr val="2E75B6"/>
                </a:solidFill>
              </a:rPr>
              <a:t>15</a:t>
            </a:r>
            <a:r>
              <a:rPr sz="1300" b="1" i="0" dirty="0">
                <a:solidFill>
                  <a:srgbClr val="2E75B6"/>
                </a:solidFill>
              </a:rPr>
              <a:t>.5%p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 +</a:t>
            </a:r>
            <a:r>
              <a:rPr lang="en-US" sz="1300" b="1" i="0" dirty="0">
                <a:solidFill>
                  <a:srgbClr val="2E75B6"/>
                </a:solidFill>
              </a:rPr>
              <a:t>3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8</a:t>
            </a:r>
            <a:r>
              <a:rPr sz="1300" b="1" i="0" dirty="0">
                <a:solidFill>
                  <a:srgbClr val="2E75B6"/>
                </a:solidFill>
              </a:rPr>
              <a:t>%p</a:t>
            </a:r>
            <a:r>
              <a:rPr lang="en-US" sz="1300" b="1" i="0" dirty="0">
                <a:solidFill>
                  <a:srgbClr val="2E75B6"/>
                </a:solidFill>
              </a:rPr>
              <a:t> </a:t>
            </a:r>
            <a:r>
              <a:rPr lang="ko-KR" altLang="en-US" sz="1300" b="1" i="0" dirty="0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8827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607F3-2B75-29F6-8CD2-A1F8EF47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807757-6C46-BF3B-07D5-0E7D29391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E6AE6E9-BB49-B7A4-D144-283255BB9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AE21C5-8920-0F8C-6E24-1D8965A1D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0D56981-0740-5F14-1947-729FFA371E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" y="3246120"/>
            <a:ext cx="5486400" cy="277706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34390FB-FCD7-9AF1-476F-CB01E0CB9C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6616" y="3240520"/>
            <a:ext cx="4185264" cy="3133070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83ED49B9-015E-3A13-7A1F-E412590E62CF}"/>
              </a:ext>
            </a:extLst>
          </p:cNvPr>
          <p:cNvGraphicFramePr>
            <a:graphicFrameLocks noGrp="1"/>
          </p:cNvGraphicFramePr>
          <p:nvPr/>
        </p:nvGraphicFramePr>
        <p:xfrm>
          <a:off x="1516582" y="1625599"/>
          <a:ext cx="915883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 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 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 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 [+Model]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9EB4E2CE-ADA7-AC3B-B74D-4533AEBD9D12}"/>
              </a:ext>
            </a:extLst>
          </p:cNvPr>
          <p:cNvSpPr txBox="1"/>
          <p:nvPr/>
        </p:nvSpPr>
        <p:spPr>
          <a:xfrm>
            <a:off x="1516582" y="2796031"/>
            <a:ext cx="82296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E75B6"/>
                </a:solidFill>
              </a:rPr>
              <a:t>AEC </a:t>
            </a:r>
            <a:r>
              <a:rPr sz="1300" b="1" i="0" dirty="0" err="1">
                <a:solidFill>
                  <a:srgbClr val="2E75B6"/>
                </a:solidFill>
              </a:rPr>
              <a:t>특징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(Case1→2)로 R² +</a:t>
            </a:r>
            <a:r>
              <a:rPr lang="en-US" sz="1300" b="1" i="0" dirty="0">
                <a:solidFill>
                  <a:srgbClr val="2E75B6"/>
                </a:solidFill>
              </a:rPr>
              <a:t>15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3</a:t>
            </a:r>
            <a:r>
              <a:rPr sz="1300" b="1" i="0" dirty="0">
                <a:solidFill>
                  <a:srgbClr val="2E75B6"/>
                </a:solidFill>
              </a:rPr>
              <a:t>%p </a:t>
            </a:r>
            <a:r>
              <a:rPr sz="1300" b="1" i="0" dirty="0" err="1">
                <a:solidFill>
                  <a:srgbClr val="2E75B6"/>
                </a:solidFill>
              </a:rPr>
              <a:t>향상</a:t>
            </a:r>
            <a:r>
              <a:rPr sz="1300" b="1" i="0" dirty="0">
                <a:solidFill>
                  <a:srgbClr val="2E75B6"/>
                </a:solidFill>
              </a:rPr>
              <a:t>  |  CT </a:t>
            </a:r>
            <a:r>
              <a:rPr sz="1300" b="1" i="0" dirty="0" err="1">
                <a:solidFill>
                  <a:srgbClr val="2E75B6"/>
                </a:solidFill>
              </a:rPr>
              <a:t>모델명</a:t>
            </a:r>
            <a:r>
              <a:rPr lang="en-US" sz="1300" b="1" i="0" dirty="0">
                <a:solidFill>
                  <a:srgbClr val="2E75B6"/>
                </a:solidFill>
              </a:rPr>
              <a:t>/</a:t>
            </a:r>
            <a:r>
              <a:rPr lang="en-US" sz="1300" b="1" i="0" dirty="0" err="1">
                <a:solidFill>
                  <a:srgbClr val="2E75B6"/>
                </a:solidFill>
              </a:rPr>
              <a:t>kVp</a:t>
            </a:r>
            <a:r>
              <a:rPr sz="1300" b="1" i="0" dirty="0">
                <a:solidFill>
                  <a:srgbClr val="2E75B6"/>
                </a:solidFill>
              </a:rPr>
              <a:t> </a:t>
            </a:r>
            <a:r>
              <a:rPr sz="1300" b="1" i="0" dirty="0" err="1">
                <a:solidFill>
                  <a:srgbClr val="2E75B6"/>
                </a:solidFill>
              </a:rPr>
              <a:t>추가</a:t>
            </a:r>
            <a:r>
              <a:rPr sz="1300" b="1" i="0" dirty="0">
                <a:solidFill>
                  <a:srgbClr val="2E75B6"/>
                </a:solidFill>
              </a:rPr>
              <a:t>(Case2→3)로 </a:t>
            </a:r>
            <a:r>
              <a:rPr lang="en-US" sz="1300" b="1" i="0" dirty="0">
                <a:solidFill>
                  <a:srgbClr val="2E75B6"/>
                </a:solidFill>
              </a:rPr>
              <a:t>+4</a:t>
            </a:r>
            <a:r>
              <a:rPr sz="1300" b="1" i="0" dirty="0">
                <a:solidFill>
                  <a:srgbClr val="2E75B6"/>
                </a:solidFill>
              </a:rPr>
              <a:t>.</a:t>
            </a:r>
            <a:r>
              <a:rPr lang="en-US" sz="1300" b="1" i="0" dirty="0">
                <a:solidFill>
                  <a:srgbClr val="2E75B6"/>
                </a:solidFill>
              </a:rPr>
              <a:t>9</a:t>
            </a:r>
            <a:r>
              <a:rPr sz="1300" b="1" i="0" dirty="0">
                <a:solidFill>
                  <a:srgbClr val="2E75B6"/>
                </a:solidFill>
              </a:rPr>
              <a:t>%p</a:t>
            </a:r>
            <a:r>
              <a:rPr lang="en-US" sz="1300" b="1" i="0" dirty="0">
                <a:solidFill>
                  <a:srgbClr val="2E75B6"/>
                </a:solidFill>
              </a:rPr>
              <a:t> </a:t>
            </a:r>
            <a:r>
              <a:rPr lang="ko-KR" altLang="en-US" sz="1300" b="1" i="0" dirty="0">
                <a:solidFill>
                  <a:srgbClr val="2E75B6"/>
                </a:solidFill>
              </a:rPr>
              <a:t>향상</a:t>
            </a:r>
            <a:endParaRPr sz="1300" b="1" i="0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0438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신촌 데이터를 이용한 외부 검증 </a:t>
            </a:r>
            <a:r>
              <a:rPr lang="en-US" altLang="ko-KR" dirty="0"/>
              <a:t>(External Validation)</a:t>
            </a:r>
          </a:p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BMI</a:t>
            </a:r>
            <a:r>
              <a:rPr lang="ko-KR" altLang="en-US" dirty="0"/>
              <a:t> 전체 데이터 추가 예정</a:t>
            </a:r>
            <a:endParaRPr lang="en-US" altLang="ko-KR" dirty="0"/>
          </a:p>
          <a:p>
            <a:r>
              <a:rPr lang="ko-KR" altLang="en-US" dirty="0"/>
              <a:t>키</a:t>
            </a:r>
            <a:r>
              <a:rPr lang="en-US" altLang="ko-KR" dirty="0"/>
              <a:t>/</a:t>
            </a:r>
            <a:r>
              <a:rPr lang="ko-KR" altLang="en-US" dirty="0"/>
              <a:t>체중을 이용한 </a:t>
            </a:r>
            <a:r>
              <a:rPr lang="en-US" altLang="ko-KR" dirty="0"/>
              <a:t>SMI </a:t>
            </a:r>
            <a:r>
              <a:rPr lang="ko-KR" altLang="en-US" dirty="0"/>
              <a:t>계산 </a:t>
            </a:r>
            <a:r>
              <a:rPr lang="ko-KR" altLang="en-US" dirty="0" err="1"/>
              <a:t>고려중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2298</Words>
  <Application>Microsoft Office PowerPoint</Application>
  <PresentationFormat>와이드스크린</PresentationFormat>
  <Paragraphs>652</Paragraphs>
  <Slides>32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맑은 고딕</vt:lpstr>
      <vt:lpstr>Arial</vt:lpstr>
      <vt:lpstr>KoPub돋움체 Bold</vt:lpstr>
      <vt:lpstr>KoPub돋움체 Medium</vt:lpstr>
      <vt:lpstr>KoPubWorld돋움체 Bold</vt:lpstr>
      <vt:lpstr>KoPubWorld돋움체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83</cp:revision>
  <dcterms:created xsi:type="dcterms:W3CDTF">2026-04-09T07:05:16Z</dcterms:created>
  <dcterms:modified xsi:type="dcterms:W3CDTF">2026-04-23T02:05:59Z</dcterms:modified>
</cp:coreProperties>
</file>