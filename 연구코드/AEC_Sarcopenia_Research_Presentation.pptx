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7" Type="http://schemas.openxmlformats.org/officeDocument/2006/relationships/image" Target="../media/image114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7" Type="http://schemas.openxmlformats.org/officeDocument/2006/relationships/image" Target="../media/image119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7.png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1.png"/><Relationship Id="rId4" Type="http://schemas.openxmlformats.org/officeDocument/2006/relationships/image" Target="../media/image1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01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맑은 고딕"/>
              </a:rPr>
              <a:t>AEC 신호 기반 근감소증 예측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9EA3AB"/>
                </a:solidFill>
                <a:latin typeface="맑은 고딕"/>
              </a:rPr>
              <a:t>Cross-Attention 아키텍처와 DeLong Test를 통한 모델 간 성능 비교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37560"/>
            <a:ext cx="5788152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6015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9EA3AB"/>
                </a:solidFill>
                <a:latin typeface="맑은 고딕"/>
              </a:rPr>
              <a:t>총 859명  |  5-Fold CV  |  Bootstrap 95% CI  |  DeLong AUC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360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9EA3AB"/>
                </a:solidFill>
                <a:latin typeface="맑은 고딕"/>
              </a:rPr>
              <a:t>2026-05-22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4846320"/>
            <a:ext cx="2377440" cy="77724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910328"/>
            <a:ext cx="2377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Model 1  Clinic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4846320"/>
            <a:ext cx="2377440" cy="77724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66160" y="4910328"/>
            <a:ext cx="2377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Model 2  Clinic + AEC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4846320"/>
            <a:ext cx="2377440" cy="777240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79" y="4910328"/>
            <a:ext cx="2377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Model 2_2  Neg. Control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799" y="4846320"/>
            <a:ext cx="2377440" cy="77724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799" y="4910328"/>
            <a:ext cx="2377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Model 3  Clinic+Scanner+AEC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연구 배경 및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AEC 신호의 진단적 가치 탐색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5394960" cy="53583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9669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맑은 고딕"/>
              </a:rPr>
              <a:t>연구 배경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35024"/>
            <a:ext cx="502920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26464"/>
            <a:ext cx="50292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맑은 고딕"/>
              </a:rPr>
              <a:t>• 근감소증(Sarcopenia): SMI 기반 이진 분류 — 노인 허약·사망률과 직결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9424"/>
            <a:ext cx="50292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2E"/>
                </a:solidFill>
                <a:latin typeface="맑은 고딕"/>
              </a:rPr>
              <a:t>•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기존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진단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: CT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판독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+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영상의학과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전문의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수동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분석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→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시간·비용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소모</a:t>
            </a:r>
            <a:endParaRPr sz="1350" b="0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3072384"/>
            <a:ext cx="50292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맑은 고딕"/>
              </a:rPr>
              <a:t>• AEC(자동노출제어): CT 스캔 시 자동 수집, 체형·조직 구성 간접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95344"/>
            <a:ext cx="50292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2E"/>
                </a:solidFill>
                <a:latin typeface="맑은 고딕"/>
              </a:rPr>
              <a:t>•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추가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검사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없이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기존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CT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장비에서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수집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가능한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Zero-cost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부가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신호</a:t>
            </a:r>
            <a:endParaRPr sz="1350" b="0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4718304"/>
            <a:ext cx="50292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2E"/>
                </a:solidFill>
                <a:latin typeface="맑은 고딕"/>
              </a:rPr>
              <a:t>•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핵심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질문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: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AEC가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Clinic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변수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대비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얼마나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예측력을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350" b="0" i="0" dirty="0" err="1">
                <a:solidFill>
                  <a:srgbClr val="1A1A2E"/>
                </a:solidFill>
                <a:latin typeface="맑은 고딕"/>
              </a:rPr>
              <a:t>개선하는가</a:t>
            </a:r>
            <a:r>
              <a:rPr sz="1350" b="0" i="0" dirty="0">
                <a:solidFill>
                  <a:srgbClr val="1A1A2E"/>
                </a:solidFill>
                <a:latin typeface="맑은 고딕"/>
              </a:rPr>
              <a:t>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905256"/>
            <a:ext cx="5943600" cy="53583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996696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맑은 고딕"/>
              </a:rPr>
              <a:t>비교 연구 목적 (DeLong Test 기반)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35024"/>
            <a:ext cx="557784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35040" y="1426464"/>
            <a:ext cx="73152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1444752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① M1 vs M2: AEC 신호가 기여하는가?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1764792"/>
            <a:ext cx="5577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Clinic(LR) vs Clinic+AEC(CrossAttn)
→ DeLong AUC 비교로 통계 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569464"/>
            <a:ext cx="73152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72200" y="2587752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9B8A"/>
                </a:solidFill>
                <a:latin typeface="맑은 고딕"/>
              </a:rPr>
              <a:t>② M1 vs M3: Scanner+AEC 조합 효과?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907791"/>
            <a:ext cx="5577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Clinic(LR) vs Clinic+Scanner+AEC(CrossAttn3)
→ DeLong AUC 비교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712464"/>
            <a:ext cx="73152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3730752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87400"/>
                </a:solidFill>
                <a:latin typeface="맑은 고딕"/>
              </a:rPr>
              <a:t>③ M2 vs M3: Scanner 순증가 효과?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4050791"/>
            <a:ext cx="5577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CrossAttn vs CrossAttn3 (동일 test set)
→ 통계적 유의차 여부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4855464"/>
            <a:ext cx="73152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72200" y="4873752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E8B4C"/>
                </a:solidFill>
                <a:latin typeface="맑은 고딕"/>
              </a:rPr>
              <a:t>④ M2 vs M2_2: 매칭이 실질적 기여?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193792"/>
            <a:ext cx="5577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Matched vs Unmatched (음성 대조군)
→ AEC 개인 대응의 필요성 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데이터셋 및 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859명 단일 기관 후향적 코호트 / 5-Fold Stratified CV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5394960" cy="57698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맑은 고딕"/>
              </a:rPr>
              <a:t>데이터셋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02920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344168"/>
            <a:ext cx="9601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4416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344168"/>
            <a:ext cx="13258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63040" y="1344168"/>
            <a:ext cx="1325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남성(M)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344168"/>
            <a:ext cx="13258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34640" y="1344168"/>
            <a:ext cx="1325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여성(F)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344168"/>
            <a:ext cx="13716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0" y="134416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합계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636776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1636776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1636776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63040" y="1636776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285 (Sarco 15.4%)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636776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34640" y="1636776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402 (Sarco 9.5%)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1636776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0" y="1636776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687 (Sarco 11.9%)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975104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1975104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Test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63040" y="1975104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63040" y="1975104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71  (Sarco 15.5%)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1975104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834640" y="1975104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101 (Sarco 9.9%)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0" y="1975104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06240" y="1975104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172 (Sarco 12.2%)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23317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9EA3AB"/>
                </a:solidFill>
                <a:latin typeface="맑은 고딕"/>
              </a:rPr>
              <a:t>연령: 57.6±12.1세  |  BMI: 23.6±3.3 kg/m²  |  Train:Test = 8:2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2715768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맑은 고딕"/>
              </a:rPr>
              <a:t>AEC 전처리 조건 (5종)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035808"/>
            <a:ext cx="502920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3118104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norm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3118104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원본 AEC 시퀀스 min-max 정규화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483864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crop80/60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483864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중앙 80% / 60% 구간만 사용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849624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len128/256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3849624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시퀀스 길이를 128 / 256으로 리샘플링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215384"/>
            <a:ext cx="1554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excl_extreme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215384"/>
            <a:ext cx="3566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상하위 1% 이상치 제거 후 정규화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61772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9EA3AB"/>
                </a:solidFill>
                <a:latin typeface="맑은 고딕"/>
              </a:rPr>
              <a:t>✕  BCE / Focal Loss  ×  AEC 128pt / 256pt  =  4 시나리오 × 5조건 = 20조건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905256"/>
            <a:ext cx="5394960" cy="30266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26480" y="978408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맑은 고딕"/>
              </a:rPr>
              <a:t>모델 구성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1298448"/>
            <a:ext cx="502920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035040" y="1380744"/>
            <a:ext cx="73152" cy="749808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172200" y="1399032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Model 1 — Baseline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1700784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Age, Sex, BMI → Logistic Regression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2295144"/>
            <a:ext cx="73152" cy="749808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72200" y="2313432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9B8A"/>
                </a:solidFill>
                <a:latin typeface="맑은 고딕"/>
              </a:rPr>
              <a:t>Model 2 — AEC Matched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2615184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 + AEC(동일환자) → CrossAttention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3209544"/>
            <a:ext cx="73152" cy="749808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172200" y="3227832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9EA3AB"/>
                </a:solidFill>
                <a:latin typeface="맑은 고딕"/>
              </a:rPr>
              <a:t>Model 2_2 — AEC Unmatched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3529584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 + AEC(다른환자) → 음성 대조군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35040" y="4123944"/>
            <a:ext cx="73152" cy="749808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72200" y="4142232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87400"/>
                </a:solidFill>
                <a:latin typeface="맑은 고딕"/>
              </a:rPr>
              <a:t>Model 3 — Scanner+AEC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4443984"/>
            <a:ext cx="4937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Clinic + MFR + AEC → CrossAttention3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52160" y="3813048"/>
            <a:ext cx="6217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맑은 고딕"/>
              </a:rPr>
              <a:t>데이터 분포 (Train / Test / Sex / Sarcopenia)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52160" y="4087368"/>
            <a:ext cx="6217920" cy="2587752"/>
          </a:xfrm>
          <a:prstGeom prst="rect">
            <a:avLst/>
          </a:prstGeom>
          <a:solidFill>
            <a:srgbClr val="F0F4F8"/>
          </a:solidFill>
          <a:ln w="6350">
            <a:solidFill>
              <a:srgbClr val="9EA3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16168" y="4151376"/>
            <a:ext cx="6089904" cy="2459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9EA3AB"/>
                </a:solidFill>
                <a:latin typeface="맑은 고딕"/>
              </a:rPr>
              <a:t>[파일 없음]
data_distribution.png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통계 분석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모델 비교를 위한 3단계 검증 체계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3794760" cy="5230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905256"/>
            <a:ext cx="3794760" cy="45720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932688"/>
            <a:ext cx="3611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① DeLong AUC Test  (Test 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99616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동일 Test set 두 모델의 AUROC 직접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9384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DeLong et al. (1988) — 쌍별 공분산 구조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59152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H₀: AUROC_A = AUROC_B  →  z-통계량 기반 검정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88920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excl_extreme 조건: test set 크기 불일치로 M1 비교 제외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905256"/>
            <a:ext cx="3794760" cy="5230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59" y="905256"/>
            <a:ext cx="3794760" cy="45720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400" y="932688"/>
            <a:ext cx="3611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② Bootstrap 95% CI  (Test 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499616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n_boot = 2,000회 복원 추출 기반 신뢰구간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929384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2.5th–97.5th percentile 구간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359152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AUROC / AUPRC / Brier / Accuracy / F1 전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788920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단일 추정치의 불확실성 정량화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905256"/>
            <a:ext cx="3794760" cy="5230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0" y="905256"/>
            <a:ext cx="3794760" cy="45720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1040" y="932688"/>
            <a:ext cx="3611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③ Fold-level Paired Tests  (CV)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499616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5-Fold 교차검증 값에 대한 쌍별 검정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929384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Paired t-test + Wilcoxon signed-rank (n=5)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59152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두 검정 모두 보고 (p-value 쌍 제시)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661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맑은 고딕"/>
              </a:rPr>
              <a:t>  M1↔M2/M3: train set 차이 주의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24728"/>
            <a:ext cx="11612880" cy="475488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맑은 고딕"/>
              </a:rPr>
              <a:t>유의수준:  *** p&lt;0.001   ** p&lt;0.01   * p&lt;0.05   † p&lt;0.10   ns p≥0.10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전체 모델 성능 비교 개요  (BCE + AEC 128pt + norm)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M1 → M2 → M3 순차 비교  |  Bootstrap 95% CI  |  Brier → Calibration 참조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14173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905256"/>
            <a:ext cx="1417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905256"/>
            <a:ext cx="100584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37360" y="905256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905256"/>
            <a:ext cx="13716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88920" y="905256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95% CI 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905256"/>
            <a:ext cx="100584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905256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AUPRC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905256"/>
            <a:ext cx="960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57800" y="905256"/>
            <a:ext cx="960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Brier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905256"/>
            <a:ext cx="960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905256"/>
            <a:ext cx="960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905256"/>
            <a:ext cx="150876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69480" y="905256"/>
            <a:ext cx="15087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vs M1 Δ AUC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23960" y="905256"/>
            <a:ext cx="150876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23960" y="905256"/>
            <a:ext cx="15087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vs M1 DeLong 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78440" y="905256"/>
            <a:ext cx="169164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378440" y="905256"/>
            <a:ext cx="1691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216152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4320" y="121615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(LR)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1216152"/>
            <a:ext cx="100584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737360" y="1216152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88920" y="1216152"/>
            <a:ext cx="13716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88920" y="1216152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[0.739, 0.909]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216152"/>
            <a:ext cx="100584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06240" y="1216152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0.5008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1216152"/>
            <a:ext cx="9601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57800" y="1216152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216152"/>
            <a:ext cx="9601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63640" y="1216152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0.3953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1216152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69480" y="121615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1216152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823960" y="121615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기준선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78440" y="1216152"/>
            <a:ext cx="169164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378440" y="1216152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Clinic Only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1581912"/>
            <a:ext cx="141732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4320" y="158191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M2 (CrossAttn)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37360" y="1581912"/>
            <a:ext cx="100584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737360" y="1581912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88920" y="1581912"/>
            <a:ext cx="137160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88920" y="1581912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[0.810, 0.949]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1581912"/>
            <a:ext cx="100584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206240" y="1581912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0.5551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57800" y="1581912"/>
            <a:ext cx="96012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257800" y="1581912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0.2124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1581912"/>
            <a:ext cx="96012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63640" y="1581912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0.4444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69480" y="1581912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269480" y="158191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0F6BBF"/>
                </a:solidFill>
                <a:latin typeface="맑은 고딕"/>
              </a:rPr>
              <a:t>+0.054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23960" y="1581912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823960" y="158191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p=0.071 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78440" y="1581912"/>
            <a:ext cx="169164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378440" y="1581912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9EA3AB"/>
                </a:solidFill>
                <a:latin typeface="맑은 고딕"/>
              </a:rPr>
              <a:t>Clinic+AEC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1947672"/>
            <a:ext cx="14173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4320" y="194767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M2_2 (Neg.Ctrl)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37360" y="1947672"/>
            <a:ext cx="10058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737360" y="1947672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88920" y="1947672"/>
            <a:ext cx="137160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788920" y="1947672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[0.750, 0.919]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1947672"/>
            <a:ext cx="10058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206240" y="1947672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0.5177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57800" y="1947672"/>
            <a:ext cx="9601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257800" y="1947672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0.1964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63640" y="1947672"/>
            <a:ext cx="9601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263640" y="1947672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0.3619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1947672"/>
            <a:ext cx="150876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69480" y="194767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+0.010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23960" y="1947672"/>
            <a:ext cx="150876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23960" y="194767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(neg ctrl)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378440" y="1947672"/>
            <a:ext cx="16916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0378440" y="1947672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Unmatched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2313432"/>
            <a:ext cx="141732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74320" y="23134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M3 (CrossAttn3)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37360" y="2313432"/>
            <a:ext cx="100584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737360" y="2313432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88920" y="2313432"/>
            <a:ext cx="137160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788920" y="2313432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[0.825, 0.950]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06240" y="2313432"/>
            <a:ext cx="100584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206240" y="2313432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0.5636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57800" y="2313432"/>
            <a:ext cx="96012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257800" y="2313432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0.1952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63640" y="2313432"/>
            <a:ext cx="96012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63640" y="2313432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0.4571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69480" y="2313432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269480" y="231343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0F6BBF"/>
                </a:solidFill>
                <a:latin typeface="맑은 고딕"/>
              </a:rPr>
              <a:t>+0.062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23960" y="2313432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8823960" y="231343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p=0.040 *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378440" y="2313432"/>
            <a:ext cx="169164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0378440" y="2313432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9EA3AB"/>
                </a:solidFill>
                <a:latin typeface="맑은 고딕"/>
              </a:rPr>
              <a:t>Clinic+Scn+AEC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4320" y="3538728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ROC 비교 (M1·M2·M2₂·M3)</a:t>
            </a:r>
          </a:p>
        </p:txBody>
      </p:sp>
      <p:pic>
        <p:nvPicPr>
          <p:cNvPr id="96" name="Picture 95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831336"/>
            <a:ext cx="4114800" cy="2843784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4572000" y="3538728"/>
            <a:ext cx="3749039" cy="3136392"/>
          </a:xfrm>
          <a:prstGeom prst="rect">
            <a:avLst/>
          </a:prstGeom>
          <a:solidFill>
            <a:srgbClr val="E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4572000" y="3538728"/>
            <a:ext cx="91440" cy="313639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754880" y="3611880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E8B4C"/>
                </a:solidFill>
                <a:latin typeface="맑은 고딕"/>
              </a:rPr>
              <a:t>비교 핵심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54880" y="398678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M1→M3: Δ AUC +0.062, DeLong p=0.040 (*)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54880" y="439826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M1→M2: Δ AUC +0.054, DeLong p=0.071 (†)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54880" y="480974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M2→M3:  Δ AUC +0.008, p=0.437 (ns)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0" y="522122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AUPRC: M1(0.501)→M3(0.564) +12.6%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754880" y="563270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M2_2(neg ctrl) vs M2: Δ-0.045 → 매칭 효과 일부 확인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54880" y="604418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여성 AUC: M1(0.792)→M3(0.876) 극적 개선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58200" y="3538728"/>
            <a:ext cx="352044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531352" y="3557016"/>
            <a:ext cx="341071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norm  (Brier 0.1952)  (Brier 보정 품질 확인)</a:t>
            </a:r>
          </a:p>
        </p:txBody>
      </p:sp>
      <p:pic>
        <p:nvPicPr>
          <p:cNvPr id="108" name="Picture 107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3858768"/>
            <a:ext cx="3520440" cy="2816352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M1 vs M2 비교 — AEC 신호의 기여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Clinic Only(LR) vs Clinic+AEC(CrossAttn)  |  DeLong AUC Test  |  Brier → Calibration 참조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5486400" cy="4133087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51206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M1(LR) vs M2(CrossAttn)  [ norm 조건 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1206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344168"/>
            <a:ext cx="14173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344168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344168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74519" y="134416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M1 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344168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34640" y="134416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1344168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94760" y="134416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 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344168"/>
            <a:ext cx="8686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0" y="1344168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p-val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636776"/>
            <a:ext cx="14173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163677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163677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74519" y="163677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163677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834640" y="163677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0.8868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3677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94760" y="163677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636776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0" y="1636776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p=0.071 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002536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80" y="200253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200253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74519" y="200253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00253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34640" y="200253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0.8884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200253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794760" y="200253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+0.056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002536"/>
            <a:ext cx="8686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4880" y="2002536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p=0.013 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368296"/>
            <a:ext cx="14173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236829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36829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874519" y="236829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40" y="236829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34640" y="236829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0.8739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236829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794760" y="236829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+0.041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368296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54880" y="2368296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p=0.079 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2734056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1480" y="273405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273405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874519" y="273405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34640" y="273405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834640" y="273405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0.8600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273405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94760" y="273405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+0.027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2734056"/>
            <a:ext cx="8686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754880" y="2734056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p=0.330 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3191256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Bootstrap 95% CI — BCE+AEC128+norm 기준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3483864"/>
            <a:ext cx="5120640" cy="2743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11480" y="3538728"/>
            <a:ext cx="123444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11480" y="3538728"/>
            <a:ext cx="1234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지표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91640" y="3538728"/>
            <a:ext cx="123444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691640" y="3538728"/>
            <a:ext cx="1234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71800" y="3538728"/>
            <a:ext cx="12801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71800" y="35387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97680" y="3538728"/>
            <a:ext cx="114300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297680" y="3538728"/>
            <a:ext cx="1143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Δ(M2-M1)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3813048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1480" y="3813048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AUC-ROC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91640" y="3813048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691640" y="3813048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0.833 [0.739,0.909]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71800" y="3813048"/>
            <a:ext cx="12801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71800" y="3813048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0.887 [0.810,0.949]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97680" y="3813048"/>
            <a:ext cx="114300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297680" y="3813048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+0.054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4114800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11480" y="4114800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AUPRC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91640" y="4114800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691640" y="4114800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0.501 [0.297,0.694]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71800" y="4114800"/>
            <a:ext cx="128016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71800" y="4114800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0.555 [0.361,0.764]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297680" y="4114800"/>
            <a:ext cx="114300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297680" y="4114800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+0.054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4416552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11480" y="4416552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Brier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691640" y="4416552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691640" y="4416552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0.180 [0.153,0.212]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971800" y="4416552"/>
            <a:ext cx="12801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971800" y="4416552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0.212 [0.177,0.249]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4416552"/>
            <a:ext cx="114300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297680" y="4416552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+0.032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718304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11480" y="4718304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91640" y="4718304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691640" y="4718304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0.395 [0.254,0.523]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971800" y="4718304"/>
            <a:ext cx="128016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2971800" y="4718304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0.444 [0.303,0.578]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97680" y="4718304"/>
            <a:ext cx="114300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297680" y="4718304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43600" y="905256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조건별 ROC 비교  (norm 기준, M1·M2·M2₂·M3 포함)</a:t>
            </a:r>
          </a:p>
        </p:txBody>
      </p:sp>
      <p:pic>
        <p:nvPicPr>
          <p:cNvPr id="101" name="Picture 100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25296"/>
            <a:ext cx="2926080" cy="146304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5943600" y="270662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BCE+AEC128</a:t>
            </a:r>
          </a:p>
        </p:txBody>
      </p:sp>
      <p:pic>
        <p:nvPicPr>
          <p:cNvPr id="103" name="Picture 102" descr="roc_all_models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225296"/>
            <a:ext cx="2926080" cy="146304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052560" y="270662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BCE+AEC256</a:t>
            </a:r>
          </a:p>
        </p:txBody>
      </p:sp>
      <p:pic>
        <p:nvPicPr>
          <p:cNvPr id="105" name="Picture 104" descr="roc_all_models_n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798064"/>
            <a:ext cx="2926080" cy="14630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5943600" y="4279392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Focal+AEC128</a:t>
            </a:r>
          </a:p>
        </p:txBody>
      </p:sp>
      <p:pic>
        <p:nvPicPr>
          <p:cNvPr id="107" name="Picture 106" descr="roc_all_models_n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2798064"/>
            <a:ext cx="2926080" cy="146304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052560" y="4279392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Focal+AEC256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943600" y="4334256"/>
            <a:ext cx="603504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016752" y="4352544"/>
            <a:ext cx="592531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BCE+AEC128+norm  (Brier 0.2124)  (Brier 보정 품질 확인)</a:t>
            </a:r>
          </a:p>
        </p:txBody>
      </p:sp>
      <p:pic>
        <p:nvPicPr>
          <p:cNvPr id="111" name="Picture 110" descr="calibr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654296"/>
            <a:ext cx="6035040" cy="202082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M1 vs M3 비교 — Scanner + AEC 조합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Clinic Only(LR) vs Clinic+Scanner+AEC(CrossAttn3)  |  DeLong AUC Test  |  Brier → Calibration 참조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5486400" cy="4133087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51206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M1(LR) vs M3(CrossAttn3)  [ norm 조건 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1206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344168"/>
            <a:ext cx="14173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344168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344168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74519" y="134416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M1 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344168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34640" y="134416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M3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1344168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94760" y="134416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 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344168"/>
            <a:ext cx="8686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0" y="1344168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p-val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636776"/>
            <a:ext cx="14173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163677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163677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74519" y="163677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163677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834640" y="163677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E87400"/>
                </a:solidFill>
                <a:latin typeface="맑은 고딕"/>
              </a:rPr>
              <a:t>0.8944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3677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94760" y="163677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+0.062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636776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0" y="1636776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p=0.040 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002536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80" y="200253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200253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74519" y="200253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00253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34640" y="200253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E87400"/>
                </a:solidFill>
                <a:latin typeface="맑은 고딕"/>
              </a:rPr>
              <a:t>0.8858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200253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794760" y="200253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002536"/>
            <a:ext cx="8686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4880" y="2002536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p=0.062 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368296"/>
            <a:ext cx="14173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236829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36829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874519" y="236829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40" y="236829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34640" y="236829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E87400"/>
                </a:solidFill>
                <a:latin typeface="맑은 고딕"/>
              </a:rPr>
              <a:t>0.8448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2368296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794760" y="236829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+0.012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368296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54880" y="2368296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p=0.776 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2734056"/>
            <a:ext cx="14173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1480" y="2734056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273405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874519" y="273405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34640" y="273405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834640" y="273405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E87400"/>
                </a:solidFill>
                <a:latin typeface="맑은 고딕"/>
              </a:rPr>
              <a:t>0.8641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2734056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94760" y="273405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0F6BBF"/>
                </a:solidFill>
                <a:latin typeface="맑은 고딕"/>
              </a:rPr>
              <a:t>+0.032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2734056"/>
            <a:ext cx="8686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754880" y="2734056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p=0.253 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3191256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Bootstrap 95% CI — BCE+AEC128+norm 기준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3483864"/>
            <a:ext cx="5120640" cy="2743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11480" y="3538728"/>
            <a:ext cx="123444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11480" y="3538728"/>
            <a:ext cx="1234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지표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91640" y="3538728"/>
            <a:ext cx="123444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691640" y="3538728"/>
            <a:ext cx="1234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71800" y="3538728"/>
            <a:ext cx="12801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71800" y="35387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97680" y="3538728"/>
            <a:ext cx="114300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297680" y="3538728"/>
            <a:ext cx="1143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Δ(M3-M1)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3813048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1480" y="3813048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AUC-ROC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91640" y="3813048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691640" y="3813048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0.833 [0.739,0.909]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71800" y="3813048"/>
            <a:ext cx="12801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71800" y="3813048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0.894 [0.825,0.950]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97680" y="3813048"/>
            <a:ext cx="114300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297680" y="3813048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+0.062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4114800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11480" y="4114800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AUPRC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91640" y="4114800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691640" y="4114800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0.501 [0.297,0.694]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71800" y="4114800"/>
            <a:ext cx="128016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71800" y="4114800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0.564 [0.366,0.766]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297680" y="4114800"/>
            <a:ext cx="114300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297680" y="4114800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+0.063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4416552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11480" y="4416552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Brier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691640" y="4416552"/>
            <a:ext cx="12344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691640" y="4416552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0.180 [0.153,0.212]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971800" y="4416552"/>
            <a:ext cx="128016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971800" y="4416552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0.195 [0.165,0.227]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4416552"/>
            <a:ext cx="114300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297680" y="4416552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+0.015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718304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11480" y="4718304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91640" y="4718304"/>
            <a:ext cx="123444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691640" y="4718304"/>
            <a:ext cx="1234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0.395 [0.254,0.523]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971800" y="4718304"/>
            <a:ext cx="128016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2971800" y="4718304"/>
            <a:ext cx="12801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0.457 [0.305,0.595]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97680" y="4718304"/>
            <a:ext cx="1143000" cy="301752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297680" y="4718304"/>
            <a:ext cx="11430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43600" y="905256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조건별 ROC 비교  (norm 기준, M1·M2·M2₂·M3 포함)</a:t>
            </a:r>
          </a:p>
        </p:txBody>
      </p:sp>
      <p:pic>
        <p:nvPicPr>
          <p:cNvPr id="101" name="Picture 100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25296"/>
            <a:ext cx="2926080" cy="146304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5943600" y="270662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BCE+AEC128</a:t>
            </a:r>
          </a:p>
        </p:txBody>
      </p:sp>
      <p:pic>
        <p:nvPicPr>
          <p:cNvPr id="103" name="Picture 102" descr="roc_all_models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225296"/>
            <a:ext cx="2926080" cy="146304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052560" y="270662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BCE+AEC256</a:t>
            </a:r>
          </a:p>
        </p:txBody>
      </p:sp>
      <p:pic>
        <p:nvPicPr>
          <p:cNvPr id="105" name="Picture 104" descr="roc_all_models_n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798064"/>
            <a:ext cx="2926080" cy="14630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5943600" y="4279392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Focal+AEC128</a:t>
            </a:r>
          </a:p>
        </p:txBody>
      </p:sp>
      <p:pic>
        <p:nvPicPr>
          <p:cNvPr id="107" name="Picture 106" descr="roc_all_models_n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2798064"/>
            <a:ext cx="2926080" cy="146304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052560" y="4279392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Focal+AEC256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943600" y="4334256"/>
            <a:ext cx="603504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016752" y="4352544"/>
            <a:ext cx="592531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BCE+AEC128+norm  (Brier 0.1952)  (Brier 보정 품질 확인)</a:t>
            </a:r>
          </a:p>
        </p:txBody>
      </p:sp>
      <p:pic>
        <p:nvPicPr>
          <p:cNvPr id="111" name="Picture 110" descr="calibr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654296"/>
            <a:ext cx="6035040" cy="202082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M2 vs M3 비교 — Scanner(MFR) 추가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CrossAttn vs CrossAttn3  |  모든 조건에서 DeLong ns — 통계적 유의차 없음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6858000" cy="43068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64922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M2(CrossAttn) vs M3(CrossAttn3)  [ 전 조건 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6492240" cy="36576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344168"/>
            <a:ext cx="16459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34416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344168"/>
            <a:ext cx="10058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03120" y="1344168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 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344168"/>
            <a:ext cx="10058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80" y="1344168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M3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344168"/>
            <a:ext cx="10058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0" y="1344168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 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1344168"/>
            <a:ext cx="9601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57800" y="134416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p-val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44168"/>
            <a:ext cx="8229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1344168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sig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636776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1636776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1636776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03120" y="163677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1636776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54680" y="163677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1636776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06240" y="163677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+0.008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57800" y="1636776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257800" y="1636776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0.437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1636776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3640" y="163677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1975104"/>
            <a:ext cx="16459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" y="1975104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crop60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03120" y="1975104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103120" y="197510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0.8635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4680" y="1975104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154680" y="197510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1975104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206240" y="197510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57800" y="1975104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57800" y="1975104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0.513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1975104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63640" y="197510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2313432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" y="2313432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crop80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2313432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103120" y="231343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54680" y="2313432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154680" y="231343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0.8575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2313432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06240" y="231343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-0.004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313432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257800" y="2313432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0.793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2313432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63640" y="231343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2651760"/>
            <a:ext cx="16459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" y="2651760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len128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2651760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103120" y="265176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0.8578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54680" y="2651760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154680" y="265176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0.8357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06240" y="2651760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206240" y="265176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-0.022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2651760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257800" y="2651760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0.255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2651760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63640" y="26517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2990088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1480" y="2990088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 norm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103120" y="2990088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103120" y="299008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0.8884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154680" y="2990088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3154680" y="299008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0.8858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06240" y="2990088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206240" y="2990088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57800" y="2990088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257800" y="2990088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0.851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3640" y="2990088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263640" y="29900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3328416"/>
            <a:ext cx="16459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11480" y="3328416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 len128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103120" y="3328416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2103120" y="332841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0.8694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154680" y="3328416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3154680" y="332841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0.8559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06240" y="3328416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206240" y="3328416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-0.014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257800" y="3328416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257800" y="3328416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0.530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3640" y="3328416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3640" y="332841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3666744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11480" y="3666744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 norm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103120" y="3666744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103120" y="366674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0.8739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154680" y="3666744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154680" y="366674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0.8448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666744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206240" y="3666744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-0.029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257800" y="3666744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257800" y="3666744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0.296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263640" y="3666744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263640" y="366674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4005072"/>
            <a:ext cx="16459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11480" y="4005072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 norm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103120" y="4005072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103120" y="400507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54680" y="4005072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154680" y="400507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0.8641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06240" y="4005072"/>
            <a:ext cx="10058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206240" y="4005072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+0.004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257800" y="4005072"/>
            <a:ext cx="96012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257800" y="4005072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0.807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263640" y="4005072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263640" y="400507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11480" y="4343400"/>
            <a:ext cx="16459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11480" y="4343400"/>
            <a:ext cx="16459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 excl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103120" y="4343400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103120" y="434340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0.8854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154680" y="4343400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3154680" y="434340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0.8174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206240" y="4343400"/>
            <a:ext cx="1005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4206240" y="4343400"/>
            <a:ext cx="10058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-0.068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257800" y="4343400"/>
            <a:ext cx="9601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5257800" y="4343400"/>
            <a:ext cx="960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0.013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263640" y="4343400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63640" y="434340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*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15200" y="905256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ROC — BCE+AEC128+norm  (M2 vs M3 근소 차이)</a:t>
            </a:r>
          </a:p>
        </p:txBody>
      </p:sp>
      <p:pic>
        <p:nvPicPr>
          <p:cNvPr id="129" name="Picture 12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197864"/>
            <a:ext cx="4663440" cy="2450592"/>
          </a:xfrm>
          <a:prstGeom prst="rect">
            <a:avLst/>
          </a:prstGeom>
        </p:spPr>
      </p:pic>
      <p:sp>
        <p:nvSpPr>
          <p:cNvPr id="130" name="Rectangle 129"/>
          <p:cNvSpPr/>
          <p:nvPr/>
        </p:nvSpPr>
        <p:spPr>
          <a:xfrm>
            <a:off x="7315200" y="3785615"/>
            <a:ext cx="4663440" cy="28437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7315200" y="3785615"/>
            <a:ext cx="91440" cy="2843784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7498079" y="3858768"/>
            <a:ext cx="42976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9EA3AB"/>
                </a:solidFill>
                <a:latin typeface="맑은 고딕"/>
              </a:rPr>
              <a:t>해석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98079" y="4242816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M2 vs M3: 20개 조건 중 19개 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98079" y="4590288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Scanner 정보가 AUC에 통계적 유의차 미산출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98079" y="4937759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예외: Focal+AEC256+excl_extreme p=0.013 (*)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98079" y="5285231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단 1건, 해석에 주의 필요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98079" y="5632704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M3는 일관되게 M2보다 미세하게 높거나 비슷함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79" y="5980175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방향성은 존재, 검출력 부족 가능성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79" y="6327648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추후 n↑ → M2 vs M3 재검증 권장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M2 vs M2_2 비교 — 매칭 효과 검증 (음성 대조군)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Matched(M2) vs Unmatched(M2_2)  |  AEC 개인 대응의 실질적 기여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4389120" cy="1325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실험 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71016"/>
            <a:ext cx="402336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362456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M2: 환자 i의 Clinic + 환자 i의 AEC (동일 환자)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55064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M2_2: 환자 i의 Clinic + 환자 j의 AEC (다른 환자)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47672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→ 동일 CrossAttention 구조 / AEC만 랜덤 셔플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6858000" cy="3849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6492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M2(Matched) vs M2_2(Unmatched)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649224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" y="2761488"/>
            <a:ext cx="18288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276148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조건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2761488"/>
            <a:ext cx="10515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86000" y="276148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 AUC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761488"/>
            <a:ext cx="11430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83280" y="2761488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M2_2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761488"/>
            <a:ext cx="8229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0" y="2761488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 AUC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2761488"/>
            <a:ext cx="8686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40680" y="2761488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p-val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2761488"/>
            <a:ext cx="8229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5080" y="2761488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sig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054096"/>
            <a:ext cx="1828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3054096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norm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3054096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86000" y="3054096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3054096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3054096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054096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0" y="30540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+0.045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40680" y="3054096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0.138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054096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55080" y="30540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392424"/>
            <a:ext cx="18288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3392424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BCE+AEC128 excl_ext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3392424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86000" y="339242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0.8339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3392424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83280" y="3392424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0.5596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3392424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0" y="3392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+0.274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40680" y="3392424"/>
            <a:ext cx="8686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40680" y="3392424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&lt;0.001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3392424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55080" y="3392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3730752"/>
            <a:ext cx="1828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1480" y="3730752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 norm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0" y="3730752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286000" y="3730752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83280" y="3730752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383280" y="3730752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0.7931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3730752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572000" y="373075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+0.095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40680" y="3730752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440680" y="3730752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0.005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3730752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55080" y="373075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069079"/>
            <a:ext cx="18288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80" y="4069079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BCE+AEC256 excl_ext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4069079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286000" y="4069079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0.8507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83280" y="4069079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383280" y="4069079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069079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572000" y="4069079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+0.303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40680" y="4069079"/>
            <a:ext cx="8686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40680" y="4069079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&lt;0.001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4069079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355080" y="4069079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4407408"/>
            <a:ext cx="1828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11480" y="4407408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 norm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286000" y="4407408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86000" y="440740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0.8739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83280" y="4407408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383280" y="4407408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0.7975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0" y="4407408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572000" y="440740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+0.076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40680" y="4407408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440680" y="4407408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0.008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4407408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355080" y="440740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4745736"/>
            <a:ext cx="18288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11480" y="4745736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Focal+AEC128 excl_ext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286000" y="4745736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286000" y="4745736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0.8854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280" y="4745736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3383280" y="4745736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0.5503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572000" y="4745736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572000" y="474573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+0.335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40680" y="4745736"/>
            <a:ext cx="8686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440680" y="4745736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&lt;0.001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55080" y="4745736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355080" y="474573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1480" y="5084064"/>
            <a:ext cx="1828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11480" y="5084064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 norm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286000" y="5084064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2286000" y="508406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0.8600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383280" y="5084064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3383280" y="5084064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0.8382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572000" y="5084064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572000" y="50840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+0.022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40680" y="5084064"/>
            <a:ext cx="868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440680" y="5084064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0.489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55080" y="5084064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55080" y="50840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11480" y="5422392"/>
            <a:ext cx="18288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11480" y="5422392"/>
            <a:ext cx="1828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Focal+AEC256 excl_ext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286000" y="5422392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2286000" y="5422392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0.8854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383280" y="5422392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383280" y="5422392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0.5353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572000" y="5422392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572000" y="54223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+0.350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40680" y="5422392"/>
            <a:ext cx="8686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5440680" y="5422392"/>
            <a:ext cx="8686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&lt;0.001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55080" y="5422392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355080" y="54223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315200" y="905256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ROC — excl_extreme 조건 (가장 극적인 차이)</a:t>
            </a:r>
          </a:p>
        </p:txBody>
      </p:sp>
      <p:pic>
        <p:nvPicPr>
          <p:cNvPr id="123" name="Picture 12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197864"/>
            <a:ext cx="4663440" cy="2331720"/>
          </a:xfrm>
          <a:prstGeom prst="rect">
            <a:avLst/>
          </a:prstGeom>
        </p:spPr>
      </p:pic>
      <p:sp>
        <p:nvSpPr>
          <p:cNvPr id="124" name="Rectangle 123"/>
          <p:cNvSpPr/>
          <p:nvPr/>
        </p:nvSpPr>
        <p:spPr>
          <a:xfrm>
            <a:off x="7315200" y="3648456"/>
            <a:ext cx="4663440" cy="2935224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315200" y="3648456"/>
            <a:ext cx="91440" cy="2935224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7498079" y="3721608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E87400"/>
                </a:solidFill>
                <a:latin typeface="맑은 고딕"/>
              </a:rPr>
              <a:t>해석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498079" y="4069080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excl_extreme: M2(0.834) vs M2_2(0.560) Δ=+0.274 ***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98079" y="4416552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AEC는 개인별 고유 신호 — 단순 체형 proxy 아님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98079" y="4764024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BCE+AEC256+norm: Δ=+0.095 **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498079" y="5111496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Focal+AEC128+norm: Δ=+0.076 **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98079" y="5458968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• norm 조건: Loss·AEC길이에 따라 매칭 효과 강도 상이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98079" y="5806440"/>
            <a:ext cx="4297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→ AEC 신호의 개인 대응이 예측력의 핵심 요소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전 시나리오 ROC 비교 — norm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Loss × AEC 길이 4가지 조합에서 M1·M2·M2₂·M3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905256"/>
            <a:ext cx="5760720" cy="34747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23544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BCE + AEC 128pt / norm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89304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맑은 고딕"/>
              </a:rPr>
              <a:t>M1→M3: p=0.040 *  |  M1→M2: p=0.071 †</a:t>
            </a:r>
          </a:p>
        </p:txBody>
      </p:sp>
      <p:pic>
        <p:nvPicPr>
          <p:cNvPr id="8" name="Picture 7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63624"/>
            <a:ext cx="576072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36208" y="905256"/>
            <a:ext cx="5760720" cy="34747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27648" y="923544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BCE + AEC 256pt / norm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289304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맑은 고딕"/>
              </a:rPr>
              <a:t>M1→M2: p=0.013 *  |  M1→M3: p=0.062 †</a:t>
            </a:r>
          </a:p>
        </p:txBody>
      </p:sp>
      <p:pic>
        <p:nvPicPr>
          <p:cNvPr id="12" name="Picture 11" descr="roc_all_models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563624"/>
            <a:ext cx="5760720" cy="29260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28600" y="3739896"/>
            <a:ext cx="5760720" cy="34747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3758183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Focal + AEC 128pt / norm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23944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맑은 고딕"/>
              </a:rPr>
              <a:t>M1→M2: p=0.079 †  |  M1→M3: ns</a:t>
            </a:r>
          </a:p>
        </p:txBody>
      </p:sp>
      <p:pic>
        <p:nvPicPr>
          <p:cNvPr id="16" name="Picture 15" descr="roc_all_models_n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4398264"/>
            <a:ext cx="5760720" cy="29260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236208" y="3739896"/>
            <a:ext cx="5760720" cy="347472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3758183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Focal + AEC 256pt / norm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4123944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맑은 고딕"/>
              </a:rPr>
              <a:t>M1→M2: ns  |  M1→M3: ns</a:t>
            </a:r>
          </a:p>
        </p:txBody>
      </p:sp>
      <p:pic>
        <p:nvPicPr>
          <p:cNvPr id="20" name="Picture 19" descr="roc_all_models_n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398264"/>
            <a:ext cx="5760720" cy="2926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Attention Map 비교 — M2 vs M3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BCE + AEC 128pt + norm  |  CrossAttn(M2) · CrossAttn3(M3) 어텐션 패턴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5760720" cy="34747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23544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Model 2  CrossAttn  (Clinic → AEC)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9844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Heatmap (샘플별)</a:t>
            </a:r>
          </a:p>
        </p:txBody>
      </p:sp>
      <p:pic>
        <p:nvPicPr>
          <p:cNvPr id="8" name="Picture 7" descr="atten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5336"/>
            <a:ext cx="5669280" cy="2514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4105656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Map C→A (평균)</a:t>
            </a:r>
          </a:p>
        </p:txBody>
      </p:sp>
      <p:pic>
        <p:nvPicPr>
          <p:cNvPr id="10" name="Picture 9" descr="attention_map_c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352544"/>
            <a:ext cx="5669280" cy="23682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0" y="905256"/>
            <a:ext cx="5760720" cy="34747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59" y="923544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Model 3  CrossAttn3  (Clinic+Scanner → AEC)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129844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Heatmap (샘플별)</a:t>
            </a:r>
          </a:p>
        </p:txBody>
      </p:sp>
      <p:pic>
        <p:nvPicPr>
          <p:cNvPr id="14" name="Picture 13" descr="attention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45336"/>
            <a:ext cx="5669280" cy="2514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4105656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Map C→A (평균)</a:t>
            </a:r>
          </a:p>
        </p:txBody>
      </p:sp>
      <p:pic>
        <p:nvPicPr>
          <p:cNvPr id="16" name="Picture 15" descr="attention_map_c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352544"/>
            <a:ext cx="5669280" cy="23682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최적 조건 상세 비교 — BCE + AEC128+norm  vs  BCE + AEC256+norm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두 조건에서 독립적으로 통계 유의성 확인  |  Brier → Calibration 참조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11612880" cy="594360"/>
          </a:xfrm>
          <a:prstGeom prst="rect">
            <a:avLst/>
          </a:prstGeom>
          <a:solidFill>
            <a:srgbClr val="E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905256"/>
            <a:ext cx="109728" cy="5943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969264"/>
            <a:ext cx="110642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BCE+AEC128+norm: M1→M3 p=0.040 (*)  /  BCE+AEC256+norm: M1→M2 p=0.013 (*) · M2 vs M2_2 p=0.005 (**)  → 두 조건 모두 AEC 기여 통계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91056"/>
            <a:ext cx="10972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59105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모델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1591056"/>
            <a:ext cx="10972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17320" y="159105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591056"/>
            <a:ext cx="15087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60320" y="1591056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95% CI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591056"/>
            <a:ext cx="9601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0" y="1591056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AUPRC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1591056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1591056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Brier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1591056"/>
            <a:ext cx="9144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80760" y="1591056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F1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591056"/>
            <a:ext cx="15087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0" y="1591056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BCE128 DeLong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1591056"/>
            <a:ext cx="15087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0" y="1591056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BCE256 DeLong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0" y="1591056"/>
            <a:ext cx="1874519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149840" y="1591056"/>
            <a:ext cx="18745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883664"/>
            <a:ext cx="10972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4320" y="188366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(LR)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7320" y="1883664"/>
            <a:ext cx="109728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417320" y="188366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1883664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60320" y="188366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[0.739,0.909]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1883664"/>
            <a:ext cx="96012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0" y="1883664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0.5008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1883664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20640" y="188366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0.1804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1883664"/>
            <a:ext cx="91440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80760" y="188366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0.3953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1883664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40880" y="188366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기준선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95360" y="1883664"/>
            <a:ext cx="1508760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95360" y="188366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기준선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49840" y="1883664"/>
            <a:ext cx="1874519" cy="365760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149840" y="1883664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Clinic Only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2249424"/>
            <a:ext cx="109728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74320" y="224942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M2 (CrossAttn)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17320" y="2249424"/>
            <a:ext cx="109728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417320" y="224942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2249424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560320" y="224942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[0.810,0.949]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2249424"/>
            <a:ext cx="96012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14800" y="2249424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0.5551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2249424"/>
            <a:ext cx="91440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20640" y="224942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0.2124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2249424"/>
            <a:ext cx="91440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080760" y="224942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0.4444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40880" y="2249424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040880" y="224942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p=0.071 †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95360" y="2249424"/>
            <a:ext cx="1508760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95360" y="224942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p=0.013 *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49840" y="2249424"/>
            <a:ext cx="1874519" cy="365760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149840" y="2249424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9EA3AB"/>
                </a:solidFill>
                <a:latin typeface="맑은 고딕"/>
              </a:rPr>
              <a:t>BCE128 vs 256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615184"/>
            <a:ext cx="10972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74320" y="261518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M2_2 (Neg)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17320" y="2615184"/>
            <a:ext cx="10972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417320" y="261518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0.8420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60320" y="2615184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560320" y="261518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[0.750,0.919]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2615184"/>
            <a:ext cx="9601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14800" y="2615184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0.5177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20640" y="2615184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120640" y="261518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0.1964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80760" y="2615184"/>
            <a:ext cx="9144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080760" y="261518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0.3619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40880" y="2615184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040880" y="261518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(neg ctrl)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95360" y="2615184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595360" y="261518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(neg ctrl)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49840" y="2615184"/>
            <a:ext cx="1874519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149840" y="2615184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Unmatched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2980944"/>
            <a:ext cx="109728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74320" y="29809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M3 (CrossAttn3)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417320" y="2980944"/>
            <a:ext cx="109728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417320" y="29809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560320" y="2980944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2560320" y="298094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[0.825,0.950]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0" y="2980944"/>
            <a:ext cx="96012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114800" y="2980944"/>
            <a:ext cx="960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0.5636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20640" y="2980944"/>
            <a:ext cx="91440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120640" y="298094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0.1952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080760" y="2980944"/>
            <a:ext cx="91440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080760" y="298094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0.4571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2980944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7040880" y="298094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p=0.040 *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95360" y="2980944"/>
            <a:ext cx="1508760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8595360" y="2980944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E8B4C"/>
                </a:solidFill>
                <a:latin typeface="맑은 고딕"/>
              </a:rPr>
              <a:t>p=0.062 †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149840" y="2980944"/>
            <a:ext cx="1874519" cy="365760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10149840" y="2980944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9EA3AB"/>
                </a:solidFill>
                <a:latin typeface="맑은 고딕"/>
              </a:rPr>
              <a:t>Best Overall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" y="3465576"/>
            <a:ext cx="3566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맑은 고딕"/>
              </a:rPr>
              <a:t>ROC — BCE+AEC128+norm</a:t>
            </a:r>
          </a:p>
        </p:txBody>
      </p:sp>
      <p:pic>
        <p:nvPicPr>
          <p:cNvPr id="99" name="Picture 9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739896"/>
            <a:ext cx="3566160" cy="2889504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3977639" y="3465576"/>
            <a:ext cx="3566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맑은 고딕"/>
              </a:rPr>
              <a:t>M3 Confusion Matrix</a:t>
            </a:r>
          </a:p>
        </p:txBody>
      </p:sp>
      <p:pic>
        <p:nvPicPr>
          <p:cNvPr id="101" name="Picture 100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739896"/>
            <a:ext cx="3566160" cy="2889504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7680960" y="3465576"/>
            <a:ext cx="42976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7754112" y="3483864"/>
            <a:ext cx="41879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BCE+AEC128+norm  (Brier 0.1952)  (Brier 보정 품질 확인)</a:t>
            </a:r>
          </a:p>
        </p:txBody>
      </p:sp>
      <p:pic>
        <p:nvPicPr>
          <p:cNvPr id="104" name="Picture 103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785615"/>
            <a:ext cx="4297680" cy="2843784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성별 분리 비교 — M1 vs M3  (BCE + AEC128 + norm)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남성(n=71, 유병률 15.5%) · 여성(n=101, 유병률 9.9%) 분리 AUC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1161288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50976"/>
            <a:ext cx="13258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950976"/>
            <a:ext cx="1325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950976"/>
            <a:ext cx="11887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950976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전체 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950976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71800" y="950976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전체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950976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60" y="950976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남성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950976"/>
            <a:ext cx="11887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32120" y="950976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남성 CI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950976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950976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여성 AUC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950976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0" y="950976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여성 CI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6880" y="950976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0" y="950976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남 AUPRC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0" y="950976"/>
            <a:ext cx="141732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07040" y="950976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여 AUPRC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243584"/>
            <a:ext cx="132588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1243584"/>
            <a:ext cx="132588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(LR)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1243584"/>
            <a:ext cx="118872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1243584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1243584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71800" y="1243584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[0.739,0.909]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60" y="1243584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51960" y="1243584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1243584"/>
            <a:ext cx="118872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32120" y="1243584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[0.786,0.956]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1243584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66560" y="1243584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0.7923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1243584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1243584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[0.677,0.895]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26880" y="1243584"/>
            <a:ext cx="123444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26880" y="1243584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0.6710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07040" y="1243584"/>
            <a:ext cx="1417320" cy="374904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607040" y="1243584"/>
            <a:ext cx="14173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0.3197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1618488"/>
            <a:ext cx="132588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5760" y="1618488"/>
            <a:ext cx="132588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M2 (CrossAttn)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37360" y="1618488"/>
            <a:ext cx="118872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737360" y="1618488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1618488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971800" y="161848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[0.810,0.949]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1618488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51960" y="161848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0.8879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32120" y="1618488"/>
            <a:ext cx="118872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532120" y="1618488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[0.800,0.954]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66560" y="1618488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66560" y="161848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46720" y="1618488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046720" y="161848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[0.793,0.946]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26880" y="1618488"/>
            <a:ext cx="123444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26880" y="1618488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0.5968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07040" y="1618488"/>
            <a:ext cx="1417320" cy="374904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607040" y="1618488"/>
            <a:ext cx="14173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0.6063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1993392"/>
            <a:ext cx="132588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65760" y="1993392"/>
            <a:ext cx="132588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M3 (CrossAttn3)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737360" y="1993392"/>
            <a:ext cx="118872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737360" y="1993392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71800" y="1993392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71800" y="199339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[0.825,0.950]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0" y="1993392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251960" y="199339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0.9000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32120" y="1993392"/>
            <a:ext cx="118872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532120" y="1993392"/>
            <a:ext cx="11887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[0.825,0.959]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766560" y="1993392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766560" y="199339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0.8758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46720" y="1993392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046720" y="199339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[0.793,0.950]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326880" y="1993392"/>
            <a:ext cx="123444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326880" y="1993392"/>
            <a:ext cx="123444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0.6218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607040" y="1993392"/>
            <a:ext cx="1417320" cy="374904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607040" y="1993392"/>
            <a:ext cx="141732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1A1A2E"/>
                </a:solidFill>
                <a:latin typeface="맑은 고딕"/>
              </a:rPr>
              <a:t>0.4883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2825496"/>
            <a:ext cx="3474720" cy="3712463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274320" y="2825496"/>
            <a:ext cx="91440" cy="3712463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57200" y="2898648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F6BBF"/>
                </a:solidFill>
                <a:latin typeface="맑은 고딕"/>
              </a:rPr>
              <a:t>남성 비교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328269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M1→M3: 0.882→0.900  (Δ+0.018)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3758183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M3에서 처음으로 AUC 0.90 돌파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4233672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AUPRC: M1(0.671)→M3(0.622)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47091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Precision관점에서 M1이 더 높음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5184648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유병률 15.5% → 균형 잡힌 클래스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566013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AUC 해석 안정적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86200" y="2825496"/>
            <a:ext cx="3474720" cy="3712463"/>
          </a:xfrm>
          <a:prstGeom prst="rect">
            <a:avLst/>
          </a:prstGeom>
          <a:solidFill>
            <a:srgbClr val="FF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3886200" y="2825496"/>
            <a:ext cx="91440" cy="371246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4069080" y="2898648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맑은 고딕"/>
              </a:rPr>
              <a:t>여성 비교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69080" y="328269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M1→M3: 0.792→0.876  (Δ+0.084)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69080" y="3758183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여성에서 AEC 기여 효과가 더 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69080" y="4233672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AUPRC: M1(0.320)→M2(0.606)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69080" y="47091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AEC 추가로 양성 정밀도 극적 개선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69080" y="5184648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유병률 9.9% → 심한 class imbalance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66013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AUPRC가 AUC보다 중요한 지표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79" y="2825496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맑은 고딕"/>
              </a:rPr>
              <a:t>M1  by Sex</a:t>
            </a:r>
          </a:p>
        </p:txBody>
      </p:sp>
      <p:pic>
        <p:nvPicPr>
          <p:cNvPr id="97" name="Picture 96" descr="test_roc_by_s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099816"/>
            <a:ext cx="2194560" cy="182880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9829800" y="2825496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M3  by Sex</a:t>
            </a:r>
          </a:p>
        </p:txBody>
      </p:sp>
      <p:pic>
        <p:nvPicPr>
          <p:cNvPr id="99" name="Picture 98" descr="test_roc_by_s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3099816"/>
            <a:ext cx="2194560" cy="182880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498079" y="4974336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  <a:latin typeface="맑은 고딕"/>
              </a:rPr>
              <a:t>△ 여성 AUC 0.792 → 0.876  |  △ 남성 AUC 0.882 → 0.900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98079" y="5285232"/>
            <a:ext cx="4480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M3 norm — Training Curves</a:t>
            </a:r>
          </a:p>
        </p:txBody>
      </p:sp>
      <p:pic>
        <p:nvPicPr>
          <p:cNvPr id="102" name="Picture 101" descr="training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5559552"/>
            <a:ext cx="4480560" cy="1115568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종합 결론 및 임상적 함의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AEC 신호의 근감소증 예측 기여 — 비교 연구 결과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11612880" cy="1325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905256"/>
            <a:ext cx="109728" cy="132588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969264"/>
            <a:ext cx="11064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F6BBF"/>
                </a:solidFill>
                <a:latin typeface="맑은 고딕"/>
              </a:rPr>
              <a:t>① AEC 신호는 Clinic 대비 통계적으로 유의미하게 AUC를 향상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BCE+AEC128+norm: M1→M3 DeLong p=0.040 (*)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BCE+AEC256+norm: M1→M2 DeLong p=0.013 (*)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35024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음성 대조군(M2_2) 대비 M2 일관 우세 → 매칭 효과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2763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여성 AUPRC: M1(0.320)→M2(0.606) — AEC가 양성 정밀도 극적 개선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95144"/>
            <a:ext cx="11612880" cy="1325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" y="2295144"/>
            <a:ext cx="109728" cy="132588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11064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F9B8A"/>
                </a:solidFill>
                <a:latin typeface="맑은 고딕"/>
              </a:rPr>
              <a:t>② norm 전처리 조건이 최적 — 전 조건 중 가장 일관된 AUC 향상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2491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모든 Loss×AEC길이 시나리오에서 norm이 최고 또는 상위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017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crop/truncation 없이 전체 시퀀스 활용이 최선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249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BCE+AEC256+norm에서 M1 vs M2 유의성 강화: p=0.013 (*)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17520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→ AEC 길이 256pt가 M2의 AEC 학습 신호를 증폭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685032"/>
            <a:ext cx="11612880" cy="1325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4320" y="3685032"/>
            <a:ext cx="109728" cy="132588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49039"/>
            <a:ext cx="11064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E87400"/>
                </a:solidFill>
                <a:latin typeface="맑은 고딕"/>
              </a:rPr>
              <a:t>③ M2 vs M3: Scanner 추가효과 미입증 — 20개 조건 중 19개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148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BCE+AEC128+norm: M2(0.887) vs M3(0.894) p=0.437 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0740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단, 방향성은 M3≥M2 일관 → 검출력 부족 가능성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114800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남성 AUC 0.900 달성은 M3에서만 → 성별별 효과 차별화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407408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→ 다기관·다scanner 데이터 확보 시 M3 효과 강화 예상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074920"/>
            <a:ext cx="11612880" cy="1325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109728" cy="132588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5138928"/>
            <a:ext cx="11064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E8B4C"/>
                </a:solidFill>
                <a:latin typeface="맑은 고딕"/>
              </a:rPr>
              <a:t>④ Zero-cost AEC로 임상 등급 스크리닝 가능성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50468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기존 CT 스캔 시 자동 수집 — 추가 비용·검사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97296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남성 AUC 0.900 / 여성 AUC 0.876 → 임상 허용 수준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504688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건강검진 프로그램 연동 시 고위험군 조기 선별 가능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797296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• PACS-DICOM AEC 자동 추출 파이프라인 구축 필요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제한점 및 향후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현재 비교 연구의 한계와 발전 가능성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5394960" cy="540410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5029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맑은 고딕"/>
              </a:rPr>
              <a:t>연구 제한점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5029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35608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소표본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46504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Test n=172, Sarco 21명 → DeLong 검출력 제한, CI 넓음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0008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단일 기관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60904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단일 센터 데이터 → 외부 검증 미실시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64408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excl_extreme 비교 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75304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Test set 크기 변화 → M1 vs M2/M3 DeLong 직접 비교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78808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M2 vs M3 미유의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89704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Scanner 순증가 효과 미확인 → 검출력 부족 가능성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93208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  ▶ 단면 연구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04104"/>
            <a:ext cx="50292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9EA3AB"/>
                </a:solidFill>
                <a:latin typeface="맑은 고딕"/>
              </a:rPr>
              <a:t>    AEC-근육량 인과관계 미확인 → 종단 연구 필요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905256"/>
            <a:ext cx="5943600" cy="540410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0" y="978408"/>
            <a:ext cx="5577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F6BBF"/>
                </a:solidFill>
                <a:latin typeface="맑은 고딕"/>
              </a:rPr>
              <a:t>향후 연구 방향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325880"/>
            <a:ext cx="55778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0" y="143560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다기관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746504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강남+신촌 통합 → 일반화 성능·DeLong 유의성 재확인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35000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샘플 확장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660904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Test n&gt;500 → CI 축소, M2 vs M3 검출력 증가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26440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전처리 설계 개선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575304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동일 test set 유지 설계 → excl_extreme 공정 비교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17880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아키텍처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489704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Multi-head Attn + positional encoding → 시퀀스 길이 극복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093208"/>
            <a:ext cx="5577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6BBF"/>
                </a:solidFill>
                <a:latin typeface="맑은 고딕"/>
              </a:rPr>
              <a:t>  ◆ 임상 파이프라인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404104"/>
            <a:ext cx="55778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맑은 고딕"/>
              </a:rPr>
              <a:t>    PACS-DICOM AEC 추출 자동화 → 실시간 스크리닝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4320" y="6373368"/>
            <a:ext cx="116128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감사합니다  |  Questions &amp; Discussion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01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맑은 고딕"/>
              </a:rPr>
              <a:t>부록 — 조건별 상세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 i="0">
                <a:solidFill>
                  <a:srgbClr val="9EA3AB"/>
                </a:solidFill>
                <a:latin typeface="맑은 고딕"/>
              </a:rPr>
              <a:t>Loss × AEC 길이 × 전처리  전 조건  |  M2 · M2_2 · M3 개별 시각화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657600"/>
            <a:ext cx="5788152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977639"/>
            <a:ext cx="10360152" cy="475488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3995928"/>
            <a:ext cx="10241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  BCEWithLogitsLoss + AEC 128pt   →  norm / crop60 / crop80 / len128 / excl_extreme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544568"/>
            <a:ext cx="10360152" cy="475488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562856"/>
            <a:ext cx="10241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  BCEWithLogitsLoss + AEC 256pt   →  norm / crop60 / crop80 / len128 / len256 / excl_extreme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111496"/>
            <a:ext cx="10360152" cy="475488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5129784"/>
            <a:ext cx="10241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  FocalLoss + AEC 128pt   →  norm / crop60 / crop80 / len128 / excl_extreme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78423"/>
            <a:ext cx="10360152" cy="47548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5696712"/>
            <a:ext cx="10241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  FocalLoss + AEC 256pt   →  norm / crop60 / crop80 / len256 / excl_extreme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81928"/>
            <a:ext cx="103601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9EA3AB"/>
                </a:solidFill>
                <a:latin typeface="맑은 고딕"/>
              </a:rPr>
              <a:t>각 슬라이드: 전모델 ROC | M2 Calibration | M3 Calibration  ·  M2 Confusion | M3 Confusion | M2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17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18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19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20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21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22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23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24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len256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25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BCEWithLogitsLoss  +  AEC 256pt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26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27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28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29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30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31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32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33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34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len256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35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FocalLoss  +  AEC 256pt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36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528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2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832104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8600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78808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24528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65592" y="3831336"/>
            <a:ext cx="374904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808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맑은 고딕"/>
              </a:rPr>
              <a:t>부록 2 — OK+Missing 확장 데이터셋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 i="0">
                <a:solidFill>
                  <a:srgbClr val="9EA3AB"/>
                </a:solidFill>
                <a:latin typeface="맑은 고딕"/>
              </a:rPr>
              <a:t>누락 데이터 포함 확장 코호트  |  n=1,162 (Train 929 / Test 233)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520440"/>
            <a:ext cx="5788152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371600" y="3840480"/>
            <a:ext cx="4572000" cy="68580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63040" y="3913632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OK 코호트 (n=859)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20624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AEC 매칭 완전한 환자만 포함 — 본 연구 주결과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840480"/>
            <a:ext cx="4572000" cy="68580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59" y="3913632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OK+Missing 코호트 (n=1,162)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420624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누락 AEC 포함 확장 — 비교 참고용 간략 제시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360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9EA3AB"/>
                </a:solidFill>
                <a:latin typeface="맑은 고딕"/>
              </a:rPr>
              <a:t>결과 해석 주의: 누락 데이터 포함 → AEC 기여 효과 희석, 전반적 AUC 감소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00584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맑은 고딕"/>
              </a:rPr>
              <a:t>OK+Missing 코호트 결과 개요 — OK 대비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9EA3AB"/>
                </a:solidFill>
                <a:latin typeface="맑은 고딕"/>
              </a:rPr>
              <a:t>n=1,162 / Test n=233 / Sarco 25명(10.7%)  |  BCE + AEC128 + norm 기준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05256"/>
            <a:ext cx="5029200" cy="2743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데이터셋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71016"/>
            <a:ext cx="46634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316736"/>
            <a:ext cx="13716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316736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316736"/>
            <a:ext cx="13716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83080" y="1316736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316736"/>
            <a:ext cx="13258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0" y="1316736"/>
            <a:ext cx="1325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OK+Missing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316736"/>
            <a:ext cx="8229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316736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차이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09344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전체 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1609344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83080" y="1609344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859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1609344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0" y="1609344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1,162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1609344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160934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+303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947672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19476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Train 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3080" y="1947672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83080" y="19476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687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1947672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00400" y="1947672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929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1947672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0" y="194767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+242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286000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2286000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Test 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83080" y="2286000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783080" y="2286000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172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2286000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0" y="2286000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233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2286000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0" y="228600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624328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5760" y="2624328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Sarco(Test)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83080" y="2624328"/>
            <a:ext cx="13716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783080" y="2624328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2624328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200400" y="2624328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2624328"/>
            <a:ext cx="8229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0" y="26243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+4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2962656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65760" y="2962656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Sarco 비율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83080" y="2962656"/>
            <a:ext cx="13716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783080" y="2962656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12.2%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962656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200400" y="2962656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10.7%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2962656"/>
            <a:ext cx="8229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72000" y="2962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-1.5%p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785615"/>
            <a:ext cx="5029200" cy="2798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57200" y="3858768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BCE+AEC128+norm 성능 비교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4151376"/>
            <a:ext cx="46634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65760" y="4197096"/>
            <a:ext cx="109728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5760" y="419709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모델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508760" y="4197096"/>
            <a:ext cx="105156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508760" y="4197096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 AUC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6040" y="4197096"/>
            <a:ext cx="11430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606040" y="4197096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OM AUC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94760" y="4197096"/>
            <a:ext cx="123444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794760" y="4197096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489704"/>
            <a:ext cx="10972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65760" y="448970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(LR)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08760" y="4489704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508760" y="448970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0.8325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06040" y="4489704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2606040" y="4489704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0.8119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94760" y="4489704"/>
            <a:ext cx="123444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794760" y="4489704"/>
            <a:ext cx="12344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-0.021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4828032"/>
            <a:ext cx="1097280" cy="338328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6576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 (CA)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508760" y="4828032"/>
            <a:ext cx="1051560" cy="338328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508760" y="4828032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0.8868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06040" y="4828032"/>
            <a:ext cx="1143000" cy="338328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606040" y="4828032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0.8254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94760" y="4828032"/>
            <a:ext cx="1234440" cy="338328"/>
          </a:xfrm>
          <a:prstGeom prst="rect">
            <a:avLst/>
          </a:prstGeom>
          <a:solidFill>
            <a:srgbClr val="E8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794760" y="4828032"/>
            <a:ext cx="12344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-0.061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166360"/>
            <a:ext cx="10972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65760" y="51663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M2_2 (Neg)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508760" y="5166360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508760" y="5166360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0.8420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06040" y="5166360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2606040" y="5166360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0.8246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794760" y="5166360"/>
            <a:ext cx="12344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3794760" y="5166360"/>
            <a:ext cx="12344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-0.017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504688"/>
            <a:ext cx="1097280" cy="338328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365760" y="5504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M3 (CA3)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508760" y="5504688"/>
            <a:ext cx="1051560" cy="338328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508760" y="550468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0.8944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606040" y="5504688"/>
            <a:ext cx="1143000" cy="338328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2606040" y="5504688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0.8200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794760" y="5504688"/>
            <a:ext cx="1234440" cy="338328"/>
          </a:xfrm>
          <a:prstGeom prst="rect">
            <a:avLst/>
          </a:prstGeom>
          <a:solidFill>
            <a:srgbClr val="FFF3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3794760" y="5504688"/>
            <a:ext cx="123444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-0.074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486400" y="905256"/>
            <a:ext cx="6492240" cy="321868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486400" y="905256"/>
            <a:ext cx="109728" cy="3218688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715000" y="978408"/>
            <a:ext cx="6126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E87400"/>
                </a:solidFill>
                <a:latin typeface="맑은 고딕"/>
              </a:rPr>
              <a:t>주요 발견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15000" y="134416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전 모델에서 AUC 감소 (Δ –0.02~–0.07)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715000" y="1737360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Missing 환자는 더 어려운 케이스를 포함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715000" y="2130552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M1 vs M2/M3 DeLong: 전 조건 ns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715000" y="2523744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ok에서 유의했던 조건도 유의성 소실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15000" y="2916936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M2 vs M2_2 excl_extreme: 일관 ***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15000" y="331012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  → AEC 매칭 효과는 데이터셋 불문 강건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15000" y="3703320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• M2 vs M3: 전 조건 ns (ok와 동일)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86400" y="4215384"/>
            <a:ext cx="6492240" cy="2368296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5669280" y="4288536"/>
            <a:ext cx="6217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DeLong 요약  (norm 기준 / ok+missing)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69280" y="4581144"/>
            <a:ext cx="603504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577840" y="4626864"/>
            <a:ext cx="132588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577840" y="4626864"/>
            <a:ext cx="1325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비교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49440" y="4626864"/>
            <a:ext cx="10515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949440" y="4626864"/>
            <a:ext cx="1051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 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046720" y="4626864"/>
            <a:ext cx="114300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046720" y="4626864"/>
            <a:ext cx="1143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OM p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235440" y="4626864"/>
            <a:ext cx="10515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235440" y="4626864"/>
            <a:ext cx="1051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OK sig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0332720" y="4626864"/>
            <a:ext cx="1508760" cy="2560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10332720" y="4626864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OM sig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577840" y="4901184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5577840" y="4901184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vs M2 (BCE128)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49440" y="4901184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6949440" y="490118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p=0.071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046720" y="4901184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046720" y="4901184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p=0.578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235440" y="4901184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9235440" y="4901184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†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332720" y="4901184"/>
            <a:ext cx="15087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0332720" y="4901184"/>
            <a:ext cx="15087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77840" y="5239512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5577840" y="5239512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vs M3 (BCE128)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49440" y="5239512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949440" y="5239512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p=0.040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046720" y="5239512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8046720" y="5239512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p=0.773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235440" y="5239512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235440" y="5239512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*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332720" y="5239512"/>
            <a:ext cx="15087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0332720" y="5239512"/>
            <a:ext cx="15087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577840" y="5577840"/>
            <a:ext cx="13258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577840" y="5577840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M1 vs M2 (BCE256)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949440" y="5577840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6949440" y="5577840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p=0.013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046720" y="5577840"/>
            <a:ext cx="11430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8046720" y="5577840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p=0.492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9235440" y="5577840"/>
            <a:ext cx="10515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9235440" y="5577840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E8B4C"/>
                </a:solidFill>
                <a:latin typeface="맑은 고딕"/>
              </a:rPr>
              <a:t>*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332720" y="5577840"/>
            <a:ext cx="15087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10332720" y="5577840"/>
            <a:ext cx="15087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9EA3AB"/>
                </a:solidFill>
                <a:latin typeface="맑은 고딕"/>
              </a:rPr>
              <a:t>ns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577840" y="5916168"/>
            <a:ext cx="132588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5577840" y="5916168"/>
            <a:ext cx="13258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M2 vs M2_2(excl)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949440" y="5916168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949440" y="591616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&lt;0.001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046720" y="5916168"/>
            <a:ext cx="114300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8046720" y="5916168"/>
            <a:ext cx="11430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  <a:latin typeface="맑은 고딕"/>
              </a:rPr>
              <a:t>&lt;0.001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235440" y="5916168"/>
            <a:ext cx="10515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235440" y="5916168"/>
            <a:ext cx="10515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332720" y="5916168"/>
            <a:ext cx="1508760" cy="338328"/>
          </a:xfrm>
          <a:prstGeom prst="rect">
            <a:avLst/>
          </a:prstGeom>
          <a:solidFill>
            <a:srgbClr val="F0F4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10332720" y="5916168"/>
            <a:ext cx="15087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  <a:latin typeface="맑은 고딕"/>
              </a:rPr>
              <a:t>***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맑은 고딕"/>
              </a:rPr>
              <a:t>[OK+Miss] BCEWithLogitsLoss  +  AEC 128pt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39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539496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3721608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3739896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041648"/>
            <a:ext cx="5394960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813816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5312" y="832104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BCEWithLogitsLoss+AEC 128pt+norm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33856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2160" y="3813048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5312" y="3831335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BCEWithLogitsLoss+AEC 128pt+norm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133087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맑은 고딕"/>
              </a:rPr>
              <a:t>[OK+Miss] BCEWithLogitsLoss  +  AEC 256pt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40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539496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3721608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3739896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041648"/>
            <a:ext cx="5394960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813816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5312" y="832104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BCEWithLogitsLoss+AEC 256pt+norm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33856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2160" y="3813048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5312" y="3831335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BCEWithLogitsLoss+AEC 256pt+norm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133087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맑은 고딕"/>
              </a:rPr>
              <a:t>[OK+Miss] FocalLoss  +  AEC 128pt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41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539496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3721608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3739896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041648"/>
            <a:ext cx="5394960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813816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5312" y="832104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FocalLoss+AEC 128pt+norm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33856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2160" y="3813048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5312" y="3831335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FocalLoss+AEC 128pt+norm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133087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76809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96012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맑은 고딕"/>
              </a:rPr>
              <a:t>[OK+Miss] FocalLoss  +  AEC 256pt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37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EA3AB"/>
                </a:solidFill>
                <a:latin typeface="맑은 고딕"/>
              </a:rPr>
              <a:t>42 / 42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813816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832104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3856"/>
            <a:ext cx="539496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3721608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3739896"/>
            <a:ext cx="5303520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041648"/>
            <a:ext cx="5394960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813816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5312" y="832104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M2  FocalLoss+AEC 256pt+norm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33856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2160" y="3813048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5312" y="3831335"/>
            <a:ext cx="6016752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E87400"/>
                </a:solidFill>
                <a:latin typeface="맑은 고딕"/>
              </a:rPr>
              <a:t>※ Calibration — M3  FocalLoss+AEC 256pt+norm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133087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4929</Words>
  <Application>Microsoft Office PowerPoint</Application>
  <PresentationFormat>사용자 지정</PresentationFormat>
  <Paragraphs>881</Paragraphs>
  <Slides>42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전장훈</cp:lastModifiedBy>
  <cp:revision>2</cp:revision>
  <dcterms:created xsi:type="dcterms:W3CDTF">2013-01-27T09:14:16Z</dcterms:created>
  <dcterms:modified xsi:type="dcterms:W3CDTF">2026-05-22T02:32:31Z</dcterms:modified>
  <cp:category/>
</cp:coreProperties>
</file>