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2.png"/><Relationship Id="rId5" Type="http://schemas.openxmlformats.org/officeDocument/2006/relationships/image" Target="../media/image16.png"/><Relationship Id="rId6" Type="http://schemas.openxmlformats.org/officeDocument/2006/relationships/image" Target="../media/image12.png"/><Relationship Id="rId7" Type="http://schemas.openxmlformats.org/officeDocument/2006/relationships/image" Target="../media/image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Relationship Id="rId6" Type="http://schemas.openxmlformats.org/officeDocument/2006/relationships/image" Target="../media/image21.png"/><Relationship Id="rId7" Type="http://schemas.openxmlformats.org/officeDocument/2006/relationships/image" Target="../media/image2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image" Target="../media/image26.png"/><Relationship Id="rId6" Type="http://schemas.openxmlformats.org/officeDocument/2006/relationships/image" Target="../media/image27.png"/><Relationship Id="rId7" Type="http://schemas.openxmlformats.org/officeDocument/2006/relationships/image" Target="../media/image2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image" Target="../media/image32.png"/><Relationship Id="rId6" Type="http://schemas.openxmlformats.org/officeDocument/2006/relationships/image" Target="../media/image33.png"/><Relationship Id="rId7" Type="http://schemas.openxmlformats.org/officeDocument/2006/relationships/image" Target="../media/image3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35.png"/><Relationship Id="rId4" Type="http://schemas.openxmlformats.org/officeDocument/2006/relationships/image" Target="../media/image36.png"/><Relationship Id="rId5" Type="http://schemas.openxmlformats.org/officeDocument/2006/relationships/image" Target="../media/image37.png"/><Relationship Id="rId6" Type="http://schemas.openxmlformats.org/officeDocument/2006/relationships/image" Target="../media/image38.png"/><Relationship Id="rId7" Type="http://schemas.openxmlformats.org/officeDocument/2006/relationships/image" Target="../media/image3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0.png"/><Relationship Id="rId4" Type="http://schemas.openxmlformats.org/officeDocument/2006/relationships/image" Target="../media/image41.png"/><Relationship Id="rId5" Type="http://schemas.openxmlformats.org/officeDocument/2006/relationships/image" Target="../media/image42.png"/><Relationship Id="rId6" Type="http://schemas.openxmlformats.org/officeDocument/2006/relationships/image" Target="../media/image43.png"/><Relationship Id="rId7" Type="http://schemas.openxmlformats.org/officeDocument/2006/relationships/image" Target="../media/image4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Relationship Id="rId3" Type="http://schemas.openxmlformats.org/officeDocument/2006/relationships/image" Target="../media/image46.png"/><Relationship Id="rId4" Type="http://schemas.openxmlformats.org/officeDocument/2006/relationships/image" Target="../media/image47.png"/><Relationship Id="rId5" Type="http://schemas.openxmlformats.org/officeDocument/2006/relationships/image" Target="../media/image48.png"/><Relationship Id="rId6" Type="http://schemas.openxmlformats.org/officeDocument/2006/relationships/image" Target="../media/image49.png"/><Relationship Id="rId7" Type="http://schemas.openxmlformats.org/officeDocument/2006/relationships/image" Target="../media/image5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Relationship Id="rId3" Type="http://schemas.openxmlformats.org/officeDocument/2006/relationships/image" Target="../media/image52.png"/><Relationship Id="rId4" Type="http://schemas.openxmlformats.org/officeDocument/2006/relationships/image" Target="../media/image53.png"/><Relationship Id="rId5" Type="http://schemas.openxmlformats.org/officeDocument/2006/relationships/image" Target="../media/image54.png"/><Relationship Id="rId6" Type="http://schemas.openxmlformats.org/officeDocument/2006/relationships/image" Target="../media/image55.png"/><Relationship Id="rId7" Type="http://schemas.openxmlformats.org/officeDocument/2006/relationships/image" Target="../media/image5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Relationship Id="rId3" Type="http://schemas.openxmlformats.org/officeDocument/2006/relationships/image" Target="../media/image58.png"/><Relationship Id="rId4" Type="http://schemas.openxmlformats.org/officeDocument/2006/relationships/image" Target="../media/image59.png"/><Relationship Id="rId5" Type="http://schemas.openxmlformats.org/officeDocument/2006/relationships/image" Target="../media/image60.png"/><Relationship Id="rId6" Type="http://schemas.openxmlformats.org/officeDocument/2006/relationships/image" Target="../media/image61.png"/><Relationship Id="rId7" Type="http://schemas.openxmlformats.org/officeDocument/2006/relationships/image" Target="../media/image6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.png"/><Relationship Id="rId3" Type="http://schemas.openxmlformats.org/officeDocument/2006/relationships/image" Target="../media/image64.png"/><Relationship Id="rId4" Type="http://schemas.openxmlformats.org/officeDocument/2006/relationships/image" Target="../media/image65.png"/><Relationship Id="rId5" Type="http://schemas.openxmlformats.org/officeDocument/2006/relationships/image" Target="../media/image66.png"/><Relationship Id="rId6" Type="http://schemas.openxmlformats.org/officeDocument/2006/relationships/image" Target="../media/image67.png"/><Relationship Id="rId7" Type="http://schemas.openxmlformats.org/officeDocument/2006/relationships/image" Target="../media/image68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69.png"/><Relationship Id="rId4" Type="http://schemas.openxmlformats.org/officeDocument/2006/relationships/image" Target="../media/image70.png"/><Relationship Id="rId5" Type="http://schemas.openxmlformats.org/officeDocument/2006/relationships/image" Target="../media/image71.png"/><Relationship Id="rId6" Type="http://schemas.openxmlformats.org/officeDocument/2006/relationships/image" Target="../media/image72.png"/><Relationship Id="rId7" Type="http://schemas.openxmlformats.org/officeDocument/2006/relationships/image" Target="../media/image7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4.png"/><Relationship Id="rId3" Type="http://schemas.openxmlformats.org/officeDocument/2006/relationships/image" Target="../media/image75.png"/><Relationship Id="rId4" Type="http://schemas.openxmlformats.org/officeDocument/2006/relationships/image" Target="../media/image76.png"/><Relationship Id="rId5" Type="http://schemas.openxmlformats.org/officeDocument/2006/relationships/image" Target="../media/image77.png"/><Relationship Id="rId6" Type="http://schemas.openxmlformats.org/officeDocument/2006/relationships/image" Target="../media/image78.png"/><Relationship Id="rId7" Type="http://schemas.openxmlformats.org/officeDocument/2006/relationships/image" Target="../media/image79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0.png"/><Relationship Id="rId3" Type="http://schemas.openxmlformats.org/officeDocument/2006/relationships/image" Target="../media/image81.png"/><Relationship Id="rId4" Type="http://schemas.openxmlformats.org/officeDocument/2006/relationships/image" Target="../media/image82.png"/><Relationship Id="rId5" Type="http://schemas.openxmlformats.org/officeDocument/2006/relationships/image" Target="../media/image83.png"/><Relationship Id="rId6" Type="http://schemas.openxmlformats.org/officeDocument/2006/relationships/image" Target="../media/image84.png"/><Relationship Id="rId7" Type="http://schemas.openxmlformats.org/officeDocument/2006/relationships/image" Target="../media/image8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6.png"/><Relationship Id="rId3" Type="http://schemas.openxmlformats.org/officeDocument/2006/relationships/image" Target="../media/image87.png"/><Relationship Id="rId4" Type="http://schemas.openxmlformats.org/officeDocument/2006/relationships/image" Target="../media/image88.png"/><Relationship Id="rId5" Type="http://schemas.openxmlformats.org/officeDocument/2006/relationships/image" Target="../media/image89.png"/><Relationship Id="rId6" Type="http://schemas.openxmlformats.org/officeDocument/2006/relationships/image" Target="../media/image90.png"/><Relationship Id="rId7" Type="http://schemas.openxmlformats.org/officeDocument/2006/relationships/image" Target="../media/image9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2.png"/><Relationship Id="rId3" Type="http://schemas.openxmlformats.org/officeDocument/2006/relationships/image" Target="../media/image93.png"/><Relationship Id="rId4" Type="http://schemas.openxmlformats.org/officeDocument/2006/relationships/image" Target="../media/image94.png"/><Relationship Id="rId5" Type="http://schemas.openxmlformats.org/officeDocument/2006/relationships/image" Target="../media/image95.png"/><Relationship Id="rId6" Type="http://schemas.openxmlformats.org/officeDocument/2006/relationships/image" Target="../media/image96.png"/><Relationship Id="rId7" Type="http://schemas.openxmlformats.org/officeDocument/2006/relationships/image" Target="../media/image97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98.png"/><Relationship Id="rId4" Type="http://schemas.openxmlformats.org/officeDocument/2006/relationships/image" Target="../media/image99.png"/><Relationship Id="rId5" Type="http://schemas.openxmlformats.org/officeDocument/2006/relationships/image" Target="../media/image100.png"/><Relationship Id="rId6" Type="http://schemas.openxmlformats.org/officeDocument/2006/relationships/image" Target="../media/image101.png"/><Relationship Id="rId7" Type="http://schemas.openxmlformats.org/officeDocument/2006/relationships/image" Target="../media/image10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3.png"/><Relationship Id="rId3" Type="http://schemas.openxmlformats.org/officeDocument/2006/relationships/image" Target="../media/image104.png"/><Relationship Id="rId4" Type="http://schemas.openxmlformats.org/officeDocument/2006/relationships/image" Target="../media/image105.png"/><Relationship Id="rId5" Type="http://schemas.openxmlformats.org/officeDocument/2006/relationships/image" Target="../media/image106.png"/><Relationship Id="rId6" Type="http://schemas.openxmlformats.org/officeDocument/2006/relationships/image" Target="../media/image107.png"/><Relationship Id="rId7" Type="http://schemas.openxmlformats.org/officeDocument/2006/relationships/image" Target="../media/image108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9.png"/><Relationship Id="rId3" Type="http://schemas.openxmlformats.org/officeDocument/2006/relationships/image" Target="../media/image110.png"/><Relationship Id="rId4" Type="http://schemas.openxmlformats.org/officeDocument/2006/relationships/image" Target="../media/image111.png"/><Relationship Id="rId5" Type="http://schemas.openxmlformats.org/officeDocument/2006/relationships/image" Target="../media/image112.png"/><Relationship Id="rId6" Type="http://schemas.openxmlformats.org/officeDocument/2006/relationships/image" Target="../media/image113.png"/><Relationship Id="rId7" Type="http://schemas.openxmlformats.org/officeDocument/2006/relationships/image" Target="../media/image114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5.png"/><Relationship Id="rId3" Type="http://schemas.openxmlformats.org/officeDocument/2006/relationships/image" Target="../media/image116.png"/><Relationship Id="rId4" Type="http://schemas.openxmlformats.org/officeDocument/2006/relationships/image" Target="../media/image117.png"/><Relationship Id="rId5" Type="http://schemas.openxmlformats.org/officeDocument/2006/relationships/image" Target="../media/image118.png"/><Relationship Id="rId6" Type="http://schemas.openxmlformats.org/officeDocument/2006/relationships/image" Target="../media/image77.png"/><Relationship Id="rId7" Type="http://schemas.openxmlformats.org/officeDocument/2006/relationships/image" Target="../media/image119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0.png"/><Relationship Id="rId3" Type="http://schemas.openxmlformats.org/officeDocument/2006/relationships/image" Target="../media/image121.png"/><Relationship Id="rId4" Type="http://schemas.openxmlformats.org/officeDocument/2006/relationships/image" Target="../media/image122.png"/><Relationship Id="rId5" Type="http://schemas.openxmlformats.org/officeDocument/2006/relationships/image" Target="../media/image123.png"/><Relationship Id="rId6" Type="http://schemas.openxmlformats.org/officeDocument/2006/relationships/image" Target="../media/image124.png"/><Relationship Id="rId7" Type="http://schemas.openxmlformats.org/officeDocument/2006/relationships/image" Target="../media/image125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6.png"/><Relationship Id="rId3" Type="http://schemas.openxmlformats.org/officeDocument/2006/relationships/image" Target="../media/image127.png"/><Relationship Id="rId4" Type="http://schemas.openxmlformats.org/officeDocument/2006/relationships/image" Target="../media/image128.png"/><Relationship Id="rId5" Type="http://schemas.openxmlformats.org/officeDocument/2006/relationships/image" Target="../media/image129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0.png"/><Relationship Id="rId3" Type="http://schemas.openxmlformats.org/officeDocument/2006/relationships/image" Target="../media/image131.png"/><Relationship Id="rId4" Type="http://schemas.openxmlformats.org/officeDocument/2006/relationships/image" Target="../media/image132.png"/><Relationship Id="rId5" Type="http://schemas.openxmlformats.org/officeDocument/2006/relationships/image" Target="../media/image133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4.png"/><Relationship Id="rId3" Type="http://schemas.openxmlformats.org/officeDocument/2006/relationships/image" Target="../media/image135.png"/><Relationship Id="rId4" Type="http://schemas.openxmlformats.org/officeDocument/2006/relationships/image" Target="../media/image136.png"/><Relationship Id="rId5" Type="http://schemas.openxmlformats.org/officeDocument/2006/relationships/image" Target="../media/image137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8.png"/><Relationship Id="rId3" Type="http://schemas.openxmlformats.org/officeDocument/2006/relationships/image" Target="../media/image139.png"/><Relationship Id="rId4" Type="http://schemas.openxmlformats.org/officeDocument/2006/relationships/image" Target="../media/image140.png"/><Relationship Id="rId5" Type="http://schemas.openxmlformats.org/officeDocument/2006/relationships/image" Target="../media/image14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F6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0F9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10360152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맑은 고딕"/>
              </a:rPr>
              <a:t>AEC 신호 기반 근감소증 예측 모델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606040"/>
            <a:ext cx="1036015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0" i="0">
                <a:solidFill>
                  <a:srgbClr val="9EA3AB"/>
                </a:solidFill>
                <a:latin typeface="맑은 고딕"/>
              </a:rPr>
              <a:t>Cross-Attention 아키텍처와 DeLong Test를 통한 모델 간 성능 비교 분석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3337560"/>
            <a:ext cx="5788152" cy="36576"/>
          </a:xfrm>
          <a:prstGeom prst="rect">
            <a:avLst/>
          </a:prstGeom>
          <a:solidFill>
            <a:srgbClr val="0F9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657600"/>
            <a:ext cx="1036015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 i="0">
                <a:solidFill>
                  <a:srgbClr val="9EA3AB"/>
                </a:solidFill>
                <a:latin typeface="맑은 고딕"/>
              </a:rPr>
              <a:t>총 859명  |  5-Fold CV  |  Bootstrap 95% CI  |  DeLong AUC Test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160520"/>
            <a:ext cx="103601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0" i="0">
                <a:solidFill>
                  <a:srgbClr val="9EA3AB"/>
                </a:solidFill>
                <a:latin typeface="맑은 고딕"/>
              </a:rPr>
              <a:t>2026-05-22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05840" y="4846320"/>
            <a:ext cx="2377440" cy="777240"/>
          </a:xfrm>
          <a:prstGeom prst="rect">
            <a:avLst/>
          </a:prstGeom>
          <a:solidFill>
            <a:srgbClr val="0F6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910328"/>
            <a:ext cx="237744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</a:rPr>
              <a:t>Model 1  Clinic Only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66160" y="4846320"/>
            <a:ext cx="2377440" cy="777240"/>
          </a:xfrm>
          <a:prstGeom prst="rect">
            <a:avLst/>
          </a:prstGeom>
          <a:solidFill>
            <a:srgbClr val="0F9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66160" y="4910328"/>
            <a:ext cx="237744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</a:rPr>
              <a:t>Model 2  Clinic + AEC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79" y="4846320"/>
            <a:ext cx="2377440" cy="777240"/>
          </a:xfrm>
          <a:prstGeom prst="rect">
            <a:avLst/>
          </a:prstGeom>
          <a:solidFill>
            <a:srgbClr val="9EA3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26479" y="4910328"/>
            <a:ext cx="237744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</a:rPr>
              <a:t>Model 2_2  Neg. Control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799" y="4846320"/>
            <a:ext cx="2377440" cy="777240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799" y="4910328"/>
            <a:ext cx="237744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</a:rPr>
              <a:t>Model 3  Clinic+Scanner+AEC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47120" y="653796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9EA3AB"/>
                </a:solidFill>
                <a:latin typeface="맑은 고딕"/>
              </a:rPr>
              <a:t>1 / 42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058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500" b="1" i="0">
                <a:solidFill>
                  <a:srgbClr val="FFFFFF"/>
                </a:solidFill>
                <a:latin typeface="맑은 고딕"/>
              </a:rPr>
              <a:t>연구 배경 및 목적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0058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9EA3AB"/>
                </a:solidFill>
                <a:latin typeface="맑은 고딕"/>
              </a:rPr>
              <a:t>AEC 신호의 진단적 가치 탐색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5394960" cy="516636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 i="0">
                <a:solidFill>
                  <a:srgbClr val="1A1A2E"/>
                </a:solidFill>
                <a:latin typeface="맑은 고딕"/>
              </a:rPr>
              <a:t>연구 배경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527048"/>
            <a:ext cx="5029200" cy="36576"/>
          </a:xfrm>
          <a:prstGeom prst="rect">
            <a:avLst/>
          </a:prstGeom>
          <a:solidFill>
            <a:srgbClr val="0F6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618488"/>
            <a:ext cx="5120640" cy="7498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50" b="0" i="0">
                <a:solidFill>
                  <a:srgbClr val="1A1A2E"/>
                </a:solidFill>
                <a:latin typeface="맑은 고딕"/>
              </a:rPr>
              <a:t>• 근감소증(Sarcopenia): SMI 기반 이진 분류 — 노인 허약·사망률과 직결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441448"/>
            <a:ext cx="5120640" cy="7498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50" b="0" i="0">
                <a:solidFill>
                  <a:srgbClr val="1A1A2E"/>
                </a:solidFill>
                <a:latin typeface="맑은 고딕"/>
              </a:rPr>
              <a:t>• 기존 진단: CT 판독 + 영상의학과 전문의 수동 분석 → 시간·비용 소모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264408"/>
            <a:ext cx="5120640" cy="7498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50" b="0" i="0">
                <a:solidFill>
                  <a:srgbClr val="1A1A2E"/>
                </a:solidFill>
                <a:latin typeface="맑은 고딕"/>
              </a:rPr>
              <a:t>• AEC(자동노출제어): CT 스캔 시 자동 수집, 체형·조직 구성 간접 반영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087368"/>
            <a:ext cx="5120640" cy="7498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50" b="0" i="0">
                <a:solidFill>
                  <a:srgbClr val="1A1A2E"/>
                </a:solidFill>
                <a:latin typeface="맑은 고딕"/>
              </a:rPr>
              <a:t>• 추가 검사 없이 기존 CT 장비에서 수집 가능한 Zero-cost 부가 신호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910328"/>
            <a:ext cx="5120640" cy="7498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50" b="0" i="0">
                <a:solidFill>
                  <a:srgbClr val="1A1A2E"/>
                </a:solidFill>
                <a:latin typeface="맑은 고딕"/>
              </a:rPr>
              <a:t>• 핵심 질문: AEC가 Clinic 변수 대비 얼마나 예측력을 개선하는가?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0" y="1097280"/>
            <a:ext cx="5943600" cy="516636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0" y="1188720"/>
            <a:ext cx="5577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 i="0">
                <a:solidFill>
                  <a:srgbClr val="1A1A2E"/>
                </a:solidFill>
                <a:latin typeface="맑은 고딕"/>
              </a:rPr>
              <a:t>비교 연구 목적 (DeLong Test 기반)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1527048"/>
            <a:ext cx="5577840" cy="36576"/>
          </a:xfrm>
          <a:prstGeom prst="rect">
            <a:avLst/>
          </a:prstGeom>
          <a:solidFill>
            <a:srgbClr val="0F9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035040" y="1618488"/>
            <a:ext cx="73152" cy="960120"/>
          </a:xfrm>
          <a:prstGeom prst="rect">
            <a:avLst/>
          </a:prstGeom>
          <a:solidFill>
            <a:srgbClr val="0F6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72200" y="1636776"/>
            <a:ext cx="5577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0F6BBF"/>
                </a:solidFill>
                <a:latin typeface="맑은 고딕"/>
              </a:rPr>
              <a:t>① M1 vs M2: AEC 신호가 기여하는가?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72200" y="1956816"/>
            <a:ext cx="55778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맑은 고딕"/>
              </a:rPr>
              <a:t>Clinic(LR) vs Clinic+AEC(CrossAttn)
→ DeLong AUC 비교로 통계 검증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35040" y="2761488"/>
            <a:ext cx="73152" cy="960120"/>
          </a:xfrm>
          <a:prstGeom prst="rect">
            <a:avLst/>
          </a:prstGeom>
          <a:solidFill>
            <a:srgbClr val="0F9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72200" y="2779776"/>
            <a:ext cx="5577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0F9B8A"/>
                </a:solidFill>
                <a:latin typeface="맑은 고딕"/>
              </a:rPr>
              <a:t>② M1 vs M3: Scanner+AEC 조합 효과?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2200" y="3099816"/>
            <a:ext cx="55778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맑은 고딕"/>
              </a:rPr>
              <a:t>Clinic(LR) vs Clinic+Scanner+AEC(CrossAttn3)
→ DeLong AUC 비교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35040" y="3904487"/>
            <a:ext cx="73152" cy="960120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72200" y="3922776"/>
            <a:ext cx="5577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E87400"/>
                </a:solidFill>
                <a:latin typeface="맑은 고딕"/>
              </a:rPr>
              <a:t>③ M2 vs M3: Scanner 순증가 효과?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72200" y="4242816"/>
            <a:ext cx="55778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맑은 고딕"/>
              </a:rPr>
              <a:t>CrossAttn vs CrossAttn3 (동일 test set)
→ 통계적 유의차 여부 확인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35040" y="5047488"/>
            <a:ext cx="73152" cy="960120"/>
          </a:xfrm>
          <a:prstGeom prst="rect">
            <a:avLst/>
          </a:prstGeom>
          <a:solidFill>
            <a:srgbClr val="1E8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72200" y="5065776"/>
            <a:ext cx="5577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1E8B4C"/>
                </a:solidFill>
                <a:latin typeface="맑은 고딕"/>
              </a:rPr>
              <a:t>④ M2 vs M2_2: 매칭이 실질적 기여?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72200" y="5385816"/>
            <a:ext cx="55778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맑은 고딕"/>
              </a:rPr>
              <a:t>Matched vs Unmatched (음성 대조군)
→ AEC 개인 대응의 필요성 검증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47120" y="653796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9EA3AB"/>
                </a:solidFill>
                <a:latin typeface="맑은 고딕"/>
              </a:rPr>
              <a:t>2 / 42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058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500" b="1" i="0">
                <a:solidFill>
                  <a:srgbClr val="FFFFFF"/>
                </a:solidFill>
                <a:latin typeface="맑은 고딕"/>
              </a:rPr>
              <a:t>데이터셋 및 실험 설계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0058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9EA3AB"/>
                </a:solidFill>
                <a:latin typeface="맑은 고딕"/>
              </a:rPr>
              <a:t>859명 단일 기관 후향적 코호트 / 5-Fold Stratified CV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5394960" cy="557784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70432"/>
            <a:ext cx="5029200" cy="301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 i="0">
                <a:solidFill>
                  <a:srgbClr val="1A1A2E"/>
                </a:solidFill>
                <a:latin typeface="맑은 고딕"/>
              </a:rPr>
              <a:t>데이터셋 구성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90472"/>
            <a:ext cx="5029200" cy="36576"/>
          </a:xfrm>
          <a:prstGeom prst="rect">
            <a:avLst/>
          </a:prstGeom>
          <a:solidFill>
            <a:srgbClr val="0F6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536192"/>
            <a:ext cx="960120" cy="2743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536192"/>
            <a:ext cx="960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</a:rPr>
              <a:t>구분</a:t>
            </a:r>
          </a:p>
        </p:txBody>
      </p:sp>
      <p:sp>
        <p:nvSpPr>
          <p:cNvPr id="10" name="Rectangle 9"/>
          <p:cNvSpPr/>
          <p:nvPr/>
        </p:nvSpPr>
        <p:spPr>
          <a:xfrm>
            <a:off x="1463040" y="1536192"/>
            <a:ext cx="1325880" cy="2743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63040" y="1536192"/>
            <a:ext cx="13258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</a:rPr>
              <a:t>남성(M)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34640" y="1536192"/>
            <a:ext cx="1325880" cy="2743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34640" y="1536192"/>
            <a:ext cx="13258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</a:rPr>
              <a:t>여성(F)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06240" y="1536192"/>
            <a:ext cx="1371600" cy="2743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06240" y="1536192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</a:rPr>
              <a:t>합계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1828800"/>
            <a:ext cx="96012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1828800"/>
            <a:ext cx="96012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Train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463040" y="1828800"/>
            <a:ext cx="132588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63040" y="1828800"/>
            <a:ext cx="13258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285 (Sarco 15.4%)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834640" y="1828800"/>
            <a:ext cx="132588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834640" y="1828800"/>
            <a:ext cx="13258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402 (Sarco 9.5%)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06240" y="1828800"/>
            <a:ext cx="137160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06240" y="1828800"/>
            <a:ext cx="137160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687 (Sarco 11.9%)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2167128"/>
            <a:ext cx="960120" cy="338328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2167128"/>
            <a:ext cx="96012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Test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463040" y="2167128"/>
            <a:ext cx="1325880" cy="338328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63040" y="2167128"/>
            <a:ext cx="13258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71  (Sarco 15.5%)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834640" y="2167128"/>
            <a:ext cx="1325880" cy="338328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834640" y="2167128"/>
            <a:ext cx="13258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101 (Sarco 9.9%)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206240" y="2167128"/>
            <a:ext cx="1371600" cy="338328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206240" y="2167128"/>
            <a:ext cx="137160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172 (Sarco 12.2%)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2523744"/>
            <a:ext cx="5029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9EA3AB"/>
                </a:solidFill>
                <a:latin typeface="맑은 고딕"/>
              </a:rPr>
              <a:t>연령: 57.6±12.1세  |  BMI: 23.6±3.3 kg/m²  |  Train:Test = 8:2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2907792"/>
            <a:ext cx="5029200" cy="301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 i="0">
                <a:solidFill>
                  <a:srgbClr val="1A1A2E"/>
                </a:solidFill>
                <a:latin typeface="맑은 고딕"/>
              </a:rPr>
              <a:t>AEC 전처리 조건 (5종)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3227832"/>
            <a:ext cx="5029200" cy="36576"/>
          </a:xfrm>
          <a:prstGeom prst="rect">
            <a:avLst/>
          </a:prstGeom>
          <a:solidFill>
            <a:srgbClr val="0F9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7200" y="3310128"/>
            <a:ext cx="15544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0F6BBF"/>
                </a:solidFill>
                <a:latin typeface="맑은 고딕"/>
              </a:rPr>
              <a:t>norm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011680" y="3310128"/>
            <a:ext cx="35661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맑은 고딕"/>
              </a:rPr>
              <a:t>원본 AEC 시퀀스 min-max 정규화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3675888"/>
            <a:ext cx="15544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0F6BBF"/>
                </a:solidFill>
                <a:latin typeface="맑은 고딕"/>
              </a:rPr>
              <a:t>crop80/60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011680" y="3675888"/>
            <a:ext cx="35661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맑은 고딕"/>
              </a:rPr>
              <a:t>중앙 80% / 60% 구간만 사용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4041648"/>
            <a:ext cx="15544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0F6BBF"/>
                </a:solidFill>
                <a:latin typeface="맑은 고딕"/>
              </a:rPr>
              <a:t>len128/256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011680" y="4041648"/>
            <a:ext cx="35661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맑은 고딕"/>
              </a:rPr>
              <a:t>시퀀스 길이를 128 / 256으로 리샘플링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" y="4407408"/>
            <a:ext cx="15544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0F6BBF"/>
                </a:solidFill>
                <a:latin typeface="맑은 고딕"/>
              </a:rPr>
              <a:t>excl_extreme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011680" y="4407408"/>
            <a:ext cx="35661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맑은 고딕"/>
              </a:rPr>
              <a:t>상하위 1% 이상치 제거 후 정규화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809744"/>
            <a:ext cx="5029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9EA3AB"/>
                </a:solidFill>
                <a:latin typeface="맑은 고딕"/>
              </a:rPr>
              <a:t>✕  BCE / Focal Loss  ×  AEC 128pt / 256pt  =  4 시나리오 × 5조건 = 20조건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943600" y="1097280"/>
            <a:ext cx="5394960" cy="283464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126480" y="1170432"/>
            <a:ext cx="5029200" cy="301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 i="0">
                <a:solidFill>
                  <a:srgbClr val="1A1A2E"/>
                </a:solidFill>
                <a:latin typeface="맑은 고딕"/>
              </a:rPr>
              <a:t>모델 구성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126480" y="1490472"/>
            <a:ext cx="5029200" cy="36576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035040" y="1572768"/>
            <a:ext cx="73152" cy="749808"/>
          </a:xfrm>
          <a:prstGeom prst="rect">
            <a:avLst/>
          </a:prstGeom>
          <a:solidFill>
            <a:srgbClr val="0F6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172200" y="1591056"/>
            <a:ext cx="4937760" cy="301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0F6BBF"/>
                </a:solidFill>
                <a:latin typeface="맑은 고딕"/>
              </a:rPr>
              <a:t>Model 1 — Baseline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172200" y="1892807"/>
            <a:ext cx="4937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맑은 고딕"/>
              </a:rPr>
              <a:t>Age, Sex, BMI → Logistic Regression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035040" y="2487168"/>
            <a:ext cx="73152" cy="749808"/>
          </a:xfrm>
          <a:prstGeom prst="rect">
            <a:avLst/>
          </a:prstGeom>
          <a:solidFill>
            <a:srgbClr val="0F9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172200" y="2505456"/>
            <a:ext cx="4937760" cy="301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0F9B8A"/>
                </a:solidFill>
                <a:latin typeface="맑은 고딕"/>
              </a:rPr>
              <a:t>Model 2 — AEC Matched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172200" y="2807208"/>
            <a:ext cx="4937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맑은 고딕"/>
              </a:rPr>
              <a:t>Clinic + AEC(동일환자) → CrossAttention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035040" y="3401568"/>
            <a:ext cx="73152" cy="749808"/>
          </a:xfrm>
          <a:prstGeom prst="rect">
            <a:avLst/>
          </a:prstGeom>
          <a:solidFill>
            <a:srgbClr val="9EA3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172200" y="3419856"/>
            <a:ext cx="4937760" cy="301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9EA3AB"/>
                </a:solidFill>
                <a:latin typeface="맑은 고딕"/>
              </a:rPr>
              <a:t>Model 2_2 — AEC Unmatched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172200" y="3721608"/>
            <a:ext cx="4937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맑은 고딕"/>
              </a:rPr>
              <a:t>Clinic + AEC(다른환자) → 음성 대조군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035040" y="4315968"/>
            <a:ext cx="73152" cy="749808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172200" y="4334256"/>
            <a:ext cx="4937760" cy="301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E87400"/>
                </a:solidFill>
                <a:latin typeface="맑은 고딕"/>
              </a:rPr>
              <a:t>Model 3 — Scanner+AEC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172200" y="4636008"/>
            <a:ext cx="4937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맑은 고딕"/>
              </a:rPr>
              <a:t>Clinic + MFR + AEC → CrossAttention3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852160" y="4069080"/>
            <a:ext cx="6217920" cy="2468880"/>
          </a:xfrm>
          <a:prstGeom prst="rect">
            <a:avLst/>
          </a:prstGeom>
          <a:solidFill>
            <a:srgbClr val="F0F4F8"/>
          </a:solidFill>
          <a:ln w="6350">
            <a:solidFill>
              <a:srgbClr val="9EA3A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916168" y="4133088"/>
            <a:ext cx="6089904" cy="23408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9EA3AB"/>
                </a:solidFill>
                <a:latin typeface="맑은 고딕"/>
              </a:rPr>
              <a:t>[파일 없음]
data_distribution.png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852160" y="4005072"/>
            <a:ext cx="62179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1A1A2E"/>
                </a:solidFill>
                <a:latin typeface="맑은 고딕"/>
              </a:rPr>
              <a:t>데이터 분포 (Train / Test / Sex / Sarcopenia)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247120" y="653796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9EA3AB"/>
                </a:solidFill>
                <a:latin typeface="맑은 고딕"/>
              </a:rPr>
              <a:t>3 / 42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058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500" b="1" i="0">
                <a:solidFill>
                  <a:srgbClr val="FFFFFF"/>
                </a:solidFill>
                <a:latin typeface="맑은 고딕"/>
              </a:rPr>
              <a:t>통계 분석 방법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0058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9EA3AB"/>
                </a:solidFill>
                <a:latin typeface="맑은 고딕"/>
              </a:rPr>
              <a:t>모델 비교를 위한 3단계 검증 체계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3794760" cy="4846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097280"/>
            <a:ext cx="3794760" cy="457200"/>
          </a:xfrm>
          <a:prstGeom prst="rect">
            <a:avLst/>
          </a:prstGeom>
          <a:solidFill>
            <a:srgbClr val="0F6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124712"/>
            <a:ext cx="3611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맑은 고딕"/>
              </a:rPr>
              <a:t>① DeLong AUC Test  (Test Set)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691640"/>
            <a:ext cx="3566160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맑은 고딕"/>
              </a:rPr>
              <a:t>  동일 Test set 두 모델의 AUROC 직접 비교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121408"/>
            <a:ext cx="3566160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맑은 고딕"/>
              </a:rPr>
              <a:t>  DeLong et al. (1988) — 쌍별 공분산 구조 활용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551176"/>
            <a:ext cx="3566160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맑은 고딕"/>
              </a:rPr>
              <a:t>  H₀: AUROC_A = AUROC_B  →  z-통계량 기반 검정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980944"/>
            <a:ext cx="3566160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맑은 고딕"/>
              </a:rPr>
              <a:t>  excl_extreme 조건: test set 크기 불일치로 M1 비교 제외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51959" y="1097280"/>
            <a:ext cx="3794760" cy="4846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51959" y="1097280"/>
            <a:ext cx="3794760" cy="457200"/>
          </a:xfrm>
          <a:prstGeom prst="rect">
            <a:avLst/>
          </a:prstGeom>
          <a:solidFill>
            <a:srgbClr val="0F9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43400" y="1124712"/>
            <a:ext cx="3611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맑은 고딕"/>
              </a:rPr>
              <a:t>② Bootstrap 95% CI  (Test Set)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43400" y="1691640"/>
            <a:ext cx="3566160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맑은 고딕"/>
              </a:rPr>
              <a:t>  n_boot = 2,000회 복원 추출 기반 신뢰구간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43400" y="2121408"/>
            <a:ext cx="3566160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맑은 고딕"/>
              </a:rPr>
              <a:t>  2.5th–97.5th percentile 구간 보고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43400" y="2551176"/>
            <a:ext cx="3566160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맑은 고딕"/>
              </a:rPr>
              <a:t>  AUROC / AUPRC / Brier / Accuracy / F1 전 지표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43400" y="2980944"/>
            <a:ext cx="3566160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맑은 고딕"/>
              </a:rPr>
              <a:t>  단일 추정치의 불확실성 정량화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0" y="1097280"/>
            <a:ext cx="3794760" cy="4846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29600" y="1097280"/>
            <a:ext cx="3794760" cy="457200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21040" y="1124712"/>
            <a:ext cx="3611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맑은 고딕"/>
              </a:rPr>
              <a:t>③ Fold-level Paired Tests  (CV)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1691640"/>
            <a:ext cx="3566160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맑은 고딕"/>
              </a:rPr>
              <a:t>  5-Fold 교차검증 값에 대한 쌍별 검정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21040" y="2121408"/>
            <a:ext cx="3566160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맑은 고딕"/>
              </a:rPr>
              <a:t>  Paired t-test + Wilcoxon signed-rank (n=5)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2551176"/>
            <a:ext cx="3566160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맑은 고딕"/>
              </a:rPr>
              <a:t>  두 검정 모두 보고 (p-value 쌍 제시)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1040" y="2980944"/>
            <a:ext cx="3566160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맑은 고딕"/>
              </a:rPr>
              <a:t>  M1↔M2/M3: train set 차이 주의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6016752"/>
            <a:ext cx="11612880" cy="475488"/>
          </a:xfrm>
          <a:prstGeom prst="rect">
            <a:avLst/>
          </a:prstGeom>
          <a:solidFill>
            <a:srgbClr val="EE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6044184"/>
            <a:ext cx="112471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 i="0">
                <a:solidFill>
                  <a:srgbClr val="1A1A2E"/>
                </a:solidFill>
                <a:latin typeface="맑은 고딕"/>
              </a:rPr>
              <a:t>유의수준:  *** p&lt;0.001   ** p&lt;0.01   * p&lt;0.05   † p&lt;0.10   ns p≥0.10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47120" y="653796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9EA3AB"/>
                </a:solidFill>
                <a:latin typeface="맑은 고딕"/>
              </a:rPr>
              <a:t>4 / 42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058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500" b="1" i="0">
                <a:solidFill>
                  <a:srgbClr val="FFFFFF"/>
                </a:solidFill>
                <a:latin typeface="맑은 고딕"/>
              </a:rPr>
              <a:t>전체 모델 성능 비교 개요  (BCE + AEC 128pt + norm)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0058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9EA3AB"/>
                </a:solidFill>
                <a:latin typeface="맑은 고딕"/>
              </a:rPr>
              <a:t>M1 → M2 → M3 순차 비교  |  Bootstrap 95% CI  |  Brier → Calibration 참조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1417320" cy="292608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097280"/>
            <a:ext cx="14173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</a:rPr>
              <a:t>모델</a:t>
            </a:r>
          </a:p>
        </p:txBody>
      </p:sp>
      <p:sp>
        <p:nvSpPr>
          <p:cNvPr id="7" name="Rectangle 6"/>
          <p:cNvSpPr/>
          <p:nvPr/>
        </p:nvSpPr>
        <p:spPr>
          <a:xfrm>
            <a:off x="1737360" y="1097280"/>
            <a:ext cx="1005840" cy="292608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37360" y="1097280"/>
            <a:ext cx="10058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</a:rPr>
              <a:t>AUC</a:t>
            </a:r>
          </a:p>
        </p:txBody>
      </p:sp>
      <p:sp>
        <p:nvSpPr>
          <p:cNvPr id="9" name="Rectangle 8"/>
          <p:cNvSpPr/>
          <p:nvPr/>
        </p:nvSpPr>
        <p:spPr>
          <a:xfrm>
            <a:off x="2788920" y="1097280"/>
            <a:ext cx="1371600" cy="292608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88920" y="1097280"/>
            <a:ext cx="1371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</a:rPr>
              <a:t>95% CI AUC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06240" y="1097280"/>
            <a:ext cx="1005840" cy="292608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06240" y="1097280"/>
            <a:ext cx="10058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</a:rPr>
              <a:t>AUPRC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257800" y="1097280"/>
            <a:ext cx="960120" cy="292608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57800" y="1097280"/>
            <a:ext cx="9601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</a:rPr>
              <a:t>Brier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1097280"/>
            <a:ext cx="960120" cy="292608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097280"/>
            <a:ext cx="9601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</a:rPr>
              <a:t>F1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69480" y="1097280"/>
            <a:ext cx="1508760" cy="292608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69480" y="1097280"/>
            <a:ext cx="15087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</a:rPr>
              <a:t>vs M1 Δ AUC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823960" y="1097280"/>
            <a:ext cx="1508760" cy="292608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23960" y="1097280"/>
            <a:ext cx="15087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</a:rPr>
              <a:t>vs M1 DeLong 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378440" y="1097280"/>
            <a:ext cx="1691640" cy="292608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378440" y="1097280"/>
            <a:ext cx="16916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</a:rPr>
              <a:t>비고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1408176"/>
            <a:ext cx="1417320" cy="365760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4320" y="1408176"/>
            <a:ext cx="1417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M1 (LR)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737360" y="1408176"/>
            <a:ext cx="1005840" cy="365760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737360" y="1408176"/>
            <a:ext cx="1005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0.8325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88920" y="1408176"/>
            <a:ext cx="1371600" cy="365760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788920" y="1408176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[0.739, 0.909]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206240" y="1408176"/>
            <a:ext cx="1005840" cy="365760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206240" y="1408176"/>
            <a:ext cx="1005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0.5008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257800" y="1408176"/>
            <a:ext cx="960120" cy="365760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257800" y="1408176"/>
            <a:ext cx="960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0.1804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63640" y="1408176"/>
            <a:ext cx="960120" cy="365760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63640" y="1408176"/>
            <a:ext cx="960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0.3953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269480" y="1408176"/>
            <a:ext cx="1508760" cy="365760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269480" y="1408176"/>
            <a:ext cx="1508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0F6BBF"/>
                </a:solidFill>
                <a:latin typeface="맑은 고딕"/>
              </a:rPr>
              <a:t>—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823960" y="1408176"/>
            <a:ext cx="1508760" cy="365760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823960" y="1408176"/>
            <a:ext cx="1508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9EA3AB"/>
                </a:solidFill>
                <a:latin typeface="맑은 고딕"/>
              </a:rPr>
              <a:t>기준선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378440" y="1408176"/>
            <a:ext cx="1691640" cy="365760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378440" y="1408176"/>
            <a:ext cx="1691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9EA3AB"/>
                </a:solidFill>
                <a:latin typeface="맑은 고딕"/>
              </a:rPr>
              <a:t>Clinic Only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74320" y="1773936"/>
            <a:ext cx="1417320" cy="365760"/>
          </a:xfrm>
          <a:prstGeom prst="rect">
            <a:avLst/>
          </a:prstGeom>
          <a:solidFill>
            <a:srgbClr val="E8F4E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74320" y="1773936"/>
            <a:ext cx="1417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1A1A2E"/>
                </a:solidFill>
                <a:latin typeface="맑은 고딕"/>
              </a:rPr>
              <a:t>M2 (CrossAttn)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737360" y="1773936"/>
            <a:ext cx="1005840" cy="365760"/>
          </a:xfrm>
          <a:prstGeom prst="rect">
            <a:avLst/>
          </a:prstGeom>
          <a:solidFill>
            <a:srgbClr val="E8F4E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737360" y="1773936"/>
            <a:ext cx="1005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1A1A2E"/>
                </a:solidFill>
                <a:latin typeface="맑은 고딕"/>
              </a:rPr>
              <a:t>0.8868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788920" y="1773936"/>
            <a:ext cx="1371600" cy="365760"/>
          </a:xfrm>
          <a:prstGeom prst="rect">
            <a:avLst/>
          </a:prstGeom>
          <a:solidFill>
            <a:srgbClr val="E8F4E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788920" y="1773936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1A1A2E"/>
                </a:solidFill>
                <a:latin typeface="맑은 고딕"/>
              </a:rPr>
              <a:t>[0.810, 0.949]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206240" y="1773936"/>
            <a:ext cx="1005840" cy="365760"/>
          </a:xfrm>
          <a:prstGeom prst="rect">
            <a:avLst/>
          </a:prstGeom>
          <a:solidFill>
            <a:srgbClr val="E8F4E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206240" y="1773936"/>
            <a:ext cx="1005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1A1A2E"/>
                </a:solidFill>
                <a:latin typeface="맑은 고딕"/>
              </a:rPr>
              <a:t>0.5551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257800" y="1773936"/>
            <a:ext cx="960120" cy="365760"/>
          </a:xfrm>
          <a:prstGeom prst="rect">
            <a:avLst/>
          </a:prstGeom>
          <a:solidFill>
            <a:srgbClr val="E8F4E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257800" y="1773936"/>
            <a:ext cx="960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1A1A2E"/>
                </a:solidFill>
                <a:latin typeface="맑은 고딕"/>
              </a:rPr>
              <a:t>0.2124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263640" y="1773936"/>
            <a:ext cx="960120" cy="365760"/>
          </a:xfrm>
          <a:prstGeom prst="rect">
            <a:avLst/>
          </a:prstGeom>
          <a:solidFill>
            <a:srgbClr val="E8F4E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263640" y="1773936"/>
            <a:ext cx="960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1A1A2E"/>
                </a:solidFill>
                <a:latin typeface="맑은 고딕"/>
              </a:rPr>
              <a:t>0.4444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269480" y="1773936"/>
            <a:ext cx="1508760" cy="365760"/>
          </a:xfrm>
          <a:prstGeom prst="rect">
            <a:avLst/>
          </a:prstGeom>
          <a:solidFill>
            <a:srgbClr val="E8F4E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269480" y="1773936"/>
            <a:ext cx="1508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0F6BBF"/>
                </a:solidFill>
                <a:latin typeface="맑은 고딕"/>
              </a:rPr>
              <a:t>+0.054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823960" y="1773936"/>
            <a:ext cx="1508760" cy="365760"/>
          </a:xfrm>
          <a:prstGeom prst="rect">
            <a:avLst/>
          </a:prstGeom>
          <a:solidFill>
            <a:srgbClr val="E8F4E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823960" y="1773936"/>
            <a:ext cx="1508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1E8B4C"/>
                </a:solidFill>
                <a:latin typeface="맑은 고딕"/>
              </a:rPr>
              <a:t>p=0.071 †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0378440" y="1773936"/>
            <a:ext cx="1691640" cy="365760"/>
          </a:xfrm>
          <a:prstGeom prst="rect">
            <a:avLst/>
          </a:prstGeom>
          <a:solidFill>
            <a:srgbClr val="E8F4E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0378440" y="1773936"/>
            <a:ext cx="1691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9EA3AB"/>
                </a:solidFill>
                <a:latin typeface="맑은 고딕"/>
              </a:rPr>
              <a:t>Clinic+AEC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74320" y="2139696"/>
            <a:ext cx="1417320" cy="36576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74320" y="2139696"/>
            <a:ext cx="1417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M2_2 (Neg.Ctrl)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737360" y="2139696"/>
            <a:ext cx="1005840" cy="36576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737360" y="2139696"/>
            <a:ext cx="1005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0.8420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788920" y="2139696"/>
            <a:ext cx="1371600" cy="36576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788920" y="2139696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[0.750, 0.919]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206240" y="2139696"/>
            <a:ext cx="1005840" cy="36576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206240" y="2139696"/>
            <a:ext cx="1005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0.5177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257800" y="2139696"/>
            <a:ext cx="960120" cy="36576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257800" y="2139696"/>
            <a:ext cx="960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0.1964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263640" y="2139696"/>
            <a:ext cx="960120" cy="36576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263640" y="2139696"/>
            <a:ext cx="960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0.3619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269480" y="2139696"/>
            <a:ext cx="1508760" cy="36576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269480" y="2139696"/>
            <a:ext cx="1508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0F6BBF"/>
                </a:solidFill>
                <a:latin typeface="맑은 고딕"/>
              </a:rPr>
              <a:t>+0.010</a:t>
            </a:r>
          </a:p>
        </p:txBody>
      </p:sp>
      <p:sp>
        <p:nvSpPr>
          <p:cNvPr id="73" name="Rectangle 72"/>
          <p:cNvSpPr/>
          <p:nvPr/>
        </p:nvSpPr>
        <p:spPr>
          <a:xfrm>
            <a:off x="8823960" y="2139696"/>
            <a:ext cx="1508760" cy="36576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8823960" y="2139696"/>
            <a:ext cx="1508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9EA3AB"/>
                </a:solidFill>
                <a:latin typeface="맑은 고딕"/>
              </a:rPr>
              <a:t>(neg ctrl)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0378440" y="2139696"/>
            <a:ext cx="1691640" cy="36576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10378440" y="2139696"/>
            <a:ext cx="1691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9EA3AB"/>
                </a:solidFill>
                <a:latin typeface="맑은 고딕"/>
              </a:rPr>
              <a:t>Unmatched</a:t>
            </a:r>
          </a:p>
        </p:txBody>
      </p:sp>
      <p:sp>
        <p:nvSpPr>
          <p:cNvPr id="77" name="Rectangle 76"/>
          <p:cNvSpPr/>
          <p:nvPr/>
        </p:nvSpPr>
        <p:spPr>
          <a:xfrm>
            <a:off x="274320" y="2505456"/>
            <a:ext cx="1417320" cy="365760"/>
          </a:xfrm>
          <a:prstGeom prst="rect">
            <a:avLst/>
          </a:prstGeom>
          <a:solidFill>
            <a:srgbClr val="FFF3E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274320" y="2505456"/>
            <a:ext cx="1417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1A1A2E"/>
                </a:solidFill>
                <a:latin typeface="맑은 고딕"/>
              </a:rPr>
              <a:t>M3 (CrossAttn3)</a:t>
            </a:r>
          </a:p>
        </p:txBody>
      </p:sp>
      <p:sp>
        <p:nvSpPr>
          <p:cNvPr id="79" name="Rectangle 78"/>
          <p:cNvSpPr/>
          <p:nvPr/>
        </p:nvSpPr>
        <p:spPr>
          <a:xfrm>
            <a:off x="1737360" y="2505456"/>
            <a:ext cx="1005840" cy="365760"/>
          </a:xfrm>
          <a:prstGeom prst="rect">
            <a:avLst/>
          </a:prstGeom>
          <a:solidFill>
            <a:srgbClr val="FFF3E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1737360" y="2505456"/>
            <a:ext cx="1005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1A1A2E"/>
                </a:solidFill>
                <a:latin typeface="맑은 고딕"/>
              </a:rPr>
              <a:t>0.8944</a:t>
            </a:r>
          </a:p>
        </p:txBody>
      </p:sp>
      <p:sp>
        <p:nvSpPr>
          <p:cNvPr id="81" name="Rectangle 80"/>
          <p:cNvSpPr/>
          <p:nvPr/>
        </p:nvSpPr>
        <p:spPr>
          <a:xfrm>
            <a:off x="2788920" y="2505456"/>
            <a:ext cx="1371600" cy="365760"/>
          </a:xfrm>
          <a:prstGeom prst="rect">
            <a:avLst/>
          </a:prstGeom>
          <a:solidFill>
            <a:srgbClr val="FFF3E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2788920" y="2505456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1A1A2E"/>
                </a:solidFill>
                <a:latin typeface="맑은 고딕"/>
              </a:rPr>
              <a:t>[0.825, 0.950]</a:t>
            </a:r>
          </a:p>
        </p:txBody>
      </p:sp>
      <p:sp>
        <p:nvSpPr>
          <p:cNvPr id="83" name="Rectangle 82"/>
          <p:cNvSpPr/>
          <p:nvPr/>
        </p:nvSpPr>
        <p:spPr>
          <a:xfrm>
            <a:off x="4206240" y="2505456"/>
            <a:ext cx="1005840" cy="365760"/>
          </a:xfrm>
          <a:prstGeom prst="rect">
            <a:avLst/>
          </a:prstGeom>
          <a:solidFill>
            <a:srgbClr val="FFF3E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206240" y="2505456"/>
            <a:ext cx="1005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1A1A2E"/>
                </a:solidFill>
                <a:latin typeface="맑은 고딕"/>
              </a:rPr>
              <a:t>0.5636</a:t>
            </a:r>
          </a:p>
        </p:txBody>
      </p:sp>
      <p:sp>
        <p:nvSpPr>
          <p:cNvPr id="85" name="Rectangle 84"/>
          <p:cNvSpPr/>
          <p:nvPr/>
        </p:nvSpPr>
        <p:spPr>
          <a:xfrm>
            <a:off x="5257800" y="2505456"/>
            <a:ext cx="960120" cy="365760"/>
          </a:xfrm>
          <a:prstGeom prst="rect">
            <a:avLst/>
          </a:prstGeom>
          <a:solidFill>
            <a:srgbClr val="FFF3E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5257800" y="2505456"/>
            <a:ext cx="960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1A1A2E"/>
                </a:solidFill>
                <a:latin typeface="맑은 고딕"/>
              </a:rPr>
              <a:t>0.1952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263640" y="2505456"/>
            <a:ext cx="960120" cy="365760"/>
          </a:xfrm>
          <a:prstGeom prst="rect">
            <a:avLst/>
          </a:prstGeom>
          <a:solidFill>
            <a:srgbClr val="FFF3E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263640" y="2505456"/>
            <a:ext cx="960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1A1A2E"/>
                </a:solidFill>
                <a:latin typeface="맑은 고딕"/>
              </a:rPr>
              <a:t>0.4571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269480" y="2505456"/>
            <a:ext cx="1508760" cy="365760"/>
          </a:xfrm>
          <a:prstGeom prst="rect">
            <a:avLst/>
          </a:prstGeom>
          <a:solidFill>
            <a:srgbClr val="FFF3E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269480" y="2505456"/>
            <a:ext cx="1508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0F6BBF"/>
                </a:solidFill>
                <a:latin typeface="맑은 고딕"/>
              </a:rPr>
              <a:t>+0.062</a:t>
            </a:r>
          </a:p>
        </p:txBody>
      </p:sp>
      <p:sp>
        <p:nvSpPr>
          <p:cNvPr id="91" name="Rectangle 90"/>
          <p:cNvSpPr/>
          <p:nvPr/>
        </p:nvSpPr>
        <p:spPr>
          <a:xfrm>
            <a:off x="8823960" y="2505456"/>
            <a:ext cx="1508760" cy="365760"/>
          </a:xfrm>
          <a:prstGeom prst="rect">
            <a:avLst/>
          </a:prstGeom>
          <a:solidFill>
            <a:srgbClr val="FFF3E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8823960" y="2505456"/>
            <a:ext cx="1508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1E8B4C"/>
                </a:solidFill>
                <a:latin typeface="맑은 고딕"/>
              </a:rPr>
              <a:t>p=0.040 *</a:t>
            </a:r>
          </a:p>
        </p:txBody>
      </p:sp>
      <p:sp>
        <p:nvSpPr>
          <p:cNvPr id="93" name="Rectangle 92"/>
          <p:cNvSpPr/>
          <p:nvPr/>
        </p:nvSpPr>
        <p:spPr>
          <a:xfrm>
            <a:off x="10378440" y="2505456"/>
            <a:ext cx="1691640" cy="365760"/>
          </a:xfrm>
          <a:prstGeom prst="rect">
            <a:avLst/>
          </a:prstGeom>
          <a:solidFill>
            <a:srgbClr val="FFF3E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0378440" y="2505456"/>
            <a:ext cx="1691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9EA3AB"/>
                </a:solidFill>
                <a:latin typeface="맑은 고딕"/>
              </a:rPr>
              <a:t>Clinic+Scn+AEC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74320" y="3730752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1A1A2E"/>
                </a:solidFill>
                <a:latin typeface="맑은 고딕"/>
              </a:rPr>
              <a:t>ROC 비교 (M1·M2·M2₂·M3)</a:t>
            </a:r>
          </a:p>
        </p:txBody>
      </p:sp>
      <p:pic>
        <p:nvPicPr>
          <p:cNvPr id="96" name="Picture 95" descr="roc_all_models_n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4023360"/>
            <a:ext cx="4114800" cy="2651760"/>
          </a:xfrm>
          <a:prstGeom prst="rect">
            <a:avLst/>
          </a:prstGeom>
        </p:spPr>
      </p:pic>
      <p:sp>
        <p:nvSpPr>
          <p:cNvPr id="97" name="Rectangle 96"/>
          <p:cNvSpPr/>
          <p:nvPr/>
        </p:nvSpPr>
        <p:spPr>
          <a:xfrm>
            <a:off x="4572000" y="3730752"/>
            <a:ext cx="3749039" cy="2944368"/>
          </a:xfrm>
          <a:prstGeom prst="rect">
            <a:avLst/>
          </a:prstGeom>
          <a:solidFill>
            <a:srgbClr val="E8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4572000" y="3730752"/>
            <a:ext cx="91440" cy="2944368"/>
          </a:xfrm>
          <a:prstGeom prst="rect">
            <a:avLst/>
          </a:prstGeom>
          <a:solidFill>
            <a:srgbClr val="1E8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754880" y="3803904"/>
            <a:ext cx="3383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>
                <a:solidFill>
                  <a:srgbClr val="1E8B4C"/>
                </a:solidFill>
                <a:latin typeface="맑은 고딕"/>
              </a:rPr>
              <a:t>비교 핵심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754880" y="4178808"/>
            <a:ext cx="33832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맑은 고딕"/>
              </a:rPr>
              <a:t>• M1→M3: Δ AUC +0.062, DeLong p=0.040 (*)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754880" y="4590288"/>
            <a:ext cx="33832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맑은 고딕"/>
              </a:rPr>
              <a:t>• M1→M2: Δ AUC +0.054, DeLong p=0.071 (†)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754880" y="5001768"/>
            <a:ext cx="33832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맑은 고딕"/>
              </a:rPr>
              <a:t>• M2→M3:  Δ AUC +0.008, p=0.437 (ns)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754880" y="5413248"/>
            <a:ext cx="33832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맑은 고딕"/>
              </a:rPr>
              <a:t>• AUPRC: M1(0.501)→M3(0.564) +12.6%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4754880" y="5824728"/>
            <a:ext cx="33832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맑은 고딕"/>
              </a:rPr>
              <a:t>• M2_2(neg ctrl) vs M2: Δ-0.045 → 매칭 효과 일부 확인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754880" y="6236208"/>
            <a:ext cx="33832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맑은 고딕"/>
              </a:rPr>
              <a:t>• 여성 AUC: M1(0.792)→M3(0.876) 극적 개선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8458200" y="3730752"/>
            <a:ext cx="3520440" cy="301752"/>
          </a:xfrm>
          <a:prstGeom prst="rect">
            <a:avLst/>
          </a:prstGeom>
          <a:solidFill>
            <a:srgbClr val="FFF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8531352" y="3749039"/>
            <a:ext cx="3410712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E87400"/>
                </a:solidFill>
                <a:latin typeface="맑은 고딕"/>
              </a:rPr>
              <a:t>※ Calibration — M3 norm  (Brier 0.1952)  (Brier 보정 품질 확인)</a:t>
            </a:r>
          </a:p>
        </p:txBody>
      </p:sp>
      <p:pic>
        <p:nvPicPr>
          <p:cNvPr id="108" name="Picture 107" descr="calibr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8200" y="4050791"/>
            <a:ext cx="3520440" cy="2624328"/>
          </a:xfrm>
          <a:prstGeom prst="rect">
            <a:avLst/>
          </a:prstGeom>
        </p:spPr>
      </p:pic>
      <p:sp>
        <p:nvSpPr>
          <p:cNvPr id="109" name="TextBox 108"/>
          <p:cNvSpPr txBox="1"/>
          <p:nvPr/>
        </p:nvSpPr>
        <p:spPr>
          <a:xfrm>
            <a:off x="11247120" y="653796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9EA3AB"/>
                </a:solidFill>
                <a:latin typeface="맑은 고딕"/>
              </a:rPr>
              <a:t>5 / 42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058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500" b="1" i="0">
                <a:solidFill>
                  <a:srgbClr val="FFFFFF"/>
                </a:solidFill>
                <a:latin typeface="맑은 고딕"/>
              </a:rPr>
              <a:t>M1 vs M2 비교 — AEC 신호의 기여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0058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9EA3AB"/>
                </a:solidFill>
                <a:latin typeface="맑은 고딕"/>
              </a:rPr>
              <a:t>Clinic Only(LR) vs Clinic+AEC(CrossAttn)  |  DeLong AUC Test  |  Brier → Calibration 참조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5486400" cy="3749039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70432"/>
            <a:ext cx="5120640" cy="301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>
                <a:solidFill>
                  <a:srgbClr val="1A1A2E"/>
                </a:solidFill>
                <a:latin typeface="맑은 고딕"/>
              </a:rPr>
              <a:t>DeLong Test — M1(LR) vs M2(CrossAttn)  [ norm 조건 ]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90472"/>
            <a:ext cx="5120640" cy="36576"/>
          </a:xfrm>
          <a:prstGeom prst="rect">
            <a:avLst/>
          </a:prstGeom>
          <a:solidFill>
            <a:srgbClr val="0F6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536192"/>
            <a:ext cx="1417320" cy="2743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536192"/>
            <a:ext cx="1417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</a:rPr>
              <a:t>시나리오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74519" y="1536192"/>
            <a:ext cx="914400" cy="2743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74519" y="1536192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</a:rPr>
              <a:t>M1 AUC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34640" y="1536192"/>
            <a:ext cx="914400" cy="2743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34640" y="1536192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</a:rPr>
              <a:t>M2 AUC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794760" y="1536192"/>
            <a:ext cx="914400" cy="2743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94760" y="1536192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</a:rPr>
              <a:t>Δ AUC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54880" y="1536192"/>
            <a:ext cx="868680" cy="2743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4880" y="1536192"/>
            <a:ext cx="868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</a:rPr>
              <a:t>p-val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1828800"/>
            <a:ext cx="141732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80" y="1828800"/>
            <a:ext cx="1417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BCE+AEC128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874519" y="1828800"/>
            <a:ext cx="91440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874519" y="182880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0.8325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834640" y="1828800"/>
            <a:ext cx="91440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834640" y="182880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0F6BBF"/>
                </a:solidFill>
                <a:latin typeface="맑은 고딕"/>
              </a:rPr>
              <a:t>0.8868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94760" y="1828800"/>
            <a:ext cx="91440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94760" y="182880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0F6BBF"/>
                </a:solidFill>
                <a:latin typeface="맑은 고딕"/>
              </a:rPr>
              <a:t>+0.054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754880" y="1828800"/>
            <a:ext cx="86868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54880" y="1828800"/>
            <a:ext cx="868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E8B4C"/>
                </a:solidFill>
                <a:latin typeface="맑은 고딕"/>
              </a:rPr>
              <a:t>p=0.071 †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1480" y="2194560"/>
            <a:ext cx="1417320" cy="365760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11480" y="2194560"/>
            <a:ext cx="1417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BCE+AEC256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874519" y="2194560"/>
            <a:ext cx="914400" cy="365760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874519" y="21945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0.8325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34640" y="2194560"/>
            <a:ext cx="914400" cy="365760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834640" y="21945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0F6BBF"/>
                </a:solidFill>
                <a:latin typeface="맑은 고딕"/>
              </a:rPr>
              <a:t>0.8884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794760" y="2194560"/>
            <a:ext cx="914400" cy="365760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794760" y="21945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0F6BBF"/>
                </a:solidFill>
                <a:latin typeface="맑은 고딕"/>
              </a:rPr>
              <a:t>+0.056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754880" y="2194560"/>
            <a:ext cx="868680" cy="365760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54880" y="2194560"/>
            <a:ext cx="868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E8B4C"/>
                </a:solidFill>
                <a:latin typeface="맑은 고딕"/>
              </a:rPr>
              <a:t>p=0.013 *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11480" y="2560320"/>
            <a:ext cx="141732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11480" y="2560320"/>
            <a:ext cx="1417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Focal+AEC128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874519" y="2560320"/>
            <a:ext cx="91440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874519" y="25603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0.8325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834640" y="2560320"/>
            <a:ext cx="91440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834640" y="25603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0F6BBF"/>
                </a:solidFill>
                <a:latin typeface="맑은 고딕"/>
              </a:rPr>
              <a:t>0.8739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794760" y="2560320"/>
            <a:ext cx="91440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794760" y="25603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0F6BBF"/>
                </a:solidFill>
                <a:latin typeface="맑은 고딕"/>
              </a:rPr>
              <a:t>+0.041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754880" y="2560320"/>
            <a:ext cx="86868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754880" y="2560320"/>
            <a:ext cx="868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E8B4C"/>
                </a:solidFill>
                <a:latin typeface="맑은 고딕"/>
              </a:rPr>
              <a:t>p=0.079 †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11480" y="2926080"/>
            <a:ext cx="1417320" cy="365760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11480" y="2926080"/>
            <a:ext cx="1417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Focal+AEC256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874519" y="2926080"/>
            <a:ext cx="914400" cy="365760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874519" y="292608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0.8325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834640" y="2926080"/>
            <a:ext cx="914400" cy="365760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834640" y="292608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0F6BBF"/>
                </a:solidFill>
                <a:latin typeface="맑은 고딕"/>
              </a:rPr>
              <a:t>0.8600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794760" y="2926080"/>
            <a:ext cx="914400" cy="365760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794760" y="292608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0F6BBF"/>
                </a:solidFill>
                <a:latin typeface="맑은 고딕"/>
              </a:rPr>
              <a:t>+0.027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754880" y="2926080"/>
            <a:ext cx="868680" cy="365760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754880" y="2926080"/>
            <a:ext cx="868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9EA3AB"/>
                </a:solidFill>
                <a:latin typeface="맑은 고딕"/>
              </a:rPr>
              <a:t>p=0.330 ns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57200" y="3383280"/>
            <a:ext cx="5120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1A1A2E"/>
                </a:solidFill>
                <a:latin typeface="맑은 고딕"/>
              </a:rPr>
              <a:t>Bootstrap 95% CI — BCE+AEC128+norm 기준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57200" y="3675887"/>
            <a:ext cx="5120640" cy="27432"/>
          </a:xfrm>
          <a:prstGeom prst="rect">
            <a:avLst/>
          </a:prstGeom>
          <a:solidFill>
            <a:srgbClr val="0F9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411480" y="3730752"/>
            <a:ext cx="1234440" cy="25603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11480" y="3730752"/>
            <a:ext cx="12344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</a:rPr>
              <a:t>지표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691640" y="3730752"/>
            <a:ext cx="1234440" cy="25603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691640" y="3730752"/>
            <a:ext cx="12344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</a:rPr>
              <a:t>M1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971800" y="3730752"/>
            <a:ext cx="1280160" cy="25603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971800" y="3730752"/>
            <a:ext cx="1280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</a:rPr>
              <a:t>M2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297680" y="3730752"/>
            <a:ext cx="1143000" cy="25603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297680" y="3730752"/>
            <a:ext cx="1143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</a:rPr>
              <a:t>Δ(M2-M1)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11480" y="4005072"/>
            <a:ext cx="1234440" cy="301752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11480" y="4005072"/>
            <a:ext cx="1234440" cy="301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AUC-ROC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691640" y="4005072"/>
            <a:ext cx="1234440" cy="301752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691640" y="4005072"/>
            <a:ext cx="1234440" cy="301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0.833 [0.739,0.909]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971800" y="4005072"/>
            <a:ext cx="1280160" cy="301752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971800" y="4005072"/>
            <a:ext cx="1280160" cy="301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0.887 [0.810,0.949]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297680" y="4005072"/>
            <a:ext cx="1143000" cy="301752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297680" y="4005072"/>
            <a:ext cx="1143000" cy="301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+0.054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11480" y="4306824"/>
            <a:ext cx="1234440" cy="301752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11480" y="4306824"/>
            <a:ext cx="1234440" cy="301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AUPRC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691640" y="4306824"/>
            <a:ext cx="1234440" cy="301752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691640" y="4306824"/>
            <a:ext cx="1234440" cy="301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0.501 [0.297,0.694]</a:t>
            </a:r>
          </a:p>
        </p:txBody>
      </p:sp>
      <p:sp>
        <p:nvSpPr>
          <p:cNvPr id="80" name="Rectangle 79"/>
          <p:cNvSpPr/>
          <p:nvPr/>
        </p:nvSpPr>
        <p:spPr>
          <a:xfrm>
            <a:off x="2971800" y="4306824"/>
            <a:ext cx="1280160" cy="301752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2971800" y="4306824"/>
            <a:ext cx="1280160" cy="301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0.555 [0.361,0.764]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297680" y="4306824"/>
            <a:ext cx="1143000" cy="301752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4297680" y="4306824"/>
            <a:ext cx="1143000" cy="301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+0.054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11480" y="4608576"/>
            <a:ext cx="1234440" cy="301752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11480" y="4608576"/>
            <a:ext cx="1234440" cy="301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Brier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691640" y="4608576"/>
            <a:ext cx="1234440" cy="301752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691640" y="4608576"/>
            <a:ext cx="1234440" cy="301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0.180 [0.153,0.212]</a:t>
            </a:r>
          </a:p>
        </p:txBody>
      </p:sp>
      <p:sp>
        <p:nvSpPr>
          <p:cNvPr id="88" name="Rectangle 87"/>
          <p:cNvSpPr/>
          <p:nvPr/>
        </p:nvSpPr>
        <p:spPr>
          <a:xfrm>
            <a:off x="2971800" y="4608576"/>
            <a:ext cx="1280160" cy="301752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2971800" y="4608576"/>
            <a:ext cx="1280160" cy="301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0.212 [0.177,0.249]</a:t>
            </a:r>
          </a:p>
        </p:txBody>
      </p:sp>
      <p:sp>
        <p:nvSpPr>
          <p:cNvPr id="90" name="Rectangle 89"/>
          <p:cNvSpPr/>
          <p:nvPr/>
        </p:nvSpPr>
        <p:spPr>
          <a:xfrm>
            <a:off x="4297680" y="4608576"/>
            <a:ext cx="1143000" cy="301752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4297680" y="4608576"/>
            <a:ext cx="1143000" cy="301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+0.032</a:t>
            </a:r>
          </a:p>
        </p:txBody>
      </p:sp>
      <p:sp>
        <p:nvSpPr>
          <p:cNvPr id="92" name="Rectangle 91"/>
          <p:cNvSpPr/>
          <p:nvPr/>
        </p:nvSpPr>
        <p:spPr>
          <a:xfrm>
            <a:off x="411480" y="4910328"/>
            <a:ext cx="1234440" cy="301752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11480" y="4910328"/>
            <a:ext cx="1234440" cy="301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F1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691640" y="4910328"/>
            <a:ext cx="1234440" cy="301752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691640" y="4910328"/>
            <a:ext cx="1234440" cy="301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0.395 [0.254,0.523]</a:t>
            </a:r>
          </a:p>
        </p:txBody>
      </p:sp>
      <p:sp>
        <p:nvSpPr>
          <p:cNvPr id="96" name="Rectangle 95"/>
          <p:cNvSpPr/>
          <p:nvPr/>
        </p:nvSpPr>
        <p:spPr>
          <a:xfrm>
            <a:off x="2971800" y="4910328"/>
            <a:ext cx="1280160" cy="301752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2971800" y="4910328"/>
            <a:ext cx="1280160" cy="301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0.444 [0.303,0.578]</a:t>
            </a:r>
          </a:p>
        </p:txBody>
      </p:sp>
      <p:sp>
        <p:nvSpPr>
          <p:cNvPr id="98" name="Rectangle 97"/>
          <p:cNvSpPr/>
          <p:nvPr/>
        </p:nvSpPr>
        <p:spPr>
          <a:xfrm>
            <a:off x="4297680" y="4910328"/>
            <a:ext cx="1143000" cy="301752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297680" y="4910328"/>
            <a:ext cx="1143000" cy="301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+0.049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943600" y="1097280"/>
            <a:ext cx="6035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1A1A2E"/>
                </a:solidFill>
                <a:latin typeface="맑은 고딕"/>
              </a:rPr>
              <a:t>조건별 ROC 비교  (norm 기준, M1·M2·M2₂·M3 포함)</a:t>
            </a:r>
          </a:p>
        </p:txBody>
      </p:sp>
      <p:pic>
        <p:nvPicPr>
          <p:cNvPr id="101" name="Picture 100" descr="roc_all_models_n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417320"/>
            <a:ext cx="2926080" cy="1463040"/>
          </a:xfrm>
          <a:prstGeom prst="rect">
            <a:avLst/>
          </a:prstGeom>
        </p:spPr>
      </p:pic>
      <p:sp>
        <p:nvSpPr>
          <p:cNvPr id="102" name="TextBox 101"/>
          <p:cNvSpPr txBox="1"/>
          <p:nvPr/>
        </p:nvSpPr>
        <p:spPr>
          <a:xfrm>
            <a:off x="5943600" y="2898648"/>
            <a:ext cx="2926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9EA3AB"/>
                </a:solidFill>
                <a:latin typeface="맑은 고딕"/>
              </a:rPr>
              <a:t>BCE+AEC128</a:t>
            </a:r>
          </a:p>
        </p:txBody>
      </p:sp>
      <p:pic>
        <p:nvPicPr>
          <p:cNvPr id="103" name="Picture 102" descr="roc_all_models_nor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1417320"/>
            <a:ext cx="2926080" cy="1463040"/>
          </a:xfrm>
          <a:prstGeom prst="rect">
            <a:avLst/>
          </a:prstGeom>
        </p:spPr>
      </p:pic>
      <p:sp>
        <p:nvSpPr>
          <p:cNvPr id="104" name="TextBox 103"/>
          <p:cNvSpPr txBox="1"/>
          <p:nvPr/>
        </p:nvSpPr>
        <p:spPr>
          <a:xfrm>
            <a:off x="9052560" y="2898648"/>
            <a:ext cx="2926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9EA3AB"/>
                </a:solidFill>
                <a:latin typeface="맑은 고딕"/>
              </a:rPr>
              <a:t>BCE+AEC256</a:t>
            </a:r>
          </a:p>
        </p:txBody>
      </p:sp>
      <p:pic>
        <p:nvPicPr>
          <p:cNvPr id="105" name="Picture 104" descr="roc_all_models_nor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0" y="2990088"/>
            <a:ext cx="2926080" cy="1463040"/>
          </a:xfrm>
          <a:prstGeom prst="rect">
            <a:avLst/>
          </a:prstGeom>
        </p:spPr>
      </p:pic>
      <p:sp>
        <p:nvSpPr>
          <p:cNvPr id="106" name="TextBox 105"/>
          <p:cNvSpPr txBox="1"/>
          <p:nvPr/>
        </p:nvSpPr>
        <p:spPr>
          <a:xfrm>
            <a:off x="5943600" y="4471416"/>
            <a:ext cx="2926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9EA3AB"/>
                </a:solidFill>
                <a:latin typeface="맑은 고딕"/>
              </a:rPr>
              <a:t>Focal+AEC128</a:t>
            </a:r>
          </a:p>
        </p:txBody>
      </p:sp>
      <p:pic>
        <p:nvPicPr>
          <p:cNvPr id="107" name="Picture 106" descr="roc_all_models_nor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52560" y="2990088"/>
            <a:ext cx="2926080" cy="1463040"/>
          </a:xfrm>
          <a:prstGeom prst="rect">
            <a:avLst/>
          </a:prstGeom>
        </p:spPr>
      </p:pic>
      <p:sp>
        <p:nvSpPr>
          <p:cNvPr id="108" name="TextBox 107"/>
          <p:cNvSpPr txBox="1"/>
          <p:nvPr/>
        </p:nvSpPr>
        <p:spPr>
          <a:xfrm>
            <a:off x="9052560" y="4471416"/>
            <a:ext cx="2926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9EA3AB"/>
                </a:solidFill>
                <a:latin typeface="맑은 고딕"/>
              </a:rPr>
              <a:t>Focal+AEC256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5943600" y="4526280"/>
            <a:ext cx="6035040" cy="301752"/>
          </a:xfrm>
          <a:prstGeom prst="rect">
            <a:avLst/>
          </a:prstGeom>
          <a:solidFill>
            <a:srgbClr val="FFF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016752" y="4544568"/>
            <a:ext cx="5925312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E87400"/>
                </a:solidFill>
                <a:latin typeface="맑은 고딕"/>
              </a:rPr>
              <a:t>※ Calibration — M2  BCE+AEC128+norm  (Brier 0.2124)  (Brier 보정 품질 확인)</a:t>
            </a:r>
          </a:p>
        </p:txBody>
      </p:sp>
      <p:pic>
        <p:nvPicPr>
          <p:cNvPr id="111" name="Picture 110" descr="calibratio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43600" y="4846320"/>
            <a:ext cx="6035040" cy="1828800"/>
          </a:xfrm>
          <a:prstGeom prst="rect">
            <a:avLst/>
          </a:prstGeom>
        </p:spPr>
      </p:pic>
      <p:sp>
        <p:nvSpPr>
          <p:cNvPr id="112" name="TextBox 111"/>
          <p:cNvSpPr txBox="1"/>
          <p:nvPr/>
        </p:nvSpPr>
        <p:spPr>
          <a:xfrm>
            <a:off x="11247120" y="653796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9EA3AB"/>
                </a:solidFill>
                <a:latin typeface="맑은 고딕"/>
              </a:rPr>
              <a:t>6 / 42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058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500" b="1" i="0">
                <a:solidFill>
                  <a:srgbClr val="FFFFFF"/>
                </a:solidFill>
                <a:latin typeface="맑은 고딕"/>
              </a:rPr>
              <a:t>M1 vs M3 비교 — Scanner + AEC 조합 효과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0058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9EA3AB"/>
                </a:solidFill>
                <a:latin typeface="맑은 고딕"/>
              </a:rPr>
              <a:t>Clinic Only(LR) vs Clinic+Scanner+AEC(CrossAttn3)  |  DeLong AUC Test  |  Brier → Calibration 참조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5486400" cy="3749039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70432"/>
            <a:ext cx="5120640" cy="301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>
                <a:solidFill>
                  <a:srgbClr val="1A1A2E"/>
                </a:solidFill>
                <a:latin typeface="맑은 고딕"/>
              </a:rPr>
              <a:t>DeLong Test — M1(LR) vs M3(CrossAttn3)  [ norm 조건 ]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90472"/>
            <a:ext cx="5120640" cy="36576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536192"/>
            <a:ext cx="1417320" cy="2743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536192"/>
            <a:ext cx="1417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</a:rPr>
              <a:t>시나리오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74519" y="1536192"/>
            <a:ext cx="914400" cy="2743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74519" y="1536192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</a:rPr>
              <a:t>M1 AUC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34640" y="1536192"/>
            <a:ext cx="914400" cy="2743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34640" y="1536192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</a:rPr>
              <a:t>M3 AUC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794760" y="1536192"/>
            <a:ext cx="914400" cy="2743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94760" y="1536192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</a:rPr>
              <a:t>Δ AUC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54880" y="1536192"/>
            <a:ext cx="868680" cy="2743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4880" y="1536192"/>
            <a:ext cx="868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</a:rPr>
              <a:t>p-val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1828800"/>
            <a:ext cx="141732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80" y="1828800"/>
            <a:ext cx="1417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BCE+AEC128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874519" y="1828800"/>
            <a:ext cx="91440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874519" y="182880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0.8325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834640" y="1828800"/>
            <a:ext cx="91440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834640" y="182880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E87400"/>
                </a:solidFill>
                <a:latin typeface="맑은 고딕"/>
              </a:rPr>
              <a:t>0.8944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94760" y="1828800"/>
            <a:ext cx="91440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94760" y="182880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0F6BBF"/>
                </a:solidFill>
                <a:latin typeface="맑은 고딕"/>
              </a:rPr>
              <a:t>+0.062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754880" y="1828800"/>
            <a:ext cx="86868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54880" y="1828800"/>
            <a:ext cx="868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E8B4C"/>
                </a:solidFill>
                <a:latin typeface="맑은 고딕"/>
              </a:rPr>
              <a:t>p=0.040 *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1480" y="2194560"/>
            <a:ext cx="1417320" cy="365760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11480" y="2194560"/>
            <a:ext cx="1417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BCE+AEC256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874519" y="2194560"/>
            <a:ext cx="914400" cy="365760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874519" y="21945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0.8325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34640" y="2194560"/>
            <a:ext cx="914400" cy="365760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834640" y="21945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E87400"/>
                </a:solidFill>
                <a:latin typeface="맑은 고딕"/>
              </a:rPr>
              <a:t>0.8858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794760" y="2194560"/>
            <a:ext cx="914400" cy="365760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794760" y="21945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0F6BBF"/>
                </a:solidFill>
                <a:latin typeface="맑은 고딕"/>
              </a:rPr>
              <a:t>+0.053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754880" y="2194560"/>
            <a:ext cx="868680" cy="365760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54880" y="2194560"/>
            <a:ext cx="868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E8B4C"/>
                </a:solidFill>
                <a:latin typeface="맑은 고딕"/>
              </a:rPr>
              <a:t>p=0.062 †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11480" y="2560320"/>
            <a:ext cx="141732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11480" y="2560320"/>
            <a:ext cx="1417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Focal+AEC128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874519" y="2560320"/>
            <a:ext cx="91440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874519" y="25603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0.8325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834640" y="2560320"/>
            <a:ext cx="91440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834640" y="25603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E87400"/>
                </a:solidFill>
                <a:latin typeface="맑은 고딕"/>
              </a:rPr>
              <a:t>0.8448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794760" y="2560320"/>
            <a:ext cx="91440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794760" y="25603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0F6BBF"/>
                </a:solidFill>
                <a:latin typeface="맑은 고딕"/>
              </a:rPr>
              <a:t>+0.012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754880" y="2560320"/>
            <a:ext cx="86868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754880" y="2560320"/>
            <a:ext cx="868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9EA3AB"/>
                </a:solidFill>
                <a:latin typeface="맑은 고딕"/>
              </a:rPr>
              <a:t>p=0.776 ns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11480" y="2926080"/>
            <a:ext cx="1417320" cy="365760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11480" y="2926080"/>
            <a:ext cx="1417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Focal+AEC256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874519" y="2926080"/>
            <a:ext cx="914400" cy="365760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874519" y="292608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0.8325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834640" y="2926080"/>
            <a:ext cx="914400" cy="365760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834640" y="292608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E87400"/>
                </a:solidFill>
                <a:latin typeface="맑은 고딕"/>
              </a:rPr>
              <a:t>0.8641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794760" y="2926080"/>
            <a:ext cx="914400" cy="365760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794760" y="292608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0F6BBF"/>
                </a:solidFill>
                <a:latin typeface="맑은 고딕"/>
              </a:rPr>
              <a:t>+0.032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754880" y="2926080"/>
            <a:ext cx="868680" cy="365760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754880" y="2926080"/>
            <a:ext cx="868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9EA3AB"/>
                </a:solidFill>
                <a:latin typeface="맑은 고딕"/>
              </a:rPr>
              <a:t>p=0.253 ns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57200" y="3383280"/>
            <a:ext cx="5120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1A1A2E"/>
                </a:solidFill>
                <a:latin typeface="맑은 고딕"/>
              </a:rPr>
              <a:t>Bootstrap 95% CI — BCE+AEC128+norm 기준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57200" y="3675887"/>
            <a:ext cx="5120640" cy="2743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411480" y="3730752"/>
            <a:ext cx="1234440" cy="25603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11480" y="3730752"/>
            <a:ext cx="12344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</a:rPr>
              <a:t>지표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691640" y="3730752"/>
            <a:ext cx="1234440" cy="25603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691640" y="3730752"/>
            <a:ext cx="12344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</a:rPr>
              <a:t>M1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971800" y="3730752"/>
            <a:ext cx="1280160" cy="25603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971800" y="3730752"/>
            <a:ext cx="1280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</a:rPr>
              <a:t>M3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297680" y="3730752"/>
            <a:ext cx="1143000" cy="25603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297680" y="3730752"/>
            <a:ext cx="1143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</a:rPr>
              <a:t>Δ(M3-M1)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11480" y="4005072"/>
            <a:ext cx="1234440" cy="301752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11480" y="4005072"/>
            <a:ext cx="1234440" cy="301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AUC-ROC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691640" y="4005072"/>
            <a:ext cx="1234440" cy="301752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691640" y="4005072"/>
            <a:ext cx="1234440" cy="301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0.833 [0.739,0.909]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971800" y="4005072"/>
            <a:ext cx="1280160" cy="301752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971800" y="4005072"/>
            <a:ext cx="1280160" cy="301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0.894 [0.825,0.950]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297680" y="4005072"/>
            <a:ext cx="1143000" cy="301752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297680" y="4005072"/>
            <a:ext cx="1143000" cy="301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+0.062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11480" y="4306824"/>
            <a:ext cx="1234440" cy="301752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11480" y="4306824"/>
            <a:ext cx="1234440" cy="301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AUPRC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691640" y="4306824"/>
            <a:ext cx="1234440" cy="301752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691640" y="4306824"/>
            <a:ext cx="1234440" cy="301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0.501 [0.297,0.694]</a:t>
            </a:r>
          </a:p>
        </p:txBody>
      </p:sp>
      <p:sp>
        <p:nvSpPr>
          <p:cNvPr id="80" name="Rectangle 79"/>
          <p:cNvSpPr/>
          <p:nvPr/>
        </p:nvSpPr>
        <p:spPr>
          <a:xfrm>
            <a:off x="2971800" y="4306824"/>
            <a:ext cx="1280160" cy="301752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2971800" y="4306824"/>
            <a:ext cx="1280160" cy="301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0.564 [0.366,0.766]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297680" y="4306824"/>
            <a:ext cx="1143000" cy="301752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4297680" y="4306824"/>
            <a:ext cx="1143000" cy="301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+0.063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11480" y="4608576"/>
            <a:ext cx="1234440" cy="301752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11480" y="4608576"/>
            <a:ext cx="1234440" cy="301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Brier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691640" y="4608576"/>
            <a:ext cx="1234440" cy="301752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691640" y="4608576"/>
            <a:ext cx="1234440" cy="301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0.180 [0.153,0.212]</a:t>
            </a:r>
          </a:p>
        </p:txBody>
      </p:sp>
      <p:sp>
        <p:nvSpPr>
          <p:cNvPr id="88" name="Rectangle 87"/>
          <p:cNvSpPr/>
          <p:nvPr/>
        </p:nvSpPr>
        <p:spPr>
          <a:xfrm>
            <a:off x="2971800" y="4608576"/>
            <a:ext cx="1280160" cy="301752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2971800" y="4608576"/>
            <a:ext cx="1280160" cy="301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0.195 [0.165,0.227]</a:t>
            </a:r>
          </a:p>
        </p:txBody>
      </p:sp>
      <p:sp>
        <p:nvSpPr>
          <p:cNvPr id="90" name="Rectangle 89"/>
          <p:cNvSpPr/>
          <p:nvPr/>
        </p:nvSpPr>
        <p:spPr>
          <a:xfrm>
            <a:off x="4297680" y="4608576"/>
            <a:ext cx="1143000" cy="301752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4297680" y="4608576"/>
            <a:ext cx="1143000" cy="301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+0.015</a:t>
            </a:r>
          </a:p>
        </p:txBody>
      </p:sp>
      <p:sp>
        <p:nvSpPr>
          <p:cNvPr id="92" name="Rectangle 91"/>
          <p:cNvSpPr/>
          <p:nvPr/>
        </p:nvSpPr>
        <p:spPr>
          <a:xfrm>
            <a:off x="411480" y="4910328"/>
            <a:ext cx="1234440" cy="301752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11480" y="4910328"/>
            <a:ext cx="1234440" cy="301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F1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691640" y="4910328"/>
            <a:ext cx="1234440" cy="301752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691640" y="4910328"/>
            <a:ext cx="1234440" cy="301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0.395 [0.254,0.523]</a:t>
            </a:r>
          </a:p>
        </p:txBody>
      </p:sp>
      <p:sp>
        <p:nvSpPr>
          <p:cNvPr id="96" name="Rectangle 95"/>
          <p:cNvSpPr/>
          <p:nvPr/>
        </p:nvSpPr>
        <p:spPr>
          <a:xfrm>
            <a:off x="2971800" y="4910328"/>
            <a:ext cx="1280160" cy="301752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2971800" y="4910328"/>
            <a:ext cx="1280160" cy="301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0.457 [0.305,0.595]</a:t>
            </a:r>
          </a:p>
        </p:txBody>
      </p:sp>
      <p:sp>
        <p:nvSpPr>
          <p:cNvPr id="98" name="Rectangle 97"/>
          <p:cNvSpPr/>
          <p:nvPr/>
        </p:nvSpPr>
        <p:spPr>
          <a:xfrm>
            <a:off x="4297680" y="4910328"/>
            <a:ext cx="1143000" cy="301752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297680" y="4910328"/>
            <a:ext cx="1143000" cy="301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+0.062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943600" y="1097280"/>
            <a:ext cx="6035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1A1A2E"/>
                </a:solidFill>
                <a:latin typeface="맑은 고딕"/>
              </a:rPr>
              <a:t>조건별 ROC 비교  (norm 기준, M1·M2·M2₂·M3 포함)</a:t>
            </a:r>
          </a:p>
        </p:txBody>
      </p:sp>
      <p:pic>
        <p:nvPicPr>
          <p:cNvPr id="101" name="Picture 100" descr="roc_all_models_n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417320"/>
            <a:ext cx="2926080" cy="1463040"/>
          </a:xfrm>
          <a:prstGeom prst="rect">
            <a:avLst/>
          </a:prstGeom>
        </p:spPr>
      </p:pic>
      <p:sp>
        <p:nvSpPr>
          <p:cNvPr id="102" name="TextBox 101"/>
          <p:cNvSpPr txBox="1"/>
          <p:nvPr/>
        </p:nvSpPr>
        <p:spPr>
          <a:xfrm>
            <a:off x="5943600" y="2898648"/>
            <a:ext cx="2926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9EA3AB"/>
                </a:solidFill>
                <a:latin typeface="맑은 고딕"/>
              </a:rPr>
              <a:t>BCE+AEC128</a:t>
            </a:r>
          </a:p>
        </p:txBody>
      </p:sp>
      <p:pic>
        <p:nvPicPr>
          <p:cNvPr id="103" name="Picture 102" descr="roc_all_models_nor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1417320"/>
            <a:ext cx="2926080" cy="1463040"/>
          </a:xfrm>
          <a:prstGeom prst="rect">
            <a:avLst/>
          </a:prstGeom>
        </p:spPr>
      </p:pic>
      <p:sp>
        <p:nvSpPr>
          <p:cNvPr id="104" name="TextBox 103"/>
          <p:cNvSpPr txBox="1"/>
          <p:nvPr/>
        </p:nvSpPr>
        <p:spPr>
          <a:xfrm>
            <a:off x="9052560" y="2898648"/>
            <a:ext cx="2926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9EA3AB"/>
                </a:solidFill>
                <a:latin typeface="맑은 고딕"/>
              </a:rPr>
              <a:t>BCE+AEC256</a:t>
            </a:r>
          </a:p>
        </p:txBody>
      </p:sp>
      <p:pic>
        <p:nvPicPr>
          <p:cNvPr id="105" name="Picture 104" descr="roc_all_models_nor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0" y="2990088"/>
            <a:ext cx="2926080" cy="1463040"/>
          </a:xfrm>
          <a:prstGeom prst="rect">
            <a:avLst/>
          </a:prstGeom>
        </p:spPr>
      </p:pic>
      <p:sp>
        <p:nvSpPr>
          <p:cNvPr id="106" name="TextBox 105"/>
          <p:cNvSpPr txBox="1"/>
          <p:nvPr/>
        </p:nvSpPr>
        <p:spPr>
          <a:xfrm>
            <a:off x="5943600" y="4471416"/>
            <a:ext cx="2926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9EA3AB"/>
                </a:solidFill>
                <a:latin typeface="맑은 고딕"/>
              </a:rPr>
              <a:t>Focal+AEC128</a:t>
            </a:r>
          </a:p>
        </p:txBody>
      </p:sp>
      <p:pic>
        <p:nvPicPr>
          <p:cNvPr id="107" name="Picture 106" descr="roc_all_models_nor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52560" y="2990088"/>
            <a:ext cx="2926080" cy="1463040"/>
          </a:xfrm>
          <a:prstGeom prst="rect">
            <a:avLst/>
          </a:prstGeom>
        </p:spPr>
      </p:pic>
      <p:sp>
        <p:nvSpPr>
          <p:cNvPr id="108" name="TextBox 107"/>
          <p:cNvSpPr txBox="1"/>
          <p:nvPr/>
        </p:nvSpPr>
        <p:spPr>
          <a:xfrm>
            <a:off x="9052560" y="4471416"/>
            <a:ext cx="2926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9EA3AB"/>
                </a:solidFill>
                <a:latin typeface="맑은 고딕"/>
              </a:rPr>
              <a:t>Focal+AEC256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5943600" y="4526280"/>
            <a:ext cx="6035040" cy="301752"/>
          </a:xfrm>
          <a:prstGeom prst="rect">
            <a:avLst/>
          </a:prstGeom>
          <a:solidFill>
            <a:srgbClr val="FFF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016752" y="4544568"/>
            <a:ext cx="5925312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E87400"/>
                </a:solidFill>
                <a:latin typeface="맑은 고딕"/>
              </a:rPr>
              <a:t>※ Calibration — M3  BCE+AEC128+norm  (Brier 0.1952)  (Brier 보정 품질 확인)</a:t>
            </a:r>
          </a:p>
        </p:txBody>
      </p:sp>
      <p:pic>
        <p:nvPicPr>
          <p:cNvPr id="111" name="Picture 110" descr="calibratio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43600" y="4846320"/>
            <a:ext cx="6035040" cy="1828800"/>
          </a:xfrm>
          <a:prstGeom prst="rect">
            <a:avLst/>
          </a:prstGeom>
        </p:spPr>
      </p:pic>
      <p:sp>
        <p:nvSpPr>
          <p:cNvPr id="112" name="TextBox 111"/>
          <p:cNvSpPr txBox="1"/>
          <p:nvPr/>
        </p:nvSpPr>
        <p:spPr>
          <a:xfrm>
            <a:off x="11247120" y="653796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9EA3AB"/>
                </a:solidFill>
                <a:latin typeface="맑은 고딕"/>
              </a:rPr>
              <a:t>7 / 42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058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500" b="1" i="0">
                <a:solidFill>
                  <a:srgbClr val="FFFFFF"/>
                </a:solidFill>
                <a:latin typeface="맑은 고딕"/>
              </a:rPr>
              <a:t>M2 vs M3 비교 — Scanner(MFR) 추가 효과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0058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9EA3AB"/>
                </a:solidFill>
                <a:latin typeface="맑은 고딕"/>
              </a:rPr>
              <a:t>CrossAttn vs CrossAttn3  |  모든 조건에서 DeLong ns — 통계적 유의차 없음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6858000" cy="41148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70432"/>
            <a:ext cx="6492240" cy="301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>
                <a:solidFill>
                  <a:srgbClr val="1A1A2E"/>
                </a:solidFill>
                <a:latin typeface="맑은 고딕"/>
              </a:rPr>
              <a:t>DeLong Test — M2(CrossAttn) vs M3(CrossAttn3)  [ 전 조건 ]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90472"/>
            <a:ext cx="6492240" cy="36576"/>
          </a:xfrm>
          <a:prstGeom prst="rect">
            <a:avLst/>
          </a:prstGeom>
          <a:solidFill>
            <a:srgbClr val="9EA3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536192"/>
            <a:ext cx="1645920" cy="2743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536192"/>
            <a:ext cx="1645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</a:rPr>
              <a:t>조건</a:t>
            </a:r>
          </a:p>
        </p:txBody>
      </p:sp>
      <p:sp>
        <p:nvSpPr>
          <p:cNvPr id="10" name="Rectangle 9"/>
          <p:cNvSpPr/>
          <p:nvPr/>
        </p:nvSpPr>
        <p:spPr>
          <a:xfrm>
            <a:off x="2103120" y="1536192"/>
            <a:ext cx="1005840" cy="2743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03120" y="1536192"/>
            <a:ext cx="1005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</a:rPr>
              <a:t>M2 AUC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154680" y="1536192"/>
            <a:ext cx="1005840" cy="2743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154680" y="1536192"/>
            <a:ext cx="1005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</a:rPr>
              <a:t>M3 AUC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06240" y="1536192"/>
            <a:ext cx="1005840" cy="2743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06240" y="1536192"/>
            <a:ext cx="1005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</a:rPr>
              <a:t>Δ AUC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257800" y="1536192"/>
            <a:ext cx="960120" cy="2743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57800" y="1536192"/>
            <a:ext cx="960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</a:rPr>
              <a:t>p-val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63640" y="1536192"/>
            <a:ext cx="822960" cy="2743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63640" y="1536192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</a:rPr>
              <a:t>sig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1828800"/>
            <a:ext cx="164592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1828800"/>
            <a:ext cx="164592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BCE+AEC128 norm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103120" y="1828800"/>
            <a:ext cx="100584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103120" y="1828800"/>
            <a:ext cx="100584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0.8868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154680" y="1828800"/>
            <a:ext cx="100584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154680" y="1828800"/>
            <a:ext cx="100584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0.8944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06240" y="1828800"/>
            <a:ext cx="100584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06240" y="1828800"/>
            <a:ext cx="100584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+0.008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257800" y="1828800"/>
            <a:ext cx="96012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257800" y="1828800"/>
            <a:ext cx="96012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9EA3AB"/>
                </a:solidFill>
                <a:latin typeface="맑은 고딕"/>
              </a:rPr>
              <a:t>0.437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63640" y="1828800"/>
            <a:ext cx="82296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63640" y="1828800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9EA3AB"/>
                </a:solidFill>
                <a:latin typeface="맑은 고딕"/>
              </a:rPr>
              <a:t>ns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2167128"/>
            <a:ext cx="1645920" cy="338328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" y="2167128"/>
            <a:ext cx="164592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BCE+AEC128 crop60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103120" y="2167128"/>
            <a:ext cx="1005840" cy="338328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103120" y="2167128"/>
            <a:ext cx="100584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0.8635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54680" y="2167128"/>
            <a:ext cx="1005840" cy="338328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154680" y="2167128"/>
            <a:ext cx="100584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0.8505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206240" y="2167128"/>
            <a:ext cx="1005840" cy="338328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206240" y="2167128"/>
            <a:ext cx="100584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-0.013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257800" y="2167128"/>
            <a:ext cx="960120" cy="338328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257800" y="2167128"/>
            <a:ext cx="96012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9EA3AB"/>
                </a:solidFill>
                <a:latin typeface="맑은 고딕"/>
              </a:rPr>
              <a:t>0.513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263640" y="2167128"/>
            <a:ext cx="822960" cy="338328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263640" y="2167128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9EA3AB"/>
                </a:solidFill>
                <a:latin typeface="맑은 고딕"/>
              </a:rPr>
              <a:t>ns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11480" y="2505456"/>
            <a:ext cx="164592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11480" y="2505456"/>
            <a:ext cx="164592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BCE+AEC128 crop80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103120" y="2505456"/>
            <a:ext cx="100584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103120" y="2505456"/>
            <a:ext cx="100584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0.8612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154680" y="2505456"/>
            <a:ext cx="100584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154680" y="2505456"/>
            <a:ext cx="100584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0.8575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06240" y="2505456"/>
            <a:ext cx="100584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206240" y="2505456"/>
            <a:ext cx="100584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-0.004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257800" y="2505456"/>
            <a:ext cx="96012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257800" y="2505456"/>
            <a:ext cx="96012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9EA3AB"/>
                </a:solidFill>
                <a:latin typeface="맑은 고딕"/>
              </a:rPr>
              <a:t>0.793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263640" y="2505456"/>
            <a:ext cx="82296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263640" y="2505456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9EA3AB"/>
                </a:solidFill>
                <a:latin typeface="맑은 고딕"/>
              </a:rPr>
              <a:t>ns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11480" y="2843784"/>
            <a:ext cx="1645920" cy="338328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11480" y="2843784"/>
            <a:ext cx="164592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BCE+AEC128 len128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103120" y="2843784"/>
            <a:ext cx="1005840" cy="338328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103120" y="2843784"/>
            <a:ext cx="100584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0.8578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154680" y="2843784"/>
            <a:ext cx="1005840" cy="338328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154680" y="2843784"/>
            <a:ext cx="100584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0.8357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206240" y="2843784"/>
            <a:ext cx="1005840" cy="338328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206240" y="2843784"/>
            <a:ext cx="100584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-0.022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257800" y="2843784"/>
            <a:ext cx="960120" cy="338328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257800" y="2843784"/>
            <a:ext cx="96012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9EA3AB"/>
                </a:solidFill>
                <a:latin typeface="맑은 고딕"/>
              </a:rPr>
              <a:t>0.255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263640" y="2843784"/>
            <a:ext cx="822960" cy="338328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263640" y="2843784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9EA3AB"/>
                </a:solidFill>
                <a:latin typeface="맑은 고딕"/>
              </a:rPr>
              <a:t>ns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11480" y="3182112"/>
            <a:ext cx="164592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11480" y="3182112"/>
            <a:ext cx="164592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BCE+AEC256 norm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103120" y="3182112"/>
            <a:ext cx="100584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2103120" y="3182112"/>
            <a:ext cx="100584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0.8884</a:t>
            </a:r>
          </a:p>
        </p:txBody>
      </p:sp>
      <p:sp>
        <p:nvSpPr>
          <p:cNvPr id="72" name="Rectangle 71"/>
          <p:cNvSpPr/>
          <p:nvPr/>
        </p:nvSpPr>
        <p:spPr>
          <a:xfrm>
            <a:off x="3154680" y="3182112"/>
            <a:ext cx="100584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154680" y="3182112"/>
            <a:ext cx="100584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0.8858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206240" y="3182112"/>
            <a:ext cx="100584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206240" y="3182112"/>
            <a:ext cx="100584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-0.003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257800" y="3182112"/>
            <a:ext cx="96012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257800" y="3182112"/>
            <a:ext cx="96012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9EA3AB"/>
                </a:solidFill>
                <a:latin typeface="맑은 고딕"/>
              </a:rPr>
              <a:t>0.851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263640" y="3182112"/>
            <a:ext cx="82296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263640" y="3182112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9EA3AB"/>
                </a:solidFill>
                <a:latin typeface="맑은 고딕"/>
              </a:rPr>
              <a:t>ns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11480" y="3520440"/>
            <a:ext cx="1645920" cy="338328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11480" y="3520440"/>
            <a:ext cx="164592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BCE+AEC256 len128</a:t>
            </a:r>
          </a:p>
        </p:txBody>
      </p:sp>
      <p:sp>
        <p:nvSpPr>
          <p:cNvPr id="82" name="Rectangle 81"/>
          <p:cNvSpPr/>
          <p:nvPr/>
        </p:nvSpPr>
        <p:spPr>
          <a:xfrm>
            <a:off x="2103120" y="3520440"/>
            <a:ext cx="1005840" cy="338328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2103120" y="3520440"/>
            <a:ext cx="100584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0.8694</a:t>
            </a:r>
          </a:p>
        </p:txBody>
      </p:sp>
      <p:sp>
        <p:nvSpPr>
          <p:cNvPr id="84" name="Rectangle 83"/>
          <p:cNvSpPr/>
          <p:nvPr/>
        </p:nvSpPr>
        <p:spPr>
          <a:xfrm>
            <a:off x="3154680" y="3520440"/>
            <a:ext cx="1005840" cy="338328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3154680" y="3520440"/>
            <a:ext cx="100584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0.8559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206240" y="3520440"/>
            <a:ext cx="1005840" cy="338328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4206240" y="3520440"/>
            <a:ext cx="100584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-0.014</a:t>
            </a:r>
          </a:p>
        </p:txBody>
      </p:sp>
      <p:sp>
        <p:nvSpPr>
          <p:cNvPr id="88" name="Rectangle 87"/>
          <p:cNvSpPr/>
          <p:nvPr/>
        </p:nvSpPr>
        <p:spPr>
          <a:xfrm>
            <a:off x="5257800" y="3520440"/>
            <a:ext cx="960120" cy="338328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5257800" y="3520440"/>
            <a:ext cx="96012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9EA3AB"/>
                </a:solidFill>
                <a:latin typeface="맑은 고딕"/>
              </a:rPr>
              <a:t>0.530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263640" y="3520440"/>
            <a:ext cx="822960" cy="338328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263640" y="3520440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9EA3AB"/>
                </a:solidFill>
                <a:latin typeface="맑은 고딕"/>
              </a:rPr>
              <a:t>ns</a:t>
            </a:r>
          </a:p>
        </p:txBody>
      </p:sp>
      <p:sp>
        <p:nvSpPr>
          <p:cNvPr id="92" name="Rectangle 91"/>
          <p:cNvSpPr/>
          <p:nvPr/>
        </p:nvSpPr>
        <p:spPr>
          <a:xfrm>
            <a:off x="411480" y="3858768"/>
            <a:ext cx="164592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11480" y="3858768"/>
            <a:ext cx="164592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Focal+AEC128 norm</a:t>
            </a:r>
          </a:p>
        </p:txBody>
      </p:sp>
      <p:sp>
        <p:nvSpPr>
          <p:cNvPr id="94" name="Rectangle 93"/>
          <p:cNvSpPr/>
          <p:nvPr/>
        </p:nvSpPr>
        <p:spPr>
          <a:xfrm>
            <a:off x="2103120" y="3858768"/>
            <a:ext cx="100584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2103120" y="3858768"/>
            <a:ext cx="100584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0.8739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154680" y="3858768"/>
            <a:ext cx="100584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154680" y="3858768"/>
            <a:ext cx="100584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0.8448</a:t>
            </a:r>
          </a:p>
        </p:txBody>
      </p:sp>
      <p:sp>
        <p:nvSpPr>
          <p:cNvPr id="98" name="Rectangle 97"/>
          <p:cNvSpPr/>
          <p:nvPr/>
        </p:nvSpPr>
        <p:spPr>
          <a:xfrm>
            <a:off x="4206240" y="3858768"/>
            <a:ext cx="100584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206240" y="3858768"/>
            <a:ext cx="100584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-0.029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257800" y="3858768"/>
            <a:ext cx="96012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257800" y="3858768"/>
            <a:ext cx="96012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9EA3AB"/>
                </a:solidFill>
                <a:latin typeface="맑은 고딕"/>
              </a:rPr>
              <a:t>0.296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6263640" y="3858768"/>
            <a:ext cx="82296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6263640" y="3858768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9EA3AB"/>
                </a:solidFill>
                <a:latin typeface="맑은 고딕"/>
              </a:rPr>
              <a:t>ns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11480" y="4197096"/>
            <a:ext cx="1645920" cy="338328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411480" y="4197096"/>
            <a:ext cx="164592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Focal+AEC256 norm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2103120" y="4197096"/>
            <a:ext cx="1005840" cy="338328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2103120" y="4197096"/>
            <a:ext cx="100584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0.8600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3154680" y="4197096"/>
            <a:ext cx="1005840" cy="338328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3154680" y="4197096"/>
            <a:ext cx="100584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0.8641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206240" y="4197096"/>
            <a:ext cx="1005840" cy="338328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4206240" y="4197096"/>
            <a:ext cx="100584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+0.004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257800" y="4197096"/>
            <a:ext cx="960120" cy="338328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5257800" y="4197096"/>
            <a:ext cx="96012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9EA3AB"/>
                </a:solidFill>
                <a:latin typeface="맑은 고딕"/>
              </a:rPr>
              <a:t>0.807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6263640" y="4197096"/>
            <a:ext cx="822960" cy="338328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6263640" y="4197096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9EA3AB"/>
                </a:solidFill>
                <a:latin typeface="맑은 고딕"/>
              </a:rPr>
              <a:t>ns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411480" y="4535424"/>
            <a:ext cx="164592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411480" y="4535424"/>
            <a:ext cx="164592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Focal+AEC256 excl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2103120" y="4535424"/>
            <a:ext cx="100584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2103120" y="4535424"/>
            <a:ext cx="100584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0.8854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3154680" y="4535424"/>
            <a:ext cx="100584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3154680" y="4535424"/>
            <a:ext cx="100584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0.8174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4206240" y="4535424"/>
            <a:ext cx="100584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4206240" y="4535424"/>
            <a:ext cx="100584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-0.068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5257800" y="4535424"/>
            <a:ext cx="96012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5257800" y="4535424"/>
            <a:ext cx="96012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E8B4C"/>
                </a:solidFill>
                <a:latin typeface="맑은 고딕"/>
              </a:rPr>
              <a:t>0.013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6263640" y="4535424"/>
            <a:ext cx="82296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6263640" y="4535424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E8B4C"/>
                </a:solidFill>
                <a:latin typeface="맑은 고딕"/>
              </a:rPr>
              <a:t>*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7315200" y="1097280"/>
            <a:ext cx="46634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1A1A2E"/>
                </a:solidFill>
                <a:latin typeface="맑은 고딕"/>
              </a:rPr>
              <a:t>ROC — BCE+AEC128+norm  (M2 vs M3 근소 차이)</a:t>
            </a:r>
          </a:p>
        </p:txBody>
      </p:sp>
      <p:pic>
        <p:nvPicPr>
          <p:cNvPr id="129" name="Picture 128" descr="roc_all_models_n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389888"/>
            <a:ext cx="4663440" cy="2450592"/>
          </a:xfrm>
          <a:prstGeom prst="rect">
            <a:avLst/>
          </a:prstGeom>
        </p:spPr>
      </p:pic>
      <p:sp>
        <p:nvSpPr>
          <p:cNvPr id="130" name="Rectangle 129"/>
          <p:cNvSpPr/>
          <p:nvPr/>
        </p:nvSpPr>
        <p:spPr>
          <a:xfrm>
            <a:off x="7315200" y="3977639"/>
            <a:ext cx="4663440" cy="26517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7315200" y="3977639"/>
            <a:ext cx="91440" cy="2651760"/>
          </a:xfrm>
          <a:prstGeom prst="rect">
            <a:avLst/>
          </a:prstGeom>
          <a:solidFill>
            <a:srgbClr val="9EA3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7498079" y="4050791"/>
            <a:ext cx="4297680" cy="301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>
                <a:solidFill>
                  <a:srgbClr val="9EA3AB"/>
                </a:solidFill>
                <a:latin typeface="맑은 고딕"/>
              </a:rPr>
              <a:t>해석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7498079" y="4434840"/>
            <a:ext cx="4297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50" b="0" i="0">
                <a:solidFill>
                  <a:srgbClr val="1A1A2E"/>
                </a:solidFill>
                <a:latin typeface="맑은 고딕"/>
              </a:rPr>
              <a:t>• M2 vs M3: 20개 조건 중 19개 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7498079" y="4782312"/>
            <a:ext cx="4297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50" b="0" i="0">
                <a:solidFill>
                  <a:srgbClr val="1A1A2E"/>
                </a:solidFill>
                <a:latin typeface="맑은 고딕"/>
              </a:rPr>
              <a:t>  → Scanner 정보가 AUC에 통계적 유의차 미산출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498079" y="5129783"/>
            <a:ext cx="4297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50" b="0" i="0">
                <a:solidFill>
                  <a:srgbClr val="1A1A2E"/>
                </a:solidFill>
                <a:latin typeface="맑은 고딕"/>
              </a:rPr>
              <a:t>• 예외: Focal+AEC256+excl_extreme p=0.013 (*)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7498079" y="5477256"/>
            <a:ext cx="4297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50" b="0" i="0">
                <a:solidFill>
                  <a:srgbClr val="1A1A2E"/>
                </a:solidFill>
                <a:latin typeface="맑은 고딕"/>
              </a:rPr>
              <a:t>  → 단 1건, 해석에 주의 필요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498079" y="5824727"/>
            <a:ext cx="4297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50" b="0" i="0">
                <a:solidFill>
                  <a:srgbClr val="1A1A2E"/>
                </a:solidFill>
                <a:latin typeface="맑은 고딕"/>
              </a:rPr>
              <a:t>• M3는 일관되게 M2보다 미세하게 높거나 비슷함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498079" y="6172200"/>
            <a:ext cx="4297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50" b="0" i="0">
                <a:solidFill>
                  <a:srgbClr val="1A1A2E"/>
                </a:solidFill>
                <a:latin typeface="맑은 고딕"/>
              </a:rPr>
              <a:t>  → 방향성은 존재, 검출력 부족 가능성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498079" y="6519672"/>
            <a:ext cx="4297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50" b="0" i="0">
                <a:solidFill>
                  <a:srgbClr val="1A1A2E"/>
                </a:solidFill>
                <a:latin typeface="맑은 고딕"/>
              </a:rPr>
              <a:t>• 추후 n↑ → M2 vs M3 재검증 권장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1247120" y="653796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9EA3AB"/>
                </a:solidFill>
                <a:latin typeface="맑은 고딕"/>
              </a:rPr>
              <a:t>8 / 42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058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500" b="1" i="0">
                <a:solidFill>
                  <a:srgbClr val="FFFFFF"/>
                </a:solidFill>
                <a:latin typeface="맑은 고딕"/>
              </a:rPr>
              <a:t>M2 vs M2_2 비교 — 매칭 효과 검증 (음성 대조군)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0058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9EA3AB"/>
                </a:solidFill>
                <a:latin typeface="맑은 고딕"/>
              </a:rPr>
              <a:t>Matched(M2) vs Unmatched(M2_2)  |  AEC 개인 대응의 실질적 기여 확인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4389120" cy="132588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70432"/>
            <a:ext cx="4023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>
                <a:solidFill>
                  <a:srgbClr val="1A1A2E"/>
                </a:solidFill>
                <a:latin typeface="맑은 고딕"/>
              </a:rPr>
              <a:t>실험 설계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63040"/>
            <a:ext cx="4023360" cy="36576"/>
          </a:xfrm>
          <a:prstGeom prst="rect">
            <a:avLst/>
          </a:prstGeom>
          <a:solidFill>
            <a:srgbClr val="0F9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54480"/>
            <a:ext cx="4023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맑은 고딕"/>
              </a:rPr>
              <a:t>M2: 환자 i의 Clinic + 환자 i의 AEC (동일 환자)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847088"/>
            <a:ext cx="4023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맑은 고딕"/>
              </a:rPr>
              <a:t>M2_2: 환자 i의 Clinic + 환자 j의 AEC (다른 환자)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139696"/>
            <a:ext cx="4023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맑은 고딕"/>
              </a:rPr>
              <a:t>→ 동일 CrossAttention 구조 / AEC만 랜덤 셔플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2542032"/>
            <a:ext cx="6858000" cy="36576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615184"/>
            <a:ext cx="6492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>
                <a:solidFill>
                  <a:srgbClr val="1A1A2E"/>
                </a:solidFill>
                <a:latin typeface="맑은 고딕"/>
              </a:rPr>
              <a:t>DeLong Test — M2(Matched) vs M2_2(Unmatched)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907792"/>
            <a:ext cx="6492240" cy="36576"/>
          </a:xfrm>
          <a:prstGeom prst="rect">
            <a:avLst/>
          </a:prstGeom>
          <a:solidFill>
            <a:srgbClr val="0F9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11480" y="2953512"/>
            <a:ext cx="1828800" cy="2743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2953512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</a:rPr>
              <a:t>조건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86000" y="2953512"/>
            <a:ext cx="1051560" cy="2743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286000" y="2953512"/>
            <a:ext cx="1051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</a:rPr>
              <a:t>M2 AUC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383280" y="2953512"/>
            <a:ext cx="1143000" cy="2743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383280" y="2953512"/>
            <a:ext cx="1143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</a:rPr>
              <a:t>M2_2 AUC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0" y="2953512"/>
            <a:ext cx="822960" cy="2743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2953512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</a:rPr>
              <a:t>Δ AUC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40680" y="2953512"/>
            <a:ext cx="868680" cy="2743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40680" y="2953512"/>
            <a:ext cx="868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</a:rPr>
              <a:t>p-val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55080" y="2953512"/>
            <a:ext cx="822960" cy="2743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55080" y="2953512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</a:rPr>
              <a:t>sig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" y="3246120"/>
            <a:ext cx="182880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480" y="3246120"/>
            <a:ext cx="182880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BCE+AEC128 norm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86000" y="3246120"/>
            <a:ext cx="105156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286000" y="3246120"/>
            <a:ext cx="10515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0.8868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383280" y="3246120"/>
            <a:ext cx="114300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383280" y="3246120"/>
            <a:ext cx="114300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0.8420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0" y="3246120"/>
            <a:ext cx="82296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0" y="3246120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+0.045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40680" y="3246120"/>
            <a:ext cx="86868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40680" y="3246120"/>
            <a:ext cx="8686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9EA3AB"/>
                </a:solidFill>
                <a:latin typeface="맑은 고딕"/>
              </a:rPr>
              <a:t>0.138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355080" y="3246120"/>
            <a:ext cx="82296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55080" y="3246120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9EA3AB"/>
                </a:solidFill>
                <a:latin typeface="맑은 고딕"/>
              </a:rPr>
              <a:t>ns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11480" y="3584448"/>
            <a:ext cx="1828800" cy="338328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11480" y="3584448"/>
            <a:ext cx="182880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BCE+AEC128 excl_ext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286000" y="3584448"/>
            <a:ext cx="1051560" cy="338328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286000" y="3584448"/>
            <a:ext cx="10515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0.8339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383280" y="3584448"/>
            <a:ext cx="1143000" cy="338328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383280" y="3584448"/>
            <a:ext cx="114300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0.5596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572000" y="3584448"/>
            <a:ext cx="822960" cy="338328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572000" y="3584448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+0.274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440680" y="3584448"/>
            <a:ext cx="868680" cy="338328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40680" y="3584448"/>
            <a:ext cx="8686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C0392B"/>
                </a:solidFill>
                <a:latin typeface="맑은 고딕"/>
              </a:rPr>
              <a:t>&lt;0.001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355080" y="3584448"/>
            <a:ext cx="822960" cy="338328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55080" y="3584448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C0392B"/>
                </a:solidFill>
                <a:latin typeface="맑은 고딕"/>
              </a:rPr>
              <a:t>***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11480" y="3922776"/>
            <a:ext cx="182880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11480" y="3922776"/>
            <a:ext cx="182880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BCE+AEC256 norm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286000" y="3922776"/>
            <a:ext cx="105156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286000" y="3922776"/>
            <a:ext cx="10515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0.8884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383280" y="3922776"/>
            <a:ext cx="114300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383280" y="3922776"/>
            <a:ext cx="114300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0.7931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572000" y="3922776"/>
            <a:ext cx="82296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572000" y="3922776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+0.095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440680" y="3922776"/>
            <a:ext cx="86868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440680" y="3922776"/>
            <a:ext cx="8686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C0392B"/>
                </a:solidFill>
                <a:latin typeface="맑은 고딕"/>
              </a:rPr>
              <a:t>0.005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355080" y="3922776"/>
            <a:ext cx="82296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355080" y="3922776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C0392B"/>
                </a:solidFill>
                <a:latin typeface="맑은 고딕"/>
              </a:rPr>
              <a:t>**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11480" y="4261104"/>
            <a:ext cx="1828800" cy="338328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11480" y="4261104"/>
            <a:ext cx="182880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BCE+AEC256 excl_ext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286000" y="4261104"/>
            <a:ext cx="1051560" cy="338328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286000" y="4261104"/>
            <a:ext cx="10515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0.8507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383280" y="4261104"/>
            <a:ext cx="1143000" cy="338328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383280" y="4261104"/>
            <a:ext cx="114300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0.5474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572000" y="4261104"/>
            <a:ext cx="822960" cy="338328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72000" y="4261104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+0.303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440680" y="4261104"/>
            <a:ext cx="868680" cy="338328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440680" y="4261104"/>
            <a:ext cx="8686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C0392B"/>
                </a:solidFill>
                <a:latin typeface="맑은 고딕"/>
              </a:rPr>
              <a:t>&lt;0.001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355080" y="4261104"/>
            <a:ext cx="822960" cy="338328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355080" y="4261104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C0392B"/>
                </a:solidFill>
                <a:latin typeface="맑은 고딕"/>
              </a:rPr>
              <a:t>***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11480" y="4599431"/>
            <a:ext cx="182880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11480" y="4599431"/>
            <a:ext cx="182880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Focal+AEC128 norm</a:t>
            </a:r>
          </a:p>
        </p:txBody>
      </p:sp>
      <p:sp>
        <p:nvSpPr>
          <p:cNvPr id="76" name="Rectangle 75"/>
          <p:cNvSpPr/>
          <p:nvPr/>
        </p:nvSpPr>
        <p:spPr>
          <a:xfrm>
            <a:off x="2286000" y="4599431"/>
            <a:ext cx="105156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286000" y="4599431"/>
            <a:ext cx="10515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0.8739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383280" y="4599431"/>
            <a:ext cx="114300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383280" y="4599431"/>
            <a:ext cx="114300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0.7975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572000" y="4599431"/>
            <a:ext cx="82296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72000" y="4599431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+0.076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440680" y="4599431"/>
            <a:ext cx="86868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440680" y="4599431"/>
            <a:ext cx="8686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C0392B"/>
                </a:solidFill>
                <a:latin typeface="맑은 고딕"/>
              </a:rPr>
              <a:t>0.008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355080" y="4599431"/>
            <a:ext cx="82296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355080" y="4599431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C0392B"/>
                </a:solidFill>
                <a:latin typeface="맑은 고딕"/>
              </a:rPr>
              <a:t>**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11480" y="4937760"/>
            <a:ext cx="1828800" cy="338328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411480" y="4937760"/>
            <a:ext cx="182880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Focal+AEC128 excl_ext</a:t>
            </a:r>
          </a:p>
        </p:txBody>
      </p:sp>
      <p:sp>
        <p:nvSpPr>
          <p:cNvPr id="88" name="Rectangle 87"/>
          <p:cNvSpPr/>
          <p:nvPr/>
        </p:nvSpPr>
        <p:spPr>
          <a:xfrm>
            <a:off x="2286000" y="4937760"/>
            <a:ext cx="1051560" cy="338328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2286000" y="4937760"/>
            <a:ext cx="10515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0.8854</a:t>
            </a:r>
          </a:p>
        </p:txBody>
      </p:sp>
      <p:sp>
        <p:nvSpPr>
          <p:cNvPr id="90" name="Rectangle 89"/>
          <p:cNvSpPr/>
          <p:nvPr/>
        </p:nvSpPr>
        <p:spPr>
          <a:xfrm>
            <a:off x="3383280" y="4937760"/>
            <a:ext cx="1143000" cy="338328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3383280" y="4937760"/>
            <a:ext cx="114300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0.5503</a:t>
            </a:r>
          </a:p>
        </p:txBody>
      </p:sp>
      <p:sp>
        <p:nvSpPr>
          <p:cNvPr id="92" name="Rectangle 91"/>
          <p:cNvSpPr/>
          <p:nvPr/>
        </p:nvSpPr>
        <p:spPr>
          <a:xfrm>
            <a:off x="4572000" y="4937760"/>
            <a:ext cx="822960" cy="338328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572000" y="4937760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+0.335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440680" y="4937760"/>
            <a:ext cx="868680" cy="338328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440680" y="4937760"/>
            <a:ext cx="8686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C0392B"/>
                </a:solidFill>
                <a:latin typeface="맑은 고딕"/>
              </a:rPr>
              <a:t>&lt;0.001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355080" y="4937760"/>
            <a:ext cx="822960" cy="338328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355080" y="4937760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C0392B"/>
                </a:solidFill>
                <a:latin typeface="맑은 고딕"/>
              </a:rPr>
              <a:t>***</a:t>
            </a:r>
          </a:p>
        </p:txBody>
      </p:sp>
      <p:sp>
        <p:nvSpPr>
          <p:cNvPr id="98" name="Rectangle 97"/>
          <p:cNvSpPr/>
          <p:nvPr/>
        </p:nvSpPr>
        <p:spPr>
          <a:xfrm>
            <a:off x="411480" y="5276088"/>
            <a:ext cx="182880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11480" y="5276088"/>
            <a:ext cx="182880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Focal+AEC256 norm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2286000" y="5276088"/>
            <a:ext cx="105156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2286000" y="5276088"/>
            <a:ext cx="10515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0.8600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3383280" y="5276088"/>
            <a:ext cx="114300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3383280" y="5276088"/>
            <a:ext cx="114300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0.8382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572000" y="5276088"/>
            <a:ext cx="82296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4572000" y="5276088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+0.022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440680" y="5276088"/>
            <a:ext cx="86868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440680" y="5276088"/>
            <a:ext cx="8686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9EA3AB"/>
                </a:solidFill>
                <a:latin typeface="맑은 고딕"/>
              </a:rPr>
              <a:t>0.489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355080" y="5276088"/>
            <a:ext cx="82296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355080" y="5276088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9EA3AB"/>
                </a:solidFill>
                <a:latin typeface="맑은 고딕"/>
              </a:rPr>
              <a:t>ns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11480" y="5614416"/>
            <a:ext cx="1828800" cy="338328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411480" y="5614416"/>
            <a:ext cx="182880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Focal+AEC256 excl_ext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2286000" y="5614416"/>
            <a:ext cx="1051560" cy="338328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2286000" y="5614416"/>
            <a:ext cx="10515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0.8854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3383280" y="5614416"/>
            <a:ext cx="1143000" cy="338328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3383280" y="5614416"/>
            <a:ext cx="114300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0.5353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4572000" y="5614416"/>
            <a:ext cx="822960" cy="338328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4572000" y="5614416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+0.350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5440680" y="5614416"/>
            <a:ext cx="868680" cy="338328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5440680" y="5614416"/>
            <a:ext cx="8686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C0392B"/>
                </a:solidFill>
                <a:latin typeface="맑은 고딕"/>
              </a:rPr>
              <a:t>&lt;0.001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6355080" y="5614416"/>
            <a:ext cx="822960" cy="338328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6355080" y="5614416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C0392B"/>
                </a:solidFill>
                <a:latin typeface="맑은 고딕"/>
              </a:rPr>
              <a:t>***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315200" y="1097280"/>
            <a:ext cx="46634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1A1A2E"/>
                </a:solidFill>
                <a:latin typeface="맑은 고딕"/>
              </a:rPr>
              <a:t>ROC — excl_extreme 조건 (가장 극적인 차이)</a:t>
            </a:r>
          </a:p>
        </p:txBody>
      </p:sp>
      <p:pic>
        <p:nvPicPr>
          <p:cNvPr id="123" name="Picture 122" descr="roc_all_models_excl_extre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389888"/>
            <a:ext cx="4663440" cy="2331720"/>
          </a:xfrm>
          <a:prstGeom prst="rect">
            <a:avLst/>
          </a:prstGeom>
        </p:spPr>
      </p:pic>
      <p:sp>
        <p:nvSpPr>
          <p:cNvPr id="124" name="Rectangle 123"/>
          <p:cNvSpPr/>
          <p:nvPr/>
        </p:nvSpPr>
        <p:spPr>
          <a:xfrm>
            <a:off x="7315200" y="3840480"/>
            <a:ext cx="4663440" cy="2359152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7315200" y="3840480"/>
            <a:ext cx="91440" cy="23591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7498079" y="3913632"/>
            <a:ext cx="4297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>
                <a:solidFill>
                  <a:srgbClr val="E87400"/>
                </a:solidFill>
                <a:latin typeface="맑은 고딕"/>
              </a:rPr>
              <a:t>해석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498079" y="4261104"/>
            <a:ext cx="4297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50" b="0" i="0">
                <a:solidFill>
                  <a:srgbClr val="1A1A2E"/>
                </a:solidFill>
                <a:latin typeface="맑은 고딕"/>
              </a:rPr>
              <a:t>• excl_extreme: M2(0.834) vs M2_2(0.560) Δ=+0.274 ***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7498079" y="4608576"/>
            <a:ext cx="4297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50" b="0" i="0">
                <a:solidFill>
                  <a:srgbClr val="1A1A2E"/>
                </a:solidFill>
                <a:latin typeface="맑은 고딕"/>
              </a:rPr>
              <a:t>  → AEC는 개인별 고유 신호 — 단순 체형 proxy 아님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498079" y="4956048"/>
            <a:ext cx="4297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50" b="0" i="0">
                <a:solidFill>
                  <a:srgbClr val="1A1A2E"/>
                </a:solidFill>
                <a:latin typeface="맑은 고딕"/>
              </a:rPr>
              <a:t>• BCE+AEC256+norm: Δ=+0.095 **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498079" y="5303520"/>
            <a:ext cx="4297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50" b="0" i="0">
                <a:solidFill>
                  <a:srgbClr val="1A1A2E"/>
                </a:solidFill>
                <a:latin typeface="맑은 고딕"/>
              </a:rPr>
              <a:t>• Focal+AEC128+norm: Δ=+0.076 **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7498079" y="5650992"/>
            <a:ext cx="4297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50" b="0" i="0">
                <a:solidFill>
                  <a:srgbClr val="1A1A2E"/>
                </a:solidFill>
                <a:latin typeface="맑은 고딕"/>
              </a:rPr>
              <a:t>• norm 조건: Loss·AEC길이에 따라 매칭 효과 강도 상이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7498079" y="5998464"/>
            <a:ext cx="4297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50" b="0" i="0">
                <a:solidFill>
                  <a:srgbClr val="1A1A2E"/>
                </a:solidFill>
                <a:latin typeface="맑은 고딕"/>
              </a:rPr>
              <a:t>  → AEC 신호의 개인 대응이 예측력의 핵심 요소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1247120" y="653796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9EA3AB"/>
                </a:solidFill>
                <a:latin typeface="맑은 고딕"/>
              </a:rPr>
              <a:t>9 / 42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058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500" b="1" i="0">
                <a:solidFill>
                  <a:srgbClr val="FFFFFF"/>
                </a:solidFill>
                <a:latin typeface="맑은 고딕"/>
              </a:rPr>
              <a:t>전 시나리오 ROC 비교 — norm 조건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0058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9EA3AB"/>
                </a:solidFill>
                <a:latin typeface="맑은 고딕"/>
              </a:rPr>
              <a:t>Loss × AEC 길이 4가지 조합에서 M1·M2·M2₂·M3 비교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" y="1097280"/>
            <a:ext cx="5760720" cy="347472"/>
          </a:xfrm>
          <a:prstGeom prst="rect">
            <a:avLst/>
          </a:prstGeom>
          <a:solidFill>
            <a:srgbClr val="0F6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1115568"/>
            <a:ext cx="55778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맑은 고딕"/>
              </a:rPr>
              <a:t>BCE + AEC 128pt / norm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481328"/>
            <a:ext cx="55778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1A1A2E"/>
                </a:solidFill>
                <a:latin typeface="맑은 고딕"/>
              </a:rPr>
              <a:t>M1→M3: p=0.040 *  |  M1→M2: p=0.071 †</a:t>
            </a:r>
          </a:p>
        </p:txBody>
      </p:sp>
      <p:pic>
        <p:nvPicPr>
          <p:cNvPr id="8" name="Picture 7" descr="roc_all_models_n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755648"/>
            <a:ext cx="5760720" cy="27432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236208" y="1097280"/>
            <a:ext cx="5760720" cy="347472"/>
          </a:xfrm>
          <a:prstGeom prst="rect">
            <a:avLst/>
          </a:prstGeom>
          <a:solidFill>
            <a:srgbClr val="0F9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27648" y="1115568"/>
            <a:ext cx="55778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맑은 고딕"/>
              </a:rPr>
              <a:t>BCE + AEC 256pt / norm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1481328"/>
            <a:ext cx="55778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1A1A2E"/>
                </a:solidFill>
                <a:latin typeface="맑은 고딕"/>
              </a:rPr>
              <a:t>M1→M2: p=0.013 *  |  M1→M3: p=0.062 †</a:t>
            </a:r>
          </a:p>
        </p:txBody>
      </p:sp>
      <p:pic>
        <p:nvPicPr>
          <p:cNvPr id="12" name="Picture 11" descr="roc_all_models_nor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6208" y="1755648"/>
            <a:ext cx="5760720" cy="2743200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228600" y="3931920"/>
            <a:ext cx="5760720" cy="34747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0040" y="3950207"/>
            <a:ext cx="55778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맑은 고딕"/>
              </a:rPr>
              <a:t>Focal + AEC 128pt / norm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" y="4315968"/>
            <a:ext cx="55778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1A1A2E"/>
                </a:solidFill>
                <a:latin typeface="맑은 고딕"/>
              </a:rPr>
              <a:t>M1→M2: p=0.079 †  |  M1→M3: ns</a:t>
            </a:r>
          </a:p>
        </p:txBody>
      </p:sp>
      <p:pic>
        <p:nvPicPr>
          <p:cNvPr id="16" name="Picture 15" descr="roc_all_models_nor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600" y="4590288"/>
            <a:ext cx="5760720" cy="274320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6236208" y="3931920"/>
            <a:ext cx="5760720" cy="347472"/>
          </a:xfrm>
          <a:prstGeom prst="rect">
            <a:avLst/>
          </a:prstGeom>
          <a:solidFill>
            <a:srgbClr val="9EA3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27648" y="3950207"/>
            <a:ext cx="55778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맑은 고딕"/>
              </a:rPr>
              <a:t>Focal + AEC 256pt / norm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27648" y="4315968"/>
            <a:ext cx="55778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1A1A2E"/>
                </a:solidFill>
                <a:latin typeface="맑은 고딕"/>
              </a:rPr>
              <a:t>M1→M2: ns  |  M1→M3: ns</a:t>
            </a:r>
          </a:p>
        </p:txBody>
      </p:sp>
      <p:pic>
        <p:nvPicPr>
          <p:cNvPr id="20" name="Picture 19" descr="roc_all_models_nor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36208" y="4590288"/>
            <a:ext cx="5760720" cy="27432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1247120" y="653796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9EA3AB"/>
                </a:solidFill>
                <a:latin typeface="맑은 고딕"/>
              </a:rPr>
              <a:t>10 / 42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058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500" b="1" i="0">
                <a:solidFill>
                  <a:srgbClr val="FFFFFF"/>
                </a:solidFill>
                <a:latin typeface="맑은 고딕"/>
              </a:rPr>
              <a:t>Attention Map 비교 — M2 vs M3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0058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9EA3AB"/>
                </a:solidFill>
                <a:latin typeface="맑은 고딕"/>
              </a:rPr>
              <a:t>BCE + AEC 128pt + norm  |  CrossAttn(M2) · CrossAttn3(M3) 어텐션 패턴 비교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5760720" cy="347472"/>
          </a:xfrm>
          <a:prstGeom prst="rect">
            <a:avLst/>
          </a:prstGeom>
          <a:solidFill>
            <a:srgbClr val="0F9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115568"/>
            <a:ext cx="55778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맑은 고딕"/>
              </a:rPr>
              <a:t>Model 2  CrossAttn  (Clinic → AEC)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90472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9EA3AB"/>
                </a:solidFill>
                <a:latin typeface="맑은 고딕"/>
              </a:rPr>
              <a:t>Attention Heatmap (샘플별)</a:t>
            </a:r>
          </a:p>
        </p:txBody>
      </p:sp>
      <p:pic>
        <p:nvPicPr>
          <p:cNvPr id="8" name="Picture 7" descr="attention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737360"/>
            <a:ext cx="5669280" cy="23774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65760" y="4160520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9EA3AB"/>
                </a:solidFill>
                <a:latin typeface="맑은 고딕"/>
              </a:rPr>
              <a:t>Attention Map C→A (평균)</a:t>
            </a:r>
          </a:p>
        </p:txBody>
      </p:sp>
      <p:pic>
        <p:nvPicPr>
          <p:cNvPr id="10" name="Picture 9" descr="attention_map_c2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4407408"/>
            <a:ext cx="5669280" cy="233172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217920" y="1097280"/>
            <a:ext cx="5760720" cy="34747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59" y="1115568"/>
            <a:ext cx="55778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맑은 고딕"/>
              </a:rPr>
              <a:t>Model 3  CrossAttn3  (Clinic+Scanner → AEC)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59" y="1490472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9EA3AB"/>
                </a:solidFill>
                <a:latin typeface="맑은 고딕"/>
              </a:rPr>
              <a:t>Attention Heatmap (샘플별)</a:t>
            </a:r>
          </a:p>
        </p:txBody>
      </p:sp>
      <p:pic>
        <p:nvPicPr>
          <p:cNvPr id="14" name="Picture 13" descr="attention_heatma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1737360"/>
            <a:ext cx="5669280" cy="23774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309359" y="4160520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9EA3AB"/>
                </a:solidFill>
                <a:latin typeface="맑은 고딕"/>
              </a:rPr>
              <a:t>Attention Map C→A (평균)</a:t>
            </a:r>
          </a:p>
        </p:txBody>
      </p:sp>
      <p:pic>
        <p:nvPicPr>
          <p:cNvPr id="16" name="Picture 15" descr="attention_map_c2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7920" y="4407408"/>
            <a:ext cx="5669280" cy="233172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1247120" y="653796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9EA3AB"/>
                </a:solidFill>
                <a:latin typeface="맑은 고딕"/>
              </a:rPr>
              <a:t>11 / 42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058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500" b="1" i="0">
                <a:solidFill>
                  <a:srgbClr val="FFFFFF"/>
                </a:solidFill>
                <a:latin typeface="맑은 고딕"/>
              </a:rPr>
              <a:t>최적 조건 상세 비교 — BCE + AEC128+norm  vs  BCE + AEC256+norm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0058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9EA3AB"/>
                </a:solidFill>
                <a:latin typeface="맑은 고딕"/>
              </a:rPr>
              <a:t>두 조건에서 독립적으로 통계 유의성 확인  |  Brier → Calibration 참조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11612880" cy="594360"/>
          </a:xfrm>
          <a:prstGeom prst="rect">
            <a:avLst/>
          </a:prstGeom>
          <a:solidFill>
            <a:srgbClr val="E8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097280"/>
            <a:ext cx="109728" cy="594360"/>
          </a:xfrm>
          <a:prstGeom prst="rect">
            <a:avLst/>
          </a:prstGeom>
          <a:solidFill>
            <a:srgbClr val="1E8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161288"/>
            <a:ext cx="1106424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1A1A2E"/>
                </a:solidFill>
                <a:latin typeface="맑은 고딕"/>
              </a:rPr>
              <a:t>BCE+AEC128+norm: M1→M3 p=0.040 (*)  /  BCE+AEC256+norm: M1→M2 p=0.013 (*) · M2 vs M2_2 p=0.005 (**)  → 두 조건 모두 AEC 기여 통계 검증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783080"/>
            <a:ext cx="1097280" cy="2743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178308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</a:rPr>
              <a:t>모델</a:t>
            </a:r>
          </a:p>
        </p:txBody>
      </p:sp>
      <p:sp>
        <p:nvSpPr>
          <p:cNvPr id="10" name="Rectangle 9"/>
          <p:cNvSpPr/>
          <p:nvPr/>
        </p:nvSpPr>
        <p:spPr>
          <a:xfrm>
            <a:off x="1417320" y="1783080"/>
            <a:ext cx="1097280" cy="2743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17320" y="178308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</a:rPr>
              <a:t>AUC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60320" y="1783080"/>
            <a:ext cx="1508760" cy="2743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60320" y="1783080"/>
            <a:ext cx="1508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</a:rPr>
              <a:t>95% CI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0" y="1783080"/>
            <a:ext cx="960120" cy="2743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0" y="1783080"/>
            <a:ext cx="960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</a:rPr>
              <a:t>AUPRC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20640" y="1783080"/>
            <a:ext cx="914400" cy="2743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0" y="178308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</a:rPr>
              <a:t>Brier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80760" y="1783080"/>
            <a:ext cx="914400" cy="2743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80760" y="178308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</a:rPr>
              <a:t>F1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040880" y="1783080"/>
            <a:ext cx="1508760" cy="2743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40880" y="1783080"/>
            <a:ext cx="1508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</a:rPr>
              <a:t>BCE128 DeLong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595360" y="1783080"/>
            <a:ext cx="1508760" cy="2743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95360" y="1783080"/>
            <a:ext cx="1508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</a:rPr>
              <a:t>BCE256 DeLong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149840" y="1783080"/>
            <a:ext cx="1874519" cy="2743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149840" y="1783080"/>
            <a:ext cx="187451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</a:rPr>
              <a:t>비고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075688"/>
            <a:ext cx="1097280" cy="365760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74320" y="2075688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M1 (LR)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417320" y="2075688"/>
            <a:ext cx="1097280" cy="365760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417320" y="2075688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0.8325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60320" y="2075688"/>
            <a:ext cx="1508760" cy="365760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560320" y="2075688"/>
            <a:ext cx="1508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[0.739,0.909]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0" y="2075688"/>
            <a:ext cx="960120" cy="365760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0" y="2075688"/>
            <a:ext cx="960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0.5008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120640" y="2075688"/>
            <a:ext cx="914400" cy="365760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120640" y="2075688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0.1804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080760" y="2075688"/>
            <a:ext cx="914400" cy="365760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80760" y="2075688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0.3953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040880" y="2075688"/>
            <a:ext cx="1508760" cy="365760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040880" y="2075688"/>
            <a:ext cx="1508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9EA3AB"/>
                </a:solidFill>
                <a:latin typeface="맑은 고딕"/>
              </a:rPr>
              <a:t>기준선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595360" y="2075688"/>
            <a:ext cx="1508760" cy="365760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595360" y="2075688"/>
            <a:ext cx="1508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9EA3AB"/>
                </a:solidFill>
                <a:latin typeface="맑은 고딕"/>
              </a:rPr>
              <a:t>기준선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0149840" y="2075688"/>
            <a:ext cx="1874519" cy="365760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149840" y="2075688"/>
            <a:ext cx="187451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9EA3AB"/>
                </a:solidFill>
                <a:latin typeface="맑은 고딕"/>
              </a:rPr>
              <a:t>Clinic Only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74320" y="2441448"/>
            <a:ext cx="1097280" cy="365760"/>
          </a:xfrm>
          <a:prstGeom prst="rect">
            <a:avLst/>
          </a:prstGeom>
          <a:solidFill>
            <a:srgbClr val="E8F4E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74320" y="2441448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1A1A2E"/>
                </a:solidFill>
                <a:latin typeface="맑은 고딕"/>
              </a:rPr>
              <a:t>M2 (CrossAttn)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417320" y="2441448"/>
            <a:ext cx="1097280" cy="365760"/>
          </a:xfrm>
          <a:prstGeom prst="rect">
            <a:avLst/>
          </a:prstGeom>
          <a:solidFill>
            <a:srgbClr val="E8F4E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417320" y="2441448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1A1A2E"/>
                </a:solidFill>
                <a:latin typeface="맑은 고딕"/>
              </a:rPr>
              <a:t>0.8868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560320" y="2441448"/>
            <a:ext cx="1508760" cy="365760"/>
          </a:xfrm>
          <a:prstGeom prst="rect">
            <a:avLst/>
          </a:prstGeom>
          <a:solidFill>
            <a:srgbClr val="E8F4E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560320" y="2441448"/>
            <a:ext cx="1508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1A1A2E"/>
                </a:solidFill>
                <a:latin typeface="맑은 고딕"/>
              </a:rPr>
              <a:t>[0.810,0.949]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114800" y="2441448"/>
            <a:ext cx="960120" cy="365760"/>
          </a:xfrm>
          <a:prstGeom prst="rect">
            <a:avLst/>
          </a:prstGeom>
          <a:solidFill>
            <a:srgbClr val="E8F4E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114800" y="2441448"/>
            <a:ext cx="960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1A1A2E"/>
                </a:solidFill>
                <a:latin typeface="맑은 고딕"/>
              </a:rPr>
              <a:t>0.5551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120640" y="2441448"/>
            <a:ext cx="914400" cy="365760"/>
          </a:xfrm>
          <a:prstGeom prst="rect">
            <a:avLst/>
          </a:prstGeom>
          <a:solidFill>
            <a:srgbClr val="E8F4E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120640" y="2441448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1A1A2E"/>
                </a:solidFill>
                <a:latin typeface="맑은 고딕"/>
              </a:rPr>
              <a:t>0.2124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080760" y="2441448"/>
            <a:ext cx="914400" cy="365760"/>
          </a:xfrm>
          <a:prstGeom prst="rect">
            <a:avLst/>
          </a:prstGeom>
          <a:solidFill>
            <a:srgbClr val="E8F4E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080760" y="2441448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1A1A2E"/>
                </a:solidFill>
                <a:latin typeface="맑은 고딕"/>
              </a:rPr>
              <a:t>0.4444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040880" y="2441448"/>
            <a:ext cx="1508760" cy="365760"/>
          </a:xfrm>
          <a:prstGeom prst="rect">
            <a:avLst/>
          </a:prstGeom>
          <a:solidFill>
            <a:srgbClr val="E8F4E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040880" y="2441448"/>
            <a:ext cx="1508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1E8B4C"/>
                </a:solidFill>
                <a:latin typeface="맑은 고딕"/>
              </a:rPr>
              <a:t>p=0.071 †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595360" y="2441448"/>
            <a:ext cx="1508760" cy="365760"/>
          </a:xfrm>
          <a:prstGeom prst="rect">
            <a:avLst/>
          </a:prstGeom>
          <a:solidFill>
            <a:srgbClr val="E8F4E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595360" y="2441448"/>
            <a:ext cx="1508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1E8B4C"/>
                </a:solidFill>
                <a:latin typeface="맑은 고딕"/>
              </a:rPr>
              <a:t>p=0.013 *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0149840" y="2441448"/>
            <a:ext cx="1874519" cy="365760"/>
          </a:xfrm>
          <a:prstGeom prst="rect">
            <a:avLst/>
          </a:prstGeom>
          <a:solidFill>
            <a:srgbClr val="E8F4E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0149840" y="2441448"/>
            <a:ext cx="187451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9EA3AB"/>
                </a:solidFill>
                <a:latin typeface="맑은 고딕"/>
              </a:rPr>
              <a:t>BCE128 vs 256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74320" y="2807208"/>
            <a:ext cx="109728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274320" y="2807208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M2_2 (Neg)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417320" y="2807208"/>
            <a:ext cx="109728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417320" y="2807208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0.8420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560320" y="2807208"/>
            <a:ext cx="150876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560320" y="2807208"/>
            <a:ext cx="1508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[0.750,0.919]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114800" y="2807208"/>
            <a:ext cx="96012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114800" y="2807208"/>
            <a:ext cx="960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0.5177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120640" y="2807208"/>
            <a:ext cx="91440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120640" y="2807208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0.1964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080760" y="2807208"/>
            <a:ext cx="91440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080760" y="2807208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0.3619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040880" y="2807208"/>
            <a:ext cx="150876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7040880" y="2807208"/>
            <a:ext cx="1508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9EA3AB"/>
                </a:solidFill>
                <a:latin typeface="맑은 고딕"/>
              </a:rPr>
              <a:t>(neg ctrl)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595360" y="2807208"/>
            <a:ext cx="150876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595360" y="2807208"/>
            <a:ext cx="1508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9EA3AB"/>
                </a:solidFill>
                <a:latin typeface="맑은 고딕"/>
              </a:rPr>
              <a:t>(neg ctrl)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0149840" y="2807208"/>
            <a:ext cx="1874519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0149840" y="2807208"/>
            <a:ext cx="187451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9EA3AB"/>
                </a:solidFill>
                <a:latin typeface="맑은 고딕"/>
              </a:rPr>
              <a:t>Unmatched</a:t>
            </a:r>
          </a:p>
        </p:txBody>
      </p:sp>
      <p:sp>
        <p:nvSpPr>
          <p:cNvPr id="80" name="Rectangle 79"/>
          <p:cNvSpPr/>
          <p:nvPr/>
        </p:nvSpPr>
        <p:spPr>
          <a:xfrm>
            <a:off x="274320" y="3172968"/>
            <a:ext cx="1097280" cy="365760"/>
          </a:xfrm>
          <a:prstGeom prst="rect">
            <a:avLst/>
          </a:prstGeom>
          <a:solidFill>
            <a:srgbClr val="FFF3E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274320" y="3172968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1A1A2E"/>
                </a:solidFill>
                <a:latin typeface="맑은 고딕"/>
              </a:rPr>
              <a:t>M3 (CrossAttn3)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417320" y="3172968"/>
            <a:ext cx="1097280" cy="365760"/>
          </a:xfrm>
          <a:prstGeom prst="rect">
            <a:avLst/>
          </a:prstGeom>
          <a:solidFill>
            <a:srgbClr val="FFF3E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417320" y="3172968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1A1A2E"/>
                </a:solidFill>
                <a:latin typeface="맑은 고딕"/>
              </a:rPr>
              <a:t>0.8944</a:t>
            </a:r>
          </a:p>
        </p:txBody>
      </p:sp>
      <p:sp>
        <p:nvSpPr>
          <p:cNvPr id="84" name="Rectangle 83"/>
          <p:cNvSpPr/>
          <p:nvPr/>
        </p:nvSpPr>
        <p:spPr>
          <a:xfrm>
            <a:off x="2560320" y="3172968"/>
            <a:ext cx="1508760" cy="365760"/>
          </a:xfrm>
          <a:prstGeom prst="rect">
            <a:avLst/>
          </a:prstGeom>
          <a:solidFill>
            <a:srgbClr val="FFF3E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560320" y="3172968"/>
            <a:ext cx="1508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1A1A2E"/>
                </a:solidFill>
                <a:latin typeface="맑은 고딕"/>
              </a:rPr>
              <a:t>[0.825,0.950]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114800" y="3172968"/>
            <a:ext cx="960120" cy="365760"/>
          </a:xfrm>
          <a:prstGeom prst="rect">
            <a:avLst/>
          </a:prstGeom>
          <a:solidFill>
            <a:srgbClr val="FFF3E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4114800" y="3172968"/>
            <a:ext cx="960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1A1A2E"/>
                </a:solidFill>
                <a:latin typeface="맑은 고딕"/>
              </a:rPr>
              <a:t>0.5636</a:t>
            </a:r>
          </a:p>
        </p:txBody>
      </p:sp>
      <p:sp>
        <p:nvSpPr>
          <p:cNvPr id="88" name="Rectangle 87"/>
          <p:cNvSpPr/>
          <p:nvPr/>
        </p:nvSpPr>
        <p:spPr>
          <a:xfrm>
            <a:off x="5120640" y="3172968"/>
            <a:ext cx="914400" cy="365760"/>
          </a:xfrm>
          <a:prstGeom prst="rect">
            <a:avLst/>
          </a:prstGeom>
          <a:solidFill>
            <a:srgbClr val="FFF3E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5120640" y="3172968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1A1A2E"/>
                </a:solidFill>
                <a:latin typeface="맑은 고딕"/>
              </a:rPr>
              <a:t>0.1952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080760" y="3172968"/>
            <a:ext cx="914400" cy="365760"/>
          </a:xfrm>
          <a:prstGeom prst="rect">
            <a:avLst/>
          </a:prstGeom>
          <a:solidFill>
            <a:srgbClr val="FFF3E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080760" y="3172968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1A1A2E"/>
                </a:solidFill>
                <a:latin typeface="맑은 고딕"/>
              </a:rPr>
              <a:t>0.4571</a:t>
            </a:r>
          </a:p>
        </p:txBody>
      </p:sp>
      <p:sp>
        <p:nvSpPr>
          <p:cNvPr id="92" name="Rectangle 91"/>
          <p:cNvSpPr/>
          <p:nvPr/>
        </p:nvSpPr>
        <p:spPr>
          <a:xfrm>
            <a:off x="7040880" y="3172968"/>
            <a:ext cx="1508760" cy="365760"/>
          </a:xfrm>
          <a:prstGeom prst="rect">
            <a:avLst/>
          </a:prstGeom>
          <a:solidFill>
            <a:srgbClr val="FFF3E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040880" y="3172968"/>
            <a:ext cx="1508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1E8B4C"/>
                </a:solidFill>
                <a:latin typeface="맑은 고딕"/>
              </a:rPr>
              <a:t>p=0.040 *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595360" y="3172968"/>
            <a:ext cx="1508760" cy="365760"/>
          </a:xfrm>
          <a:prstGeom prst="rect">
            <a:avLst/>
          </a:prstGeom>
          <a:solidFill>
            <a:srgbClr val="FFF3E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595360" y="3172968"/>
            <a:ext cx="1508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1E8B4C"/>
                </a:solidFill>
                <a:latin typeface="맑은 고딕"/>
              </a:rPr>
              <a:t>p=0.062 †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0149840" y="3172968"/>
            <a:ext cx="1874519" cy="365760"/>
          </a:xfrm>
          <a:prstGeom prst="rect">
            <a:avLst/>
          </a:prstGeom>
          <a:solidFill>
            <a:srgbClr val="FFF3E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10149840" y="3172968"/>
            <a:ext cx="187451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9EA3AB"/>
                </a:solidFill>
                <a:latin typeface="맑은 고딕"/>
              </a:rPr>
              <a:t>Best Overall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74320" y="3657600"/>
            <a:ext cx="3566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1A1A2E"/>
                </a:solidFill>
                <a:latin typeface="맑은 고딕"/>
              </a:rPr>
              <a:t>ROC — BCE+AEC128+norm</a:t>
            </a:r>
          </a:p>
        </p:txBody>
      </p:sp>
      <p:pic>
        <p:nvPicPr>
          <p:cNvPr id="99" name="Picture 98" descr="roc_all_models_n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3931920"/>
            <a:ext cx="3566160" cy="2697480"/>
          </a:xfrm>
          <a:prstGeom prst="rect">
            <a:avLst/>
          </a:prstGeom>
        </p:spPr>
      </p:pic>
      <p:sp>
        <p:nvSpPr>
          <p:cNvPr id="100" name="TextBox 99"/>
          <p:cNvSpPr txBox="1"/>
          <p:nvPr/>
        </p:nvSpPr>
        <p:spPr>
          <a:xfrm>
            <a:off x="3977639" y="3657600"/>
            <a:ext cx="3566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1A1A2E"/>
                </a:solidFill>
                <a:latin typeface="맑은 고딕"/>
              </a:rPr>
              <a:t>M3 Confusion Matrix</a:t>
            </a:r>
          </a:p>
        </p:txBody>
      </p:sp>
      <p:pic>
        <p:nvPicPr>
          <p:cNvPr id="101" name="Picture 100" descr="confusion_matric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7639" y="3931920"/>
            <a:ext cx="3566160" cy="2697480"/>
          </a:xfrm>
          <a:prstGeom prst="rect">
            <a:avLst/>
          </a:prstGeom>
        </p:spPr>
      </p:pic>
      <p:sp>
        <p:nvSpPr>
          <p:cNvPr id="102" name="Rectangle 101"/>
          <p:cNvSpPr/>
          <p:nvPr/>
        </p:nvSpPr>
        <p:spPr>
          <a:xfrm>
            <a:off x="7680960" y="3657600"/>
            <a:ext cx="4297680" cy="301752"/>
          </a:xfrm>
          <a:prstGeom prst="rect">
            <a:avLst/>
          </a:prstGeom>
          <a:solidFill>
            <a:srgbClr val="FFF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754112" y="3675887"/>
            <a:ext cx="4187952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E87400"/>
                </a:solidFill>
                <a:latin typeface="맑은 고딕"/>
              </a:rPr>
              <a:t>※ Calibration — M3  BCE+AEC128+norm  (Brier 0.1952)  (Brier 보정 품질 확인)</a:t>
            </a:r>
          </a:p>
        </p:txBody>
      </p:sp>
      <p:pic>
        <p:nvPicPr>
          <p:cNvPr id="104" name="Picture 103" descr="calibr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80960" y="3977639"/>
            <a:ext cx="4297680" cy="2651760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11247120" y="653796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9EA3AB"/>
                </a:solidFill>
                <a:latin typeface="맑은 고딕"/>
              </a:rPr>
              <a:t>12 / 42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058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500" b="1" i="0">
                <a:solidFill>
                  <a:srgbClr val="FFFFFF"/>
                </a:solidFill>
                <a:latin typeface="맑은 고딕"/>
              </a:rPr>
              <a:t>성별 분리 비교 — M1 vs M3  (BCE + AEC128 + norm)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0058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9EA3AB"/>
                </a:solidFill>
                <a:latin typeface="맑은 고딕"/>
              </a:rPr>
              <a:t>남성(n=71, 유병률 15.5%) · 여성(n=101, 유병률 9.9%) 분리 AUC 비교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11612880" cy="173736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43000"/>
            <a:ext cx="1325880" cy="2743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143000"/>
            <a:ext cx="13258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</a:rPr>
              <a:t>모델</a:t>
            </a:r>
          </a:p>
        </p:txBody>
      </p:sp>
      <p:sp>
        <p:nvSpPr>
          <p:cNvPr id="8" name="Rectangle 7"/>
          <p:cNvSpPr/>
          <p:nvPr/>
        </p:nvSpPr>
        <p:spPr>
          <a:xfrm>
            <a:off x="1737360" y="1143000"/>
            <a:ext cx="1188720" cy="2743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737360" y="1143000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</a:rPr>
              <a:t>전체 AUC</a:t>
            </a:r>
          </a:p>
        </p:txBody>
      </p:sp>
      <p:sp>
        <p:nvSpPr>
          <p:cNvPr id="10" name="Rectangle 9"/>
          <p:cNvSpPr/>
          <p:nvPr/>
        </p:nvSpPr>
        <p:spPr>
          <a:xfrm>
            <a:off x="2971800" y="1143000"/>
            <a:ext cx="1234440" cy="2743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71800" y="1143000"/>
            <a:ext cx="12344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</a:rPr>
              <a:t>전체 CI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51960" y="1143000"/>
            <a:ext cx="1234440" cy="2743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51960" y="1143000"/>
            <a:ext cx="12344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</a:rPr>
              <a:t>남성 AUC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32120" y="1143000"/>
            <a:ext cx="1188720" cy="2743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32120" y="1143000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</a:rPr>
              <a:t>남성 CI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766560" y="1143000"/>
            <a:ext cx="1234440" cy="2743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66560" y="1143000"/>
            <a:ext cx="12344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</a:rPr>
              <a:t>여성 AUC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46720" y="1143000"/>
            <a:ext cx="1234440" cy="2743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143000"/>
            <a:ext cx="12344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</a:rPr>
              <a:t>여성 CI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326880" y="1143000"/>
            <a:ext cx="1234440" cy="2743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26880" y="1143000"/>
            <a:ext cx="12344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</a:rPr>
              <a:t>남 AUPRC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607040" y="1143000"/>
            <a:ext cx="1417320" cy="2743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607040" y="1143000"/>
            <a:ext cx="1417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</a:rPr>
              <a:t>여 AUPRC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1435608"/>
            <a:ext cx="1325880" cy="374904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1435608"/>
            <a:ext cx="1325880" cy="3749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M1 (LR)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737360" y="1435608"/>
            <a:ext cx="1188720" cy="374904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737360" y="1435608"/>
            <a:ext cx="1188720" cy="3749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0.8325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971800" y="1435608"/>
            <a:ext cx="1234440" cy="374904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971800" y="1435608"/>
            <a:ext cx="1234440" cy="3749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[0.739,0.909]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251960" y="1435608"/>
            <a:ext cx="1234440" cy="374904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251960" y="1435608"/>
            <a:ext cx="1234440" cy="3749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0.8818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532120" y="1435608"/>
            <a:ext cx="1188720" cy="374904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532120" y="1435608"/>
            <a:ext cx="1188720" cy="3749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[0.786,0.956]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766560" y="1435608"/>
            <a:ext cx="1234440" cy="374904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766560" y="1435608"/>
            <a:ext cx="1234440" cy="3749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0.7923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046720" y="1435608"/>
            <a:ext cx="1234440" cy="374904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046720" y="1435608"/>
            <a:ext cx="1234440" cy="3749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[0.677,0.895]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326880" y="1435608"/>
            <a:ext cx="1234440" cy="374904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326880" y="1435608"/>
            <a:ext cx="1234440" cy="3749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0.6710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607040" y="1435608"/>
            <a:ext cx="1417320" cy="374904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607040" y="1435608"/>
            <a:ext cx="1417320" cy="3749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0.3197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65760" y="1810512"/>
            <a:ext cx="1325880" cy="374904"/>
          </a:xfrm>
          <a:prstGeom prst="rect">
            <a:avLst/>
          </a:prstGeom>
          <a:solidFill>
            <a:srgbClr val="E8F4E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65760" y="1810512"/>
            <a:ext cx="1325880" cy="3749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1A1A2E"/>
                </a:solidFill>
                <a:latin typeface="맑은 고딕"/>
              </a:rPr>
              <a:t>M2 (CrossAttn)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737360" y="1810512"/>
            <a:ext cx="1188720" cy="374904"/>
          </a:xfrm>
          <a:prstGeom prst="rect">
            <a:avLst/>
          </a:prstGeom>
          <a:solidFill>
            <a:srgbClr val="E8F4E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737360" y="1810512"/>
            <a:ext cx="1188720" cy="3749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1A1A2E"/>
                </a:solidFill>
                <a:latin typeface="맑은 고딕"/>
              </a:rPr>
              <a:t>0.8868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971800" y="1810512"/>
            <a:ext cx="1234440" cy="374904"/>
          </a:xfrm>
          <a:prstGeom prst="rect">
            <a:avLst/>
          </a:prstGeom>
          <a:solidFill>
            <a:srgbClr val="E8F4E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971800" y="1810512"/>
            <a:ext cx="1234440" cy="3749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1A1A2E"/>
                </a:solidFill>
                <a:latin typeface="맑은 고딕"/>
              </a:rPr>
              <a:t>[0.810,0.949]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51960" y="1810512"/>
            <a:ext cx="1234440" cy="374904"/>
          </a:xfrm>
          <a:prstGeom prst="rect">
            <a:avLst/>
          </a:prstGeom>
          <a:solidFill>
            <a:srgbClr val="E8F4E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251960" y="1810512"/>
            <a:ext cx="1234440" cy="3749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1A1A2E"/>
                </a:solidFill>
                <a:latin typeface="맑은 고딕"/>
              </a:rPr>
              <a:t>0.8879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532120" y="1810512"/>
            <a:ext cx="1188720" cy="374904"/>
          </a:xfrm>
          <a:prstGeom prst="rect">
            <a:avLst/>
          </a:prstGeom>
          <a:solidFill>
            <a:srgbClr val="E8F4E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532120" y="1810512"/>
            <a:ext cx="1188720" cy="3749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1A1A2E"/>
                </a:solidFill>
                <a:latin typeface="맑은 고딕"/>
              </a:rPr>
              <a:t>[0.800,0.954]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766560" y="1810512"/>
            <a:ext cx="1234440" cy="374904"/>
          </a:xfrm>
          <a:prstGeom prst="rect">
            <a:avLst/>
          </a:prstGeom>
          <a:solidFill>
            <a:srgbClr val="E8F4E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766560" y="1810512"/>
            <a:ext cx="1234440" cy="3749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1A1A2E"/>
                </a:solidFill>
                <a:latin typeface="맑은 고딕"/>
              </a:rPr>
              <a:t>0.8714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046720" y="1810512"/>
            <a:ext cx="1234440" cy="374904"/>
          </a:xfrm>
          <a:prstGeom prst="rect">
            <a:avLst/>
          </a:prstGeom>
          <a:solidFill>
            <a:srgbClr val="E8F4E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046720" y="1810512"/>
            <a:ext cx="1234440" cy="3749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1A1A2E"/>
                </a:solidFill>
                <a:latin typeface="맑은 고딕"/>
              </a:rPr>
              <a:t>[0.793,0.946]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326880" y="1810512"/>
            <a:ext cx="1234440" cy="374904"/>
          </a:xfrm>
          <a:prstGeom prst="rect">
            <a:avLst/>
          </a:prstGeom>
          <a:solidFill>
            <a:srgbClr val="E8F4E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326880" y="1810512"/>
            <a:ext cx="1234440" cy="3749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1A1A2E"/>
                </a:solidFill>
                <a:latin typeface="맑은 고딕"/>
              </a:rPr>
              <a:t>0.5968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0607040" y="1810512"/>
            <a:ext cx="1417320" cy="374904"/>
          </a:xfrm>
          <a:prstGeom prst="rect">
            <a:avLst/>
          </a:prstGeom>
          <a:solidFill>
            <a:srgbClr val="E8F4E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0607040" y="1810512"/>
            <a:ext cx="1417320" cy="3749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1A1A2E"/>
                </a:solidFill>
                <a:latin typeface="맑은 고딕"/>
              </a:rPr>
              <a:t>0.6063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65760" y="2185416"/>
            <a:ext cx="1325880" cy="374904"/>
          </a:xfrm>
          <a:prstGeom prst="rect">
            <a:avLst/>
          </a:prstGeom>
          <a:solidFill>
            <a:srgbClr val="FFF3E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65760" y="2185416"/>
            <a:ext cx="1325880" cy="3749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1A1A2E"/>
                </a:solidFill>
                <a:latin typeface="맑은 고딕"/>
              </a:rPr>
              <a:t>M3 (CrossAttn3)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737360" y="2185416"/>
            <a:ext cx="1188720" cy="374904"/>
          </a:xfrm>
          <a:prstGeom prst="rect">
            <a:avLst/>
          </a:prstGeom>
          <a:solidFill>
            <a:srgbClr val="FFF3E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737360" y="2185416"/>
            <a:ext cx="1188720" cy="3749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1A1A2E"/>
                </a:solidFill>
                <a:latin typeface="맑은 고딕"/>
              </a:rPr>
              <a:t>0.8944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971800" y="2185416"/>
            <a:ext cx="1234440" cy="374904"/>
          </a:xfrm>
          <a:prstGeom prst="rect">
            <a:avLst/>
          </a:prstGeom>
          <a:solidFill>
            <a:srgbClr val="FFF3E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971800" y="2185416"/>
            <a:ext cx="1234440" cy="3749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1A1A2E"/>
                </a:solidFill>
                <a:latin typeface="맑은 고딕"/>
              </a:rPr>
              <a:t>[0.825,0.950]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251960" y="2185416"/>
            <a:ext cx="1234440" cy="374904"/>
          </a:xfrm>
          <a:prstGeom prst="rect">
            <a:avLst/>
          </a:prstGeom>
          <a:solidFill>
            <a:srgbClr val="FFF3E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251960" y="2185416"/>
            <a:ext cx="1234440" cy="3749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1A1A2E"/>
                </a:solidFill>
                <a:latin typeface="맑은 고딕"/>
              </a:rPr>
              <a:t>0.9000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532120" y="2185416"/>
            <a:ext cx="1188720" cy="374904"/>
          </a:xfrm>
          <a:prstGeom prst="rect">
            <a:avLst/>
          </a:prstGeom>
          <a:solidFill>
            <a:srgbClr val="FFF3E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532120" y="2185416"/>
            <a:ext cx="1188720" cy="3749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1A1A2E"/>
                </a:solidFill>
                <a:latin typeface="맑은 고딕"/>
              </a:rPr>
              <a:t>[0.825,0.959]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766560" y="2185416"/>
            <a:ext cx="1234440" cy="374904"/>
          </a:xfrm>
          <a:prstGeom prst="rect">
            <a:avLst/>
          </a:prstGeom>
          <a:solidFill>
            <a:srgbClr val="FFF3E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766560" y="2185416"/>
            <a:ext cx="1234440" cy="3749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1A1A2E"/>
                </a:solidFill>
                <a:latin typeface="맑은 고딕"/>
              </a:rPr>
              <a:t>0.8758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046720" y="2185416"/>
            <a:ext cx="1234440" cy="374904"/>
          </a:xfrm>
          <a:prstGeom prst="rect">
            <a:avLst/>
          </a:prstGeom>
          <a:solidFill>
            <a:srgbClr val="FFF3E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046720" y="2185416"/>
            <a:ext cx="1234440" cy="3749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1A1A2E"/>
                </a:solidFill>
                <a:latin typeface="맑은 고딕"/>
              </a:rPr>
              <a:t>[0.793,0.950]</a:t>
            </a:r>
          </a:p>
        </p:txBody>
      </p:sp>
      <p:sp>
        <p:nvSpPr>
          <p:cNvPr id="74" name="Rectangle 73"/>
          <p:cNvSpPr/>
          <p:nvPr/>
        </p:nvSpPr>
        <p:spPr>
          <a:xfrm>
            <a:off x="9326880" y="2185416"/>
            <a:ext cx="1234440" cy="374904"/>
          </a:xfrm>
          <a:prstGeom prst="rect">
            <a:avLst/>
          </a:prstGeom>
          <a:solidFill>
            <a:srgbClr val="FFF3E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9326880" y="2185416"/>
            <a:ext cx="1234440" cy="3749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1A1A2E"/>
                </a:solidFill>
                <a:latin typeface="맑은 고딕"/>
              </a:rPr>
              <a:t>0.6218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0607040" y="2185416"/>
            <a:ext cx="1417320" cy="374904"/>
          </a:xfrm>
          <a:prstGeom prst="rect">
            <a:avLst/>
          </a:prstGeom>
          <a:solidFill>
            <a:srgbClr val="FFF3E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0607040" y="2185416"/>
            <a:ext cx="1417320" cy="3749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1A1A2E"/>
                </a:solidFill>
                <a:latin typeface="맑은 고딕"/>
              </a:rPr>
              <a:t>0.4883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74320" y="3017520"/>
            <a:ext cx="3474720" cy="3520440"/>
          </a:xfrm>
          <a:prstGeom prst="rect">
            <a:avLst/>
          </a:prstGeom>
          <a:solidFill>
            <a:srgbClr val="E8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274320" y="3017520"/>
            <a:ext cx="91440" cy="3520440"/>
          </a:xfrm>
          <a:prstGeom prst="rect">
            <a:avLst/>
          </a:prstGeom>
          <a:solidFill>
            <a:srgbClr val="0F6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457200" y="3090672"/>
            <a:ext cx="3200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>
                <a:solidFill>
                  <a:srgbClr val="0F6BBF"/>
                </a:solidFill>
                <a:latin typeface="맑은 고딕"/>
              </a:rPr>
              <a:t>남성 비교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57200" y="3474720"/>
            <a:ext cx="3291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맑은 고딕"/>
              </a:rPr>
              <a:t>• M1→M3: 0.882→0.900  (Δ+0.018)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57200" y="3950208"/>
            <a:ext cx="3291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맑은 고딕"/>
              </a:rPr>
              <a:t>• M3에서 처음으로 AUC 0.90 돌파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57200" y="4425696"/>
            <a:ext cx="3291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맑은 고딕"/>
              </a:rPr>
              <a:t>• AUPRC: M1(0.671)→M3(0.622)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57200" y="4901183"/>
            <a:ext cx="3291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맑은 고딕"/>
              </a:rPr>
              <a:t>  → Precision관점에서 M1이 더 높음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57200" y="5376672"/>
            <a:ext cx="3291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맑은 고딕"/>
              </a:rPr>
              <a:t>• 유병률 15.5% → 균형 잡힌 클래스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57200" y="5852160"/>
            <a:ext cx="3291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맑은 고딕"/>
              </a:rPr>
              <a:t>  → AUC 해석 안정적</a:t>
            </a:r>
          </a:p>
        </p:txBody>
      </p:sp>
      <p:sp>
        <p:nvSpPr>
          <p:cNvPr id="87" name="Rectangle 86"/>
          <p:cNvSpPr/>
          <p:nvPr/>
        </p:nvSpPr>
        <p:spPr>
          <a:xfrm>
            <a:off x="3886200" y="3017520"/>
            <a:ext cx="3474720" cy="3520440"/>
          </a:xfrm>
          <a:prstGeom prst="rect">
            <a:avLst/>
          </a:prstGeom>
          <a:solidFill>
            <a:srgbClr val="FF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3886200" y="3017520"/>
            <a:ext cx="91440" cy="352044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4069080" y="3090672"/>
            <a:ext cx="3200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>
                <a:solidFill>
                  <a:srgbClr val="C0392B"/>
                </a:solidFill>
                <a:latin typeface="맑은 고딕"/>
              </a:rPr>
              <a:t>여성 비교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069080" y="3474720"/>
            <a:ext cx="3291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맑은 고딕"/>
              </a:rPr>
              <a:t>• M1→M3: 0.792→0.876  (Δ+0.084)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069080" y="3950208"/>
            <a:ext cx="3291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맑은 고딕"/>
              </a:rPr>
              <a:t>  → 여성에서 AEC 기여 효과가 더 큼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069080" y="4425696"/>
            <a:ext cx="3291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맑은 고딕"/>
              </a:rPr>
              <a:t>• AUPRC: M1(0.320)→M2(0.606)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069080" y="4901183"/>
            <a:ext cx="3291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맑은 고딕"/>
              </a:rPr>
              <a:t>  → AEC 추가로 양성 정밀도 극적 개선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069080" y="5376672"/>
            <a:ext cx="3291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맑은 고딕"/>
              </a:rPr>
              <a:t>• 유병률 9.9% → 심한 class imbalance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069080" y="5852160"/>
            <a:ext cx="3291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맑은 고딕"/>
              </a:rPr>
              <a:t>  → AUPRC가 AUC보다 중요한 지표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7498079" y="3017520"/>
            <a:ext cx="21945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1A1A2E"/>
                </a:solidFill>
                <a:latin typeface="맑은 고딕"/>
              </a:rPr>
              <a:t>M1  by Sex</a:t>
            </a:r>
          </a:p>
        </p:txBody>
      </p:sp>
      <p:pic>
        <p:nvPicPr>
          <p:cNvPr id="97" name="Picture 96" descr="test_roc_by_se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79" y="3291840"/>
            <a:ext cx="2194560" cy="1737360"/>
          </a:xfrm>
          <a:prstGeom prst="rect">
            <a:avLst/>
          </a:prstGeom>
        </p:spPr>
      </p:pic>
      <p:sp>
        <p:nvSpPr>
          <p:cNvPr id="98" name="TextBox 97"/>
          <p:cNvSpPr txBox="1"/>
          <p:nvPr/>
        </p:nvSpPr>
        <p:spPr>
          <a:xfrm>
            <a:off x="9829800" y="3017520"/>
            <a:ext cx="21945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E87400"/>
                </a:solidFill>
                <a:latin typeface="맑은 고딕"/>
              </a:rPr>
              <a:t>M3  by Sex</a:t>
            </a:r>
          </a:p>
        </p:txBody>
      </p:sp>
      <p:pic>
        <p:nvPicPr>
          <p:cNvPr id="99" name="Picture 98" descr="test_roc_by_se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29800" y="3291840"/>
            <a:ext cx="2194560" cy="1737360"/>
          </a:xfrm>
          <a:prstGeom prst="rect">
            <a:avLst/>
          </a:prstGeom>
        </p:spPr>
      </p:pic>
      <p:sp>
        <p:nvSpPr>
          <p:cNvPr id="100" name="TextBox 99"/>
          <p:cNvSpPr txBox="1"/>
          <p:nvPr/>
        </p:nvSpPr>
        <p:spPr>
          <a:xfrm>
            <a:off x="7498079" y="507492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1A1A2E"/>
                </a:solidFill>
                <a:latin typeface="맑은 고딕"/>
              </a:rPr>
              <a:t>△ 여성 AUC 0.792 → 0.876  |  △ 남성 AUC 0.882 → 0.900</a:t>
            </a:r>
          </a:p>
        </p:txBody>
      </p:sp>
      <p:pic>
        <p:nvPicPr>
          <p:cNvPr id="101" name="Picture 100" descr="training_curv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79" y="5394960"/>
            <a:ext cx="4480560" cy="1234440"/>
          </a:xfrm>
          <a:prstGeom prst="rect">
            <a:avLst/>
          </a:prstGeom>
        </p:spPr>
      </p:pic>
      <p:sp>
        <p:nvSpPr>
          <p:cNvPr id="102" name="TextBox 101"/>
          <p:cNvSpPr txBox="1"/>
          <p:nvPr/>
        </p:nvSpPr>
        <p:spPr>
          <a:xfrm>
            <a:off x="7498079" y="5330952"/>
            <a:ext cx="44805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9EA3AB"/>
                </a:solidFill>
                <a:latin typeface="맑은 고딕"/>
              </a:rPr>
              <a:t>M3 norm — Training Curves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1247120" y="653796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9EA3AB"/>
                </a:solidFill>
                <a:latin typeface="맑은 고딕"/>
              </a:rPr>
              <a:t>13 / 42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058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500" b="1" i="0">
                <a:solidFill>
                  <a:srgbClr val="FFFFFF"/>
                </a:solidFill>
                <a:latin typeface="맑은 고딕"/>
              </a:rPr>
              <a:t>종합 결론 및 임상적 함의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0058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9EA3AB"/>
                </a:solidFill>
                <a:latin typeface="맑은 고딕"/>
              </a:rPr>
              <a:t>AEC 신호의 근감소증 예측 기여 — 비교 연구 결과 요약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11612880" cy="128930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097280"/>
            <a:ext cx="109728" cy="1289304"/>
          </a:xfrm>
          <a:prstGeom prst="rect">
            <a:avLst/>
          </a:prstGeom>
          <a:solidFill>
            <a:srgbClr val="0F6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161288"/>
            <a:ext cx="1106424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>
                <a:solidFill>
                  <a:srgbClr val="0F6BBF"/>
                </a:solidFill>
                <a:latin typeface="맑은 고딕"/>
              </a:rPr>
              <a:t>① AEC 신호는 Clinic 대비 통계적으로 유의미하게 AUC를 향상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5270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50" b="0" i="0">
                <a:solidFill>
                  <a:srgbClr val="1A1A2E"/>
                </a:solidFill>
                <a:latin typeface="맑은 고딕"/>
              </a:rPr>
              <a:t>  • BCE+AEC128+norm: M1→M3 DeLong p=0.040 (*)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819656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50" b="0" i="0">
                <a:solidFill>
                  <a:srgbClr val="1A1A2E"/>
                </a:solidFill>
                <a:latin typeface="맑은 고딕"/>
              </a:rPr>
              <a:t>  • BCE+AEC256+norm: M1→M2 DeLong p=0.013 (*)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1527048"/>
            <a:ext cx="5577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50" b="0" i="0">
                <a:solidFill>
                  <a:srgbClr val="1A1A2E"/>
                </a:solidFill>
                <a:latin typeface="맑은 고딕"/>
              </a:rPr>
              <a:t>  • 음성 대조군(M2_2) 대비 M2 일관 우세 → 매칭 효과 검증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1819656"/>
            <a:ext cx="5577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50" b="0" i="0">
                <a:solidFill>
                  <a:srgbClr val="1A1A2E"/>
                </a:solidFill>
                <a:latin typeface="맑은 고딕"/>
              </a:rPr>
              <a:t>  • 여성 AUPRC: M1(0.320)→M2(0.606) — AEC가 양성 정밀도 극적 개선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2450591"/>
            <a:ext cx="11612880" cy="128930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" y="2450591"/>
            <a:ext cx="109728" cy="1289304"/>
          </a:xfrm>
          <a:prstGeom prst="rect">
            <a:avLst/>
          </a:prstGeom>
          <a:solidFill>
            <a:srgbClr val="0F9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514600"/>
            <a:ext cx="1106424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>
                <a:solidFill>
                  <a:srgbClr val="0F9B8A"/>
                </a:solidFill>
                <a:latin typeface="맑은 고딕"/>
              </a:rPr>
              <a:t>② norm 전처리 조건이 최적 — 전 조건 중 가장 일관된 AUC 향상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28803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50" b="0" i="0">
                <a:solidFill>
                  <a:srgbClr val="1A1A2E"/>
                </a:solidFill>
                <a:latin typeface="맑은 고딕"/>
              </a:rPr>
              <a:t>  • 모든 Loss×AEC길이 시나리오에서 norm이 최고 또는 상위 AUC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317296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50" b="0" i="0">
                <a:solidFill>
                  <a:srgbClr val="1A1A2E"/>
                </a:solidFill>
                <a:latin typeface="맑은 고딕"/>
              </a:rPr>
              <a:t>  • crop/truncation 없이 전체 시퀀스 활용이 최선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2880360"/>
            <a:ext cx="5577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50" b="0" i="0">
                <a:solidFill>
                  <a:srgbClr val="1A1A2E"/>
                </a:solidFill>
                <a:latin typeface="맑은 고딕"/>
              </a:rPr>
              <a:t>  • BCE+AEC256+norm에서 M1 vs M2 유의성 강화: p=0.013 (*)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3172968"/>
            <a:ext cx="5577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50" b="0" i="0">
                <a:solidFill>
                  <a:srgbClr val="1A1A2E"/>
                </a:solidFill>
                <a:latin typeface="맑은 고딕"/>
              </a:rPr>
              <a:t>  • → AEC 길이 256pt가 M2의 AEC 학습 신호를 증폭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3803904"/>
            <a:ext cx="11612880" cy="128930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74320" y="3803904"/>
            <a:ext cx="109728" cy="1289304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3867912"/>
            <a:ext cx="1106424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>
                <a:solidFill>
                  <a:srgbClr val="E87400"/>
                </a:solidFill>
                <a:latin typeface="맑은 고딕"/>
              </a:rPr>
              <a:t>③ M2 vs M3: Scanner 추가효과 미입증 — 20개 조건 중 19개 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4233672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50" b="0" i="0">
                <a:solidFill>
                  <a:srgbClr val="1A1A2E"/>
                </a:solidFill>
                <a:latin typeface="맑은 고딕"/>
              </a:rPr>
              <a:t>  • BCE+AEC128+norm: M2(0.887) vs M3(0.894) p=0.437 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452628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50" b="0" i="0">
                <a:solidFill>
                  <a:srgbClr val="1A1A2E"/>
                </a:solidFill>
                <a:latin typeface="맑은 고딕"/>
              </a:rPr>
              <a:t>  • 단, 방향성은 M3≥M2 일관 → 검출력 부족 가능성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0" y="4233672"/>
            <a:ext cx="5577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50" b="0" i="0">
                <a:solidFill>
                  <a:srgbClr val="1A1A2E"/>
                </a:solidFill>
                <a:latin typeface="맑은 고딕"/>
              </a:rPr>
              <a:t>  • 남성 AUC 0.900 달성은 M3에서만 → 성별별 효과 차별화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0" y="4526280"/>
            <a:ext cx="5577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50" b="0" i="0">
                <a:solidFill>
                  <a:srgbClr val="1A1A2E"/>
                </a:solidFill>
                <a:latin typeface="맑은 고딕"/>
              </a:rPr>
              <a:t>  • → 다기관·다scanner 데이터 확보 시 M3 효과 강화 예상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5157216"/>
            <a:ext cx="11612880" cy="128930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74320" y="5157216"/>
            <a:ext cx="109728" cy="1289304"/>
          </a:xfrm>
          <a:prstGeom prst="rect">
            <a:avLst/>
          </a:prstGeom>
          <a:solidFill>
            <a:srgbClr val="1E8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5221223"/>
            <a:ext cx="1106424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>
                <a:solidFill>
                  <a:srgbClr val="1E8B4C"/>
                </a:solidFill>
                <a:latin typeface="맑은 고딕"/>
              </a:rPr>
              <a:t>④ Zero-cost AEC로 임상 등급 스크리닝 가능성 확인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5586983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50" b="0" i="0">
                <a:solidFill>
                  <a:srgbClr val="1A1A2E"/>
                </a:solidFill>
                <a:latin typeface="맑은 고딕"/>
              </a:rPr>
              <a:t>  • 기존 CT 스캔 시 자동 수집 — 추가 비용·검사 없음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5879592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50" b="0" i="0">
                <a:solidFill>
                  <a:srgbClr val="1A1A2E"/>
                </a:solidFill>
                <a:latin typeface="맑은 고딕"/>
              </a:rPr>
              <a:t>  • 남성 AUC 0.900 / 여성 AUC 0.876 → 임상 허용 수준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17920" y="5586983"/>
            <a:ext cx="5577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50" b="0" i="0">
                <a:solidFill>
                  <a:srgbClr val="1A1A2E"/>
                </a:solidFill>
                <a:latin typeface="맑은 고딕"/>
              </a:rPr>
              <a:t>  • 건강검진 프로그램 연동 시 고위험군 조기 선별 가능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17920" y="5879592"/>
            <a:ext cx="5577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50" b="0" i="0">
                <a:solidFill>
                  <a:srgbClr val="1A1A2E"/>
                </a:solidFill>
                <a:latin typeface="맑은 고딕"/>
              </a:rPr>
              <a:t>  • PACS-DICOM AEC 자동 추출 파이프라인 구축 필요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247120" y="653796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9EA3AB"/>
                </a:solidFill>
                <a:latin typeface="맑은 고딕"/>
              </a:rPr>
              <a:t>14 / 42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058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500" b="1" i="0">
                <a:solidFill>
                  <a:srgbClr val="FFFFFF"/>
                </a:solidFill>
                <a:latin typeface="맑은 고딕"/>
              </a:rPr>
              <a:t>제한점 및 향후 연구 방향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0058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9EA3AB"/>
                </a:solidFill>
                <a:latin typeface="맑은 고딕"/>
              </a:rPr>
              <a:t>현재 비교 연구의 한계와 발전 가능성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5394960" cy="521208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70432"/>
            <a:ext cx="502920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 i="0">
                <a:solidFill>
                  <a:srgbClr val="C0392B"/>
                </a:solidFill>
                <a:latin typeface="맑은 고딕"/>
              </a:rPr>
              <a:t>연구 제한점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517904"/>
            <a:ext cx="5029200" cy="36576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627632"/>
            <a:ext cx="50292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1A1A2E"/>
                </a:solidFill>
                <a:latin typeface="맑은 고딕"/>
              </a:rPr>
              <a:t>  ▶ 소표본 비교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38528"/>
            <a:ext cx="5029200" cy="5303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50" b="0" i="0">
                <a:solidFill>
                  <a:srgbClr val="9EA3AB"/>
                </a:solidFill>
                <a:latin typeface="맑은 고딕"/>
              </a:rPr>
              <a:t>    Test n=172, Sarco 21명 → DeLong 검출력 제한, CI 넓음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542032"/>
            <a:ext cx="50292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1A1A2E"/>
                </a:solidFill>
                <a:latin typeface="맑은 고딕"/>
              </a:rPr>
              <a:t>  ▶ 단일 기관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852928"/>
            <a:ext cx="5029200" cy="5303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50" b="0" i="0">
                <a:solidFill>
                  <a:srgbClr val="9EA3AB"/>
                </a:solidFill>
                <a:latin typeface="맑은 고딕"/>
              </a:rPr>
              <a:t>    단일 센터 데이터 → 외부 검증 미실시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456432"/>
            <a:ext cx="50292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1A1A2E"/>
                </a:solidFill>
                <a:latin typeface="맑은 고딕"/>
              </a:rPr>
              <a:t>  ▶ excl_extreme 비교 제한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767328"/>
            <a:ext cx="5029200" cy="5303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50" b="0" i="0">
                <a:solidFill>
                  <a:srgbClr val="9EA3AB"/>
                </a:solidFill>
                <a:latin typeface="맑은 고딕"/>
              </a:rPr>
              <a:t>    Test set 크기 변화 → M1 vs M2/M3 DeLong 직접 비교 불가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370832"/>
            <a:ext cx="50292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1A1A2E"/>
                </a:solidFill>
                <a:latin typeface="맑은 고딕"/>
              </a:rPr>
              <a:t>  ▶ M2 vs M3 미유의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681728"/>
            <a:ext cx="5029200" cy="5303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50" b="0" i="0">
                <a:solidFill>
                  <a:srgbClr val="9EA3AB"/>
                </a:solidFill>
                <a:latin typeface="맑은 고딕"/>
              </a:rPr>
              <a:t>    Scanner 순증가 효과 미확인 → 검출력 부족 가능성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285232"/>
            <a:ext cx="50292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1A1A2E"/>
                </a:solidFill>
                <a:latin typeface="맑은 고딕"/>
              </a:rPr>
              <a:t>  ▶ 단면 연구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96128"/>
            <a:ext cx="5029200" cy="5303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50" b="0" i="0">
                <a:solidFill>
                  <a:srgbClr val="9EA3AB"/>
                </a:solidFill>
                <a:latin typeface="맑은 고딕"/>
              </a:rPr>
              <a:t>    AEC-근육량 인과관계 미확인 → 종단 연구 필요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43600" y="1097280"/>
            <a:ext cx="5943600" cy="521208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26480" y="1170432"/>
            <a:ext cx="557784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 i="0">
                <a:solidFill>
                  <a:srgbClr val="0F6BBF"/>
                </a:solidFill>
                <a:latin typeface="맑은 고딕"/>
              </a:rPr>
              <a:t>향후 연구 방향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26480" y="1517904"/>
            <a:ext cx="5577840" cy="36576"/>
          </a:xfrm>
          <a:prstGeom prst="rect">
            <a:avLst/>
          </a:prstGeom>
          <a:solidFill>
            <a:srgbClr val="0F6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26480" y="1627632"/>
            <a:ext cx="55778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0F6BBF"/>
                </a:solidFill>
                <a:latin typeface="맑은 고딕"/>
              </a:rPr>
              <a:t>  ◆ 다기관 검증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26480" y="1938528"/>
            <a:ext cx="5577840" cy="5303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50" b="0" i="0">
                <a:solidFill>
                  <a:srgbClr val="1A1A2E"/>
                </a:solidFill>
                <a:latin typeface="맑은 고딕"/>
              </a:rPr>
              <a:t>    강남+신촌 통합 → 일반화 성능·DeLong 유의성 재확인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26480" y="2542032"/>
            <a:ext cx="55778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0F6BBF"/>
                </a:solidFill>
                <a:latin typeface="맑은 고딕"/>
              </a:rPr>
              <a:t>  ◆ 샘플 확장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80" y="2852928"/>
            <a:ext cx="5577840" cy="5303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50" b="0" i="0">
                <a:solidFill>
                  <a:srgbClr val="1A1A2E"/>
                </a:solidFill>
                <a:latin typeface="맑은 고딕"/>
              </a:rPr>
              <a:t>    Test n&gt;500 → CI 축소, M2 vs M3 검출력 증가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26480" y="3456432"/>
            <a:ext cx="55778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0F6BBF"/>
                </a:solidFill>
                <a:latin typeface="맑은 고딕"/>
              </a:rPr>
              <a:t>  ◆ 전처리 설계 개선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26480" y="3767328"/>
            <a:ext cx="5577840" cy="5303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50" b="0" i="0">
                <a:solidFill>
                  <a:srgbClr val="1A1A2E"/>
                </a:solidFill>
                <a:latin typeface="맑은 고딕"/>
              </a:rPr>
              <a:t>    동일 test set 유지 설계 → excl_extreme 공정 비교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26480" y="4370832"/>
            <a:ext cx="55778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0F6BBF"/>
                </a:solidFill>
                <a:latin typeface="맑은 고딕"/>
              </a:rPr>
              <a:t>  ◆ 아키텍처 확장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26480" y="4681728"/>
            <a:ext cx="5577840" cy="5303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50" b="0" i="0">
                <a:solidFill>
                  <a:srgbClr val="1A1A2E"/>
                </a:solidFill>
                <a:latin typeface="맑은 고딕"/>
              </a:rPr>
              <a:t>    Multi-head Attn + positional encoding → 시퀀스 길이 극복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26480" y="5285232"/>
            <a:ext cx="55778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0F6BBF"/>
                </a:solidFill>
                <a:latin typeface="맑은 고딕"/>
              </a:rPr>
              <a:t>  ◆ 임상 파이프라인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26480" y="5596128"/>
            <a:ext cx="5577840" cy="5303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50" b="0" i="0">
                <a:solidFill>
                  <a:srgbClr val="1A1A2E"/>
                </a:solidFill>
                <a:latin typeface="맑은 고딕"/>
              </a:rPr>
              <a:t>    PACS-DICOM AEC 추출 자동화 → 실시간 스크리닝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" y="6446520"/>
            <a:ext cx="11612880" cy="32004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74320" y="6464808"/>
            <a:ext cx="116128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</a:rPr>
              <a:t>감사합니다  |  Questions &amp; Discussion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247120" y="653796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9EA3AB"/>
                </a:solidFill>
                <a:latin typeface="맑은 고딕"/>
              </a:rPr>
              <a:t>15 / 42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F6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0F9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103120"/>
            <a:ext cx="10360152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맑은 고딕"/>
              </a:rPr>
              <a:t>부록 — 조건별 상세 결과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063240"/>
            <a:ext cx="1036015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700" b="0" i="0">
                <a:solidFill>
                  <a:srgbClr val="9EA3AB"/>
                </a:solidFill>
                <a:latin typeface="맑은 고딕"/>
              </a:rPr>
              <a:t>Loss × AEC 길이 × 전처리  전 조건  |  M2 · M2_2 · M3 개별 시각화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3657600"/>
            <a:ext cx="5788152" cy="36576"/>
          </a:xfrm>
          <a:prstGeom prst="rect">
            <a:avLst/>
          </a:prstGeom>
          <a:solidFill>
            <a:srgbClr val="0F9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14400" y="3977639"/>
            <a:ext cx="10360152" cy="475488"/>
          </a:xfrm>
          <a:prstGeom prst="rect">
            <a:avLst/>
          </a:prstGeom>
          <a:solidFill>
            <a:srgbClr val="0F6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3995928"/>
            <a:ext cx="1024128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맑은 고딕"/>
              </a:rPr>
              <a:t>  BCEWithLogitsLoss + AEC 128pt   →  norm / crop60 / crop80 / len128 / excl_extreme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4544568"/>
            <a:ext cx="10360152" cy="475488"/>
          </a:xfrm>
          <a:prstGeom prst="rect">
            <a:avLst/>
          </a:prstGeom>
          <a:solidFill>
            <a:srgbClr val="0F9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4562856"/>
            <a:ext cx="1024128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맑은 고딕"/>
              </a:rPr>
              <a:t>  BCEWithLogitsLoss + AEC 256pt   →  norm / crop60 / crop80 / len128 / len256 / excl_extreme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5111496"/>
            <a:ext cx="10360152" cy="475488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5129784"/>
            <a:ext cx="1024128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맑은 고딕"/>
              </a:rPr>
              <a:t>  FocalLoss + AEC 128pt   →  norm / crop60 / crop80 / len128 / excl_extreme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5678423"/>
            <a:ext cx="10360152" cy="475488"/>
          </a:xfrm>
          <a:prstGeom prst="rect">
            <a:avLst/>
          </a:prstGeom>
          <a:solidFill>
            <a:srgbClr val="1E8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5696712"/>
            <a:ext cx="1024128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맑은 고딕"/>
              </a:rPr>
              <a:t>  FocalLoss + AEC 256pt   →  norm / crop60 / crop80 / len256 / excl_extreme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6281928"/>
            <a:ext cx="10360152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 i="0">
                <a:solidFill>
                  <a:srgbClr val="9EA3AB"/>
                </a:solidFill>
                <a:latin typeface="맑은 고딕"/>
              </a:rPr>
              <a:t>각 슬라이드: 전모델 ROC | M2 Calibration | M3 Calibration  ·  M2 Confusion | M3 Confusion | M2 Attention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47120" y="653796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9EA3AB"/>
                </a:solidFill>
                <a:latin typeface="맑은 고딕"/>
              </a:rPr>
              <a:t>16 / 42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960120"/>
          </a:xfrm>
          <a:prstGeom prst="rect">
            <a:avLst/>
          </a:prstGeom>
          <a:solidFill>
            <a:srgbClr val="0F6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맑은 고딕"/>
              </a:rPr>
              <a:t>BCEWithLogitsLoss  +  AEC 128pt  +  norm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66928"/>
            <a:ext cx="96012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9EA3AB"/>
                </a:solidFill>
                <a:latin typeface="맑은 고딕"/>
              </a:rPr>
              <a:t>M2 (Matched) · M3 (Clinic+Scanner+AEC)  |  Brier → Calibration 포함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3796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9EA3AB"/>
                </a:solidFill>
                <a:latin typeface="맑은 고딕"/>
              </a:rPr>
              <a:t>17 / 42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" y="1005840"/>
            <a:ext cx="3840480" cy="30175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024128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전모델 ROC 비교  (M1·M2·M2₂·M3)</a:t>
            </a:r>
          </a:p>
        </p:txBody>
      </p:sp>
      <p:sp>
        <p:nvSpPr>
          <p:cNvPr id="9" name="Rectangle 8"/>
          <p:cNvSpPr/>
          <p:nvPr/>
        </p:nvSpPr>
        <p:spPr>
          <a:xfrm>
            <a:off x="4178808" y="1005840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24528" y="1024128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M2 Calibration  ※ Brier 보정 확인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19872" y="1005840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65592" y="1024128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M3 Calibration  ※ Brier 보정 확인</a:t>
            </a:r>
          </a:p>
        </p:txBody>
      </p:sp>
      <p:pic>
        <p:nvPicPr>
          <p:cNvPr id="13" name="Picture 12" descr="roc_all_models_n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325880"/>
            <a:ext cx="3840480" cy="2606040"/>
          </a:xfrm>
          <a:prstGeom prst="rect">
            <a:avLst/>
          </a:prstGeom>
        </p:spPr>
      </p:pic>
      <p:pic>
        <p:nvPicPr>
          <p:cNvPr id="14" name="Picture 13" descr="calibr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78808" y="1325880"/>
            <a:ext cx="3840480" cy="2606040"/>
          </a:xfrm>
          <a:prstGeom prst="rect">
            <a:avLst/>
          </a:prstGeom>
        </p:spPr>
      </p:pic>
      <p:pic>
        <p:nvPicPr>
          <p:cNvPr id="15" name="Picture 14" descr="calibr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19872" y="1325880"/>
            <a:ext cx="3840480" cy="260604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228600" y="4005072"/>
            <a:ext cx="3840480" cy="301752"/>
          </a:xfrm>
          <a:prstGeom prst="rect">
            <a:avLst/>
          </a:prstGeom>
          <a:solidFill>
            <a:srgbClr val="0F9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4320" y="4023360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M2 Confusion Matrix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78808" y="4005072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24528" y="4023360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M3 Confusion Matrix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19872" y="4005072"/>
            <a:ext cx="3840480" cy="301752"/>
          </a:xfrm>
          <a:prstGeom prst="rect">
            <a:avLst/>
          </a:prstGeom>
          <a:solidFill>
            <a:srgbClr val="0F6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65592" y="4023360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M2 Attention Heatmap</a:t>
            </a:r>
          </a:p>
        </p:txBody>
      </p:sp>
      <p:pic>
        <p:nvPicPr>
          <p:cNvPr id="22" name="Picture 21" descr="confusion_matric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600" y="4325112"/>
            <a:ext cx="3840480" cy="2395728"/>
          </a:xfrm>
          <a:prstGeom prst="rect">
            <a:avLst/>
          </a:prstGeom>
        </p:spPr>
      </p:pic>
      <p:pic>
        <p:nvPicPr>
          <p:cNvPr id="23" name="Picture 22" descr="confusion_matric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78808" y="4325112"/>
            <a:ext cx="3840480" cy="2395728"/>
          </a:xfrm>
          <a:prstGeom prst="rect">
            <a:avLst/>
          </a:prstGeom>
        </p:spPr>
      </p:pic>
      <p:pic>
        <p:nvPicPr>
          <p:cNvPr id="24" name="Picture 23" descr="attention_heatma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19872" y="4325112"/>
            <a:ext cx="3840480" cy="2395728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960120"/>
          </a:xfrm>
          <a:prstGeom prst="rect">
            <a:avLst/>
          </a:prstGeom>
          <a:solidFill>
            <a:srgbClr val="0F6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맑은 고딕"/>
              </a:rPr>
              <a:t>BCEWithLogitsLoss  +  AEC 128pt  +  crop60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66928"/>
            <a:ext cx="96012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9EA3AB"/>
                </a:solidFill>
                <a:latin typeface="맑은 고딕"/>
              </a:rPr>
              <a:t>M2 (Matched) · M3 (Clinic+Scanner+AEC)  |  Brier → Calibration 포함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3796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9EA3AB"/>
                </a:solidFill>
                <a:latin typeface="맑은 고딕"/>
              </a:rPr>
              <a:t>18 / 42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" y="1005840"/>
            <a:ext cx="3840480" cy="30175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024128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전모델 ROC 비교  (M1·M2·M2₂·M3)</a:t>
            </a:r>
          </a:p>
        </p:txBody>
      </p:sp>
      <p:sp>
        <p:nvSpPr>
          <p:cNvPr id="9" name="Rectangle 8"/>
          <p:cNvSpPr/>
          <p:nvPr/>
        </p:nvSpPr>
        <p:spPr>
          <a:xfrm>
            <a:off x="4178808" y="1005840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24528" y="1024128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M2 Calibration  ※ Brier 보정 확인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19872" y="1005840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65592" y="1024128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M3 Calibration  ※ Brier 보정 확인</a:t>
            </a:r>
          </a:p>
        </p:txBody>
      </p:sp>
      <p:pic>
        <p:nvPicPr>
          <p:cNvPr id="13" name="Picture 12" descr="roc_all_models_crop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325880"/>
            <a:ext cx="3840480" cy="2606040"/>
          </a:xfrm>
          <a:prstGeom prst="rect">
            <a:avLst/>
          </a:prstGeom>
        </p:spPr>
      </p:pic>
      <p:pic>
        <p:nvPicPr>
          <p:cNvPr id="14" name="Picture 13" descr="calibr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78808" y="1325880"/>
            <a:ext cx="3840480" cy="2606040"/>
          </a:xfrm>
          <a:prstGeom prst="rect">
            <a:avLst/>
          </a:prstGeom>
        </p:spPr>
      </p:pic>
      <p:pic>
        <p:nvPicPr>
          <p:cNvPr id="15" name="Picture 14" descr="calibr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19872" y="1325880"/>
            <a:ext cx="3840480" cy="260604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228600" y="4005072"/>
            <a:ext cx="3840480" cy="301752"/>
          </a:xfrm>
          <a:prstGeom prst="rect">
            <a:avLst/>
          </a:prstGeom>
          <a:solidFill>
            <a:srgbClr val="0F9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4320" y="4023360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M2 Confusion Matrix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78808" y="4005072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24528" y="4023360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M3 Confusion Matrix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19872" y="4005072"/>
            <a:ext cx="3840480" cy="301752"/>
          </a:xfrm>
          <a:prstGeom prst="rect">
            <a:avLst/>
          </a:prstGeom>
          <a:solidFill>
            <a:srgbClr val="0F6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65592" y="4023360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M2 Attention Heatmap</a:t>
            </a:r>
          </a:p>
        </p:txBody>
      </p:sp>
      <p:pic>
        <p:nvPicPr>
          <p:cNvPr id="22" name="Picture 21" descr="confusion_matric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600" y="4325112"/>
            <a:ext cx="3840480" cy="2395728"/>
          </a:xfrm>
          <a:prstGeom prst="rect">
            <a:avLst/>
          </a:prstGeom>
        </p:spPr>
      </p:pic>
      <p:pic>
        <p:nvPicPr>
          <p:cNvPr id="23" name="Picture 22" descr="confusion_matric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78808" y="4325112"/>
            <a:ext cx="3840480" cy="2395728"/>
          </a:xfrm>
          <a:prstGeom prst="rect">
            <a:avLst/>
          </a:prstGeom>
        </p:spPr>
      </p:pic>
      <p:pic>
        <p:nvPicPr>
          <p:cNvPr id="24" name="Picture 23" descr="attention_heatma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19872" y="4325112"/>
            <a:ext cx="3840480" cy="2395728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960120"/>
          </a:xfrm>
          <a:prstGeom prst="rect">
            <a:avLst/>
          </a:prstGeom>
          <a:solidFill>
            <a:srgbClr val="0F6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맑은 고딕"/>
              </a:rPr>
              <a:t>BCEWithLogitsLoss  +  AEC 128pt  +  crop80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66928"/>
            <a:ext cx="96012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9EA3AB"/>
                </a:solidFill>
                <a:latin typeface="맑은 고딕"/>
              </a:rPr>
              <a:t>M2 (Matched) · M3 (Clinic+Scanner+AEC)  |  Brier → Calibration 포함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3796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9EA3AB"/>
                </a:solidFill>
                <a:latin typeface="맑은 고딕"/>
              </a:rPr>
              <a:t>19 / 42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" y="1005840"/>
            <a:ext cx="3840480" cy="30175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024128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전모델 ROC 비교  (M1·M2·M2₂·M3)</a:t>
            </a:r>
          </a:p>
        </p:txBody>
      </p:sp>
      <p:sp>
        <p:nvSpPr>
          <p:cNvPr id="9" name="Rectangle 8"/>
          <p:cNvSpPr/>
          <p:nvPr/>
        </p:nvSpPr>
        <p:spPr>
          <a:xfrm>
            <a:off x="4178808" y="1005840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24528" y="1024128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M2 Calibration  ※ Brier 보정 확인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19872" y="1005840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65592" y="1024128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M3 Calibration  ※ Brier 보정 확인</a:t>
            </a:r>
          </a:p>
        </p:txBody>
      </p:sp>
      <p:pic>
        <p:nvPicPr>
          <p:cNvPr id="13" name="Picture 12" descr="roc_all_models_crop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325880"/>
            <a:ext cx="3840480" cy="2606040"/>
          </a:xfrm>
          <a:prstGeom prst="rect">
            <a:avLst/>
          </a:prstGeom>
        </p:spPr>
      </p:pic>
      <p:pic>
        <p:nvPicPr>
          <p:cNvPr id="14" name="Picture 13" descr="calibr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78808" y="1325880"/>
            <a:ext cx="3840480" cy="2606040"/>
          </a:xfrm>
          <a:prstGeom prst="rect">
            <a:avLst/>
          </a:prstGeom>
        </p:spPr>
      </p:pic>
      <p:pic>
        <p:nvPicPr>
          <p:cNvPr id="15" name="Picture 14" descr="calibr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19872" y="1325880"/>
            <a:ext cx="3840480" cy="260604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228600" y="4005072"/>
            <a:ext cx="3840480" cy="301752"/>
          </a:xfrm>
          <a:prstGeom prst="rect">
            <a:avLst/>
          </a:prstGeom>
          <a:solidFill>
            <a:srgbClr val="0F9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4320" y="4023360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M2 Confusion Matrix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78808" y="4005072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24528" y="4023360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M3 Confusion Matrix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19872" y="4005072"/>
            <a:ext cx="3840480" cy="301752"/>
          </a:xfrm>
          <a:prstGeom prst="rect">
            <a:avLst/>
          </a:prstGeom>
          <a:solidFill>
            <a:srgbClr val="0F6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65592" y="4023360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M2 Attention Heatmap</a:t>
            </a:r>
          </a:p>
        </p:txBody>
      </p:sp>
      <p:pic>
        <p:nvPicPr>
          <p:cNvPr id="22" name="Picture 21" descr="confusion_matric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600" y="4325112"/>
            <a:ext cx="3840480" cy="2395728"/>
          </a:xfrm>
          <a:prstGeom prst="rect">
            <a:avLst/>
          </a:prstGeom>
        </p:spPr>
      </p:pic>
      <p:pic>
        <p:nvPicPr>
          <p:cNvPr id="23" name="Picture 22" descr="confusion_matric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78808" y="4325112"/>
            <a:ext cx="3840480" cy="2395728"/>
          </a:xfrm>
          <a:prstGeom prst="rect">
            <a:avLst/>
          </a:prstGeom>
        </p:spPr>
      </p:pic>
      <p:pic>
        <p:nvPicPr>
          <p:cNvPr id="24" name="Picture 23" descr="attention_heatma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19872" y="4325112"/>
            <a:ext cx="3840480" cy="2395728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960120"/>
          </a:xfrm>
          <a:prstGeom prst="rect">
            <a:avLst/>
          </a:prstGeom>
          <a:solidFill>
            <a:srgbClr val="0F6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맑은 고딕"/>
              </a:rPr>
              <a:t>BCEWithLogitsLoss  +  AEC 128pt  +  len128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66928"/>
            <a:ext cx="96012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9EA3AB"/>
                </a:solidFill>
                <a:latin typeface="맑은 고딕"/>
              </a:rPr>
              <a:t>M2 (Matched) · M3 (Clinic+Scanner+AEC)  |  Brier → Calibration 포함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3796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9EA3AB"/>
                </a:solidFill>
                <a:latin typeface="맑은 고딕"/>
              </a:rPr>
              <a:t>20 / 42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" y="1005840"/>
            <a:ext cx="3840480" cy="30175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024128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전모델 ROC 비교  (M1·M2·M2₂·M3)</a:t>
            </a:r>
          </a:p>
        </p:txBody>
      </p:sp>
      <p:sp>
        <p:nvSpPr>
          <p:cNvPr id="9" name="Rectangle 8"/>
          <p:cNvSpPr/>
          <p:nvPr/>
        </p:nvSpPr>
        <p:spPr>
          <a:xfrm>
            <a:off x="4178808" y="1005840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24528" y="1024128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M2 Calibration  ※ Brier 보정 확인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19872" y="1005840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65592" y="1024128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M3 Calibration  ※ Brier 보정 확인</a:t>
            </a:r>
          </a:p>
        </p:txBody>
      </p:sp>
      <p:pic>
        <p:nvPicPr>
          <p:cNvPr id="13" name="Picture 12" descr="roc_all_models_len1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325880"/>
            <a:ext cx="3840480" cy="2606040"/>
          </a:xfrm>
          <a:prstGeom prst="rect">
            <a:avLst/>
          </a:prstGeom>
        </p:spPr>
      </p:pic>
      <p:pic>
        <p:nvPicPr>
          <p:cNvPr id="14" name="Picture 13" descr="calibr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78808" y="1325880"/>
            <a:ext cx="3840480" cy="2606040"/>
          </a:xfrm>
          <a:prstGeom prst="rect">
            <a:avLst/>
          </a:prstGeom>
        </p:spPr>
      </p:pic>
      <p:pic>
        <p:nvPicPr>
          <p:cNvPr id="15" name="Picture 14" descr="calibr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19872" y="1325880"/>
            <a:ext cx="3840480" cy="260604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228600" y="4005072"/>
            <a:ext cx="3840480" cy="301752"/>
          </a:xfrm>
          <a:prstGeom prst="rect">
            <a:avLst/>
          </a:prstGeom>
          <a:solidFill>
            <a:srgbClr val="0F9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4320" y="4023360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M2 Confusion Matrix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78808" y="4005072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24528" y="4023360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M3 Confusion Matrix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19872" y="4005072"/>
            <a:ext cx="3840480" cy="301752"/>
          </a:xfrm>
          <a:prstGeom prst="rect">
            <a:avLst/>
          </a:prstGeom>
          <a:solidFill>
            <a:srgbClr val="0F6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65592" y="4023360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M2 Attention Heatmap</a:t>
            </a:r>
          </a:p>
        </p:txBody>
      </p:sp>
      <p:pic>
        <p:nvPicPr>
          <p:cNvPr id="22" name="Picture 21" descr="confusion_matric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600" y="4325112"/>
            <a:ext cx="3840480" cy="2395728"/>
          </a:xfrm>
          <a:prstGeom prst="rect">
            <a:avLst/>
          </a:prstGeom>
        </p:spPr>
      </p:pic>
      <p:pic>
        <p:nvPicPr>
          <p:cNvPr id="23" name="Picture 22" descr="confusion_matric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78808" y="4325112"/>
            <a:ext cx="3840480" cy="2395728"/>
          </a:xfrm>
          <a:prstGeom prst="rect">
            <a:avLst/>
          </a:prstGeom>
        </p:spPr>
      </p:pic>
      <p:pic>
        <p:nvPicPr>
          <p:cNvPr id="24" name="Picture 23" descr="attention_heatma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19872" y="4325112"/>
            <a:ext cx="3840480" cy="2395728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960120"/>
          </a:xfrm>
          <a:prstGeom prst="rect">
            <a:avLst/>
          </a:prstGeom>
          <a:solidFill>
            <a:srgbClr val="0F6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맑은 고딕"/>
              </a:rPr>
              <a:t>BCEWithLogitsLoss  +  AEC 128pt  +  excl_extreme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66928"/>
            <a:ext cx="96012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9EA3AB"/>
                </a:solidFill>
                <a:latin typeface="맑은 고딕"/>
              </a:rPr>
              <a:t>M2 (Matched) · M3 (Clinic+Scanner+AEC)  |  Brier → Calibration 포함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3796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9EA3AB"/>
                </a:solidFill>
                <a:latin typeface="맑은 고딕"/>
              </a:rPr>
              <a:t>21 / 42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" y="1005840"/>
            <a:ext cx="3840480" cy="30175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024128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전모델 ROC 비교  (M1·M2·M2₂·M3)</a:t>
            </a:r>
          </a:p>
        </p:txBody>
      </p:sp>
      <p:sp>
        <p:nvSpPr>
          <p:cNvPr id="9" name="Rectangle 8"/>
          <p:cNvSpPr/>
          <p:nvPr/>
        </p:nvSpPr>
        <p:spPr>
          <a:xfrm>
            <a:off x="4178808" y="1005840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24528" y="1024128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M2 Calibration  ※ Brier 보정 확인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19872" y="1005840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65592" y="1024128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M3 Calibration  ※ Brier 보정 확인</a:t>
            </a:r>
          </a:p>
        </p:txBody>
      </p:sp>
      <p:pic>
        <p:nvPicPr>
          <p:cNvPr id="13" name="Picture 12" descr="roc_all_models_excl_extre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325880"/>
            <a:ext cx="3840480" cy="2606040"/>
          </a:xfrm>
          <a:prstGeom prst="rect">
            <a:avLst/>
          </a:prstGeom>
        </p:spPr>
      </p:pic>
      <p:pic>
        <p:nvPicPr>
          <p:cNvPr id="14" name="Picture 13" descr="calibr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78808" y="1325880"/>
            <a:ext cx="3840480" cy="2606040"/>
          </a:xfrm>
          <a:prstGeom prst="rect">
            <a:avLst/>
          </a:prstGeom>
        </p:spPr>
      </p:pic>
      <p:pic>
        <p:nvPicPr>
          <p:cNvPr id="15" name="Picture 14" descr="calibr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19872" y="1325880"/>
            <a:ext cx="3840480" cy="260604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228600" y="4005072"/>
            <a:ext cx="3840480" cy="301752"/>
          </a:xfrm>
          <a:prstGeom prst="rect">
            <a:avLst/>
          </a:prstGeom>
          <a:solidFill>
            <a:srgbClr val="0F9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4320" y="4023360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M2 Confusion Matrix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78808" y="4005072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24528" y="4023360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M3 Confusion Matrix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19872" y="4005072"/>
            <a:ext cx="3840480" cy="301752"/>
          </a:xfrm>
          <a:prstGeom prst="rect">
            <a:avLst/>
          </a:prstGeom>
          <a:solidFill>
            <a:srgbClr val="0F6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65592" y="4023360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M2 Attention Heatmap</a:t>
            </a:r>
          </a:p>
        </p:txBody>
      </p:sp>
      <p:pic>
        <p:nvPicPr>
          <p:cNvPr id="22" name="Picture 21" descr="confusion_matric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600" y="4325112"/>
            <a:ext cx="3840480" cy="2395728"/>
          </a:xfrm>
          <a:prstGeom prst="rect">
            <a:avLst/>
          </a:prstGeom>
        </p:spPr>
      </p:pic>
      <p:pic>
        <p:nvPicPr>
          <p:cNvPr id="23" name="Picture 22" descr="confusion_matric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78808" y="4325112"/>
            <a:ext cx="3840480" cy="2395728"/>
          </a:xfrm>
          <a:prstGeom prst="rect">
            <a:avLst/>
          </a:prstGeom>
        </p:spPr>
      </p:pic>
      <p:pic>
        <p:nvPicPr>
          <p:cNvPr id="24" name="Picture 23" descr="attention_heatma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19872" y="4325112"/>
            <a:ext cx="3840480" cy="2395728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960120"/>
          </a:xfrm>
          <a:prstGeom prst="rect">
            <a:avLst/>
          </a:prstGeom>
          <a:solidFill>
            <a:srgbClr val="0F9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맑은 고딕"/>
              </a:rPr>
              <a:t>BCEWithLogitsLoss  +  AEC 256pt  +  norm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66928"/>
            <a:ext cx="96012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9EA3AB"/>
                </a:solidFill>
                <a:latin typeface="맑은 고딕"/>
              </a:rPr>
              <a:t>M2 (Matched) · M3 (Clinic+Scanner+AEC)  |  Brier → Calibration 포함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3796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9EA3AB"/>
                </a:solidFill>
                <a:latin typeface="맑은 고딕"/>
              </a:rPr>
              <a:t>22 / 42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" y="1005840"/>
            <a:ext cx="3840480" cy="30175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024128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전모델 ROC 비교  (M1·M2·M2₂·M3)</a:t>
            </a:r>
          </a:p>
        </p:txBody>
      </p:sp>
      <p:sp>
        <p:nvSpPr>
          <p:cNvPr id="9" name="Rectangle 8"/>
          <p:cNvSpPr/>
          <p:nvPr/>
        </p:nvSpPr>
        <p:spPr>
          <a:xfrm>
            <a:off x="4178808" y="1005840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24528" y="1024128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M2 Calibration  ※ Brier 보정 확인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19872" y="1005840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65592" y="1024128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M3 Calibration  ※ Brier 보정 확인</a:t>
            </a:r>
          </a:p>
        </p:txBody>
      </p:sp>
      <p:pic>
        <p:nvPicPr>
          <p:cNvPr id="13" name="Picture 12" descr="roc_all_models_n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325880"/>
            <a:ext cx="3840480" cy="2606040"/>
          </a:xfrm>
          <a:prstGeom prst="rect">
            <a:avLst/>
          </a:prstGeom>
        </p:spPr>
      </p:pic>
      <p:pic>
        <p:nvPicPr>
          <p:cNvPr id="14" name="Picture 13" descr="calibr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78808" y="1325880"/>
            <a:ext cx="3840480" cy="2606040"/>
          </a:xfrm>
          <a:prstGeom prst="rect">
            <a:avLst/>
          </a:prstGeom>
        </p:spPr>
      </p:pic>
      <p:pic>
        <p:nvPicPr>
          <p:cNvPr id="15" name="Picture 14" descr="calibr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19872" y="1325880"/>
            <a:ext cx="3840480" cy="260604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228600" y="4005072"/>
            <a:ext cx="3840480" cy="301752"/>
          </a:xfrm>
          <a:prstGeom prst="rect">
            <a:avLst/>
          </a:prstGeom>
          <a:solidFill>
            <a:srgbClr val="0F9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4320" y="4023360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M2 Confusion Matrix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78808" y="4005072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24528" y="4023360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M3 Confusion Matrix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19872" y="4005072"/>
            <a:ext cx="3840480" cy="301752"/>
          </a:xfrm>
          <a:prstGeom prst="rect">
            <a:avLst/>
          </a:prstGeom>
          <a:solidFill>
            <a:srgbClr val="0F6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65592" y="4023360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M2 Attention Heatmap</a:t>
            </a:r>
          </a:p>
        </p:txBody>
      </p:sp>
      <p:pic>
        <p:nvPicPr>
          <p:cNvPr id="22" name="Picture 21" descr="confusion_matric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600" y="4325112"/>
            <a:ext cx="3840480" cy="2395728"/>
          </a:xfrm>
          <a:prstGeom prst="rect">
            <a:avLst/>
          </a:prstGeom>
        </p:spPr>
      </p:pic>
      <p:pic>
        <p:nvPicPr>
          <p:cNvPr id="23" name="Picture 22" descr="confusion_matric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78808" y="4325112"/>
            <a:ext cx="3840480" cy="2395728"/>
          </a:xfrm>
          <a:prstGeom prst="rect">
            <a:avLst/>
          </a:prstGeom>
        </p:spPr>
      </p:pic>
      <p:pic>
        <p:nvPicPr>
          <p:cNvPr id="24" name="Picture 23" descr="attention_heatma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19872" y="4325112"/>
            <a:ext cx="3840480" cy="2395728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960120"/>
          </a:xfrm>
          <a:prstGeom prst="rect">
            <a:avLst/>
          </a:prstGeom>
          <a:solidFill>
            <a:srgbClr val="0F9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맑은 고딕"/>
              </a:rPr>
              <a:t>BCEWithLogitsLoss  +  AEC 256pt  +  crop60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66928"/>
            <a:ext cx="96012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9EA3AB"/>
                </a:solidFill>
                <a:latin typeface="맑은 고딕"/>
              </a:rPr>
              <a:t>M2 (Matched) · M3 (Clinic+Scanner+AEC)  |  Brier → Calibration 포함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3796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9EA3AB"/>
                </a:solidFill>
                <a:latin typeface="맑은 고딕"/>
              </a:rPr>
              <a:t>23 / 42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" y="1005840"/>
            <a:ext cx="3840480" cy="30175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024128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전모델 ROC 비교  (M1·M2·M2₂·M3)</a:t>
            </a:r>
          </a:p>
        </p:txBody>
      </p:sp>
      <p:sp>
        <p:nvSpPr>
          <p:cNvPr id="9" name="Rectangle 8"/>
          <p:cNvSpPr/>
          <p:nvPr/>
        </p:nvSpPr>
        <p:spPr>
          <a:xfrm>
            <a:off x="4178808" y="1005840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24528" y="1024128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M2 Calibration  ※ Brier 보정 확인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19872" y="1005840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65592" y="1024128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M3 Calibration  ※ Brier 보정 확인</a:t>
            </a:r>
          </a:p>
        </p:txBody>
      </p:sp>
      <p:pic>
        <p:nvPicPr>
          <p:cNvPr id="13" name="Picture 12" descr="roc_all_models_crop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325880"/>
            <a:ext cx="3840480" cy="2606040"/>
          </a:xfrm>
          <a:prstGeom prst="rect">
            <a:avLst/>
          </a:prstGeom>
        </p:spPr>
      </p:pic>
      <p:pic>
        <p:nvPicPr>
          <p:cNvPr id="14" name="Picture 13" descr="calibr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78808" y="1325880"/>
            <a:ext cx="3840480" cy="2606040"/>
          </a:xfrm>
          <a:prstGeom prst="rect">
            <a:avLst/>
          </a:prstGeom>
        </p:spPr>
      </p:pic>
      <p:pic>
        <p:nvPicPr>
          <p:cNvPr id="15" name="Picture 14" descr="calibr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19872" y="1325880"/>
            <a:ext cx="3840480" cy="260604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228600" y="4005072"/>
            <a:ext cx="3840480" cy="301752"/>
          </a:xfrm>
          <a:prstGeom prst="rect">
            <a:avLst/>
          </a:prstGeom>
          <a:solidFill>
            <a:srgbClr val="0F9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4320" y="4023360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M2 Confusion Matrix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78808" y="4005072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24528" y="4023360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M3 Confusion Matrix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19872" y="4005072"/>
            <a:ext cx="3840480" cy="301752"/>
          </a:xfrm>
          <a:prstGeom prst="rect">
            <a:avLst/>
          </a:prstGeom>
          <a:solidFill>
            <a:srgbClr val="0F6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65592" y="4023360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M2 Attention Heatmap</a:t>
            </a:r>
          </a:p>
        </p:txBody>
      </p:sp>
      <p:pic>
        <p:nvPicPr>
          <p:cNvPr id="22" name="Picture 21" descr="confusion_matric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600" y="4325112"/>
            <a:ext cx="3840480" cy="2395728"/>
          </a:xfrm>
          <a:prstGeom prst="rect">
            <a:avLst/>
          </a:prstGeom>
        </p:spPr>
      </p:pic>
      <p:pic>
        <p:nvPicPr>
          <p:cNvPr id="23" name="Picture 22" descr="confusion_matric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78808" y="4325112"/>
            <a:ext cx="3840480" cy="2395728"/>
          </a:xfrm>
          <a:prstGeom prst="rect">
            <a:avLst/>
          </a:prstGeom>
        </p:spPr>
      </p:pic>
      <p:pic>
        <p:nvPicPr>
          <p:cNvPr id="24" name="Picture 23" descr="attention_heatma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19872" y="4325112"/>
            <a:ext cx="3840480" cy="2395728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960120"/>
          </a:xfrm>
          <a:prstGeom prst="rect">
            <a:avLst/>
          </a:prstGeom>
          <a:solidFill>
            <a:srgbClr val="0F9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맑은 고딕"/>
              </a:rPr>
              <a:t>BCEWithLogitsLoss  +  AEC 256pt  +  crop80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66928"/>
            <a:ext cx="96012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9EA3AB"/>
                </a:solidFill>
                <a:latin typeface="맑은 고딕"/>
              </a:rPr>
              <a:t>M2 (Matched) · M3 (Clinic+Scanner+AEC)  |  Brier → Calibration 포함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3796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9EA3AB"/>
                </a:solidFill>
                <a:latin typeface="맑은 고딕"/>
              </a:rPr>
              <a:t>24 / 42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" y="1005840"/>
            <a:ext cx="3840480" cy="30175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024128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전모델 ROC 비교  (M1·M2·M2₂·M3)</a:t>
            </a:r>
          </a:p>
        </p:txBody>
      </p:sp>
      <p:sp>
        <p:nvSpPr>
          <p:cNvPr id="9" name="Rectangle 8"/>
          <p:cNvSpPr/>
          <p:nvPr/>
        </p:nvSpPr>
        <p:spPr>
          <a:xfrm>
            <a:off x="4178808" y="1005840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24528" y="1024128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M2 Calibration  ※ Brier 보정 확인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19872" y="1005840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65592" y="1024128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M3 Calibration  ※ Brier 보정 확인</a:t>
            </a:r>
          </a:p>
        </p:txBody>
      </p:sp>
      <p:pic>
        <p:nvPicPr>
          <p:cNvPr id="13" name="Picture 12" descr="roc_all_models_crop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325880"/>
            <a:ext cx="3840480" cy="2606040"/>
          </a:xfrm>
          <a:prstGeom prst="rect">
            <a:avLst/>
          </a:prstGeom>
        </p:spPr>
      </p:pic>
      <p:pic>
        <p:nvPicPr>
          <p:cNvPr id="14" name="Picture 13" descr="calibr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78808" y="1325880"/>
            <a:ext cx="3840480" cy="2606040"/>
          </a:xfrm>
          <a:prstGeom prst="rect">
            <a:avLst/>
          </a:prstGeom>
        </p:spPr>
      </p:pic>
      <p:pic>
        <p:nvPicPr>
          <p:cNvPr id="15" name="Picture 14" descr="calibr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19872" y="1325880"/>
            <a:ext cx="3840480" cy="260604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228600" y="4005072"/>
            <a:ext cx="3840480" cy="301752"/>
          </a:xfrm>
          <a:prstGeom prst="rect">
            <a:avLst/>
          </a:prstGeom>
          <a:solidFill>
            <a:srgbClr val="0F9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4320" y="4023360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M2 Confusion Matrix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78808" y="4005072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24528" y="4023360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M3 Confusion Matrix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19872" y="4005072"/>
            <a:ext cx="3840480" cy="301752"/>
          </a:xfrm>
          <a:prstGeom prst="rect">
            <a:avLst/>
          </a:prstGeom>
          <a:solidFill>
            <a:srgbClr val="0F6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65592" y="4023360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M2 Attention Heatmap</a:t>
            </a:r>
          </a:p>
        </p:txBody>
      </p:sp>
      <p:pic>
        <p:nvPicPr>
          <p:cNvPr id="22" name="Picture 21" descr="confusion_matric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600" y="4325112"/>
            <a:ext cx="3840480" cy="2395728"/>
          </a:xfrm>
          <a:prstGeom prst="rect">
            <a:avLst/>
          </a:prstGeom>
        </p:spPr>
      </p:pic>
      <p:pic>
        <p:nvPicPr>
          <p:cNvPr id="23" name="Picture 22" descr="confusion_matric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78808" y="4325112"/>
            <a:ext cx="3840480" cy="2395728"/>
          </a:xfrm>
          <a:prstGeom prst="rect">
            <a:avLst/>
          </a:prstGeom>
        </p:spPr>
      </p:pic>
      <p:pic>
        <p:nvPicPr>
          <p:cNvPr id="24" name="Picture 23" descr="attention_heatma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19872" y="4325112"/>
            <a:ext cx="3840480" cy="2395728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960120"/>
          </a:xfrm>
          <a:prstGeom prst="rect">
            <a:avLst/>
          </a:prstGeom>
          <a:solidFill>
            <a:srgbClr val="0F9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맑은 고딕"/>
              </a:rPr>
              <a:t>BCEWithLogitsLoss  +  AEC 256pt  +  len256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66928"/>
            <a:ext cx="96012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9EA3AB"/>
                </a:solidFill>
                <a:latin typeface="맑은 고딕"/>
              </a:rPr>
              <a:t>M2 (Matched) · M3 (Clinic+Scanner+AEC)  |  Brier → Calibration 포함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3796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9EA3AB"/>
                </a:solidFill>
                <a:latin typeface="맑은 고딕"/>
              </a:rPr>
              <a:t>25 / 42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" y="1005840"/>
            <a:ext cx="3840480" cy="30175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024128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전모델 ROC 비교  (M1·M2·M2₂·M3)</a:t>
            </a:r>
          </a:p>
        </p:txBody>
      </p:sp>
      <p:sp>
        <p:nvSpPr>
          <p:cNvPr id="9" name="Rectangle 8"/>
          <p:cNvSpPr/>
          <p:nvPr/>
        </p:nvSpPr>
        <p:spPr>
          <a:xfrm>
            <a:off x="4178808" y="1005840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24528" y="1024128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M2 Calibration  ※ Brier 보정 확인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19872" y="1005840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65592" y="1024128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M3 Calibration  ※ Brier 보정 확인</a:t>
            </a:r>
          </a:p>
        </p:txBody>
      </p:sp>
      <p:pic>
        <p:nvPicPr>
          <p:cNvPr id="13" name="Picture 12" descr="roc_all_models_len25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325880"/>
            <a:ext cx="3840480" cy="2606040"/>
          </a:xfrm>
          <a:prstGeom prst="rect">
            <a:avLst/>
          </a:prstGeom>
        </p:spPr>
      </p:pic>
      <p:pic>
        <p:nvPicPr>
          <p:cNvPr id="14" name="Picture 13" descr="calibr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78808" y="1325880"/>
            <a:ext cx="3840480" cy="2606040"/>
          </a:xfrm>
          <a:prstGeom prst="rect">
            <a:avLst/>
          </a:prstGeom>
        </p:spPr>
      </p:pic>
      <p:pic>
        <p:nvPicPr>
          <p:cNvPr id="15" name="Picture 14" descr="calibr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19872" y="1325880"/>
            <a:ext cx="3840480" cy="260604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228600" y="4005072"/>
            <a:ext cx="3840480" cy="301752"/>
          </a:xfrm>
          <a:prstGeom prst="rect">
            <a:avLst/>
          </a:prstGeom>
          <a:solidFill>
            <a:srgbClr val="0F9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4320" y="4023360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M2 Confusion Matrix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78808" y="4005072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24528" y="4023360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M3 Confusion Matrix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19872" y="4005072"/>
            <a:ext cx="3840480" cy="301752"/>
          </a:xfrm>
          <a:prstGeom prst="rect">
            <a:avLst/>
          </a:prstGeom>
          <a:solidFill>
            <a:srgbClr val="0F6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65592" y="4023360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M2 Attention Heatmap</a:t>
            </a:r>
          </a:p>
        </p:txBody>
      </p:sp>
      <p:pic>
        <p:nvPicPr>
          <p:cNvPr id="22" name="Picture 21" descr="confusion_matric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600" y="4325112"/>
            <a:ext cx="3840480" cy="2395728"/>
          </a:xfrm>
          <a:prstGeom prst="rect">
            <a:avLst/>
          </a:prstGeom>
        </p:spPr>
      </p:pic>
      <p:pic>
        <p:nvPicPr>
          <p:cNvPr id="23" name="Picture 22" descr="confusion_matric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78808" y="4325112"/>
            <a:ext cx="3840480" cy="2395728"/>
          </a:xfrm>
          <a:prstGeom prst="rect">
            <a:avLst/>
          </a:prstGeom>
        </p:spPr>
      </p:pic>
      <p:pic>
        <p:nvPicPr>
          <p:cNvPr id="24" name="Picture 23" descr="attention_heatma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19872" y="4325112"/>
            <a:ext cx="3840480" cy="2395728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960120"/>
          </a:xfrm>
          <a:prstGeom prst="rect">
            <a:avLst/>
          </a:prstGeom>
          <a:solidFill>
            <a:srgbClr val="0F9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맑은 고딕"/>
              </a:rPr>
              <a:t>BCEWithLogitsLoss  +  AEC 256pt  +  excl_extreme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66928"/>
            <a:ext cx="96012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9EA3AB"/>
                </a:solidFill>
                <a:latin typeface="맑은 고딕"/>
              </a:rPr>
              <a:t>M2 (Matched) · M3 (Clinic+Scanner+AEC)  |  Brier → Calibration 포함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3796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9EA3AB"/>
                </a:solidFill>
                <a:latin typeface="맑은 고딕"/>
              </a:rPr>
              <a:t>26 / 42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" y="1005840"/>
            <a:ext cx="3840480" cy="30175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024128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전모델 ROC 비교  (M1·M2·M2₂·M3)</a:t>
            </a:r>
          </a:p>
        </p:txBody>
      </p:sp>
      <p:sp>
        <p:nvSpPr>
          <p:cNvPr id="9" name="Rectangle 8"/>
          <p:cNvSpPr/>
          <p:nvPr/>
        </p:nvSpPr>
        <p:spPr>
          <a:xfrm>
            <a:off x="4178808" y="1005840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24528" y="1024128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M2 Calibration  ※ Brier 보정 확인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19872" y="1005840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65592" y="1024128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M3 Calibration  ※ Brier 보정 확인</a:t>
            </a:r>
          </a:p>
        </p:txBody>
      </p:sp>
      <p:pic>
        <p:nvPicPr>
          <p:cNvPr id="13" name="Picture 12" descr="roc_all_models_excl_extre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325880"/>
            <a:ext cx="3840480" cy="2606040"/>
          </a:xfrm>
          <a:prstGeom prst="rect">
            <a:avLst/>
          </a:prstGeom>
        </p:spPr>
      </p:pic>
      <p:pic>
        <p:nvPicPr>
          <p:cNvPr id="14" name="Picture 13" descr="calibr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78808" y="1325880"/>
            <a:ext cx="3840480" cy="2606040"/>
          </a:xfrm>
          <a:prstGeom prst="rect">
            <a:avLst/>
          </a:prstGeom>
        </p:spPr>
      </p:pic>
      <p:pic>
        <p:nvPicPr>
          <p:cNvPr id="15" name="Picture 14" descr="calibr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19872" y="1325880"/>
            <a:ext cx="3840480" cy="260604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228600" y="4005072"/>
            <a:ext cx="3840480" cy="301752"/>
          </a:xfrm>
          <a:prstGeom prst="rect">
            <a:avLst/>
          </a:prstGeom>
          <a:solidFill>
            <a:srgbClr val="0F9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4320" y="4023360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M2 Confusion Matrix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78808" y="4005072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24528" y="4023360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M3 Confusion Matrix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19872" y="4005072"/>
            <a:ext cx="3840480" cy="301752"/>
          </a:xfrm>
          <a:prstGeom prst="rect">
            <a:avLst/>
          </a:prstGeom>
          <a:solidFill>
            <a:srgbClr val="0F6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65592" y="4023360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M2 Attention Heatmap</a:t>
            </a:r>
          </a:p>
        </p:txBody>
      </p:sp>
      <p:pic>
        <p:nvPicPr>
          <p:cNvPr id="22" name="Picture 21" descr="confusion_matric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600" y="4325112"/>
            <a:ext cx="3840480" cy="2395728"/>
          </a:xfrm>
          <a:prstGeom prst="rect">
            <a:avLst/>
          </a:prstGeom>
        </p:spPr>
      </p:pic>
      <p:pic>
        <p:nvPicPr>
          <p:cNvPr id="23" name="Picture 22" descr="confusion_matric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78808" y="4325112"/>
            <a:ext cx="3840480" cy="2395728"/>
          </a:xfrm>
          <a:prstGeom prst="rect">
            <a:avLst/>
          </a:prstGeom>
        </p:spPr>
      </p:pic>
      <p:pic>
        <p:nvPicPr>
          <p:cNvPr id="24" name="Picture 23" descr="attention_heatma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19872" y="4325112"/>
            <a:ext cx="3840480" cy="2395728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960120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맑은 고딕"/>
              </a:rPr>
              <a:t>FocalLoss  +  AEC 128pt  +  norm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66928"/>
            <a:ext cx="96012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9EA3AB"/>
                </a:solidFill>
                <a:latin typeface="맑은 고딕"/>
              </a:rPr>
              <a:t>M2 (Matched) · M3 (Clinic+Scanner+AEC)  |  Brier → Calibration 포함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3796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9EA3AB"/>
                </a:solidFill>
                <a:latin typeface="맑은 고딕"/>
              </a:rPr>
              <a:t>27 / 42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" y="1005840"/>
            <a:ext cx="3840480" cy="30175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024128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전모델 ROC 비교  (M1·M2·M2₂·M3)</a:t>
            </a:r>
          </a:p>
        </p:txBody>
      </p:sp>
      <p:sp>
        <p:nvSpPr>
          <p:cNvPr id="9" name="Rectangle 8"/>
          <p:cNvSpPr/>
          <p:nvPr/>
        </p:nvSpPr>
        <p:spPr>
          <a:xfrm>
            <a:off x="4178808" y="1005840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24528" y="1024128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M2 Calibration  ※ Brier 보정 확인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19872" y="1005840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65592" y="1024128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M3 Calibration  ※ Brier 보정 확인</a:t>
            </a:r>
          </a:p>
        </p:txBody>
      </p:sp>
      <p:pic>
        <p:nvPicPr>
          <p:cNvPr id="13" name="Picture 12" descr="roc_all_models_n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325880"/>
            <a:ext cx="3840480" cy="2606040"/>
          </a:xfrm>
          <a:prstGeom prst="rect">
            <a:avLst/>
          </a:prstGeom>
        </p:spPr>
      </p:pic>
      <p:pic>
        <p:nvPicPr>
          <p:cNvPr id="14" name="Picture 13" descr="calibr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78808" y="1325880"/>
            <a:ext cx="3840480" cy="2606040"/>
          </a:xfrm>
          <a:prstGeom prst="rect">
            <a:avLst/>
          </a:prstGeom>
        </p:spPr>
      </p:pic>
      <p:pic>
        <p:nvPicPr>
          <p:cNvPr id="15" name="Picture 14" descr="calibr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19872" y="1325880"/>
            <a:ext cx="3840480" cy="260604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228600" y="4005072"/>
            <a:ext cx="3840480" cy="301752"/>
          </a:xfrm>
          <a:prstGeom prst="rect">
            <a:avLst/>
          </a:prstGeom>
          <a:solidFill>
            <a:srgbClr val="0F9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4320" y="4023360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M2 Confusion Matrix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78808" y="4005072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24528" y="4023360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M3 Confusion Matrix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19872" y="4005072"/>
            <a:ext cx="3840480" cy="301752"/>
          </a:xfrm>
          <a:prstGeom prst="rect">
            <a:avLst/>
          </a:prstGeom>
          <a:solidFill>
            <a:srgbClr val="0F6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65592" y="4023360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M2 Attention Heatmap</a:t>
            </a:r>
          </a:p>
        </p:txBody>
      </p:sp>
      <p:pic>
        <p:nvPicPr>
          <p:cNvPr id="22" name="Picture 21" descr="confusion_matric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600" y="4325112"/>
            <a:ext cx="3840480" cy="2395728"/>
          </a:xfrm>
          <a:prstGeom prst="rect">
            <a:avLst/>
          </a:prstGeom>
        </p:spPr>
      </p:pic>
      <p:pic>
        <p:nvPicPr>
          <p:cNvPr id="23" name="Picture 22" descr="confusion_matric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78808" y="4325112"/>
            <a:ext cx="3840480" cy="2395728"/>
          </a:xfrm>
          <a:prstGeom prst="rect">
            <a:avLst/>
          </a:prstGeom>
        </p:spPr>
      </p:pic>
      <p:pic>
        <p:nvPicPr>
          <p:cNvPr id="24" name="Picture 23" descr="attention_heatma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19872" y="4325112"/>
            <a:ext cx="3840480" cy="2395728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960120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맑은 고딕"/>
              </a:rPr>
              <a:t>FocalLoss  +  AEC 128pt  +  crop60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66928"/>
            <a:ext cx="96012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9EA3AB"/>
                </a:solidFill>
                <a:latin typeface="맑은 고딕"/>
              </a:rPr>
              <a:t>M2 (Matched) · M3 (Clinic+Scanner+AEC)  |  Brier → Calibration 포함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3796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9EA3AB"/>
                </a:solidFill>
                <a:latin typeface="맑은 고딕"/>
              </a:rPr>
              <a:t>28 / 42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" y="1005840"/>
            <a:ext cx="3840480" cy="30175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024128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전모델 ROC 비교  (M1·M2·M2₂·M3)</a:t>
            </a:r>
          </a:p>
        </p:txBody>
      </p:sp>
      <p:sp>
        <p:nvSpPr>
          <p:cNvPr id="9" name="Rectangle 8"/>
          <p:cNvSpPr/>
          <p:nvPr/>
        </p:nvSpPr>
        <p:spPr>
          <a:xfrm>
            <a:off x="4178808" y="1005840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24528" y="1024128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M2 Calibration  ※ Brier 보정 확인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19872" y="1005840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65592" y="1024128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M3 Calibration  ※ Brier 보정 확인</a:t>
            </a:r>
          </a:p>
        </p:txBody>
      </p:sp>
      <p:pic>
        <p:nvPicPr>
          <p:cNvPr id="13" name="Picture 12" descr="roc_all_models_crop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325880"/>
            <a:ext cx="3840480" cy="2606040"/>
          </a:xfrm>
          <a:prstGeom prst="rect">
            <a:avLst/>
          </a:prstGeom>
        </p:spPr>
      </p:pic>
      <p:pic>
        <p:nvPicPr>
          <p:cNvPr id="14" name="Picture 13" descr="calibr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78808" y="1325880"/>
            <a:ext cx="3840480" cy="2606040"/>
          </a:xfrm>
          <a:prstGeom prst="rect">
            <a:avLst/>
          </a:prstGeom>
        </p:spPr>
      </p:pic>
      <p:pic>
        <p:nvPicPr>
          <p:cNvPr id="15" name="Picture 14" descr="calibr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19872" y="1325880"/>
            <a:ext cx="3840480" cy="260604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228600" y="4005072"/>
            <a:ext cx="3840480" cy="301752"/>
          </a:xfrm>
          <a:prstGeom prst="rect">
            <a:avLst/>
          </a:prstGeom>
          <a:solidFill>
            <a:srgbClr val="0F9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4320" y="4023360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M2 Confusion Matrix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78808" y="4005072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24528" y="4023360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M3 Confusion Matrix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19872" y="4005072"/>
            <a:ext cx="3840480" cy="301752"/>
          </a:xfrm>
          <a:prstGeom prst="rect">
            <a:avLst/>
          </a:prstGeom>
          <a:solidFill>
            <a:srgbClr val="0F6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65592" y="4023360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M2 Attention Heatmap</a:t>
            </a:r>
          </a:p>
        </p:txBody>
      </p:sp>
      <p:pic>
        <p:nvPicPr>
          <p:cNvPr id="22" name="Picture 21" descr="confusion_matric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600" y="4325112"/>
            <a:ext cx="3840480" cy="2395728"/>
          </a:xfrm>
          <a:prstGeom prst="rect">
            <a:avLst/>
          </a:prstGeom>
        </p:spPr>
      </p:pic>
      <p:pic>
        <p:nvPicPr>
          <p:cNvPr id="23" name="Picture 22" descr="confusion_matric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78808" y="4325112"/>
            <a:ext cx="3840480" cy="2395728"/>
          </a:xfrm>
          <a:prstGeom prst="rect">
            <a:avLst/>
          </a:prstGeom>
        </p:spPr>
      </p:pic>
      <p:pic>
        <p:nvPicPr>
          <p:cNvPr id="24" name="Picture 23" descr="attention_heatma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19872" y="4325112"/>
            <a:ext cx="3840480" cy="2395728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960120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맑은 고딕"/>
              </a:rPr>
              <a:t>FocalLoss  +  AEC 128pt  +  crop80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66928"/>
            <a:ext cx="96012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9EA3AB"/>
                </a:solidFill>
                <a:latin typeface="맑은 고딕"/>
              </a:rPr>
              <a:t>M2 (Matched) · M3 (Clinic+Scanner+AEC)  |  Brier → Calibration 포함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3796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9EA3AB"/>
                </a:solidFill>
                <a:latin typeface="맑은 고딕"/>
              </a:rPr>
              <a:t>29 / 42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" y="1005840"/>
            <a:ext cx="3840480" cy="30175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024128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전모델 ROC 비교  (M1·M2·M2₂·M3)</a:t>
            </a:r>
          </a:p>
        </p:txBody>
      </p:sp>
      <p:sp>
        <p:nvSpPr>
          <p:cNvPr id="9" name="Rectangle 8"/>
          <p:cNvSpPr/>
          <p:nvPr/>
        </p:nvSpPr>
        <p:spPr>
          <a:xfrm>
            <a:off x="4178808" y="1005840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24528" y="1024128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M2 Calibration  ※ Brier 보정 확인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19872" y="1005840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65592" y="1024128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M3 Calibration  ※ Brier 보정 확인</a:t>
            </a:r>
          </a:p>
        </p:txBody>
      </p:sp>
      <p:pic>
        <p:nvPicPr>
          <p:cNvPr id="13" name="Picture 12" descr="roc_all_models_crop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325880"/>
            <a:ext cx="3840480" cy="2606040"/>
          </a:xfrm>
          <a:prstGeom prst="rect">
            <a:avLst/>
          </a:prstGeom>
        </p:spPr>
      </p:pic>
      <p:pic>
        <p:nvPicPr>
          <p:cNvPr id="14" name="Picture 13" descr="calibr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78808" y="1325880"/>
            <a:ext cx="3840480" cy="2606040"/>
          </a:xfrm>
          <a:prstGeom prst="rect">
            <a:avLst/>
          </a:prstGeom>
        </p:spPr>
      </p:pic>
      <p:pic>
        <p:nvPicPr>
          <p:cNvPr id="15" name="Picture 14" descr="calibr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19872" y="1325880"/>
            <a:ext cx="3840480" cy="260604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228600" y="4005072"/>
            <a:ext cx="3840480" cy="301752"/>
          </a:xfrm>
          <a:prstGeom prst="rect">
            <a:avLst/>
          </a:prstGeom>
          <a:solidFill>
            <a:srgbClr val="0F9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4320" y="4023360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M2 Confusion Matrix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78808" y="4005072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24528" y="4023360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M3 Confusion Matrix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19872" y="4005072"/>
            <a:ext cx="3840480" cy="301752"/>
          </a:xfrm>
          <a:prstGeom prst="rect">
            <a:avLst/>
          </a:prstGeom>
          <a:solidFill>
            <a:srgbClr val="0F6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65592" y="4023360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M2 Attention Heatmap</a:t>
            </a:r>
          </a:p>
        </p:txBody>
      </p:sp>
      <p:pic>
        <p:nvPicPr>
          <p:cNvPr id="22" name="Picture 21" descr="confusion_matric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600" y="4325112"/>
            <a:ext cx="3840480" cy="2395728"/>
          </a:xfrm>
          <a:prstGeom prst="rect">
            <a:avLst/>
          </a:prstGeom>
        </p:spPr>
      </p:pic>
      <p:pic>
        <p:nvPicPr>
          <p:cNvPr id="23" name="Picture 22" descr="confusion_matric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78808" y="4325112"/>
            <a:ext cx="3840480" cy="2395728"/>
          </a:xfrm>
          <a:prstGeom prst="rect">
            <a:avLst/>
          </a:prstGeom>
        </p:spPr>
      </p:pic>
      <p:pic>
        <p:nvPicPr>
          <p:cNvPr id="24" name="Picture 23" descr="attention_heatma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19872" y="4325112"/>
            <a:ext cx="3840480" cy="2395728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960120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맑은 고딕"/>
              </a:rPr>
              <a:t>FocalLoss  +  AEC 128pt  +  len128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66928"/>
            <a:ext cx="96012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9EA3AB"/>
                </a:solidFill>
                <a:latin typeface="맑은 고딕"/>
              </a:rPr>
              <a:t>M2 (Matched) · M3 (Clinic+Scanner+AEC)  |  Brier → Calibration 포함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3796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9EA3AB"/>
                </a:solidFill>
                <a:latin typeface="맑은 고딕"/>
              </a:rPr>
              <a:t>30 / 42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" y="1005840"/>
            <a:ext cx="3840480" cy="30175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024128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전모델 ROC 비교  (M1·M2·M2₂·M3)</a:t>
            </a:r>
          </a:p>
        </p:txBody>
      </p:sp>
      <p:sp>
        <p:nvSpPr>
          <p:cNvPr id="9" name="Rectangle 8"/>
          <p:cNvSpPr/>
          <p:nvPr/>
        </p:nvSpPr>
        <p:spPr>
          <a:xfrm>
            <a:off x="4178808" y="1005840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24528" y="1024128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M2 Calibration  ※ Brier 보정 확인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19872" y="1005840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65592" y="1024128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M3 Calibration  ※ Brier 보정 확인</a:t>
            </a:r>
          </a:p>
        </p:txBody>
      </p:sp>
      <p:pic>
        <p:nvPicPr>
          <p:cNvPr id="13" name="Picture 12" descr="roc_all_models_len1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325880"/>
            <a:ext cx="3840480" cy="2606040"/>
          </a:xfrm>
          <a:prstGeom prst="rect">
            <a:avLst/>
          </a:prstGeom>
        </p:spPr>
      </p:pic>
      <p:pic>
        <p:nvPicPr>
          <p:cNvPr id="14" name="Picture 13" descr="calibr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78808" y="1325880"/>
            <a:ext cx="3840480" cy="2606040"/>
          </a:xfrm>
          <a:prstGeom prst="rect">
            <a:avLst/>
          </a:prstGeom>
        </p:spPr>
      </p:pic>
      <p:pic>
        <p:nvPicPr>
          <p:cNvPr id="15" name="Picture 14" descr="calibr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19872" y="1325880"/>
            <a:ext cx="3840480" cy="260604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228600" y="4005072"/>
            <a:ext cx="3840480" cy="301752"/>
          </a:xfrm>
          <a:prstGeom prst="rect">
            <a:avLst/>
          </a:prstGeom>
          <a:solidFill>
            <a:srgbClr val="0F9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4320" y="4023360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M2 Confusion Matrix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78808" y="4005072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24528" y="4023360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M3 Confusion Matrix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19872" y="4005072"/>
            <a:ext cx="3840480" cy="301752"/>
          </a:xfrm>
          <a:prstGeom prst="rect">
            <a:avLst/>
          </a:prstGeom>
          <a:solidFill>
            <a:srgbClr val="0F6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65592" y="4023360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M2 Attention Heatmap</a:t>
            </a:r>
          </a:p>
        </p:txBody>
      </p:sp>
      <p:pic>
        <p:nvPicPr>
          <p:cNvPr id="22" name="Picture 21" descr="confusion_matric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600" y="4325112"/>
            <a:ext cx="3840480" cy="2395728"/>
          </a:xfrm>
          <a:prstGeom prst="rect">
            <a:avLst/>
          </a:prstGeom>
        </p:spPr>
      </p:pic>
      <p:pic>
        <p:nvPicPr>
          <p:cNvPr id="23" name="Picture 22" descr="confusion_matric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78808" y="4325112"/>
            <a:ext cx="3840480" cy="2395728"/>
          </a:xfrm>
          <a:prstGeom prst="rect">
            <a:avLst/>
          </a:prstGeom>
        </p:spPr>
      </p:pic>
      <p:pic>
        <p:nvPicPr>
          <p:cNvPr id="24" name="Picture 23" descr="attention_heatma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19872" y="4325112"/>
            <a:ext cx="3840480" cy="2395728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960120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맑은 고딕"/>
              </a:rPr>
              <a:t>FocalLoss  +  AEC 128pt  +  excl_extreme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66928"/>
            <a:ext cx="96012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9EA3AB"/>
                </a:solidFill>
                <a:latin typeface="맑은 고딕"/>
              </a:rPr>
              <a:t>M2 (Matched) · M3 (Clinic+Scanner+AEC)  |  Brier → Calibration 포함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3796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9EA3AB"/>
                </a:solidFill>
                <a:latin typeface="맑은 고딕"/>
              </a:rPr>
              <a:t>31 / 42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" y="1005840"/>
            <a:ext cx="3840480" cy="30175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024128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전모델 ROC 비교  (M1·M2·M2₂·M3)</a:t>
            </a:r>
          </a:p>
        </p:txBody>
      </p:sp>
      <p:sp>
        <p:nvSpPr>
          <p:cNvPr id="9" name="Rectangle 8"/>
          <p:cNvSpPr/>
          <p:nvPr/>
        </p:nvSpPr>
        <p:spPr>
          <a:xfrm>
            <a:off x="4178808" y="1005840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24528" y="1024128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M2 Calibration  ※ Brier 보정 확인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19872" y="1005840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65592" y="1024128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M3 Calibration  ※ Brier 보정 확인</a:t>
            </a:r>
          </a:p>
        </p:txBody>
      </p:sp>
      <p:pic>
        <p:nvPicPr>
          <p:cNvPr id="13" name="Picture 12" descr="roc_all_models_excl_extre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325880"/>
            <a:ext cx="3840480" cy="2606040"/>
          </a:xfrm>
          <a:prstGeom prst="rect">
            <a:avLst/>
          </a:prstGeom>
        </p:spPr>
      </p:pic>
      <p:pic>
        <p:nvPicPr>
          <p:cNvPr id="14" name="Picture 13" descr="calibr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78808" y="1325880"/>
            <a:ext cx="3840480" cy="2606040"/>
          </a:xfrm>
          <a:prstGeom prst="rect">
            <a:avLst/>
          </a:prstGeom>
        </p:spPr>
      </p:pic>
      <p:pic>
        <p:nvPicPr>
          <p:cNvPr id="15" name="Picture 14" descr="calibr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19872" y="1325880"/>
            <a:ext cx="3840480" cy="260604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228600" y="4005072"/>
            <a:ext cx="3840480" cy="301752"/>
          </a:xfrm>
          <a:prstGeom prst="rect">
            <a:avLst/>
          </a:prstGeom>
          <a:solidFill>
            <a:srgbClr val="0F9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4320" y="4023360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M2 Confusion Matrix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78808" y="4005072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24528" y="4023360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M3 Confusion Matrix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19872" y="4005072"/>
            <a:ext cx="3840480" cy="301752"/>
          </a:xfrm>
          <a:prstGeom prst="rect">
            <a:avLst/>
          </a:prstGeom>
          <a:solidFill>
            <a:srgbClr val="0F6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65592" y="4023360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M2 Attention Heatmap</a:t>
            </a:r>
          </a:p>
        </p:txBody>
      </p:sp>
      <p:pic>
        <p:nvPicPr>
          <p:cNvPr id="22" name="Picture 21" descr="confusion_matric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600" y="4325112"/>
            <a:ext cx="3840480" cy="2395728"/>
          </a:xfrm>
          <a:prstGeom prst="rect">
            <a:avLst/>
          </a:prstGeom>
        </p:spPr>
      </p:pic>
      <p:pic>
        <p:nvPicPr>
          <p:cNvPr id="23" name="Picture 22" descr="confusion_matric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78808" y="4325112"/>
            <a:ext cx="3840480" cy="2395728"/>
          </a:xfrm>
          <a:prstGeom prst="rect">
            <a:avLst/>
          </a:prstGeom>
        </p:spPr>
      </p:pic>
      <p:pic>
        <p:nvPicPr>
          <p:cNvPr id="24" name="Picture 23" descr="attention_heatma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19872" y="4325112"/>
            <a:ext cx="3840480" cy="2395728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960120"/>
          </a:xfrm>
          <a:prstGeom prst="rect">
            <a:avLst/>
          </a:prstGeom>
          <a:solidFill>
            <a:srgbClr val="1E8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맑은 고딕"/>
              </a:rPr>
              <a:t>FocalLoss  +  AEC 256pt  +  norm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66928"/>
            <a:ext cx="96012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9EA3AB"/>
                </a:solidFill>
                <a:latin typeface="맑은 고딕"/>
              </a:rPr>
              <a:t>M2 (Matched) · M3 (Clinic+Scanner+AEC)  |  Brier → Calibration 포함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3796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9EA3AB"/>
                </a:solidFill>
                <a:latin typeface="맑은 고딕"/>
              </a:rPr>
              <a:t>32 / 42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" y="1005840"/>
            <a:ext cx="3840480" cy="30175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024128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전모델 ROC 비교  (M1·M2·M2₂·M3)</a:t>
            </a:r>
          </a:p>
        </p:txBody>
      </p:sp>
      <p:sp>
        <p:nvSpPr>
          <p:cNvPr id="9" name="Rectangle 8"/>
          <p:cNvSpPr/>
          <p:nvPr/>
        </p:nvSpPr>
        <p:spPr>
          <a:xfrm>
            <a:off x="4178808" y="1005840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24528" y="1024128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M2 Calibration  ※ Brier 보정 확인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19872" y="1005840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65592" y="1024128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M3 Calibration  ※ Brier 보정 확인</a:t>
            </a:r>
          </a:p>
        </p:txBody>
      </p:sp>
      <p:pic>
        <p:nvPicPr>
          <p:cNvPr id="13" name="Picture 12" descr="roc_all_models_n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325880"/>
            <a:ext cx="3840480" cy="2606040"/>
          </a:xfrm>
          <a:prstGeom prst="rect">
            <a:avLst/>
          </a:prstGeom>
        </p:spPr>
      </p:pic>
      <p:pic>
        <p:nvPicPr>
          <p:cNvPr id="14" name="Picture 13" descr="calibr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78808" y="1325880"/>
            <a:ext cx="3840480" cy="2606040"/>
          </a:xfrm>
          <a:prstGeom prst="rect">
            <a:avLst/>
          </a:prstGeom>
        </p:spPr>
      </p:pic>
      <p:pic>
        <p:nvPicPr>
          <p:cNvPr id="15" name="Picture 14" descr="calibr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19872" y="1325880"/>
            <a:ext cx="3840480" cy="260604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228600" y="4005072"/>
            <a:ext cx="3840480" cy="301752"/>
          </a:xfrm>
          <a:prstGeom prst="rect">
            <a:avLst/>
          </a:prstGeom>
          <a:solidFill>
            <a:srgbClr val="0F9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4320" y="4023360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M2 Confusion Matrix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78808" y="4005072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24528" y="4023360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M3 Confusion Matrix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19872" y="4005072"/>
            <a:ext cx="3840480" cy="301752"/>
          </a:xfrm>
          <a:prstGeom prst="rect">
            <a:avLst/>
          </a:prstGeom>
          <a:solidFill>
            <a:srgbClr val="0F6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65592" y="4023360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M2 Attention Heatmap</a:t>
            </a:r>
          </a:p>
        </p:txBody>
      </p:sp>
      <p:pic>
        <p:nvPicPr>
          <p:cNvPr id="22" name="Picture 21" descr="confusion_matric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600" y="4325112"/>
            <a:ext cx="3840480" cy="2395728"/>
          </a:xfrm>
          <a:prstGeom prst="rect">
            <a:avLst/>
          </a:prstGeom>
        </p:spPr>
      </p:pic>
      <p:pic>
        <p:nvPicPr>
          <p:cNvPr id="23" name="Picture 22" descr="confusion_matric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78808" y="4325112"/>
            <a:ext cx="3840480" cy="2395728"/>
          </a:xfrm>
          <a:prstGeom prst="rect">
            <a:avLst/>
          </a:prstGeom>
        </p:spPr>
      </p:pic>
      <p:pic>
        <p:nvPicPr>
          <p:cNvPr id="24" name="Picture 23" descr="attention_heatma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19872" y="4325112"/>
            <a:ext cx="3840480" cy="2395728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960120"/>
          </a:xfrm>
          <a:prstGeom prst="rect">
            <a:avLst/>
          </a:prstGeom>
          <a:solidFill>
            <a:srgbClr val="1E8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맑은 고딕"/>
              </a:rPr>
              <a:t>FocalLoss  +  AEC 256pt  +  crop60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66928"/>
            <a:ext cx="96012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9EA3AB"/>
                </a:solidFill>
                <a:latin typeface="맑은 고딕"/>
              </a:rPr>
              <a:t>M2 (Matched) · M3 (Clinic+Scanner+AEC)  |  Brier → Calibration 포함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3796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9EA3AB"/>
                </a:solidFill>
                <a:latin typeface="맑은 고딕"/>
              </a:rPr>
              <a:t>33 / 42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" y="1005840"/>
            <a:ext cx="3840480" cy="30175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024128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전모델 ROC 비교  (M1·M2·M2₂·M3)</a:t>
            </a:r>
          </a:p>
        </p:txBody>
      </p:sp>
      <p:sp>
        <p:nvSpPr>
          <p:cNvPr id="9" name="Rectangle 8"/>
          <p:cNvSpPr/>
          <p:nvPr/>
        </p:nvSpPr>
        <p:spPr>
          <a:xfrm>
            <a:off x="4178808" y="1005840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24528" y="1024128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M2 Calibration  ※ Brier 보정 확인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19872" y="1005840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65592" y="1024128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M3 Calibration  ※ Brier 보정 확인</a:t>
            </a:r>
          </a:p>
        </p:txBody>
      </p:sp>
      <p:pic>
        <p:nvPicPr>
          <p:cNvPr id="13" name="Picture 12" descr="roc_all_models_crop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325880"/>
            <a:ext cx="3840480" cy="2606040"/>
          </a:xfrm>
          <a:prstGeom prst="rect">
            <a:avLst/>
          </a:prstGeom>
        </p:spPr>
      </p:pic>
      <p:pic>
        <p:nvPicPr>
          <p:cNvPr id="14" name="Picture 13" descr="calibr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78808" y="1325880"/>
            <a:ext cx="3840480" cy="2606040"/>
          </a:xfrm>
          <a:prstGeom prst="rect">
            <a:avLst/>
          </a:prstGeom>
        </p:spPr>
      </p:pic>
      <p:pic>
        <p:nvPicPr>
          <p:cNvPr id="15" name="Picture 14" descr="calibr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19872" y="1325880"/>
            <a:ext cx="3840480" cy="260604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228600" y="4005072"/>
            <a:ext cx="3840480" cy="301752"/>
          </a:xfrm>
          <a:prstGeom prst="rect">
            <a:avLst/>
          </a:prstGeom>
          <a:solidFill>
            <a:srgbClr val="0F9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4320" y="4023360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M2 Confusion Matrix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78808" y="4005072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24528" y="4023360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M3 Confusion Matrix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19872" y="4005072"/>
            <a:ext cx="3840480" cy="301752"/>
          </a:xfrm>
          <a:prstGeom prst="rect">
            <a:avLst/>
          </a:prstGeom>
          <a:solidFill>
            <a:srgbClr val="0F6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65592" y="4023360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M2 Attention Heatmap</a:t>
            </a:r>
          </a:p>
        </p:txBody>
      </p:sp>
      <p:pic>
        <p:nvPicPr>
          <p:cNvPr id="22" name="Picture 21" descr="confusion_matric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600" y="4325112"/>
            <a:ext cx="3840480" cy="2395728"/>
          </a:xfrm>
          <a:prstGeom prst="rect">
            <a:avLst/>
          </a:prstGeom>
        </p:spPr>
      </p:pic>
      <p:pic>
        <p:nvPicPr>
          <p:cNvPr id="23" name="Picture 22" descr="confusion_matric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78808" y="4325112"/>
            <a:ext cx="3840480" cy="2395728"/>
          </a:xfrm>
          <a:prstGeom prst="rect">
            <a:avLst/>
          </a:prstGeom>
        </p:spPr>
      </p:pic>
      <p:pic>
        <p:nvPicPr>
          <p:cNvPr id="24" name="Picture 23" descr="attention_heatma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19872" y="4325112"/>
            <a:ext cx="3840480" cy="2395728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960120"/>
          </a:xfrm>
          <a:prstGeom prst="rect">
            <a:avLst/>
          </a:prstGeom>
          <a:solidFill>
            <a:srgbClr val="1E8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맑은 고딕"/>
              </a:rPr>
              <a:t>FocalLoss  +  AEC 256pt  +  crop80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66928"/>
            <a:ext cx="96012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9EA3AB"/>
                </a:solidFill>
                <a:latin typeface="맑은 고딕"/>
              </a:rPr>
              <a:t>M2 (Matched) · M3 (Clinic+Scanner+AEC)  |  Brier → Calibration 포함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3796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9EA3AB"/>
                </a:solidFill>
                <a:latin typeface="맑은 고딕"/>
              </a:rPr>
              <a:t>34 / 42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" y="1005840"/>
            <a:ext cx="3840480" cy="30175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024128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전모델 ROC 비교  (M1·M2·M2₂·M3)</a:t>
            </a:r>
          </a:p>
        </p:txBody>
      </p:sp>
      <p:sp>
        <p:nvSpPr>
          <p:cNvPr id="9" name="Rectangle 8"/>
          <p:cNvSpPr/>
          <p:nvPr/>
        </p:nvSpPr>
        <p:spPr>
          <a:xfrm>
            <a:off x="4178808" y="1005840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24528" y="1024128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M2 Calibration  ※ Brier 보정 확인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19872" y="1005840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65592" y="1024128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M3 Calibration  ※ Brier 보정 확인</a:t>
            </a:r>
          </a:p>
        </p:txBody>
      </p:sp>
      <p:pic>
        <p:nvPicPr>
          <p:cNvPr id="13" name="Picture 12" descr="roc_all_models_crop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325880"/>
            <a:ext cx="3840480" cy="2606040"/>
          </a:xfrm>
          <a:prstGeom prst="rect">
            <a:avLst/>
          </a:prstGeom>
        </p:spPr>
      </p:pic>
      <p:pic>
        <p:nvPicPr>
          <p:cNvPr id="14" name="Picture 13" descr="calibr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78808" y="1325880"/>
            <a:ext cx="3840480" cy="2606040"/>
          </a:xfrm>
          <a:prstGeom prst="rect">
            <a:avLst/>
          </a:prstGeom>
        </p:spPr>
      </p:pic>
      <p:pic>
        <p:nvPicPr>
          <p:cNvPr id="15" name="Picture 14" descr="calibr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19872" y="1325880"/>
            <a:ext cx="3840480" cy="260604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228600" y="4005072"/>
            <a:ext cx="3840480" cy="301752"/>
          </a:xfrm>
          <a:prstGeom prst="rect">
            <a:avLst/>
          </a:prstGeom>
          <a:solidFill>
            <a:srgbClr val="0F9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4320" y="4023360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M2 Confusion Matrix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78808" y="4005072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24528" y="4023360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M3 Confusion Matrix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19872" y="4005072"/>
            <a:ext cx="3840480" cy="301752"/>
          </a:xfrm>
          <a:prstGeom prst="rect">
            <a:avLst/>
          </a:prstGeom>
          <a:solidFill>
            <a:srgbClr val="0F6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65592" y="4023360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M2 Attention Heatmap</a:t>
            </a:r>
          </a:p>
        </p:txBody>
      </p:sp>
      <p:pic>
        <p:nvPicPr>
          <p:cNvPr id="22" name="Picture 21" descr="confusion_matric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600" y="4325112"/>
            <a:ext cx="3840480" cy="2395728"/>
          </a:xfrm>
          <a:prstGeom prst="rect">
            <a:avLst/>
          </a:prstGeom>
        </p:spPr>
      </p:pic>
      <p:pic>
        <p:nvPicPr>
          <p:cNvPr id="23" name="Picture 22" descr="confusion_matric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78808" y="4325112"/>
            <a:ext cx="3840480" cy="2395728"/>
          </a:xfrm>
          <a:prstGeom prst="rect">
            <a:avLst/>
          </a:prstGeom>
        </p:spPr>
      </p:pic>
      <p:pic>
        <p:nvPicPr>
          <p:cNvPr id="24" name="Picture 23" descr="attention_heatma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19872" y="4325112"/>
            <a:ext cx="3840480" cy="2395728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960120"/>
          </a:xfrm>
          <a:prstGeom prst="rect">
            <a:avLst/>
          </a:prstGeom>
          <a:solidFill>
            <a:srgbClr val="1E8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맑은 고딕"/>
              </a:rPr>
              <a:t>FocalLoss  +  AEC 256pt  +  len256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66928"/>
            <a:ext cx="96012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9EA3AB"/>
                </a:solidFill>
                <a:latin typeface="맑은 고딕"/>
              </a:rPr>
              <a:t>M2 (Matched) · M3 (Clinic+Scanner+AEC)  |  Brier → Calibration 포함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3796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9EA3AB"/>
                </a:solidFill>
                <a:latin typeface="맑은 고딕"/>
              </a:rPr>
              <a:t>35 / 42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" y="1005840"/>
            <a:ext cx="3840480" cy="30175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024128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전모델 ROC 비교  (M1·M2·M2₂·M3)</a:t>
            </a:r>
          </a:p>
        </p:txBody>
      </p:sp>
      <p:sp>
        <p:nvSpPr>
          <p:cNvPr id="9" name="Rectangle 8"/>
          <p:cNvSpPr/>
          <p:nvPr/>
        </p:nvSpPr>
        <p:spPr>
          <a:xfrm>
            <a:off x="4178808" y="1005840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24528" y="1024128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M2 Calibration  ※ Brier 보정 확인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19872" y="1005840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65592" y="1024128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M3 Calibration  ※ Brier 보정 확인</a:t>
            </a:r>
          </a:p>
        </p:txBody>
      </p:sp>
      <p:pic>
        <p:nvPicPr>
          <p:cNvPr id="13" name="Picture 12" descr="roc_all_models_len25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325880"/>
            <a:ext cx="3840480" cy="2606040"/>
          </a:xfrm>
          <a:prstGeom prst="rect">
            <a:avLst/>
          </a:prstGeom>
        </p:spPr>
      </p:pic>
      <p:pic>
        <p:nvPicPr>
          <p:cNvPr id="14" name="Picture 13" descr="calibr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78808" y="1325880"/>
            <a:ext cx="3840480" cy="2606040"/>
          </a:xfrm>
          <a:prstGeom prst="rect">
            <a:avLst/>
          </a:prstGeom>
        </p:spPr>
      </p:pic>
      <p:pic>
        <p:nvPicPr>
          <p:cNvPr id="15" name="Picture 14" descr="calibr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19872" y="1325880"/>
            <a:ext cx="3840480" cy="260604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228600" y="4005072"/>
            <a:ext cx="3840480" cy="301752"/>
          </a:xfrm>
          <a:prstGeom prst="rect">
            <a:avLst/>
          </a:prstGeom>
          <a:solidFill>
            <a:srgbClr val="0F9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4320" y="4023360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M2 Confusion Matrix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78808" y="4005072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24528" y="4023360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M3 Confusion Matrix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19872" y="4005072"/>
            <a:ext cx="3840480" cy="301752"/>
          </a:xfrm>
          <a:prstGeom prst="rect">
            <a:avLst/>
          </a:prstGeom>
          <a:solidFill>
            <a:srgbClr val="0F6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65592" y="4023360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M2 Attention Heatmap</a:t>
            </a:r>
          </a:p>
        </p:txBody>
      </p:sp>
      <p:pic>
        <p:nvPicPr>
          <p:cNvPr id="22" name="Picture 21" descr="confusion_matric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600" y="4325112"/>
            <a:ext cx="3840480" cy="2395728"/>
          </a:xfrm>
          <a:prstGeom prst="rect">
            <a:avLst/>
          </a:prstGeom>
        </p:spPr>
      </p:pic>
      <p:pic>
        <p:nvPicPr>
          <p:cNvPr id="23" name="Picture 22" descr="confusion_matric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78808" y="4325112"/>
            <a:ext cx="3840480" cy="2395728"/>
          </a:xfrm>
          <a:prstGeom prst="rect">
            <a:avLst/>
          </a:prstGeom>
        </p:spPr>
      </p:pic>
      <p:pic>
        <p:nvPicPr>
          <p:cNvPr id="24" name="Picture 23" descr="attention_heatma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19872" y="4325112"/>
            <a:ext cx="3840480" cy="2395728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960120"/>
          </a:xfrm>
          <a:prstGeom prst="rect">
            <a:avLst/>
          </a:prstGeom>
          <a:solidFill>
            <a:srgbClr val="1E8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맑은 고딕"/>
              </a:rPr>
              <a:t>FocalLoss  +  AEC 256pt  +  excl_extreme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66928"/>
            <a:ext cx="96012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9EA3AB"/>
                </a:solidFill>
                <a:latin typeface="맑은 고딕"/>
              </a:rPr>
              <a:t>M2 (Matched) · M3 (Clinic+Scanner+AEC)  |  Brier → Calibration 포함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3796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9EA3AB"/>
                </a:solidFill>
                <a:latin typeface="맑은 고딕"/>
              </a:rPr>
              <a:t>36 / 42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" y="1005840"/>
            <a:ext cx="3840480" cy="30175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024128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전모델 ROC 비교  (M1·M2·M2₂·M3)</a:t>
            </a:r>
          </a:p>
        </p:txBody>
      </p:sp>
      <p:sp>
        <p:nvSpPr>
          <p:cNvPr id="9" name="Rectangle 8"/>
          <p:cNvSpPr/>
          <p:nvPr/>
        </p:nvSpPr>
        <p:spPr>
          <a:xfrm>
            <a:off x="4178808" y="1005840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24528" y="1024128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M2 Calibration  ※ Brier 보정 확인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19872" y="1005840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65592" y="1024128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M3 Calibration  ※ Brier 보정 확인</a:t>
            </a:r>
          </a:p>
        </p:txBody>
      </p:sp>
      <p:pic>
        <p:nvPicPr>
          <p:cNvPr id="13" name="Picture 12" descr="roc_all_models_excl_extre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325880"/>
            <a:ext cx="3840480" cy="2606040"/>
          </a:xfrm>
          <a:prstGeom prst="rect">
            <a:avLst/>
          </a:prstGeom>
        </p:spPr>
      </p:pic>
      <p:pic>
        <p:nvPicPr>
          <p:cNvPr id="14" name="Picture 13" descr="calibr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78808" y="1325880"/>
            <a:ext cx="3840480" cy="2606040"/>
          </a:xfrm>
          <a:prstGeom prst="rect">
            <a:avLst/>
          </a:prstGeom>
        </p:spPr>
      </p:pic>
      <p:pic>
        <p:nvPicPr>
          <p:cNvPr id="15" name="Picture 14" descr="calibr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19872" y="1325880"/>
            <a:ext cx="3840480" cy="260604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228600" y="4005072"/>
            <a:ext cx="3840480" cy="301752"/>
          </a:xfrm>
          <a:prstGeom prst="rect">
            <a:avLst/>
          </a:prstGeom>
          <a:solidFill>
            <a:srgbClr val="0F9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4320" y="4023360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M2 Confusion Matrix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78808" y="4005072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24528" y="4023360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M3 Confusion Matrix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19872" y="4005072"/>
            <a:ext cx="3840480" cy="301752"/>
          </a:xfrm>
          <a:prstGeom prst="rect">
            <a:avLst/>
          </a:prstGeom>
          <a:solidFill>
            <a:srgbClr val="0F6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65592" y="4023360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M2 Attention Heatmap</a:t>
            </a:r>
          </a:p>
        </p:txBody>
      </p:sp>
      <p:pic>
        <p:nvPicPr>
          <p:cNvPr id="22" name="Picture 21" descr="confusion_matric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600" y="4325112"/>
            <a:ext cx="3840480" cy="2395728"/>
          </a:xfrm>
          <a:prstGeom prst="rect">
            <a:avLst/>
          </a:prstGeom>
        </p:spPr>
      </p:pic>
      <p:pic>
        <p:nvPicPr>
          <p:cNvPr id="23" name="Picture 22" descr="confusion_matric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78808" y="4325112"/>
            <a:ext cx="3840480" cy="2395728"/>
          </a:xfrm>
          <a:prstGeom prst="rect">
            <a:avLst/>
          </a:prstGeom>
        </p:spPr>
      </p:pic>
      <p:pic>
        <p:nvPicPr>
          <p:cNvPr id="24" name="Picture 23" descr="attention_heatma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19872" y="4325112"/>
            <a:ext cx="3840480" cy="2395728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920240"/>
            <a:ext cx="10360152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300" b="1" i="0">
                <a:solidFill>
                  <a:srgbClr val="FFFFFF"/>
                </a:solidFill>
                <a:latin typeface="맑은 고딕"/>
              </a:rPr>
              <a:t>부록 2 — OK+Missing 확장 데이터셋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880360"/>
            <a:ext cx="1036015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700" b="0" i="0">
                <a:solidFill>
                  <a:srgbClr val="9EA3AB"/>
                </a:solidFill>
                <a:latin typeface="맑은 고딕"/>
              </a:rPr>
              <a:t>누락 데이터 포함 확장 코호트  |  n=1,162 (Train 929 / Test 233)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3520440"/>
            <a:ext cx="5788152" cy="36576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371600" y="3840480"/>
            <a:ext cx="4572000" cy="685800"/>
          </a:xfrm>
          <a:prstGeom prst="rect">
            <a:avLst/>
          </a:prstGeom>
          <a:solidFill>
            <a:srgbClr val="0F6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63040" y="3913632"/>
            <a:ext cx="43891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</a:rPr>
              <a:t>OK 코호트 (n=859)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4206240"/>
            <a:ext cx="43891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맑은 고딕"/>
              </a:rPr>
              <a:t>AEC 매칭 완전한 환자만 포함 — 본 연구 주결과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3840480"/>
            <a:ext cx="4572000" cy="685800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59" y="3913632"/>
            <a:ext cx="43891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</a:rPr>
              <a:t>OK+Missing 코호트 (n=1,162)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59" y="4206240"/>
            <a:ext cx="43891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맑은 고딕"/>
              </a:rPr>
              <a:t>누락 AEC 포함 확장 — 비교 참고용 간략 제시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892040"/>
            <a:ext cx="103601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0" i="1">
                <a:solidFill>
                  <a:srgbClr val="9EA3AB"/>
                </a:solidFill>
                <a:latin typeface="맑은 고딕"/>
              </a:rPr>
              <a:t>결과 해석 주의: 누락 데이터 포함 → AEC 기여 효과 희석, 전반적 AUC 감소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47120" y="653796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9EA3AB"/>
                </a:solidFill>
                <a:latin typeface="맑은 고딕"/>
              </a:rPr>
              <a:t>37 / 42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058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500" b="1" i="0">
                <a:solidFill>
                  <a:srgbClr val="FFFFFF"/>
                </a:solidFill>
                <a:latin typeface="맑은 고딕"/>
              </a:rPr>
              <a:t>OK+Missing 코호트 결과 개요 — OK 대비 비교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0058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9EA3AB"/>
                </a:solidFill>
                <a:latin typeface="맑은 고딕"/>
              </a:rPr>
              <a:t>n=1,162 / Test n=233 / Sarco 25명(10.7%)  |  BCE + AEC128 + norm 기준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5029200" cy="27432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70432"/>
            <a:ext cx="46634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>
                <a:solidFill>
                  <a:srgbClr val="1A1A2E"/>
                </a:solidFill>
                <a:latin typeface="맑은 고딕"/>
              </a:rPr>
              <a:t>데이터셋 비교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63040"/>
            <a:ext cx="4663440" cy="36576"/>
          </a:xfrm>
          <a:prstGeom prst="rect">
            <a:avLst/>
          </a:prstGeom>
          <a:solidFill>
            <a:srgbClr val="0F6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508760"/>
            <a:ext cx="1371600" cy="2743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50876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</a:rPr>
              <a:t>구분</a:t>
            </a:r>
          </a:p>
        </p:txBody>
      </p:sp>
      <p:sp>
        <p:nvSpPr>
          <p:cNvPr id="10" name="Rectangle 9"/>
          <p:cNvSpPr/>
          <p:nvPr/>
        </p:nvSpPr>
        <p:spPr>
          <a:xfrm>
            <a:off x="1783080" y="1508760"/>
            <a:ext cx="1371600" cy="2743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83080" y="150876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</a:rPr>
              <a:t>OK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0" y="1508760"/>
            <a:ext cx="1325880" cy="2743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0400" y="1508760"/>
            <a:ext cx="13258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</a:rPr>
              <a:t>OK+Missing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1508760"/>
            <a:ext cx="822960" cy="2743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0" y="150876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</a:rPr>
              <a:t>차이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1801368"/>
            <a:ext cx="137160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1801368"/>
            <a:ext cx="137160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전체 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783080" y="1801368"/>
            <a:ext cx="137160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783080" y="1801368"/>
            <a:ext cx="137160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859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0" y="1801368"/>
            <a:ext cx="132588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00400" y="1801368"/>
            <a:ext cx="13258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1,162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0" y="1801368"/>
            <a:ext cx="82296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0" y="1801368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+303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2139696"/>
            <a:ext cx="1371600" cy="338328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2139696"/>
            <a:ext cx="137160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Train 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783080" y="2139696"/>
            <a:ext cx="1371600" cy="338328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783080" y="2139696"/>
            <a:ext cx="137160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687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00400" y="2139696"/>
            <a:ext cx="1325880" cy="338328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200400" y="2139696"/>
            <a:ext cx="13258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929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0" y="2139696"/>
            <a:ext cx="822960" cy="338328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0" y="2139696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+242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2478024"/>
            <a:ext cx="137160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5760" y="2478024"/>
            <a:ext cx="137160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Test 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783080" y="2478024"/>
            <a:ext cx="137160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783080" y="2478024"/>
            <a:ext cx="137160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172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200400" y="2478024"/>
            <a:ext cx="132588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200400" y="2478024"/>
            <a:ext cx="13258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233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0" y="2478024"/>
            <a:ext cx="82296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72000" y="2478024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+61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2816352"/>
            <a:ext cx="1371600" cy="338328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2816352"/>
            <a:ext cx="137160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Sarco(Test)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783080" y="2816352"/>
            <a:ext cx="1371600" cy="338328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783080" y="2816352"/>
            <a:ext cx="137160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21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200400" y="2816352"/>
            <a:ext cx="1325880" cy="338328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200400" y="2816352"/>
            <a:ext cx="13258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25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0" y="2816352"/>
            <a:ext cx="822960" cy="338328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572000" y="2816352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+4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65760" y="3154680"/>
            <a:ext cx="137160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65760" y="3154680"/>
            <a:ext cx="137160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Sarco 비율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783080" y="3154680"/>
            <a:ext cx="137160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783080" y="3154680"/>
            <a:ext cx="137160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12.2%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200400" y="3154680"/>
            <a:ext cx="132588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200400" y="3154680"/>
            <a:ext cx="13258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10.7%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572000" y="3154680"/>
            <a:ext cx="82296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572000" y="3154680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-1.5%p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74320" y="3977639"/>
            <a:ext cx="5029200" cy="260604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57200" y="4050791"/>
            <a:ext cx="46634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>
                <a:solidFill>
                  <a:srgbClr val="1A1A2E"/>
                </a:solidFill>
                <a:latin typeface="맑은 고딕"/>
              </a:rPr>
              <a:t>BCE+AEC128+norm 성능 비교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57200" y="4343400"/>
            <a:ext cx="4663440" cy="36576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365760" y="4389120"/>
            <a:ext cx="1097280" cy="2743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65760" y="43891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</a:rPr>
              <a:t>모델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508760" y="4389120"/>
            <a:ext cx="1051560" cy="2743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508760" y="4389120"/>
            <a:ext cx="1051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</a:rPr>
              <a:t>OK AUC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606040" y="4389120"/>
            <a:ext cx="1143000" cy="2743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606040" y="4389120"/>
            <a:ext cx="1143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</a:rPr>
              <a:t>OM AUC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794760" y="4389120"/>
            <a:ext cx="1234440" cy="2743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794760" y="4389120"/>
            <a:ext cx="12344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</a:rPr>
              <a:t>Δ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65760" y="4681728"/>
            <a:ext cx="1097280" cy="338328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65760" y="4681728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M1 (LR)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508760" y="4681728"/>
            <a:ext cx="1051560" cy="338328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508760" y="4681728"/>
            <a:ext cx="10515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0.8325</a:t>
            </a:r>
          </a:p>
        </p:txBody>
      </p:sp>
      <p:sp>
        <p:nvSpPr>
          <p:cNvPr id="71" name="Rectangle 70"/>
          <p:cNvSpPr/>
          <p:nvPr/>
        </p:nvSpPr>
        <p:spPr>
          <a:xfrm>
            <a:off x="2606040" y="4681728"/>
            <a:ext cx="1143000" cy="338328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606040" y="4681728"/>
            <a:ext cx="114300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0.8119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794760" y="4681728"/>
            <a:ext cx="1234440" cy="338328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794760" y="4681728"/>
            <a:ext cx="123444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C0392B"/>
                </a:solidFill>
                <a:latin typeface="맑은 고딕"/>
              </a:rPr>
              <a:t>-0.021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65760" y="5020056"/>
            <a:ext cx="1097280" cy="338328"/>
          </a:xfrm>
          <a:prstGeom prst="rect">
            <a:avLst/>
          </a:prstGeom>
          <a:solidFill>
            <a:srgbClr val="E8F4E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365760" y="5020056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M2 (CA)</a:t>
            </a:r>
          </a:p>
        </p:txBody>
      </p:sp>
      <p:sp>
        <p:nvSpPr>
          <p:cNvPr id="77" name="Rectangle 76"/>
          <p:cNvSpPr/>
          <p:nvPr/>
        </p:nvSpPr>
        <p:spPr>
          <a:xfrm>
            <a:off x="1508760" y="5020056"/>
            <a:ext cx="1051560" cy="338328"/>
          </a:xfrm>
          <a:prstGeom prst="rect">
            <a:avLst/>
          </a:prstGeom>
          <a:solidFill>
            <a:srgbClr val="E8F4E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508760" y="5020056"/>
            <a:ext cx="10515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0.8868</a:t>
            </a:r>
          </a:p>
        </p:txBody>
      </p:sp>
      <p:sp>
        <p:nvSpPr>
          <p:cNvPr id="79" name="Rectangle 78"/>
          <p:cNvSpPr/>
          <p:nvPr/>
        </p:nvSpPr>
        <p:spPr>
          <a:xfrm>
            <a:off x="2606040" y="5020056"/>
            <a:ext cx="1143000" cy="338328"/>
          </a:xfrm>
          <a:prstGeom prst="rect">
            <a:avLst/>
          </a:prstGeom>
          <a:solidFill>
            <a:srgbClr val="E8F4E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2606040" y="5020056"/>
            <a:ext cx="114300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0.8254</a:t>
            </a:r>
          </a:p>
        </p:txBody>
      </p:sp>
      <p:sp>
        <p:nvSpPr>
          <p:cNvPr id="81" name="Rectangle 80"/>
          <p:cNvSpPr/>
          <p:nvPr/>
        </p:nvSpPr>
        <p:spPr>
          <a:xfrm>
            <a:off x="3794760" y="5020056"/>
            <a:ext cx="1234440" cy="338328"/>
          </a:xfrm>
          <a:prstGeom prst="rect">
            <a:avLst/>
          </a:prstGeom>
          <a:solidFill>
            <a:srgbClr val="E8F4E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3794760" y="5020056"/>
            <a:ext cx="123444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C0392B"/>
                </a:solidFill>
                <a:latin typeface="맑은 고딕"/>
              </a:rPr>
              <a:t>-0.061</a:t>
            </a:r>
          </a:p>
        </p:txBody>
      </p:sp>
      <p:sp>
        <p:nvSpPr>
          <p:cNvPr id="83" name="Rectangle 82"/>
          <p:cNvSpPr/>
          <p:nvPr/>
        </p:nvSpPr>
        <p:spPr>
          <a:xfrm>
            <a:off x="365760" y="5358384"/>
            <a:ext cx="109728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65760" y="5358384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M2_2 (Neg)</a:t>
            </a:r>
          </a:p>
        </p:txBody>
      </p:sp>
      <p:sp>
        <p:nvSpPr>
          <p:cNvPr id="85" name="Rectangle 84"/>
          <p:cNvSpPr/>
          <p:nvPr/>
        </p:nvSpPr>
        <p:spPr>
          <a:xfrm>
            <a:off x="1508760" y="5358384"/>
            <a:ext cx="105156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1508760" y="5358384"/>
            <a:ext cx="10515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0.8420</a:t>
            </a:r>
          </a:p>
        </p:txBody>
      </p:sp>
      <p:sp>
        <p:nvSpPr>
          <p:cNvPr id="87" name="Rectangle 86"/>
          <p:cNvSpPr/>
          <p:nvPr/>
        </p:nvSpPr>
        <p:spPr>
          <a:xfrm>
            <a:off x="2606040" y="5358384"/>
            <a:ext cx="114300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2606040" y="5358384"/>
            <a:ext cx="114300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0.8246</a:t>
            </a:r>
          </a:p>
        </p:txBody>
      </p:sp>
      <p:sp>
        <p:nvSpPr>
          <p:cNvPr id="89" name="Rectangle 88"/>
          <p:cNvSpPr/>
          <p:nvPr/>
        </p:nvSpPr>
        <p:spPr>
          <a:xfrm>
            <a:off x="3794760" y="5358384"/>
            <a:ext cx="123444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3794760" y="5358384"/>
            <a:ext cx="123444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C0392B"/>
                </a:solidFill>
                <a:latin typeface="맑은 고딕"/>
              </a:rPr>
              <a:t>-0.017</a:t>
            </a:r>
          </a:p>
        </p:txBody>
      </p:sp>
      <p:sp>
        <p:nvSpPr>
          <p:cNvPr id="91" name="Rectangle 90"/>
          <p:cNvSpPr/>
          <p:nvPr/>
        </p:nvSpPr>
        <p:spPr>
          <a:xfrm>
            <a:off x="365760" y="5696712"/>
            <a:ext cx="1097280" cy="338328"/>
          </a:xfrm>
          <a:prstGeom prst="rect">
            <a:avLst/>
          </a:prstGeom>
          <a:solidFill>
            <a:srgbClr val="FFF3E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365760" y="5696712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M3 (CA3)</a:t>
            </a:r>
          </a:p>
        </p:txBody>
      </p:sp>
      <p:sp>
        <p:nvSpPr>
          <p:cNvPr id="93" name="Rectangle 92"/>
          <p:cNvSpPr/>
          <p:nvPr/>
        </p:nvSpPr>
        <p:spPr>
          <a:xfrm>
            <a:off x="1508760" y="5696712"/>
            <a:ext cx="1051560" cy="338328"/>
          </a:xfrm>
          <a:prstGeom prst="rect">
            <a:avLst/>
          </a:prstGeom>
          <a:solidFill>
            <a:srgbClr val="FFF3E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508760" y="5696712"/>
            <a:ext cx="10515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0.8944</a:t>
            </a:r>
          </a:p>
        </p:txBody>
      </p:sp>
      <p:sp>
        <p:nvSpPr>
          <p:cNvPr id="95" name="Rectangle 94"/>
          <p:cNvSpPr/>
          <p:nvPr/>
        </p:nvSpPr>
        <p:spPr>
          <a:xfrm>
            <a:off x="2606040" y="5696712"/>
            <a:ext cx="1143000" cy="338328"/>
          </a:xfrm>
          <a:prstGeom prst="rect">
            <a:avLst/>
          </a:prstGeom>
          <a:solidFill>
            <a:srgbClr val="FFF3E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2606040" y="5696712"/>
            <a:ext cx="114300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0.8200</a:t>
            </a:r>
          </a:p>
        </p:txBody>
      </p:sp>
      <p:sp>
        <p:nvSpPr>
          <p:cNvPr id="97" name="Rectangle 96"/>
          <p:cNvSpPr/>
          <p:nvPr/>
        </p:nvSpPr>
        <p:spPr>
          <a:xfrm>
            <a:off x="3794760" y="5696712"/>
            <a:ext cx="1234440" cy="338328"/>
          </a:xfrm>
          <a:prstGeom prst="rect">
            <a:avLst/>
          </a:prstGeom>
          <a:solidFill>
            <a:srgbClr val="FFF3E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3794760" y="5696712"/>
            <a:ext cx="123444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C0392B"/>
                </a:solidFill>
                <a:latin typeface="맑은 고딕"/>
              </a:rPr>
              <a:t>-0.074</a:t>
            </a:r>
          </a:p>
        </p:txBody>
      </p:sp>
      <p:sp>
        <p:nvSpPr>
          <p:cNvPr id="99" name="Rectangle 98"/>
          <p:cNvSpPr/>
          <p:nvPr/>
        </p:nvSpPr>
        <p:spPr>
          <a:xfrm>
            <a:off x="5486400" y="1097280"/>
            <a:ext cx="6492240" cy="310896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5486400" y="1097280"/>
            <a:ext cx="109728" cy="3108960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715000" y="1170432"/>
            <a:ext cx="6126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>
                <a:solidFill>
                  <a:srgbClr val="E87400"/>
                </a:solidFill>
                <a:latin typeface="맑은 고딕"/>
              </a:rPr>
              <a:t>주요 발견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5715000" y="1536192"/>
            <a:ext cx="6126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맑은 고딕"/>
              </a:rPr>
              <a:t>• 전 모델에서 AUC 감소 (Δ –0.02~–0.07)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715000" y="1929384"/>
            <a:ext cx="6126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맑은 고딕"/>
              </a:rPr>
              <a:t>  → Missing 환자는 더 어려운 케이스를 포함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5715000" y="2322576"/>
            <a:ext cx="6126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맑은 고딕"/>
              </a:rPr>
              <a:t>• M1 vs M2/M3 DeLong: 전 조건 ns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5715000" y="2715768"/>
            <a:ext cx="6126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맑은 고딕"/>
              </a:rPr>
              <a:t>  → ok에서 유의했던 조건도 유의성 소실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715000" y="3108960"/>
            <a:ext cx="6126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맑은 고딕"/>
              </a:rPr>
              <a:t>• M2 vs M2_2 excl_extreme: 일관 ***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715000" y="3502152"/>
            <a:ext cx="6126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맑은 고딕"/>
              </a:rPr>
              <a:t>  → AEC 매칭 효과는 데이터셋 불문 강건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5715000" y="3895344"/>
            <a:ext cx="6126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맑은 고딕"/>
              </a:rPr>
              <a:t>• M2 vs M3: 전 조건 ns (ok와 동일)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5486400" y="4315968"/>
            <a:ext cx="6492240" cy="226771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5669280" y="4389120"/>
            <a:ext cx="6217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1A1A2E"/>
                </a:solidFill>
                <a:latin typeface="맑은 고딕"/>
              </a:rPr>
              <a:t>DeLong 요약  (norm 기준 / ok+missing)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669280" y="4681728"/>
            <a:ext cx="6035040" cy="36576"/>
          </a:xfrm>
          <a:prstGeom prst="rect">
            <a:avLst/>
          </a:prstGeom>
          <a:solidFill>
            <a:srgbClr val="0F9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5577840" y="4727448"/>
            <a:ext cx="1325880" cy="25603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5577840" y="4727448"/>
            <a:ext cx="13258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</a:rPr>
              <a:t>비교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6949440" y="4727448"/>
            <a:ext cx="1051560" cy="25603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6949440" y="4727448"/>
            <a:ext cx="10515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</a:rPr>
              <a:t>OK p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8046720" y="4727448"/>
            <a:ext cx="1143000" cy="25603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8046720" y="4727448"/>
            <a:ext cx="1143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</a:rPr>
              <a:t>OM p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9235440" y="4727448"/>
            <a:ext cx="1051560" cy="25603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9235440" y="4727448"/>
            <a:ext cx="10515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</a:rPr>
              <a:t>OK sig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10332720" y="4727448"/>
            <a:ext cx="1508760" cy="25603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10332720" y="4727448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</a:rPr>
              <a:t>OM sig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577840" y="5001768"/>
            <a:ext cx="132588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577840" y="5001768"/>
            <a:ext cx="13258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M1 vs M2 (BCE128)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949440" y="5001768"/>
            <a:ext cx="105156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6949440" y="5001768"/>
            <a:ext cx="10515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p=0.071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8046720" y="5001768"/>
            <a:ext cx="114300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8046720" y="5001768"/>
            <a:ext cx="114300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p=0.578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9235440" y="5001768"/>
            <a:ext cx="105156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9235440" y="5001768"/>
            <a:ext cx="10515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E8B4C"/>
                </a:solidFill>
                <a:latin typeface="맑은 고딕"/>
              </a:rPr>
              <a:t>†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10332720" y="5001768"/>
            <a:ext cx="150876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10332720" y="5001768"/>
            <a:ext cx="15087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9EA3AB"/>
                </a:solidFill>
                <a:latin typeface="맑은 고딕"/>
              </a:rPr>
              <a:t>ns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5577840" y="5340096"/>
            <a:ext cx="1325880" cy="338328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5577840" y="5340096"/>
            <a:ext cx="13258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M1 vs M3 (BCE128)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6949440" y="5340096"/>
            <a:ext cx="1051560" cy="338328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6949440" y="5340096"/>
            <a:ext cx="10515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p=0.040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8046720" y="5340096"/>
            <a:ext cx="1143000" cy="338328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8046720" y="5340096"/>
            <a:ext cx="114300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p=0.773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9235440" y="5340096"/>
            <a:ext cx="1051560" cy="338328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9235440" y="5340096"/>
            <a:ext cx="10515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E8B4C"/>
                </a:solidFill>
                <a:latin typeface="맑은 고딕"/>
              </a:rPr>
              <a:t>*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10332720" y="5340096"/>
            <a:ext cx="1508760" cy="338328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10332720" y="5340096"/>
            <a:ext cx="15087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9EA3AB"/>
                </a:solidFill>
                <a:latin typeface="맑은 고딕"/>
              </a:rPr>
              <a:t>ns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5577840" y="5678424"/>
            <a:ext cx="132588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5577840" y="5678424"/>
            <a:ext cx="13258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M1 vs M2 (BCE256)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949440" y="5678424"/>
            <a:ext cx="105156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6949440" y="5678424"/>
            <a:ext cx="10515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p=0.013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8046720" y="5678424"/>
            <a:ext cx="114300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8046720" y="5678424"/>
            <a:ext cx="114300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p=0.492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9235440" y="5678424"/>
            <a:ext cx="105156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9235440" y="5678424"/>
            <a:ext cx="10515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E8B4C"/>
                </a:solidFill>
                <a:latin typeface="맑은 고딕"/>
              </a:rPr>
              <a:t>*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10332720" y="5678424"/>
            <a:ext cx="150876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10332720" y="5678424"/>
            <a:ext cx="15087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9EA3AB"/>
                </a:solidFill>
                <a:latin typeface="맑은 고딕"/>
              </a:rPr>
              <a:t>ns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5577840" y="6016752"/>
            <a:ext cx="1325880" cy="338328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5577840" y="6016752"/>
            <a:ext cx="13258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M2 vs M2_2(excl)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6949440" y="6016752"/>
            <a:ext cx="1051560" cy="338328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6949440" y="6016752"/>
            <a:ext cx="10515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&lt;0.001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8046720" y="6016752"/>
            <a:ext cx="1143000" cy="338328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8046720" y="6016752"/>
            <a:ext cx="114300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&lt;0.001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9235440" y="6016752"/>
            <a:ext cx="1051560" cy="338328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9235440" y="6016752"/>
            <a:ext cx="10515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C0392B"/>
                </a:solidFill>
                <a:latin typeface="맑은 고딕"/>
              </a:rPr>
              <a:t>***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10332720" y="6016752"/>
            <a:ext cx="1508760" cy="338328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10332720" y="6016752"/>
            <a:ext cx="15087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C0392B"/>
                </a:solidFill>
                <a:latin typeface="맑은 고딕"/>
              </a:rPr>
              <a:t>***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247120" y="653796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9EA3AB"/>
                </a:solidFill>
                <a:latin typeface="맑은 고딕"/>
              </a:rPr>
              <a:t>38 / 42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960120"/>
          </a:xfrm>
          <a:prstGeom prst="rect">
            <a:avLst/>
          </a:prstGeom>
          <a:solidFill>
            <a:srgbClr val="0F6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100" b="1" i="0">
                <a:solidFill>
                  <a:srgbClr val="FFFFFF"/>
                </a:solidFill>
                <a:latin typeface="맑은 고딕"/>
              </a:rPr>
              <a:t>[OK+Miss] BCEWithLogitsLoss  +  AEC 128pt  — 간략 요약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66928"/>
            <a:ext cx="96012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9EA3AB"/>
                </a:solidFill>
                <a:latin typeface="맑은 고딕"/>
              </a:rPr>
              <a:t>OK+Missing 코호트 (n=1,162)  |  norm · excl_extreme 조건 비교 / DeLong 전 조건 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3796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9EA3AB"/>
                </a:solidFill>
                <a:latin typeface="맑은 고딕"/>
              </a:rPr>
              <a:t>39 / 42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" y="1005840"/>
            <a:ext cx="5394960" cy="30175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024128"/>
            <a:ext cx="530352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ROC — norm 조건</a:t>
            </a:r>
          </a:p>
        </p:txBody>
      </p:sp>
      <p:pic>
        <p:nvPicPr>
          <p:cNvPr id="9" name="Picture 8" descr="roc_all_models_n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325880"/>
            <a:ext cx="5394960" cy="278892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228600" y="3913632"/>
            <a:ext cx="5394960" cy="30175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3931920"/>
            <a:ext cx="530352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ROC — excl_extreme 조건</a:t>
            </a:r>
          </a:p>
        </p:txBody>
      </p:sp>
      <p:pic>
        <p:nvPicPr>
          <p:cNvPr id="12" name="Picture 11" descr="roc_all_models_excl_extre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" y="4233672"/>
            <a:ext cx="5394960" cy="2788920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5852160" y="1005840"/>
            <a:ext cx="6126480" cy="301752"/>
          </a:xfrm>
          <a:prstGeom prst="rect">
            <a:avLst/>
          </a:prstGeom>
          <a:solidFill>
            <a:srgbClr val="FFF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25312" y="1024128"/>
            <a:ext cx="6016752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E87400"/>
                </a:solidFill>
                <a:latin typeface="맑은 고딕"/>
              </a:rPr>
              <a:t>※ Calibration — M2  BCEWithLogitsLoss+AEC 128pt+norm  (Brier)  (Brier 보정 품질 확인)</a:t>
            </a:r>
          </a:p>
        </p:txBody>
      </p:sp>
      <p:pic>
        <p:nvPicPr>
          <p:cNvPr id="15" name="Picture 14" descr="calibr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2160" y="1325880"/>
            <a:ext cx="6126480" cy="256032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5852160" y="4005072"/>
            <a:ext cx="6126480" cy="301752"/>
          </a:xfrm>
          <a:prstGeom prst="rect">
            <a:avLst/>
          </a:prstGeom>
          <a:solidFill>
            <a:srgbClr val="FFF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25312" y="4023359"/>
            <a:ext cx="6016752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E87400"/>
                </a:solidFill>
                <a:latin typeface="맑은 고딕"/>
              </a:rPr>
              <a:t>※ Calibration — M3  BCEWithLogitsLoss+AEC 128pt+norm  (Brier)  (Brier 보정 품질 확인)</a:t>
            </a:r>
          </a:p>
        </p:txBody>
      </p:sp>
      <p:pic>
        <p:nvPicPr>
          <p:cNvPr id="18" name="Picture 17" descr="calibrati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52160" y="4325112"/>
            <a:ext cx="6126480" cy="242316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960120"/>
          </a:xfrm>
          <a:prstGeom prst="rect">
            <a:avLst/>
          </a:prstGeom>
          <a:solidFill>
            <a:srgbClr val="0F9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100" b="1" i="0">
                <a:solidFill>
                  <a:srgbClr val="FFFFFF"/>
                </a:solidFill>
                <a:latin typeface="맑은 고딕"/>
              </a:rPr>
              <a:t>[OK+Miss] BCEWithLogitsLoss  +  AEC 256pt  — 간략 요약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66928"/>
            <a:ext cx="96012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9EA3AB"/>
                </a:solidFill>
                <a:latin typeface="맑은 고딕"/>
              </a:rPr>
              <a:t>OK+Missing 코호트 (n=1,162)  |  norm · excl_extreme 조건 비교 / DeLong 전 조건 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3796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9EA3AB"/>
                </a:solidFill>
                <a:latin typeface="맑은 고딕"/>
              </a:rPr>
              <a:t>40 / 42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" y="1005840"/>
            <a:ext cx="5394960" cy="30175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024128"/>
            <a:ext cx="530352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ROC — norm 조건</a:t>
            </a:r>
          </a:p>
        </p:txBody>
      </p:sp>
      <p:pic>
        <p:nvPicPr>
          <p:cNvPr id="9" name="Picture 8" descr="roc_all_models_n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325880"/>
            <a:ext cx="5394960" cy="278892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228600" y="3913632"/>
            <a:ext cx="5394960" cy="30175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3931920"/>
            <a:ext cx="530352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ROC — excl_extreme 조건</a:t>
            </a:r>
          </a:p>
        </p:txBody>
      </p:sp>
      <p:pic>
        <p:nvPicPr>
          <p:cNvPr id="12" name="Picture 11" descr="roc_all_models_excl_extre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" y="4233672"/>
            <a:ext cx="5394960" cy="2788920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5852160" y="1005840"/>
            <a:ext cx="6126480" cy="301752"/>
          </a:xfrm>
          <a:prstGeom prst="rect">
            <a:avLst/>
          </a:prstGeom>
          <a:solidFill>
            <a:srgbClr val="FFF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25312" y="1024128"/>
            <a:ext cx="6016752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E87400"/>
                </a:solidFill>
                <a:latin typeface="맑은 고딕"/>
              </a:rPr>
              <a:t>※ Calibration — M2  BCEWithLogitsLoss+AEC 256pt+norm  (Brier)  (Brier 보정 품질 확인)</a:t>
            </a:r>
          </a:p>
        </p:txBody>
      </p:sp>
      <p:pic>
        <p:nvPicPr>
          <p:cNvPr id="15" name="Picture 14" descr="calibr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2160" y="1325880"/>
            <a:ext cx="6126480" cy="256032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5852160" y="4005072"/>
            <a:ext cx="6126480" cy="301752"/>
          </a:xfrm>
          <a:prstGeom prst="rect">
            <a:avLst/>
          </a:prstGeom>
          <a:solidFill>
            <a:srgbClr val="FFF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25312" y="4023359"/>
            <a:ext cx="6016752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E87400"/>
                </a:solidFill>
                <a:latin typeface="맑은 고딕"/>
              </a:rPr>
              <a:t>※ Calibration — M3  BCEWithLogitsLoss+AEC 256pt+norm  (Brier)  (Brier 보정 품질 확인)</a:t>
            </a:r>
          </a:p>
        </p:txBody>
      </p:sp>
      <p:pic>
        <p:nvPicPr>
          <p:cNvPr id="18" name="Picture 17" descr="calibrati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52160" y="4325112"/>
            <a:ext cx="6126480" cy="242316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960120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100" b="1" i="0">
                <a:solidFill>
                  <a:srgbClr val="FFFFFF"/>
                </a:solidFill>
                <a:latin typeface="맑은 고딕"/>
              </a:rPr>
              <a:t>[OK+Miss] FocalLoss  +  AEC 128pt  — 간략 요약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66928"/>
            <a:ext cx="96012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9EA3AB"/>
                </a:solidFill>
                <a:latin typeface="맑은 고딕"/>
              </a:rPr>
              <a:t>OK+Missing 코호트 (n=1,162)  |  norm · excl_extreme 조건 비교 / DeLong 전 조건 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3796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9EA3AB"/>
                </a:solidFill>
                <a:latin typeface="맑은 고딕"/>
              </a:rPr>
              <a:t>41 / 42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" y="1005840"/>
            <a:ext cx="5394960" cy="30175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024128"/>
            <a:ext cx="530352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ROC — norm 조건</a:t>
            </a:r>
          </a:p>
        </p:txBody>
      </p:sp>
      <p:pic>
        <p:nvPicPr>
          <p:cNvPr id="9" name="Picture 8" descr="roc_all_models_n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325880"/>
            <a:ext cx="5394960" cy="278892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228600" y="3913632"/>
            <a:ext cx="5394960" cy="30175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3931920"/>
            <a:ext cx="530352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ROC — excl_extreme 조건</a:t>
            </a:r>
          </a:p>
        </p:txBody>
      </p:sp>
      <p:pic>
        <p:nvPicPr>
          <p:cNvPr id="12" name="Picture 11" descr="roc_all_models_excl_extre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" y="4233672"/>
            <a:ext cx="5394960" cy="2788920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5852160" y="1005840"/>
            <a:ext cx="6126480" cy="301752"/>
          </a:xfrm>
          <a:prstGeom prst="rect">
            <a:avLst/>
          </a:prstGeom>
          <a:solidFill>
            <a:srgbClr val="FFF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25312" y="1024128"/>
            <a:ext cx="6016752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E87400"/>
                </a:solidFill>
                <a:latin typeface="맑은 고딕"/>
              </a:rPr>
              <a:t>※ Calibration — M2  FocalLoss+AEC 128pt+norm  (Brier)  (Brier 보정 품질 확인)</a:t>
            </a:r>
          </a:p>
        </p:txBody>
      </p:sp>
      <p:pic>
        <p:nvPicPr>
          <p:cNvPr id="15" name="Picture 14" descr="calibr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2160" y="1325880"/>
            <a:ext cx="6126480" cy="256032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5852160" y="4005072"/>
            <a:ext cx="6126480" cy="301752"/>
          </a:xfrm>
          <a:prstGeom prst="rect">
            <a:avLst/>
          </a:prstGeom>
          <a:solidFill>
            <a:srgbClr val="FFF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25312" y="4023359"/>
            <a:ext cx="6016752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E87400"/>
                </a:solidFill>
                <a:latin typeface="맑은 고딕"/>
              </a:rPr>
              <a:t>※ Calibration — M3  FocalLoss+AEC 128pt+norm  (Brier)  (Brier 보정 품질 확인)</a:t>
            </a:r>
          </a:p>
        </p:txBody>
      </p:sp>
      <p:pic>
        <p:nvPicPr>
          <p:cNvPr id="18" name="Picture 17" descr="calibrati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52160" y="4325112"/>
            <a:ext cx="6126480" cy="242316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960120"/>
          </a:xfrm>
          <a:prstGeom prst="rect">
            <a:avLst/>
          </a:prstGeom>
          <a:solidFill>
            <a:srgbClr val="1E8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100" b="1" i="0">
                <a:solidFill>
                  <a:srgbClr val="FFFFFF"/>
                </a:solidFill>
                <a:latin typeface="맑은 고딕"/>
              </a:rPr>
              <a:t>[OK+Miss] FocalLoss  +  AEC 256pt  — 간략 요약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66928"/>
            <a:ext cx="96012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9EA3AB"/>
                </a:solidFill>
                <a:latin typeface="맑은 고딕"/>
              </a:rPr>
              <a:t>OK+Missing 코호트 (n=1,162)  |  norm · excl_extreme 조건 비교 / DeLong 전 조건 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3796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9EA3AB"/>
                </a:solidFill>
                <a:latin typeface="맑은 고딕"/>
              </a:rPr>
              <a:t>42 / 42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" y="1005840"/>
            <a:ext cx="5394960" cy="30175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024128"/>
            <a:ext cx="530352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ROC — norm 조건</a:t>
            </a:r>
          </a:p>
        </p:txBody>
      </p:sp>
      <p:pic>
        <p:nvPicPr>
          <p:cNvPr id="9" name="Picture 8" descr="roc_all_models_n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325880"/>
            <a:ext cx="5394960" cy="278892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228600" y="3913632"/>
            <a:ext cx="5394960" cy="30175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3931920"/>
            <a:ext cx="530352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ROC — excl_extreme 조건</a:t>
            </a:r>
          </a:p>
        </p:txBody>
      </p:sp>
      <p:pic>
        <p:nvPicPr>
          <p:cNvPr id="12" name="Picture 11" descr="roc_all_models_excl_extre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" y="4233672"/>
            <a:ext cx="5394960" cy="2788920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5852160" y="1005840"/>
            <a:ext cx="6126480" cy="301752"/>
          </a:xfrm>
          <a:prstGeom prst="rect">
            <a:avLst/>
          </a:prstGeom>
          <a:solidFill>
            <a:srgbClr val="FFF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25312" y="1024128"/>
            <a:ext cx="6016752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E87400"/>
                </a:solidFill>
                <a:latin typeface="맑은 고딕"/>
              </a:rPr>
              <a:t>※ Calibration — M2  FocalLoss+AEC 256pt+norm  (Brier)  (Brier 보정 품질 확인)</a:t>
            </a:r>
          </a:p>
        </p:txBody>
      </p:sp>
      <p:pic>
        <p:nvPicPr>
          <p:cNvPr id="15" name="Picture 14" descr="calibr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2160" y="1325880"/>
            <a:ext cx="6126480" cy="256032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5852160" y="4005072"/>
            <a:ext cx="6126480" cy="301752"/>
          </a:xfrm>
          <a:prstGeom prst="rect">
            <a:avLst/>
          </a:prstGeom>
          <a:solidFill>
            <a:srgbClr val="FFF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25312" y="4023359"/>
            <a:ext cx="6016752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E87400"/>
                </a:solidFill>
                <a:latin typeface="맑은 고딕"/>
              </a:rPr>
              <a:t>※ Calibration — M3  FocalLoss+AEC 256pt+norm  (Brier)  (Brier 보정 품질 확인)</a:t>
            </a:r>
          </a:p>
        </p:txBody>
      </p:sp>
      <p:pic>
        <p:nvPicPr>
          <p:cNvPr id="18" name="Picture 17" descr="calibrati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52160" y="4325112"/>
            <a:ext cx="6126480" cy="24231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