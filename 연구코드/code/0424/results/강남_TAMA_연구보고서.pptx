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0360152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554480"/>
            <a:ext cx="9784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355E"/>
                </a:solidFill>
              </a:rPr>
              <a:t>AEC 곡선 기반 TAMA 예측
회귀분석 연구 보고서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291840"/>
            <a:ext cx="9784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444466"/>
                </a:solidFill>
              </a:rPr>
              <a:t>CT 자동 노출 제어(AEC) 특징과 환자 인구통계학적 변수를 활용한
복부 근육량 지표(TAMA) 예측 모델 개발 및 검증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297680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5B6"/>
                </a:solidFill>
              </a:rPr>
              <a:t>데이터셋: 강남 CT  |  N=1,673명  |  Python (statsmodels · scikit-learn)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목  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Table of 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486400" cy="13258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7F27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26187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연구 개요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78308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</a:rPr>
              <a:t>연구 목적 · 설계 · Feature Set (3 Case)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5486400" cy="13258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2801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7F27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26187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데이터 기술 통계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178308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</a:rPr>
              <a:t>데이터셋 · 성별 TAMA 분포 · 이진화 기준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97480"/>
            <a:ext cx="5486400" cy="13258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788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7F27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77063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분석 방법론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29184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</a:rPr>
              <a:t>전처리 · 모델 · 교차검증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697480"/>
            <a:ext cx="5486400" cy="13258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788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7F27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277063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결과 — 선형 회귀 (Part 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29184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</a:rPr>
              <a:t>단변량 · 다변량 성능 · 잔차 진단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206240"/>
            <a:ext cx="5486400" cy="13258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29767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7F27"/>
                </a:solidFill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27939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결과 — 로지스틱 회귀 (Part 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80060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</a:rPr>
              <a:t>단변량 OR · 다변량 AUC · Calibration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206240"/>
            <a:ext cx="5486400" cy="13258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429767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7F27"/>
                </a:solidFill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427939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결과 — Case 1–3 비교 (Part 3)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80060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</a:rPr>
              <a:t>AEC 추가 효과 · CT 모델명 효과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714999"/>
            <a:ext cx="5486400" cy="13258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80643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7F27"/>
                </a:solidFill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5788151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결론 및 한계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6309359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</a:rPr>
              <a:t>주요 발견 · 제한점 · 향후 방향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01  연구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Research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1521440" cy="105156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F27"/>
                </a:solidFill>
              </a:rPr>
              <a:t>연구 목적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8132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CT 자동 노출 제어(AEC) 곡선과 환자 인구통계(성별·나이)가 복부 근육량 지표 TAMA(Total Abdominal Muscle Area) 예측에 기여하는 정도를 정량화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377440"/>
            <a:ext cx="365760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45059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Part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8892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선형 회귀
(Linear Regression)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747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TAMA (연속형) 값 예측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2377440"/>
            <a:ext cx="365760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245059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Part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78892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로지스틱 회귀
(Logistic Regression)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4747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Low TAMA / Sarcopenia 위험 분류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2377440"/>
            <a:ext cx="365760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245059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Part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78892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Multivariable Analysis
(Case 1–3 비교)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34747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AEC·CT 모델 추가 효과 정량화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44348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Feature Set (Case 구성)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4805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E75B6"/>
                </a:solidFill>
              </a:rPr>
              <a:t>* 성별·나이는 필수 공변량 — Case 1·2·3에 항상 포함. Case 0은 AEC 단독 진단력 참조용.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320040" y="4800600"/>
          <a:ext cx="115214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840480"/>
                <a:gridCol w="384048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Case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예측 변수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목적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Case 0</a:t>
                      </a:r>
                    </a:p>
                    <a:p>
                      <a:r>
                        <a:t>(AEC 단독)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AEC 특징 (mean, CV, skewness, slope_abs_mean)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AEC 독립 진단력 확인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Case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성별 (Sex) + 나이 (Age)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인구통계 기반선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Case 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Case 1 + AEC 특징 (mean, CV, skewness, slope_abs_mean)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AEC 기여도 정량화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Case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Case 2 + CT 모델명 (30개 dummy) + kVp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스캐너·전압 보정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02  데이터 기술 통계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Descriptive Statistics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3566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1887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5B6"/>
                </a:solidFill>
              </a:rPr>
              <a:t>총 환자 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52704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55E"/>
                </a:solidFill>
              </a:rPr>
              <a:t>1,673명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143000"/>
            <a:ext cx="3566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70248" y="11887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5B6"/>
                </a:solidFill>
              </a:rPr>
              <a:t>남성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70248" y="152704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55E"/>
                </a:solidFill>
              </a:rPr>
              <a:t>665명 (39.7%)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1143000"/>
            <a:ext cx="3566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0727" y="11887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5B6"/>
                </a:solidFill>
              </a:rPr>
              <a:t>여성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0727" y="152704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55E"/>
                </a:solidFill>
              </a:rPr>
              <a:t>1,008명 (60.3%)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148840"/>
            <a:ext cx="3566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" y="21945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5B6"/>
                </a:solidFill>
              </a:rPr>
              <a:t>CT 스캐너 / 주요 kVp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253288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55E"/>
                </a:solidFill>
              </a:rPr>
              <a:t>31종  |  100 kVp (93.3%)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2148840"/>
            <a:ext cx="3566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70248" y="21945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5B6"/>
                </a:solidFill>
              </a:rPr>
              <a:t>TAMA 범위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0248" y="253288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55E"/>
                </a:solidFill>
              </a:rPr>
              <a:t>14 ~ 299 cm²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2148840"/>
            <a:ext cx="3566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10727" y="21945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5B6"/>
                </a:solidFill>
              </a:rPr>
              <a:t>TAMA 평균 (SD)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0727" y="253288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55E"/>
                </a:solidFill>
              </a:rPr>
              <a:t>122.51 (±30.49) cm²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32461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성별 TAMA 분포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320040" y="3584448"/>
          <a:ext cx="6857998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9714"/>
                <a:gridCol w="979714"/>
                <a:gridCol w="979714"/>
                <a:gridCol w="979714"/>
                <a:gridCol w="979714"/>
                <a:gridCol w="979714"/>
                <a:gridCol w="979714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성별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평균 (cm²)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SD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중앙값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P25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P75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남성 (M)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665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149.52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27.46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150.00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132.00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166.00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여성 (F)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104.69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15.71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103.00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95.00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114.00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Rectangle 25"/>
          <p:cNvSpPr/>
          <p:nvPr/>
        </p:nvSpPr>
        <p:spPr>
          <a:xfrm>
            <a:off x="7406640" y="3246120"/>
            <a:ext cx="4480560" cy="1572768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43800" y="32918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F27"/>
                </a:solidFill>
              </a:rPr>
              <a:t>Logistic Regression 이진화 기준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800" y="3685032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남성: TAMA &lt; 132 cm²  →  Low Muscle (1)
• 여성: TAMA &lt; 95 cm²  →  Low Muscle (1)
• 양성 비율: 400 / 1,673 = 23.9 %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4892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TAMA 분포 시각화</a:t>
            </a:r>
          </a:p>
        </p:txBody>
      </p:sp>
      <p:pic>
        <p:nvPicPr>
          <p:cNvPr id="30" name="Picture 29" descr="03_tama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230368"/>
            <a:ext cx="5486400" cy="1417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080760" y="4892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AEC Feature 상관계수</a:t>
            </a:r>
          </a:p>
        </p:txBody>
      </p:sp>
      <p:pic>
        <p:nvPicPr>
          <p:cNvPr id="32" name="Picture 31" descr="01_feature_corre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5230368"/>
            <a:ext cx="5788152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02  데이터 정제 과정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Data Cleaning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5156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원시 데이터 2025명에서 결측치 제거 후 최종 분석 대상 1,673명 확정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7772400" cy="7498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563624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1.  원시 데이터 (metadata)</a:t>
            </a:r>
          </a:p>
        </p:txBody>
      </p:sp>
      <p:sp>
        <p:nvSpPr>
          <p:cNvPr id="9" name="Rectangle 8"/>
          <p:cNvSpPr/>
          <p:nvPr/>
        </p:nvSpPr>
        <p:spPr>
          <a:xfrm>
            <a:off x="8321040" y="1508760"/>
            <a:ext cx="356616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645919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75B6"/>
                </a:solidFill>
              </a:rPr>
              <a:t>2,025명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2585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355E"/>
                </a:solidFill>
              </a:rP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377439"/>
            <a:ext cx="7772400" cy="7498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432303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2.  원시 데이터 (features)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2377439"/>
            <a:ext cx="356616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514599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75B6"/>
                </a:solidFill>
              </a:rPr>
              <a:t>2,025명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127247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355E"/>
                </a:solidFill>
              </a:rPr>
              <a:t>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246120"/>
            <a:ext cx="7772400" cy="7498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300984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3.  Inner join (공통 PatientID)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3246120"/>
            <a:ext cx="356616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383279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75B6"/>
                </a:solidFill>
              </a:rPr>
              <a:t>2,025명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9959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355E"/>
                </a:solidFill>
              </a:rP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114800"/>
            <a:ext cx="7772400" cy="7498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4169663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4.  중복 PatientID 제거 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40" y="4114800"/>
            <a:ext cx="356616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42519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75B6"/>
                </a:solidFill>
              </a:rPr>
              <a:t>2,025명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8646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355E"/>
                </a:solidFill>
              </a:rPr>
              <a:t>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983479"/>
            <a:ext cx="7772400" cy="749808"/>
          </a:xfrm>
          <a:prstGeom prst="rect">
            <a:avLst/>
          </a:prstGeom>
          <a:solidFill>
            <a:srgbClr val="00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5038343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5.  결측치 행 제거 후 (최종)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21040" y="4983479"/>
            <a:ext cx="356616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00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51206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8B45"/>
                </a:solidFill>
              </a:rPr>
              <a:t>1,673명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870448"/>
            <a:ext cx="11521440" cy="658368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943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제거 이유: 결측 컬럼(AEC feature) 포함 행 — 352명 제외 (17.4%)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02  CT 스캐너 &amp; kVp 분포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Scanner &amp; kVp Distribution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5577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3385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5B6"/>
                </a:solidFill>
              </a:rPr>
              <a:t>총 CT 스캐너 종류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4475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31종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097280"/>
            <a:ext cx="5577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13385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5B6"/>
                </a:solidFill>
              </a:rPr>
              <a:t>최다 스캐너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44475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Sensation 64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11680"/>
            <a:ext cx="5577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04825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5B6"/>
                </a:solidFill>
              </a:rPr>
              <a:t>주요 kVp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35915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100 kVp (93.3%)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011680"/>
            <a:ext cx="5577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04825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5B6"/>
                </a:solidFill>
              </a:rPr>
              <a:t>총 분석 환자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35915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1,673명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3017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CT 스캐너 모델 분포</a:t>
            </a:r>
          </a:p>
        </p:txBody>
      </p:sp>
      <p:pic>
        <p:nvPicPr>
          <p:cNvPr id="19" name="Picture 18" descr="16_scanner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364992"/>
            <a:ext cx="5669280" cy="32918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217920" y="3017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kVp 분포</a:t>
            </a:r>
          </a:p>
        </p:txBody>
      </p:sp>
      <p:pic>
        <p:nvPicPr>
          <p:cNvPr id="21" name="Picture 20" descr="17_kvp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364992"/>
            <a:ext cx="5650992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02  AEC Feature 선택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Feature Selection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51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Pearson/Spearman 상관계수 + VIF 검사로 선택한 4개 AEC Feature (mean, CV, skewness, slope_abs_mean) — amplitude 그룹(mean≈p25≈AUC_normalized) 중 1개 대표 선택, VIF max&lt;2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508760"/>
          <a:ext cx="115214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88"/>
                <a:gridCol w="2304288"/>
                <a:gridCol w="2304288"/>
                <a:gridCol w="2304288"/>
                <a:gridCol w="2304288"/>
              </a:tblGrid>
              <a:tr h="339634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Pearson r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해석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VIF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선택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mean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+0.297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 평균값 → 체격 전반 반영 (amplitude 그룹 대표)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1.53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-0.349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변동계수(std/mean) → 체형 불균일성 반영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skewness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-0.343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 곡선 비대칭성 → 체형 분포 특성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1.49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slope_abs_mean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+0.042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평균 절대 기울기 → 곡선 동역학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p25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높음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mean과 amplitude 동일 그룹 (r=0.97)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&gt;70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✗ 제외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AUC_normalized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높음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mean과 r≈1.00, 사실상 동일 feature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&gt;57,000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✗ 제외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3931920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7F27"/>
                </a:solidFill>
              </a:rPr>
              <a:t>⚠  p25·AUC_normalized: mean과 동일 amplitude 그룹(r≥0.88) → 다중공선성 제거 / mean을 대표로 포함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4434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Feature 상관계수 Top20</a:t>
            </a:r>
          </a:p>
        </p:txBody>
      </p:sp>
      <p:pic>
        <p:nvPicPr>
          <p:cNvPr id="10" name="Picture 9" descr="01_feature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773168"/>
            <a:ext cx="5486400" cy="1828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80760" y="4434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VIF 비교</a:t>
            </a:r>
          </a:p>
        </p:txBody>
      </p:sp>
      <p:pic>
        <p:nvPicPr>
          <p:cNvPr id="12" name="Picture 11" descr="02_vif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4773168"/>
            <a:ext cx="5788152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02  Correlation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Multicollinearity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5156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선택 Feature 간 Pearson 상관행렬 — |r| &gt; 0.8 쌍은 다중공선성(Multicollinearity) 위험 신호</a:t>
            </a:r>
          </a:p>
        </p:txBody>
      </p:sp>
      <p:pic>
        <p:nvPicPr>
          <p:cNvPr id="7" name="Picture 6" descr="18_correla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0"/>
            <a:ext cx="7772400" cy="51663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321040" y="1463040"/>
            <a:ext cx="3566160" cy="23774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153619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27"/>
                </a:solidFill>
              </a:rPr>
              <a:t>해석 기준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1938528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|r| &lt; 0.5  →  낮은 상관
• 0.5 ≤ |r| &lt; 0.8  →  중간 상관
• |r| ≥ 0.8  →  다중공선성 주의
VIF &gt; 10 과 함께 확인하여
제거 여부 결정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4023360"/>
            <a:ext cx="3566160" cy="2606040"/>
          </a:xfrm>
          <a:prstGeom prst="rect">
            <a:avLst/>
          </a:prstGeom>
          <a:solidFill>
            <a:srgbClr val="FFFFFF"/>
          </a:solidFill>
          <a:ln w="19050"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409651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F27"/>
                </a:solidFill>
              </a:rPr>
              <a:t>⚠  제외 결정 사례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4480560"/>
            <a:ext cx="32918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제외된 amplitude 그룹:
• p25: 제외 (amplitude 중복)
• AUC_normalized: 제외 (amplitude 중복)
• peak_max_height: 제외 (amplitude 중복)
선택 대표: mean
(VIF 확인 후 포함)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03  분석 방법론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Statistical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43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5E"/>
                </a:solidFill>
              </a:rPr>
              <a:t>전처리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508760"/>
          <a:ext cx="54864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변수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처리 방법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PatientSex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이진 인코딩 (M=1, F=0)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PatientAge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Z-score 표준화 (StandardScaler)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 features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Z-score 표준화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ManufacturerModelName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One-hot encoding (drop_first=True) → 30개 더미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80760" y="11430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5E"/>
                </a:solidFill>
              </a:rPr>
              <a:t>모델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1508760"/>
            <a:ext cx="5788152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5544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선형 회귀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94767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statsmodels OLS
(Ordinary Least Squares)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2514600"/>
            <a:ext cx="5788152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25603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로지스틱 회귀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95351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statsmodels Logit
(BFGS, maxiter=1,000)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5661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5E"/>
                </a:solidFill>
              </a:rPr>
              <a:t>모델 검증 전략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20040" y="3931920"/>
          <a:ext cx="115214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576072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검증 방법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상세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5-Fold Cross Validation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각 Fold에서 scaler 재적합 (Data Leakage 방지)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Bootstrap AUC 95% CI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n=1,000 resampling — 비모수 신뢰구간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Hosmer-Lemeshow 검정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로지스틱 보정도(Calibration) 검증 — p&gt;0.05 양호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잔차 진단 3종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Shapiro-Wilk · Breusch-Pagan · Durbin-Watson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320040" y="594360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E75B6"/>
                </a:solidFill>
              </a:rPr>
              <a:t>※ 선형·로지스틱 회귀 모두 Case 1(Sex+Age) → Case 2(+AEC) → Case 3(+CT Model) 순으로 점진 투입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04  선형 회귀 — 단변량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Univariate Linear Regression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214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88"/>
                <a:gridCol w="2304288"/>
                <a:gridCol w="2304288"/>
                <a:gridCol w="2304288"/>
                <a:gridCol w="2304288"/>
              </a:tblGrid>
              <a:tr h="37719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변수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β 계수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95% CI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p-value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R²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Sex (M=1, F=0)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44.84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[42.76, 46.91]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0.518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Age (표준화)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-2.99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[-4.45, -1.54]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mean (표준화)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9.05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[7.65, 10.45]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0.088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CV (표준화)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-10.64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[-12.01, -9.27]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0.122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skewness (표준화)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-10.47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[-11.84, -9.09]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0.118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slope_abs_mean (표준화)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[-0.19, 2.74]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ManufacturerModelName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N/A (범주형)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251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7F27"/>
                </a:solidFill>
              </a:rPr>
              <a:t>* p &lt; 0.05 유의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4617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단변량 R² 비교</a:t>
            </a:r>
          </a:p>
        </p:txBody>
      </p:sp>
      <p:pic>
        <p:nvPicPr>
          <p:cNvPr id="9" name="Picture 8" descr="07_linear_univariate_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956048"/>
            <a:ext cx="5486400" cy="16916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80760" y="4617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유의 계수 Forest Plot</a:t>
            </a:r>
          </a:p>
        </p:txBody>
      </p:sp>
      <p:pic>
        <p:nvPicPr>
          <p:cNvPr id="11" name="Picture 10" descr="06_linear_fo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4956048"/>
            <a:ext cx="5788152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04  선형 회귀 — 다변량 모델 성능 (Case 3 Full)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Multivariate Linear Regression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3566160" cy="105156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161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27"/>
                </a:solidFill>
              </a:rPr>
              <a:t>R²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184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0.6577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143000"/>
            <a:ext cx="3566160" cy="105156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2161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27"/>
                </a:solidFill>
              </a:rPr>
              <a:t>Adj R²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6184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0.6502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1143000"/>
            <a:ext cx="3566160" cy="105156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2161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27"/>
                </a:solidFill>
              </a:rPr>
              <a:t>RMSE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6184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17.84 cm²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286000"/>
            <a:ext cx="3566160" cy="105156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3591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27"/>
                </a:solidFill>
              </a:rPr>
              <a:t>MAE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7614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13.21 cm²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2286000"/>
            <a:ext cx="3566160" cy="105156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23591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27"/>
                </a:solidFill>
              </a:rPr>
              <a:t>F-statistic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7614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87.32
(p &lt; 0.001)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2286000"/>
            <a:ext cx="3566160" cy="105156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23591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27"/>
                </a:solidFill>
              </a:rPr>
              <a:t>AIC / BIC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7614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14,462
/ 14,662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3520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잔차 진단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320040" y="3858768"/>
          <a:ext cx="5943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  <a:gridCol w="1485900"/>
                <a:gridCol w="14859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검정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통계량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p-value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결과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Shapiro-Wilk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0.9596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0.00e+00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비정규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Breusch-Pagan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122.90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0.00e+00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이분산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Durbin-Watson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1.9769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정상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Condition 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139.85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주의(κ&lt;1000)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320040" y="5760720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7F27"/>
                </a:solidFill>
              </a:rPr>
              <a:t>⚠  비정규·이분산 → 계수 추정 BLUE이나 p-value 해석 주의
   Robust Standard Errors 사용 권고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520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실제 vs 예측</a:t>
            </a:r>
          </a:p>
        </p:txBody>
      </p:sp>
      <p:pic>
        <p:nvPicPr>
          <p:cNvPr id="28" name="Picture 27" descr="04_linear_actual_vs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858768"/>
            <a:ext cx="5394960" cy="1828800"/>
          </a:xfrm>
          <a:prstGeom prst="rect">
            <a:avLst/>
          </a:prstGeom>
        </p:spPr>
      </p:pic>
      <p:pic>
        <p:nvPicPr>
          <p:cNvPr id="29" name="Picture 28" descr="05_linear_residu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5715000"/>
            <a:ext cx="539496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04  선형 회귀 — 핵심 변수 계수 (Case 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Key Predictor Coefficients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2144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  <a:gridCol w="1920240"/>
                <a:gridCol w="1920240"/>
              </a:tblGrid>
              <a:tr h="489857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변수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β 계수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95% CI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SE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p-value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Sex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42.7220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[40.661, 44.783]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1.0506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40.664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0.0000e+00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Age (표준화)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-6.6056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[-7.555, -5.656]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0.4842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-13.641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0.0000e+00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mean (표준화)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9.2879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[8.103, 10.473]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0.6040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15.377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0.0000e+00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CV (표준화)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-1.5131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[-2.701, -0.325]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0.6056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-2.498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1.2576e-02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skewness (표준화)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-1.7919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[-2.886, -0.698]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0.5577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-3.213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1.3380e-03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8985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slope_abs_mean (표준화)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-5.0111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[-6.415, -3.607]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0.7158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-7.001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0.0000e+00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66344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7F27"/>
                </a:solidFill>
              </a:rPr>
              <a:t>* p &lt; 0.05 유의  |  CT 모델명 더미는 생략 (별도 슬라이드)  |  표준화 계수: 1 SD 변화 시 TAMA 변화량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120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선형 Forest Plot</a:t>
            </a:r>
          </a:p>
        </p:txBody>
      </p:sp>
      <p:pic>
        <p:nvPicPr>
          <p:cNvPr id="9" name="Picture 8" descr="06_linear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68112"/>
            <a:ext cx="11521440" cy="118871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05  로지스틱 회귀 — 단변량 분석 (Crude OR)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Univariate Logistic Regression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214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88"/>
                <a:gridCol w="2304288"/>
                <a:gridCol w="2304288"/>
                <a:gridCol w="2304288"/>
                <a:gridCol w="2304288"/>
              </a:tblGrid>
              <a:tr h="37719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변수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Crude OR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95% CI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p-value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AUC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Sex (M=1, F=0)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1.056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[0.840, 1.328]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0.639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0.507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Age (표준화)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1.585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[1.402, 1.792]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0.623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mean (표준화)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0.586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[0.520, 0.661]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0.653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CV (표준화)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1.117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[1.000, 1.249]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0.541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skewness (표준화)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1.173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[1.044, 1.319]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0.0074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0.544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slope_abs_mean (표준화)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1.029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[0.920, 1.150]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0.618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0.495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ManufacturerModelName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LR_χ²=50.59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0.581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251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7F27"/>
                </a:solidFill>
              </a:rPr>
              <a:t>* p &lt; 0.05 유의  |  mean, CV, skewness, slope_abs_mean: OR 방향 확인  |  Sex: 이진화 후 단변량 비유의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46817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Crude OR Forest Plot</a:t>
            </a:r>
          </a:p>
        </p:txBody>
      </p:sp>
      <p:pic>
        <p:nvPicPr>
          <p:cNvPr id="9" name="Picture 8" descr="11_logistic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029200"/>
            <a:ext cx="5486400" cy="16184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80760" y="46817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ROC Curve (단변량)</a:t>
            </a:r>
          </a:p>
        </p:txBody>
      </p:sp>
      <p:pic>
        <p:nvPicPr>
          <p:cNvPr id="11" name="Picture 10" descr="08_logistic_r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5029200"/>
            <a:ext cx="5788152" cy="161848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05  로지스틱 회귀 — 다변량 모델 성능 (Case 3 Full)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Multivariate Logistic Regression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3566160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9786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F27"/>
                </a:solidFill>
              </a:rPr>
              <a:t>AUC-ROC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0.7514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143000"/>
            <a:ext cx="3566160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19786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F27"/>
                </a:solidFill>
              </a:rPr>
              <a:t>Bootstrap 95% CI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60020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[0.7258 – 0.7775]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1143000"/>
            <a:ext cx="3566160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19786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F27"/>
                </a:solidFill>
              </a:rPr>
              <a:t>Sensitivity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60020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0.7350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240280"/>
            <a:ext cx="3566160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29514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F27"/>
                </a:solidFill>
              </a:rPr>
              <a:t>Specificity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69748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0.6520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2240280"/>
            <a:ext cx="3566160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229514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F27"/>
                </a:solidFill>
              </a:rPr>
              <a:t>PPV / NPV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69748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0.3989 / 0.8868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2240280"/>
            <a:ext cx="3566160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229514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F27"/>
                </a:solidFill>
              </a:rPr>
              <a:t>Nagelkerke R²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69748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0.2135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34015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보정도 및 적합도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320040" y="3749039"/>
          <a:ext cx="640080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37719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지표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값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해석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Hosmer-Lemeshow χ²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6.410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p=0.601 → 보정도 양호 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Brier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0.1557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낮을수록 우수 (0=완벽, 0.25=무작위)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AIC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1,657.30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Case 비교 기준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858000" y="34015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Calibration Plot</a:t>
            </a:r>
          </a:p>
        </p:txBody>
      </p:sp>
      <p:pic>
        <p:nvPicPr>
          <p:cNvPr id="27" name="Picture 26" descr="09_logistic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3749039"/>
            <a:ext cx="5010912" cy="20116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20040" y="5349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Confusion Matrix</a:t>
            </a:r>
          </a:p>
        </p:txBody>
      </p:sp>
      <p:pic>
        <p:nvPicPr>
          <p:cNvPr id="29" name="Picture 28" descr="10_logistic_con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5687568"/>
            <a:ext cx="320040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05  로지스틱 회귀 — 핵심 변수 Adjusted OR (Case 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Adjusted Odds Ratios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7315200" cy="35935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51337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변수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log(OR)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Adjusted OR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방향 해석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51337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Sex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0.1205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1.1281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&gt; 1 → 위험 증가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337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Age (표준화)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0.6039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1.8293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&gt; 1 → 위험 증가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337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mean (표준화)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-0.9557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0.3846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1 → 위험 감소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337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CV (표준화)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0.0957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1.1004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&gt; 1 → 위험 증가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337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skewness (표준화)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0.1228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1.1306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&gt; 1 → 위험 증가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3371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slope_abs_mean (표준화)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0.2727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1.3135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&gt; 1 → 위험 증가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828031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7F27"/>
                </a:solidFill>
              </a:rPr>
              <a:t>* Adjusted OR: exp(β). 표준화 변수 기준 1 SD 변화 시 Low TAMA 오즈 배율
  OR &lt; 1: 해당 변수 증가 → Low TAMA 위험 감소 / OR &gt; 1: 위험 증가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143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Adjusted OR Forest Plot</a:t>
            </a:r>
          </a:p>
        </p:txBody>
      </p:sp>
      <p:pic>
        <p:nvPicPr>
          <p:cNvPr id="9" name="Picture 8" descr="11_logistic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481328"/>
            <a:ext cx="4279392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06  Case 비교 — 선형 회귀 성능 향상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Multivariable Analysis: Linear Regression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214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  <a:gridCol w="1645920"/>
                <a:gridCol w="1645920"/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지표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Case 0</a:t>
                      </a:r>
                    </a:p>
                    <a:p>
                      <a:r>
                        <a:t>(AEC 단독)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Case 1</a:t>
                      </a:r>
                    </a:p>
                    <a:p>
                      <a:r>
                        <a:t>(Sex+Age)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Case 2</a:t>
                      </a:r>
                    </a:p>
                    <a:p>
                      <a:r>
                        <a:t>(+AEC)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Case 3</a:t>
                      </a:r>
                    </a:p>
                    <a:p>
                      <a:r>
                        <a:t>(+CT/kVp)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C1→2 Δ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C2→3 Δ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R²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0.1909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0.5507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0.6356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0.6597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+0.0849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+0.0241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Adj R²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0.1889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0.5502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0.6343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0.652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+0.0841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+0.0177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RMSE (cm²)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27.4216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20.4337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18.4019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17.784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-2.03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-0.62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AIC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15837.48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14849.28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14506.83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14454.56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-342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-52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3337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AEC 특징 추가(Case1→2)로 R² +15.4% 향상  |  CT 모델명/kVp 추가(Case2→3)로 추가 +3.8% 향상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R² / RMSE 비교</a:t>
            </a:r>
          </a:p>
        </p:txBody>
      </p:sp>
      <p:pic>
        <p:nvPicPr>
          <p:cNvPr id="9" name="Picture 8" descr="12_case_metric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187952"/>
            <a:ext cx="5486400" cy="2468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8076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AIC / BIC 비교</a:t>
            </a:r>
          </a:p>
        </p:txBody>
      </p:sp>
      <p:pic>
        <p:nvPicPr>
          <p:cNvPr id="11" name="Picture 10" descr="14_case_aic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4187952"/>
            <a:ext cx="5788152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06  Case 비교 — 로지스틱 회귀 성능 향상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Multivariable Analysis: Logistic Regression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214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  <a:gridCol w="1645920"/>
                <a:gridCol w="1645920"/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지표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Case 0</a:t>
                      </a:r>
                    </a:p>
                    <a:p>
                      <a:r>
                        <a:t>(AEC 단독)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Case 1</a:t>
                      </a:r>
                    </a:p>
                    <a:p>
                      <a:r>
                        <a:t>(Sex+Age)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Case 2</a:t>
                      </a:r>
                    </a:p>
                    <a:p>
                      <a:r>
                        <a:t>(+AEC)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Case 3</a:t>
                      </a:r>
                    </a:p>
                    <a:p>
                      <a:r>
                        <a:t>(+CT/kVp)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C1→2 Δ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C2→3 Δ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AUC-ROC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0.6786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0.624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0.7191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0.7542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+0.095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+0.035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Nagelkerke R²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0.0976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0.0516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0.1587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0.2159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+0.107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+0.057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AIC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1737.82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1787.8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1667.18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1656.25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-121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-11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HL p-value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0.132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1.26e-03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0.387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0.728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보정도 개선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보정도 양호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3337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AEC 추가(Case1→2)로 AUC +15.2% 향상  |  CT 모델명/kVp 추가(Case2→3)로 +4.9% 추가 개선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AUC / Nagelkerke R² 비교</a:t>
            </a:r>
          </a:p>
        </p:txBody>
      </p:sp>
      <p:pic>
        <p:nvPicPr>
          <p:cNvPr id="9" name="Picture 8" descr="13_case_auc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187952"/>
            <a:ext cx="5486400" cy="2468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8076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다중 지표 추이</a:t>
            </a:r>
          </a:p>
        </p:txBody>
      </p:sp>
      <p:pic>
        <p:nvPicPr>
          <p:cNvPr id="11" name="Picture 10" descr="15_case_progres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4187952"/>
            <a:ext cx="5788152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06  Case 0 — AEC 단독 진단력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AEC-Only Baseline (Case 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51560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성별·나이 없이 AEC 특징만으로 TAMA를 예측할 수 있는가?  — 인구통계 보정 전 AEC 신호의 독립적 진단력 정량화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72768"/>
            <a:ext cx="2834640" cy="14630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62763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F27"/>
                </a:solidFill>
              </a:rPr>
              <a:t>선형 R²
(Case 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213055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0.1909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6517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E8"/>
                </a:solidFill>
              </a:rPr>
              <a:t>AEC 단독 TAMA 설명력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64408" y="1572768"/>
            <a:ext cx="2834640" cy="14630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74136" y="162763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F27"/>
                </a:solidFill>
              </a:rPr>
              <a:t>선형 RMSE
(Case 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74136" y="213055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27.4216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74136" y="26517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E8"/>
                </a:solidFill>
              </a:rPr>
              <a:t>예측 오차 (cm²)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08776" y="1572768"/>
            <a:ext cx="2834640" cy="14630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4" y="162763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F27"/>
                </a:solidFill>
              </a:rPr>
              <a:t>로지스틱 AUC
(Case 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213055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0.6786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8504" y="26517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E8"/>
                </a:solidFill>
              </a:rPr>
              <a:t>AEC 단독 판별 능력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53144" y="1572768"/>
            <a:ext cx="2834640" cy="14630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62872" y="162763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F27"/>
                </a:solidFill>
              </a:rPr>
              <a:t>Nagelkerke R²
(Case 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2872" y="213055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0.0976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62872" y="26517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E8"/>
                </a:solidFill>
              </a:rPr>
              <a:t>로지스틱 설명력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320040" y="3200400"/>
          <a:ext cx="115214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88"/>
                <a:gridCol w="2304288"/>
                <a:gridCol w="2304288"/>
                <a:gridCol w="2304288"/>
                <a:gridCol w="2304288"/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지표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Case 0</a:t>
                      </a:r>
                    </a:p>
                    <a:p>
                      <a:r>
                        <a:t>(AEC 단독)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Case 1</a:t>
                      </a:r>
                    </a:p>
                    <a:p>
                      <a:r>
                        <a:t>(Sex+Age)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Case 1→0 비교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의미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선형 R²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0.1909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0.5507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Case1 - Case0 = 0.360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인구통계 추가 효과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선형 RMSE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27.4216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20.4337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RMSE 개선: 6.99 cm²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오차 감소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로지스틱 AUC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0.6786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0.624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ΔAUC = -0.055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Sex+Age 기여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Nagelkerke R²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0.0976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0.0516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ΔNag = -0.046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설명력 변화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Rectangle 23"/>
          <p:cNvSpPr/>
          <p:nvPr/>
        </p:nvSpPr>
        <p:spPr>
          <a:xfrm>
            <a:off x="320040" y="5440680"/>
            <a:ext cx="11521440" cy="7315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504688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해석: AEC 단독(Case 0)으로도 선형 R²=0.1909, AUC=0.6786 달성 → AEC 신호에 근육량 관련 정보가 내포되어 있음을 확인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06  성능 평가지표 해석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Statistical Metric Reference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789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선형 회귀 지표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417320"/>
          <a:ext cx="57607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880360"/>
              </a:tblGrid>
              <a:tr h="431074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지표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해석 기준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R² / Adj R²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0~1 사이, 1에 가까울수록 설명력↑ — Case 간 비교에 Adj R² 우선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RMSE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단위 cm², 낮을수록 우수 — 임상 허용 오차 기준으로 해석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AIC / BIC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낮을수록 선호 — 모델 복잡도 대비 적합도 (Case 비교 기준)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Durbin-Watson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1.5~2.5 정상 — 잔차 자기상관 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Shapiro-Wilk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p &gt; 0.05: 정규분포 충족 / p ≤ 0.05: 비정규 (주의)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3107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Breusch-Pagan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p &gt; 0.05: 등분산 충족 / p ≤ 0.05: 이분산 (Robust SE 권장)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17920" y="10789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로지스틱 회귀 지표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17920" y="1417320"/>
          <a:ext cx="5650992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5496"/>
                <a:gridCol w="2825496"/>
              </a:tblGrid>
              <a:tr h="42291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지표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해석 기준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AUC-ROC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0.5=무작위, 0.7↑=양호, 0.8↑=우수, 1.0=완벽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Bootstrap 95%CI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n=1000 비모수 — CI가 좁을수록 안정적 추정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Sensitivity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실제 Low TAMA를 얼마나 탐지 (TP율)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Specificity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정상 TAMA를 얼마나 식별 (TN율)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Hosmer-Lemeshow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p &gt; 0.05: 보정 양호 / ≤ 0.05: 체계적 오차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Nagelkerke R²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0~1 pseudo-R² — 설명력 비교용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Brier Score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0=완벽, 0.25=무작위 — 확률 예측 정밀도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20040" y="4572000"/>
            <a:ext cx="11521440" cy="6858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6360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F27"/>
                </a:solidFill>
              </a:rPr>
              <a:t>임계값 해석 기준  (Low TAMA)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56048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남성: TAMA &lt; 132 cm²  →  Low Muscle (Positive=1)  |  여성: TAMA &lt; 95 cm²  →  Low Muscle (Positive=1)  |  양성 비율: 400 / 1,673 = 23.9 %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5349240"/>
            <a:ext cx="11521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54132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5E"/>
                </a:solidFill>
              </a:rPr>
              <a:t>모델 선택 원칙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7607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① 연속형 TAMA 예측(Part 1): R², Adj R², RMSE 기준으로 모델 평가
② 이진 분류(Part 2): AUC, Sensitivity/Specificity 균형, HL 보정도 확인
③ Case 비교(Part 3): AIC/BIC 감소 + ΔR²/ΔAUC 임상 유의성 동시 검토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07  결론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Conclusions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577840" cy="20116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164592" cy="2011680"/>
          </a:xfrm>
          <a:prstGeom prst="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59" y="12344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27"/>
                </a:solidFill>
              </a:rPr>
              <a:t>1. 성별의 압도적 기여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59" y="1691640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선형 단변량: Sex 단독 R²=0.518  |  남성 TAMA가 여성 대비 평균 +44.8 cm²
성별·나이는 필수 공변량으로 모든 모델에 포함 (제외 불가)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143000"/>
            <a:ext cx="5577840" cy="20116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143000"/>
            <a:ext cx="164592" cy="2011680"/>
          </a:xfrm>
          <a:prstGeom prst="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2344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27"/>
                </a:solidFill>
              </a:rPr>
              <a:t>2. AEC 단독 진단력 (Case 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691640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성별·나이 없이 AEC만으로:
  선형 R²=0.1909  |  로지스틱 AUC=0.6786
AEC 신호가 독립적인 근육량 정보를 내포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291840"/>
            <a:ext cx="5577840" cy="20116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291840"/>
            <a:ext cx="164592" cy="2011680"/>
          </a:xfrm>
          <a:prstGeom prst="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59" y="33832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27"/>
                </a:solidFill>
              </a:rPr>
              <a:t>3. AEC 특징의 추가 기여 (Case 1→2)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59" y="3840480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선형 R²  0.551 → 0.636  (+0.085)
로지스틱 AUC  0.624 → 0.719  (+0.095)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3291840"/>
            <a:ext cx="5577840" cy="20116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3291840"/>
            <a:ext cx="164592" cy="2011680"/>
          </a:xfrm>
          <a:prstGeom prst="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3832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27"/>
                </a:solidFill>
              </a:rPr>
              <a:t>4. CT 모델명·kVp 추가 기여 및 최종 성능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840480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Case2→3  선형 R²+0.024  |  AUC +0.035
최종(Case3): R²=0.6577, RMSE=17.84 cm²
AUC=0.7514 [0.7258 – 0.7775]  (HL p=0.601)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21792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355E"/>
                </a:solidFill>
              </a:rPr>
              <a:t>AEC 특징은 성별·나이와 독립적으로 TAMA 예측에 기여 — CT 촬영 시 수집되는 AEC 데이터의 임상적 활용 가능성 확인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07  한계 및 향후 방향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Limitations &amp; Future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5486400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F27"/>
                </a:solidFill>
              </a:rPr>
              <a:t>⚠  한계점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잔차 정규성·등분산성 가정 위반 → Robust Standard Errors 또는 비모수 검정 검토 필요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31136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Logistic 이진화 임계값 (M&lt;132, F&lt;95 cm²) — 데이터 내 P25 기반; 문헌(Prado 2008, Martin 2013) 기준값과 비교 필요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89504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단일 기관(강남) 데이터 → 외부 검증(신촌 데이터 활용) 필요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547872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AEC Feature는 통계적 요약값 기반 — raw AEC 시계열의 잠재 패턴이 미반영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097280"/>
            <a:ext cx="5742432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117043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B45"/>
                </a:solidFill>
              </a:rPr>
              <a:t>→  향후 연구 방향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1572768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신촌 데이터를 이용한 외부 검증 (External Validation)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2093976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Raw AEC 시계열(~200포인트)을 1D CNN / LSTM 직접 입력 — feature engineering 불필요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2615184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Robust Regression / Weighted Least Squares 적용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1072" y="3136391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머신러닝 앙상블 모델 비교 (Random Forest, XGBoost)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3657600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다기관 데이터 수집을 통한 모델 일반화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251960"/>
            <a:ext cx="11521440" cy="16916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31596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27"/>
                </a:solidFill>
              </a:rPr>
              <a:t>핵심 메시지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681728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CT 스캐너의 AEC 곡선에서 추출한 통계 특징(mean, CV, skewness, slope_abs_mean)은 인구통계학적 변수와 독립적으로
TAMA 예측에 유의미하게 기여한다. 향후 외부 검증 및 다기관 연구를 통해 임상 적용 가능성을 확인해야 한다.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