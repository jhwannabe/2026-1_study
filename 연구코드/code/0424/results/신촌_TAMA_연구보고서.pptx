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55E"/>
                </a:solidFill>
              </a:rPr>
              <a:t>AEC 곡선 기반 TAMA 예측
회귀분석 연구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66"/>
                </a:solidFill>
              </a:rPr>
              <a:t>CT 자동 노출 제어(AEC) 특징과 환자 인구통계학적 변수를 활용한
복부 근육량 지표(TAMA) 예측 모델 개발 및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데이터셋: 신촌 CT  |  N=1,269명  |  Python (statsmodels · scikit-learn)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연구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연구 목적 · 설계 · Feature Set (3 Case)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기술 통계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데이터셋 · 성별 TAMA 분포 · 이진화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전처리 · 모델 · 교차검증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선형 회귀 (Part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· 다변량 성능 · 잔차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로지스틱 회귀 (Part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OR · 다변량 AUC · 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Case 1–3 비교 (Part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AEC 추가 효과 · CT 모델명 효과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14999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8815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결론 및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30935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주요 발견 · 제한점 · 향후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Research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연구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CT 자동 노출 제어(AEC) 곡선과 환자 인구통계(성별·나이)가 복부 근육량 지표 TAMA(Total Abdominal Muscle Area) 예측에 기여하는 정도를 정량화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
(Linear 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TAMA (연속형) 값 예측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
(Logistic Regression)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 TAMA / Sarcopenia 위험 분류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Multivariable Analysis
(Case 1–3 비교)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AEC·CT 모델 추가 효과 정량화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Feature Set (Case 구성)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75B6"/>
                </a:solidFill>
              </a:rPr>
              <a:t>* 성별·나이는 필수 공변량 — Case 1·2·3에 항상 포함. Case 0은 AEC 단독 진단력 참조용.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480060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예측 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목적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특징 (mean, CV, skewness, slope_abs_mean)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독립 진단력 확인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성별 (Sex) + 나이 (Age)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인구통계 기반선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1 + AEC 특징 (mean, CV, skewness, slope_abs_mean)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AEC 기여도 정량화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 2 + CT 모델명 (45개 dummy) + kVp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스캐너·전압 보정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기술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환자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1,269명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남성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637명 (50.2%)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632명 (49.8%)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CT 스캐너 / 주요 kVp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46종  |  100 kVp (75.3%)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29 ~ 279 cm²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평균 (SD)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126.25 (±30.82) cm²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성별 TAMA 분포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584448"/>
          <a:ext cx="68579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성별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평균 (cm²)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중앙값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P75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남성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148.00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26.56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147.00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165.00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여성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104.33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06640" y="3246120"/>
            <a:ext cx="4480560" cy="15727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91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Logistic Regression 이진화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8503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남성: TAMA &lt; 132 cm²  →  Low Muscle (1)
• 여성: TAMA &lt; 95 cm²  →  Low Muscle (1)
• 양성 비율: 317 / 1,269 = 25.0 %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TAMA 분포 시각화</a:t>
            </a:r>
          </a:p>
        </p:txBody>
      </p:sp>
      <p:pic>
        <p:nvPicPr>
          <p:cNvPr id="30" name="Picture 29" descr="03_tam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230368"/>
            <a:ext cx="548640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80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AEC Feature 상관계수</a:t>
            </a:r>
          </a:p>
        </p:txBody>
      </p:sp>
      <p:pic>
        <p:nvPicPr>
          <p:cNvPr id="32" name="Picture 31" descr="01_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230368"/>
            <a:ext cx="578815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정제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Data Cleaning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원시 데이터 2257명에서 결측치 제거 후 최종 분석 대상 1,269명 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6362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1.  원시 데이터 (metadata)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50876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4591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2,257명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58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39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3230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2.  원시 데이터 (features)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377439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51459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2,257명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2724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4612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30098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3.  Inner join (공통 PatientID)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24612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7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2,257명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959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777240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6966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4.  중복 PatientID 제거 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114800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251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</a:rPr>
              <a:t>2,257명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646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55E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83479"/>
            <a:ext cx="7772400" cy="749808"/>
          </a:xfrm>
          <a:prstGeom prst="rect">
            <a:avLst/>
          </a:prstGeom>
          <a:solidFill>
            <a:srgbClr val="008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038343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5.  결측치 행 제거 후 (최종)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983479"/>
            <a:ext cx="356616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1206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45"/>
                </a:solidFill>
              </a:rPr>
              <a:t>1,269명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870448"/>
            <a:ext cx="11521440" cy="6583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제거 이유: 결측 컬럼(AEC feature) 포함 행 — 988명 제외 (43.8%)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CT 스캐너 &amp; kVp 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Scanner &amp; kVp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CT 스캐너 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46종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338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최다 스캐너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iCT 256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482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주요 kVp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100 kVp (75.3%)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11680"/>
            <a:ext cx="5577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0482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분석 환자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59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1,269명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CT 스캐너 모델 분포</a:t>
            </a:r>
          </a:p>
        </p:txBody>
      </p:sp>
      <p:pic>
        <p:nvPicPr>
          <p:cNvPr id="19" name="Picture 18" descr="16_scann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64992"/>
            <a:ext cx="5669280" cy="3291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kVp 분포</a:t>
            </a:r>
          </a:p>
        </p:txBody>
      </p:sp>
      <p:pic>
        <p:nvPicPr>
          <p:cNvPr id="21" name="Picture 20" descr="17_kvp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364992"/>
            <a:ext cx="565099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AEC Feature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Pearson/Spearman 상관계수 + VIF 검사로 선택한 4개 AEC Feature (mean, CV, skewness, slope_abs_mean) — amplitude 그룹(mean≈p25≈AUC_normalized) 중 1개 대표 선택, VIF max&lt;2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+0.234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평균값 → 체격 전반 반영 (amplitude 그룹 대표)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변동계수(std/mean) → 체형 불균일성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-0.044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곡선 비대칭성 → 체형 분포 특성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평균 절대 기울기 → 곡선 동역학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amplitude 동일 그룹 (r=0.97)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r≈1.00, 사실상 동일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&gt;57,000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3931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7F27"/>
                </a:solidFill>
              </a:rPr>
              <a:t>⚠  p25·AUC_normalized: mean과 동일 amplitude 그룹(r≥0.88) → 다중공선성 제거 / mean을 대표로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Feature 상관계수 Top20</a:t>
            </a:r>
          </a:p>
        </p:txBody>
      </p:sp>
      <p:pic>
        <p:nvPicPr>
          <p:cNvPr id="10" name="Picture 9" descr="01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54864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VIF 비교</a:t>
            </a:r>
          </a:p>
        </p:txBody>
      </p:sp>
      <p:pic>
        <p:nvPicPr>
          <p:cNvPr id="12" name="Picture 11" descr="02_vi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773168"/>
            <a:ext cx="578815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Correlation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Multicollinearity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선택 Feature 간 Pearson 상관행렬 — |r| &gt; 0.8 쌍은 다중공선성(Multicollinearity) 위험 신호</a:t>
            </a:r>
          </a:p>
        </p:txBody>
      </p:sp>
      <p:pic>
        <p:nvPicPr>
          <p:cNvPr id="7" name="Picture 6" descr="18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7772400" cy="5166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463040"/>
            <a:ext cx="3566160" cy="23774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36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해석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3852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|r| &lt; 0.5  →  낮은 상관
• 0.5 ≤ |r| &lt; 0.8  →  중간 상관
• |r| ≥ 0.8  →  다중공선성 주의
VIF &gt; 10 과 함께 확인하여
제거 여부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4023360"/>
            <a:ext cx="35661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096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⚠  제외 결정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480560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제외된 amplitude 그룹:
• p25: 제외 (amplitude 중복)
• AUC_normalized: 제외 (amplitude 중복)
• peak_max_height: 제외 (amplitude 중복)
선택 대표: mean
(VIF 확인 후 포함)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분석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전처리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처리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One-hot encoding (drop_first=True) → 45개 더미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0876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OLS
(Ordinary Least Squares)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1460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535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Logit
(BFGS, maxiter=1,000)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661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 검증 전략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393192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검증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상세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5B6"/>
                </a:solidFill>
              </a:rPr>
              <a:t>※ 선형·로지스틱 회귀 모두 Case 1(Sex+Age) → Case 2(+AEC) → Case 3(+CT Model) 순으로 점진 투입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단변량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43.67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[41.27, 46.07]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-2.31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[-4.00, -0.61]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7.20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[5.55, 8.85]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-3.87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[-5.56, -2.19]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[-3.05, 0.34]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3.14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[1.45, 4.83]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단변량 R² 비교</a:t>
            </a:r>
          </a:p>
        </p:txBody>
      </p:sp>
      <p:pic>
        <p:nvPicPr>
          <p:cNvPr id="9" name="Picture 8" descr="07_linear_univariat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956048"/>
            <a:ext cx="548640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유의 계수 Forest Plot</a:t>
            </a:r>
          </a:p>
        </p:txBody>
      </p:sp>
      <p:pic>
        <p:nvPicPr>
          <p:cNvPr id="11" name="Picture 10" descr="06_linea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956048"/>
            <a:ext cx="578815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0.5856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Adj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0.5682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19.83 cm²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14.63 cm²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F-statistic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33.72
(p &lt; 0.001)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AIC / BIC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11,287
/ 11,554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잔차 진단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858768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통계량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0.9793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2.00e-06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비정규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118.77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0.9959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자기상관 주의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Condition 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305.62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주의(κ&lt;1000)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20040" y="5760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⚠  비정규·이분산 → 계수 추정 BLUE이나 p-value 해석 주의
   Robust Standard Errors 사용 권고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실제 vs 예측</a:t>
            </a:r>
          </a:p>
        </p:txBody>
      </p:sp>
      <p:pic>
        <p:nvPicPr>
          <p:cNvPr id="28" name="Picture 27" descr="04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58768"/>
            <a:ext cx="5394960" cy="1828800"/>
          </a:xfrm>
          <a:prstGeom prst="rect">
            <a:avLst/>
          </a:prstGeom>
        </p:spPr>
      </p:pic>
      <p:pic>
        <p:nvPicPr>
          <p:cNvPr id="29" name="Picture 28" descr="05_linea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715000"/>
            <a:ext cx="5394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핵심 변수 계수 (Case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Key Predictor Coefficients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42.0461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[39.703, 44.389]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1.1941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35.210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-4.4900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[-5.676, -3.304]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-7.430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6.7256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[5.388, 8.063]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0.6818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9.864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-1.8994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[-3.240, -0.559]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5.5270e-03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2.0131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[0.662, 3.364]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0.6885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2.924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3.5210e-03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[-0.626, 1.960]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3.1187e-01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6634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27"/>
                </a:solidFill>
              </a:rPr>
              <a:t>* p &lt; 0.05 유의  |  CT 모델명 더미는 생략 (별도 슬라이드)  |  표준화 계수: 1 SD 변화 시 TAMA 변화량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Forest Plot</a:t>
            </a:r>
          </a:p>
        </p:txBody>
      </p:sp>
      <p:pic>
        <p:nvPicPr>
          <p:cNvPr id="9" name="Picture 8" descr="06_linear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68112"/>
            <a:ext cx="11521440" cy="11887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단변량 분석 (Crude 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[0.814, 1.353]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1.409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[1.224, 1.621]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0.705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[0.608, 0.818]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[0.969, 1.244]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[0.824, 1.059]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0.285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[0.498, 1.026]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LR_χ²=69.278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  |  mean, CV, skewness, slope_abs_mean: OR 방향 확인  |  Sex: 이진화 후 단변량 비유의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Crude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0"/>
            <a:ext cx="548640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ROC Curve (단변량)</a:t>
            </a:r>
          </a:p>
        </p:txBody>
      </p:sp>
      <p:pic>
        <p:nvPicPr>
          <p:cNvPr id="11" name="Picture 10" descr="08_logistic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029200"/>
            <a:ext cx="5788152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Bootstrap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[0.6850 – 0.7487]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0.6940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0.6324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PPV / NPV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0.3860 / 0.8612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0.1681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401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보정도 및 적합도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749039"/>
          <a:ext cx="6400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χ²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5.249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p=0.731 → 보정도 양호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낮을수록 우수 (0=완벽, 0.25=무작위)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1,377.83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비교 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Calibration Plot</a:t>
            </a:r>
          </a:p>
        </p:txBody>
      </p:sp>
      <p:pic>
        <p:nvPicPr>
          <p:cNvPr id="27" name="Picture 26" descr="09_logisti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49039"/>
            <a:ext cx="5010912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Confusion Matrix</a:t>
            </a:r>
          </a:p>
        </p:txBody>
      </p:sp>
      <p:pic>
        <p:nvPicPr>
          <p:cNvPr id="29" name="Picture 28" descr="10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687568"/>
            <a:ext cx="320040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핵심 변수 Adjusted OR (Case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Adjusted Odds Ratios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7315200" cy="3593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1337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log(OR)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Adjusted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방향 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0.1492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1.1610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-0.8146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0.4428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1 → 위험 감소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337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-0.2013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0.8177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1 → 위험 감소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33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1.4978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 1 → 위험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828031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27"/>
                </a:solidFill>
              </a:rPr>
              <a:t>* Adjusted OR: exp(β). 표준화 변수 기준 1 SD 변화 시 Low TAMA 오즈 배율
  OR &lt; 1: 해당 변수 증가 → Low TAMA 위험 감소 / OR &gt; 1: 위험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Adjusted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81328"/>
            <a:ext cx="427939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선형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(+CT/kVp)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0.5203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0.5901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+0.0277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+0.0421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Adj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29.6475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21.3386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20.7131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19.7243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-0.63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-0.99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12213.51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11374.86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11307.35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11275.2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특징 추가(Case1→2)로 R² +5.3% 향상  |  CT 모델명/kVp 추가(Case2→3)로 추가 +7.7% 향상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R² / RMSE 비교</a:t>
            </a:r>
          </a:p>
        </p:txBody>
      </p:sp>
      <p:pic>
        <p:nvPicPr>
          <p:cNvPr id="9" name="Picture 8" descr="12_case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AIC / BIC 비교</a:t>
            </a:r>
          </a:p>
        </p:txBody>
      </p:sp>
      <p:pic>
        <p:nvPicPr>
          <p:cNvPr id="11" name="Picture 10" descr="14_case_aic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로지스틱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(+CT/kVp)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0.6097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0.6497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0.7282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+0.106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1404.66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1407.95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1376.83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1369.12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-8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6.23e-04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보정도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보정도 양호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추가(Case1→2)로 AUC +6.6% 향상  |  CT 모델명/kVp 추가(Case2→3)로 +12.1% 추가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AUC / Nagelkerke R² 비교</a:t>
            </a:r>
          </a:p>
        </p:txBody>
      </p:sp>
      <p:pic>
        <p:nvPicPr>
          <p:cNvPr id="9" name="Picture 8" descr="13_case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다중 지표 추이</a:t>
            </a:r>
          </a:p>
        </p:txBody>
      </p:sp>
      <p:pic>
        <p:nvPicPr>
          <p:cNvPr id="11" name="Picture 10" descr="15_case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0 — AEC 단독 진단력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AEC-Only Baseline (Case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성별·나이 없이 AEC 특징만으로 TAMA를 예측할 수 있는가?  — 인구통계 보정 전 AEC 신호의 독립적 진단력 정량화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선형 R²
(Case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0.074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AEC 단독 TAMA 설명력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선형 RMSE
(Case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29.6475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예측 오차 (cm²)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로지스틱 AUC
(Case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0.6117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AEC 단독 판별 능력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572768"/>
            <a:ext cx="2834640" cy="1463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
(Case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1305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0.0369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651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8"/>
                </a:solidFill>
              </a:rPr>
              <a:t>로지스틱 설명력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2004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0</a:t>
                      </a:r>
                    </a:p>
                    <a:p>
                      <a:r>
                        <a:t>(AEC 단독)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Case 1→0 비교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선형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0.5203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Case1 - Case0 = 0.446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인구통계 추가 효과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선형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29.6475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21.3386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 개선: 8.31 cm²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오차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로지스틱 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0.6097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ΔAUC = -0.002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Sex+Age 기여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0.0286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ΔNag = -0.008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설명력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320040" y="5440680"/>
            <a:ext cx="115214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0468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해석: AEC 단독(Case 0)으로도 선형 R²=0.074, AUC=0.6117 달성 → AEC 신호에 근육량 관련 정보가 내포되어 있음을 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성능 평가지표 해석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Metric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 지표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417320"/>
          <a:ext cx="5760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해석 기준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R² / Adj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0~1 사이, 1에 가까울수록 설명력↑ — Case 간 비교에 Adj R² 우선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단위 cm², 낮을수록 우수 — 임상 허용 오차 기준으로 해석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AIC / BIC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낮을수록 선호 — 모델 복잡도 대비 적합도 (Case 비교 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1.5~2.5 정상 — 잔차 자기상관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정규분포 충족 / p ≤ 0.05: 비정규 (주의)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등분산 충족 / p ≤ 0.05: 이분산 (Robust SE 권장)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0789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 지표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417320"/>
          <a:ext cx="565099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496"/>
                <a:gridCol w="2825496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해석 기준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0.5=무작위, 0.7↑=양호, 0.8↑=우수, 1.0=완벽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Bootstrap 95%CI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n=1000 비모수 — CI가 좁을수록 안정적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실제 Low TAMA를 얼마나 탐지 (TP율)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정상 TAMA를 얼마나 식별 (TN율)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Hosmer-Lemeshow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p &gt; 0.05: 보정 양호 / ≤ 0.05: 체계적 오차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0~1 pseudo-R² — 설명력 비교용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2E"/>
                          </a:solidFill>
                        </a:rPr>
                        <a:t>0=완벽, 0.25=무작위 — 확률 예측 정밀도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4572000"/>
            <a:ext cx="11521440" cy="6858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36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임계값 해석 기준  (Low TAMA)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560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남성: TAMA &lt; 132 cm²  →  Low Muscle (Positive=1)  |  여성: TAMA &lt; 95 cm²  →  Low Muscle (Positive=1)  |  양성 비율: 317 / 1,269 = 25.0 %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349240"/>
            <a:ext cx="11521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413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5E"/>
                </a:solidFill>
              </a:rPr>
              <a:t>모델 선택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607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① 연속형 TAMA 예측(Part 1): R², Adj R², RMSE 기준으로 모델 평가
② 이진 분류(Part 2): AUC, Sensitivity/Specificity 균형, HL 보정도 확인
③ Case 비교(Part 3): AIC/BIC 감소 + ΔR²/ΔAUC 임상 유의성 동시 검토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1. 성별의 압도적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선형 단변량: Sex 단독 R²=0.502  |  남성 TAMA가 여성 대비 평균 +43.7 cm²
성별·나이는 필수 공변량으로 모든 모델에 포함 (제외 불가)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2. AEC 단독 진단력 (Case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성별·나이 없이 AEC만으로:
  선형 R²=0.074  |  로지스틱 AUC=0.6117
AEC 신호가 독립적인 근육량 정보를 내포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3. AEC 특징의 추가 기여 (Case 1→2)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8404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선형 R²  0.520 → 0.548  (+0.028)
로지스틱 AUC  0.610 → 0.650  (+0.040)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4. CT 모델명·kVp 추가 기여 및 최종 성능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Case2→3  선형 R²+0.042  |  AUC +0.078
최종(Case3): R²=0.5856, RMSE=19.83 cm²
AUC=0.7170 [0.6850 – 0.7487]  (HL p=0.731)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AEC 특징은 성별·나이와 독립적으로 TAMA 예측에 기여 — CT 촬영 시 수집되는 AEC 데이터의 임상적 활용 가능성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한계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⚠ 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잔차 정규성·등분산성 가정 위반 → Robust Standard Errors 또는 비모수 검정 검토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Logistic 이진화 임계값 (M&lt;132, F&lt;95 cm²) — 데이터 내 P25 기반; 문헌(Prado 2008, Martin 2013) 기준값과 비교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기관(신촌) 데이터 → 외부 검증(강남 데이터 활용)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Feature는 통계적 요약값 기반 — raw AEC 시계열의 잠재 패턴이 미반영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742432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170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45"/>
                </a:solidFill>
              </a:rPr>
              <a:t>→  향후 연구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727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 데이터를 이용한 외부 검증 (External 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9397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Raw AEC 시계열(~200포인트)을 1D CNN / LSTM 직접 입력 — feature engineering 불필요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Robust Regression / Weighted Least Squares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136391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머신러닝 앙상블 모델 비교 (Random Forest, XGBoost)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6576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다기관 데이터 수집을 통한 모델 일반화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1521440" cy="16916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핵심 메시지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8172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CT 스캐너의 AEC 곡선에서 추출한 통계 특징(mean, CV, skewness, slope_abs_mean)은 인구통계학적 변수와 독립적으로
TAMA 예측에 유의미하게 기여한다. 향후 외부 검증 및 다기관 연구를 통해 임상 적용 가능성을 확인해야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