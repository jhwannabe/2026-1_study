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524" r:id="rId3"/>
    <p:sldId id="551" r:id="rId4"/>
    <p:sldId id="584" r:id="rId5"/>
    <p:sldId id="585" r:id="rId6"/>
    <p:sldId id="599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604" r:id="rId33"/>
    <p:sldId id="605" r:id="rId34"/>
    <p:sldId id="593" r:id="rId15"/>
    <p:sldId id="594" r:id="rId16"/>
    <p:sldId id="595" r:id="rId17"/>
    <p:sldId id="596" r:id="rId18"/>
    <p:sldId id="603" r:id="rId19"/>
    <p:sldId id="601" r:id="rId20"/>
    <p:sldId id="597" r:id="rId21"/>
    <p:sldId id="598" r:id="rId22"/>
    <p:sldId id="479" r:id="rId23"/>
  </p:sldIdLst>
  <p:sldSz cx="12192000" cy="6858000"/>
  <p:notesSz cx="6858000" cy="9144000"/>
  <p:embeddedFontLst>
    <p:embeddedFont>
      <p:font typeface="KoPub돋움체 Bold" panose="00000800000000000000" pitchFamily="2" charset="-127"/>
      <p:bold r:id="rId25"/>
    </p:embeddedFont>
    <p:embeddedFont>
      <p:font typeface="KoPub돋움체 Medium" panose="00000600000000000000" pitchFamily="2" charset="-127"/>
      <p:regular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84"/>
            <p14:sldId id="585"/>
            <p14:sldId id="599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603"/>
            <p14:sldId id="601"/>
            <p14:sldId id="597"/>
            <p14:sldId id="59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576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openxmlformats.org/officeDocument/2006/relationships/slide" Target="slides/slide14.xml"/><Relationship Id="rId34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7-02T07:47:06.875" v="3139" actId="20577"/>
      <pc:docMkLst>
        <pc:docMk/>
      </pc:docMkLst>
      <pc:sldChg chg="modSp mod modNotesTx">
        <pc:chgData name="janghoon jun" userId="056a5883350c2f5e" providerId="LiveId" clId="{6DA654A6-03B0-40F7-A259-B276216985A6}" dt="2026-07-02T07:42:06.596" v="3064" actId="20577"/>
        <pc:sldMkLst>
          <pc:docMk/>
          <pc:sldMk cId="1998851532" sldId="256"/>
        </pc:sldMkLst>
        <pc:spChg chg="mod">
          <ac:chgData name="janghoon jun" userId="056a5883350c2f5e" providerId="LiveId" clId="{6DA654A6-03B0-40F7-A259-B276216985A6}" dt="2026-07-02T07:42:06.596" v="3064" actId="2057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anghoon jun" userId="056a5883350c2f5e" providerId="LiveId" clId="{6DA654A6-03B0-40F7-A259-B276216985A6}" dt="2026-07-02T05:25:14.456" v="5" actId="20577"/>
          <ac:spMkLst>
            <pc:docMk/>
            <pc:sldMk cId="1998851532" sldId="256"/>
            <ac:spMk id="5" creationId="{94B21C1C-F3A0-440B-961E-968F2C77FB2A}"/>
          </ac:spMkLst>
        </pc:spChg>
      </pc:sldChg>
      <pc:sldChg chg="modNotesTx">
        <pc:chgData name="janghoon jun" userId="056a5883350c2f5e" providerId="LiveId" clId="{6DA654A6-03B0-40F7-A259-B276216985A6}" dt="2026-07-02T06:55:20.901" v="2899" actId="20577"/>
        <pc:sldMkLst>
          <pc:docMk/>
          <pc:sldMk cId="3692813874" sldId="479"/>
        </pc:sldMkLst>
      </pc:sldChg>
      <pc:sldChg chg="modSp modNotesTx">
        <pc:chgData name="janghoon jun" userId="056a5883350c2f5e" providerId="LiveId" clId="{6DA654A6-03B0-40F7-A259-B276216985A6}" dt="2026-07-02T06:25:48.424" v="2118" actId="20577"/>
        <pc:sldMkLst>
          <pc:docMk/>
          <pc:sldMk cId="4271007981" sldId="524"/>
        </pc:sldMkLst>
        <pc:spChg chg="mod">
          <ac:chgData name="janghoon jun" userId="056a5883350c2f5e" providerId="LiveId" clId="{6DA654A6-03B0-40F7-A259-B276216985A6}" dt="2026-07-02T05:25:30.758" v="6"/>
          <ac:spMkLst>
            <pc:docMk/>
            <pc:sldMk cId="4271007981" sldId="524"/>
            <ac:spMk id="3" creationId="{B2A4B13E-D4FF-F6EF-0421-904F6E47B818}"/>
          </ac:spMkLst>
        </pc:spChg>
      </pc:sldChg>
      <pc:sldChg chg="modSp mod modNotesTx">
        <pc:chgData name="janghoon jun" userId="056a5883350c2f5e" providerId="LiveId" clId="{6DA654A6-03B0-40F7-A259-B276216985A6}" dt="2026-07-02T07:42:47.177" v="3073" actId="2711"/>
        <pc:sldMkLst>
          <pc:docMk/>
          <pc:sldMk cId="217966962" sldId="551"/>
        </pc:sldMkLst>
        <pc:spChg chg="mod">
          <ac:chgData name="janghoon jun" userId="056a5883350c2f5e" providerId="LiveId" clId="{6DA654A6-03B0-40F7-A259-B276216985A6}" dt="2026-07-02T07:42:47.177" v="3073" actId="2711"/>
          <ac:spMkLst>
            <pc:docMk/>
            <pc:sldMk cId="217966962" sldId="551"/>
            <ac:spMk id="7" creationId="{1085DB8A-F2FD-AB70-F0B6-F5E8612C16E3}"/>
          </ac:spMkLst>
        </pc:spChg>
      </pc:sldChg>
      <pc:sldChg chg="addSp delSp modSp mod modNotesTx">
        <pc:chgData name="janghoon jun" userId="056a5883350c2f5e" providerId="LiveId" clId="{6DA654A6-03B0-40F7-A259-B276216985A6}" dt="2026-07-02T07:43:00.511" v="3074" actId="2711"/>
        <pc:sldMkLst>
          <pc:docMk/>
          <pc:sldMk cId="862864859" sldId="584"/>
        </pc:sldMkLst>
        <pc:spChg chg="add mod">
          <ac:chgData name="janghoon jun" userId="056a5883350c2f5e" providerId="LiveId" clId="{6DA654A6-03B0-40F7-A259-B276216985A6}" dt="2026-07-02T07:43:00.511" v="3074" actId="2711"/>
          <ac:spMkLst>
            <pc:docMk/>
            <pc:sldMk cId="862864859" sldId="584"/>
            <ac:spMk id="5" creationId="{28370CC8-5180-4116-2C69-517CC8C77A8D}"/>
          </ac:spMkLst>
        </pc:spChg>
        <pc:spChg chg="del">
          <ac:chgData name="janghoon jun" userId="056a5883350c2f5e" providerId="LiveId" clId="{6DA654A6-03B0-40F7-A259-B276216985A6}" dt="2026-07-02T05:26:40.384" v="89" actId="478"/>
          <ac:spMkLst>
            <pc:docMk/>
            <pc:sldMk cId="862864859" sldId="584"/>
            <ac:spMk id="12" creationId="{91DACC3D-99F6-F254-DFFB-240AA72CA760}"/>
          </ac:spMkLst>
        </pc:spChg>
        <pc:picChg chg="del">
          <ac:chgData name="janghoon jun" userId="056a5883350c2f5e" providerId="LiveId" clId="{6DA654A6-03B0-40F7-A259-B276216985A6}" dt="2026-07-02T05:26:38.592" v="88" actId="478"/>
          <ac:picMkLst>
            <pc:docMk/>
            <pc:sldMk cId="862864859" sldId="584"/>
            <ac:picMk id="11" creationId="{700220E8-AF5F-D6E7-2478-8DEA8399DEB5}"/>
          </ac:picMkLst>
        </pc:picChg>
      </pc:sldChg>
      <pc:sldChg chg="addSp delSp modSp add mod modNotesTx">
        <pc:chgData name="janghoon jun" userId="056a5883350c2f5e" providerId="LiveId" clId="{6DA654A6-03B0-40F7-A259-B276216985A6}" dt="2026-07-02T07:43:14.721" v="3076" actId="2711"/>
        <pc:sldMkLst>
          <pc:docMk/>
          <pc:sldMk cId="789029597" sldId="585"/>
        </pc:sldMkLst>
        <pc:spChg chg="add del mod">
          <ac:chgData name="janghoon jun" userId="056a5883350c2f5e" providerId="LiveId" clId="{6DA654A6-03B0-40F7-A259-B276216985A6}" dt="2026-07-02T05:30:08.498" v="280" actId="478"/>
          <ac:spMkLst>
            <pc:docMk/>
            <pc:sldMk cId="789029597" sldId="585"/>
            <ac:spMk id="3" creationId="{597476E1-6476-5853-BFED-57B0EC91B7DD}"/>
          </ac:spMkLst>
        </pc:spChg>
        <pc:spChg chg="mod">
          <ac:chgData name="janghoon jun" userId="056a5883350c2f5e" providerId="LiveId" clId="{6DA654A6-03B0-40F7-A259-B276216985A6}" dt="2026-07-02T07:43:14.721" v="3076" actId="2711"/>
          <ac:spMkLst>
            <pc:docMk/>
            <pc:sldMk cId="789029597" sldId="585"/>
            <ac:spMk id="5" creationId="{33CB2168-9EDB-A4ED-109D-FCF7EFC1CE15}"/>
          </ac:spMkLst>
        </pc:spChg>
        <pc:picChg chg="add del mod">
          <ac:chgData name="janghoon jun" userId="056a5883350c2f5e" providerId="LiveId" clId="{6DA654A6-03B0-40F7-A259-B276216985A6}" dt="2026-07-02T05:31:29.080" v="293" actId="478"/>
          <ac:picMkLst>
            <pc:docMk/>
            <pc:sldMk cId="789029597" sldId="585"/>
            <ac:picMk id="6" creationId="{295EEACA-D995-011B-03B0-999DAA17CBC7}"/>
          </ac:picMkLst>
        </pc:picChg>
      </pc:sldChg>
      <pc:sldChg chg="del">
        <pc:chgData name="janghoon jun" userId="056a5883350c2f5e" providerId="LiveId" clId="{6DA654A6-03B0-40F7-A259-B276216985A6}" dt="2026-07-02T05:26:35.560" v="87" actId="47"/>
        <pc:sldMkLst>
          <pc:docMk/>
          <pc:sldMk cId="3285509194" sldId="585"/>
        </pc:sldMkLst>
      </pc:sldChg>
      <pc:sldChg chg="del">
        <pc:chgData name="janghoon jun" userId="056a5883350c2f5e" providerId="LiveId" clId="{6DA654A6-03B0-40F7-A259-B276216985A6}" dt="2026-07-02T05:28:09.509" v="169" actId="47"/>
        <pc:sldMkLst>
          <pc:docMk/>
          <pc:sldMk cId="1849655632" sldId="586"/>
        </pc:sldMkLst>
      </pc:sldChg>
      <pc:sldChg chg="addSp delSp modSp add mod modNotesTx">
        <pc:chgData name="janghoon jun" userId="056a5883350c2f5e" providerId="LiveId" clId="{6DA654A6-03B0-40F7-A259-B276216985A6}" dt="2026-07-02T07:43:34.747" v="3082" actId="2711"/>
        <pc:sldMkLst>
          <pc:docMk/>
          <pc:sldMk cId="2035868554" sldId="586"/>
        </pc:sldMkLst>
        <pc:spChg chg="del">
          <ac:chgData name="janghoon jun" userId="056a5883350c2f5e" providerId="LiveId" clId="{6DA654A6-03B0-40F7-A259-B276216985A6}" dt="2026-07-02T05:32:05.306" v="300" actId="478"/>
          <ac:spMkLst>
            <pc:docMk/>
            <pc:sldMk cId="2035868554" sldId="586"/>
            <ac:spMk id="5" creationId="{0F4C5559-906E-A28F-028A-98FB3C65029E}"/>
          </ac:spMkLst>
        </pc:spChg>
        <pc:spChg chg="add mod">
          <ac:chgData name="janghoon jun" userId="056a5883350c2f5e" providerId="LiveId" clId="{6DA654A6-03B0-40F7-A259-B276216985A6}" dt="2026-07-02T07:43:34.747" v="3082" actId="2711"/>
          <ac:spMkLst>
            <pc:docMk/>
            <pc:sldMk cId="2035868554" sldId="586"/>
            <ac:spMk id="6" creationId="{673156CC-9ACF-5241-B7FC-12AFBF296EF4}"/>
          </ac:spMkLst>
        </pc:spChg>
        <pc:picChg chg="add mod ord">
          <ac:chgData name="janghoon jun" userId="056a5883350c2f5e" providerId="LiveId" clId="{6DA654A6-03B0-40F7-A259-B276216985A6}" dt="2026-07-02T05:33:38.196" v="344" actId="14100"/>
          <ac:picMkLst>
            <pc:docMk/>
            <pc:sldMk cId="2035868554" sldId="586"/>
            <ac:picMk id="7" creationId="{CBA1CD0C-FAC0-9E2C-3361-F2E0FF4E9CF1}"/>
          </ac:picMkLst>
        </pc:picChg>
        <pc:picChg chg="add mod">
          <ac:chgData name="janghoon jun" userId="056a5883350c2f5e" providerId="LiveId" clId="{6DA654A6-03B0-40F7-A259-B276216985A6}" dt="2026-07-02T05:33:57.634" v="345"/>
          <ac:picMkLst>
            <pc:docMk/>
            <pc:sldMk cId="2035868554" sldId="586"/>
            <ac:picMk id="8" creationId="{4E77A25B-BBD5-A430-A3A2-B796316E3CF6}"/>
          </ac:picMkLst>
        </pc:picChg>
      </pc:sldChg>
      <pc:sldChg chg="del">
        <pc:chgData name="janghoon jun" userId="056a5883350c2f5e" providerId="LiveId" clId="{6DA654A6-03B0-40F7-A259-B276216985A6}" dt="2026-07-02T05:28:10.680" v="170" actId="47"/>
        <pc:sldMkLst>
          <pc:docMk/>
          <pc:sldMk cId="2939605336" sldId="587"/>
        </pc:sldMkLst>
      </pc:sldChg>
      <pc:sldChg chg="addSp delSp modSp add mod modNotesTx">
        <pc:chgData name="janghoon jun" userId="056a5883350c2f5e" providerId="LiveId" clId="{6DA654A6-03B0-40F7-A259-B276216985A6}" dt="2026-07-02T07:43:57.468" v="3085" actId="113"/>
        <pc:sldMkLst>
          <pc:docMk/>
          <pc:sldMk cId="3194503239" sldId="587"/>
        </pc:sldMkLst>
        <pc:spChg chg="mod">
          <ac:chgData name="janghoon jun" userId="056a5883350c2f5e" providerId="LiveId" clId="{6DA654A6-03B0-40F7-A259-B276216985A6}" dt="2026-07-02T07:43:57.468" v="3085" actId="113"/>
          <ac:spMkLst>
            <pc:docMk/>
            <pc:sldMk cId="3194503239" sldId="587"/>
            <ac:spMk id="6" creationId="{766D132D-4DFE-B63B-7426-FA4AF5D4268F}"/>
          </ac:spMkLst>
        </pc:spChg>
        <pc:picChg chg="add mod">
          <ac:chgData name="janghoon jun" userId="056a5883350c2f5e" providerId="LiveId" clId="{6DA654A6-03B0-40F7-A259-B276216985A6}" dt="2026-07-02T05:36:15.515" v="395" actId="1076"/>
          <ac:picMkLst>
            <pc:docMk/>
            <pc:sldMk cId="3194503239" sldId="587"/>
            <ac:picMk id="3" creationId="{9FBA8FAA-C582-F029-EFA7-2006B4064E09}"/>
          </ac:picMkLst>
        </pc:picChg>
        <pc:picChg chg="del">
          <ac:chgData name="janghoon jun" userId="056a5883350c2f5e" providerId="LiveId" clId="{6DA654A6-03B0-40F7-A259-B276216985A6}" dt="2026-07-02T05:34:02.220" v="347" actId="478"/>
          <ac:picMkLst>
            <pc:docMk/>
            <pc:sldMk cId="3194503239" sldId="587"/>
            <ac:picMk id="7" creationId="{A3A60AE0-FB20-A54F-23CB-75A8E8070F75}"/>
          </ac:picMkLst>
        </pc:picChg>
      </pc:sldChg>
      <pc:sldChg chg="addSp delSp modSp add mod modNotesTx">
        <pc:chgData name="janghoon jun" userId="056a5883350c2f5e" providerId="LiveId" clId="{6DA654A6-03B0-40F7-A259-B276216985A6}" dt="2026-07-02T06:44:59.991" v="2573" actId="20577"/>
        <pc:sldMkLst>
          <pc:docMk/>
          <pc:sldMk cId="1704474408" sldId="588"/>
        </pc:sldMkLst>
        <pc:spChg chg="del">
          <ac:chgData name="janghoon jun" userId="056a5883350c2f5e" providerId="LiveId" clId="{6DA654A6-03B0-40F7-A259-B276216985A6}" dt="2026-07-02T05:36:29.281" v="400" actId="478"/>
          <ac:spMkLst>
            <pc:docMk/>
            <pc:sldMk cId="1704474408" sldId="588"/>
            <ac:spMk id="6" creationId="{62EF3218-7BC1-B173-779C-3148E90602DD}"/>
          </ac:spMkLst>
        </pc:spChg>
        <pc:spChg chg="add mod">
          <ac:chgData name="janghoon jun" userId="056a5883350c2f5e" providerId="LiveId" clId="{6DA654A6-03B0-40F7-A259-B276216985A6}" dt="2026-07-02T05:36:57.740" v="471" actId="20577"/>
          <ac:spMkLst>
            <pc:docMk/>
            <pc:sldMk cId="1704474408" sldId="588"/>
            <ac:spMk id="7" creationId="{4B8CA2F3-7A08-48F5-5127-A9DB80869EAF}"/>
          </ac:spMkLst>
        </pc:spChg>
        <pc:graphicFrameChg chg="add mod modGraphic">
          <ac:chgData name="janghoon jun" userId="056a5883350c2f5e" providerId="LiveId" clId="{6DA654A6-03B0-40F7-A259-B276216985A6}" dt="2026-07-02T05:37:23.309" v="477" actId="14100"/>
          <ac:graphicFrameMkLst>
            <pc:docMk/>
            <pc:sldMk cId="1704474408" sldId="588"/>
            <ac:graphicFrameMk id="8" creationId="{1F43517A-F04E-3735-C389-3AA6C4AE5952}"/>
          </ac:graphicFrameMkLst>
        </pc:graphicFrameChg>
        <pc:picChg chg="del">
          <ac:chgData name="janghoon jun" userId="056a5883350c2f5e" providerId="LiveId" clId="{6DA654A6-03B0-40F7-A259-B276216985A6}" dt="2026-07-02T05:36:26.442" v="399" actId="478"/>
          <ac:picMkLst>
            <pc:docMk/>
            <pc:sldMk cId="1704474408" sldId="588"/>
            <ac:picMk id="3" creationId="{5FAB86F8-742B-D16F-4CF7-FE341E43358F}"/>
          </ac:picMkLst>
        </pc:picChg>
        <pc:picChg chg="add mod">
          <ac:chgData name="janghoon jun" userId="056a5883350c2f5e" providerId="LiveId" clId="{6DA654A6-03B0-40F7-A259-B276216985A6}" dt="2026-07-02T05:37:16.220" v="476" actId="1076"/>
          <ac:picMkLst>
            <pc:docMk/>
            <pc:sldMk cId="1704474408" sldId="588"/>
            <ac:picMk id="9" creationId="{84AFEF51-EBAA-B27E-734A-55685DE643F4}"/>
          </ac:picMkLst>
        </pc:picChg>
      </pc:sldChg>
      <pc:sldChg chg="del">
        <pc:chgData name="janghoon jun" userId="056a5883350c2f5e" providerId="LiveId" clId="{6DA654A6-03B0-40F7-A259-B276216985A6}" dt="2026-07-02T05:28:11.405" v="171" actId="47"/>
        <pc:sldMkLst>
          <pc:docMk/>
          <pc:sldMk cId="3858208172" sldId="588"/>
        </pc:sldMkLst>
      </pc:sldChg>
      <pc:sldChg chg="addSp modSp add mod modNotesTx">
        <pc:chgData name="janghoon jun" userId="056a5883350c2f5e" providerId="LiveId" clId="{6DA654A6-03B0-40F7-A259-B276216985A6}" dt="2026-07-02T07:44:19.188" v="3095" actId="20577"/>
        <pc:sldMkLst>
          <pc:docMk/>
          <pc:sldMk cId="2813930619" sldId="589"/>
        </pc:sldMkLst>
        <pc:spChg chg="mod">
          <ac:chgData name="janghoon jun" userId="056a5883350c2f5e" providerId="LiveId" clId="{6DA654A6-03B0-40F7-A259-B276216985A6}" dt="2026-07-02T07:44:19.188" v="3095" actId="20577"/>
          <ac:spMkLst>
            <pc:docMk/>
            <pc:sldMk cId="2813930619" sldId="589"/>
            <ac:spMk id="7" creationId="{82F9A491-CC10-C2AE-F9CF-0E7B6DC2430D}"/>
          </ac:spMkLst>
        </pc:spChg>
        <pc:picChg chg="add mod">
          <ac:chgData name="janghoon jun" userId="056a5883350c2f5e" providerId="LiveId" clId="{6DA654A6-03B0-40F7-A259-B276216985A6}" dt="2026-07-02T05:40:07.473" v="633" actId="1076"/>
          <ac:picMkLst>
            <pc:docMk/>
            <pc:sldMk cId="2813930619" sldId="589"/>
            <ac:picMk id="3" creationId="{A4CCDFEC-80CC-2584-BD36-0775E09FA060}"/>
          </ac:picMkLst>
        </pc:picChg>
      </pc:sldChg>
      <pc:sldChg chg="del">
        <pc:chgData name="janghoon jun" userId="056a5883350c2f5e" providerId="LiveId" clId="{6DA654A6-03B0-40F7-A259-B276216985A6}" dt="2026-07-02T05:28:12.134" v="172" actId="47"/>
        <pc:sldMkLst>
          <pc:docMk/>
          <pc:sldMk cId="3971176928" sldId="589"/>
        </pc:sldMkLst>
      </pc:sldChg>
      <pc:sldChg chg="modSp add mod modNotesTx">
        <pc:chgData name="janghoon jun" userId="056a5883350c2f5e" providerId="LiveId" clId="{6DA654A6-03B0-40F7-A259-B276216985A6}" dt="2026-07-02T07:44:28.092" v="3096" actId="2711"/>
        <pc:sldMkLst>
          <pc:docMk/>
          <pc:sldMk cId="397103809" sldId="590"/>
        </pc:sldMkLst>
        <pc:spChg chg="mod">
          <ac:chgData name="janghoon jun" userId="056a5883350c2f5e" providerId="LiveId" clId="{6DA654A6-03B0-40F7-A259-B276216985A6}" dt="2026-07-02T07:44:28.092" v="3096" actId="2711"/>
          <ac:spMkLst>
            <pc:docMk/>
            <pc:sldMk cId="397103809" sldId="590"/>
            <ac:spMk id="7" creationId="{FFBB98A3-B205-41A5-7837-3719BB6FFDCD}"/>
          </ac:spMkLst>
        </pc:spChg>
      </pc:sldChg>
      <pc:sldChg chg="del">
        <pc:chgData name="janghoon jun" userId="056a5883350c2f5e" providerId="LiveId" clId="{6DA654A6-03B0-40F7-A259-B276216985A6}" dt="2026-07-02T05:28:12.631" v="173" actId="47"/>
        <pc:sldMkLst>
          <pc:docMk/>
          <pc:sldMk cId="2509315623" sldId="590"/>
        </pc:sldMkLst>
      </pc:sldChg>
      <pc:sldChg chg="addSp modSp add mod modNotesTx">
        <pc:chgData name="janghoon jun" userId="056a5883350c2f5e" providerId="LiveId" clId="{6DA654A6-03B0-40F7-A259-B276216985A6}" dt="2026-07-02T07:45:11.721" v="3123" actId="2711"/>
        <pc:sldMkLst>
          <pc:docMk/>
          <pc:sldMk cId="1793991331" sldId="591"/>
        </pc:sldMkLst>
        <pc:spChg chg="add mod">
          <ac:chgData name="janghoon jun" userId="056a5883350c2f5e" providerId="LiveId" clId="{6DA654A6-03B0-40F7-A259-B276216985A6}" dt="2026-07-02T07:45:11.721" v="3123" actId="2711"/>
          <ac:spMkLst>
            <pc:docMk/>
            <pc:sldMk cId="1793991331" sldId="591"/>
            <ac:spMk id="6" creationId="{2CAFDADC-2DAD-CDFC-3BA8-7E6E931CF463}"/>
          </ac:spMkLst>
        </pc:spChg>
        <pc:spChg chg="mod">
          <ac:chgData name="janghoon jun" userId="056a5883350c2f5e" providerId="LiveId" clId="{6DA654A6-03B0-40F7-A259-B276216985A6}" dt="2026-07-02T05:41:40.848" v="761" actId="5793"/>
          <ac:spMkLst>
            <pc:docMk/>
            <pc:sldMk cId="1793991331" sldId="591"/>
            <ac:spMk id="7" creationId="{86677349-B754-D0FB-DB61-4201917DD9A3}"/>
          </ac:spMkLst>
        </pc:spChg>
        <pc:graphicFrameChg chg="add mod modGraphic">
          <ac:chgData name="janghoon jun" userId="056a5883350c2f5e" providerId="LiveId" clId="{6DA654A6-03B0-40F7-A259-B276216985A6}" dt="2026-07-02T07:44:59.482" v="3122" actId="20577"/>
          <ac:graphicFrameMkLst>
            <pc:docMk/>
            <pc:sldMk cId="1793991331" sldId="591"/>
            <ac:graphicFrameMk id="3" creationId="{63ACC8F9-E878-611C-10B8-917DAA091D44}"/>
          </ac:graphicFrameMkLst>
        </pc:graphicFrameChg>
        <pc:picChg chg="add mod">
          <ac:chgData name="janghoon jun" userId="056a5883350c2f5e" providerId="LiveId" clId="{6DA654A6-03B0-40F7-A259-B276216985A6}" dt="2026-07-02T05:41:56.886" v="762"/>
          <ac:picMkLst>
            <pc:docMk/>
            <pc:sldMk cId="1793991331" sldId="591"/>
            <ac:picMk id="5" creationId="{938E7B34-C201-EDF0-3E5E-B2C2A94DB5B0}"/>
          </ac:picMkLst>
        </pc:picChg>
      </pc:sldChg>
      <pc:sldChg chg="del">
        <pc:chgData name="janghoon jun" userId="056a5883350c2f5e" providerId="LiveId" clId="{6DA654A6-03B0-40F7-A259-B276216985A6}" dt="2026-07-02T05:28:13.295" v="174" actId="47"/>
        <pc:sldMkLst>
          <pc:docMk/>
          <pc:sldMk cId="3449705468" sldId="591"/>
        </pc:sldMkLst>
      </pc:sldChg>
      <pc:sldChg chg="del">
        <pc:chgData name="janghoon jun" userId="056a5883350c2f5e" providerId="LiveId" clId="{6DA654A6-03B0-40F7-A259-B276216985A6}" dt="2026-07-02T05:28:13.833" v="175" actId="47"/>
        <pc:sldMkLst>
          <pc:docMk/>
          <pc:sldMk cId="1283523574" sldId="592"/>
        </pc:sldMkLst>
      </pc:sldChg>
      <pc:sldChg chg="addSp delSp modSp add mod modNotesTx">
        <pc:chgData name="janghoon jun" userId="056a5883350c2f5e" providerId="LiveId" clId="{6DA654A6-03B0-40F7-A259-B276216985A6}" dt="2026-07-02T07:47:06.875" v="3139" actId="20577"/>
        <pc:sldMkLst>
          <pc:docMk/>
          <pc:sldMk cId="2857516297" sldId="592"/>
        </pc:sldMkLst>
        <pc:spChg chg="add del">
          <ac:chgData name="janghoon jun" userId="056a5883350c2f5e" providerId="LiveId" clId="{6DA654A6-03B0-40F7-A259-B276216985A6}" dt="2026-07-02T05:45:48.622" v="889" actId="22"/>
          <ac:spMkLst>
            <pc:docMk/>
            <pc:sldMk cId="2857516297" sldId="592"/>
            <ac:spMk id="5" creationId="{D5CCCF88-3C50-07FE-D14F-0DC87F25BFDF}"/>
          </ac:spMkLst>
        </pc:spChg>
        <pc:spChg chg="mod">
          <ac:chgData name="janghoon jun" userId="056a5883350c2f5e" providerId="LiveId" clId="{6DA654A6-03B0-40F7-A259-B276216985A6}" dt="2026-07-02T07:47:06.875" v="3139" actId="20577"/>
          <ac:spMkLst>
            <pc:docMk/>
            <pc:sldMk cId="2857516297" sldId="592"/>
            <ac:spMk id="7" creationId="{25AEBA00-8A0B-78F4-BD31-73F4C01D2970}"/>
          </ac:spMkLst>
        </pc:spChg>
      </pc:sldChg>
      <pc:sldChg chg="addSp delSp modSp add mod modNotesTx">
        <pc:chgData name="janghoon jun" userId="056a5883350c2f5e" providerId="LiveId" clId="{6DA654A6-03B0-40F7-A259-B276216985A6}" dt="2026-07-02T07:45:27.227" v="3125" actId="2711"/>
        <pc:sldMkLst>
          <pc:docMk/>
          <pc:sldMk cId="264417426" sldId="593"/>
        </pc:sldMkLst>
        <pc:spChg chg="add mod">
          <ac:chgData name="janghoon jun" userId="056a5883350c2f5e" providerId="LiveId" clId="{6DA654A6-03B0-40F7-A259-B276216985A6}" dt="2026-07-02T07:45:27.227" v="3125" actId="2711"/>
          <ac:spMkLst>
            <pc:docMk/>
            <pc:sldMk cId="264417426" sldId="593"/>
            <ac:spMk id="5" creationId="{050FD52D-18EC-7791-35A0-14C9076D988A}"/>
          </ac:spMkLst>
        </pc:spChg>
        <pc:spChg chg="del">
          <ac:chgData name="janghoon jun" userId="056a5883350c2f5e" providerId="LiveId" clId="{6DA654A6-03B0-40F7-A259-B276216985A6}" dt="2026-07-02T05:45:57.935" v="897" actId="478"/>
          <ac:spMkLst>
            <pc:docMk/>
            <pc:sldMk cId="264417426" sldId="593"/>
            <ac:spMk id="7" creationId="{EDA407D5-4FD3-0C92-45B0-FEFA50F85206}"/>
          </ac:spMkLst>
        </pc:spChg>
        <pc:picChg chg="add mod">
          <ac:chgData name="janghoon jun" userId="056a5883350c2f5e" providerId="LiveId" clId="{6DA654A6-03B0-40F7-A259-B276216985A6}" dt="2026-07-02T05:47:40.582" v="1006" actId="1076"/>
          <ac:picMkLst>
            <pc:docMk/>
            <pc:sldMk cId="264417426" sldId="593"/>
            <ac:picMk id="6" creationId="{5ACDBD69-87A0-44ED-4987-8C5AAC11C5B3}"/>
          </ac:picMkLst>
        </pc:picChg>
      </pc:sldChg>
      <pc:sldChg chg="add del">
        <pc:chgData name="janghoon jun" userId="056a5883350c2f5e" providerId="LiveId" clId="{6DA654A6-03B0-40F7-A259-B276216985A6}" dt="2026-07-02T05:45:53.669" v="895"/>
        <pc:sldMkLst>
          <pc:docMk/>
          <pc:sldMk cId="1309563299" sldId="593"/>
        </pc:sldMkLst>
      </pc:sldChg>
      <pc:sldChg chg="del">
        <pc:chgData name="janghoon jun" userId="056a5883350c2f5e" providerId="LiveId" clId="{6DA654A6-03B0-40F7-A259-B276216985A6}" dt="2026-07-02T05:28:14.370" v="176" actId="47"/>
        <pc:sldMkLst>
          <pc:docMk/>
          <pc:sldMk cId="3088225551" sldId="593"/>
        </pc:sldMkLst>
      </pc:sldChg>
      <pc:sldChg chg="add del">
        <pc:chgData name="janghoon jun" userId="056a5883350c2f5e" providerId="LiveId" clId="{6DA654A6-03B0-40F7-A259-B276216985A6}" dt="2026-07-02T05:45:52.206" v="894"/>
        <pc:sldMkLst>
          <pc:docMk/>
          <pc:sldMk cId="438381597" sldId="594"/>
        </pc:sldMkLst>
      </pc:sldChg>
      <pc:sldChg chg="addSp modSp add mod modNotesTx">
        <pc:chgData name="janghoon jun" userId="056a5883350c2f5e" providerId="LiveId" clId="{6DA654A6-03B0-40F7-A259-B276216985A6}" dt="2026-07-02T06:51:48.455" v="2760" actId="20577"/>
        <pc:sldMkLst>
          <pc:docMk/>
          <pc:sldMk cId="1066384288" sldId="594"/>
        </pc:sldMkLst>
        <pc:spChg chg="mod">
          <ac:chgData name="janghoon jun" userId="056a5883350c2f5e" providerId="LiveId" clId="{6DA654A6-03B0-40F7-A259-B276216985A6}" dt="2026-07-02T05:48:50.834" v="1121" actId="20577"/>
          <ac:spMkLst>
            <pc:docMk/>
            <pc:sldMk cId="1066384288" sldId="594"/>
            <ac:spMk id="5" creationId="{B98964F9-92EF-C48C-93F8-E02763AC6A66}"/>
          </ac:spMkLst>
        </pc:spChg>
        <pc:picChg chg="add mod">
          <ac:chgData name="janghoon jun" userId="056a5883350c2f5e" providerId="LiveId" clId="{6DA654A6-03B0-40F7-A259-B276216985A6}" dt="2026-07-02T05:49:18.933" v="1125" actId="1076"/>
          <ac:picMkLst>
            <pc:docMk/>
            <pc:sldMk cId="1066384288" sldId="594"/>
            <ac:picMk id="3" creationId="{923BA14D-62C7-649C-1E78-2C9CFCC3635E}"/>
          </ac:picMkLst>
        </pc:picChg>
      </pc:sldChg>
      <pc:sldChg chg="add del">
        <pc:chgData name="janghoon jun" userId="056a5883350c2f5e" providerId="LiveId" clId="{6DA654A6-03B0-40F7-A259-B276216985A6}" dt="2026-07-02T05:45:51.953" v="893"/>
        <pc:sldMkLst>
          <pc:docMk/>
          <pc:sldMk cId="1591128122" sldId="595"/>
        </pc:sldMkLst>
      </pc:sldChg>
      <pc:sldChg chg="addSp modSp add mod modNotesTx">
        <pc:chgData name="janghoon jun" userId="056a5883350c2f5e" providerId="LiveId" clId="{6DA654A6-03B0-40F7-A259-B276216985A6}" dt="2026-07-02T07:46:53.875" v="3137" actId="20577"/>
        <pc:sldMkLst>
          <pc:docMk/>
          <pc:sldMk cId="3674311941" sldId="595"/>
        </pc:sldMkLst>
        <pc:spChg chg="mod">
          <ac:chgData name="janghoon jun" userId="056a5883350c2f5e" providerId="LiveId" clId="{6DA654A6-03B0-40F7-A259-B276216985A6}" dt="2026-07-02T07:46:53.875" v="3137" actId="20577"/>
          <ac:spMkLst>
            <pc:docMk/>
            <pc:sldMk cId="3674311941" sldId="595"/>
            <ac:spMk id="5" creationId="{F3F246F0-3DB6-D3B8-82C8-FE5EC477F483}"/>
          </ac:spMkLst>
        </pc:spChg>
        <pc:graphicFrameChg chg="add mod modGraphic">
          <ac:chgData name="janghoon jun" userId="056a5883350c2f5e" providerId="LiveId" clId="{6DA654A6-03B0-40F7-A259-B276216985A6}" dt="2026-07-02T05:52:59.403" v="1211" actId="120"/>
          <ac:graphicFrameMkLst>
            <pc:docMk/>
            <pc:sldMk cId="3674311941" sldId="595"/>
            <ac:graphicFrameMk id="3" creationId="{7628632D-AFA0-9E48-DDF0-A68651FDBD6B}"/>
          </ac:graphicFrameMkLst>
        </pc:graphicFrameChg>
      </pc:sldChg>
      <pc:sldChg chg="modSp add mod modNotesTx">
        <pc:chgData name="janghoon jun" userId="056a5883350c2f5e" providerId="LiveId" clId="{6DA654A6-03B0-40F7-A259-B276216985A6}" dt="2026-07-02T06:53:38.436" v="2824" actId="20577"/>
        <pc:sldMkLst>
          <pc:docMk/>
          <pc:sldMk cId="1262180545" sldId="596"/>
        </pc:sldMkLst>
        <pc:spChg chg="mod">
          <ac:chgData name="janghoon jun" userId="056a5883350c2f5e" providerId="LiveId" clId="{6DA654A6-03B0-40F7-A259-B276216985A6}" dt="2026-07-02T06:04:33.245" v="1470" actId="20577"/>
          <ac:spMkLst>
            <pc:docMk/>
            <pc:sldMk cId="1262180545" sldId="596"/>
            <ac:spMk id="5" creationId="{F4FBF3DB-F04A-531D-63D5-963909385C37}"/>
          </ac:spMkLst>
        </pc:spChg>
      </pc:sldChg>
      <pc:sldChg chg="modSp add mod modNotesTx">
        <pc:chgData name="janghoon jun" userId="056a5883350c2f5e" providerId="LiveId" clId="{6DA654A6-03B0-40F7-A259-B276216985A6}" dt="2026-07-02T07:46:21.989" v="3128" actId="403"/>
        <pc:sldMkLst>
          <pc:docMk/>
          <pc:sldMk cId="2313877190" sldId="597"/>
        </pc:sldMkLst>
        <pc:spChg chg="mod">
          <ac:chgData name="janghoon jun" userId="056a5883350c2f5e" providerId="LiveId" clId="{6DA654A6-03B0-40F7-A259-B276216985A6}" dt="2026-07-02T05:59:01.052" v="1352" actId="20577"/>
          <ac:spMkLst>
            <pc:docMk/>
            <pc:sldMk cId="2313877190" sldId="597"/>
            <ac:spMk id="2" creationId="{86381CD4-0B26-24DC-7CA6-09D45DCBA3DA}"/>
          </ac:spMkLst>
        </pc:spChg>
        <pc:spChg chg="mod">
          <ac:chgData name="janghoon jun" userId="056a5883350c2f5e" providerId="LiveId" clId="{6DA654A6-03B0-40F7-A259-B276216985A6}" dt="2026-07-02T07:46:21.989" v="3128" actId="403"/>
          <ac:spMkLst>
            <pc:docMk/>
            <pc:sldMk cId="2313877190" sldId="597"/>
            <ac:spMk id="5" creationId="{47F256C7-7695-EA58-29A7-614CC7465766}"/>
          </ac:spMkLst>
        </pc:spChg>
      </pc:sldChg>
      <pc:sldChg chg="modSp add mod modNotesTx">
        <pc:chgData name="janghoon jun" userId="056a5883350c2f5e" providerId="LiveId" clId="{6DA654A6-03B0-40F7-A259-B276216985A6}" dt="2026-07-02T07:46:16.184" v="3127" actId="403"/>
        <pc:sldMkLst>
          <pc:docMk/>
          <pc:sldMk cId="1376043223" sldId="598"/>
        </pc:sldMkLst>
        <pc:spChg chg="mod">
          <ac:chgData name="janghoon jun" userId="056a5883350c2f5e" providerId="LiveId" clId="{6DA654A6-03B0-40F7-A259-B276216985A6}" dt="2026-07-02T05:57:48.528" v="1316" actId="20577"/>
          <ac:spMkLst>
            <pc:docMk/>
            <pc:sldMk cId="1376043223" sldId="598"/>
            <ac:spMk id="2" creationId="{3BB5511C-FFC5-A19F-E25E-B1098D1756B1}"/>
          </ac:spMkLst>
        </pc:spChg>
        <pc:spChg chg="mod">
          <ac:chgData name="janghoon jun" userId="056a5883350c2f5e" providerId="LiveId" clId="{6DA654A6-03B0-40F7-A259-B276216985A6}" dt="2026-07-02T07:46:16.184" v="3127" actId="403"/>
          <ac:spMkLst>
            <pc:docMk/>
            <pc:sldMk cId="1376043223" sldId="598"/>
            <ac:spMk id="5" creationId="{4BD458D6-C9B0-84C4-FC93-9EC146BA526F}"/>
          </ac:spMkLst>
        </pc:spChg>
      </pc:sldChg>
      <pc:sldChg chg="add del">
        <pc:chgData name="janghoon jun" userId="056a5883350c2f5e" providerId="LiveId" clId="{6DA654A6-03B0-40F7-A259-B276216985A6}" dt="2026-07-02T06:00:31.788" v="1405" actId="47"/>
        <pc:sldMkLst>
          <pc:docMk/>
          <pc:sldMk cId="323358561" sldId="599"/>
        </pc:sldMkLst>
      </pc:sldChg>
      <pc:sldChg chg="addSp modSp add mod modNotesTx">
        <pc:chgData name="janghoon jun" userId="056a5883350c2f5e" providerId="LiveId" clId="{6DA654A6-03B0-40F7-A259-B276216985A6}" dt="2026-07-02T07:43:43.782" v="3083" actId="6549"/>
        <pc:sldMkLst>
          <pc:docMk/>
          <pc:sldMk cId="1647113666" sldId="599"/>
        </pc:sldMkLst>
        <pc:spChg chg="mod">
          <ac:chgData name="janghoon jun" userId="056a5883350c2f5e" providerId="LiveId" clId="{6DA654A6-03B0-40F7-A259-B276216985A6}" dt="2026-07-02T07:43:43.782" v="3083" actId="6549"/>
          <ac:spMkLst>
            <pc:docMk/>
            <pc:sldMk cId="1647113666" sldId="599"/>
            <ac:spMk id="5" creationId="{25210EE5-8314-E440-4054-17427BEA7C4E}"/>
          </ac:spMkLst>
        </pc:spChg>
        <pc:graphicFrameChg chg="add mod modGraphic">
          <ac:chgData name="janghoon jun" userId="056a5883350c2f5e" providerId="LiveId" clId="{6DA654A6-03B0-40F7-A259-B276216985A6}" dt="2026-07-02T07:43:21.915" v="3077" actId="2711"/>
          <ac:graphicFrameMkLst>
            <pc:docMk/>
            <pc:sldMk cId="1647113666" sldId="599"/>
            <ac:graphicFrameMk id="3" creationId="{C2C10ACE-732F-47E5-0877-89A935E474DB}"/>
          </ac:graphicFrameMkLst>
        </pc:graphicFrameChg>
      </pc:sldChg>
      <pc:sldChg chg="del">
        <pc:chgData name="janghoon jun" userId="056a5883350c2f5e" providerId="LiveId" clId="{6DA654A6-03B0-40F7-A259-B276216985A6}" dt="2026-07-02T07:16:32.646" v="2901" actId="2696"/>
        <pc:sldMkLst>
          <pc:docMk/>
          <pc:sldMk cId="0" sldId="600"/>
        </pc:sldMkLst>
      </pc:sldChg>
      <pc:sldChg chg="addSp delSp modSp add del mod">
        <pc:chgData name="janghoon jun" userId="056a5883350c2f5e" providerId="LiveId" clId="{6DA654A6-03B0-40F7-A259-B276216985A6}" dt="2026-07-02T07:21:05.690" v="2956" actId="47"/>
        <pc:sldMkLst>
          <pc:docMk/>
          <pc:sldMk cId="2916972035" sldId="600"/>
        </pc:sldMkLst>
        <pc:spChg chg="mod">
          <ac:chgData name="janghoon jun" userId="056a5883350c2f5e" providerId="LiveId" clId="{6DA654A6-03B0-40F7-A259-B276216985A6}" dt="2026-07-02T07:16:35.722" v="2903" actId="27636"/>
          <ac:spMkLst>
            <pc:docMk/>
            <pc:sldMk cId="2916972035" sldId="600"/>
            <ac:spMk id="3" creationId="{00000000-0000-0000-0000-000000000000}"/>
          </ac:spMkLst>
        </pc:spChg>
        <pc:picChg chg="add del">
          <ac:chgData name="janghoon jun" userId="056a5883350c2f5e" providerId="LiveId" clId="{6DA654A6-03B0-40F7-A259-B276216985A6}" dt="2026-07-02T07:18:02.765" v="2930" actId="21"/>
          <ac:picMkLst>
            <pc:docMk/>
            <pc:sldMk cId="2916972035" sldId="600"/>
            <ac:picMk id="4" creationId="{00000000-0000-0000-0000-000000000000}"/>
          </ac:picMkLst>
        </pc:picChg>
      </pc:sldChg>
      <pc:sldChg chg="add del">
        <pc:chgData name="janghoon jun" userId="056a5883350c2f5e" providerId="LiveId" clId="{6DA654A6-03B0-40F7-A259-B276216985A6}" dt="2026-07-02T06:00:32.866" v="1406" actId="47"/>
        <pc:sldMkLst>
          <pc:docMk/>
          <pc:sldMk cId="3653344122" sldId="600"/>
        </pc:sldMkLst>
      </pc:sldChg>
      <pc:sldChg chg="addSp delSp modSp add mod ord modNotesTx">
        <pc:chgData name="janghoon jun" userId="056a5883350c2f5e" providerId="LiveId" clId="{6DA654A6-03B0-40F7-A259-B276216985A6}" dt="2026-07-02T07:46:29.957" v="3130" actId="20577"/>
        <pc:sldMkLst>
          <pc:docMk/>
          <pc:sldMk cId="4095929179" sldId="601"/>
        </pc:sldMkLst>
        <pc:spChg chg="del">
          <ac:chgData name="janghoon jun" userId="056a5883350c2f5e" providerId="LiveId" clId="{6DA654A6-03B0-40F7-A259-B276216985A6}" dt="2026-07-02T07:16:45.650" v="2905" actId="478"/>
          <ac:spMkLst>
            <pc:docMk/>
            <pc:sldMk cId="4095929179" sldId="601"/>
            <ac:spMk id="5" creationId="{FAFA2DEC-452A-EB11-5A88-24BA7EE87BE9}"/>
          </ac:spMkLst>
        </pc:spChg>
        <pc:spChg chg="add mod">
          <ac:chgData name="janghoon jun" userId="056a5883350c2f5e" providerId="LiveId" clId="{6DA654A6-03B0-40F7-A259-B276216985A6}" dt="2026-07-02T07:46:29.957" v="3130" actId="20577"/>
          <ac:spMkLst>
            <pc:docMk/>
            <pc:sldMk cId="4095929179" sldId="601"/>
            <ac:spMk id="6" creationId="{65E5F7DD-7F84-B2B3-77F4-FB1C9AE0D496}"/>
          </ac:spMkLst>
        </pc:spChg>
        <pc:picChg chg="add mod">
          <ac:chgData name="janghoon jun" userId="056a5883350c2f5e" providerId="LiveId" clId="{6DA654A6-03B0-40F7-A259-B276216985A6}" dt="2026-07-02T07:18:42.322" v="2942" actId="1076"/>
          <ac:picMkLst>
            <pc:docMk/>
            <pc:sldMk cId="4095929179" sldId="601"/>
            <ac:picMk id="7" creationId="{8A11C5E8-A278-C781-33D2-046F264473F8}"/>
          </ac:picMkLst>
        </pc:picChg>
      </pc:sldChg>
      <pc:sldChg chg="add del modNotesTx">
        <pc:chgData name="janghoon jun" userId="056a5883350c2f5e" providerId="LiveId" clId="{6DA654A6-03B0-40F7-A259-B276216985A6}" dt="2026-07-02T07:21:04.055" v="2955" actId="47"/>
        <pc:sldMkLst>
          <pc:docMk/>
          <pc:sldMk cId="3483184911" sldId="602"/>
        </pc:sldMkLst>
      </pc:sldChg>
      <pc:sldChg chg="modSp add mod modNotesTx">
        <pc:chgData name="janghoon jun" userId="056a5883350c2f5e" providerId="LiveId" clId="{6DA654A6-03B0-40F7-A259-B276216985A6}" dt="2026-07-02T07:46:33.818" v="3132" actId="20577"/>
        <pc:sldMkLst>
          <pc:docMk/>
          <pc:sldMk cId="3428207390" sldId="603"/>
        </pc:sldMkLst>
        <pc:spChg chg="mod">
          <ac:chgData name="janghoon jun" userId="056a5883350c2f5e" providerId="LiveId" clId="{6DA654A6-03B0-40F7-A259-B276216985A6}" dt="2026-07-02T07:46:33.818" v="3132" actId="20577"/>
          <ac:spMkLst>
            <pc:docMk/>
            <pc:sldMk cId="3428207390" sldId="603"/>
            <ac:spMk id="6" creationId="{31E05CC9-804E-6AD1-BD5B-145E7CDBDCF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안녕하세요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연구결과공유 발표 진행하겠습니다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오늘은 지난 미팅 이후 진행한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curve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분석 결과를 말씀드리려고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결론부터 말씀드리면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도움이 됐다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왜 도움이 안 됐는지를 방법론적으로 규명했다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negative result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가깝습니다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다만 그 과정에서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confounding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직접 검증한 부분이 있어서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 부분을 중심으로 말씀드리겠습니다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지난 미팅에서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말씀드렸던거는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여러 모델들을 활용해서 시도해보았는데 성능향상이 없었다는 말씀을 드리고 이번주 연구 결과로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발표는 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분리 분석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통계 기반 접근으로의 전환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FDA + propensity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scorematching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이라는 정식 통계 프레임워크로 발전시킨 결과입니다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Q.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(260619)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딥러닝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fusion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실험 결과와 오늘 결과가 서로 일관되나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?“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오히려 서로 독립적으로 같은 결론을 뒷받침합니다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260619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실험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(n=914, ResNet1D/MLP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M1~M4, DeLong test)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이미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AEC+Clinic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통합모델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(M2/M3)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clinic-only baseline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유의차 없음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단독 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(M4)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baseline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유의하게 낮음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(p=0.002)"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나왔었습니다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말씀드릴 결과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(FDA + propensity matching, n=1,082)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완전히 다른 방법론과 다른 모델 클래스로 같은 결론에 도달한 것이라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결과가 서로를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교차검증하는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 연구결과를 짧게 말씀드리면</a:t>
            </a:r>
            <a:r>
              <a:rPr lang="en-US" altLang="ko-KR" dirty="0"/>
              <a:t>, </a:t>
            </a:r>
            <a:r>
              <a:rPr lang="ko-KR" altLang="en-US" dirty="0"/>
              <a:t>처음엔 </a:t>
            </a:r>
            <a:r>
              <a:rPr lang="en-US" altLang="ko-KR" dirty="0"/>
              <a:t>AEC curve</a:t>
            </a:r>
            <a:r>
              <a:rPr lang="ko-KR" altLang="en-US" dirty="0"/>
              <a:t>에서 통계적으로 유의한 신호를 찾았습니다</a:t>
            </a:r>
            <a:r>
              <a:rPr lang="en-US" altLang="ko-KR" dirty="0"/>
              <a:t>. </a:t>
            </a:r>
            <a:r>
              <a:rPr lang="ko-KR" altLang="en-US" dirty="0"/>
              <a:t>그런데 그 신호를 실제 예측모델에 넣어봤더니 </a:t>
            </a:r>
            <a:r>
              <a:rPr lang="en-US" altLang="ko-KR" dirty="0"/>
              <a:t>clinic </a:t>
            </a:r>
            <a:r>
              <a:rPr lang="ko-KR" altLang="en-US" dirty="0"/>
              <a:t>변수만 쓴 모델을 못 이겼습니다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"</a:t>
            </a:r>
            <a:r>
              <a:rPr lang="ko-KR" altLang="en-US" dirty="0"/>
              <a:t>왜 못 이겼는가</a:t>
            </a:r>
            <a:r>
              <a:rPr lang="en-US" altLang="ko-KR" dirty="0"/>
              <a:t>"</a:t>
            </a:r>
            <a:r>
              <a:rPr lang="ko-KR" altLang="en-US" dirty="0"/>
              <a:t>를 </a:t>
            </a:r>
            <a:r>
              <a:rPr lang="en-US" altLang="ko-KR" dirty="0"/>
              <a:t>propensity score matching</a:t>
            </a:r>
            <a:r>
              <a:rPr lang="ko-KR" altLang="en-US" dirty="0"/>
              <a:t>으로 직접 검증했더니</a:t>
            </a:r>
            <a:r>
              <a:rPr lang="en-US" altLang="ko-KR" dirty="0"/>
              <a:t>, </a:t>
            </a:r>
            <a:r>
              <a:rPr lang="ko-KR" altLang="en-US" dirty="0"/>
              <a:t>원래 신호의 상당 부분이 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 같은 체격 요인의 </a:t>
            </a:r>
            <a:r>
              <a:rPr lang="en-US" altLang="ko-KR" dirty="0"/>
              <a:t>confounding</a:t>
            </a:r>
            <a:r>
              <a:rPr lang="ko-KR" altLang="en-US" dirty="0"/>
              <a:t>이었다는 걸 확인했습니다</a:t>
            </a:r>
            <a:r>
              <a:rPr lang="en-US" altLang="ko-KR" dirty="0"/>
              <a:t>. </a:t>
            </a:r>
            <a:r>
              <a:rPr lang="ko-KR" altLang="en-US" dirty="0"/>
              <a:t>지금부터 이 세 단계를 순서대로 보여드리겠습니다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Q. "negative result</a:t>
            </a:r>
            <a:r>
              <a:rPr lang="ko-KR" altLang="en-US" dirty="0"/>
              <a:t>인데 왜 발표하나</a:t>
            </a:r>
            <a:r>
              <a:rPr lang="en-US" altLang="ko-KR" dirty="0"/>
              <a:t>?“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A. </a:t>
            </a:r>
            <a:r>
              <a:rPr lang="ko-KR" altLang="en-US" dirty="0"/>
              <a:t>단순히 </a:t>
            </a:r>
            <a:r>
              <a:rPr lang="en-US" altLang="ko-KR" dirty="0"/>
              <a:t>"</a:t>
            </a:r>
            <a:r>
              <a:rPr lang="ko-KR" altLang="en-US" dirty="0"/>
              <a:t>안 된다</a:t>
            </a:r>
            <a:r>
              <a:rPr lang="en-US" altLang="ko-KR" dirty="0"/>
              <a:t>"</a:t>
            </a:r>
            <a:r>
              <a:rPr lang="ko-KR" altLang="en-US" dirty="0"/>
              <a:t>가 아니라</a:t>
            </a:r>
            <a:r>
              <a:rPr lang="en-US" altLang="ko-KR" dirty="0"/>
              <a:t>, </a:t>
            </a:r>
            <a:r>
              <a:rPr lang="ko-KR" altLang="en-US" dirty="0"/>
              <a:t>안 되는 *이유*를 </a:t>
            </a:r>
            <a:r>
              <a:rPr lang="en-US" altLang="ko-KR" dirty="0"/>
              <a:t>propensity matching</a:t>
            </a:r>
            <a:r>
              <a:rPr lang="ko-KR" altLang="en-US" dirty="0"/>
              <a:t>이라는 </a:t>
            </a:r>
            <a:r>
              <a:rPr lang="en-US" altLang="ko-KR" dirty="0"/>
              <a:t>design-based  </a:t>
            </a:r>
            <a:r>
              <a:rPr lang="ko-KR" altLang="en-US" dirty="0"/>
              <a:t>방법으로 직접 규명했다는 점이 방법론적으로 의미가 있습니다</a:t>
            </a:r>
            <a:r>
              <a:rPr lang="en-US" altLang="ko-KR" dirty="0"/>
              <a:t>. </a:t>
            </a:r>
            <a:r>
              <a:rPr lang="ko-KR" altLang="en-US" dirty="0"/>
              <a:t>상관관계 수준의 정황  </a:t>
            </a:r>
            <a:r>
              <a:rPr lang="en-US" altLang="ko-KR" dirty="0"/>
              <a:t>(</a:t>
            </a:r>
            <a:r>
              <a:rPr lang="en-US" altLang="ko-KR" dirty="0" err="1"/>
              <a:t>mean_mA</a:t>
            </a:r>
            <a:r>
              <a:rPr lang="en-US" altLang="ko-KR" dirty="0"/>
              <a:t>-Weight </a:t>
            </a:r>
            <a:r>
              <a:rPr lang="ko-KR" altLang="en-US" dirty="0"/>
              <a:t>상관 </a:t>
            </a:r>
            <a:r>
              <a:rPr lang="en-US" altLang="ko-KR" dirty="0"/>
              <a:t>0.54)</a:t>
            </a:r>
            <a:r>
              <a:rPr lang="ko-KR" altLang="en-US" dirty="0"/>
              <a:t>에 머물지 않고</a:t>
            </a:r>
            <a:r>
              <a:rPr lang="en-US" altLang="ko-KR" dirty="0"/>
              <a:t>, </a:t>
            </a:r>
            <a:r>
              <a:rPr lang="ko-KR" altLang="en-US" dirty="0"/>
              <a:t>체격을 매칭해서 신호가 실제로 줄어드는지  확인했습니다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Q. "1</a:t>
            </a:r>
            <a:r>
              <a:rPr lang="ko-KR" altLang="en-US" dirty="0"/>
              <a:t>차 시도</a:t>
            </a:r>
            <a:r>
              <a:rPr lang="en-US" altLang="ko-KR" dirty="0"/>
              <a:t>(128</a:t>
            </a:r>
            <a:r>
              <a:rPr lang="ko-KR" altLang="en-US" dirty="0"/>
              <a:t>개 독립변수</a:t>
            </a:r>
            <a:r>
              <a:rPr lang="en-US" altLang="ko-KR" dirty="0"/>
              <a:t>)</a:t>
            </a:r>
            <a:r>
              <a:rPr lang="ko-KR" altLang="en-US" dirty="0"/>
              <a:t>가 왜 부적절했나</a:t>
            </a:r>
            <a:r>
              <a:rPr lang="en-US" altLang="ko-KR" dirty="0"/>
              <a:t>?“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A. aec_1~aec_128</a:t>
            </a:r>
            <a:r>
              <a:rPr lang="ko-KR" altLang="en-US" dirty="0"/>
              <a:t>은 사실 하나의 연속된 곡선</a:t>
            </a:r>
            <a:r>
              <a:rPr lang="en-US" altLang="ko-KR" dirty="0"/>
              <a:t>(</a:t>
            </a:r>
            <a:r>
              <a:rPr lang="ko-KR" altLang="en-US" dirty="0" err="1"/>
              <a:t>환자별</a:t>
            </a:r>
            <a:r>
              <a:rPr lang="ko-KR" altLang="en-US" dirty="0"/>
              <a:t> </a:t>
            </a:r>
            <a:r>
              <a:rPr lang="en-US" altLang="ko-KR" dirty="0"/>
              <a:t>tube current profile)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이를  </a:t>
            </a:r>
            <a:r>
              <a:rPr lang="en-US" altLang="ko-KR" dirty="0"/>
              <a:t>128</a:t>
            </a:r>
            <a:r>
              <a:rPr lang="ko-KR" altLang="en-US" dirty="0"/>
              <a:t>개의 독립적인 변수로 취급하면 인접 포인트 간 강한 상관구조를 무시하게 되어  다중비교</a:t>
            </a:r>
            <a:r>
              <a:rPr lang="en-US" altLang="ko-KR" dirty="0"/>
              <a:t>/</a:t>
            </a:r>
            <a:r>
              <a:rPr lang="ko-KR" altLang="en-US" dirty="0"/>
              <a:t>클러스터링 결과가 왜곡됩니다</a:t>
            </a:r>
            <a:r>
              <a:rPr lang="en-US" altLang="ko-KR" dirty="0"/>
              <a:t>. </a:t>
            </a:r>
            <a:r>
              <a:rPr lang="ko-KR" altLang="en-US" dirty="0"/>
              <a:t>곡선 데이터라는 게 확인된 뒤 </a:t>
            </a:r>
            <a:r>
              <a:rPr lang="en-US" altLang="ko-KR" dirty="0"/>
              <a:t>Functional Data  Analysis</a:t>
            </a:r>
            <a:r>
              <a:rPr lang="ko-KR" altLang="en-US" dirty="0"/>
              <a:t>로 전환했습니다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89B9-922E-FA29-C208-28CBA192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A62CC1-BE98-1C87-8E0F-BE79EF75C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627E94-569E-AB3F-231B-6A555469D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Cutoff를 조금 높게 잡아 저SMI 군의 데이터 양을 22%정도로 늘렸습니다. (cutoff 43.0/34.0로 수정됨 - aec_low_smi_aec_gate_annotated.py도 동일하게 통일)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3C8CF-6843-DACA-64C0-BCFB500F0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416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5A89-5864-5F90-65AB-C65AD248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60D77-69CA-0F74-A310-F7BEE461F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A93A3-AD57-599B-052B-6E17A341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처음엔 </a:t>
            </a:r>
            <a:r>
              <a:rPr lang="en-US" altLang="ko-KR" dirty="0"/>
              <a:t>128</a:t>
            </a:r>
            <a:r>
              <a:rPr lang="ko-KR" altLang="en-US" dirty="0"/>
              <a:t>개 지점을 각각 독립변수로 놓고 </a:t>
            </a:r>
            <a:r>
              <a:rPr lang="ko-KR" altLang="en-US" dirty="0" err="1"/>
              <a:t>단변량</a:t>
            </a:r>
            <a:r>
              <a:rPr lang="ko-KR" altLang="en-US" dirty="0"/>
              <a:t> 검정</a:t>
            </a:r>
            <a:r>
              <a:rPr lang="en-US" altLang="ko-KR" dirty="0"/>
              <a:t>, </a:t>
            </a:r>
            <a:r>
              <a:rPr lang="ko-KR" altLang="en-US" dirty="0"/>
              <a:t>상관 클러스터링</a:t>
            </a:r>
            <a:r>
              <a:rPr lang="en-US" altLang="ko-KR" dirty="0"/>
              <a:t>, PCA, </a:t>
            </a:r>
            <a:r>
              <a:rPr lang="en-US" altLang="ko-KR" dirty="0" err="1"/>
              <a:t>ElasticNet</a:t>
            </a:r>
            <a:r>
              <a:rPr lang="ko-KR" altLang="en-US" dirty="0"/>
              <a:t>을 돌렸습니다</a:t>
            </a:r>
            <a:r>
              <a:rPr lang="en-US" altLang="ko-KR" dirty="0"/>
              <a:t>. </a:t>
            </a:r>
            <a:r>
              <a:rPr lang="ko-KR" altLang="en-US" dirty="0"/>
              <a:t>그런데 이 데이터가 사실 환자당 하나의 매끄러운 곡선이기에</a:t>
            </a:r>
            <a:r>
              <a:rPr lang="en-US" altLang="ko-KR" dirty="0"/>
              <a:t>, </a:t>
            </a:r>
            <a:r>
              <a:rPr lang="ko-KR" altLang="en-US" dirty="0"/>
              <a:t>이 접근이 방법론적으로 부적절하다는 결론을 내렸고 전부 폐기했습니다</a:t>
            </a:r>
            <a:r>
              <a:rPr lang="en-US" altLang="ko-KR" dirty="0"/>
              <a:t>. </a:t>
            </a:r>
            <a:r>
              <a:rPr lang="ko-KR" altLang="en-US" dirty="0"/>
              <a:t>대신 </a:t>
            </a:r>
            <a:r>
              <a:rPr lang="en-US" altLang="ko-KR" dirty="0"/>
              <a:t>Functional Data Analysis </a:t>
            </a:r>
            <a:r>
              <a:rPr lang="ko-KR" altLang="en-US" dirty="0"/>
              <a:t>프레임워크로 다시 설계했습니다</a:t>
            </a:r>
            <a:r>
              <a:rPr lang="en-US" altLang="ko-KR" dirty="0"/>
              <a:t>. B-spline</a:t>
            </a:r>
            <a:r>
              <a:rPr lang="ko-KR" altLang="en-US" dirty="0"/>
              <a:t>으로 곡선을 </a:t>
            </a:r>
            <a:r>
              <a:rPr lang="ko-KR" altLang="en-US" dirty="0" err="1"/>
              <a:t>스무딩하고</a:t>
            </a:r>
            <a:r>
              <a:rPr lang="en-US" altLang="ko-KR" dirty="0"/>
              <a:t>, Level FPCA</a:t>
            </a:r>
            <a:r>
              <a:rPr lang="ko-KR" altLang="en-US" dirty="0"/>
              <a:t>와 </a:t>
            </a:r>
            <a:r>
              <a:rPr lang="en-US" altLang="ko-KR" dirty="0"/>
              <a:t>Derivative FPCA</a:t>
            </a:r>
            <a:r>
              <a:rPr lang="ko-KR" altLang="en-US" dirty="0"/>
              <a:t>를 각각 돌린 다음</a:t>
            </a:r>
            <a:r>
              <a:rPr lang="en-US" altLang="ko-KR" dirty="0"/>
              <a:t>,pointwise FDR </a:t>
            </a:r>
            <a:r>
              <a:rPr lang="ko-KR" altLang="en-US" dirty="0"/>
              <a:t>검정으로 정확히 어디서 차이가 나는지 짚었습니다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7CB84C-742D-30F1-6204-EE8535CB5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313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81F4-7263-FCB3-A613-1137BBA3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9EB306-3AE8-819B-2B21-0D0DEB1A5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21F2E4-DEE0-E914-AB57-9F9D9F7A2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방금 </a:t>
            </a:r>
            <a:r>
              <a:rPr lang="en-US" altLang="ko-KR" dirty="0"/>
              <a:t>Level FPCA</a:t>
            </a:r>
            <a:r>
              <a:rPr lang="ko-KR" altLang="en-US" dirty="0"/>
              <a:t>와 </a:t>
            </a:r>
            <a:r>
              <a:rPr lang="en-US" altLang="ko-KR" dirty="0"/>
              <a:t>Derivative FPCA</a:t>
            </a:r>
            <a:r>
              <a:rPr lang="ko-KR" altLang="en-US" dirty="0"/>
              <a:t>를 각각 돌린다고 말씀드렸는데</a:t>
            </a:r>
            <a:r>
              <a:rPr lang="en-US" altLang="ko-KR" dirty="0"/>
              <a:t>, </a:t>
            </a:r>
            <a:r>
              <a:rPr lang="ko-KR" altLang="en-US" dirty="0"/>
              <a:t>이 둘이 정확히 뭘 다르게 보는지 짚고 넘어가겠습니다</a:t>
            </a:r>
            <a:r>
              <a:rPr lang="en-US" altLang="ko-KR" dirty="0"/>
              <a:t>. Level FPCA</a:t>
            </a:r>
            <a:r>
              <a:rPr lang="ko-KR" altLang="en-US" dirty="0"/>
              <a:t>는 </a:t>
            </a:r>
            <a:r>
              <a:rPr lang="ko-KR" altLang="en-US" dirty="0" err="1"/>
              <a:t>스무딩된</a:t>
            </a:r>
            <a:r>
              <a:rPr lang="ko-KR" altLang="en-US" dirty="0"/>
              <a:t> </a:t>
            </a:r>
            <a:r>
              <a:rPr lang="ko-KR" altLang="en-US" dirty="0" err="1"/>
              <a:t>원곡선</a:t>
            </a:r>
            <a:r>
              <a:rPr lang="ko-KR" altLang="en-US" dirty="0"/>
              <a:t> </a:t>
            </a:r>
            <a:r>
              <a:rPr lang="en-US" altLang="ko-KR" dirty="0"/>
              <a:t>f(x) </a:t>
            </a:r>
            <a:r>
              <a:rPr lang="ko-KR" altLang="en-US" dirty="0"/>
              <a:t>자체에 </a:t>
            </a:r>
            <a:r>
              <a:rPr lang="en-US" altLang="ko-KR" dirty="0"/>
              <a:t>PCA</a:t>
            </a:r>
            <a:r>
              <a:rPr lang="ko-KR" altLang="en-US" dirty="0"/>
              <a:t>를 돌려서</a:t>
            </a:r>
            <a:r>
              <a:rPr lang="en-US" altLang="ko-KR" dirty="0"/>
              <a:t>, </a:t>
            </a:r>
            <a:r>
              <a:rPr lang="ko-KR" altLang="en-US" dirty="0"/>
              <a:t>곡선의 </a:t>
            </a:r>
            <a:r>
              <a:rPr lang="en-US" altLang="ko-KR" dirty="0"/>
              <a:t>"</a:t>
            </a:r>
            <a:r>
              <a:rPr lang="ko-KR" altLang="en-US" dirty="0"/>
              <a:t>높이</a:t>
            </a:r>
            <a:r>
              <a:rPr lang="en-US" altLang="ko-KR" dirty="0"/>
              <a:t>" — </a:t>
            </a:r>
            <a:r>
              <a:rPr lang="ko-KR" altLang="en-US" dirty="0"/>
              <a:t>전체적으로 위</a:t>
            </a:r>
            <a:r>
              <a:rPr lang="en-US" altLang="ko-KR" dirty="0"/>
              <a:t>/</a:t>
            </a:r>
            <a:r>
              <a:rPr lang="ko-KR" altLang="en-US" dirty="0"/>
              <a:t>아래로 얼마나 이동했는가를 잡아냅니다</a:t>
            </a:r>
            <a:r>
              <a:rPr lang="en-US" altLang="ko-KR" dirty="0"/>
              <a:t>. Derivative FPCA</a:t>
            </a:r>
            <a:r>
              <a:rPr lang="ko-KR" altLang="en-US" dirty="0"/>
              <a:t>는 원곡선의 </a:t>
            </a:r>
            <a:r>
              <a:rPr lang="en-US" altLang="ko-KR" dirty="0"/>
              <a:t>1</a:t>
            </a:r>
            <a:r>
              <a:rPr lang="ko-KR" altLang="en-US" dirty="0"/>
              <a:t>차 도함수 </a:t>
            </a:r>
            <a:r>
              <a:rPr lang="en-US" altLang="ko-KR" dirty="0"/>
              <a:t>f'(x), </a:t>
            </a:r>
            <a:r>
              <a:rPr lang="ko-KR" altLang="en-US" dirty="0"/>
              <a:t>그러니까 기울기 곡선에 </a:t>
            </a:r>
            <a:r>
              <a:rPr lang="en-US" altLang="ko-KR" dirty="0"/>
              <a:t>PCA</a:t>
            </a:r>
            <a:r>
              <a:rPr lang="ko-KR" altLang="en-US" dirty="0"/>
              <a:t>를 돌려서</a:t>
            </a:r>
            <a:r>
              <a:rPr lang="en-US" altLang="ko-KR" dirty="0"/>
              <a:t>, </a:t>
            </a:r>
            <a:r>
              <a:rPr lang="ko-KR" altLang="en-US" dirty="0"/>
              <a:t>곡선의</a:t>
            </a:r>
            <a:r>
              <a:rPr lang="en-US" altLang="ko-KR" dirty="0"/>
              <a:t>"</a:t>
            </a:r>
            <a:r>
              <a:rPr lang="ko-KR" altLang="en-US" dirty="0"/>
              <a:t>모양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변화율</a:t>
            </a:r>
            <a:r>
              <a:rPr lang="en-US" altLang="ko-KR" dirty="0"/>
              <a:t>" — </a:t>
            </a:r>
            <a:r>
              <a:rPr lang="ko-KR" altLang="en-US" dirty="0"/>
              <a:t>어디서 얼마나 빠르게 오르내리는가를 잡아냅니다</a:t>
            </a:r>
            <a:r>
              <a:rPr lang="en-US" altLang="ko-KR" dirty="0"/>
              <a:t>. </a:t>
            </a:r>
            <a:r>
              <a:rPr lang="ko-KR" altLang="en-US" dirty="0"/>
              <a:t>이 둘이 갈리는 이유는 미분의 성질 때문인데요</a:t>
            </a:r>
            <a:r>
              <a:rPr lang="en-US" altLang="ko-KR" dirty="0"/>
              <a:t>, </a:t>
            </a:r>
            <a:r>
              <a:rPr lang="ko-KR" altLang="en-US" dirty="0"/>
              <a:t>어떤 곡선에 상수를 더해도 도함수는 그대로입니다</a:t>
            </a:r>
            <a:r>
              <a:rPr lang="en-US" altLang="ko-KR" dirty="0"/>
              <a:t>(f(x)+c</a:t>
            </a:r>
            <a:r>
              <a:rPr lang="ko-KR" altLang="en-US" dirty="0"/>
              <a:t>의 도함수는 </a:t>
            </a:r>
            <a:r>
              <a:rPr lang="en-US" altLang="ko-KR" dirty="0"/>
              <a:t>f'(x)). </a:t>
            </a:r>
            <a:r>
              <a:rPr lang="ko-KR" altLang="en-US" dirty="0"/>
              <a:t>즉 미분을 취하는 순간 곡선의 </a:t>
            </a:r>
            <a:r>
              <a:rPr lang="en-US" altLang="ko-KR" dirty="0"/>
              <a:t>"</a:t>
            </a:r>
            <a:r>
              <a:rPr lang="ko-KR" altLang="en-US" dirty="0"/>
              <a:t>전체 레벨</a:t>
            </a:r>
            <a:r>
              <a:rPr lang="en-US" altLang="ko-KR" dirty="0"/>
              <a:t>(offset)" </a:t>
            </a:r>
            <a:r>
              <a:rPr lang="ko-KR" altLang="en-US" dirty="0"/>
              <a:t>정보는 수학적으로 사라지고</a:t>
            </a:r>
            <a:r>
              <a:rPr lang="en-US" altLang="ko-KR" dirty="0"/>
              <a:t>, </a:t>
            </a:r>
            <a:r>
              <a:rPr lang="ko-KR" altLang="en-US" dirty="0"/>
              <a:t>순수하게 변화 패턴만 남습니다</a:t>
            </a:r>
            <a:r>
              <a:rPr lang="en-US" altLang="ko-KR" dirty="0"/>
              <a:t>. </a:t>
            </a:r>
            <a:r>
              <a:rPr lang="ko-KR" altLang="en-US" dirty="0"/>
              <a:t>비유하자면</a:t>
            </a:r>
            <a:r>
              <a:rPr lang="en-US" altLang="ko-KR" dirty="0"/>
              <a:t>, Level</a:t>
            </a:r>
            <a:r>
              <a:rPr lang="ko-KR" altLang="en-US" dirty="0"/>
              <a:t>은 </a:t>
            </a:r>
            <a:r>
              <a:rPr lang="en-US" altLang="ko-KR" dirty="0"/>
              <a:t>"</a:t>
            </a:r>
            <a:r>
              <a:rPr lang="ko-KR" altLang="en-US" dirty="0"/>
              <a:t>두 사람의 키가 다르다</a:t>
            </a:r>
            <a:r>
              <a:rPr lang="en-US" altLang="ko-KR" dirty="0"/>
              <a:t>"</a:t>
            </a:r>
            <a:r>
              <a:rPr lang="ko-KR" altLang="en-US" dirty="0"/>
              <a:t>이고 </a:t>
            </a:r>
            <a:r>
              <a:rPr lang="en-US" altLang="ko-KR" dirty="0"/>
              <a:t>Derivative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키는 비슷해도 성장곡선이 사춘기 어느 시점에 더 가파르게 꺾이는지가 다르다</a:t>
            </a:r>
            <a:r>
              <a:rPr lang="en-US" altLang="ko-KR" dirty="0"/>
              <a:t>"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후자는 절대적인 키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) </a:t>
            </a:r>
            <a:r>
              <a:rPr lang="ko-KR" altLang="en-US" dirty="0"/>
              <a:t>정보를 지운 뒤에만 보이는 패턴입니다</a:t>
            </a:r>
            <a:r>
              <a:rPr lang="en-US" altLang="ko-KR" dirty="0"/>
              <a:t>. </a:t>
            </a:r>
            <a:r>
              <a:rPr lang="ko-KR" altLang="en-US" dirty="0"/>
              <a:t>실제로 이 데이터에서 </a:t>
            </a:r>
            <a:r>
              <a:rPr lang="en-US" altLang="ko-KR" dirty="0"/>
              <a:t>Level FPCA</a:t>
            </a:r>
            <a:r>
              <a:rPr lang="ko-KR" altLang="en-US" dirty="0"/>
              <a:t>는 </a:t>
            </a:r>
            <a:r>
              <a:rPr lang="en-US" altLang="ko-KR" dirty="0"/>
              <a:t>PC1 </a:t>
            </a:r>
            <a:r>
              <a:rPr lang="ko-KR" altLang="en-US" dirty="0"/>
              <a:t>하나가 분산의</a:t>
            </a:r>
            <a:r>
              <a:rPr lang="en-US" altLang="ko-KR" dirty="0"/>
              <a:t>88.5%(</a:t>
            </a:r>
            <a:r>
              <a:rPr lang="ko-KR" altLang="en-US" dirty="0"/>
              <a:t>남</a:t>
            </a:r>
            <a:r>
              <a:rPr lang="en-US" altLang="ko-KR" dirty="0"/>
              <a:t>)/85.3%(</a:t>
            </a:r>
            <a:r>
              <a:rPr lang="ko-KR" altLang="en-US" dirty="0"/>
              <a:t>여</a:t>
            </a:r>
            <a:r>
              <a:rPr lang="en-US" altLang="ko-KR" dirty="0"/>
              <a:t>)</a:t>
            </a:r>
            <a:r>
              <a:rPr lang="ko-KR" altLang="en-US" dirty="0"/>
              <a:t>를 설명할 정도로 </a:t>
            </a:r>
            <a:r>
              <a:rPr lang="en-US" altLang="ko-KR" dirty="0"/>
              <a:t>"</a:t>
            </a:r>
            <a:r>
              <a:rPr lang="ko-KR" altLang="en-US" dirty="0"/>
              <a:t>높다</a:t>
            </a:r>
            <a:r>
              <a:rPr lang="en-US" altLang="ko-KR" dirty="0"/>
              <a:t>/</a:t>
            </a:r>
            <a:r>
              <a:rPr lang="ko-KR" altLang="en-US" dirty="0"/>
              <a:t>낮다</a:t>
            </a:r>
            <a:r>
              <a:rPr lang="en-US" altLang="ko-KR" dirty="0"/>
              <a:t>" </a:t>
            </a:r>
            <a:r>
              <a:rPr lang="ko-KR" altLang="en-US" dirty="0"/>
              <a:t>축에 압도적으로 지배됐고</a:t>
            </a:r>
            <a:r>
              <a:rPr lang="en-US" altLang="ko-KR" dirty="0"/>
              <a:t>, Derivative FPCA</a:t>
            </a:r>
            <a:r>
              <a:rPr lang="ko-KR" altLang="en-US" dirty="0"/>
              <a:t>는 그와는 별도로 유의한 변동 축이 존재했습니다</a:t>
            </a:r>
            <a:r>
              <a:rPr lang="en-US" altLang="ko-KR" dirty="0"/>
              <a:t>(permutation p=0.0025/0.034).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이 구분이 나중에 결론과 어떻게 연결되나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매우 중요하게 연결됩니다 </a:t>
            </a:r>
            <a:r>
              <a:rPr lang="en-US" altLang="ko-KR" dirty="0"/>
              <a:t>— Propensity Matching </a:t>
            </a:r>
            <a:r>
              <a:rPr lang="ko-KR" altLang="en-US" dirty="0"/>
              <a:t>결과</a:t>
            </a:r>
            <a:r>
              <a:rPr lang="en-US" altLang="ko-KR" dirty="0"/>
              <a:t>(</a:t>
            </a:r>
            <a:r>
              <a:rPr lang="ko-KR" altLang="en-US" dirty="0"/>
              <a:t>슬라이드 </a:t>
            </a:r>
            <a:r>
              <a:rPr lang="en-US" altLang="ko-KR" dirty="0"/>
              <a:t>15~17)</a:t>
            </a:r>
            <a:r>
              <a:rPr lang="ko-KR" altLang="en-US" dirty="0"/>
              <a:t>에서</a:t>
            </a:r>
            <a:r>
              <a:rPr lang="en-US" altLang="ko-KR" dirty="0"/>
              <a:t>, Level</a:t>
            </a:r>
            <a:r>
              <a:rPr lang="ko-KR" altLang="en-US" dirty="0"/>
              <a:t>신호</a:t>
            </a:r>
            <a:r>
              <a:rPr lang="en-US" altLang="ko-KR" dirty="0"/>
              <a:t>(</a:t>
            </a:r>
            <a:r>
              <a:rPr lang="en-US" altLang="ko-KR" dirty="0" err="1"/>
              <a:t>mean_mA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confounding</a:t>
            </a:r>
            <a:r>
              <a:rPr lang="ko-KR" altLang="en-US" dirty="0"/>
              <a:t>으로 거의 완전히 설명된 반면</a:t>
            </a:r>
            <a:r>
              <a:rPr lang="en-US" altLang="ko-KR" dirty="0"/>
              <a:t>, Derivative </a:t>
            </a:r>
            <a:r>
              <a:rPr lang="ko-KR" altLang="en-US" dirty="0"/>
              <a:t>기반 </a:t>
            </a:r>
            <a:r>
              <a:rPr lang="en-US" altLang="ko-KR" dirty="0"/>
              <a:t>4</a:t>
            </a:r>
            <a:r>
              <a:rPr lang="ko-KR" altLang="en-US" dirty="0"/>
              <a:t>개구간은 방향은 유지되면서 크기만 줄었습니다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confounding</a:t>
            </a:r>
            <a:r>
              <a:rPr lang="ko-KR" altLang="en-US" dirty="0"/>
              <a:t>에 더 취약했던 건</a:t>
            </a:r>
            <a:r>
              <a:rPr lang="en-US" altLang="ko-KR" dirty="0"/>
              <a:t>"</a:t>
            </a:r>
            <a:r>
              <a:rPr lang="ko-KR" altLang="en-US" dirty="0"/>
              <a:t>레벨</a:t>
            </a:r>
            <a:r>
              <a:rPr lang="en-US" altLang="ko-KR" dirty="0"/>
              <a:t>" </a:t>
            </a:r>
            <a:r>
              <a:rPr lang="ko-KR" altLang="en-US" dirty="0"/>
              <a:t>정보였고</a:t>
            </a:r>
            <a:r>
              <a:rPr lang="en-US" altLang="ko-KR" dirty="0"/>
              <a:t>, </a:t>
            </a:r>
            <a:r>
              <a:rPr lang="ko-KR" altLang="en-US" dirty="0"/>
              <a:t>이는 체격</a:t>
            </a:r>
            <a:r>
              <a:rPr lang="en-US" altLang="ko-KR" dirty="0"/>
              <a:t>(Weight)</a:t>
            </a:r>
            <a:r>
              <a:rPr lang="ko-KR" altLang="en-US" dirty="0"/>
              <a:t>이 곡선의 절대 높이에 직접 영향을 </a:t>
            </a:r>
            <a:r>
              <a:rPr lang="ko-KR" altLang="en-US" dirty="0" err="1"/>
              <a:t>준다는물리적</a:t>
            </a:r>
            <a:r>
              <a:rPr lang="ko-KR" altLang="en-US" dirty="0"/>
              <a:t> 설명</a:t>
            </a:r>
            <a:r>
              <a:rPr lang="en-US" altLang="ko-KR" dirty="0"/>
              <a:t>(</a:t>
            </a:r>
            <a:r>
              <a:rPr lang="ko-KR" altLang="en-US" dirty="0"/>
              <a:t>더 큰 몸 → 더 많은 감쇠 → </a:t>
            </a:r>
            <a:r>
              <a:rPr lang="en-US" altLang="ko-KR" dirty="0"/>
              <a:t>tube current </a:t>
            </a:r>
            <a:r>
              <a:rPr lang="ko-KR" altLang="en-US" dirty="0"/>
              <a:t>자동 상승</a:t>
            </a:r>
            <a:r>
              <a:rPr lang="en-US" altLang="ko-KR" dirty="0"/>
              <a:t>)</a:t>
            </a:r>
            <a:r>
              <a:rPr lang="ko-KR" altLang="en-US" dirty="0"/>
              <a:t>과 일치합니다</a:t>
            </a:r>
            <a:r>
              <a:rPr lang="en-US" altLang="ko-KR" dirty="0"/>
              <a:t>. </a:t>
            </a:r>
            <a:r>
              <a:rPr lang="ko-KR" altLang="en-US" dirty="0"/>
              <a:t>이구분을 미리 이해하고 있어야 슬라이드 </a:t>
            </a:r>
            <a:r>
              <a:rPr lang="en-US" altLang="ko-KR" dirty="0"/>
              <a:t>15~17</a:t>
            </a:r>
            <a:r>
              <a:rPr lang="ko-KR" altLang="en-US" dirty="0"/>
              <a:t>의 </a:t>
            </a:r>
            <a:r>
              <a:rPr lang="en-US" altLang="ko-KR" dirty="0"/>
              <a:t>"</a:t>
            </a:r>
            <a:r>
              <a:rPr lang="ko-KR" altLang="en-US" dirty="0"/>
              <a:t>방향은 유지</a:t>
            </a:r>
            <a:r>
              <a:rPr lang="en-US" altLang="ko-KR" dirty="0"/>
              <a:t>, </a:t>
            </a:r>
            <a:r>
              <a:rPr lang="ko-KR" altLang="en-US" dirty="0"/>
              <a:t>크기만 축소</a:t>
            </a:r>
            <a:r>
              <a:rPr lang="en-US" altLang="ko-KR" dirty="0"/>
              <a:t>"</a:t>
            </a:r>
            <a:r>
              <a:rPr lang="ko-KR" altLang="en-US" dirty="0" err="1"/>
              <a:t>라는결과가</a:t>
            </a:r>
            <a:r>
              <a:rPr lang="ko-KR" altLang="en-US" dirty="0"/>
              <a:t> 왜 </a:t>
            </a:r>
            <a:r>
              <a:rPr lang="en-US" altLang="ko-KR" dirty="0"/>
              <a:t>Level(</a:t>
            </a:r>
            <a:r>
              <a:rPr lang="en-US" altLang="ko-KR" dirty="0" err="1"/>
              <a:t>mean_mA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Derivative(</a:t>
            </a:r>
            <a:r>
              <a:rPr lang="ko-KR" altLang="en-US" dirty="0"/>
              <a:t>구간별 </a:t>
            </a:r>
            <a:r>
              <a:rPr lang="en-US" altLang="ko-KR" dirty="0"/>
              <a:t>slope)</a:t>
            </a:r>
            <a:r>
              <a:rPr lang="ko-KR" altLang="en-US" dirty="0"/>
              <a:t>에서 다르게 </a:t>
            </a:r>
            <a:r>
              <a:rPr lang="ko-KR" altLang="en-US" dirty="0" err="1"/>
              <a:t>나타났는지자연스럽게</a:t>
            </a:r>
            <a:r>
              <a:rPr lang="ko-KR" altLang="en-US" dirty="0"/>
              <a:t> 이해됩니다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90DDF-0C80-1923-040A-DA546964F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4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7240-5B55-2AFC-6041-A2A0DDB0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51820-0F73-49EC-1E79-9E39BE4D3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F92FA-2463-9A05-6815-14C39B243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Level FPCA </a:t>
            </a:r>
            <a:r>
              <a:rPr lang="ko-KR" altLang="en-US" dirty="0"/>
              <a:t>결과</a:t>
            </a:r>
            <a:r>
              <a:rPr lang="en-US" altLang="ko-KR" dirty="0"/>
              <a:t>, PC1 </a:t>
            </a:r>
            <a:r>
              <a:rPr lang="ko-KR" altLang="en-US" dirty="0"/>
              <a:t>하나가 남성은 </a:t>
            </a:r>
            <a:r>
              <a:rPr lang="en-US" altLang="ko-KR" dirty="0"/>
              <a:t>88.5%, </a:t>
            </a:r>
            <a:r>
              <a:rPr lang="ko-KR" altLang="en-US" dirty="0"/>
              <a:t>여성은 </a:t>
            </a:r>
            <a:r>
              <a:rPr lang="en-US" altLang="ko-KR" dirty="0"/>
              <a:t>85.3%</a:t>
            </a:r>
            <a:r>
              <a:rPr lang="ko-KR" altLang="en-US" dirty="0"/>
              <a:t>의 분산을 설명합니다</a:t>
            </a:r>
            <a:r>
              <a:rPr lang="en-US" altLang="ko-KR" dirty="0"/>
              <a:t>. </a:t>
            </a:r>
            <a:r>
              <a:rPr lang="ko-KR" altLang="en-US" dirty="0"/>
              <a:t>즉 곡선변동의 대부분이 </a:t>
            </a:r>
            <a:r>
              <a:rPr lang="en-US" altLang="ko-KR" dirty="0"/>
              <a:t>"</a:t>
            </a:r>
            <a:r>
              <a:rPr lang="ko-KR" altLang="en-US" dirty="0"/>
              <a:t>전체적으로 높다</a:t>
            </a:r>
            <a:r>
              <a:rPr lang="en-US" altLang="ko-KR" dirty="0"/>
              <a:t>/</a:t>
            </a:r>
            <a:r>
              <a:rPr lang="ko-KR" altLang="en-US" dirty="0"/>
              <a:t>낮다</a:t>
            </a:r>
            <a:r>
              <a:rPr lang="en-US" altLang="ko-KR" dirty="0"/>
              <a:t>"</a:t>
            </a:r>
            <a:r>
              <a:rPr lang="ko-KR" altLang="en-US" dirty="0"/>
              <a:t>는 하나의 축에 몰려 있다는 뜻입니다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PC1</a:t>
            </a:r>
            <a:r>
              <a:rPr lang="ko-KR" altLang="en-US" dirty="0"/>
              <a:t>점수에 대한 </a:t>
            </a:r>
            <a:r>
              <a:rPr lang="en-US" altLang="ko-KR" dirty="0"/>
              <a:t>permutation </a:t>
            </a:r>
            <a:r>
              <a:rPr lang="ko-KR" altLang="en-US" dirty="0"/>
              <a:t>검정에서 남성 </a:t>
            </a:r>
            <a:r>
              <a:rPr lang="en-US" altLang="ko-KR" dirty="0"/>
              <a:t>p=0.0025, </a:t>
            </a:r>
            <a:r>
              <a:rPr lang="ko-KR" altLang="en-US" dirty="0"/>
              <a:t>여성 </a:t>
            </a:r>
            <a:r>
              <a:rPr lang="en-US" altLang="ko-KR" dirty="0"/>
              <a:t>p=0.0005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곡선 높이 자체가 그룹 간 유의하게 다릅니다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"PCA</a:t>
            </a:r>
            <a:r>
              <a:rPr lang="ko-KR" altLang="en-US" dirty="0"/>
              <a:t>인데 왜 </a:t>
            </a:r>
            <a:r>
              <a:rPr lang="en-US" altLang="ko-KR" dirty="0"/>
              <a:t>permutation test</a:t>
            </a:r>
            <a:r>
              <a:rPr lang="ko-KR" altLang="en-US" dirty="0"/>
              <a:t>를 쓰나</a:t>
            </a:r>
            <a:r>
              <a:rPr lang="en-US" altLang="ko-KR" dirty="0"/>
              <a:t>? </a:t>
            </a:r>
            <a:r>
              <a:rPr lang="ko-KR" altLang="en-US" dirty="0"/>
              <a:t>그냥 </a:t>
            </a:r>
            <a:r>
              <a:rPr lang="en-US" altLang="ko-KR" dirty="0"/>
              <a:t>t-test </a:t>
            </a:r>
            <a:r>
              <a:rPr lang="ko-KR" altLang="en-US" dirty="0"/>
              <a:t>하면 안 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FPCA </a:t>
            </a:r>
            <a:r>
              <a:rPr lang="ko-KR" altLang="en-US" dirty="0"/>
              <a:t>점수는 정규성을 보장하기 어렵고</a:t>
            </a:r>
            <a:r>
              <a:rPr lang="en-US" altLang="ko-KR" dirty="0"/>
              <a:t>, </a:t>
            </a:r>
            <a:r>
              <a:rPr lang="ko-KR" altLang="en-US" dirty="0" err="1"/>
              <a:t>다변량</a:t>
            </a:r>
            <a:r>
              <a:rPr lang="en-US" altLang="ko-KR" dirty="0"/>
              <a:t>(PC1~PC4) </a:t>
            </a:r>
            <a:r>
              <a:rPr lang="ko-KR" altLang="en-US" dirty="0"/>
              <a:t>구조를 동시에 </a:t>
            </a:r>
            <a:r>
              <a:rPr lang="ko-KR" altLang="en-US" dirty="0" err="1"/>
              <a:t>검정하고싶었기</a:t>
            </a:r>
            <a:r>
              <a:rPr lang="ko-KR" altLang="en-US" dirty="0"/>
              <a:t> 때문에 분포 가정이 필요 없는 </a:t>
            </a:r>
            <a:r>
              <a:rPr lang="en-US" altLang="ko-KR" dirty="0"/>
              <a:t>permutation </a:t>
            </a:r>
            <a:r>
              <a:rPr lang="ko-KR" altLang="en-US" dirty="0"/>
              <a:t>기반 </a:t>
            </a:r>
            <a:r>
              <a:rPr lang="ko-KR" altLang="en-US" dirty="0" err="1"/>
              <a:t>다변량</a:t>
            </a:r>
            <a:r>
              <a:rPr lang="ko-KR" altLang="en-US" dirty="0"/>
              <a:t> </a:t>
            </a:r>
            <a:r>
              <a:rPr lang="en-US" altLang="ko-KR" dirty="0"/>
              <a:t>group test</a:t>
            </a:r>
            <a:r>
              <a:rPr lang="ko-KR" altLang="en-US" dirty="0"/>
              <a:t>를 썼습니다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E78C0-853D-4ACF-1D57-DA51AB44E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6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CD24-A212-DFD2-4658-8DEC1905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695082-35DF-A7A1-72BC-97D14DAC2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98F72D-8A31-3EB0-42E8-5B906DA1E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좀 더 임상적으로 해석하기 쉬운 요약지표도 봤습니다</a:t>
            </a:r>
            <a:r>
              <a:rPr lang="en-US" altLang="ko-KR" dirty="0"/>
              <a:t>. </a:t>
            </a:r>
            <a:r>
              <a:rPr lang="ko-KR" altLang="en-US" dirty="0"/>
              <a:t>곡선 전체의 평균값인 </a:t>
            </a:r>
            <a:r>
              <a:rPr lang="en-US" altLang="ko-KR" dirty="0" err="1"/>
              <a:t>mean_mA</a:t>
            </a:r>
            <a:r>
              <a:rPr lang="ko-KR" altLang="en-US" dirty="0"/>
              <a:t>와 </a:t>
            </a:r>
            <a:r>
              <a:rPr lang="en-US" altLang="ko-KR" dirty="0"/>
              <a:t>AUC</a:t>
            </a:r>
            <a:r>
              <a:rPr lang="ko-KR" altLang="en-US" dirty="0"/>
              <a:t>가 남녀 모두 강하게 유의했습니다</a:t>
            </a:r>
            <a:r>
              <a:rPr lang="en-US" altLang="ko-KR" dirty="0"/>
              <a:t>(FDR p&lt;0.001, Cohen's d 0.34~0.47). </a:t>
            </a:r>
            <a:r>
              <a:rPr lang="ko-KR" altLang="en-US" dirty="0"/>
              <a:t>저</a:t>
            </a:r>
            <a:r>
              <a:rPr lang="en-US" altLang="ko-KR" dirty="0"/>
              <a:t>SMI </a:t>
            </a:r>
            <a:r>
              <a:rPr lang="ko-KR" altLang="en-US" dirty="0"/>
              <a:t>환자일수록 평균 관전류가 낮다는 건데</a:t>
            </a:r>
            <a:r>
              <a:rPr lang="en-US" altLang="ko-KR" dirty="0"/>
              <a:t>, </a:t>
            </a:r>
            <a:r>
              <a:rPr lang="ko-KR" altLang="en-US" dirty="0"/>
              <a:t>이건 체격이 작을수록 </a:t>
            </a:r>
            <a:r>
              <a:rPr lang="en-US" altLang="ko-KR" dirty="0"/>
              <a:t>X-ray </a:t>
            </a:r>
            <a:r>
              <a:rPr lang="ko-KR" altLang="en-US" dirty="0"/>
              <a:t>감쇠가 적어서 </a:t>
            </a:r>
            <a:r>
              <a:rPr lang="en-US" altLang="ko-KR" dirty="0"/>
              <a:t>AEC</a:t>
            </a:r>
            <a:r>
              <a:rPr lang="ko-KR" altLang="en-US" dirty="0"/>
              <a:t>가 자동으로 전류를 낮춘다는 물리적 설명이 가능한</a:t>
            </a:r>
            <a:r>
              <a:rPr lang="en-US" altLang="ko-KR" dirty="0"/>
              <a:t>, </a:t>
            </a:r>
            <a:r>
              <a:rPr lang="ko-KR" altLang="en-US" dirty="0"/>
              <a:t>가장 강하고 해석하기 쉬운 신호입니다</a:t>
            </a:r>
            <a:r>
              <a:rPr lang="en-US" altLang="ko-KR" dirty="0"/>
              <a:t>. </a:t>
            </a:r>
            <a:r>
              <a:rPr lang="ko-KR" altLang="en-US" dirty="0"/>
              <a:t>그런데이 신호가 나중에 저희가 </a:t>
            </a:r>
            <a:r>
              <a:rPr lang="en-US" altLang="ko-KR" dirty="0"/>
              <a:t>confounding </a:t>
            </a:r>
            <a:r>
              <a:rPr lang="ko-KR" altLang="en-US" dirty="0"/>
              <a:t>검증에서 정면으로 다루는 대상이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"d=0.34~0.47</a:t>
            </a:r>
            <a:r>
              <a:rPr lang="ko-KR" altLang="en-US" dirty="0"/>
              <a:t>이면 효과크기가 그렇게 크지 않은 것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, small-to-medium </a:t>
            </a:r>
            <a:r>
              <a:rPr lang="ko-KR" altLang="en-US" dirty="0"/>
              <a:t>수준입니다</a:t>
            </a:r>
            <a:r>
              <a:rPr lang="en-US" altLang="ko-KR" dirty="0"/>
              <a:t>. </a:t>
            </a:r>
            <a:r>
              <a:rPr lang="ko-KR" altLang="en-US" dirty="0"/>
              <a:t>그런데 통계적으로는 매우 유의</a:t>
            </a:r>
            <a:r>
              <a:rPr lang="en-US" altLang="ko-KR" dirty="0"/>
              <a:t>(p&lt;0.001)</a:t>
            </a:r>
            <a:r>
              <a:rPr lang="ko-KR" altLang="en-US" dirty="0"/>
              <a:t>했고</a:t>
            </a:r>
            <a:r>
              <a:rPr lang="en-US" altLang="ko-KR" dirty="0"/>
              <a:t>,</a:t>
            </a:r>
            <a:r>
              <a:rPr lang="ko-KR" altLang="en-US" dirty="0"/>
              <a:t>나중에 </a:t>
            </a:r>
            <a:r>
              <a:rPr lang="en-US" altLang="ko-KR" dirty="0"/>
              <a:t>propensity matching</a:t>
            </a:r>
            <a:r>
              <a:rPr lang="ko-KR" altLang="en-US" dirty="0"/>
              <a:t>에서 이 효과크기가 </a:t>
            </a:r>
            <a:r>
              <a:rPr lang="en-US" altLang="ko-KR" dirty="0"/>
              <a:t>confounding </a:t>
            </a:r>
            <a:r>
              <a:rPr lang="ko-KR" altLang="en-US" dirty="0"/>
              <a:t>통제 후 </a:t>
            </a:r>
            <a:r>
              <a:rPr lang="en-US" altLang="ko-KR" dirty="0"/>
              <a:t>d≈0.1 </a:t>
            </a:r>
            <a:r>
              <a:rPr lang="ko-KR" altLang="en-US" dirty="0"/>
              <a:t>수준까지 줄어드는 걸 보여드릴 텐데</a:t>
            </a:r>
            <a:r>
              <a:rPr lang="en-US" altLang="ko-KR" dirty="0"/>
              <a:t>, </a:t>
            </a:r>
            <a:r>
              <a:rPr lang="ko-KR" altLang="en-US" dirty="0"/>
              <a:t>그 대조가 이 슬라이드의 핵심 포석입니다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2784B7-B6B4-D30A-B9EE-265A14211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61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902C-6CA5-F0E8-D62C-D4853F28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C529BF-3AB9-7A05-E5F4-5A563BAF4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46BA4B-F0E4-62A2-EB20-5C9C593EF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도함수 곡선을 </a:t>
            </a:r>
            <a:r>
              <a:rPr lang="en-US" altLang="ko-KR" dirty="0"/>
              <a:t>128</a:t>
            </a:r>
            <a:r>
              <a:rPr lang="ko-KR" altLang="en-US" dirty="0"/>
              <a:t>개 위치별로 </a:t>
            </a:r>
            <a:r>
              <a:rPr lang="en-US" altLang="ko-KR" dirty="0"/>
              <a:t>Mann-Whitney U </a:t>
            </a:r>
            <a:r>
              <a:rPr lang="ko-KR" altLang="en-US" dirty="0"/>
              <a:t>검정하고 </a:t>
            </a:r>
            <a:r>
              <a:rPr lang="en-US" altLang="ko-KR" dirty="0"/>
              <a:t>Benjamini-Hochberg FDR</a:t>
            </a:r>
            <a:r>
              <a:rPr lang="ko-KR" altLang="en-US" dirty="0"/>
              <a:t>로 보정했습니다</a:t>
            </a:r>
            <a:r>
              <a:rPr lang="en-US" altLang="ko-KR" dirty="0"/>
              <a:t>. </a:t>
            </a:r>
            <a:r>
              <a:rPr lang="ko-KR" altLang="en-US" dirty="0"/>
              <a:t>그 결과 남성에서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여성에서 </a:t>
            </a:r>
            <a:r>
              <a:rPr lang="en-US" altLang="ko-KR" dirty="0"/>
              <a:t>1</a:t>
            </a:r>
            <a:r>
              <a:rPr lang="ko-KR" altLang="en-US" dirty="0"/>
              <a:t>개 구간이 유의했습니다</a:t>
            </a:r>
            <a:r>
              <a:rPr lang="en-US" altLang="ko-KR" dirty="0"/>
              <a:t>. </a:t>
            </a:r>
            <a:r>
              <a:rPr lang="ko-KR" altLang="en-US" dirty="0"/>
              <a:t>남성은 치골</a:t>
            </a:r>
            <a:r>
              <a:rPr lang="en-US" altLang="ko-KR" dirty="0"/>
              <a:t>-</a:t>
            </a:r>
            <a:r>
              <a:rPr lang="ko-KR" altLang="en-US" dirty="0"/>
              <a:t>간 상대위치로 </a:t>
            </a:r>
            <a:r>
              <a:rPr lang="en-US" altLang="ko-KR" dirty="0"/>
              <a:t>48~55%, 80~88%, 94~97% </a:t>
            </a:r>
            <a:r>
              <a:rPr lang="ko-KR" altLang="en-US" dirty="0"/>
              <a:t>구간이고</a:t>
            </a:r>
            <a:r>
              <a:rPr lang="en-US" altLang="ko-KR" dirty="0"/>
              <a:t>, </a:t>
            </a:r>
            <a:r>
              <a:rPr lang="ko-KR" altLang="en-US" dirty="0"/>
              <a:t>여성은 </a:t>
            </a:r>
            <a:r>
              <a:rPr lang="en-US" altLang="ko-KR" dirty="0"/>
              <a:t>81~90% </a:t>
            </a:r>
            <a:r>
              <a:rPr lang="ko-KR" altLang="en-US" dirty="0"/>
              <a:t>구간 하나입니다</a:t>
            </a:r>
            <a:r>
              <a:rPr lang="en-US" altLang="ko-KR" dirty="0"/>
              <a:t>. </a:t>
            </a:r>
            <a:r>
              <a:rPr lang="ko-KR" altLang="en-US" dirty="0"/>
              <a:t>흥미로운 건 남녀의 유의구간 위치 자체가 다르다는 점인데</a:t>
            </a:r>
            <a:r>
              <a:rPr lang="en-US" altLang="ko-KR" dirty="0"/>
              <a:t>, </a:t>
            </a:r>
            <a:r>
              <a:rPr lang="ko-KR" altLang="en-US" dirty="0"/>
              <a:t>이건 나중에 성별을 분리해서 분석해야 하는 이유가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"128</a:t>
            </a:r>
            <a:r>
              <a:rPr lang="ko-KR" altLang="en-US" dirty="0"/>
              <a:t>개 위치를 전부 검정하면 </a:t>
            </a:r>
            <a:r>
              <a:rPr lang="en-US" altLang="ko-KR" dirty="0"/>
              <a:t>fishing </a:t>
            </a:r>
            <a:r>
              <a:rPr lang="ko-KR" altLang="en-US" dirty="0"/>
              <a:t>아닌가</a:t>
            </a:r>
            <a:r>
              <a:rPr lang="en-US" altLang="ko-KR" dirty="0"/>
              <a:t>? </a:t>
            </a:r>
            <a:r>
              <a:rPr lang="ko-KR" altLang="en-US" dirty="0"/>
              <a:t>왜 </a:t>
            </a:r>
            <a:r>
              <a:rPr lang="en-US" altLang="ko-KR" dirty="0"/>
              <a:t>4</a:t>
            </a:r>
            <a:r>
              <a:rPr lang="ko-KR" altLang="en-US" dirty="0"/>
              <a:t>개 구간만 강조하나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en-US" altLang="ko-KR" dirty="0"/>
              <a:t>128</a:t>
            </a:r>
            <a:r>
              <a:rPr lang="ko-KR" altLang="en-US" dirty="0"/>
              <a:t>개 전체 위치에 대해 </a:t>
            </a:r>
            <a:r>
              <a:rPr lang="en-US" altLang="ko-KR" dirty="0"/>
              <a:t>FDR-BH </a:t>
            </a:r>
            <a:r>
              <a:rPr lang="ko-KR" altLang="en-US" dirty="0"/>
              <a:t>보정을 적용한 뒤 살아남은 구간만 보고한 것이라</a:t>
            </a:r>
            <a:r>
              <a:rPr lang="en-US" altLang="ko-KR" dirty="0"/>
              <a:t>,  </a:t>
            </a:r>
            <a:r>
              <a:rPr lang="ko-KR" altLang="en-US" dirty="0"/>
              <a:t>사후에 몇 개를 골라낸 게 아니라 검정 자체가 전체 그리드에 대해 이루어졌습니다</a:t>
            </a:r>
            <a:r>
              <a:rPr lang="en-US" altLang="ko-KR" dirty="0"/>
              <a:t>.  </a:t>
            </a:r>
            <a:r>
              <a:rPr lang="ko-KR" altLang="en-US" dirty="0"/>
              <a:t>다중비교 문제는 </a:t>
            </a:r>
            <a:r>
              <a:rPr lang="en-US" altLang="ko-KR" dirty="0"/>
              <a:t>FDR </a:t>
            </a:r>
            <a:r>
              <a:rPr lang="ko-KR" altLang="en-US" dirty="0"/>
              <a:t>보정으로 통제됩니다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전체 선형 </a:t>
            </a:r>
            <a:r>
              <a:rPr lang="en-US" altLang="ko-KR" dirty="0"/>
              <a:t>slope </a:t>
            </a:r>
            <a:r>
              <a:rPr lang="ko-KR" altLang="en-US" dirty="0"/>
              <a:t>같은 단순 지표는 유의했나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아니요</a:t>
            </a:r>
            <a:r>
              <a:rPr lang="en-US" altLang="ko-KR" dirty="0"/>
              <a:t>, </a:t>
            </a:r>
            <a:r>
              <a:rPr lang="ko-KR" altLang="en-US" dirty="0"/>
              <a:t>전체 선형회귀 </a:t>
            </a:r>
            <a:r>
              <a:rPr lang="en-US" altLang="ko-KR" dirty="0"/>
              <a:t>slope</a:t>
            </a:r>
            <a:r>
              <a:rPr lang="ko-KR" altLang="en-US" dirty="0"/>
              <a:t>나 평균</a:t>
            </a:r>
            <a:r>
              <a:rPr lang="en-US" altLang="ko-KR" dirty="0"/>
              <a:t>|</a:t>
            </a:r>
            <a:r>
              <a:rPr lang="ko-KR" altLang="en-US" dirty="0"/>
              <a:t>기울기</a:t>
            </a:r>
            <a:r>
              <a:rPr lang="en-US" altLang="ko-KR" dirty="0"/>
              <a:t>| </a:t>
            </a:r>
            <a:r>
              <a:rPr lang="ko-KR" altLang="en-US" dirty="0"/>
              <a:t>같은 단순 스칼라 지표는 전부 유의하지  않았습니다</a:t>
            </a:r>
            <a:r>
              <a:rPr lang="en-US" altLang="ko-KR" dirty="0"/>
              <a:t>. </a:t>
            </a:r>
            <a:r>
              <a:rPr lang="ko-KR" altLang="en-US" dirty="0"/>
              <a:t>즉 차이가 곡선 전체가 아니라 국소적으로 나타난다는 뜻이고</a:t>
            </a:r>
            <a:r>
              <a:rPr lang="en-US" altLang="ko-KR" dirty="0"/>
              <a:t>, </a:t>
            </a:r>
            <a:r>
              <a:rPr lang="ko-KR" altLang="en-US" dirty="0"/>
              <a:t>그래서  </a:t>
            </a:r>
            <a:r>
              <a:rPr lang="en-US" altLang="ko-KR" dirty="0"/>
              <a:t>pointwise </a:t>
            </a:r>
            <a:r>
              <a:rPr lang="ko-KR" altLang="en-US" dirty="0"/>
              <a:t>검정이 필요했습니다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C500C-58C3-B707-F6A3-397BDADD1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15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368-85B4-A80D-04F0-3DBBE6C7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B3E723-0B94-4B15-0410-8F7EC23D7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80735C-B563-8929-CEBF-E47B83B7F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 이 유의구간이 실제로 </a:t>
            </a:r>
            <a:r>
              <a:rPr lang="en-US" altLang="ko-KR" dirty="0"/>
              <a:t>SMI</a:t>
            </a:r>
            <a:r>
              <a:rPr lang="ko-KR" altLang="en-US" dirty="0"/>
              <a:t>를 측정하는 </a:t>
            </a:r>
            <a:r>
              <a:rPr lang="en-US" altLang="ko-KR" dirty="0"/>
              <a:t>L3 </a:t>
            </a:r>
            <a:r>
              <a:rPr lang="ko-KR" altLang="en-US" dirty="0"/>
              <a:t>위치와 겹치는지 검증했습니다</a:t>
            </a:r>
            <a:r>
              <a:rPr lang="en-US" altLang="ko-KR" dirty="0"/>
              <a:t>. </a:t>
            </a:r>
            <a:r>
              <a:rPr lang="ko-KR" altLang="en-US" dirty="0"/>
              <a:t>벤더 </a:t>
            </a:r>
            <a:r>
              <a:rPr lang="en-US" altLang="ko-KR" dirty="0"/>
              <a:t>AI </a:t>
            </a:r>
            <a:r>
              <a:rPr lang="ko-KR" altLang="en-US" dirty="0"/>
              <a:t>리포트를 </a:t>
            </a:r>
            <a:r>
              <a:rPr lang="en-US" altLang="ko-KR" dirty="0"/>
              <a:t>OCR</a:t>
            </a:r>
            <a:r>
              <a:rPr lang="ko-KR" altLang="en-US" dirty="0"/>
              <a:t>로 읽어서 전체 </a:t>
            </a:r>
            <a:r>
              <a:rPr lang="en-US" altLang="ko-KR" dirty="0"/>
              <a:t>1,076</a:t>
            </a:r>
            <a:r>
              <a:rPr lang="ko-KR" altLang="en-US" dirty="0"/>
              <a:t>명의 실제 </a:t>
            </a:r>
            <a:r>
              <a:rPr lang="en-US" altLang="ko-KR" dirty="0"/>
              <a:t>L3 </a:t>
            </a:r>
            <a:r>
              <a:rPr lang="ko-KR" altLang="en-US" dirty="0"/>
              <a:t>위치를 확인했더니</a:t>
            </a:r>
            <a:r>
              <a:rPr lang="en-US" altLang="ko-KR" dirty="0"/>
              <a:t>, </a:t>
            </a:r>
            <a:r>
              <a:rPr lang="ko-KR" altLang="en-US" dirty="0"/>
              <a:t>평균 </a:t>
            </a:r>
            <a:r>
              <a:rPr lang="en-US" altLang="ko-KR" dirty="0"/>
              <a:t>61.7%</a:t>
            </a:r>
            <a:r>
              <a:rPr lang="ko-KR" altLang="en-US" dirty="0"/>
              <a:t>였습니다</a:t>
            </a:r>
            <a:r>
              <a:rPr lang="en-US" altLang="ko-KR" dirty="0"/>
              <a:t>. </a:t>
            </a:r>
            <a:r>
              <a:rPr lang="ko-KR" altLang="en-US" dirty="0"/>
              <a:t>첫 번째 유의구간</a:t>
            </a:r>
            <a:r>
              <a:rPr lang="en-US" altLang="ko-KR" dirty="0"/>
              <a:t>(48~55%)</a:t>
            </a:r>
            <a:r>
              <a:rPr lang="ko-KR" altLang="en-US" dirty="0"/>
              <a:t>과 겹치는 환자는 </a:t>
            </a:r>
            <a:r>
              <a:rPr lang="en-US" altLang="ko-KR" dirty="0"/>
              <a:t>6.7%</a:t>
            </a:r>
            <a:r>
              <a:rPr lang="ko-KR" altLang="en-US" dirty="0"/>
              <a:t>뿐이고</a:t>
            </a:r>
            <a:r>
              <a:rPr lang="en-US" altLang="ko-KR" dirty="0"/>
              <a:t>, </a:t>
            </a:r>
            <a:r>
              <a:rPr lang="ko-KR" altLang="en-US" dirty="0"/>
              <a:t>두 번째</a:t>
            </a:r>
            <a:r>
              <a:rPr lang="en-US" altLang="ko-KR" dirty="0"/>
              <a:t>·</a:t>
            </a:r>
            <a:r>
              <a:rPr lang="ko-KR" altLang="en-US" dirty="0"/>
              <a:t>세 번째 유의구간</a:t>
            </a:r>
            <a:r>
              <a:rPr lang="en-US" altLang="ko-KR" dirty="0"/>
              <a:t>(80~97%)</a:t>
            </a:r>
            <a:r>
              <a:rPr lang="ko-KR" altLang="en-US" dirty="0"/>
              <a:t>과는 단 한 명도 겹치지 않았습니다</a:t>
            </a:r>
            <a:r>
              <a:rPr lang="en-US" altLang="ko-KR" dirty="0"/>
              <a:t>. </a:t>
            </a:r>
            <a:r>
              <a:rPr lang="ko-KR" altLang="en-US" dirty="0"/>
              <a:t>즉 저희가 찾은 신호는 </a:t>
            </a:r>
            <a:r>
              <a:rPr lang="en-US" altLang="ko-KR" dirty="0"/>
              <a:t>L3 </a:t>
            </a:r>
            <a:r>
              <a:rPr lang="ko-KR" altLang="en-US" dirty="0"/>
              <a:t>근육 단면적 자체보다는 인접 부위의 </a:t>
            </a:r>
            <a:r>
              <a:rPr lang="ko-KR" altLang="en-US" dirty="0" err="1"/>
              <a:t>체성분</a:t>
            </a:r>
            <a:r>
              <a:rPr lang="ko-KR" altLang="en-US" dirty="0"/>
              <a:t> 차이를 반영할 가능성이 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"OCR </a:t>
            </a:r>
            <a:r>
              <a:rPr lang="ko-KR" altLang="en-US" dirty="0"/>
              <a:t>정확도는 어떻게 검증했나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초기 </a:t>
            </a:r>
            <a:r>
              <a:rPr lang="en-US" altLang="ko-KR" dirty="0"/>
              <a:t>40</a:t>
            </a:r>
            <a:r>
              <a:rPr lang="ko-KR" altLang="en-US" dirty="0"/>
              <a:t>명 샘플에서 </a:t>
            </a:r>
            <a:r>
              <a:rPr lang="en-US" altLang="ko-KR" dirty="0" err="1"/>
              <a:t>TotalSegmentator</a:t>
            </a:r>
            <a:r>
              <a:rPr lang="en-US" altLang="ko-KR" dirty="0"/>
              <a:t> </a:t>
            </a:r>
            <a:r>
              <a:rPr lang="ko-KR" altLang="en-US" dirty="0"/>
              <a:t>자체 </a:t>
            </a:r>
            <a:r>
              <a:rPr lang="ko-KR" altLang="en-US" dirty="0" err="1"/>
              <a:t>세그멘테이션</a:t>
            </a:r>
            <a:r>
              <a:rPr lang="en-US" altLang="ko-KR" dirty="0"/>
              <a:t>(65.8%)</a:t>
            </a:r>
            <a:r>
              <a:rPr lang="ko-KR" altLang="en-US" dirty="0"/>
              <a:t>과 벤더 리포트 </a:t>
            </a:r>
            <a:r>
              <a:rPr lang="en-US" altLang="ko-KR" dirty="0"/>
              <a:t>OCR  (66.2%)</a:t>
            </a:r>
            <a:r>
              <a:rPr lang="ko-KR" altLang="en-US" dirty="0"/>
              <a:t>이 </a:t>
            </a:r>
            <a:r>
              <a:rPr lang="en-US" altLang="ko-KR" dirty="0"/>
              <a:t>0.4%p </a:t>
            </a:r>
            <a:r>
              <a:rPr lang="ko-KR" altLang="en-US" dirty="0"/>
              <a:t>이내로 일치하는 걸 확인한 뒤 </a:t>
            </a:r>
            <a:r>
              <a:rPr lang="en-US" altLang="ko-KR" dirty="0"/>
              <a:t>OCR</a:t>
            </a:r>
            <a:r>
              <a:rPr lang="ko-KR" altLang="en-US" dirty="0"/>
              <a:t>을 전체 코호트에 적용했습니다</a:t>
            </a:r>
            <a:r>
              <a:rPr lang="en-US" altLang="ko-KR" dirty="0"/>
              <a:t>.  </a:t>
            </a:r>
            <a:r>
              <a:rPr lang="ko-KR" altLang="en-US" dirty="0"/>
              <a:t>참고로 이 검증 과정에서 일부 시리즈의 </a:t>
            </a:r>
            <a:r>
              <a:rPr lang="en-US" altLang="ko-KR" dirty="0" err="1"/>
              <a:t>InstanceNumber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부터 시작하지 않는 버그를  발견해서 수정한 뒤 전체 </a:t>
            </a:r>
            <a:r>
              <a:rPr lang="ko-KR" altLang="en-US" dirty="0" err="1"/>
              <a:t>재검증했습니다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그럼 이 신호는 뭘 반영하는 건가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아직 명확하지 않습니다</a:t>
            </a:r>
            <a:r>
              <a:rPr lang="en-US" altLang="ko-KR" dirty="0"/>
              <a:t>. L4-L5 </a:t>
            </a:r>
            <a:r>
              <a:rPr lang="ko-KR" altLang="en-US" dirty="0"/>
              <a:t>방향이나 간</a:t>
            </a:r>
            <a:r>
              <a:rPr lang="en-US" altLang="ko-KR" dirty="0"/>
              <a:t>/</a:t>
            </a:r>
            <a:r>
              <a:rPr lang="ko-KR" altLang="en-US" dirty="0"/>
              <a:t>내장지방 방향의 </a:t>
            </a:r>
            <a:r>
              <a:rPr lang="ko-KR" altLang="en-US" dirty="0" err="1"/>
              <a:t>체성분</a:t>
            </a:r>
            <a:r>
              <a:rPr lang="ko-KR" altLang="en-US" dirty="0"/>
              <a:t> 차이일 가능성을  제시하는 정도이고</a:t>
            </a:r>
            <a:r>
              <a:rPr lang="en-US" altLang="ko-KR" dirty="0"/>
              <a:t>, </a:t>
            </a:r>
            <a:r>
              <a:rPr lang="ko-KR" altLang="en-US" dirty="0"/>
              <a:t>이건 이후 </a:t>
            </a:r>
            <a:r>
              <a:rPr lang="en-US" altLang="ko-KR" dirty="0"/>
              <a:t>propensity matching </a:t>
            </a:r>
            <a:r>
              <a:rPr lang="ko-KR" altLang="en-US" dirty="0"/>
              <a:t>결과와 함께 봐야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612D3-962D-CFE3-38BC-9E5D68030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250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9839-3A14-27AE-5A62-4C7F165E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4A9ED5-3EF9-56AA-646D-AEB1627EF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292A3-7C82-640E-3DDC-60E1408F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"</a:t>
            </a:r>
            <a:r>
              <a:rPr lang="ko-KR" altLang="en-US" dirty="0"/>
              <a:t>이 신호가 실제로 저</a:t>
            </a:r>
            <a:r>
              <a:rPr lang="en-US" altLang="ko-KR" dirty="0"/>
              <a:t>SMI </a:t>
            </a:r>
            <a:r>
              <a:rPr lang="ko-KR" altLang="en-US" dirty="0"/>
              <a:t>예측에 도움이 되는가</a:t>
            </a:r>
            <a:r>
              <a:rPr lang="en-US" altLang="ko-KR" dirty="0"/>
              <a:t>"</a:t>
            </a:r>
            <a:r>
              <a:rPr lang="ko-KR" altLang="en-US" dirty="0"/>
              <a:t>로 질문을 바꿉니다</a:t>
            </a:r>
            <a:r>
              <a:rPr lang="en-US" altLang="ko-KR" dirty="0"/>
              <a:t>. Baseline</a:t>
            </a:r>
            <a:r>
              <a:rPr lang="ko-KR" altLang="en-US" dirty="0"/>
              <a:t>은 나이</a:t>
            </a:r>
            <a:r>
              <a:rPr lang="en-US" altLang="ko-KR" dirty="0"/>
              <a:t>·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몸무게만 쓴 </a:t>
            </a:r>
            <a:r>
              <a:rPr lang="en-US" altLang="ko-KR" dirty="0"/>
              <a:t>clinic-only </a:t>
            </a:r>
            <a:r>
              <a:rPr lang="ko-KR" altLang="en-US" dirty="0"/>
              <a:t>로지스틱 회귀로</a:t>
            </a:r>
            <a:r>
              <a:rPr lang="en-US" altLang="ko-KR" dirty="0"/>
              <a:t>, ROC-AUC 0.776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여기에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신호를 </a:t>
            </a:r>
            <a:r>
              <a:rPr lang="en-US" altLang="ko-KR" dirty="0"/>
              <a:t>5</a:t>
            </a:r>
            <a:r>
              <a:rPr lang="ko-KR" altLang="en-US" dirty="0"/>
              <a:t>가지 방식으로 추가해봤습니다</a:t>
            </a:r>
            <a:r>
              <a:rPr lang="en-US" altLang="ko-KR" dirty="0"/>
              <a:t>: </a:t>
            </a:r>
            <a:r>
              <a:rPr lang="ko-KR" altLang="en-US" dirty="0"/>
              <a:t>원본 스칼라 피처</a:t>
            </a:r>
            <a:r>
              <a:rPr lang="en-US" altLang="ko-KR" dirty="0"/>
              <a:t>, Height/Weight</a:t>
            </a:r>
            <a:r>
              <a:rPr lang="ko-KR" altLang="en-US" dirty="0"/>
              <a:t>로 </a:t>
            </a:r>
            <a:r>
              <a:rPr lang="ko-KR" altLang="en-US" dirty="0" err="1"/>
              <a:t>잔차화한</a:t>
            </a:r>
            <a:r>
              <a:rPr lang="ko-KR" altLang="en-US" dirty="0"/>
              <a:t> 피처</a:t>
            </a:r>
            <a:r>
              <a:rPr lang="en-US" altLang="ko-KR" dirty="0"/>
              <a:t>, </a:t>
            </a:r>
            <a:r>
              <a:rPr lang="ko-KR" altLang="en-US" dirty="0"/>
              <a:t>성별 </a:t>
            </a:r>
            <a:r>
              <a:rPr lang="ko-KR" altLang="en-US" dirty="0" err="1"/>
              <a:t>교차항</a:t>
            </a:r>
            <a:r>
              <a:rPr lang="en-US" altLang="ko-KR" dirty="0"/>
              <a:t>, Elastic Net, </a:t>
            </a:r>
            <a:r>
              <a:rPr lang="ko-KR" altLang="en-US" dirty="0"/>
              <a:t>그리고 </a:t>
            </a:r>
            <a:r>
              <a:rPr lang="ko-KR" altLang="en-US" dirty="0" err="1"/>
              <a:t>원곡선</a:t>
            </a:r>
            <a:r>
              <a:rPr lang="ko-KR" altLang="en-US" dirty="0"/>
              <a:t> 전체를 </a:t>
            </a:r>
            <a:r>
              <a:rPr lang="en-US" altLang="ko-KR" dirty="0"/>
              <a:t>Cross-Attention </a:t>
            </a:r>
            <a:r>
              <a:rPr lang="ko-KR" altLang="en-US" dirty="0"/>
              <a:t>신경망에 넣는 </a:t>
            </a:r>
            <a:r>
              <a:rPr lang="ko-KR" altLang="en-US" dirty="0" err="1"/>
              <a:t>방식까지요</a:t>
            </a:r>
            <a:r>
              <a:rPr lang="en-US" altLang="ko-KR" dirty="0"/>
              <a:t>. </a:t>
            </a:r>
            <a:r>
              <a:rPr lang="ko-KR" altLang="en-US" dirty="0"/>
              <a:t>전부 동일한 </a:t>
            </a:r>
            <a:r>
              <a:rPr lang="en-US" altLang="ko-KR" dirty="0"/>
              <a:t>fold </a:t>
            </a:r>
            <a:r>
              <a:rPr lang="ko-KR" altLang="en-US" dirty="0"/>
              <a:t>위에서 </a:t>
            </a:r>
            <a:r>
              <a:rPr lang="en-US" altLang="ko-KR" dirty="0"/>
              <a:t>Wilcoxon paired test</a:t>
            </a:r>
            <a:r>
              <a:rPr lang="ko-KR" altLang="en-US" dirty="0"/>
              <a:t>로 비교했습니다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왜 </a:t>
            </a:r>
            <a:r>
              <a:rPr lang="en-US" altLang="ko-KR" dirty="0"/>
              <a:t>Wilcoxon paired test</a:t>
            </a:r>
            <a:r>
              <a:rPr lang="ko-KR" altLang="en-US" dirty="0"/>
              <a:t>인가</a:t>
            </a:r>
            <a:r>
              <a:rPr lang="en-US" altLang="ko-KR" dirty="0"/>
              <a:t>? </a:t>
            </a:r>
            <a:r>
              <a:rPr lang="ko-KR" altLang="en-US" dirty="0"/>
              <a:t>그냥 두 모델의 평균 </a:t>
            </a:r>
            <a:r>
              <a:rPr lang="en-US" altLang="ko-KR" dirty="0"/>
              <a:t>AUC</a:t>
            </a:r>
            <a:r>
              <a:rPr lang="ko-KR" altLang="en-US" dirty="0"/>
              <a:t>를 비교하면 안 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같은 </a:t>
            </a:r>
            <a:r>
              <a:rPr lang="en-US" altLang="ko-KR" dirty="0"/>
              <a:t>fold split</a:t>
            </a:r>
            <a:r>
              <a:rPr lang="ko-KR" altLang="en-US" dirty="0"/>
              <a:t>을 고정해서 모델 </a:t>
            </a:r>
            <a:r>
              <a:rPr lang="en-US" altLang="ko-KR" dirty="0"/>
              <a:t>A, B</a:t>
            </a:r>
            <a:r>
              <a:rPr lang="ko-KR" altLang="en-US" dirty="0"/>
              <a:t>가 같은 </a:t>
            </a:r>
            <a:r>
              <a:rPr lang="en-US" altLang="ko-KR" dirty="0"/>
              <a:t>train/test</a:t>
            </a:r>
            <a:r>
              <a:rPr lang="ko-KR" altLang="en-US" dirty="0"/>
              <a:t>를 쓰게 하고</a:t>
            </a:r>
            <a:r>
              <a:rPr lang="en-US" altLang="ko-KR" dirty="0"/>
              <a:t>, fold</a:t>
            </a:r>
            <a:r>
              <a:rPr lang="ko-KR" altLang="en-US" dirty="0"/>
              <a:t>별 성능차이를 짝지어 비교했습니다</a:t>
            </a:r>
            <a:r>
              <a:rPr lang="en-US" altLang="ko-KR" dirty="0"/>
              <a:t>. </a:t>
            </a:r>
            <a:r>
              <a:rPr lang="ko-KR" altLang="en-US" dirty="0"/>
              <a:t>이러면 </a:t>
            </a:r>
            <a:r>
              <a:rPr lang="en-US" altLang="ko-KR" dirty="0"/>
              <a:t>fold </a:t>
            </a:r>
            <a:r>
              <a:rPr lang="ko-KR" altLang="en-US" dirty="0"/>
              <a:t>간 난이도 차이에서 오는 노이즈를 </a:t>
            </a:r>
            <a:r>
              <a:rPr lang="ko-KR" altLang="en-US" dirty="0" err="1"/>
              <a:t>제거하고모델</a:t>
            </a:r>
            <a:r>
              <a:rPr lang="ko-KR" altLang="en-US" dirty="0"/>
              <a:t> 자체의 차이만 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FDCD48-8B60-1E61-6796-881A7F0E9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285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BBC0-DCA6-CD50-495B-FC633DCF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51B27E-9831-D379-02E7-D536ED4D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EED23D-618A-7039-0DD5-59C6BAB1C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결과는 </a:t>
            </a:r>
            <a:r>
              <a:rPr lang="en-US" altLang="ko-KR" dirty="0"/>
              <a:t>5</a:t>
            </a:r>
            <a:r>
              <a:rPr lang="ko-KR" altLang="en-US" dirty="0"/>
              <a:t>가지 방식 전부 </a:t>
            </a:r>
            <a:r>
              <a:rPr lang="en-US" altLang="ko-KR" dirty="0"/>
              <a:t>clinic-only</a:t>
            </a:r>
            <a:r>
              <a:rPr lang="ko-KR" altLang="en-US" dirty="0"/>
              <a:t>를 이기지 못했습니다</a:t>
            </a:r>
            <a:r>
              <a:rPr lang="en-US" altLang="ko-KR" dirty="0"/>
              <a:t>. p-value</a:t>
            </a:r>
            <a:r>
              <a:rPr lang="ko-KR" altLang="en-US" dirty="0"/>
              <a:t>가 전부 유의수준을 넘지 못했고</a:t>
            </a:r>
            <a:r>
              <a:rPr lang="en-US" altLang="ko-KR" dirty="0"/>
              <a:t>, 4</a:t>
            </a:r>
            <a:r>
              <a:rPr lang="ko-KR" altLang="en-US" dirty="0"/>
              <a:t>번 성별 교차항은 오히려 소폭 나빠지는 쪽으로 기울었습니다</a:t>
            </a:r>
            <a:r>
              <a:rPr lang="en-US" altLang="ko-KR" dirty="0"/>
              <a:t>. Elastic Net </a:t>
            </a:r>
            <a:r>
              <a:rPr lang="ko-KR" altLang="en-US" dirty="0"/>
              <a:t>계수를 보면 </a:t>
            </a:r>
            <a:r>
              <a:rPr lang="en-US" altLang="ko-KR" dirty="0"/>
              <a:t>Height, Weight, Age</a:t>
            </a:r>
            <a:r>
              <a:rPr lang="ko-KR" altLang="en-US" dirty="0"/>
              <a:t>가 압도적으로 크고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파생 피처 </a:t>
            </a:r>
            <a:r>
              <a:rPr lang="en-US" altLang="ko-KR" dirty="0"/>
              <a:t>4</a:t>
            </a:r>
            <a:r>
              <a:rPr lang="ko-KR" altLang="en-US" dirty="0"/>
              <a:t>개는 전부 작았습니다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en-US" altLang="ko-KR" dirty="0" err="1"/>
              <a:t>mean_mA</a:t>
            </a:r>
            <a:r>
              <a:rPr lang="ko-KR" altLang="en-US" dirty="0"/>
              <a:t>와 </a:t>
            </a:r>
            <a:r>
              <a:rPr lang="en-US" altLang="ko-KR" dirty="0"/>
              <a:t>Weight</a:t>
            </a:r>
            <a:r>
              <a:rPr lang="ko-KR" altLang="en-US" dirty="0"/>
              <a:t>의 상관이 </a:t>
            </a:r>
            <a:r>
              <a:rPr lang="en-US" altLang="ko-KR" dirty="0"/>
              <a:t>0.54</a:t>
            </a:r>
            <a:r>
              <a:rPr lang="ko-KR" altLang="en-US" dirty="0"/>
              <a:t>로 나왔는데</a:t>
            </a:r>
            <a:r>
              <a:rPr lang="en-US" altLang="ko-KR" dirty="0"/>
              <a:t>, </a:t>
            </a:r>
            <a:r>
              <a:rPr lang="ko-KR" altLang="en-US" dirty="0"/>
              <a:t>이게 </a:t>
            </a:r>
            <a:r>
              <a:rPr lang="en-US" altLang="ko-KR" dirty="0"/>
              <a:t>"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신호가 이미 체중 정보와 중복된다</a:t>
            </a:r>
            <a:r>
              <a:rPr lang="en-US" altLang="ko-KR" dirty="0"/>
              <a:t>"</a:t>
            </a:r>
            <a:r>
              <a:rPr lang="ko-KR" altLang="en-US" dirty="0"/>
              <a:t>는 가설의 첫 단서가 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"n=5 fold</a:t>
            </a:r>
            <a:r>
              <a:rPr lang="ko-KR" altLang="en-US" dirty="0"/>
              <a:t>라 </a:t>
            </a:r>
            <a:r>
              <a:rPr lang="en-US" altLang="ko-KR" dirty="0"/>
              <a:t>Wilcoxon </a:t>
            </a:r>
            <a:r>
              <a:rPr lang="ko-KR" altLang="en-US" dirty="0"/>
              <a:t>최소 </a:t>
            </a:r>
            <a:r>
              <a:rPr lang="en-US" altLang="ko-KR" dirty="0"/>
              <a:t>p</a:t>
            </a:r>
            <a:r>
              <a:rPr lang="ko-KR" altLang="en-US" dirty="0"/>
              <a:t>가 </a:t>
            </a:r>
            <a:r>
              <a:rPr lang="en-US" altLang="ko-KR" dirty="0"/>
              <a:t>0.0625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이걸로 유의성을 판단할 수 있나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차 비교는 </a:t>
            </a:r>
            <a:r>
              <a:rPr lang="ko-KR" altLang="en-US" dirty="0" err="1"/>
              <a:t>검정력이</a:t>
            </a:r>
            <a:r>
              <a:rPr lang="ko-KR" altLang="en-US" dirty="0"/>
              <a:t> 약하다는 한계가 있습니다</a:t>
            </a:r>
            <a:r>
              <a:rPr lang="en-US" altLang="ko-KR" dirty="0"/>
              <a:t>. </a:t>
            </a:r>
            <a:r>
              <a:rPr lang="ko-KR" altLang="en-US" dirty="0"/>
              <a:t>그래서 이후 슬라이드</a:t>
            </a:r>
            <a:r>
              <a:rPr lang="en-US" altLang="ko-KR" dirty="0"/>
              <a:t>(12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/>
              <a:t>20-fold</a:t>
            </a:r>
            <a:r>
              <a:rPr lang="ko-KR" altLang="en-US" dirty="0"/>
              <a:t>로 </a:t>
            </a:r>
            <a:r>
              <a:rPr lang="ko-KR" altLang="en-US" dirty="0" err="1"/>
              <a:t>검정력을</a:t>
            </a:r>
            <a:r>
              <a:rPr lang="ko-KR" altLang="en-US" dirty="0"/>
              <a:t> 키워서 </a:t>
            </a:r>
            <a:r>
              <a:rPr lang="ko-KR" altLang="en-US" dirty="0" err="1"/>
              <a:t>재검증했습니다</a:t>
            </a:r>
            <a:r>
              <a:rPr lang="en-US" altLang="ko-KR" dirty="0"/>
              <a:t>.A. (</a:t>
            </a:r>
            <a:r>
              <a:rPr lang="ko-KR" altLang="en-US" dirty="0"/>
              <a:t>계수가 작은 이유가 정규화 강도 때문 아닌가라는 질문에는</a:t>
            </a:r>
            <a:r>
              <a:rPr lang="en-US" altLang="ko-KR" dirty="0"/>
              <a:t>) </a:t>
            </a:r>
            <a:r>
              <a:rPr lang="ko-KR" altLang="en-US" dirty="0"/>
              <a:t>상관관계</a:t>
            </a:r>
            <a:r>
              <a:rPr lang="en-US" altLang="ko-KR" dirty="0"/>
              <a:t>(0.54, 0.40)</a:t>
            </a:r>
            <a:r>
              <a:rPr lang="ko-KR" altLang="en-US" dirty="0"/>
              <a:t>도같이 확인했기 때문에 단순히 </a:t>
            </a:r>
            <a:r>
              <a:rPr lang="en-US" altLang="ko-KR" dirty="0"/>
              <a:t>regularization </a:t>
            </a:r>
            <a:r>
              <a:rPr lang="ko-KR" altLang="en-US" dirty="0"/>
              <a:t>문제만은 아니라고 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B14C4-220F-C6CD-3C65-8106DEAE7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07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68E6-62B2-92AB-0ED5-3C2C64C35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198C87-CE6B-2878-B1DC-2EFEACEBC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D01247-A586-F283-88AF-979FE2595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혹시 이게 방법이 단순해서 놓친 건 아닌지 확인하려고</a:t>
            </a:r>
            <a:r>
              <a:rPr lang="en-US" altLang="ko-KR" dirty="0"/>
              <a:t>, Cross-Attention </a:t>
            </a:r>
            <a:r>
              <a:rPr lang="ko-KR" altLang="en-US" dirty="0"/>
              <a:t>신경망으로 </a:t>
            </a:r>
            <a:r>
              <a:rPr lang="ko-KR" altLang="en-US" dirty="0" err="1"/>
              <a:t>원곡선</a:t>
            </a:r>
            <a:r>
              <a:rPr lang="ko-KR" altLang="en-US" dirty="0"/>
              <a:t> </a:t>
            </a:r>
            <a:r>
              <a:rPr lang="en-US" altLang="ko-KR" dirty="0"/>
              <a:t>128</a:t>
            </a:r>
            <a:r>
              <a:rPr lang="ko-KR" altLang="en-US" dirty="0"/>
              <a:t>포인트 전체를 그대로 모델에 줬습니다</a:t>
            </a:r>
            <a:r>
              <a:rPr lang="en-US" altLang="ko-KR" dirty="0"/>
              <a:t>. clinic 4</a:t>
            </a:r>
            <a:r>
              <a:rPr lang="ko-KR" altLang="en-US" dirty="0"/>
              <a:t>개 변수를 </a:t>
            </a:r>
            <a:r>
              <a:rPr lang="en-US" altLang="ko-KR" dirty="0"/>
              <a:t>query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곡선을 </a:t>
            </a:r>
            <a:r>
              <a:rPr lang="en-US" altLang="ko-KR" dirty="0"/>
              <a:t>key/value</a:t>
            </a:r>
            <a:r>
              <a:rPr lang="ko-KR" altLang="en-US" dirty="0"/>
              <a:t>로 하는 </a:t>
            </a:r>
            <a:r>
              <a:rPr lang="en-US" altLang="ko-KR" dirty="0"/>
              <a:t>attention</a:t>
            </a:r>
            <a:r>
              <a:rPr lang="ko-KR" altLang="en-US" dirty="0"/>
              <a:t>이 스스로 어디를 볼지 학습하게 했습니다</a:t>
            </a:r>
            <a:r>
              <a:rPr lang="en-US" altLang="ko-KR" dirty="0"/>
              <a:t>. 5-fold</a:t>
            </a:r>
            <a:r>
              <a:rPr lang="ko-KR" altLang="en-US" dirty="0"/>
              <a:t>만 쓴 </a:t>
            </a:r>
            <a:r>
              <a:rPr lang="en-US" altLang="ko-KR" dirty="0"/>
              <a:t>1</a:t>
            </a:r>
            <a:r>
              <a:rPr lang="ko-KR" altLang="en-US" dirty="0"/>
              <a:t>차 실행은 </a:t>
            </a:r>
            <a:r>
              <a:rPr lang="ko-KR" altLang="en-US" dirty="0" err="1"/>
              <a:t>검정력이</a:t>
            </a:r>
            <a:r>
              <a:rPr lang="ko-KR" altLang="en-US" dirty="0"/>
              <a:t> 부족해서</a:t>
            </a:r>
            <a:r>
              <a:rPr lang="en-US" altLang="ko-KR" dirty="0"/>
              <a:t>, 5-fold x 4 repeat</a:t>
            </a:r>
            <a:r>
              <a:rPr lang="ko-KR" altLang="en-US" dirty="0"/>
              <a:t>로 실제 </a:t>
            </a:r>
            <a:r>
              <a:rPr lang="en-US" altLang="ko-KR" dirty="0"/>
              <a:t>20-fold</a:t>
            </a:r>
            <a:r>
              <a:rPr lang="ko-KR" altLang="en-US" dirty="0"/>
              <a:t>까지 늘려 재실행했습니다</a:t>
            </a:r>
            <a:r>
              <a:rPr lang="en-US" altLang="ko-KR" dirty="0"/>
              <a:t>. </a:t>
            </a:r>
            <a:r>
              <a:rPr lang="ko-KR" altLang="en-US" dirty="0"/>
              <a:t>정규화 방식</a:t>
            </a:r>
            <a:r>
              <a:rPr lang="en-US" altLang="ko-KR" dirty="0"/>
              <a:t>(global vs patient-wise), skip connection, </a:t>
            </a:r>
            <a:r>
              <a:rPr lang="ko-KR" altLang="en-US" dirty="0" err="1"/>
              <a:t>스무딩</a:t>
            </a:r>
            <a:r>
              <a:rPr lang="en-US" altLang="ko-KR" dirty="0"/>
              <a:t>, early-stopping, warm-start, FDA-prior </a:t>
            </a:r>
            <a:r>
              <a:rPr lang="ko-KR" altLang="en-US" dirty="0"/>
              <a:t>유도</a:t>
            </a:r>
            <a:r>
              <a:rPr lang="en-US" altLang="ko-KR" dirty="0"/>
              <a:t>, </a:t>
            </a:r>
            <a:r>
              <a:rPr lang="ko-KR" altLang="en-US" dirty="0"/>
              <a:t>성별 조건부 </a:t>
            </a:r>
            <a:r>
              <a:rPr lang="en-US" altLang="ko-KR" dirty="0"/>
              <a:t>prior</a:t>
            </a:r>
            <a:r>
              <a:rPr lang="ko-KR" altLang="en-US" dirty="0"/>
              <a:t>까지 총 </a:t>
            </a:r>
            <a:r>
              <a:rPr lang="en-US" altLang="ko-KR" dirty="0"/>
              <a:t>14</a:t>
            </a:r>
            <a:r>
              <a:rPr lang="ko-KR" altLang="en-US" dirty="0"/>
              <a:t>가지 변형을 시도했는데</a:t>
            </a:r>
            <a:r>
              <a:rPr lang="en-US" altLang="ko-KR" dirty="0"/>
              <a:t>, </a:t>
            </a:r>
            <a:r>
              <a:rPr lang="ko-KR" altLang="en-US" dirty="0"/>
              <a:t>최선의 조합조차 </a:t>
            </a:r>
            <a:r>
              <a:rPr lang="en-US" altLang="ko-KR" dirty="0"/>
              <a:t>clinic-only</a:t>
            </a:r>
            <a:r>
              <a:rPr lang="ko-KR" altLang="en-US" dirty="0"/>
              <a:t>를 유의하게 이기지 못했습니다</a:t>
            </a:r>
            <a:r>
              <a:rPr lang="en-US" altLang="ko-KR" dirty="0"/>
              <a:t>. </a:t>
            </a:r>
            <a:r>
              <a:rPr lang="ko-KR" altLang="en-US" dirty="0"/>
              <a:t>오히려 </a:t>
            </a:r>
            <a:r>
              <a:rPr lang="en-US" altLang="ko-KR" dirty="0"/>
              <a:t>FDA-prior</a:t>
            </a:r>
            <a:r>
              <a:rPr lang="ko-KR" altLang="en-US" dirty="0"/>
              <a:t>를 </a:t>
            </a:r>
            <a:r>
              <a:rPr lang="en-US" altLang="ko-KR" dirty="0"/>
              <a:t>patient-wise </a:t>
            </a:r>
            <a:r>
              <a:rPr lang="ko-KR" altLang="en-US" dirty="0"/>
              <a:t>정규화와 결합하면 유의하게 나빠졌습니다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en-US" altLang="ko-KR" dirty="0" err="1"/>
              <a:t>patient_wise_skip</a:t>
            </a:r>
            <a:r>
              <a:rPr lang="ko-KR" altLang="en-US" dirty="0"/>
              <a:t>이 </a:t>
            </a:r>
            <a:r>
              <a:rPr lang="en-US" altLang="ko-KR" dirty="0"/>
              <a:t>p=0.19</a:t>
            </a:r>
            <a:r>
              <a:rPr lang="ko-KR" altLang="en-US" dirty="0"/>
              <a:t>로 유의하지 않다는 게</a:t>
            </a:r>
            <a:r>
              <a:rPr lang="en-US" altLang="ko-KR" dirty="0"/>
              <a:t>, clinic-only</a:t>
            </a:r>
            <a:r>
              <a:rPr lang="ko-KR" altLang="en-US" dirty="0"/>
              <a:t>와 동등하다는  뜻인가</a:t>
            </a:r>
            <a:r>
              <a:rPr lang="en-US" altLang="ko-KR" dirty="0"/>
              <a:t>?“</a:t>
            </a:r>
          </a:p>
          <a:p>
            <a:pPr marL="228600" indent="-228600">
              <a:buAutoNum type="alphaUcPeriod"/>
            </a:pPr>
            <a:r>
              <a:rPr lang="ko-KR" altLang="en-US" dirty="0"/>
              <a:t>아닙니다</a:t>
            </a:r>
            <a:r>
              <a:rPr lang="en-US" altLang="ko-KR" dirty="0"/>
              <a:t>. "</a:t>
            </a:r>
            <a:r>
              <a:rPr lang="ko-KR" altLang="en-US" dirty="0"/>
              <a:t>유의한 차이를 발견하지 못했다</a:t>
            </a:r>
            <a:r>
              <a:rPr lang="en-US" altLang="ko-KR" dirty="0"/>
              <a:t>"</a:t>
            </a:r>
            <a:r>
              <a:rPr lang="ko-KR" altLang="en-US" dirty="0"/>
              <a:t>는 것과 </a:t>
            </a:r>
            <a:r>
              <a:rPr lang="en-US" altLang="ko-KR" dirty="0"/>
              <a:t>"</a:t>
            </a:r>
            <a:r>
              <a:rPr lang="ko-KR" altLang="en-US" dirty="0"/>
              <a:t>동등하다</a:t>
            </a:r>
            <a:r>
              <a:rPr lang="en-US" altLang="ko-KR" dirty="0"/>
              <a:t>"</a:t>
            </a:r>
            <a:r>
              <a:rPr lang="ko-KR" altLang="en-US" dirty="0"/>
              <a:t>는 것은 다릅니다</a:t>
            </a:r>
            <a:r>
              <a:rPr lang="en-US" altLang="ko-KR" dirty="0"/>
              <a:t>.  </a:t>
            </a:r>
            <a:r>
              <a:rPr lang="ko-KR" altLang="en-US" dirty="0"/>
              <a:t>이건 저희도 인지하고 있는 한계이고</a:t>
            </a:r>
            <a:r>
              <a:rPr lang="en-US" altLang="ko-KR" dirty="0"/>
              <a:t>, </a:t>
            </a:r>
            <a:r>
              <a:rPr lang="ko-KR" altLang="en-US" dirty="0"/>
              <a:t>다른 어떤 변형과 비교해도 유의하게 더 낫다는  근거가 없다는 점까지 같이 봐야 </a:t>
            </a:r>
            <a:r>
              <a:rPr lang="en-US" altLang="ko-KR" dirty="0"/>
              <a:t>"</a:t>
            </a:r>
            <a:r>
              <a:rPr lang="ko-KR" altLang="en-US" dirty="0"/>
              <a:t>이 라인에서 더 짤 게 없다</a:t>
            </a:r>
            <a:r>
              <a:rPr lang="en-US" altLang="ko-KR" dirty="0"/>
              <a:t>"</a:t>
            </a:r>
            <a:r>
              <a:rPr lang="ko-KR" altLang="en-US" dirty="0"/>
              <a:t>는 결론이 성립합니다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모델 용량</a:t>
            </a:r>
            <a:r>
              <a:rPr lang="en-US" altLang="ko-KR" dirty="0"/>
              <a:t>(</a:t>
            </a:r>
            <a:r>
              <a:rPr lang="en-US" altLang="ko-KR" dirty="0" err="1"/>
              <a:t>d_model</a:t>
            </a:r>
            <a:r>
              <a:rPr lang="en-US" altLang="ko-KR" dirty="0"/>
              <a:t>=16, 2 heads)</a:t>
            </a:r>
            <a:r>
              <a:rPr lang="ko-KR" altLang="en-US" dirty="0"/>
              <a:t>이 너무 작은 거 아닌가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정규화</a:t>
            </a:r>
            <a:r>
              <a:rPr lang="en-US" altLang="ko-KR" dirty="0"/>
              <a:t>·</a:t>
            </a:r>
            <a:r>
              <a:rPr lang="en-US" altLang="ko-KR" dirty="0" err="1"/>
              <a:t>skip·warm-start·prior</a:t>
            </a:r>
            <a:r>
              <a:rPr lang="ko-KR" altLang="en-US" dirty="0"/>
              <a:t>까지 구조적으로 다양한 변형을 시도했는데도 일관되게  같은 결과가 나와서</a:t>
            </a:r>
            <a:r>
              <a:rPr lang="en-US" altLang="ko-KR" dirty="0"/>
              <a:t>, capacity </a:t>
            </a:r>
            <a:r>
              <a:rPr lang="ko-KR" altLang="en-US" dirty="0" err="1"/>
              <a:t>문제라기보다</a:t>
            </a:r>
            <a:r>
              <a:rPr lang="ko-KR" altLang="en-US" dirty="0"/>
              <a:t> 정보량 자체의 한계로 해석하고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"FDA-prior</a:t>
            </a:r>
            <a:r>
              <a:rPr lang="ko-KR" altLang="en-US" dirty="0"/>
              <a:t>가 </a:t>
            </a:r>
            <a:r>
              <a:rPr lang="en-US" altLang="ko-KR" dirty="0"/>
              <a:t>patient-wise</a:t>
            </a:r>
            <a:r>
              <a:rPr lang="ko-KR" altLang="en-US" dirty="0"/>
              <a:t>와 결합하면 왜 나빠지나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patient-wise </a:t>
            </a:r>
            <a:r>
              <a:rPr lang="ko-KR" altLang="en-US" dirty="0"/>
              <a:t>정규화는 이미 환자 개인의 레벨</a:t>
            </a:r>
            <a:r>
              <a:rPr lang="en-US" altLang="ko-KR" dirty="0"/>
              <a:t>(</a:t>
            </a:r>
            <a:r>
              <a:rPr lang="ko-KR" altLang="en-US" dirty="0"/>
              <a:t>체격</a:t>
            </a:r>
            <a:r>
              <a:rPr lang="en-US" altLang="ko-KR" dirty="0"/>
              <a:t>) </a:t>
            </a:r>
            <a:r>
              <a:rPr lang="ko-KR" altLang="en-US" dirty="0"/>
              <a:t>정보를 제거하고 </a:t>
            </a:r>
            <a:r>
              <a:rPr lang="en-US" altLang="ko-KR" dirty="0"/>
              <a:t>"</a:t>
            </a:r>
            <a:r>
              <a:rPr lang="ko-KR" altLang="en-US" dirty="0"/>
              <a:t>모양</a:t>
            </a:r>
            <a:r>
              <a:rPr lang="en-US" altLang="ko-KR" dirty="0"/>
              <a:t>"</a:t>
            </a:r>
            <a:r>
              <a:rPr lang="ko-KR" altLang="en-US" dirty="0"/>
              <a:t>만  남깁니다</a:t>
            </a:r>
            <a:r>
              <a:rPr lang="en-US" altLang="ko-KR" dirty="0"/>
              <a:t>. </a:t>
            </a:r>
            <a:r>
              <a:rPr lang="ko-KR" altLang="en-US" dirty="0"/>
              <a:t>여기에 특정 구간을 보라고 강제로 유도하는 </a:t>
            </a:r>
            <a:r>
              <a:rPr lang="en-US" altLang="ko-KR" dirty="0"/>
              <a:t>prior</a:t>
            </a:r>
            <a:r>
              <a:rPr lang="ko-KR" altLang="en-US" dirty="0"/>
              <a:t>까지 더하면 모델이  과도하게 제약돼서 오히려 손해가 되는 것으로 추정합니다</a:t>
            </a:r>
            <a:r>
              <a:rPr lang="en-US" altLang="ko-KR" dirty="0"/>
              <a:t>. </a:t>
            </a:r>
            <a:r>
              <a:rPr lang="ko-KR" altLang="en-US" dirty="0"/>
              <a:t>다만 이건 가설이고 추가  검증이 필요합니다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C58221-3120-73E3-5FA7-89869AE8D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0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7F32-85B6-0DF5-5B36-0FCAA105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8B77DB-61EF-F445-2041-8181EE90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F2B96B-BB48-4CE0-CECD-B5E13D87C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상관관계 정황만으로는 부족하다고 판단해서</a:t>
            </a:r>
            <a:r>
              <a:rPr lang="en-US" altLang="ko-KR" dirty="0"/>
              <a:t>, "</a:t>
            </a:r>
            <a:r>
              <a:rPr lang="ko-KR" altLang="en-US" dirty="0"/>
              <a:t>체격을 완전히 맞춘 환자끼리 비교하면 </a:t>
            </a:r>
            <a:r>
              <a:rPr lang="en-US" altLang="ko-KR" dirty="0"/>
              <a:t>AEC </a:t>
            </a:r>
            <a:r>
              <a:rPr lang="ko-KR" altLang="en-US" dirty="0"/>
              <a:t>신호가 남는가</a:t>
            </a:r>
            <a:r>
              <a:rPr lang="en-US" altLang="ko-KR" dirty="0"/>
              <a:t>"</a:t>
            </a:r>
            <a:r>
              <a:rPr lang="ko-KR" altLang="en-US" dirty="0"/>
              <a:t>를 직접 실험으로 확인했습니다</a:t>
            </a:r>
            <a:r>
              <a:rPr lang="en-US" altLang="ko-KR" dirty="0"/>
              <a:t>. </a:t>
            </a:r>
            <a:r>
              <a:rPr lang="ko-KR" altLang="en-US" dirty="0"/>
              <a:t>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몸무게로 로지스틱 회귀 </a:t>
            </a:r>
            <a:r>
              <a:rPr lang="en-US" altLang="ko-KR" dirty="0"/>
              <a:t>propensity score</a:t>
            </a:r>
            <a:r>
              <a:rPr lang="ko-KR" altLang="en-US" dirty="0"/>
              <a:t>를 만들고</a:t>
            </a:r>
            <a:r>
              <a:rPr lang="en-US" altLang="ko-KR" dirty="0"/>
              <a:t>, caliper 0.2 SD(Austin 2011 </a:t>
            </a:r>
            <a:r>
              <a:rPr lang="ko-KR" altLang="en-US" dirty="0" err="1"/>
              <a:t>권장값</a:t>
            </a:r>
            <a:r>
              <a:rPr lang="en-US" altLang="ko-KR" dirty="0"/>
              <a:t>) </a:t>
            </a:r>
            <a:r>
              <a:rPr lang="ko-KR" altLang="en-US" dirty="0"/>
              <a:t>안에서 </a:t>
            </a:r>
            <a:r>
              <a:rPr lang="en-US" altLang="ko-KR" dirty="0"/>
              <a:t>1:1 greedy </a:t>
            </a:r>
            <a:r>
              <a:rPr lang="ko-KR" altLang="en-US" dirty="0"/>
              <a:t>매칭을 했습니다</a:t>
            </a:r>
            <a:r>
              <a:rPr lang="en-US" altLang="ko-KR" dirty="0"/>
              <a:t>. </a:t>
            </a:r>
            <a:r>
              <a:rPr lang="ko-KR" altLang="en-US" dirty="0"/>
              <a:t>순서 편향을 막기 위해 무작위 순서로 처리했고요</a:t>
            </a:r>
            <a:r>
              <a:rPr lang="en-US" altLang="ko-KR" dirty="0"/>
              <a:t>. </a:t>
            </a:r>
            <a:r>
              <a:rPr lang="ko-KR" altLang="en-US" dirty="0"/>
              <a:t>남성은 </a:t>
            </a:r>
            <a:r>
              <a:rPr lang="en-US" altLang="ko-KR" dirty="0"/>
              <a:t>87</a:t>
            </a:r>
            <a:r>
              <a:rPr lang="ko-KR" altLang="en-US" dirty="0"/>
              <a:t>명 중</a:t>
            </a:r>
            <a:r>
              <a:rPr lang="en-US" altLang="ko-KR" dirty="0"/>
              <a:t>80</a:t>
            </a:r>
            <a:r>
              <a:rPr lang="ko-KR" altLang="en-US" dirty="0"/>
              <a:t>쌍</a:t>
            </a:r>
            <a:r>
              <a:rPr lang="en-US" altLang="ko-KR" dirty="0"/>
              <a:t>(92%), </a:t>
            </a:r>
            <a:r>
              <a:rPr lang="ko-KR" altLang="en-US" dirty="0"/>
              <a:t>여성은 </a:t>
            </a:r>
            <a:r>
              <a:rPr lang="en-US" altLang="ko-KR" dirty="0"/>
              <a:t>150</a:t>
            </a:r>
            <a:r>
              <a:rPr lang="ko-KR" altLang="en-US" dirty="0"/>
              <a:t>명 중 </a:t>
            </a:r>
            <a:r>
              <a:rPr lang="en-US" altLang="ko-KR" dirty="0"/>
              <a:t>130</a:t>
            </a:r>
            <a:r>
              <a:rPr lang="ko-KR" altLang="en-US" dirty="0"/>
              <a:t>쌍</a:t>
            </a:r>
            <a:r>
              <a:rPr lang="en-US" altLang="ko-KR" dirty="0"/>
              <a:t>(86.7%)</a:t>
            </a:r>
            <a:r>
              <a:rPr lang="ko-KR" altLang="en-US" dirty="0"/>
              <a:t>이 매칭됐고</a:t>
            </a:r>
            <a:r>
              <a:rPr lang="en-US" altLang="ko-KR" dirty="0"/>
              <a:t>, </a:t>
            </a:r>
            <a:r>
              <a:rPr lang="ko-KR" altLang="en-US" dirty="0"/>
              <a:t>매칭 후 모든 </a:t>
            </a:r>
            <a:r>
              <a:rPr lang="ko-KR" altLang="en-US" dirty="0" err="1"/>
              <a:t>공변량의</a:t>
            </a:r>
            <a:r>
              <a:rPr lang="ko-KR" altLang="en-US" dirty="0"/>
              <a:t> 표준화 평균차가 </a:t>
            </a:r>
            <a:r>
              <a:rPr lang="en-US" altLang="ko-KR" dirty="0"/>
              <a:t>0.1 </a:t>
            </a:r>
            <a:r>
              <a:rPr lang="ko-KR" altLang="en-US" dirty="0"/>
              <a:t>미만으로 균형이 잘 맞았습니다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"caliper 0.2</a:t>
            </a:r>
            <a:r>
              <a:rPr lang="ko-KR" altLang="en-US" dirty="0"/>
              <a:t>가 임의적인 값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en-US" altLang="ko-KR" dirty="0"/>
              <a:t>Austin(2011)</a:t>
            </a:r>
            <a:r>
              <a:rPr lang="ko-KR" altLang="en-US" dirty="0"/>
              <a:t>이 제안한 표준 </a:t>
            </a:r>
            <a:r>
              <a:rPr lang="ko-KR" altLang="en-US" dirty="0" err="1"/>
              <a:t>권장값입니다만</a:t>
            </a:r>
            <a:r>
              <a:rPr lang="en-US" altLang="ko-KR" dirty="0"/>
              <a:t>, </a:t>
            </a:r>
            <a:r>
              <a:rPr lang="ko-KR" altLang="en-US" dirty="0"/>
              <a:t>맞습니다 임의성이 있는 선택이라  다음 단계에서 </a:t>
            </a:r>
            <a:r>
              <a:rPr lang="en-US" altLang="ko-KR" dirty="0"/>
              <a:t>caliper</a:t>
            </a:r>
            <a:r>
              <a:rPr lang="ko-KR" altLang="en-US" dirty="0"/>
              <a:t>를 더 좁혀도 같은 패턴이 재현되는지 확인할 계획입니다  </a:t>
            </a:r>
            <a:r>
              <a:rPr lang="en-US" altLang="ko-KR" dirty="0"/>
              <a:t>(18</a:t>
            </a:r>
            <a:r>
              <a:rPr lang="ko-KR" altLang="en-US" dirty="0"/>
              <a:t>번 슬라이드</a:t>
            </a:r>
            <a:r>
              <a:rPr lang="en-US" altLang="ko-KR" dirty="0"/>
              <a:t>).</a:t>
            </a:r>
          </a:p>
          <a:p>
            <a:pPr marL="228600" indent="-228600">
              <a:buAutoNum type="alphaU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왜 </a:t>
            </a:r>
            <a:r>
              <a:rPr lang="en-US" altLang="ko-KR" dirty="0"/>
              <a:t>1:1</a:t>
            </a:r>
            <a:r>
              <a:rPr lang="ko-KR" altLang="en-US" dirty="0"/>
              <a:t>인가</a:t>
            </a:r>
            <a:r>
              <a:rPr lang="en-US" altLang="ko-KR" dirty="0"/>
              <a:t>? IPTW</a:t>
            </a:r>
            <a:r>
              <a:rPr lang="ko-KR" altLang="en-US" dirty="0"/>
              <a:t>나 </a:t>
            </a:r>
            <a:r>
              <a:rPr lang="en-US" altLang="ko-KR" dirty="0"/>
              <a:t>1:k </a:t>
            </a:r>
            <a:r>
              <a:rPr lang="ko-KR" altLang="en-US" dirty="0"/>
              <a:t>매칭은 안 해봤나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이번엔 가장 해석이 쉬운 </a:t>
            </a:r>
            <a:r>
              <a:rPr lang="en-US" altLang="ko-KR" dirty="0"/>
              <a:t>1:1 </a:t>
            </a:r>
            <a:r>
              <a:rPr lang="ko-KR" altLang="en-US" dirty="0"/>
              <a:t>매칭으로 먼저 확인했고</a:t>
            </a:r>
            <a:r>
              <a:rPr lang="en-US" altLang="ko-KR" dirty="0"/>
              <a:t>, </a:t>
            </a:r>
            <a:r>
              <a:rPr lang="ko-KR" altLang="en-US" dirty="0" err="1"/>
              <a:t>검정력을</a:t>
            </a:r>
            <a:r>
              <a:rPr lang="ko-KR" altLang="en-US" dirty="0"/>
              <a:t> 더 키우기 위한  </a:t>
            </a:r>
            <a:r>
              <a:rPr lang="en-US" altLang="ko-KR" dirty="0"/>
              <a:t>1:k </a:t>
            </a:r>
            <a:r>
              <a:rPr lang="ko-KR" altLang="en-US" dirty="0"/>
              <a:t>매칭은 다음 단계 계획에 포함되어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매칭에서 </a:t>
            </a:r>
            <a:r>
              <a:rPr lang="en-US" altLang="ko-KR" dirty="0"/>
              <a:t>Age/Height/Weight</a:t>
            </a:r>
            <a:r>
              <a:rPr lang="ko-KR" altLang="en-US" dirty="0"/>
              <a:t>만 썼는데</a:t>
            </a:r>
            <a:r>
              <a:rPr lang="en-US" altLang="ko-KR" dirty="0"/>
              <a:t>, </a:t>
            </a:r>
            <a:r>
              <a:rPr lang="en-US" altLang="ko-KR" dirty="0" err="1"/>
              <a:t>kVp</a:t>
            </a:r>
            <a:r>
              <a:rPr lang="en-US" altLang="ko-KR" dirty="0"/>
              <a:t>/</a:t>
            </a:r>
            <a:r>
              <a:rPr lang="en-US" altLang="ko-KR" dirty="0" err="1"/>
              <a:t>mAs</a:t>
            </a:r>
            <a:r>
              <a:rPr lang="en-US" altLang="ko-KR" dirty="0"/>
              <a:t>/</a:t>
            </a:r>
            <a:r>
              <a:rPr lang="ko-KR" altLang="en-US" dirty="0"/>
              <a:t>제조사 같은 스캐너 요인은 왜 안 봤나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좋은 지적입니다 </a:t>
            </a:r>
            <a:r>
              <a:rPr lang="en-US" altLang="ko-KR" dirty="0"/>
              <a:t>— </a:t>
            </a:r>
            <a:r>
              <a:rPr lang="ko-KR" altLang="en-US" dirty="0"/>
              <a:t>이번 매칭은 체격 </a:t>
            </a:r>
            <a:r>
              <a:rPr lang="en-US" altLang="ko-KR" dirty="0"/>
              <a:t>confounding </a:t>
            </a:r>
            <a:r>
              <a:rPr lang="ko-KR" altLang="en-US" dirty="0"/>
              <a:t>가설을 먼저 검증한 것이고</a:t>
            </a:r>
            <a:r>
              <a:rPr lang="en-US" altLang="ko-KR" dirty="0"/>
              <a:t>, </a:t>
            </a:r>
            <a:r>
              <a:rPr lang="ko-KR" altLang="en-US" dirty="0"/>
              <a:t>스캐너</a:t>
            </a:r>
            <a:r>
              <a:rPr lang="en-US" altLang="ko-KR" dirty="0"/>
              <a:t>/</a:t>
            </a:r>
            <a:r>
              <a:rPr lang="ko-KR" altLang="en-US" dirty="0"/>
              <a:t>프로토콜 </a:t>
            </a:r>
            <a:r>
              <a:rPr lang="en-US" altLang="ko-KR" dirty="0"/>
              <a:t>confounding</a:t>
            </a:r>
            <a:r>
              <a:rPr lang="ko-KR" altLang="en-US" dirty="0"/>
              <a:t>은 아직 다루지 않았습니다</a:t>
            </a:r>
            <a:r>
              <a:rPr lang="en-US" altLang="ko-KR" dirty="0"/>
              <a:t>. </a:t>
            </a:r>
            <a:r>
              <a:rPr lang="ko-KR" altLang="en-US" dirty="0"/>
              <a:t>후속 검증 후보로 남겨두고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D6DAD-F0B3-D591-9722-368E26337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57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59B1-5943-E953-FA3B-0EF49CC7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017212-E29A-D0E1-7053-092015F69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50663-30D5-DE32-C21E-6AB8D194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결과가 꽤 뚜렷합니다</a:t>
            </a:r>
            <a:r>
              <a:rPr lang="en-US" altLang="ko-KR" dirty="0"/>
              <a:t>. </a:t>
            </a:r>
            <a:r>
              <a:rPr lang="ko-KR" altLang="en-US" dirty="0"/>
              <a:t>체격을 매칭한 뒤에는 </a:t>
            </a:r>
            <a:r>
              <a:rPr lang="en-US" altLang="ko-KR" dirty="0"/>
              <a:t>128</a:t>
            </a:r>
            <a:r>
              <a:rPr lang="ko-KR" altLang="en-US" dirty="0"/>
              <a:t>개 위치 중 단 하나도 </a:t>
            </a:r>
            <a:r>
              <a:rPr lang="en-US" altLang="ko-KR" dirty="0"/>
              <a:t>FDR </a:t>
            </a:r>
            <a:r>
              <a:rPr lang="ko-KR" altLang="en-US" dirty="0"/>
              <a:t>유의구간이 남지 않았습니다</a:t>
            </a:r>
            <a:r>
              <a:rPr lang="en-US" altLang="ko-KR" dirty="0"/>
              <a:t>. level, derivative </a:t>
            </a:r>
            <a:r>
              <a:rPr lang="ko-KR" altLang="en-US" dirty="0"/>
              <a:t>검정 모두</a:t>
            </a:r>
            <a:r>
              <a:rPr lang="en-US" altLang="ko-KR" dirty="0"/>
              <a:t>, </a:t>
            </a:r>
            <a:r>
              <a:rPr lang="ko-KR" altLang="en-US" dirty="0"/>
              <a:t>남녀 모두 마찬가지였고요</a:t>
            </a:r>
            <a:r>
              <a:rPr lang="en-US" altLang="ko-KR" dirty="0"/>
              <a:t>. </a:t>
            </a:r>
            <a:r>
              <a:rPr lang="ko-KR" altLang="en-US" dirty="0"/>
              <a:t>가장 강했던 </a:t>
            </a:r>
            <a:r>
              <a:rPr lang="en-US" altLang="ko-KR" dirty="0" err="1"/>
              <a:t>mean_mA</a:t>
            </a:r>
            <a:r>
              <a:rPr lang="ko-KR" altLang="en-US" dirty="0"/>
              <a:t>조차 남성 </a:t>
            </a:r>
            <a:r>
              <a:rPr lang="en-US" altLang="ko-KR" dirty="0"/>
              <a:t>p=0.42, </a:t>
            </a:r>
            <a:r>
              <a:rPr lang="ko-KR" altLang="en-US" dirty="0"/>
              <a:t>여성 </a:t>
            </a:r>
            <a:r>
              <a:rPr lang="en-US" altLang="ko-KR" dirty="0"/>
              <a:t>p=0.28</a:t>
            </a:r>
            <a:r>
              <a:rPr lang="ko-KR" altLang="en-US" dirty="0"/>
              <a:t>로 완전히 비유의로 바뀌었습니다</a:t>
            </a:r>
            <a:r>
              <a:rPr lang="en-US" altLang="ko-KR" dirty="0"/>
              <a:t>. </a:t>
            </a:r>
            <a:r>
              <a:rPr lang="ko-KR" altLang="en-US" dirty="0"/>
              <a:t>슬라이드 </a:t>
            </a:r>
            <a:r>
              <a:rPr lang="en-US" altLang="ko-KR" dirty="0"/>
              <a:t>8</a:t>
            </a:r>
            <a:r>
              <a:rPr lang="ko-KR" altLang="en-US" dirty="0"/>
              <a:t>에서 봤던 </a:t>
            </a:r>
            <a:r>
              <a:rPr lang="en-US" altLang="ko-KR" dirty="0"/>
              <a:t>d=0.34~0.47</a:t>
            </a:r>
            <a:r>
              <a:rPr lang="ko-KR" altLang="en-US" dirty="0"/>
              <a:t>과 극명하게 대조됩니다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매칭 표본이 작아져서</a:t>
            </a:r>
            <a:r>
              <a:rPr lang="en-US" altLang="ko-KR" dirty="0"/>
              <a:t>(80/130</a:t>
            </a:r>
            <a:r>
              <a:rPr lang="ko-KR" altLang="en-US" dirty="0"/>
              <a:t>쌍</a:t>
            </a:r>
            <a:r>
              <a:rPr lang="en-US" altLang="ko-KR" dirty="0"/>
              <a:t>) </a:t>
            </a:r>
            <a:r>
              <a:rPr lang="ko-KR" altLang="en-US" dirty="0" err="1"/>
              <a:t>검정력이</a:t>
            </a:r>
            <a:r>
              <a:rPr lang="ko-KR" altLang="en-US" dirty="0"/>
              <a:t> 부족해서 그런 거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그럴 가능성을 배제할 수 없습니다</a:t>
            </a:r>
            <a:r>
              <a:rPr lang="en-US" altLang="ko-KR" dirty="0"/>
              <a:t>. </a:t>
            </a:r>
            <a:r>
              <a:rPr lang="ko-KR" altLang="en-US" dirty="0"/>
              <a:t>그래서 다음 슬라이드에서 </a:t>
            </a:r>
            <a:r>
              <a:rPr lang="en-US" altLang="ko-KR" dirty="0"/>
              <a:t>"</a:t>
            </a:r>
            <a:r>
              <a:rPr lang="ko-KR" altLang="en-US" dirty="0"/>
              <a:t>완전히 사라졌다</a:t>
            </a:r>
            <a:r>
              <a:rPr lang="en-US" altLang="ko-KR" dirty="0"/>
              <a:t>"</a:t>
            </a:r>
            <a:r>
              <a:rPr lang="ko-KR" altLang="en-US" dirty="0" err="1"/>
              <a:t>가아니라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방향은 남아있는지</a:t>
            </a:r>
            <a:r>
              <a:rPr lang="en-US" altLang="ko-KR" dirty="0"/>
              <a:t>"</a:t>
            </a:r>
            <a:r>
              <a:rPr lang="ko-KR" altLang="en-US" dirty="0"/>
              <a:t>를 따로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8EBF2-6158-0898-D45E-B40BF1D61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310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4204-4529-74D3-B212-8FE9A4C7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CE8204-8530-EDCF-46DA-32BCFCCE4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E77013-2FE6-7EBD-6EAD-7BAEC0F14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 흥미로운 지점이 있습니다</a:t>
            </a:r>
            <a:r>
              <a:rPr lang="en-US" altLang="ko-KR" dirty="0"/>
              <a:t>. 0701</a:t>
            </a:r>
            <a:r>
              <a:rPr lang="ko-KR" altLang="en-US" dirty="0"/>
              <a:t>에서 찾은 </a:t>
            </a:r>
            <a:r>
              <a:rPr lang="en-US" altLang="ko-KR" dirty="0"/>
              <a:t>4</a:t>
            </a:r>
            <a:r>
              <a:rPr lang="ko-KR" altLang="en-US" dirty="0"/>
              <a:t>개 구간을 개별적으로 다시 보면</a:t>
            </a:r>
            <a:r>
              <a:rPr lang="en-US" altLang="ko-KR" dirty="0"/>
              <a:t>, </a:t>
            </a:r>
            <a:r>
              <a:rPr lang="ko-KR" altLang="en-US" dirty="0"/>
              <a:t>방향</a:t>
            </a:r>
            <a:r>
              <a:rPr lang="en-US" altLang="ko-KR" dirty="0"/>
              <a:t>(</a:t>
            </a:r>
            <a:r>
              <a:rPr lang="ko-KR" altLang="en-US" dirty="0"/>
              <a:t>부호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4</a:t>
            </a:r>
            <a:r>
              <a:rPr lang="ko-KR" altLang="en-US" dirty="0"/>
              <a:t>개 전부 유지됩니다</a:t>
            </a:r>
            <a:r>
              <a:rPr lang="en-US" altLang="ko-KR" dirty="0"/>
              <a:t>. </a:t>
            </a:r>
            <a:r>
              <a:rPr lang="ko-KR" altLang="en-US" dirty="0"/>
              <a:t>우연이었다면 방향이 무작위로 섞였을 텐데 그렇지 않다는 건</a:t>
            </a:r>
            <a:r>
              <a:rPr lang="en-US" altLang="ko-KR" dirty="0"/>
              <a:t>, </a:t>
            </a:r>
            <a:r>
              <a:rPr lang="ko-KR" altLang="en-US" dirty="0"/>
              <a:t>실제 효과가 남아있긴 하다는 뜻입니다</a:t>
            </a:r>
            <a:r>
              <a:rPr lang="en-US" altLang="ko-KR" dirty="0"/>
              <a:t>. </a:t>
            </a:r>
            <a:r>
              <a:rPr lang="ko-KR" altLang="en-US" dirty="0"/>
              <a:t>다만 크기가 원래의 </a:t>
            </a:r>
            <a:r>
              <a:rPr lang="en-US" altLang="ko-KR" dirty="0"/>
              <a:t>7.5%</a:t>
            </a:r>
            <a:r>
              <a:rPr lang="ko-KR" altLang="en-US" dirty="0"/>
              <a:t>에서 </a:t>
            </a:r>
            <a:r>
              <a:rPr lang="en-US" altLang="ko-KR" dirty="0"/>
              <a:t>53%</a:t>
            </a:r>
            <a:r>
              <a:rPr lang="ko-KR" altLang="en-US" dirty="0"/>
              <a:t>사이로 크게 줄었고</a:t>
            </a:r>
            <a:r>
              <a:rPr lang="en-US" altLang="ko-KR" dirty="0"/>
              <a:t>, </a:t>
            </a:r>
            <a:r>
              <a:rPr lang="ko-KR" altLang="en-US" dirty="0"/>
              <a:t>가장 가까웠던 남성 </a:t>
            </a:r>
            <a:r>
              <a:rPr lang="en-US" altLang="ko-KR" dirty="0"/>
              <a:t>103-113 </a:t>
            </a:r>
            <a:r>
              <a:rPr lang="ko-KR" altLang="en-US" dirty="0"/>
              <a:t>구간도 보정 전 </a:t>
            </a:r>
            <a:r>
              <a:rPr lang="en-US" altLang="ko-KR" dirty="0"/>
              <a:t>p-value</a:t>
            </a:r>
            <a:r>
              <a:rPr lang="ko-KR" altLang="en-US" dirty="0"/>
              <a:t>가 </a:t>
            </a:r>
            <a:r>
              <a:rPr lang="en-US" altLang="ko-KR" dirty="0"/>
              <a:t>0.054</a:t>
            </a:r>
            <a:r>
              <a:rPr lang="ko-KR" altLang="en-US" dirty="0"/>
              <a:t>로 유의수준을 살짝 넘기지 못했습니다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"'</a:t>
            </a:r>
            <a:r>
              <a:rPr lang="ko-KR" altLang="en-US" dirty="0"/>
              <a:t>완전히 사라진 게 아니다</a:t>
            </a:r>
            <a:r>
              <a:rPr lang="en-US" altLang="ko-KR" dirty="0"/>
              <a:t>'</a:t>
            </a:r>
            <a:r>
              <a:rPr lang="ko-KR" altLang="en-US" dirty="0"/>
              <a:t>라는 게 결국 무슨 의미인가</a:t>
            </a:r>
            <a:r>
              <a:rPr lang="en-US" altLang="ko-KR" dirty="0"/>
              <a:t>? </a:t>
            </a:r>
            <a:r>
              <a:rPr lang="en-US" altLang="ko-KR" dirty="0" err="1"/>
              <a:t>aec</a:t>
            </a:r>
            <a:r>
              <a:rPr lang="ko-KR" altLang="en-US" dirty="0"/>
              <a:t>가 조금은 쓸모  있다는 건가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정확히는 </a:t>
            </a:r>
            <a:r>
              <a:rPr lang="en-US" altLang="ko-KR" dirty="0"/>
              <a:t>＂</a:t>
            </a:r>
            <a:r>
              <a:rPr lang="ko-KR" altLang="en-US" dirty="0"/>
              <a:t>앞에서 보고한 효과크기의 상당 부분</a:t>
            </a:r>
            <a:r>
              <a:rPr lang="en-US" altLang="ko-KR" dirty="0"/>
              <a:t>(47~92%)</a:t>
            </a:r>
            <a:r>
              <a:rPr lang="ko-KR" altLang="en-US" dirty="0"/>
              <a:t>이 </a:t>
            </a:r>
            <a:r>
              <a:rPr lang="en-US" altLang="ko-KR" dirty="0"/>
              <a:t>confounding</a:t>
            </a:r>
            <a:r>
              <a:rPr lang="ko-KR" altLang="en-US" dirty="0"/>
              <a:t>으로 설명되고</a:t>
            </a:r>
            <a:r>
              <a:rPr lang="en-US" altLang="ko-KR" dirty="0"/>
              <a:t>,  confounding</a:t>
            </a:r>
            <a:r>
              <a:rPr lang="ko-KR" altLang="en-US" dirty="0"/>
              <a:t>을 걷어낸 뒤 남는 진짜 신호가 있다 해도 원래보다 훨씬 작다</a:t>
            </a:r>
            <a:r>
              <a:rPr lang="en-US" altLang="ko-KR" dirty="0"/>
              <a:t>"</a:t>
            </a:r>
            <a:r>
              <a:rPr lang="ko-KR" altLang="en-US" dirty="0"/>
              <a:t>는 뜻입니다</a:t>
            </a:r>
            <a:r>
              <a:rPr lang="en-US" altLang="ko-KR" dirty="0"/>
              <a:t>.  </a:t>
            </a:r>
            <a:r>
              <a:rPr lang="ko-KR" altLang="en-US" dirty="0"/>
              <a:t>방향이 일치한다는 건 그 잔여 신호가 노이즈만은 아닐 가능성을 시사하지만</a:t>
            </a:r>
            <a:r>
              <a:rPr lang="en-US" altLang="ko-KR" dirty="0"/>
              <a:t>, </a:t>
            </a:r>
            <a:r>
              <a:rPr lang="ko-KR" altLang="en-US" dirty="0"/>
              <a:t>통계적으로  확언할 만큼 강하진 않습니다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"'confounding</a:t>
            </a:r>
            <a:r>
              <a:rPr lang="ko-KR" altLang="en-US" dirty="0"/>
              <a:t>으로 완전히 설명된다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/>
              <a:t>표본이 작아 못 잡았을 뿐이다</a:t>
            </a:r>
            <a:r>
              <a:rPr lang="en-US" altLang="ko-KR" dirty="0"/>
              <a:t>'</a:t>
            </a:r>
            <a:r>
              <a:rPr lang="ko-KR" altLang="en-US" dirty="0"/>
              <a:t>를 어떻게  구분하나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지금 결과만으로는 완전히 구분하기 어렵다는 걸 저희도 인정합니다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ko-KR" altLang="en-US" dirty="0" err="1"/>
              <a:t>캘리퍼</a:t>
            </a:r>
            <a:r>
              <a:rPr lang="ko-KR" altLang="en-US" dirty="0"/>
              <a:t>  조정</a:t>
            </a:r>
            <a:r>
              <a:rPr lang="en-US" altLang="ko-KR" dirty="0"/>
              <a:t>, </a:t>
            </a:r>
            <a:r>
              <a:rPr lang="ko-KR" altLang="en-US" dirty="0"/>
              <a:t>외부 코호트 재현</a:t>
            </a:r>
            <a:r>
              <a:rPr lang="en-US" altLang="ko-KR" dirty="0"/>
              <a:t>, 1:k </a:t>
            </a:r>
            <a:r>
              <a:rPr lang="ko-KR" altLang="en-US" dirty="0"/>
              <a:t>매칭으로 </a:t>
            </a:r>
            <a:r>
              <a:rPr lang="ko-KR" altLang="en-US" dirty="0" err="1"/>
              <a:t>검정력을</a:t>
            </a:r>
            <a:r>
              <a:rPr lang="ko-KR" altLang="en-US" dirty="0"/>
              <a:t> 보강하는 걸 다음 단계로 제안합니다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F014B3-2D9A-FB95-3A44-DF4AC8428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056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A2D0-BE39-1036-DD2F-3F32232C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024C8A-49FD-AC8C-268F-EF1E35778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40348A-6B3B-DB00-7915-E764F57D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</a:t>
            </a:r>
            <a:r>
              <a:rPr lang="en-US" altLang="ko-KR" dirty="0"/>
              <a:t>, "</a:t>
            </a:r>
            <a:r>
              <a:rPr lang="ko-KR" altLang="en-US" dirty="0"/>
              <a:t>신호가 완전히 사라진다</a:t>
            </a:r>
            <a:r>
              <a:rPr lang="en-US" altLang="ko-KR" dirty="0"/>
              <a:t>"</a:t>
            </a:r>
            <a:r>
              <a:rPr lang="ko-KR" altLang="en-US" dirty="0"/>
              <a:t>보다 </a:t>
            </a:r>
            <a:r>
              <a:rPr lang="en-US" altLang="ko-KR" dirty="0"/>
              <a:t>"</a:t>
            </a:r>
            <a:r>
              <a:rPr lang="ko-KR" altLang="en-US" dirty="0"/>
              <a:t>방향은 남아있지만 크기 대부분이 </a:t>
            </a:r>
            <a:r>
              <a:rPr lang="en-US" altLang="ko-KR" dirty="0"/>
              <a:t>confounding</a:t>
            </a:r>
            <a:r>
              <a:rPr lang="ko-KR" altLang="en-US" dirty="0"/>
              <a:t>으로 설명된다</a:t>
            </a:r>
            <a:r>
              <a:rPr lang="en-US" altLang="ko-KR" dirty="0"/>
              <a:t>"</a:t>
            </a:r>
            <a:r>
              <a:rPr lang="ko-KR" altLang="en-US" dirty="0"/>
              <a:t>가 더 정확한 요약입니다</a:t>
            </a:r>
            <a:r>
              <a:rPr lang="en-US" altLang="ko-KR" dirty="0"/>
              <a:t>. </a:t>
            </a:r>
            <a:r>
              <a:rPr lang="ko-KR" altLang="en-US" dirty="0"/>
              <a:t>초기 </a:t>
            </a:r>
            <a:r>
              <a:rPr lang="en-US" altLang="ko-KR" dirty="0"/>
              <a:t>FDA </a:t>
            </a:r>
            <a:r>
              <a:rPr lang="ko-KR" altLang="en-US" dirty="0"/>
              <a:t>분석이 보고한 효과크기</a:t>
            </a:r>
            <a:r>
              <a:rPr lang="en-US" altLang="ko-KR" dirty="0"/>
              <a:t>(d≈0.3~0.47)</a:t>
            </a:r>
            <a:r>
              <a:rPr lang="ko-KR" altLang="en-US" dirty="0"/>
              <a:t>의 대부분은 체격 </a:t>
            </a:r>
            <a:r>
              <a:rPr lang="en-US" altLang="ko-KR" dirty="0"/>
              <a:t>confounding</a:t>
            </a:r>
            <a:r>
              <a:rPr lang="ko-KR" altLang="en-US" dirty="0"/>
              <a:t>으로 설명되고</a:t>
            </a:r>
            <a:r>
              <a:rPr lang="en-US" altLang="ko-KR" dirty="0"/>
              <a:t>, </a:t>
            </a:r>
            <a:r>
              <a:rPr lang="ko-KR" altLang="en-US" dirty="0"/>
              <a:t>진짜 신호가 있다 해도 </a:t>
            </a:r>
            <a:r>
              <a:rPr lang="en-US" altLang="ko-KR" dirty="0"/>
              <a:t>d 0.03~0.16 </a:t>
            </a:r>
            <a:r>
              <a:rPr lang="ko-KR" altLang="en-US" dirty="0"/>
              <a:t>수준으로 훨씬 작습니다</a:t>
            </a:r>
            <a:r>
              <a:rPr lang="en-US" altLang="ko-KR" dirty="0"/>
              <a:t>. </a:t>
            </a:r>
            <a:r>
              <a:rPr lang="ko-KR" altLang="en-US" dirty="0"/>
              <a:t>이게 후속 검증 전체</a:t>
            </a:r>
            <a:r>
              <a:rPr lang="en-US" altLang="ko-KR" dirty="0"/>
              <a:t>, </a:t>
            </a:r>
            <a:r>
              <a:rPr lang="ko-KR" altLang="en-US" dirty="0"/>
              <a:t>그러니까 예측모델이 </a:t>
            </a:r>
            <a:r>
              <a:rPr lang="en-US" altLang="ko-KR" dirty="0"/>
              <a:t>clinic-only</a:t>
            </a:r>
            <a:r>
              <a:rPr lang="ko-KR" altLang="en-US" dirty="0"/>
              <a:t>를 못 이긴 이유를 자연스럽게 설명합니다</a:t>
            </a:r>
            <a:r>
              <a:rPr lang="en-US" altLang="ko-KR" dirty="0"/>
              <a:t>. </a:t>
            </a:r>
            <a:r>
              <a:rPr lang="ko-KR" altLang="en-US" dirty="0"/>
              <a:t>매칭 전 신호의대부분이 이미 </a:t>
            </a:r>
            <a:r>
              <a:rPr lang="en-US" altLang="ko-KR" dirty="0"/>
              <a:t>clinic </a:t>
            </a:r>
            <a:r>
              <a:rPr lang="ko-KR" altLang="en-US" dirty="0"/>
              <a:t>변수가 설명하는 부분이었다면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clinic </a:t>
            </a:r>
            <a:r>
              <a:rPr lang="ko-KR" altLang="en-US" dirty="0"/>
              <a:t>변수가 이미 모델에 들어간 상태에서 </a:t>
            </a:r>
            <a:r>
              <a:rPr lang="en-US" altLang="ko-KR" dirty="0" err="1"/>
              <a:t>aec</a:t>
            </a:r>
            <a:r>
              <a:rPr lang="ko-KR" altLang="en-US" dirty="0"/>
              <a:t>를 추가해도 남는 정보가 거의 없는 게 당연합니다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그래서 </a:t>
            </a:r>
            <a:r>
              <a:rPr lang="en-US" altLang="ko-KR" dirty="0"/>
              <a:t>AEC curve</a:t>
            </a:r>
            <a:r>
              <a:rPr lang="ko-KR" altLang="en-US" dirty="0"/>
              <a:t>는 완전히 무용한 건가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"</a:t>
            </a:r>
            <a:r>
              <a:rPr lang="ko-KR" altLang="en-US" dirty="0"/>
              <a:t>저</a:t>
            </a:r>
            <a:r>
              <a:rPr lang="en-US" altLang="ko-KR" dirty="0"/>
              <a:t>SMI</a:t>
            </a:r>
            <a:r>
              <a:rPr lang="ko-KR" altLang="en-US" dirty="0"/>
              <a:t>를 독립적으로 진단하는 </a:t>
            </a:r>
            <a:r>
              <a:rPr lang="ko-KR" altLang="en-US" dirty="0" err="1"/>
              <a:t>바이오마커</a:t>
            </a:r>
            <a:r>
              <a:rPr lang="en-US" altLang="ko-KR" dirty="0"/>
              <a:t>"</a:t>
            </a:r>
            <a:r>
              <a:rPr lang="ko-KR" altLang="en-US" dirty="0"/>
              <a:t>로서는 이번 코호트에서 근거가 약합니다</a:t>
            </a:r>
            <a:r>
              <a:rPr lang="en-US" altLang="ko-KR" dirty="0"/>
              <a:t>. </a:t>
            </a:r>
            <a:r>
              <a:rPr lang="ko-KR" altLang="en-US" dirty="0"/>
              <a:t>다만 이 결과가 </a:t>
            </a:r>
            <a:r>
              <a:rPr lang="en-US" altLang="ko-KR" dirty="0"/>
              <a:t>"AEC </a:t>
            </a:r>
            <a:r>
              <a:rPr lang="ko-KR" altLang="en-US" dirty="0"/>
              <a:t>자체가 무의미하다</a:t>
            </a:r>
            <a:r>
              <a:rPr lang="en-US" altLang="ko-KR" dirty="0"/>
              <a:t>"</a:t>
            </a:r>
            <a:r>
              <a:rPr lang="ko-KR" altLang="en-US" dirty="0"/>
              <a:t>는 뜻은 아니고</a:t>
            </a:r>
            <a:r>
              <a:rPr lang="en-US" altLang="ko-KR" dirty="0"/>
              <a:t>, </a:t>
            </a:r>
            <a:r>
              <a:rPr lang="ko-KR" altLang="en-US" dirty="0"/>
              <a:t>체격을 통제한 뒤 남는 작은 잔여 신호의 임상적 의미</a:t>
            </a:r>
            <a:r>
              <a:rPr lang="en-US" altLang="ko-KR" dirty="0"/>
              <a:t>, </a:t>
            </a:r>
            <a:r>
              <a:rPr lang="ko-KR" altLang="en-US" dirty="0"/>
              <a:t>혹은 다른 </a:t>
            </a:r>
            <a:r>
              <a:rPr lang="en-US" altLang="ko-KR" dirty="0"/>
              <a:t>outcome(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myosteatosis</a:t>
            </a:r>
            <a:r>
              <a:rPr lang="en-US" altLang="ko-KR" dirty="0"/>
              <a:t>, continuous SMI)</a:t>
            </a:r>
            <a:r>
              <a:rPr lang="ko-KR" altLang="en-US" dirty="0"/>
              <a:t>에서의 가능성은 아직 열려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82DC7-567A-6B02-6882-1DBEBBD3B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117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02ED-F306-8711-1D80-272AF25A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9B1651-1B32-CD1B-A1F7-3D619CE23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542708-5431-7F27-D846-EF3404D34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오늘 말씀드린 것과는 별개로 진행 중인 관련 트랙 하나를 짧게 소개하고 마치겠습니다</a:t>
            </a:r>
            <a:r>
              <a:rPr lang="en-US" altLang="ko-KR" dirty="0"/>
              <a:t>. </a:t>
            </a:r>
            <a:r>
              <a:rPr lang="ko-KR" altLang="en-US" dirty="0"/>
              <a:t>이건 문제를 다르게 </a:t>
            </a:r>
            <a:r>
              <a:rPr lang="ko-KR" altLang="en-US" dirty="0" err="1"/>
              <a:t>프레이밍합니다</a:t>
            </a:r>
            <a:r>
              <a:rPr lang="ko-KR" altLang="en-US" dirty="0"/>
              <a:t> </a:t>
            </a:r>
            <a:r>
              <a:rPr lang="en-US" altLang="ko-KR" dirty="0"/>
              <a:t>— "AEC</a:t>
            </a:r>
            <a:r>
              <a:rPr lang="ko-KR" altLang="en-US" dirty="0"/>
              <a:t>로 저</a:t>
            </a:r>
            <a:r>
              <a:rPr lang="en-US" altLang="ko-KR" dirty="0"/>
              <a:t>SMI</a:t>
            </a:r>
            <a:r>
              <a:rPr lang="ko-KR" altLang="en-US" dirty="0"/>
              <a:t>를 직접 진단할 수 있는가</a:t>
            </a:r>
            <a:r>
              <a:rPr lang="en-US" altLang="ko-KR" dirty="0"/>
              <a:t>"</a:t>
            </a:r>
            <a:r>
              <a:rPr lang="ko-KR" altLang="en-US" dirty="0"/>
              <a:t>가 아니라</a:t>
            </a:r>
            <a:r>
              <a:rPr lang="en-US" altLang="ko-KR" dirty="0"/>
              <a:t>, "clinical model</a:t>
            </a:r>
            <a:r>
              <a:rPr lang="ko-KR" altLang="en-US" dirty="0"/>
              <a:t>이 이미 민감도 </a:t>
            </a:r>
            <a:r>
              <a:rPr lang="en-US" altLang="ko-KR" dirty="0"/>
              <a:t>90%</a:t>
            </a:r>
            <a:r>
              <a:rPr lang="ko-KR" altLang="en-US" dirty="0"/>
              <a:t>로 양성 판정한 환자들 중에서</a:t>
            </a:r>
            <a:r>
              <a:rPr lang="en-US" altLang="ko-KR" dirty="0"/>
              <a:t>,AEC </a:t>
            </a:r>
            <a:r>
              <a:rPr lang="ko-KR" altLang="en-US" dirty="0"/>
              <a:t>곡선 모양으로 </a:t>
            </a:r>
            <a:r>
              <a:rPr lang="en-US" altLang="ko-KR" dirty="0"/>
              <a:t>de-escalation, </a:t>
            </a:r>
            <a:r>
              <a:rPr lang="ko-KR" altLang="en-US" dirty="0"/>
              <a:t>그러니까 불필요한 정밀검사를 피할 수 있는 환자를 골라낼 수 있는가</a:t>
            </a:r>
            <a:r>
              <a:rPr lang="en-US" altLang="ko-KR" dirty="0"/>
              <a:t>"</a:t>
            </a:r>
            <a:r>
              <a:rPr lang="ko-KR" altLang="en-US" dirty="0"/>
              <a:t>라는 조건부 질문입니다</a:t>
            </a:r>
            <a:r>
              <a:rPr lang="en-US" altLang="ko-KR" dirty="0"/>
              <a:t>. </a:t>
            </a:r>
            <a:r>
              <a:rPr lang="ko-KR" altLang="en-US" dirty="0"/>
              <a:t>곡선을 </a:t>
            </a:r>
            <a:r>
              <a:rPr lang="en-US" altLang="ko-KR" dirty="0"/>
              <a:t>R1</a:t>
            </a:r>
            <a:r>
              <a:rPr lang="ko-KR" altLang="en-US" dirty="0"/>
              <a:t>부터 </a:t>
            </a:r>
            <a:r>
              <a:rPr lang="en-US" altLang="ko-KR" dirty="0"/>
              <a:t>R4</a:t>
            </a:r>
            <a:r>
              <a:rPr lang="ko-KR" altLang="en-US" dirty="0"/>
              <a:t>까지 </a:t>
            </a:r>
            <a:r>
              <a:rPr lang="en-US" altLang="ko-KR" dirty="0"/>
              <a:t>4</a:t>
            </a:r>
            <a:r>
              <a:rPr lang="ko-KR" altLang="en-US" dirty="0"/>
              <a:t>개 구간으로 나눠서 각 구간의 특징을 </a:t>
            </a:r>
            <a:r>
              <a:rPr lang="ko-KR" altLang="en-US" dirty="0" err="1"/>
              <a:t>락다운한</a:t>
            </a:r>
            <a:r>
              <a:rPr lang="ko-KR" altLang="en-US" dirty="0"/>
              <a:t> </a:t>
            </a:r>
            <a:r>
              <a:rPr lang="en-US" altLang="ko-KR" dirty="0"/>
              <a:t>gate</a:t>
            </a:r>
            <a:r>
              <a:rPr lang="ko-KR" altLang="en-US" dirty="0"/>
              <a:t>를 만들었고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gate</a:t>
            </a:r>
            <a:r>
              <a:rPr lang="ko-KR" altLang="en-US" dirty="0"/>
              <a:t>의 </a:t>
            </a:r>
            <a:r>
              <a:rPr lang="en-US" altLang="ko-KR" dirty="0"/>
              <a:t>vote </a:t>
            </a:r>
            <a:r>
              <a:rPr lang="ko-KR" altLang="en-US" dirty="0"/>
              <a:t>결과로 </a:t>
            </a:r>
            <a:r>
              <a:rPr lang="en-US" altLang="ko-KR" dirty="0"/>
              <a:t>AEC+/- </a:t>
            </a:r>
            <a:r>
              <a:rPr lang="ko-KR" altLang="en-US" dirty="0"/>
              <a:t>를 판정합니다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135ED7-4989-F119-1C23-EB3789724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692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4E9D-A045-9BB3-5A5C-27507DE6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0B2827-58D3-7B92-0A8F-2F0CC513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24AAA9-BAAD-B748-8F33-4B24F4DC5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외부 코호트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, 922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에 적용한 결과</a:t>
            </a:r>
            <a:r>
              <a:rPr lang="en-US" altLang="ko-KR" dirty="0"/>
              <a:t>, clinical-positive </a:t>
            </a:r>
            <a:r>
              <a:rPr lang="ko-KR" altLang="en-US" dirty="0"/>
              <a:t>환자 중 </a:t>
            </a:r>
            <a:r>
              <a:rPr lang="en-US" altLang="ko-KR" dirty="0"/>
              <a:t>AEC+ </a:t>
            </a:r>
            <a:r>
              <a:rPr lang="ko-KR" altLang="en-US" dirty="0"/>
              <a:t>그룹의 저</a:t>
            </a:r>
            <a:r>
              <a:rPr lang="en-US" altLang="ko-KR" dirty="0"/>
              <a:t>SMI </a:t>
            </a:r>
            <a:r>
              <a:rPr lang="ko-KR" altLang="en-US" dirty="0"/>
              <a:t>비율은 </a:t>
            </a:r>
            <a:r>
              <a:rPr lang="en-US" altLang="ko-KR" dirty="0"/>
              <a:t>15.9%(44</a:t>
            </a:r>
            <a:r>
              <a:rPr lang="ko-KR" altLang="en-US" dirty="0"/>
              <a:t>명 중 </a:t>
            </a:r>
            <a:r>
              <a:rPr lang="en-US" altLang="ko-KR" dirty="0"/>
              <a:t>7</a:t>
            </a:r>
            <a:r>
              <a:rPr lang="ko-KR" altLang="en-US" dirty="0"/>
              <a:t>명</a:t>
            </a:r>
            <a:r>
              <a:rPr lang="en-US" altLang="ko-KR" dirty="0"/>
              <a:t>), AEC- </a:t>
            </a:r>
            <a:r>
              <a:rPr lang="ko-KR" altLang="en-US" dirty="0"/>
              <a:t>그룹은 </a:t>
            </a:r>
            <a:r>
              <a:rPr lang="en-US" altLang="ko-KR" dirty="0"/>
              <a:t>35.6%(637</a:t>
            </a:r>
            <a:r>
              <a:rPr lang="ko-KR" altLang="en-US" dirty="0"/>
              <a:t>명 중 </a:t>
            </a:r>
            <a:r>
              <a:rPr lang="en-US" altLang="ko-KR" dirty="0"/>
              <a:t>227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로</a:t>
            </a:r>
            <a:r>
              <a:rPr lang="en-US" altLang="ko-KR" dirty="0"/>
              <a:t>Fisher's exact test p=0.008</a:t>
            </a:r>
            <a:r>
              <a:rPr lang="ko-KR" altLang="en-US" dirty="0"/>
              <a:t>로 유의한 차이가 있었습니다</a:t>
            </a:r>
            <a:r>
              <a:rPr lang="en-US" altLang="ko-KR" dirty="0"/>
              <a:t>. </a:t>
            </a:r>
            <a:r>
              <a:rPr lang="ko-KR" altLang="en-US" dirty="0"/>
              <a:t>다만 공식 </a:t>
            </a:r>
            <a:r>
              <a:rPr lang="en-US" altLang="ko-KR" dirty="0"/>
              <a:t>noninferiority</a:t>
            </a:r>
            <a:r>
              <a:rPr lang="ko-KR" altLang="en-US" dirty="0"/>
              <a:t>기준</a:t>
            </a:r>
            <a:r>
              <a:rPr lang="en-US" altLang="ko-KR" dirty="0"/>
              <a:t>(sensitivity loss 5%p </a:t>
            </a:r>
            <a:r>
              <a:rPr lang="ko-KR" altLang="en-US" dirty="0"/>
              <a:t>이내</a:t>
            </a:r>
            <a:r>
              <a:rPr lang="en-US" altLang="ko-KR" dirty="0"/>
              <a:t>, one-sided 95% CI)</a:t>
            </a:r>
            <a:r>
              <a:rPr lang="ko-KR" altLang="en-US" dirty="0"/>
              <a:t>으로 보면 내부 코호트</a:t>
            </a:r>
            <a:r>
              <a:rPr lang="en-US" altLang="ko-KR" dirty="0"/>
              <a:t>(</a:t>
            </a:r>
            <a:r>
              <a:rPr lang="ko-KR" altLang="en-US" dirty="0"/>
              <a:t>강남</a:t>
            </a:r>
            <a:r>
              <a:rPr lang="en-US" altLang="ko-KR" dirty="0"/>
              <a:t>)</a:t>
            </a:r>
            <a:r>
              <a:rPr lang="ko-KR" altLang="en-US" dirty="0"/>
              <a:t>는 통과했지만 외부 코호트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5.22%p</a:t>
            </a:r>
            <a:r>
              <a:rPr lang="ko-KR" altLang="en-US" dirty="0"/>
              <a:t>로 근소하게 통과하지 못했습니다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Fisher test </a:t>
            </a:r>
            <a:r>
              <a:rPr lang="ko-KR" altLang="en-US" dirty="0"/>
              <a:t>자체는 유의하지만 </a:t>
            </a:r>
            <a:r>
              <a:rPr lang="en-US" altLang="ko-KR" dirty="0"/>
              <a:t>formal safety margin</a:t>
            </a:r>
            <a:r>
              <a:rPr lang="ko-KR" altLang="en-US" dirty="0"/>
              <a:t>은 아직 통과하지 못한 상태입니다</a:t>
            </a:r>
            <a:r>
              <a:rPr lang="en-US" altLang="ko-KR" dirty="0"/>
              <a:t>. </a:t>
            </a:r>
            <a:r>
              <a:rPr lang="ko-KR" altLang="en-US" dirty="0"/>
              <a:t>저는 이걸 실패로 보지 않고</a:t>
            </a:r>
            <a:r>
              <a:rPr lang="en-US" altLang="ko-KR" dirty="0"/>
              <a:t>, </a:t>
            </a:r>
            <a:r>
              <a:rPr lang="ko-KR" altLang="en-US" dirty="0"/>
              <a:t>오늘 본편</a:t>
            </a:r>
            <a:r>
              <a:rPr lang="en-US" altLang="ko-KR" dirty="0"/>
              <a:t>(FDA + Propensity Matching)</a:t>
            </a:r>
            <a:r>
              <a:rPr lang="ko-KR" altLang="en-US" dirty="0"/>
              <a:t>과 이 트랙이 서로 다른 질문 </a:t>
            </a:r>
            <a:r>
              <a:rPr lang="en-US" altLang="ko-KR" dirty="0"/>
              <a:t>— </a:t>
            </a:r>
            <a:r>
              <a:rPr lang="ko-KR" altLang="en-US" dirty="0"/>
              <a:t>독립적 진단 가능성 </a:t>
            </a:r>
            <a:r>
              <a:rPr lang="en-US" altLang="ko-KR" dirty="0"/>
              <a:t>vs </a:t>
            </a:r>
            <a:r>
              <a:rPr lang="ko-KR" altLang="en-US" dirty="0"/>
              <a:t>조건부 </a:t>
            </a:r>
            <a:r>
              <a:rPr lang="en-US" altLang="ko-KR" dirty="0"/>
              <a:t>de-escalation — </a:t>
            </a:r>
            <a:r>
              <a:rPr lang="ko-KR" altLang="en-US" dirty="0"/>
              <a:t>을 묻고 있고</a:t>
            </a:r>
            <a:r>
              <a:rPr lang="en-US" altLang="ko-KR" dirty="0"/>
              <a:t>,</a:t>
            </a:r>
            <a:r>
              <a:rPr lang="ko-KR" altLang="en-US" dirty="0"/>
              <a:t>그 답도 완전히 같지는 않다는 점 자체가 다음에 파고들 가치가 있는 지점이라고 생각합니다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2083A-38C4-ADEC-FCC5-11FFA36A4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7648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6B93E-F5E1-D24B-94B9-BD6B6C1E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8C7A47-259C-0762-1665-07E37CDC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228359-9B1F-B704-5F7E-FD122AB2C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현재까지의 결론은 이렇습니다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AEC curve</a:t>
            </a:r>
            <a:r>
              <a:rPr lang="ko-KR" altLang="en-US" dirty="0"/>
              <a:t>는 저</a:t>
            </a:r>
            <a:r>
              <a:rPr lang="en-US" altLang="ko-KR" dirty="0"/>
              <a:t>SMI</a:t>
            </a:r>
            <a:r>
              <a:rPr lang="ko-KR" altLang="en-US" dirty="0"/>
              <a:t>군에서 통계적으로 유의하게 다릅니다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그럼에도 지금까지 시도한 어떤 방식으로도 예측모델의 </a:t>
            </a:r>
            <a:r>
              <a:rPr lang="en-US" altLang="ko-KR" dirty="0"/>
              <a:t>Best AUC</a:t>
            </a:r>
            <a:r>
              <a:rPr lang="ko-KR" altLang="en-US" dirty="0"/>
              <a:t>는 여전히 </a:t>
            </a:r>
            <a:r>
              <a:rPr lang="en-US" altLang="ko-KR" dirty="0"/>
              <a:t>clinic-only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스칼라 피처부터 </a:t>
            </a:r>
            <a:r>
              <a:rPr lang="en-US" altLang="ko-KR" dirty="0"/>
              <a:t>cross-attention</a:t>
            </a:r>
            <a:r>
              <a:rPr lang="ko-KR" altLang="en-US" dirty="0"/>
              <a:t>까지 </a:t>
            </a:r>
            <a:r>
              <a:rPr lang="en-US" altLang="ko-KR" dirty="0"/>
              <a:t>14</a:t>
            </a:r>
            <a:r>
              <a:rPr lang="ko-KR" altLang="en-US" dirty="0"/>
              <a:t>가지 변형이 전부 실패했습니다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propensity matching</a:t>
            </a:r>
            <a:r>
              <a:rPr lang="ko-KR" altLang="en-US" dirty="0"/>
              <a:t>으로 확인한 결과 원래 효과 크기의 대부분</a:t>
            </a:r>
            <a:r>
              <a:rPr lang="en-US" altLang="ko-KR" dirty="0"/>
              <a:t>(47~92%)</a:t>
            </a:r>
            <a:r>
              <a:rPr lang="ko-KR" altLang="en-US" dirty="0"/>
              <a:t>이 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 </a:t>
            </a:r>
            <a:r>
              <a:rPr lang="en-US" altLang="ko-KR" dirty="0"/>
              <a:t>confounding</a:t>
            </a:r>
            <a:r>
              <a:rPr lang="ko-KR" altLang="en-US" dirty="0"/>
              <a:t>으로 설명됩니다</a:t>
            </a:r>
            <a:r>
              <a:rPr lang="en-US" altLang="ko-KR" dirty="0"/>
              <a:t>. </a:t>
            </a:r>
            <a:r>
              <a:rPr lang="ko-KR" altLang="en-US" dirty="0"/>
              <a:t>그래서 지금 시점에서는 </a:t>
            </a:r>
            <a:r>
              <a:rPr lang="en-US" altLang="ko-KR" dirty="0"/>
              <a:t>clinic 4</a:t>
            </a:r>
            <a:r>
              <a:rPr lang="ko-KR" altLang="en-US" dirty="0"/>
              <a:t>변수 로지스틱 회귀가 가장 간단하고 경쟁력 있는 모델입니다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그럼 이 프로젝트는 여기서 끝인가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예측모델 개선 라인은 정보량의 한계에 부딪혔다고 보지만</a:t>
            </a:r>
            <a:r>
              <a:rPr lang="en-US" altLang="ko-KR" dirty="0"/>
              <a:t>, confounding </a:t>
            </a:r>
            <a:r>
              <a:rPr lang="ko-KR" altLang="en-US" dirty="0"/>
              <a:t>검증자체는 아직 </a:t>
            </a:r>
            <a:r>
              <a:rPr lang="en-US" altLang="ko-KR" dirty="0"/>
              <a:t>caliper/</a:t>
            </a:r>
            <a:r>
              <a:rPr lang="ko-KR" altLang="en-US" dirty="0" err="1"/>
              <a:t>외부코호트</a:t>
            </a:r>
            <a:r>
              <a:rPr lang="en-US" altLang="ko-KR" dirty="0"/>
              <a:t>/</a:t>
            </a:r>
            <a:r>
              <a:rPr lang="ko-KR" altLang="en-US" dirty="0"/>
              <a:t>매칭 비율 등에서 더 엄밀하게 다질 여지가 있고</a:t>
            </a:r>
            <a:r>
              <a:rPr lang="en-US" altLang="ko-KR" dirty="0"/>
              <a:t>,</a:t>
            </a:r>
            <a:r>
              <a:rPr lang="ko-KR" altLang="en-US" dirty="0"/>
              <a:t>다음 슬라이드의 대안 방향들도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A813F-A069-1AE4-F76C-4473CBC0C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62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7AF1-258B-993F-5E0C-3B2A646E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A8AF11-87CA-32F1-F703-6A8E1F4A7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8452D2-5E53-14D1-A8A0-31DFE247C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단계로 세 가지를 생각하고 있습니다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caliper</a:t>
            </a:r>
            <a:r>
              <a:rPr lang="ko-KR" altLang="en-US" dirty="0"/>
              <a:t>를 더 좁혀서 매칭을 더 엄격하게 해도 지금과 같은 패턴</a:t>
            </a:r>
            <a:r>
              <a:rPr lang="en-US" altLang="ko-KR" dirty="0"/>
              <a:t>, </a:t>
            </a:r>
            <a:r>
              <a:rPr lang="ko-KR" altLang="en-US" dirty="0"/>
              <a:t>그러니까 방향은 유지되고 크기는 줄어드는 패턴이 재현되는지 확인하겠습니다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1:k </a:t>
            </a:r>
            <a:r>
              <a:rPr lang="ko-KR" altLang="en-US" dirty="0"/>
              <a:t>매칭으로 </a:t>
            </a:r>
            <a:r>
              <a:rPr lang="ko-KR" altLang="en-US" dirty="0" err="1"/>
              <a:t>검정력을</a:t>
            </a:r>
            <a:r>
              <a:rPr lang="ko-KR" altLang="en-US" dirty="0"/>
              <a:t> 보강하겠습니다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,continuous SMI </a:t>
            </a:r>
            <a:r>
              <a:rPr lang="ko-KR" altLang="en-US" dirty="0"/>
              <a:t>회귀나 </a:t>
            </a:r>
            <a:r>
              <a:rPr lang="en-US" altLang="ko-KR" dirty="0"/>
              <a:t>manufacturer/protocol confounding </a:t>
            </a:r>
            <a:r>
              <a:rPr lang="ko-KR" altLang="en-US" dirty="0"/>
              <a:t>감사 같은 대안적인 방향도 열어두고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외부 코호트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) </a:t>
            </a:r>
            <a:r>
              <a:rPr lang="ko-KR" altLang="en-US" dirty="0"/>
              <a:t>검증 계획은 없나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슬라이드 </a:t>
            </a:r>
            <a:r>
              <a:rPr lang="en-US" altLang="ko-KR" dirty="0"/>
              <a:t>4</a:t>
            </a:r>
            <a:r>
              <a:rPr lang="ko-KR" altLang="en-US" dirty="0"/>
              <a:t>에서 언급한 신촌 코호트</a:t>
            </a:r>
            <a:r>
              <a:rPr lang="en-US" altLang="ko-KR" dirty="0"/>
              <a:t>(n=922)</a:t>
            </a:r>
            <a:r>
              <a:rPr lang="ko-KR" altLang="en-US" dirty="0"/>
              <a:t>가 이미 확보되어 있어서</a:t>
            </a:r>
            <a:r>
              <a:rPr lang="en-US" altLang="ko-KR" dirty="0"/>
              <a:t>, </a:t>
            </a:r>
            <a:r>
              <a:rPr lang="ko-KR" altLang="en-US" dirty="0"/>
              <a:t>같은 매칭  절차를 신촌에 적용해 방향</a:t>
            </a:r>
            <a:r>
              <a:rPr lang="en-US" altLang="ko-KR" dirty="0"/>
              <a:t>/</a:t>
            </a:r>
            <a:r>
              <a:rPr lang="ko-KR" altLang="en-US" dirty="0"/>
              <a:t>크기비가 재현되는지 확인하는 것도 우선순위가 높은  다음 단계입니다</a:t>
            </a:r>
            <a:r>
              <a:rPr lang="en-US" altLang="ko-KR" dirty="0"/>
              <a:t>.</a:t>
            </a:r>
          </a:p>
          <a:p>
            <a:pPr marL="228600" indent="-228600">
              <a:buAutoNum type="alphaU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가장 우선순위가 높은 다음 실험은 뭔가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(</a:t>
            </a:r>
            <a:r>
              <a:rPr lang="ko-KR" altLang="en-US" dirty="0"/>
              <a:t>발표자 판단에 따라 답변 </a:t>
            </a:r>
            <a:r>
              <a:rPr lang="en-US" altLang="ko-KR" dirty="0"/>
              <a:t>— </a:t>
            </a:r>
            <a:r>
              <a:rPr lang="ko-KR" altLang="en-US" dirty="0"/>
              <a:t>예</a:t>
            </a:r>
            <a:r>
              <a:rPr lang="en-US" altLang="ko-KR" dirty="0"/>
              <a:t>: caliper sensitivity </a:t>
            </a:r>
            <a:r>
              <a:rPr lang="ko-KR" altLang="en-US" dirty="0"/>
              <a:t>분석이 가장 빠르고 저비용으로  </a:t>
            </a:r>
            <a:r>
              <a:rPr lang="en-US" altLang="ko-KR" dirty="0"/>
              <a:t>"confounding vs </a:t>
            </a:r>
            <a:r>
              <a:rPr lang="ko-KR" altLang="en-US" dirty="0" err="1"/>
              <a:t>검정력</a:t>
            </a:r>
            <a:r>
              <a:rPr lang="ko-KR" altLang="en-US" dirty="0"/>
              <a:t> 부족</a:t>
            </a:r>
            <a:r>
              <a:rPr lang="en-US" altLang="ko-KR" dirty="0"/>
              <a:t>" </a:t>
            </a:r>
            <a:r>
              <a:rPr lang="ko-KR" altLang="en-US" dirty="0"/>
              <a:t>질문에 답을 줄 수 있어서 우선순위가 높다고 판단됩니다</a:t>
            </a:r>
            <a:r>
              <a:rPr lang="en-US" altLang="ko-KR" dirty="0"/>
              <a:t>.)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D2A43-4D69-C27D-54A9-F2380094D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0385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이상입니다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/>
              <a:t>.</a:t>
            </a:r>
            <a:endParaRPr dirty="0"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82797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Data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Analysis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and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</a:t>
            </a:r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-</a:t>
            </a:r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Matched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Validation</a:t>
            </a:r>
            <a:endParaRPr lang="en-US" altLang="ko-KR"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2026. 07. 03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AEC Hand-Craft Feature 60</a:t>
            </a:r>
            <a:r>
              <a:rPr lang="ko-KR" altLang="en-US" dirty="0"/>
              <a:t>개 이상 추출</a:t>
            </a:r>
            <a:endParaRPr lang="en-US" altLang="ko-KR" dirty="0"/>
          </a:p>
          <a:p>
            <a:r>
              <a:rPr lang="en-US" altLang="ko-KR" dirty="0"/>
              <a:t>Gate Mechanism </a:t>
            </a:r>
            <a:r>
              <a:rPr lang="ko-KR" altLang="en-US" dirty="0"/>
              <a:t>구현</a:t>
            </a:r>
            <a:r>
              <a:rPr lang="en-US" altLang="ko-KR" dirty="0"/>
              <a:t> (AEC </a:t>
            </a:r>
            <a:r>
              <a:rPr lang="ko-KR" altLang="en-US" dirty="0"/>
              <a:t>기여도 모델이 자율 결정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성별 분리 분석 및 </a:t>
            </a:r>
            <a:r>
              <a:rPr lang="en-US" altLang="ko-KR" dirty="0"/>
              <a:t>AEC </a:t>
            </a:r>
            <a:r>
              <a:rPr lang="ko-KR" altLang="en-US" dirty="0"/>
              <a:t>기여도 비교</a:t>
            </a:r>
            <a:endParaRPr lang="en-US" altLang="ko-KR" dirty="0"/>
          </a:p>
          <a:p>
            <a:r>
              <a:rPr lang="en-US" altLang="ko-KR" dirty="0"/>
              <a:t>Grad-CAM Liver </a:t>
            </a:r>
            <a:r>
              <a:rPr lang="ko-KR" altLang="en-US" dirty="0"/>
              <a:t>영역</a:t>
            </a:r>
            <a:r>
              <a:rPr lang="en-US" altLang="ko-KR" dirty="0"/>
              <a:t>(</a:t>
            </a:r>
            <a:r>
              <a:rPr lang="ko-KR" altLang="en-US" dirty="0"/>
              <a:t>후반부</a:t>
            </a:r>
            <a:r>
              <a:rPr lang="en-US" altLang="ko-KR" dirty="0"/>
              <a:t>) </a:t>
            </a:r>
            <a:r>
              <a:rPr lang="ko-KR" altLang="en-US" dirty="0"/>
              <a:t>집중 </a:t>
            </a:r>
            <a:r>
              <a:rPr lang="ko-KR" altLang="en-US" dirty="0" err="1"/>
              <a:t>크롭</a:t>
            </a:r>
            <a:r>
              <a:rPr lang="ko-KR" altLang="en-US" dirty="0"/>
              <a:t> 실험</a:t>
            </a:r>
            <a:endParaRPr lang="en-US" altLang="ko-KR" dirty="0"/>
          </a:p>
          <a:p>
            <a:r>
              <a:rPr lang="en-US" altLang="ko-KR" dirty="0"/>
              <a:t>AEC </a:t>
            </a:r>
            <a:r>
              <a:rPr lang="ko-KR" altLang="en-US" dirty="0"/>
              <a:t>커브 임상 해석</a:t>
            </a:r>
            <a:r>
              <a:rPr lang="en-US" altLang="ko-KR" dirty="0"/>
              <a:t>: 80</a:t>
            </a:r>
            <a:r>
              <a:rPr lang="ko-KR" altLang="en-US" dirty="0"/>
              <a:t>번째 슬라이스 </a:t>
            </a:r>
            <a:r>
              <a:rPr lang="ko-KR" altLang="en-US" dirty="0" err="1"/>
              <a:t>크로싱</a:t>
            </a:r>
            <a:r>
              <a:rPr lang="ko-KR" altLang="en-US" dirty="0"/>
              <a:t> 패턴 분석 </a:t>
            </a:r>
            <a:r>
              <a:rPr lang="en-US" altLang="ko-KR" dirty="0"/>
              <a:t>(</a:t>
            </a:r>
            <a:r>
              <a:rPr lang="ko-KR" altLang="en-US" dirty="0"/>
              <a:t>여성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128×128 </a:t>
            </a:r>
            <a:r>
              <a:rPr lang="ko-KR" altLang="en-US" dirty="0"/>
              <a:t>입력 방식</a:t>
            </a:r>
            <a:r>
              <a:rPr lang="en-US" altLang="ko-KR" dirty="0"/>
              <a:t>(</a:t>
            </a:r>
            <a:r>
              <a:rPr lang="ko-KR" altLang="en-US" dirty="0"/>
              <a:t>슬라이스 간 전역 상관관계</a:t>
            </a:r>
            <a:r>
              <a:rPr lang="en-US" altLang="ko-KR" dirty="0"/>
              <a:t>) </a:t>
            </a:r>
            <a:r>
              <a:rPr lang="ko-KR" altLang="en-US" dirty="0"/>
              <a:t>가능성 검토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 Data Analysis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로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curve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유의한 </a:t>
            </a:r>
            <a:r>
              <a:rPr lang="ko-KR" altLang="en-US" sz="1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그룹차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발견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지점을 독립변수로 본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 시도는 방법론적으로 부적절함이 확인되어 폐기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B-spline smoothing → Level/Derivative FPCA → pointwise FDR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검정으로 재설계</a:t>
            </a:r>
          </a:p>
          <a:p>
            <a:pPr>
              <a:spcAft>
                <a:spcPts val="1000"/>
              </a:spcAft>
            </a:pP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 신호를 예측모델에 추가해도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clinic-only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못 이김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스칼라 피처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cross-attention,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다양한 정규화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구조 변형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—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전부 실패</a:t>
            </a:r>
          </a:p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 Score Matching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왜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?"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직접 검증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체격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(Age/Height/Weight)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매칭하니 신호 크기의 대부분이 사라짐</a:t>
            </a:r>
          </a:p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Negative result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지만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방법론적으로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rigorous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하게 검증된 결과</a:t>
            </a:r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D1E8-D534-CE49-DFD3-D2FE42D1B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3F42A-35E5-A8FF-2E40-C631DBE0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A79AE-7650-605B-5F4B-381B499A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8370CC8-5180-4116-2C69-517CC8C7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정의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aec_1~aec_128: CT AEC(Automatic Exposure Control) tube current(mA) curve,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환자당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곡선</a:t>
            </a:r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Landmark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정규화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aec_1=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치골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(pubis), aec_128=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간 상부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(liver upper)</a:t>
            </a:r>
          </a:p>
          <a:p>
            <a:pPr lvl="2">
              <a:spcAft>
                <a:spcPts val="1000"/>
              </a:spcAft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index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물리적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mm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위치가 아니라 상대위치 → 환자 간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pointwise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비교가 방법론적으로 타당</a:t>
            </a:r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= (TAMA − IMATA) / (Height/100)^2, L3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레벨 표준 임상 공식</a:t>
            </a:r>
          </a:p>
          <a:p>
            <a:pPr lvl="2">
              <a:spcAft>
                <a:spcPts val="1000"/>
              </a:spcAft>
            </a:pP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성별에 따른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cutoff(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&lt;43.0,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&lt;34.0)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Output(0=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정상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1=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SMI)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정의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강남 코호트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n=1,082 (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388 /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694),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237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(21.9%)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외부 코호트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신촌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n=922 (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일부 후속 분석에서 사용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286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DC78-5FAB-D98A-6926-41BDAFB0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7FED3-6010-C285-DF0B-B06186FF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2EC4F9-DB6B-3454-32CE-B860B9CE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3CB2168-9EDB-A4ED-109D-FCF7EFC1C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Functional Data Analysis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</a:p>
          <a:p>
            <a:pPr marL="742950" lvl="1" indent="-285750">
              <a:spcAft>
                <a:spcPts val="1000"/>
              </a:spcAft>
            </a:pP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 시도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폐기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): 128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독립 변수로 간주</a:t>
            </a:r>
          </a:p>
          <a:p>
            <a:pPr marL="1200150" lvl="2" indent="-285750">
              <a:spcAft>
                <a:spcPts val="1000"/>
              </a:spcAft>
            </a:pP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단변량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검정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 클러스터링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(dendrogram) + PCA + Elastic Net</a:t>
            </a:r>
          </a:p>
          <a:p>
            <a:pPr marL="1200150" lvl="2" indent="-285750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실제로는 곡선 데이터라는 게 밝혀지며 방법론적 부적절함 확인</a:t>
            </a:r>
          </a:p>
          <a:p>
            <a:pPr marL="742950" lvl="1" indent="-285750">
              <a:spcAft>
                <a:spcPts val="1000"/>
              </a:spcAft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 시도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채택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): Ramsay &amp; Silverman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 Data Analysis</a:t>
            </a:r>
          </a:p>
          <a:p>
            <a:pPr marL="1200150" lvl="2" indent="-285750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B-spline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기저로 곡선 </a:t>
            </a: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스무딩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200150" lvl="2" indent="-285750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Level FPCA + Derivative FPCA → pointwise FDR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검정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02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2989-0625-9492-EAEE-B72F45C4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381D9-6018-561E-025C-89780186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0132C-75C6-0686-9B16-956F586D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5210EE5-8314-E440-4054-17427BEA7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Functional Data Analysis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2C10ACE-732F-47E5-0877-89A935E47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75099"/>
              </p:ext>
            </p:extLst>
          </p:nvPr>
        </p:nvGraphicFramePr>
        <p:xfrm>
          <a:off x="910263" y="1859220"/>
          <a:ext cx="10547266" cy="247886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88118">
                  <a:extLst>
                    <a:ext uri="{9D8B030D-6E8A-4147-A177-3AD203B41FA5}">
                      <a16:colId xmlns:a16="http://schemas.microsoft.com/office/drawing/2014/main" val="14621018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5240735"/>
                    </a:ext>
                  </a:extLst>
                </a:gridCol>
                <a:gridCol w="4125434">
                  <a:extLst>
                    <a:ext uri="{9D8B030D-6E8A-4147-A177-3AD203B41FA5}">
                      <a16:colId xmlns:a16="http://schemas.microsoft.com/office/drawing/2014/main" val="4118149664"/>
                    </a:ext>
                  </a:extLst>
                </a:gridCol>
                <a:gridCol w="4125434">
                  <a:extLst>
                    <a:ext uri="{9D8B030D-6E8A-4147-A177-3AD203B41FA5}">
                      <a16:colId xmlns:a16="http://schemas.microsoft.com/office/drawing/2014/main" val="643452114"/>
                    </a:ext>
                  </a:extLst>
                </a:gridCol>
              </a:tblGrid>
              <a:tr h="51702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Level FPCA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1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Derivative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FPCA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8107184"/>
                  </a:ext>
                </a:extLst>
              </a:tr>
              <a:tr h="517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입력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스무딩된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원곡선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자체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원곡선의 1차 도함수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'(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(기울기 곡선)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363573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잡아내는 것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곡선의 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"높이“</a:t>
                      </a:r>
                      <a:endParaRPr lang="en-US" altLang="ko-KR" sz="1400" b="1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(전체적으로 위/아래로 얼마나 이동했는가)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곡선의 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"모양/변화율“</a:t>
                      </a:r>
                      <a:endParaRPr lang="en-US" altLang="ko-KR" sz="1400" b="1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(어디서 얼마나 빠르게 오르내리는가)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93053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 프로젝트 결과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PC1이 분산의 88.5%(남)/85.3%(여) 설명</a:t>
                      </a:r>
                      <a:endParaRPr lang="en-US" altLang="ko-KR" sz="1400" b="0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→ 변동 대부분이 "높다/낮다" 하나의 축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별도의 유의한 변동 축 존재</a:t>
                      </a:r>
                      <a:endParaRPr lang="en-US" altLang="ko-KR" sz="1400" b="0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permutation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=0.0025/0.034)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6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11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0B07-3C9A-9110-559F-4A01A138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ec_fpca_components.png">
            <a:extLst>
              <a:ext uri="{FF2B5EF4-FFF2-40B4-BE49-F238E27FC236}">
                <a16:creationId xmlns:a16="http://schemas.microsoft.com/office/drawing/2014/main" id="{CBA1CD0C-FAC0-9E2C-3361-F2E0FF4E9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805" y="3309256"/>
            <a:ext cx="6877595" cy="30262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80B36F2-FAA9-CC76-AC2E-372FA1D3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1092B-37BB-534D-AA25-E2850618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3156CC-9ACF-5241-B7FC-12AFBF296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Level FPCA -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곡선의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높이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차이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PC1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분산의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88.5%(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/ 85.3%(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설명</a:t>
            </a:r>
          </a:p>
          <a:p>
            <a:pPr lvl="2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곡선 변동의 대부분이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전체적으로 높다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낮다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하나의 축에 집중</a:t>
            </a:r>
          </a:p>
          <a:p>
            <a:pPr lvl="1"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Permutation </a:t>
            </a:r>
            <a:r>
              <a:rPr lang="ko-KR" altLang="en-US" b="1" dirty="0">
                <a:latin typeface="KoPub돋움체 Medium" panose="00000600000000000000" pitchFamily="2" charset="-127"/>
              </a:rPr>
              <a:t>검정 </a:t>
            </a:r>
            <a:r>
              <a:rPr lang="en-US" altLang="ko-KR" b="1" dirty="0">
                <a:latin typeface="KoPub돋움체 Medium" panose="00000600000000000000" pitchFamily="2" charset="-127"/>
              </a:rPr>
              <a:t>: </a:t>
            </a:r>
            <a:r>
              <a:rPr lang="ko-KR" altLang="en-US" b="1" dirty="0">
                <a:latin typeface="KoPub돋움체 Medium" panose="00000600000000000000" pitchFamily="2" charset="-127"/>
              </a:rPr>
              <a:t>남 </a:t>
            </a:r>
            <a:r>
              <a:rPr lang="en-US" altLang="ko-KR" b="1" dirty="0">
                <a:latin typeface="KoPub돋움체 Medium" panose="00000600000000000000" pitchFamily="2" charset="-127"/>
              </a:rPr>
              <a:t>p=0.0025, </a:t>
            </a:r>
            <a:r>
              <a:rPr lang="ko-KR" altLang="en-US" b="1" dirty="0">
                <a:latin typeface="KoPub돋움체 Medium" panose="00000600000000000000" pitchFamily="2" charset="-127"/>
              </a:rPr>
              <a:t>여 </a:t>
            </a:r>
            <a:r>
              <a:rPr lang="en-US" altLang="ko-KR" b="1" dirty="0">
                <a:latin typeface="KoPub돋움체 Medium" panose="00000600000000000000" pitchFamily="2" charset="-127"/>
              </a:rPr>
              <a:t>p=0.0005</a:t>
            </a:r>
          </a:p>
          <a:p>
            <a:pPr lvl="2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</a:rPr>
              <a:t>곡선 높이 자체가 그룹 간 유의하게 다름</a:t>
            </a:r>
          </a:p>
        </p:txBody>
      </p:sp>
    </p:spTree>
    <p:extLst>
      <p:ext uri="{BB962C8B-B14F-4D97-AF65-F5344CB8AC3E}">
        <p14:creationId xmlns:p14="http://schemas.microsoft.com/office/powerpoint/2010/main" val="203586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0816-D7B4-5391-E4DE-1A39FDCE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7984E-94AC-AFE8-3EE4-3D682ACB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BDD61-68F0-F9B0-4767-4095FC5C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6D132D-4DFE-B63B-7426-FA4AF5D42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latin typeface="KoPub돋움체 Medium" panose="00000600000000000000" pitchFamily="2" charset="-127"/>
              </a:rPr>
              <a:t>임상 요약지표 </a:t>
            </a:r>
            <a:r>
              <a:rPr lang="en-US" altLang="ko-KR" b="1" dirty="0">
                <a:latin typeface="KoPub돋움체 Medium" panose="00000600000000000000" pitchFamily="2" charset="-127"/>
              </a:rPr>
              <a:t>- </a:t>
            </a:r>
            <a:r>
              <a:rPr lang="en-US" altLang="ko-KR" b="1" dirty="0" err="1">
                <a:latin typeface="KoPub돋움체 Medium" panose="00000600000000000000" pitchFamily="2" charset="-127"/>
              </a:rPr>
              <a:t>mean_mA</a:t>
            </a:r>
            <a:r>
              <a:rPr lang="ko-KR" altLang="en-US" b="1" dirty="0">
                <a:latin typeface="KoPub돋움체 Medium" panose="00000600000000000000" pitchFamily="2" charset="-127"/>
              </a:rPr>
              <a:t>가 핵심 신호</a:t>
            </a:r>
            <a:endParaRPr lang="en-US" altLang="ko-KR" b="1" dirty="0">
              <a:latin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en-US" altLang="ko-KR" sz="17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mean_mA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en-US" altLang="ko-KR" sz="17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auc_mA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남녀 모두 강하게 유의</a:t>
            </a:r>
          </a:p>
          <a:p>
            <a:pPr lvl="2">
              <a:spcAft>
                <a:spcPts val="1000"/>
              </a:spcAft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FDR p&lt;0.001, Cohen's d ≈ 0.34~0.47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SMI(</a:t>
            </a:r>
            <a:r>
              <a:rPr lang="ko-KR" altLang="en-US" sz="17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근감소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환자일수록 평균 관전류가 낮다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체격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감쇠 차이로 설명 가능한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가장 강하고 해석이 쉬운 신호</a:t>
            </a:r>
          </a:p>
          <a:p>
            <a:pPr lvl="2">
              <a:spcAft>
                <a:spcPts val="1000"/>
              </a:spcAft>
            </a:pP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신호가 나중에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confounding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검증의 핵심 타깃이 됨</a:t>
            </a:r>
          </a:p>
        </p:txBody>
      </p:sp>
      <p:pic>
        <p:nvPicPr>
          <p:cNvPr id="3" name="Picture 5" descr="aec_summary_features_boxplot.png">
            <a:extLst>
              <a:ext uri="{FF2B5EF4-FFF2-40B4-BE49-F238E27FC236}">
                <a16:creationId xmlns:a16="http://schemas.microsoft.com/office/drawing/2014/main" id="{9FBA8FAA-C582-F029-EFA7-2006B4064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143001"/>
            <a:ext cx="535577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0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E9CA-446A-A867-735D-4E36B4CA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A2334-58ED-C265-DC2B-F70FC981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D1DB5-50E9-4A31-52E8-74A85515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B8CA2F3-7A08-48F5-5127-A9DB8086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Pointwis</a:t>
            </a:r>
            <a:r>
              <a:rPr lang="en-US" altLang="ko-KR" dirty="0"/>
              <a:t> FDR – </a:t>
            </a:r>
            <a:r>
              <a:rPr lang="ko-KR" altLang="en-US" dirty="0"/>
              <a:t>정확히 어디서 차이가 나는가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1F43517A-F04E-3735-C389-3AA6C4AE5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384135"/>
              </p:ext>
            </p:extLst>
          </p:nvPr>
        </p:nvGraphicFramePr>
        <p:xfrm>
          <a:off x="548640" y="1628503"/>
          <a:ext cx="11016344" cy="1872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7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6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469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성별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유의구간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 (index)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위치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(%)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Cohen's d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방향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aec_62~71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48~55%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+0.41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normal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상승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/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low_SMI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하강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aec_103~113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80~88%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normal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하강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/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low_SMI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상승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aec_120~124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94~97%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둘 다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급락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,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low_SMI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완만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aec_104~115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81~90%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normal이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더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완만하게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하강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5" descr="aec_pointwise_derivative_test.png">
            <a:extLst>
              <a:ext uri="{FF2B5EF4-FFF2-40B4-BE49-F238E27FC236}">
                <a16:creationId xmlns:a16="http://schemas.microsoft.com/office/drawing/2014/main" id="{84AFEF51-EBAA-B27E-734A-55685DE64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74" y="3429000"/>
            <a:ext cx="7297783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7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69DF-3921-DE6C-5017-17CE2CD1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DD27D-D3E2-EF6E-684F-13734926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14CA7-1C1B-55BF-F8F6-C4125F95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9A491-CC10-C2AE-F9CF-0E7B6DC2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L3 </a:t>
            </a:r>
            <a:r>
              <a:rPr lang="ko-KR" altLang="en-US" dirty="0"/>
              <a:t>위치 검증 </a:t>
            </a:r>
            <a:r>
              <a:rPr lang="en-US" altLang="ko-KR" dirty="0"/>
              <a:t>– </a:t>
            </a:r>
            <a:r>
              <a:rPr lang="ko-KR" altLang="en-US" dirty="0"/>
              <a:t>유의구간이 실제 근육 측정 위치인가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벤더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AI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리포트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ClariSarco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OCR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L3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 위치 확인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 환자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n=1,076 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성공률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99.4%)</a:t>
            </a:r>
          </a:p>
          <a:p>
            <a:pPr lvl="1">
              <a:spcAft>
                <a:spcPts val="1000"/>
              </a:spcAft>
            </a:pPr>
            <a:r>
              <a:rPr lang="en-US" altLang="ko-KR" sz="1600" b="1" dirty="0">
                <a:latin typeface="KoPub돋움체 Medium" panose="00000600000000000000" pitchFamily="2" charset="-127"/>
              </a:rPr>
              <a:t>L3 </a:t>
            </a:r>
            <a:r>
              <a:rPr lang="ko-KR" altLang="en-US" sz="1600" b="1" dirty="0">
                <a:latin typeface="KoPub돋움체 Medium" panose="00000600000000000000" pitchFamily="2" charset="-127"/>
              </a:rPr>
              <a:t>위치</a:t>
            </a:r>
            <a:r>
              <a:rPr lang="en-US" altLang="ko-KR" sz="1600" b="1" dirty="0">
                <a:latin typeface="KoPub돋움체 Medium" panose="00000600000000000000" pitchFamily="2" charset="-127"/>
              </a:rPr>
              <a:t>: </a:t>
            </a:r>
            <a:r>
              <a:rPr lang="ko-KR" altLang="en-US" sz="1600" b="1" dirty="0">
                <a:latin typeface="KoPub돋움체 Medium" panose="00000600000000000000" pitchFamily="2" charset="-127"/>
              </a:rPr>
              <a:t>평균 </a:t>
            </a:r>
            <a:r>
              <a:rPr lang="en-US" altLang="ko-KR" sz="1600" b="1" dirty="0">
                <a:latin typeface="KoPub돋움체 Medium" panose="00000600000000000000" pitchFamily="2" charset="-127"/>
              </a:rPr>
              <a:t>61.7% ± SD 4.7% (</a:t>
            </a:r>
            <a:r>
              <a:rPr lang="ko-KR" altLang="en-US" sz="1600" b="1" dirty="0">
                <a:latin typeface="KoPub돋움체 Medium" panose="00000600000000000000" pitchFamily="2" charset="-127"/>
              </a:rPr>
              <a:t>중앙값 </a:t>
            </a:r>
            <a:r>
              <a:rPr lang="en-US" altLang="ko-KR" sz="1600" b="1" dirty="0">
                <a:latin typeface="KoPub돋움체 Medium" panose="00000600000000000000" pitchFamily="2" charset="-127"/>
              </a:rPr>
              <a:t>62.0%)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유의구간①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(48~55%)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겹침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72/1,076 (6.7%)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유의구간②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(80~97%)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와 겹침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0/1,076 (0%)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발견된 신호는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L3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보다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인접 부위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체성분을 반영할 가능성</a:t>
            </a:r>
          </a:p>
        </p:txBody>
      </p:sp>
      <p:pic>
        <p:nvPicPr>
          <p:cNvPr id="3" name="Picture 5" descr="l3_position_distribution.png">
            <a:extLst>
              <a:ext uri="{FF2B5EF4-FFF2-40B4-BE49-F238E27FC236}">
                <a16:creationId xmlns:a16="http://schemas.microsoft.com/office/drawing/2014/main" id="{A4CCDFEC-80CC-2584-BD36-0775E09FA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955" y="1768082"/>
            <a:ext cx="5577840" cy="332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30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80CC-7CDC-5DBA-1FE2-62B0A060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C5F55-8068-A992-885E-EA8E78AC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0FCC84-10D9-0C2D-D721-DCDA63C5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FBB98A3-B205-41A5-7837-3719BB6F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실험 설계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Baseline: clinic-only 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나이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키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몸무게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로지스틱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ROC-AUC 0.776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질문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여기에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aec_128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신호를 더하면 나아지는가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시도한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가지 방식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원본 스칼라 피처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mean_mA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+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유의구간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slope 3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Height/Weight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잔차화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residualized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피처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교차항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(sex interaction)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Elastic Net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⑤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원곡선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포인트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Cross-Attention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신경망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동일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fold(</a:t>
            </a:r>
            <a:r>
              <a:rPr lang="en-US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RepeatedStratifiedKFold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위에서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Wilcoxon paired test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비교</a:t>
            </a:r>
          </a:p>
        </p:txBody>
      </p:sp>
    </p:spTree>
    <p:extLst>
      <p:ext uri="{BB962C8B-B14F-4D97-AF65-F5344CB8AC3E}">
        <p14:creationId xmlns:p14="http://schemas.microsoft.com/office/powerpoint/2010/main" val="39710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5E695-6CD0-4530-A386-3B426077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EC056-B0CF-E56A-4811-03739C84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7DA14E-1A14-F3A7-DEE1-0A562B0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677349-B754-D0FB-DB61-4201917DD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결과 </a:t>
            </a:r>
            <a:r>
              <a:rPr lang="en-US" altLang="ko-KR" dirty="0"/>
              <a:t>– 5</a:t>
            </a:r>
            <a:r>
              <a:rPr lang="ko-KR" altLang="en-US" dirty="0"/>
              <a:t>가지 전부 </a:t>
            </a:r>
            <a:r>
              <a:rPr lang="en-US" altLang="ko-KR" dirty="0"/>
              <a:t>clinic-only</a:t>
            </a:r>
            <a:r>
              <a:rPr lang="ko-KR" altLang="en-US" dirty="0"/>
              <a:t>를 못 이김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3ACC8F9-E878-611C-10B8-917DAA091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95235"/>
              </p:ext>
            </p:extLst>
          </p:nvPr>
        </p:nvGraphicFramePr>
        <p:xfrm>
          <a:off x="548640" y="1680755"/>
          <a:ext cx="672356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변형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PR-AUC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vs clinic-only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clinic-only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0.5196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(raw)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(p=0.625)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residualized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0.5096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(p=0.625)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sex_interaction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(p=0.0625)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elasticnet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0.5100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(p=0.8125)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5" descr="model_comparison_roc.png">
            <a:extLst>
              <a:ext uri="{FF2B5EF4-FFF2-40B4-BE49-F238E27FC236}">
                <a16:creationId xmlns:a16="http://schemas.microsoft.com/office/drawing/2014/main" id="{938E7B34-C201-EDF0-3E5E-B2C2A94D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480560" cy="4480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FDADC-2DAD-CDFC-3BA8-7E6E931CF463}"/>
              </a:ext>
            </a:extLst>
          </p:cNvPr>
          <p:cNvSpPr txBox="1"/>
          <p:nvPr/>
        </p:nvSpPr>
        <p:spPr>
          <a:xfrm>
            <a:off x="548640" y="4159244"/>
            <a:ext cx="627888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Elasticnet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계수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Height/Weight/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Age가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지배적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4개는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전부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작음</a:t>
            </a:r>
            <a:endParaRPr sz="1500" b="0" i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mean_mA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-Weight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0.54 →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가설의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첫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단서</a:t>
            </a:r>
            <a:endParaRPr sz="1500" b="0" i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99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2847-C3F8-C424-E19B-D96AE2B7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464E9-1B0F-FAC0-7247-06B4F411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EDDE7-A8DF-908F-A044-CF59361D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5AEBA00-8A0B-78F4-BD31-73F4C01D2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KoPub돋움체 Medium" panose="00000600000000000000" pitchFamily="2" charset="-127"/>
              </a:rPr>
              <a:t>정교화해도 마찬가지 </a:t>
            </a:r>
            <a:r>
              <a:rPr lang="en-US" altLang="ko-KR" b="1">
                <a:latin typeface="KoPub돋움체 Medium" panose="00000600000000000000" pitchFamily="2" charset="-127"/>
              </a:rPr>
              <a:t>- </a:t>
            </a:r>
            <a:r>
              <a:rPr lang="en-US" altLang="ko-KR" b="1" dirty="0">
                <a:latin typeface="KoPub돋움체 Medium" panose="00000600000000000000" pitchFamily="2" charset="-127"/>
              </a:rPr>
              <a:t>20-fold</a:t>
            </a:r>
            <a:r>
              <a:rPr lang="ko-KR" altLang="en-US" b="1" dirty="0">
                <a:latin typeface="KoPub돋움체 Medium" panose="00000600000000000000" pitchFamily="2" charset="-127"/>
              </a:rPr>
              <a:t>로 </a:t>
            </a:r>
            <a:r>
              <a:rPr lang="ko-KR" altLang="en-US" b="1" dirty="0" err="1">
                <a:latin typeface="KoPub돋움체 Medium" panose="00000600000000000000" pitchFamily="2" charset="-127"/>
              </a:rPr>
              <a:t>검정력</a:t>
            </a:r>
            <a:r>
              <a:rPr lang="ko-KR" altLang="en-US" b="1" dirty="0">
                <a:latin typeface="KoPub돋움체 Medium" panose="00000600000000000000" pitchFamily="2" charset="-127"/>
              </a:rPr>
              <a:t> 확보</a:t>
            </a:r>
            <a:endParaRPr lang="en-US" altLang="ko-KR" b="1" dirty="0">
              <a:latin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Cross-Attention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신경망으로 </a:t>
            </a:r>
            <a:r>
              <a:rPr lang="ko-KR" alt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원곡선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포인트 전체를 그대로 활용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5-fold(1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만으로는 </a:t>
            </a:r>
            <a:r>
              <a:rPr lang="ko-KR" alt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검정력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부족 → **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5-fold x 4 repeat = 20-fold**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재실행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시도한 변형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정규화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(global/patient-wise) | clinic-skip |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스무딩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| early-stop | warm-start | FDA-prior |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 조건부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prior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최선 조합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patient_wise_skip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): ROC-AUC 0.763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clinic-only(0.773)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대비 유의하게 다르다고 확언하기 어려움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(p=0.19)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이지만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다른 어떤 변형과 비교해도 유의하게 더 낫다는 근거도 없음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FDA-prior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patient-wise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정규화와 결합하면 오히려 유의하게 나빠짐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(p&lt;0.02)</a:t>
            </a:r>
          </a:p>
        </p:txBody>
      </p:sp>
    </p:spTree>
    <p:extLst>
      <p:ext uri="{BB962C8B-B14F-4D97-AF65-F5344CB8AC3E}">
        <p14:creationId xmlns:p14="http://schemas.microsoft.com/office/powerpoint/2010/main" val="2857516297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Cross-Attention 아키텍처 구조 — Query/Key/Value</a:t>
            </a:r>
          </a:p>
          <a:p>
            <a:pPr lvl="1">
              <a:spcAft>
                <a:spcPts val="8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clinic(4)=query, 정규화된 aec(128)=key/value → attention → residual/LayerNorm → MLP head + clinic-skip</a:t>
            </a:r>
          </a:p>
          <a:p>
            <a:pPr lvl="1">
              <a:spcAft>
                <a:spcPts val="8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Multimodal fusion(early/intermediate/late) 관점: cross-attention은 intermediate fusion에 해당하며, clinic·aec 데이터 특성상 late fusion은 적합하지 않은 방법으로 판단됨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EDDE7-A8DF-908F-A044-CF59361D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179" y="1950000"/>
            <a:ext cx="5963642" cy="43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Detailed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Cross-Attention 학습 손실 및 정규화 함수 구현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손실/최적화: BCEWithLogitsLoss(pos_weight) + Adam(lr=1e-3, wd=1e-4), 60 epoch × batch 64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저SMI 비율 21.9% 클래스 불균형을 pos_weight로 보정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scale_aec(): global(레벨 보존) vs patient_wise(레벨 제거, 모양만) 정규화 비교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warm-start: 15epoch attn_scale=0(skip만 학습) → 10epoch 0→1 선형 램프 → 이후 정상 학습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FDA-prior: 유의구간(48~55%, 80~90%, 94~97%)에 가중치 준 목표분포와 attention 분포의 cross-entropy(λ=0.05)를 손실에 추가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평가: RepeatedStratifiedKFold(5×4=20fold), fold별 clinic 재적합(누출 방지) → Wilcoxon paired test로 clinic-only와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EDDE7-A8DF-908F-A044-CF59361D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F124-6BE6-1A35-CB8E-32071063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9F20F-C9C0-9EAF-971A-640E6954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B4FBD6-621A-01BB-5372-C86D2311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50FD52D-18EC-7791-35A0-14C9076D9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Propensity Score Matching 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Age/Height/Weight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성별 층화 </a:t>
            </a: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psm</a:t>
            </a:r>
            <a:endParaRPr lang="en-US" altLang="ko-KR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로지스틱 회귀 →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logit(</a:t>
            </a: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ps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→ caliper = 0.2 x SD(logit </a:t>
            </a: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ps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(Austin 2011)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Greedy 1:1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무작위 순서 처리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순서 편향 방지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vl="1">
              <a:spcAft>
                <a:spcPts val="1000"/>
              </a:spcAft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남성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case 87 →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80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쌍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(92.0%)</a:t>
            </a:r>
          </a:p>
          <a:p>
            <a:pPr lvl="1">
              <a:spcAft>
                <a:spcPts val="1000"/>
              </a:spcAft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여성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case 150 →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130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쌍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(86.7%)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 후 모든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covariate |SMD| &lt; 0.1 (balanced)</a:t>
            </a:r>
          </a:p>
        </p:txBody>
      </p:sp>
      <p:pic>
        <p:nvPicPr>
          <p:cNvPr id="6" name="Picture 5" descr="matched_balance_love_plot.png">
            <a:extLst>
              <a:ext uri="{FF2B5EF4-FFF2-40B4-BE49-F238E27FC236}">
                <a16:creationId xmlns:a16="http://schemas.microsoft.com/office/drawing/2014/main" id="{5ACDBD69-87A0-44ED-4987-8C5AAC11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2970201"/>
            <a:ext cx="5577840" cy="29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7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174E-F7A9-2939-A752-A3C8E62C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92FDD-76B0-0E9B-0BE4-60B55BEE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F6B6B-2CBA-A00F-EAD0-AD9D0CF4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8964F9-92EF-C48C-93F8-E02763AC6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핵심 결과 </a:t>
            </a:r>
            <a:r>
              <a:rPr lang="en-US" altLang="ko-KR" dirty="0"/>
              <a:t>– FDR </a:t>
            </a:r>
            <a:r>
              <a:rPr lang="ko-KR" altLang="en-US" dirty="0"/>
              <a:t>유의성이 전부 사라짐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</a:rPr>
              <a:t>매칭 후 </a:t>
            </a:r>
            <a:r>
              <a:rPr lang="en-US" altLang="ko-KR" sz="1600" dirty="0">
                <a:latin typeface="KoPub돋움체 Medium" panose="00000600000000000000" pitchFamily="2" charset="-127"/>
              </a:rPr>
              <a:t>128</a:t>
            </a:r>
            <a:r>
              <a:rPr lang="ko-KR" altLang="en-US" sz="1600" dirty="0">
                <a:latin typeface="KoPub돋움체 Medium" panose="00000600000000000000" pitchFamily="2" charset="-127"/>
              </a:rPr>
              <a:t>개 위치 중 단 하나도 </a:t>
            </a:r>
            <a:r>
              <a:rPr lang="en-US" altLang="ko-KR" sz="1600" dirty="0">
                <a:latin typeface="KoPub돋움체 Medium" panose="00000600000000000000" pitchFamily="2" charset="-127"/>
              </a:rPr>
              <a:t>FDR&lt;0.05 </a:t>
            </a:r>
            <a:r>
              <a:rPr lang="ko-KR" altLang="en-US" sz="1600" dirty="0">
                <a:latin typeface="KoPub돋움체 Medium" panose="00000600000000000000" pitchFamily="2" charset="-127"/>
              </a:rPr>
              <a:t>유의하지 않음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>
                <a:latin typeface="KoPub돋움체 Medium" panose="00000600000000000000" pitchFamily="2" charset="-127"/>
              </a:rPr>
              <a:t>level(</a:t>
            </a:r>
            <a:r>
              <a:rPr lang="ko-KR" altLang="en-US" sz="1400" dirty="0" err="1">
                <a:latin typeface="KoPub돋움체 Medium" panose="00000600000000000000" pitchFamily="2" charset="-127"/>
              </a:rPr>
              <a:t>원곡선</a:t>
            </a:r>
            <a:r>
              <a:rPr lang="en-US" altLang="ko-KR" sz="1400" dirty="0">
                <a:latin typeface="KoPub돋움체 Medium" panose="00000600000000000000" pitchFamily="2" charset="-127"/>
              </a:rPr>
              <a:t>), derivative(</a:t>
            </a:r>
            <a:r>
              <a:rPr lang="ko-KR" altLang="en-US" sz="1400" dirty="0">
                <a:latin typeface="KoPub돋움체 Medium" panose="00000600000000000000" pitchFamily="2" charset="-127"/>
              </a:rPr>
              <a:t>기울기</a:t>
            </a:r>
            <a:r>
              <a:rPr lang="en-US" altLang="ko-KR" sz="1400" dirty="0">
                <a:latin typeface="KoPub돋움체 Medium" panose="00000600000000000000" pitchFamily="2" charset="-127"/>
              </a:rPr>
              <a:t>) </a:t>
            </a:r>
            <a:r>
              <a:rPr lang="ko-KR" altLang="en-US" sz="1400" dirty="0">
                <a:latin typeface="KoPub돋움체 Medium" panose="00000600000000000000" pitchFamily="2" charset="-127"/>
              </a:rPr>
              <a:t>검정 모두</a:t>
            </a:r>
            <a:r>
              <a:rPr lang="en-US" altLang="ko-KR" sz="1400" dirty="0">
                <a:latin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</a:rPr>
              <a:t>남녀 모두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 err="1">
                <a:latin typeface="KoPub돋움체 Medium" panose="00000600000000000000" pitchFamily="2" charset="-127"/>
              </a:rPr>
              <a:t>mean_mA</a:t>
            </a:r>
            <a:r>
              <a:rPr lang="ko-KR" altLang="en-US" sz="1600" dirty="0">
                <a:latin typeface="KoPub돋움체 Medium" panose="00000600000000000000" pitchFamily="2" charset="-127"/>
              </a:rPr>
              <a:t>도 비유의</a:t>
            </a:r>
            <a:r>
              <a:rPr lang="en-US" altLang="ko-KR" sz="1600" dirty="0">
                <a:latin typeface="KoPub돋움체 Medium" panose="00000600000000000000" pitchFamily="2" charset="-127"/>
              </a:rPr>
              <a:t>: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</a:rPr>
              <a:t>남</a:t>
            </a:r>
            <a:r>
              <a:rPr lang="en-US" altLang="ko-KR" sz="1400" dirty="0">
                <a:latin typeface="KoPub돋움체 Medium" panose="00000600000000000000" pitchFamily="2" charset="-127"/>
              </a:rPr>
              <a:t>: diff=+13.8, d=0.117, p=0.42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</a:rPr>
              <a:t>여</a:t>
            </a:r>
            <a:r>
              <a:rPr lang="en-US" altLang="ko-KR" sz="1400" dirty="0">
                <a:latin typeface="KoPub돋움체 Medium" panose="00000600000000000000" pitchFamily="2" charset="-127"/>
              </a:rPr>
              <a:t>: diff=-9.5, d=-0.101, p=0.28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 err="1">
                <a:latin typeface="KoPub돋움체 Medium" panose="00000600000000000000" pitchFamily="2" charset="-127"/>
              </a:rPr>
              <a:t>mean_mA</a:t>
            </a:r>
            <a:r>
              <a:rPr lang="ko-KR" altLang="en-US" sz="1600" dirty="0">
                <a:latin typeface="KoPub돋움체 Medium" panose="00000600000000000000" pitchFamily="2" charset="-127"/>
              </a:rPr>
              <a:t> 효과크기</a:t>
            </a:r>
            <a:r>
              <a:rPr lang="en-US" altLang="ko-KR" sz="1600" dirty="0">
                <a:latin typeface="KoPub돋움체 Medium" panose="00000600000000000000" pitchFamily="2" charset="-127"/>
              </a:rPr>
              <a:t>(d≈0.34~0.47, </a:t>
            </a:r>
            <a:r>
              <a:rPr lang="ko-KR" altLang="en-US" sz="1600" dirty="0">
                <a:latin typeface="KoPub돋움체 Medium" panose="00000600000000000000" pitchFamily="2" charset="-127"/>
              </a:rPr>
              <a:t>강하게 유의</a:t>
            </a:r>
            <a:r>
              <a:rPr lang="en-US" altLang="ko-KR" sz="1600" dirty="0">
                <a:latin typeface="KoPub돋움체 Medium" panose="00000600000000000000" pitchFamily="2" charset="-127"/>
              </a:rPr>
              <a:t>)</a:t>
            </a:r>
            <a:r>
              <a:rPr lang="ko-KR" altLang="en-US" sz="1600" dirty="0">
                <a:latin typeface="KoPub돋움체 Medium" panose="00000600000000000000" pitchFamily="2" charset="-127"/>
              </a:rPr>
              <a:t>와 극명한 대조</a:t>
            </a:r>
          </a:p>
        </p:txBody>
      </p:sp>
      <p:pic>
        <p:nvPicPr>
          <p:cNvPr id="3" name="Picture 5" descr="matched_pointwise_derivative_test.png">
            <a:extLst>
              <a:ext uri="{FF2B5EF4-FFF2-40B4-BE49-F238E27FC236}">
                <a16:creationId xmlns:a16="http://schemas.microsoft.com/office/drawing/2014/main" id="{923BA14D-62C7-649C-1E78-2C9CFCC36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584864"/>
            <a:ext cx="5577840" cy="256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84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8766-4A3B-4992-E2CD-81107471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7062B-66F3-9CB9-3CA1-70CB6299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027F4-E23C-59CB-CC20-14F274A8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3F246F0-3DB6-D3B8-82C8-FE5EC477F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KoPub돋움체 Medium" panose="00000600000000000000" pitchFamily="2" charset="-127"/>
              </a:rPr>
              <a:t>그러나 방향은 </a:t>
            </a:r>
            <a:r>
              <a:rPr lang="en-US" altLang="ko-KR" b="1" dirty="0">
                <a:latin typeface="KoPub돋움체 Medium" panose="00000600000000000000" pitchFamily="2" charset="-127"/>
              </a:rPr>
              <a:t>4</a:t>
            </a:r>
            <a:r>
              <a:rPr lang="ko-KR" altLang="en-US" b="1" dirty="0">
                <a:latin typeface="KoPub돋움체 Medium" panose="00000600000000000000" pitchFamily="2" charset="-127"/>
              </a:rPr>
              <a:t>개 구간 전부 유지된다</a:t>
            </a:r>
            <a:endParaRPr lang="en-US" altLang="ko-KR" b="1" dirty="0">
              <a:latin typeface="KoPub돋움체 Medium" panose="00000600000000000000" pitchFamily="2" charset="-127"/>
            </a:endParaRPr>
          </a:p>
          <a:p>
            <a:endParaRPr lang="en-US" altLang="ko-KR" b="1" dirty="0">
              <a:latin typeface="KoPub돋움체 Medium" panose="00000600000000000000" pitchFamily="2" charset="-127"/>
            </a:endParaRPr>
          </a:p>
          <a:p>
            <a:endParaRPr lang="en-US" altLang="ko-KR" b="1" dirty="0">
              <a:latin typeface="KoPub돋움체 Medium" panose="00000600000000000000" pitchFamily="2" charset="-127"/>
            </a:endParaRPr>
          </a:p>
          <a:p>
            <a:endParaRPr lang="en-US" altLang="ko-KR" b="1" dirty="0">
              <a:latin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</a:rPr>
              <a:t>우연이라면 방향이 무작위로 섞였을 것 </a:t>
            </a:r>
            <a:r>
              <a:rPr lang="en-US" altLang="ko-KR" dirty="0">
                <a:latin typeface="KoPub돋움체 Medium" panose="00000600000000000000" pitchFamily="2" charset="-127"/>
              </a:rPr>
              <a:t>- 4/4 </a:t>
            </a:r>
            <a:r>
              <a:rPr lang="ko-KR" altLang="en-US" dirty="0">
                <a:latin typeface="KoPub돋움체 Medium" panose="00000600000000000000" pitchFamily="2" charset="-127"/>
              </a:rPr>
              <a:t>방향 일치는 실제 효과의 잔존을 시사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</a:rPr>
              <a:t>그러나 크기는 원래의 </a:t>
            </a:r>
            <a:r>
              <a:rPr lang="en-US" altLang="ko-KR" dirty="0">
                <a:latin typeface="KoPub돋움체 Medium" panose="00000600000000000000" pitchFamily="2" charset="-127"/>
              </a:rPr>
              <a:t>7.5 ~ 53%</a:t>
            </a:r>
            <a:r>
              <a:rPr lang="ko-KR" altLang="en-US" dirty="0">
                <a:latin typeface="KoPub돋움체 Medium" panose="00000600000000000000" pitchFamily="2" charset="-127"/>
              </a:rPr>
              <a:t>로 축소</a:t>
            </a:r>
            <a:r>
              <a:rPr lang="en-US" altLang="ko-KR" dirty="0">
                <a:latin typeface="KoPub돋움체 Medium" panose="00000600000000000000" pitchFamily="2" charset="-127"/>
              </a:rPr>
              <a:t>, </a:t>
            </a:r>
            <a:r>
              <a:rPr lang="ko-KR" altLang="en-US" dirty="0">
                <a:latin typeface="KoPub돋움체 Medium" panose="00000600000000000000" pitchFamily="2" charset="-127"/>
              </a:rPr>
              <a:t>어떤 구간도 </a:t>
            </a:r>
            <a:r>
              <a:rPr lang="en-US" altLang="ko-KR" dirty="0">
                <a:latin typeface="KoPub돋움체 Medium" panose="00000600000000000000" pitchFamily="2" charset="-127"/>
              </a:rPr>
              <a:t>uncorrected p&lt;0.05</a:t>
            </a:r>
            <a:r>
              <a:rPr lang="ko-KR" altLang="en-US" dirty="0">
                <a:latin typeface="KoPub돋움체 Medium" panose="00000600000000000000" pitchFamily="2" charset="-127"/>
              </a:rPr>
              <a:t>에 도달 못함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</a:rPr>
              <a:t>가장 근접</a:t>
            </a:r>
            <a:r>
              <a:rPr lang="en-US" altLang="ko-KR" dirty="0">
                <a:latin typeface="KoPub돋움체 Medium" panose="00000600000000000000" pitchFamily="2" charset="-127"/>
              </a:rPr>
              <a:t>: </a:t>
            </a:r>
            <a:r>
              <a:rPr lang="ko-KR" altLang="en-US" dirty="0">
                <a:latin typeface="KoPub돋움체 Medium" panose="00000600000000000000" pitchFamily="2" charset="-127"/>
              </a:rPr>
              <a:t>남 </a:t>
            </a:r>
            <a:r>
              <a:rPr lang="en-US" altLang="ko-KR" dirty="0">
                <a:latin typeface="KoPub돋움체 Medium" panose="00000600000000000000" pitchFamily="2" charset="-127"/>
              </a:rPr>
              <a:t>103-113, uncorrected p=0.054)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7628632D-AFA0-9E48-DDF0-A68651FDB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4788"/>
              </p:ext>
            </p:extLst>
          </p:nvPr>
        </p:nvGraphicFramePr>
        <p:xfrm>
          <a:off x="1407360" y="1689463"/>
          <a:ext cx="9377280" cy="2029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765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성별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구간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unmatched d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matched d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방향</a:t>
                      </a: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일치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크기비</a:t>
                      </a: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(matched)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62-71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+0.41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+0.031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7.5%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103-113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21.4%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120-124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-0.158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52.8%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104-115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29.0%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311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2D86-9F4C-7284-10D0-050F10F9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04252-9CEE-73FD-7FFA-44FF223C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C4F55-0EF2-986E-1731-68974DE2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FBF3DB-F04A-531D-63D5-963909385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신호가 완전히 사라진다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보다 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방향은 남아있지만 크기 대부분이 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confounding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설명된다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더 정확한 요약</a:t>
            </a:r>
          </a:p>
          <a:p>
            <a:pPr>
              <a:spcAft>
                <a:spcPts val="1000"/>
              </a:spcAft>
            </a:pP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초기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FDA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분석이 보고한 효과크기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(d≈0.3~0.47)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대부분은 체격 </a:t>
            </a:r>
            <a:r>
              <a:rPr lang="en-US" altLang="ko-KR" sz="18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confoundin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설명되고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Confounding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걷어낸 뒤 남는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“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진짜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”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신호가 있다 해도 훨씬 작다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(d≈0.03~0.16)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이게 후속 검증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예측모델이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clinic-only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못 이긴 이유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자연스럽게 설명한다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매칭 전 신호의 대부분이 이미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변수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체격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 설명하는 부분이었다면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변수가 이미 모델에 들어간 상태에서 </a:t>
            </a:r>
            <a:r>
              <a:rPr lang="en-US" altLang="ko-KR" sz="18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추가해도 남는 정보가 거의 없다</a:t>
            </a:r>
          </a:p>
          <a:p>
            <a:endParaRPr lang="ko-KR" altLang="en-US" sz="18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2180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0631-B43F-3616-5DE7-39E8D6D0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3047D-8F4B-A6E8-BDF1-5A51465C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3F487-9602-27A3-1872-06852CA0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E05CC9-804E-6AD1-BD5B-145E7CDB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4-Region AEC Morphology Gate -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별도로 진행 중인 관련 트랙</a:t>
            </a:r>
          </a:p>
          <a:p>
            <a:pPr lvl="1">
              <a:spcAft>
                <a:spcPts val="700"/>
              </a:spcAft>
            </a:pP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프레이밍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진단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아니라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clinical model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S90(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민감도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90%) </a:t>
            </a: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양성군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안에서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de-escalation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가능한 환자를 선별하는 문제로 재정의</a:t>
            </a:r>
          </a:p>
          <a:p>
            <a:pPr lvl="1">
              <a:spcAft>
                <a:spcPts val="7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Locked gate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구조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R1(45-56%,endpoint) / R2(57-80%,level) / R3(97-128%,slope) / R4(117-128%,endpoint) 4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region vote → AEC+/-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패턴</a:t>
            </a:r>
          </a:p>
        </p:txBody>
      </p:sp>
      <p:pic>
        <p:nvPicPr>
          <p:cNvPr id="7" name="Picture 3" descr="figure_external_s90_core_1x3_with_r4_tangent.png">
            <a:extLst>
              <a:ext uri="{FF2B5EF4-FFF2-40B4-BE49-F238E27FC236}">
                <a16:creationId xmlns:a16="http://schemas.microsoft.com/office/drawing/2014/main" id="{3D7F30A1-6B68-87A7-F42B-7FB6B52D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00" y="3581023"/>
            <a:ext cx="10000000" cy="27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0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4AE0-7C34-9AE7-D09E-DD815243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54AB6-6116-24A8-11E6-B655F137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ED6A86-EC50-6DA5-2A13-0461C729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E5F7DD-7F84-B2B3-77F4-FB1C9AE0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4-Region AEC Morphology Gate -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별도로 진행 중인 관련 트랙</a:t>
            </a:r>
          </a:p>
          <a:p>
            <a:pPr lvl="1">
              <a:spcAft>
                <a:spcPts val="7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공식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noninferiority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(sensitivity loss ≤5%p, one-sided 95% CI):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강남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통과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(2.59%p),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외부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신촌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근소하게 </a:t>
            </a: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미통과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(5.22%p)</a:t>
            </a:r>
          </a:p>
          <a:p>
            <a:pPr marL="457200" lvl="1" indent="0">
              <a:spcAft>
                <a:spcPts val="700"/>
              </a:spcAft>
              <a:buNone/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Fisher test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유의하지만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formal safety margin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은 아직 통과 못함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—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본편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(FDA+PSM)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결론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신중한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negative)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이 트랙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약하지만 유의한 조건부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signal)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서로 다른 답을 주는 지점으로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두 방법론의 차이 자체가 추가로 살펴볼 지점</a:t>
            </a:r>
          </a:p>
        </p:txBody>
      </p:sp>
      <p:pic>
        <p:nvPicPr>
          <p:cNvPr id="7" name="Picture 3" descr="figure_external_s90_core_1x3_with_r4_tangent.png">
            <a:extLst>
              <a:ext uri="{FF2B5EF4-FFF2-40B4-BE49-F238E27FC236}">
                <a16:creationId xmlns:a16="http://schemas.microsoft.com/office/drawing/2014/main" id="{8A11C5E8-A278-C781-33D2-046F26447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00" y="3581023"/>
            <a:ext cx="10000000" cy="27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29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C9B6-A212-7C41-1A5C-34EA04AB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81CD4-0B26-24DC-7CA6-09D45DCB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62813F-69D0-C5E3-FFFC-88FB1928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F256C7-7695-EA58-29A7-614CC746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curve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는 저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SMI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군에서 통계적으로 유의하게 다르다</a:t>
            </a:r>
            <a:endParaRPr lang="en-US" altLang="ko-KR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여전히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Best AUC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는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Clinic-Only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스칼라 피처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cross-attention, 14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가지 변형 전부 실패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 matching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검증 결과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원래 효과크기의 대부분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(47~92%)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(age/height/weight) confounding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설명된다</a:t>
            </a:r>
            <a:endParaRPr lang="en-US" altLang="ko-KR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877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4CCB-11FA-D3D9-6C8F-BFE02C4E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5511C-FFC5-A19F-E25E-B1098D175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98310B-E7DE-A7B2-697F-A7007400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BD458D6-C9B0-84C4-FC93-9EC146BA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Caliper</a:t>
            </a:r>
            <a:r>
              <a:rPr lang="ko-KR" altLang="en-US" b="1" dirty="0">
                <a:latin typeface="KoPub돋움체 Medium" panose="00000600000000000000" pitchFamily="2" charset="-127"/>
              </a:rPr>
              <a:t>를 좁혀 더 엄격하게 매칭해도 같은 패턴</a:t>
            </a:r>
            <a:r>
              <a:rPr lang="en-US" altLang="ko-KR" b="1" dirty="0">
                <a:latin typeface="KoPub돋움체 Medium" panose="00000600000000000000" pitchFamily="2" charset="-127"/>
              </a:rPr>
              <a:t>(</a:t>
            </a:r>
            <a:r>
              <a:rPr lang="ko-KR" altLang="en-US" b="1" dirty="0">
                <a:latin typeface="KoPub돋움체 Medium" panose="00000600000000000000" pitchFamily="2" charset="-127"/>
              </a:rPr>
              <a:t>방향 유지</a:t>
            </a:r>
            <a:r>
              <a:rPr lang="en-US" altLang="ko-KR" b="1" dirty="0">
                <a:latin typeface="KoPub돋움체 Medium" panose="00000600000000000000" pitchFamily="2" charset="-127"/>
              </a:rPr>
              <a:t>·</a:t>
            </a:r>
            <a:r>
              <a:rPr lang="ko-KR" altLang="en-US" b="1" dirty="0">
                <a:latin typeface="KoPub돋움체 Medium" panose="00000600000000000000" pitchFamily="2" charset="-127"/>
              </a:rPr>
              <a:t>크기 축소</a:t>
            </a:r>
            <a:r>
              <a:rPr lang="en-US" altLang="ko-KR" b="1" dirty="0">
                <a:latin typeface="KoPub돋움체 Medium" panose="00000600000000000000" pitchFamily="2" charset="-127"/>
              </a:rPr>
              <a:t>) </a:t>
            </a:r>
            <a:r>
              <a:rPr lang="ko-KR" altLang="en-US" b="1" dirty="0">
                <a:latin typeface="KoPub돋움체 Medium" panose="00000600000000000000" pitchFamily="2" charset="-127"/>
              </a:rPr>
              <a:t>재현되는지</a:t>
            </a:r>
          </a:p>
          <a:p>
            <a:pPr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1:k matching</a:t>
            </a:r>
            <a:r>
              <a:rPr lang="ko-KR" altLang="en-US" b="1" dirty="0">
                <a:latin typeface="KoPub돋움체 Medium" panose="00000600000000000000" pitchFamily="2" charset="-127"/>
              </a:rPr>
              <a:t>으로 </a:t>
            </a:r>
            <a:r>
              <a:rPr lang="ko-KR" altLang="en-US" b="1" dirty="0" err="1">
                <a:latin typeface="KoPub돋움체 Medium" panose="00000600000000000000" pitchFamily="2" charset="-127"/>
              </a:rPr>
              <a:t>검정력</a:t>
            </a:r>
            <a:r>
              <a:rPr lang="ko-KR" altLang="en-US" b="1" dirty="0">
                <a:latin typeface="KoPub돋움체 Medium" panose="00000600000000000000" pitchFamily="2" charset="-127"/>
              </a:rPr>
              <a:t> 보강</a:t>
            </a:r>
          </a:p>
          <a:p>
            <a:pPr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Continuous SMI </a:t>
            </a:r>
            <a:r>
              <a:rPr lang="ko-KR" altLang="en-US" b="1" dirty="0">
                <a:latin typeface="KoPub돋움체 Medium" panose="00000600000000000000" pitchFamily="2" charset="-127"/>
              </a:rPr>
              <a:t>회귀</a:t>
            </a:r>
            <a:r>
              <a:rPr lang="en-US" altLang="ko-KR" b="1" dirty="0">
                <a:latin typeface="KoPub돋움체 Medium" panose="00000600000000000000" pitchFamily="2" charset="-127"/>
              </a:rPr>
              <a:t>, manufacturer/protocol confounding </a:t>
            </a:r>
            <a:r>
              <a:rPr lang="ko-KR" altLang="en-US" b="1" dirty="0">
                <a:latin typeface="KoPub돋움체 Medium" panose="00000600000000000000" pitchFamily="2" charset="-127"/>
              </a:rPr>
              <a:t>감사 등 대안 방향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043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4042</TotalTime>
  <Words>4916</Words>
  <Application>Microsoft Office PowerPoint</Application>
  <PresentationFormat>와이드스크린</PresentationFormat>
  <Paragraphs>394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KoPub돋움체 Bold</vt:lpstr>
      <vt:lpstr>Arial</vt:lpstr>
      <vt:lpstr>KoPub돋움체 Medium</vt:lpstr>
      <vt:lpstr>Office 테마</vt:lpstr>
      <vt:lpstr>PowerPoint 프레젠테이션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355</cp:revision>
  <dcterms:created xsi:type="dcterms:W3CDTF">2026-04-09T07:05:16Z</dcterms:created>
  <dcterms:modified xsi:type="dcterms:W3CDTF">2026-07-02T07:47:08Z</dcterms:modified>
</cp:coreProperties>
</file>