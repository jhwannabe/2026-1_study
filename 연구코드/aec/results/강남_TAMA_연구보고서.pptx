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355E"/>
                </a:solidFill>
              </a:rPr>
              <a:t>AEC 곡선 기반 TAMA 예측
회귀분석 연구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44466"/>
                </a:solidFill>
              </a:rPr>
              <a:t>CT 자동 노출 제어(AEC) 특징과 환자 인구통계학적 변수를 활용한
복부 근육량 지표(TAMA) 예측 모델 개발 및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데이터셋: 강남 CT  |  N=1,673명  |  Python (statsmodels · scikit-learn)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61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연구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연구 목적 · 설계 · Feature Set (3 Case)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261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데이터 기술 통계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830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데이터셋 · 성별 TAMA 분포 · 이진화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분석 방법론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전처리 · 모델 · 교차검증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9748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선형 회귀 (Part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91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단변량 · 다변량 성능 · 잔차 진단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로지스틱 회귀 (Part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800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단변량 OR · 다변량 AUC · Calibration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2793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Case 1–3 비교 (Part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800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AEC 추가 효과 · CT 모델명 효과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14999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064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788151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결론 및 한계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630935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주요 발견 · 제한점 · 향후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연구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Research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연구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CT 자동 노출 제어(AEC) 곡선과 환자 인구통계(성별·나이)가 복부 근육량 지표 TAMA(Total Abdominal Muscle Area) 예측에 기여하는 정도를 정량화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선형 회귀
(Linear Regression)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TAMA (연속형) 값 예측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로지스틱 회귀
(Logistic Regression)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Low TAMA / Sarcopenia 위험 분류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Multivariable Analysis
(Case 1–3 비교)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AEC·CT 모델 추가 효과 정량화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434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Feature Set (Case 구성)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80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</a:rPr>
              <a:t>* 성별·나이는 필수 공변량 — Case 1·2·3에 항상 포함. Case 0은 AEC 단독 진단력 참조용.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4800600"/>
          <a:ext cx="11521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예측 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목적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0</a:t>
                      </a:r>
                    </a:p>
                    <a:p>
                      <a:r>
                        <a:t>(AEC 단독)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AEC 특징 (mean, CV, skewness, slope_abs_mean)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AEC 독립 진단력 확인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성별 (Sex) + 나이 (Age)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인구통계 기반선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1 + AEC 특징 (mean, CV, skewness, slope_abs_mean)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AEC 기여도 정량화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2 + CT 모델명 (30개 dummy) + kVp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스캐너·전압 보정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데이터 기술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Descriptive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총 환자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1,673명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남성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665명 (39.7%)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7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1,008명 (60.3%)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CT 스캐너 / 주요 kVp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31종  |  100 kVp (93.3%)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TAMA 범위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14 ~ 299 cm²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TAMA 평균 (SD)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122.51 (±30.49) cm²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246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성별 TAMA 분포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584448"/>
          <a:ext cx="685799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714"/>
                <a:gridCol w="979714"/>
                <a:gridCol w="979714"/>
                <a:gridCol w="979714"/>
                <a:gridCol w="979714"/>
                <a:gridCol w="979714"/>
                <a:gridCol w="97971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성별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평균 (cm²)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SD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중앙값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P75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남성 (M)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149.52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27.46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150.00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166.00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여성 (F)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7406640" y="3246120"/>
            <a:ext cx="4480560" cy="157276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291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Logistic Regression 이진화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685032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남성: TAMA &lt; 132 cm²  →  Low Muscle (1)
• 여성: TAMA &lt; 95 cm²  →  Low Muscle (1)
• 양성 비율: 400 / 1,673 = 23.9 %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TAMA 분포 시각화</a:t>
            </a:r>
          </a:p>
        </p:txBody>
      </p:sp>
      <p:pic>
        <p:nvPicPr>
          <p:cNvPr id="30" name="Picture 29" descr="03_tam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230368"/>
            <a:ext cx="5486400" cy="1417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8076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AEC Feature 상관계수</a:t>
            </a:r>
          </a:p>
        </p:txBody>
      </p:sp>
      <p:pic>
        <p:nvPicPr>
          <p:cNvPr id="32" name="Picture 31" descr="01_featur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230368"/>
            <a:ext cx="5788152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데이터 정제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Data Cleaning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원시 데이터 2025명에서 결측치 제거 후 최종 분석 대상 1,673명 확정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77724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6362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1.  원시 데이터 (metadata)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508760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4591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2,025명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58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55E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77439"/>
            <a:ext cx="77724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432303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2.  원시 데이터 (features)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377439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51459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2,025명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12724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55E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46120"/>
            <a:ext cx="77724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30098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3.  Inner join (공통 PatientID)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246120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2,025명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959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55E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14800"/>
            <a:ext cx="77724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169663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4.  중복 PatientID 제거 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114800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251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2,025명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8646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55E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983479"/>
            <a:ext cx="7772400" cy="749808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038343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5.  결측치 행 제거 후 (최종)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4983479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5120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45"/>
                </a:solidFill>
              </a:rPr>
              <a:t>1,673명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870448"/>
            <a:ext cx="11521440" cy="65836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943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제거 이유: 결측 컬럼(AEC feature) 포함 행 — 352명 제외 (17.4%)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CT 스캐너 &amp; kVp 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Scanner &amp; kVp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338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총 CT 스캐너 종류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31종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338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최다 스캐너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44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Sensation 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482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주요 kVp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59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100 kVp (93.3%)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1168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0482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총 분석 환자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59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1,673명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CT 스캐너 모델 분포</a:t>
            </a:r>
          </a:p>
        </p:txBody>
      </p:sp>
      <p:pic>
        <p:nvPicPr>
          <p:cNvPr id="19" name="Picture 18" descr="16_scanne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364992"/>
            <a:ext cx="5669280" cy="3291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92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kVp 분포</a:t>
            </a:r>
          </a:p>
        </p:txBody>
      </p:sp>
      <p:pic>
        <p:nvPicPr>
          <p:cNvPr id="21" name="Picture 20" descr="17_kvp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364992"/>
            <a:ext cx="565099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AEC Feature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Feature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Pearson/Spearman 상관계수 + VIF 검사로 선택한 4개 AEC Feature (mean, CV, skewness, slope_abs_mean) — amplitude 그룹(mean≈p25≈AUC_normalized) 중 1개 대표 선택, VIF max&lt;2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11521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Pearson 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+0.297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평균값 → 체격 전반 반영 (amplitude 그룹 대표)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변동계수(std/mean) → 체형 불균일성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-0.343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곡선 비대칭성 → 체형 분포 특성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평균 절대 기울기 → 곡선 동역학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mean과 amplitude 동일 그룹 (r=0.97)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✗ 제외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AUC_normalized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mean과 r≈1.00, 사실상 동일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&gt;57,000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✗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39319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7F27"/>
                </a:solidFill>
              </a:rPr>
              <a:t>⚠  p25·AUC_normalized: mean과 동일 amplitude 그룹(r≥0.88) → 다중공선성 제거 / mean을 대표로 포함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Feature 상관계수 Top20</a:t>
            </a:r>
          </a:p>
        </p:txBody>
      </p:sp>
      <p:pic>
        <p:nvPicPr>
          <p:cNvPr id="10" name="Picture 9" descr="01_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73168"/>
            <a:ext cx="54864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VIF 비교</a:t>
            </a:r>
          </a:p>
        </p:txBody>
      </p:sp>
      <p:pic>
        <p:nvPicPr>
          <p:cNvPr id="12" name="Picture 11" descr="02_vif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773168"/>
            <a:ext cx="5788152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Correlation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Multicollinearity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선택 Feature 간 Pearson 상관행렬 — |r| &gt; 0.8 쌍은 다중공선성(Multicollinearity) 위험 신호</a:t>
            </a:r>
          </a:p>
        </p:txBody>
      </p:sp>
      <p:pic>
        <p:nvPicPr>
          <p:cNvPr id="7" name="Picture 6" descr="18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7772400" cy="5166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463040"/>
            <a:ext cx="3566160" cy="23774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361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해석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93852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|r| &lt; 0.5  →  낮은 상관
• 0.5 ≤ |r| &lt; 0.8  →  중간 상관
• |r| ≥ 0.8  →  다중공선성 주의
VIF &gt; 10 과 함께 확인하여
제거 여부 결정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4023360"/>
            <a:ext cx="356616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4096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⚠  제외 결정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480560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제외된 amplitude 그룹:
• p25: 제외 (amplitude 중복)
• AUC_normalized: 제외 (amplitude 중복)
• peak_max_height: 제외 (amplitude 중복)
선택 대표: mean
(VIF 확인 후 포함)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분석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Statistical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전처리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처리 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PatientSex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이진 인코딩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PatientAge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Z-score 표준화 (StandardScaler)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features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Z-score 표준화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One-hot encoding (drop_first=True) → 30개 더미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8076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508760"/>
            <a:ext cx="57881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선형 회귀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476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statsmodels OLS
(Ordinary Least Squares)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514600"/>
            <a:ext cx="57881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로지스틱 회귀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535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statsmodels Logit
(BFGS, maxiter=1,000)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5661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모델 검증 전략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0040" y="3931920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검증 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상세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5-Fold Cross 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각 Fold에서 scaler 재적합 (Data Leakage 방지)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Bootstrap AUC 95%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n=1,000 resampling — 비모수 신뢰구간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Hosmer-Lemeshow 검정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로지스틱 보정도(Calibration) 검증 — p&gt;0.05 양호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잔차 진단 3종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 · Breusch-Pagan · Durbin-Watson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75B6"/>
                </a:solidFill>
              </a:rPr>
              <a:t>※ 선형·로지스틱 회귀 모두 Case 1(Sex+Age) → Case 2(+AEC) → Case 3(+CT Model) 순으로 점진 투입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단변량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Univariate Linear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β 계수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44.84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[42.76, 46.91]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-2.99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[-4.45, -1.54]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9.05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[7.65, 10.45]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-10.64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[-12.01, -9.27]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-10.47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[-11.84, -9.09]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[-0.19, 2.74]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 (범주형)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단변량 R² 비교</a:t>
            </a:r>
          </a:p>
        </p:txBody>
      </p:sp>
      <p:pic>
        <p:nvPicPr>
          <p:cNvPr id="9" name="Picture 8" descr="07_linear_univariate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956048"/>
            <a:ext cx="5486400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유의 계수 Forest Plot</a:t>
            </a:r>
          </a:p>
        </p:txBody>
      </p:sp>
      <p:pic>
        <p:nvPicPr>
          <p:cNvPr id="11" name="Picture 10" descr="06_linear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956048"/>
            <a:ext cx="5788152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다변량 모델 성능 (Case 3 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Multivariate Linear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0.6577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Adj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0.6502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17.84 cm²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13.21 cm²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F-statistic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87.32
(p &lt; 0.001)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AIC / BIC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14,462
/ 14,662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잔차 진단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858768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검정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통계량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0.9596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0.00e+00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비정규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Breusch-Pagan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122.90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이분산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Durbin-Watson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1.9769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정상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Condition 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139.85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주의(κ&lt;1000)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20040" y="5760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⚠  비정규·이분산 → 계수 추정 BLUE이나 p-value 해석 주의
   Robust Standard Errors 사용 권고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실제 vs 예측</a:t>
            </a:r>
          </a:p>
        </p:txBody>
      </p:sp>
      <p:pic>
        <p:nvPicPr>
          <p:cNvPr id="28" name="Picture 27" descr="04_linear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858768"/>
            <a:ext cx="5394960" cy="1828800"/>
          </a:xfrm>
          <a:prstGeom prst="rect">
            <a:avLst/>
          </a:prstGeom>
        </p:spPr>
      </p:pic>
      <p:pic>
        <p:nvPicPr>
          <p:cNvPr id="29" name="Picture 28" descr="05_linear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715000"/>
            <a:ext cx="53949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핵심 변수 계수 (Case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Key Predictor Coefficients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489857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β 계수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42.7220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[40.661, 44.783]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1.0506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40.664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0.0000e+00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-6.6056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[-7.555, -5.656]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-13.641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0.0000e+00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9.2879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[8.103, 10.473]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15.377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0.0000e+00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-1.5131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[-2.701, -0.325]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-2.498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1.2576e-02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-1.7919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[-2.886, -0.698]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0.5577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-3.213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1.3380e-03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985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-5.0111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[-6.415, -3.607]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-7.001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0.0000e+00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6634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7F27"/>
                </a:solidFill>
              </a:rPr>
              <a:t>* p &lt; 0.05 유의  |  CT 모델명 더미는 생략 (별도 슬라이드)  |  표준화 계수: 1 SD 변화 시 TAMA 변화량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선형 Forest Plot</a:t>
            </a:r>
          </a:p>
        </p:txBody>
      </p:sp>
      <p:pic>
        <p:nvPicPr>
          <p:cNvPr id="9" name="Picture 8" descr="06_linear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68112"/>
            <a:ext cx="11521440" cy="11887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단변량 분석 (Crude 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Univariate Logistic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Crude OR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[0.840, 1.328]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1.585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[1.402, 1.792]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0.586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[0.520, 0.661]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1.117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[1.000, 1.249]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1.173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[1.044, 1.319]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[0.920, 1.150]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LR_χ²=50.59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  |  mean, CV, skewness, slope_abs_mean: OR 방향 확인  |  Sex: 이진화 후 단변량 비유의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Crude OR Forest Plot</a:t>
            </a:r>
          </a:p>
        </p:txBody>
      </p:sp>
      <p:pic>
        <p:nvPicPr>
          <p:cNvPr id="9" name="Picture 8" descr="11_logistic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0"/>
            <a:ext cx="5486400" cy="1618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ROC Curve (단변량)</a:t>
            </a:r>
          </a:p>
        </p:txBody>
      </p:sp>
      <p:pic>
        <p:nvPicPr>
          <p:cNvPr id="11" name="Picture 10" descr="08_logistic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029200"/>
            <a:ext cx="5788152" cy="16184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다변량 모델 성능 (Case 3 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Multivariate 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AUC-ROC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0.7514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Bootstrap 95%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[0.7258 – 0.7775]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0.7350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0.6520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PPV / NPV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0.3989 / 0.8868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Nagelkerke R²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0.2135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401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보정도 및 적합도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749039"/>
          <a:ext cx="6400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Hosmer-Lemeshow χ²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6.410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p=0.601 → 보정도 양호 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Brier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낮을수록 우수 (0=완벽, 0.25=무작위)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1,657.30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비교 기준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40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Calibration Plot</a:t>
            </a:r>
          </a:p>
        </p:txBody>
      </p:sp>
      <p:pic>
        <p:nvPicPr>
          <p:cNvPr id="27" name="Picture 26" descr="09_logistic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749039"/>
            <a:ext cx="5010912" cy="20116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Confusion Matrix</a:t>
            </a:r>
          </a:p>
        </p:txBody>
      </p:sp>
      <p:pic>
        <p:nvPicPr>
          <p:cNvPr id="29" name="Picture 28" descr="10_logistic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687568"/>
            <a:ext cx="320040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핵심 변수 Adjusted OR (Case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Adjusted Odds Ratios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7315200" cy="3593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1337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log(OR)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Adjusted OR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방향 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0.1205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1.1281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1.8293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-0.9557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0.3846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1 → 위험 감소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0.1228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1.1306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337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0.2727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1.3135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828031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7F27"/>
                </a:solidFill>
              </a:rPr>
              <a:t>* Adjusted OR: exp(β). 표준화 변수 기준 1 SD 변화 시 Low TAMA 오즈 배율
  OR &lt; 1: 해당 변수 증가 → Low TAMA 위험 감소 / OR &gt; 1: 위험 증가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Adjusted OR Forest Plot</a:t>
            </a:r>
          </a:p>
        </p:txBody>
      </p:sp>
      <p:pic>
        <p:nvPicPr>
          <p:cNvPr id="9" name="Picture 8" descr="11_logistic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81328"/>
            <a:ext cx="4279392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비교 — 선형 회귀 성능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Multivariable Analysis: Linear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r>
                        <a:t>(AEC 단독)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2</a:t>
                      </a:r>
                    </a:p>
                    <a:p>
                      <a:r>
                        <a:t>(+AEC)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3</a:t>
                      </a:r>
                    </a:p>
                    <a:p>
                      <a:r>
                        <a:t>(+CT/kVp)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C1→2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C2→3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0.1909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0.5507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0.6356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0.6597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+0.0849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+0.0241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Adj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RMSE (cm²)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27.4216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20.4337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18.4019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17.784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-2.03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-0.62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15837.48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14849.28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14506.83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14454.56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337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AEC 특징 추가(Case1→2)로 R² +8.5%p 향상  |  CT 모델명/kVp 추가(Case2→3)로 추가 +2.4%p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R² / RMSE 비교</a:t>
            </a:r>
          </a:p>
        </p:txBody>
      </p:sp>
      <p:pic>
        <p:nvPicPr>
          <p:cNvPr id="9" name="Picture 8" descr="12_case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87952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AIC / BIC 비교</a:t>
            </a:r>
          </a:p>
        </p:txBody>
      </p:sp>
      <p:pic>
        <p:nvPicPr>
          <p:cNvPr id="11" name="Picture 10" descr="14_case_aic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87952"/>
            <a:ext cx="57881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비교 — 로지스틱 회귀 성능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Multivariable Analysis: Logistic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r>
                        <a:t>(AEC 단독)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2</a:t>
                      </a:r>
                    </a:p>
                    <a:p>
                      <a:r>
                        <a:t>(+AEC)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3</a:t>
                      </a:r>
                    </a:p>
                    <a:p>
                      <a:r>
                        <a:t>(+CT/kVp)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C1→2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C2→3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0.6786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0.7191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0.7542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0.2159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1737.82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1787.8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1667.18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1656.25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-121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HL p-value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1.26e-03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보정도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보정도 양호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337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AEC 추가(Case1→2)로 AUC +9.5%p 향상  |  CT 모델명/kVp 추가(Case2→3)로 +3.5%p 추가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AUC / Nagelkerke R² 비교</a:t>
            </a:r>
          </a:p>
        </p:txBody>
      </p:sp>
      <p:pic>
        <p:nvPicPr>
          <p:cNvPr id="9" name="Picture 8" descr="13_case_auc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87952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다중 지표 추이</a:t>
            </a:r>
          </a:p>
        </p:txBody>
      </p:sp>
      <p:pic>
        <p:nvPicPr>
          <p:cNvPr id="11" name="Picture 10" descr="15_case_pro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87952"/>
            <a:ext cx="57881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0 — AEC 단독 진단력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AEC-Only Baseline (Case 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성별·나이 없이 AEC 특징만으로 TAMA를 예측할 수 있는가?  — 인구통계 보정 전 AEC 신호의 독립적 진단력 정량화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283464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선형 R²
(Case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305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0.1909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51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AEC 단독 TAMA 설명력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572768"/>
            <a:ext cx="283464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선형 RMSE
(Case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1305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27.4216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2651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예측 오차 (cm²)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572768"/>
            <a:ext cx="283464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로지스틱 AUC
(Case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1305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0.6786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651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AEC 단독 판별 능력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3144" y="1572768"/>
            <a:ext cx="283464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Nagelkerke R²
(Case 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1305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0.0976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651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로지스틱 설명력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2004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r>
                        <a:t>(AEC 단독)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1→0 비교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선형 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0.1909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0.5507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Case1 - Case0 = 0.360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인구통계 추가 효과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선형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27.4216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20.4337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RMSE 개선: 6.99 cm²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오차 감소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로지스틱 AUC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0.6786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ΔAUC = -0.055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Sex+Age 기여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ΔNag = -0.046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설명력 변화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320040" y="5440680"/>
            <a:ext cx="1152144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50468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해석: AEC 단독(Case 0)으로도 선형 R²=0.1909, AUC=0.6786 달성 → AEC 신호에 근육량 관련 정보가 내포되어 있음을 확인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성능 평가지표 해석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Statistical Metric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선형 회귀 지표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417320"/>
          <a:ext cx="5760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43107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해석 기준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R² / Adj 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0~1 사이, 1에 가까울수록 설명력↑ — Case 간 비교에 Adj R² 우선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단위 cm², 낮을수록 우수 — 임상 허용 오차 기준으로 해석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AIC / BIC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낮을수록 선호 — 모델 복잡도 대비 적합도 (Case 비교 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Durbin-Watson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1.5~2.5 정상 — 잔차 자기상관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Shapiro-Wilk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p &gt; 0.05: 정규분포 충족 / p ≤ 0.05: 비정규 (주의)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Breusch-Pagan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p &gt; 0.05: 등분산 충족 / p ≤ 0.05: 이분산 (Robust SE 권장)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로지스틱 회귀 지표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417320"/>
          <a:ext cx="565099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496"/>
                <a:gridCol w="2825496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해석 기준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0.5=무작위, 0.7↑=양호, 0.8↑=우수, 1.0=완벽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Bootstrap 95%CI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n=1000 비모수 — CI가 좁을수록 안정적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Sensitivity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실제 Low TAMA를 얼마나 탐지 (TP율)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Specificity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정상 TAMA를 얼마나 식별 (TN율)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Hosmer-Lemeshow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p &gt; 0.05: 보정 양호 / ≤ 0.05: 체계적 오차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0~1 pseudo-R² — 설명력 비교용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Brier Score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0=완벽, 0.25=무작위 — 확률 예측 정밀도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4572000"/>
            <a:ext cx="11521440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636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임계값 해석 기준  (Low TAMA)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560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남성: TAMA &lt; 132 cm²  →  Low Muscle (Positive=1)  |  여성: TAMA &lt; 95 cm²  →  Low Muscle (Positive=1)  |  양성 비율: 400 / 1,673 = 23.9 %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349240"/>
            <a:ext cx="11521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413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5E"/>
                </a:solidFill>
              </a:rPr>
              <a:t>모델 선택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607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① 연속형 TAMA 예측(Part 1): R², Adj R², RMSE 기준으로 모델 평가
② 이진 분류(Part 2): AUC, Sensitivity/Specificity 균형, HL 보정도 확인
③ Case 비교(Part 3): AIC/BIC 감소 + ΔR²/ΔAUC 임상 유의성 동시 검토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59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1. 성별의 압도적 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16916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선형 단변량: Sex 단독 R²=0.518  |  남성 TAMA가 여성 대비 평균 +44.8 cm²
성별·나이는 필수 공변량으로 모든 모델에 포함 (제외 불가)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2. AEC 단독 진단력 (Case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성별·나이 없이 AEC만으로:
  선형 R²=0.1909  |  로지스틱 AUC=0.6786
AEC 신호가 독립적인 근육량 정보를 내포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9184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9184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59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3. AEC 특징의 추가 기여 (Case 1→2)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384048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선형 R²  0.551 → 0.636  (+0.085)
로지스틱 AUC  0.624 → 0.719  (+0.095)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29184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29184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4. CT 모델명·kVp 추가 기여 및 최종 성능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Case2→3  선형 R²+0.024  |  AUC +0.035
최종(Case3): R²=0.6577, RMSE=17.84 cm²
AUC=0.7514 [0.7258 – 0.7775]  (HL p=0.601)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21792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55E"/>
                </a:solidFill>
              </a:rPr>
              <a:t>AEC 특징은 성별·나이와 독립적으로 TAMA 예측에 기여 — CT 촬영 시 수집되는 AEC 데이터의 임상적 활용 가능성 확인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한계 및 향후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Limitations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864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⚠  한계점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잔차 정규성·등분산성 가정 위반 → Robust Standard Errors 또는 비모수 검정 검토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3113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Logistic 이진화 임계값 (M&lt;132, F&lt;95 cm²) — 데이터 내 P25 기반; 문헌(Prado 2008, Martin 2013) 기준값과 비교 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950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단일 기관(강남) 데이터 → 외부 검증(신촌 데이터 활용)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AEC Feature는 통계적 요약값 기반 — raw AEC 시계열의 잠재 패턴이 미반영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742432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170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45"/>
                </a:solidFill>
              </a:rPr>
              <a:t>→  향후 연구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57276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신촌 데이터를 이용한 외부 검증 (External Validation)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09397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Raw AEC 시계열(~200포인트)을 1D CNN / LSTM 직접 입력 — feature engineering 불필요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6151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Robust Regression / Weighted Least Squares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136391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머신러닝 앙상블 모델 비교 (Random Forest, XGBoost)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6576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다기관 데이터 수집을 통한 모델 일반화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51960"/>
            <a:ext cx="11521440" cy="16916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159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핵심 메시지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81728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CT 스캐너의 AEC 곡선에서 추출한 통계 특징(mean, CV, skewness, slope_abs_mean)은 인구통계학적 변수와 독립적으로
TAMA 예측에 유의미하게 기여한다. 향후 외부 검증 및 다기관 연구를 통해 임상 적용 가능성을 확인해야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