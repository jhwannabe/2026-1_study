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34.png"/><Relationship Id="rId7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46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47.png"/><Relationship Id="rId7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맑은 고딕"/>
              </a:rPr>
              <a:t>AEC 신호 기반 근감소증 예측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9EA3AB"/>
                </a:solidFill>
                <a:latin typeface="맑은 고딕"/>
              </a:rPr>
              <a:t>Cross-Attention 아키텍처와 DeLong Test를 통한 모델 간 성능 비교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337560"/>
            <a:ext cx="5788152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60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9EA3AB"/>
                </a:solidFill>
                <a:latin typeface="맑은 고딕"/>
              </a:rPr>
              <a:t>총 1,143명  |  5-Fold CV  |  Bootstrap 95% CI  |  DeLong AUC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360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9EA3AB"/>
                </a:solidFill>
                <a:latin typeface="맑은 고딕"/>
              </a:rPr>
              <a:t>2026-06-11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846320"/>
            <a:ext cx="1828800" cy="777240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910328"/>
            <a:ext cx="1828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Model 1  Clinic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12848" y="4846320"/>
            <a:ext cx="1828800" cy="77724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12848" y="4910328"/>
            <a:ext cx="1828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Model 2  Clinic + AEC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1376" y="4846320"/>
            <a:ext cx="1828800" cy="777240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51376" y="4910328"/>
            <a:ext cx="1828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Model 2_2  Neg. Control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4846320"/>
            <a:ext cx="1828800" cy="77724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4910328"/>
            <a:ext cx="1828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Model 3  Clinic+Scanner+AEC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2" y="4846320"/>
            <a:ext cx="1828800" cy="77724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2" y="4910328"/>
            <a:ext cx="1828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Model 4  AEC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4846320"/>
            <a:ext cx="1828800" cy="7772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4910328"/>
            <a:ext cx="1828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Model 5  AEC Hand-crafted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연구 배경 및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AEC 신호의 진단적 가치 탐색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394960" cy="53583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9669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맑은 고딕"/>
              </a:rPr>
              <a:t>연구 배경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35024"/>
            <a:ext cx="502920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26464"/>
            <a:ext cx="51206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맑은 고딕"/>
              </a:rPr>
              <a:t>• 근감소증(Sarcopenia): SMI 기반 이진 분류 — 노인 허약·사망률과 직결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51206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맑은 고딕"/>
              </a:rPr>
              <a:t>• 기존 진단: CT 판독 + 영상의학과 전문의 수동 분석 → 시간·비용 소모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72384"/>
            <a:ext cx="51206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맑은 고딕"/>
              </a:rPr>
              <a:t>• AEC(자동노출제어): CT 스캔 시 자동 수집, 체형·조직 구성 간접 반영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95344"/>
            <a:ext cx="51206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맑은 고딕"/>
              </a:rPr>
              <a:t>• 추가 검사 없이 기존 CT 장비에서 수집 가능한 Zero-cost 부가 신호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18304"/>
            <a:ext cx="51206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맑은 고딕"/>
              </a:rPr>
              <a:t>• 핵심 질문: AEC가 Clinic 변수 대비 얼마나 예측력을 개선하는가?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905256"/>
            <a:ext cx="5943600" cy="53583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996696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맑은 고딕"/>
              </a:rPr>
              <a:t>비교 연구 목적 (DeLong Test 기반)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35024"/>
            <a:ext cx="557784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426464"/>
            <a:ext cx="73152" cy="76809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444752"/>
            <a:ext cx="5577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0F6BBF"/>
                </a:solidFill>
                <a:latin typeface="맑은 고딕"/>
              </a:rPr>
              <a:t>① M1 vs M2: AEC 신호가 기여하는가?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737360"/>
            <a:ext cx="5577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Clinic(LR) vs Clinic+AEC(CrossAttn)
→ DeLong AUC 비교로 통계 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359152"/>
            <a:ext cx="73152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377440"/>
            <a:ext cx="5577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0F9B8A"/>
                </a:solidFill>
                <a:latin typeface="맑은 고딕"/>
              </a:rPr>
              <a:t>② M1 vs M3: Scanner+AEC 조합 효과?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670048"/>
            <a:ext cx="5577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Clinic(LR) vs Clinic+Scanner+AEC(CrossAttn3)
→ DeLong AUC 비교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291840"/>
            <a:ext cx="73152" cy="76809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310128"/>
            <a:ext cx="5577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E87400"/>
                </a:solidFill>
                <a:latin typeface="맑은 고딕"/>
              </a:rPr>
              <a:t>③ M2 vs M3: Scanner 순증가 효과?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602736"/>
            <a:ext cx="5577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CrossAttn vs CrossAttn3 (동일 test set)
→ 통계적 유의차 여부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224528"/>
            <a:ext cx="73152" cy="76809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242816"/>
            <a:ext cx="5577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1E8B4C"/>
                </a:solidFill>
                <a:latin typeface="맑은 고딕"/>
              </a:rPr>
              <a:t>④ M2 vs M2_2: 매칭이 실질적 기여?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535424"/>
            <a:ext cx="5577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Matched vs Unmatched (음성 대조군)
→ AEC 개인 대응의 필요성 검증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5157216"/>
            <a:ext cx="73152" cy="768096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5175504"/>
            <a:ext cx="5577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7B2FBE"/>
                </a:solidFill>
                <a:latin typeface="맑은 고딕"/>
              </a:rPr>
              <a:t>⑤ M4: AEC만으로 예측 가능한가?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468112"/>
            <a:ext cx="5577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AEC Only → Clinic 없이 AEC 단독 예측력 탐색
→ M1·M2 대비 한계 파악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데이터셋 및 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1,143명 단일 기관 후향적 코호트 / 5-Fold Stratified CV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394960" cy="57698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5029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데이터셋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02920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9601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44168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344168"/>
            <a:ext cx="13258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34416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남성(M)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344168"/>
            <a:ext cx="13258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34416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여성(F)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44168"/>
            <a:ext cx="13716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3441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합계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636776"/>
            <a:ext cx="960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36776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1636776"/>
            <a:ext cx="1325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1636776"/>
            <a:ext cx="13258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324 (Sarco 15.4%)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1636776"/>
            <a:ext cx="1325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1636776"/>
            <a:ext cx="13258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590 (Sarco 7.8%)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1636776"/>
            <a:ext cx="1371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1636776"/>
            <a:ext cx="13716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914 (Sarco 10.5%)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975104"/>
            <a:ext cx="96012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975104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1975104"/>
            <a:ext cx="132588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1975104"/>
            <a:ext cx="13258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82  (Sarco 15.9%)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1975104"/>
            <a:ext cx="132588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1975104"/>
            <a:ext cx="13258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147 (Sarco 7.5%)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1975104"/>
            <a:ext cx="137160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1975104"/>
            <a:ext cx="13716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229 (Sarco 10.5%)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3317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9EA3AB"/>
                </a:solidFill>
                <a:latin typeface="맑은 고딕"/>
              </a:rPr>
              <a:t>연령: 56.95±11.86세  |  BMI: 23.58±3.17 kg/m²  |  Train:Test = 8:2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715768"/>
            <a:ext cx="5029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AEC 전처리 조건 (3종)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035808"/>
            <a:ext cx="502920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118104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raw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3118104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전처리 없음 — 원본 AEC 절대값 그대로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50215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norm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3502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행 방향 z-score (환자별 절대 선량 제거)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8862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global_zscore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38862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Train 전체 단일 μ/σ로 z-score 정규화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2976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9EA3AB"/>
                </a:solidFill>
                <a:latin typeface="맑은 고딕"/>
              </a:rPr>
              <a:t>AEC 128pt × 3 전처리 조건 비교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905256"/>
            <a:ext cx="5394960" cy="30266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978408"/>
            <a:ext cx="5029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모델 구성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1298448"/>
            <a:ext cx="5029200" cy="3657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1380744"/>
            <a:ext cx="73152" cy="58521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139903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0F6BBF"/>
                </a:solidFill>
                <a:latin typeface="맑은 고딕"/>
              </a:rPr>
              <a:t>Model 1 — Baseline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1673352"/>
            <a:ext cx="4937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Age, Sex, BMI → Logistic Regression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2093976"/>
            <a:ext cx="73152" cy="58521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2112264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0F9B8A"/>
                </a:solidFill>
                <a:latin typeface="맑은 고딕"/>
              </a:rPr>
              <a:t>Model 2 — AEC Matched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2386584"/>
            <a:ext cx="4937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Clinic + AEC(동일환자) → CrossAttention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2807208"/>
            <a:ext cx="73152" cy="585216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2825496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9EA3AB"/>
                </a:solidFill>
                <a:latin typeface="맑은 고딕"/>
              </a:rPr>
              <a:t>Model 2_2 — AEC Unmatched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3099816"/>
            <a:ext cx="4937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Clinic + AEC(다른환자) → 음성 대조군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3520439"/>
            <a:ext cx="73152" cy="58521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72200" y="3538728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E87400"/>
                </a:solidFill>
                <a:latin typeface="맑은 고딕"/>
              </a:rPr>
              <a:t>Model 3 — Scanner+AEC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3813048"/>
            <a:ext cx="4937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Clinic + MFR + AEC → CrossAttention3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4233672"/>
            <a:ext cx="73152" cy="585216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42519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7B2FBE"/>
                </a:solidFill>
                <a:latin typeface="맑은 고딕"/>
              </a:rPr>
              <a:t>Model 4 — AEC Only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2200" y="4526280"/>
            <a:ext cx="4937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AEC 시퀀스만 → AECOnlyNet (임상특징 없음)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52160" y="3813048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데이터 분포 (Train / Test / Sex / Sarcopenia)</a:t>
            </a:r>
          </a:p>
        </p:txBody>
      </p:sp>
      <p:pic>
        <p:nvPicPr>
          <p:cNvPr id="61" name="Picture 60" descr="dat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4087368"/>
            <a:ext cx="6217920" cy="258775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통계 분석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모델 비교를 위한 3단계 검증 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3794760" cy="5230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05256"/>
            <a:ext cx="3794760" cy="457200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32688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① DeLong AUC Test  (Test Set)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동일 Test set 두 모델의 AUROC 직접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9384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DeLong et al. (1988) — 쌍별 공분산 구조 활용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59152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H₀: AUROC_A = AUROC_B  →  z-통계량 기반 검정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88920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M1과 M2/M3/M4 사이 샘플 크기 동일 (n=229)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905256"/>
            <a:ext cx="3794760" cy="5230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905256"/>
            <a:ext cx="3794760" cy="4572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932688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② Bootstrap 95% CI  (Test Set)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499616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n_boot = 2,000회 복원 추출 기반 신뢰구간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929384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2.5th–97.5th percentile 구간 보고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359152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AUROC / AUPRC / Brier / Accuracy / F1 전 지표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788920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단일 추정치의 불확실성 정량화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905256"/>
            <a:ext cx="3794760" cy="5230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905256"/>
            <a:ext cx="3794760" cy="4572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932688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③ Fold-level Paired Tests  (CV)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499616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5-Fold 교차검증 값에 대한 쌍별 검정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29384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Paired t-test + Wilcoxon signed-rank (n=5)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359152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두 검정 모두 보고 (p-value 쌍 제시)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88920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M1↔M2/M3/M4: train set 차이 주의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824728"/>
            <a:ext cx="11612880" cy="47548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52160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맑은 고딕"/>
              </a:rPr>
              <a:t>유의수준:  *** p&lt;0.001   ** p&lt;0.01   * p&lt;0.05   † p&lt;0.10   ns p≥0.10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전체 모델 성능 비교 개요  (AEC 128pt + norm / global_zscore)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M1 → M2 → M3 → M4 비교  |  Bootstrap 95% CI  |  Brier → Calibration 참조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4173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05256"/>
            <a:ext cx="1417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905256"/>
            <a:ext cx="100584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905256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905256"/>
            <a:ext cx="13716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905256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95% CI AUC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905256"/>
            <a:ext cx="100584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905256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AUPRC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905256"/>
            <a:ext cx="9601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905256"/>
            <a:ext cx="960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Brier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905256"/>
            <a:ext cx="9601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905256"/>
            <a:ext cx="960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905256"/>
            <a:ext cx="150876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905256"/>
            <a:ext cx="1508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vs M1 Δ AUC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905256"/>
            <a:ext cx="150876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905256"/>
            <a:ext cx="1508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vs M1 DeLong 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78440" y="905256"/>
            <a:ext cx="169164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78440" y="905256"/>
            <a:ext cx="1691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비고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216152"/>
            <a:ext cx="14173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1216152"/>
            <a:ext cx="1417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M1 (LR)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1216152"/>
            <a:ext cx="100584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1216152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1216152"/>
            <a:ext cx="137160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1216152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[0.720,0.872]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1216152"/>
            <a:ext cx="100584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1216152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57800" y="1216152"/>
            <a:ext cx="9601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1216152"/>
            <a:ext cx="960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216152"/>
            <a:ext cx="9601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1216152"/>
            <a:ext cx="960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1216152"/>
            <a:ext cx="15087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1216152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3960" y="1216152"/>
            <a:ext cx="15087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960" y="1216152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기준선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78440" y="1216152"/>
            <a:ext cx="169164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78440" y="1216152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1563624"/>
            <a:ext cx="1417320" cy="347472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1563624"/>
            <a:ext cx="1417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 (CrossAttn)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37360" y="1563624"/>
            <a:ext cx="1005840" cy="347472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37360" y="1563624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0.8118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20" y="1563624"/>
            <a:ext cx="1371600" cy="347472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88920" y="1563624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[0.741,0.877]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1563624"/>
            <a:ext cx="1005840" cy="347472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0" y="1563624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0.3599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57800" y="1563624"/>
            <a:ext cx="960120" cy="347472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57800" y="1563624"/>
            <a:ext cx="960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0.2581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1563624"/>
            <a:ext cx="960120" cy="347472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1563624"/>
            <a:ext cx="960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0.3519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69480" y="1563624"/>
            <a:ext cx="1508760" cy="347472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480" y="1563624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+0.009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23960" y="1563624"/>
            <a:ext cx="1508760" cy="347472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23960" y="1563624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p=0.697 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78440" y="1563624"/>
            <a:ext cx="1691640" cy="347472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78440" y="1563624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Clinic+AEC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1911095"/>
            <a:ext cx="141732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1911095"/>
            <a:ext cx="1417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M2_2 (Neg.Ctrl)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37360" y="1911095"/>
            <a:ext cx="10058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37360" y="1911095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0.8059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88920" y="1911095"/>
            <a:ext cx="137160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88920" y="1911095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[0.720,0.876]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06240" y="1911095"/>
            <a:ext cx="10058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06240" y="1911095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0.2782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57800" y="1911095"/>
            <a:ext cx="96012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57800" y="1911095"/>
            <a:ext cx="960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0.2627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63640" y="1911095"/>
            <a:ext cx="96012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1911095"/>
            <a:ext cx="960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0.3704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69480" y="1911095"/>
            <a:ext cx="15087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69480" y="1911095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23960" y="1911095"/>
            <a:ext cx="15087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23960" y="1911095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(neg ctrl)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378440" y="1911095"/>
            <a:ext cx="16916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378440" y="1911095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Unmatched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2258568"/>
            <a:ext cx="14173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2258568"/>
            <a:ext cx="1417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M3 (CrossAttn3)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37360" y="2258568"/>
            <a:ext cx="100584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37360" y="2258568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0.8209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88920" y="2258568"/>
            <a:ext cx="137160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88920" y="2258568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[0.740,0.889]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06240" y="2258568"/>
            <a:ext cx="100584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06240" y="2258568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0.3141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57800" y="2258568"/>
            <a:ext cx="9601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57800" y="2258568"/>
            <a:ext cx="960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0.2645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63640" y="2258568"/>
            <a:ext cx="9601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63640" y="2258568"/>
            <a:ext cx="960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0.4040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269480" y="2258568"/>
            <a:ext cx="150876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269480" y="2258568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+0.018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823960" y="2258568"/>
            <a:ext cx="150876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23960" y="2258568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p=0.486 ns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378440" y="2258568"/>
            <a:ext cx="169164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378440" y="2258568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Clinic+Scn+AEC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2606040"/>
            <a:ext cx="1417320" cy="347472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74320" y="2606040"/>
            <a:ext cx="1417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M4 (AECOnly)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737360" y="2606040"/>
            <a:ext cx="1005840" cy="347472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737360" y="2606040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0.5856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88920" y="2606040"/>
            <a:ext cx="1371600" cy="347472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88920" y="2606040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[0.454,0.711]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06240" y="2606040"/>
            <a:ext cx="1005840" cy="347472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206240" y="2606040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0.1882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257800" y="2606040"/>
            <a:ext cx="960120" cy="347472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257800" y="2606040"/>
            <a:ext cx="960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0.3041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2606040"/>
            <a:ext cx="960120" cy="347472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63640" y="2606040"/>
            <a:ext cx="960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0.2157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269480" y="2606040"/>
            <a:ext cx="1508760" cy="347472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269480" y="2606040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−0.217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823960" y="2606040"/>
            <a:ext cx="1508760" cy="347472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823960" y="2606040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E8B4C"/>
                </a:solidFill>
                <a:latin typeface="맑은 고딕"/>
              </a:rPr>
              <a:t>p=0.006 **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378440" y="2606040"/>
            <a:ext cx="1691640" cy="347472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378440" y="260604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AEC Only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2953512"/>
            <a:ext cx="1417320" cy="347472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74320" y="2953512"/>
            <a:ext cx="1417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M5 (CrossAttn-Feat)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737360" y="2953512"/>
            <a:ext cx="1005840" cy="347472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737360" y="2953512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0.8173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88920" y="2953512"/>
            <a:ext cx="1371600" cy="347472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788920" y="2953512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[0.737,0.885]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2953512"/>
            <a:ext cx="1005840" cy="347472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206240" y="2953512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0.3304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257800" y="2953512"/>
            <a:ext cx="960120" cy="347472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257800" y="2953512"/>
            <a:ext cx="960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0.2624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263640" y="2953512"/>
            <a:ext cx="960120" cy="347472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263640" y="2953512"/>
            <a:ext cx="960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0.3366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269480" y="2953512"/>
            <a:ext cx="1508760" cy="347472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269480" y="2953512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+0.014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823960" y="2953512"/>
            <a:ext cx="1508760" cy="347472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823960" y="2953512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p=0.347 ns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378440" y="2953512"/>
            <a:ext cx="1691640" cy="347472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378440" y="2953512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Clinic+AEC-Feat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74320" y="36118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ROC 비교 (M1·M2·M2₂·M3·M4 / norm)</a:t>
            </a:r>
          </a:p>
        </p:txBody>
      </p:sp>
      <p:pic>
        <p:nvPicPr>
          <p:cNvPr id="132" name="Picture 131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904487"/>
            <a:ext cx="4114800" cy="2770632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572000" y="3611880"/>
            <a:ext cx="3749039" cy="306324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72000" y="3611880"/>
            <a:ext cx="91440" cy="30632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754880" y="36850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8B4C"/>
                </a:solidFill>
                <a:latin typeface="맑은 고딕"/>
              </a:rPr>
              <a:t>비교 핵심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54880" y="4059936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M1→M2 norm: Δ AUC +0.009, p=0.697 ns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754880" y="4407408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M1→M3 norm: Δ AUC +0.018, p=0.486 ns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754880" y="4754880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M5(AEC-Feat) norm: AUC=0.817, p=0.347 ns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754880" y="5102352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M2 norm(0.812) vs M2_2(0.806) Δ=+0.006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754880" y="544982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M4 AEC Only (raw): AUC=0.586 — 임상 없이 한계 확인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754880" y="5797296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여성 AUC: M1(0.848)→M3(0.861) 개선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458200" y="3611880"/>
            <a:ext cx="3520440" cy="30175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531352" y="3630168"/>
            <a:ext cx="341071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7400"/>
                </a:solidFill>
                <a:latin typeface="맑은 고딕"/>
              </a:rPr>
              <a:t>※ Calibration — M3 norm  (Brier 0.2645)  (Brier 보정 품질 확인)</a:t>
            </a:r>
          </a:p>
        </p:txBody>
      </p:sp>
      <p:pic>
        <p:nvPicPr>
          <p:cNvPr id="144" name="Picture 143" descr="calibration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931920"/>
            <a:ext cx="3520440" cy="2743200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M1 vs M2 비교 — AEC 신호의 기여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Clinic Only(LR) vs Clinic+AEC(CrossAttn)  |  norm: p=0.697 ns  |  Brier → Calibration 참조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486400" cy="4133087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51206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DeLong Test — M1(LR) vs M2(CrossAttn)  [ AEC 128pt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12064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44168"/>
            <a:ext cx="14173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시나리오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M1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344168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344168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p-val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636776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636776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raw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163677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1636776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163677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1636776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0.7980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163677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1636776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−0.005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1636776"/>
            <a:ext cx="868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1636776"/>
            <a:ext cx="868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p=0.824 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020824"/>
            <a:ext cx="141732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020824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2020824"/>
            <a:ext cx="9144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202082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2020824"/>
            <a:ext cx="9144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202082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0.8118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2020824"/>
            <a:ext cx="9144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202082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+0.009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020824"/>
            <a:ext cx="86868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2020824"/>
            <a:ext cx="868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p=0.697 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404872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404872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global_zscore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240487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19" y="2404872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240487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2404872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0.7894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94760" y="240487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4760" y="2404872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−0.014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2404872"/>
            <a:ext cx="868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2404872"/>
            <a:ext cx="868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p=0.597 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290779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Bootstrap 95% CI — norm 기준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200400"/>
            <a:ext cx="5120640" cy="2743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" y="3255264"/>
            <a:ext cx="12344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3255264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지표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91640" y="3255264"/>
            <a:ext cx="12344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91640" y="3255264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71800" y="3255264"/>
            <a:ext cx="128016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71800" y="3255264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97680" y="3255264"/>
            <a:ext cx="114300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7680" y="3255264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Δ(M2-M1)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3529584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3529584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AUC-ROC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91640" y="3529584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91640" y="3529584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 [0.720,0.872]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71800" y="352958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71800" y="3529584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0.812 [0.741,0.877]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97680" y="3529584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97680" y="3529584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+0.009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831335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3831335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AUPRC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91640" y="3831335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91640" y="3831335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0.312 [0.181,0.495]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71800" y="3831335"/>
            <a:ext cx="12801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71800" y="3831335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0.360 [0.211,0.541]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831335"/>
            <a:ext cx="11430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97680" y="3831335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+0.048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133087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4133087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Brier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91640" y="4133087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91640" y="4133087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0.191 [0.165,0.217]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71800" y="4133087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71800" y="4133087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0.258 [0.231,0.284]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7680" y="4133087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97680" y="4133087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+0.067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" y="4434840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1480" y="4434840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F1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691640" y="4434840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691640" y="4434840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0.372 [0.250,0.488]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71800" y="4434840"/>
            <a:ext cx="12801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971800" y="4434840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0.352 [0.227,0.469]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97680" y="4434840"/>
            <a:ext cx="11430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97680" y="4434840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−0.021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43600" y="905256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ROC 비교  (norm / M1·M2·M2₂·M3·M4)</a:t>
            </a:r>
          </a:p>
        </p:txBody>
      </p:sp>
      <p:pic>
        <p:nvPicPr>
          <p:cNvPr id="91" name="Picture 90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25296"/>
            <a:ext cx="6035040" cy="2999232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5943600" y="4334256"/>
            <a:ext cx="6035040" cy="30175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016752" y="4352544"/>
            <a:ext cx="592531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7400"/>
                </a:solidFill>
                <a:latin typeface="맑은 고딕"/>
              </a:rPr>
              <a:t>※ Calibration — M2  norm  (Brier 0.2581)  (Brier 보정 품질 확인)</a:t>
            </a:r>
          </a:p>
        </p:txBody>
      </p:sp>
      <p:pic>
        <p:nvPicPr>
          <p:cNvPr id="94" name="Picture 93" descr="calibration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654296"/>
            <a:ext cx="6035040" cy="2020824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M1 vs M3 비교 — Scanner + AEC 조합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Clinic Only(LR) vs Clinic+Scanner+AEC(CrossAttn3)  |  norm: p=0.486 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486400" cy="4133087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51206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DeLong Test — M1(LR) vs M3(CrossAttn3)  [ AEC 128pt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120640" cy="3657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44168"/>
            <a:ext cx="14173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시나리오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M1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M3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344168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344168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p-val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636776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636776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raw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163677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1636776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163677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1636776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0.7864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163677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1636776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−0.017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1636776"/>
            <a:ext cx="868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1636776"/>
            <a:ext cx="868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p=0.698 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020824"/>
            <a:ext cx="141732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020824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2020824"/>
            <a:ext cx="9144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202082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2020824"/>
            <a:ext cx="9144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202082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0.8209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2020824"/>
            <a:ext cx="9144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202082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+0.018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020824"/>
            <a:ext cx="86868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2020824"/>
            <a:ext cx="868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p=0.486 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404872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404872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global_zscore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240487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19" y="2404872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240487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2404872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0.7530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94760" y="240487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4760" y="2404872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−0.050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2404872"/>
            <a:ext cx="868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2404872"/>
            <a:ext cx="868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p=0.142 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290779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Bootstrap 95% CI — norm 기준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200400"/>
            <a:ext cx="5120640" cy="2743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" y="3255264"/>
            <a:ext cx="12344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3255264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지표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91640" y="3255264"/>
            <a:ext cx="12344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91640" y="3255264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71800" y="3255264"/>
            <a:ext cx="128016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71800" y="3255264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97680" y="3255264"/>
            <a:ext cx="114300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7680" y="3255264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Δ(M3-M1)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3529584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3529584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AUC-ROC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91640" y="3529584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91640" y="3529584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 [0.720,0.872]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71800" y="352958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71800" y="3529584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0.821 [0.740,0.889]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97680" y="3529584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97680" y="3529584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+0.018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831335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3831335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AUPRC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91640" y="3831335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91640" y="3831335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0.312 [0.181,0.495]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71800" y="3831335"/>
            <a:ext cx="12801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71800" y="3831335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0.314 [0.195,0.521]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831335"/>
            <a:ext cx="11430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97680" y="3831335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+0.002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133087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4133087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Brier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91640" y="4133087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91640" y="4133087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0.191 [0.165,0.217]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71800" y="4133087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71800" y="4133087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0.265 [0.241,0.286]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7680" y="4133087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97680" y="4133087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+0.073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" y="4434840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1480" y="4434840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F1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691640" y="4434840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691640" y="4434840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0.372 [0.250,0.488]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71800" y="4434840"/>
            <a:ext cx="12801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971800" y="4434840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0.404 [0.278,0.524]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97680" y="4434840"/>
            <a:ext cx="11430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97680" y="4434840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+0.032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43600" y="905256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ROC 비교  (norm / M1·M2·M2₂·M3·M4)</a:t>
            </a:r>
          </a:p>
        </p:txBody>
      </p:sp>
      <p:pic>
        <p:nvPicPr>
          <p:cNvPr id="91" name="Picture 90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25296"/>
            <a:ext cx="6035040" cy="2999232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5943600" y="4334256"/>
            <a:ext cx="6035040" cy="30175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016752" y="4352544"/>
            <a:ext cx="592531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7400"/>
                </a:solidFill>
                <a:latin typeface="맑은 고딕"/>
              </a:rPr>
              <a:t>※ Calibration — M3  norm  (Brier 0.2645)  (Brier 보정 품질 확인)</a:t>
            </a:r>
          </a:p>
        </p:txBody>
      </p:sp>
      <p:pic>
        <p:nvPicPr>
          <p:cNvPr id="94" name="Picture 93" descr="calibration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654296"/>
            <a:ext cx="6035040" cy="2020824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M2 vs M3 비교 — Scanner(MFR) 추가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norm: p=0.620 ns | raw: p=0.676 ns | 조건별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6858000" cy="3941063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64922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DeLong Test — M2(CrossAttn) vs M3(CrossAttn3)  [ 전 조건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6492240" cy="36576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44168"/>
            <a:ext cx="16459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344168"/>
            <a:ext cx="10058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134416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344168"/>
            <a:ext cx="10058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34416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M3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44168"/>
            <a:ext cx="10058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34416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1344168"/>
            <a:ext cx="9601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344168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p-val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344168"/>
            <a:ext cx="8229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34416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sig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1636776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1636776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raw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163677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1636776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0.7980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163677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1636776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0.7864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163677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1636776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800" y="163677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1636776"/>
            <a:ext cx="960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0.676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636776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636776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020824"/>
            <a:ext cx="164592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020824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03120" y="2020824"/>
            <a:ext cx="100584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0" y="2020824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0.8118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2020824"/>
            <a:ext cx="100584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54680" y="2020824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0.8209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2020824"/>
            <a:ext cx="100584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2020824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7800" y="2020824"/>
            <a:ext cx="96012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57800" y="2020824"/>
            <a:ext cx="960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0.620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020824"/>
            <a:ext cx="82296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2020824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2404872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2404872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global_zscore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03120" y="2404872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03120" y="2404872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0.7894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404872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54680" y="2404872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0.7530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2404872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2404872"/>
            <a:ext cx="1005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−0.036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40487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57800" y="2404872"/>
            <a:ext cx="960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0.103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2404872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2404872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905256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ROC — norm  (M2 vs M3 차이)</a:t>
            </a:r>
          </a:p>
        </p:txBody>
      </p:sp>
      <p:pic>
        <p:nvPicPr>
          <p:cNvPr id="57" name="Picture 56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97864"/>
            <a:ext cx="4663440" cy="2450592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7315200" y="3785615"/>
            <a:ext cx="4663440" cy="28437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15200" y="3785615"/>
            <a:ext cx="91440" cy="2843784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79" y="385876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9EA3AB"/>
                </a:solidFill>
                <a:latin typeface="맑은 고딕"/>
              </a:rPr>
              <a:t>해석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4242816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norm: M3(0.821) vs M2(0.812) Δ=+0.009, p=0.620 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79" y="4590288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raw: M3(0.786) vs M2(0.798) Δ=−0.012, p=0.676 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79" y="4937759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global_zscore: M3(0.753) vs M2(0.789) Δ=−0.036, p=0.103 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8079" y="5285231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전 조건 M2 우세 또는 유의차 없음 → Scanner 순기여 불명확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79" y="5632704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추후 n↑ → M2 vs M3 재검증 권장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M2 vs M2_2 비교 — 매칭 효과 검증 (음성 대조군)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Matched(M2) vs Unmatched(M2_2)  |  AEC 개인 대응의 실질적 기여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438912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실험 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1016"/>
            <a:ext cx="402336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62456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M2: 환자 i의 Clinic + 환자 i의 AEC (동일 환자)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55064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M2_2: 환자 i의 Clinic + 환자 j의 AEC (다른 환자)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→ 동일 CrossAttention 구조 / AEC만 랜덤 셔플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50008"/>
            <a:ext cx="6858000" cy="34838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6492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DeLong Test — M2(Matched) vs M2_2(Unmatched)  [ AEC 128pt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15768"/>
            <a:ext cx="649224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761488"/>
            <a:ext cx="18288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76148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조건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761488"/>
            <a:ext cx="10515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276148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 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761488"/>
            <a:ext cx="11430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761488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M2_2 AUC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761488"/>
            <a:ext cx="8229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76148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Δ(M2-M2₂)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0680" y="2761488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2761488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p-val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761488"/>
            <a:ext cx="8229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76148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sig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05409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054096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raw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054096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054096"/>
            <a:ext cx="1051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0.7980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3054096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054096"/>
            <a:ext cx="1143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054096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054096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40680" y="3054096"/>
            <a:ext cx="868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0680" y="3054096"/>
            <a:ext cx="868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0.783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054096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054096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438144"/>
            <a:ext cx="18288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438144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3438144"/>
            <a:ext cx="105156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3438144"/>
            <a:ext cx="1051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0.8118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3438144"/>
            <a:ext cx="11430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3438144"/>
            <a:ext cx="1143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0.8059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3438144"/>
            <a:ext cx="82296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3438144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+0.006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40680" y="3438144"/>
            <a:ext cx="86868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40680" y="3438144"/>
            <a:ext cx="868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0.808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3438144"/>
            <a:ext cx="82296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438144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822191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3822191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global_zscore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0" y="3822191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86000" y="3822191"/>
            <a:ext cx="1051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0.7894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3280" y="3822191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80" y="3822191"/>
            <a:ext cx="1143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0.8041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3822191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0" y="3822191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−0.015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40680" y="3822191"/>
            <a:ext cx="868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40680" y="3822191"/>
            <a:ext cx="868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0.468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3822191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3822191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905256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ROC — norm  (M2 vs M2_2 비교)</a:t>
            </a:r>
          </a:p>
        </p:txBody>
      </p:sp>
      <p:pic>
        <p:nvPicPr>
          <p:cNvPr id="63" name="Picture 62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97864"/>
            <a:ext cx="4663440" cy="233172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7315200" y="3648456"/>
            <a:ext cx="4663440" cy="2478024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200" y="3648456"/>
            <a:ext cx="91440" cy="2478024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79" y="3721608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E87400"/>
                </a:solidFill>
                <a:latin typeface="맑은 고딕"/>
              </a:rPr>
              <a:t>해석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79" y="4069080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norm: M2(0.812) vs M2_2(0.806) Δ=0.006 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79" y="4416552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→ AEC는 개인별 고유 신호 — 단순 체형 proxy 아님 (일부 조건)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79" y="4764024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global_zscore 조건: M2_2&gt;M2 (ns)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79" y="5111496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raw: p=0.783 ns | norm: p=0.808 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8079" y="5458968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전처리 조건에 따라 매칭 효과 강도 변화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Model 4 — AEC Only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임상 특징 없이 AEC 시퀀스만으로 분류  |  AECOnlyNet  |  3 전처리 조건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120640" cy="53583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47548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Test Set 성능  (3 전처리 조건)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4754880" cy="36576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44168"/>
            <a:ext cx="10972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344168"/>
            <a:ext cx="8229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34416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1344168"/>
            <a:ext cx="7772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134416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AUPRC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344168"/>
            <a:ext cx="7772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34416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Brier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1344168"/>
            <a:ext cx="7315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13441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344168"/>
            <a:ext cx="5943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34416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F1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1636776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1636776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raw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1636776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1636776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0.5856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1636776"/>
            <a:ext cx="777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3160" y="1636776"/>
            <a:ext cx="777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0.1882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1636776"/>
            <a:ext cx="777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1636776"/>
            <a:ext cx="777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0.3041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1636776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1636776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0.6507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1636776"/>
            <a:ext cx="594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1636776"/>
            <a:ext cx="594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0.2157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1984248"/>
            <a:ext cx="109728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198424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1984248"/>
            <a:ext cx="8229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1984248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0.5386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3160" y="1984248"/>
            <a:ext cx="77724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23160" y="1984248"/>
            <a:ext cx="777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0.1490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1984248"/>
            <a:ext cx="77724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1984248"/>
            <a:ext cx="777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0.2529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69080" y="1984248"/>
            <a:ext cx="7315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69080" y="1984248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0.8952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0600" y="1984248"/>
            <a:ext cx="594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1984248"/>
            <a:ext cx="594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0.0000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2331720"/>
            <a:ext cx="1097280" cy="347472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2331720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global_zscore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2331720"/>
            <a:ext cx="822960" cy="347472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54480" y="2331720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0.5785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23160" y="2331720"/>
            <a:ext cx="777240" cy="347472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3160" y="2331720"/>
            <a:ext cx="777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0.1369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46120" y="2331720"/>
            <a:ext cx="777240" cy="347472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6120" y="2331720"/>
            <a:ext cx="777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0.2795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69080" y="2331720"/>
            <a:ext cx="731520" cy="347472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69080" y="2331720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0.8952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00600" y="2331720"/>
            <a:ext cx="594360" cy="347472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00600" y="2331720"/>
            <a:ext cx="594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0.0000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2688336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Bootstrap 95% CI  (raw — best)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2980944"/>
            <a:ext cx="4754880" cy="2743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1480" y="3035808"/>
            <a:ext cx="1143000" cy="23774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3035808"/>
            <a:ext cx="1143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지표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00200" y="3035808"/>
            <a:ext cx="1234440" cy="23774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00200" y="3035808"/>
            <a:ext cx="1234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추정치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80360" y="3035808"/>
            <a:ext cx="1188720" cy="23774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80360" y="3035808"/>
            <a:ext cx="1188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95% CI 하한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0" y="3035808"/>
            <a:ext cx="914400" cy="23774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0" y="3035808"/>
            <a:ext cx="914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95% CI 상한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291840"/>
            <a:ext cx="1143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329184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AUC-ROC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291840"/>
            <a:ext cx="1234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00200" y="329184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0.5856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80360" y="3291840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80360" y="32918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0.4544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0" y="32918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0" y="3291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0.7105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3566160"/>
            <a:ext cx="11430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356616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AUPRC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3566160"/>
            <a:ext cx="123444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00200" y="35661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0.1882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880360" y="3566160"/>
            <a:ext cx="118872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80360" y="3566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0.1021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0" y="3566160"/>
            <a:ext cx="9144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0" y="35661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0.3675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" y="3840480"/>
            <a:ext cx="1143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1480" y="38404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Brier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600200" y="3840480"/>
            <a:ext cx="1234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600200" y="384048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0.3041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880360" y="3840480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880360" y="38404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0.2917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0" y="38404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14800" y="3840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0.3164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4114800"/>
            <a:ext cx="11430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411480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F1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114800"/>
            <a:ext cx="123444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00200" y="411480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0.2157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880360" y="4114800"/>
            <a:ext cx="118872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80360" y="4114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0.1111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0" y="4114800"/>
            <a:ext cx="9144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14800" y="4114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0.3273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4498848"/>
            <a:ext cx="5120640" cy="1581912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74320" y="4498848"/>
            <a:ext cx="91440" cy="158191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57200" y="45720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7B2FBE"/>
                </a:solidFill>
                <a:latin typeface="맑은 고딕"/>
              </a:rPr>
              <a:t>AEC Only 한계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7200" y="489204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최고 AUC 0.586 (raw) — M1(0.803) 대비 크게 열세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5166359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M1 vs M4 raw: p=0.006 ** — 통계적 유의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5440679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AEC 단독으로는 Clinic(Age·Sex·BMI) 대체 불가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" y="571500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AEC는 Clinic 보조 신호로서 의미 있음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77840" y="905256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M4 ROC 곡선  (raw, vs M1 baseline)</a:t>
            </a:r>
          </a:p>
        </p:txBody>
      </p:sp>
      <p:pic>
        <p:nvPicPr>
          <p:cNvPr id="106" name="Picture 105" descr="test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197864"/>
            <a:ext cx="3749039" cy="251460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577840" y="3840480"/>
            <a:ext cx="3749039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맑은 고딕"/>
              </a:rPr>
              <a:t>M1 vs M4 AUC 비교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77840" y="4114800"/>
            <a:ext cx="37490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  M1(LR)  : AUC 0.803
  M4(global_zscore): AUC 0.586  (Δ-0.217)
  p=0.002 **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509760" y="905256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5-Fold CV 결과  (raw)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509760" y="1197864"/>
            <a:ext cx="594360" cy="21945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509760" y="1197864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Fold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149840" y="1197864"/>
            <a:ext cx="640080" cy="21945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149840" y="1197864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AUC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835640" y="1197864"/>
            <a:ext cx="594360" cy="21945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835640" y="1197864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AUPRC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1475720" y="1197864"/>
            <a:ext cx="640080" cy="21945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475720" y="1197864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F1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509760" y="1435608"/>
            <a:ext cx="59436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509760" y="143560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149840" y="1435608"/>
            <a:ext cx="64008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149840" y="1435608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0.6325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835640" y="1435608"/>
            <a:ext cx="59436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835640" y="143560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0.1794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1475720" y="1435608"/>
            <a:ext cx="64008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475720" y="1435608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0.2564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509760" y="1655064"/>
            <a:ext cx="5943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509760" y="1655064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149840" y="1655064"/>
            <a:ext cx="6400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149840" y="1655064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0.6868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835640" y="1655064"/>
            <a:ext cx="5943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835640" y="1655064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0.2216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1475720" y="1655064"/>
            <a:ext cx="6400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475720" y="1655064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0.2656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509760" y="1874519"/>
            <a:ext cx="59436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509760" y="1874519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3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149840" y="1874519"/>
            <a:ext cx="64008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149840" y="1874519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0.7076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835640" y="1874519"/>
            <a:ext cx="59436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835640" y="1874519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0.2175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1475720" y="1874519"/>
            <a:ext cx="64008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475720" y="1874519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0.3415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509760" y="2093976"/>
            <a:ext cx="5943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509760" y="2093976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4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0149840" y="2093976"/>
            <a:ext cx="6400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149840" y="2093976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0.6996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835640" y="2093976"/>
            <a:ext cx="5943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835640" y="2093976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0.2732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475720" y="2093976"/>
            <a:ext cx="6400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475720" y="2093976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0.3000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509760" y="2313432"/>
            <a:ext cx="59436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509760" y="231343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5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149840" y="2313432"/>
            <a:ext cx="64008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149840" y="2313432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0.6697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0835640" y="2313432"/>
            <a:ext cx="59436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835640" y="231343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0.3068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1475720" y="2313432"/>
            <a:ext cx="64008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1475720" y="2313432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0.3279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509760" y="2532888"/>
            <a:ext cx="594360" cy="219456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509760" y="253288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Mean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149840" y="2532888"/>
            <a:ext cx="640080" cy="219456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149840" y="2532888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0.6792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835640" y="2532888"/>
            <a:ext cx="594360" cy="219456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835640" y="253288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0.2397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1475720" y="2532888"/>
            <a:ext cx="640080" cy="219456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1475720" y="2532888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0.2983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509760" y="3246120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맑은 고딕"/>
              </a:rPr>
              <a:t>Grad-CAM (raw)</a:t>
            </a:r>
          </a:p>
        </p:txBody>
      </p:sp>
      <p:pic>
        <p:nvPicPr>
          <p:cNvPr id="167" name="Picture 166" descr="cam_aec_m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3502152"/>
            <a:ext cx="2468880" cy="2697480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AEC 전처리 조건별 ROC 비교 — 3종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M1·M2·M2₂·M3·M4 포함  |  AEC 128pt  |  각 전처리 조건의 성능 차이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05256"/>
            <a:ext cx="3840480" cy="329184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923544"/>
            <a:ext cx="3703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raw — 원본 AEC</a:t>
            </a:r>
          </a:p>
        </p:txBody>
      </p:sp>
      <p:pic>
        <p:nvPicPr>
          <p:cNvPr id="7" name="Picture 6" descr="roc_all_models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52728"/>
            <a:ext cx="3840480" cy="5212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60520" y="905256"/>
            <a:ext cx="3840480" cy="329184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3672" y="923544"/>
            <a:ext cx="3703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norm — 행 방향 z-score</a:t>
            </a:r>
          </a:p>
        </p:txBody>
      </p:sp>
      <p:pic>
        <p:nvPicPr>
          <p:cNvPr id="10" name="Picture 9" descr="roc_all_models_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252728"/>
            <a:ext cx="3840480" cy="52120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92440" y="905256"/>
            <a:ext cx="3840480" cy="329184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923544"/>
            <a:ext cx="3703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global_zscore — 전체 μ/σ z-score</a:t>
            </a:r>
          </a:p>
        </p:txBody>
      </p:sp>
      <p:pic>
        <p:nvPicPr>
          <p:cNvPr id="13" name="Picture 12" descr="roc_all_models_global_zsc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252728"/>
            <a:ext cx="3840480" cy="5212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Attention Map 양방향 비교 + Grad-CAM AEC  (norm)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C→A · A→C Cross-Attention 패턴  |  Grad-CAM 기여 구간  |  M2(CrossAttn) vs M3(CrossAttn3)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C → A  (Clinic → AEC)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A → C  (AEC → Clinic)</a:t>
            </a:r>
          </a:p>
        </p:txBody>
      </p:sp>
      <p:sp>
        <p:nvSpPr>
          <p:cNvPr id="9" name="Rectangle 8"/>
          <p:cNvSpPr/>
          <p:nvPr/>
        </p:nvSpPr>
        <p:spPr>
          <a:xfrm>
            <a:off x="8174736" y="813816"/>
            <a:ext cx="3886200" cy="27432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0456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Grad-CAM AEC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115568"/>
            <a:ext cx="274320" cy="27432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" y="2121408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3" name="Picture 12" descr="attention_heatmap_c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3593592" cy="1783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" y="2944368"/>
            <a:ext cx="3593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15" name="Picture 14" descr="attention_map_c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127248"/>
            <a:ext cx="3593592" cy="685800"/>
          </a:xfrm>
          <a:prstGeom prst="rect">
            <a:avLst/>
          </a:prstGeom>
        </p:spPr>
      </p:pic>
      <p:pic>
        <p:nvPicPr>
          <p:cNvPr id="16" name="Picture 15" descr="attention_heatmap_a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1115568"/>
            <a:ext cx="3593592" cy="1783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71416" y="2944368"/>
            <a:ext cx="3593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18" name="Picture 17" descr="attention_map_a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3127248"/>
            <a:ext cx="3593592" cy="685800"/>
          </a:xfrm>
          <a:prstGeom prst="rect">
            <a:avLst/>
          </a:prstGeom>
        </p:spPr>
      </p:pic>
      <p:pic>
        <p:nvPicPr>
          <p:cNvPr id="19" name="Picture 18" descr="cam_aec_heat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1115568"/>
            <a:ext cx="3593592" cy="1783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67344" y="2944368"/>
            <a:ext cx="3593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21" name="Picture 20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3127248"/>
            <a:ext cx="3593592" cy="6858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82880" y="3904487"/>
            <a:ext cx="274320" cy="27432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" y="4910327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3904487"/>
            <a:ext cx="3593592" cy="1783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5488" y="5733288"/>
            <a:ext cx="3593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26" name="Picture 25" descr="attention_map_c2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" y="5916168"/>
            <a:ext cx="3593592" cy="685800"/>
          </a:xfrm>
          <a:prstGeom prst="rect">
            <a:avLst/>
          </a:prstGeom>
        </p:spPr>
      </p:pic>
      <p:pic>
        <p:nvPicPr>
          <p:cNvPr id="27" name="Picture 26" descr="attention_heatmap_a2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1416" y="3904487"/>
            <a:ext cx="3593592" cy="17830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71416" y="5733288"/>
            <a:ext cx="3593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29" name="Picture 28" descr="attention_map_a2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1416" y="5916168"/>
            <a:ext cx="3593592" cy="685800"/>
          </a:xfrm>
          <a:prstGeom prst="rect">
            <a:avLst/>
          </a:prstGeom>
        </p:spPr>
      </p:pic>
      <p:pic>
        <p:nvPicPr>
          <p:cNvPr id="30" name="Picture 29" descr="cam_aec_heatma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7344" y="3904487"/>
            <a:ext cx="3593592" cy="17830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67344" y="5733288"/>
            <a:ext cx="3593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32" name="Picture 31" descr="cam_aec_mea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344" y="5916168"/>
            <a:ext cx="3593592" cy="685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최적 조건 상세 — AEC 128pt + norm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M1·M2·M3 성능 비교  |  Bootstrap CI  |  Brier → Calibration 참조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1612880" cy="59436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05256"/>
            <a:ext cx="109728" cy="5943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9264"/>
            <a:ext cx="11064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AEC 128pt + norm:  M1→M2 p=0.697 ns  |  M1→M3 p=0.486 ns  |  M2 best AUC 0.8118  |  M3 best AUC 0.8209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91056"/>
            <a:ext cx="10972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9105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모델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1591056"/>
            <a:ext cx="10972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59105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591056"/>
            <a:ext cx="15087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591056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95% CI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591056"/>
            <a:ext cx="9601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591056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AUPRC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591056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59105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Brier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591056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59105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F1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591056"/>
            <a:ext cx="15087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591056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AUC vs M1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1591056"/>
            <a:ext cx="15087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591056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DeLong 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1591056"/>
            <a:ext cx="1874519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1591056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비고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883664"/>
            <a:ext cx="109728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1883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M1 (LR)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20" y="1883664"/>
            <a:ext cx="109728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1883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1883664"/>
            <a:ext cx="150876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0" y="188366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[0.720,0.872]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1883664"/>
            <a:ext cx="9601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1883664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1883664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188366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1883664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188366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1883664"/>
            <a:ext cx="150876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188366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기준선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5360" y="1883664"/>
            <a:ext cx="150876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188366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기준선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49840" y="1883664"/>
            <a:ext cx="1874519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1883664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 Only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249424"/>
            <a:ext cx="109728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224942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 (CrossAttn)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17320" y="2249424"/>
            <a:ext cx="109728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17320" y="224942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0.8118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2249424"/>
            <a:ext cx="150876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0" y="224942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[0.741,0.877]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2249424"/>
            <a:ext cx="96012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0" y="2249424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0.3599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249424"/>
            <a:ext cx="91440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20640" y="224942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0.2581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2249424"/>
            <a:ext cx="91440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80760" y="224942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0.3519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40880" y="2249424"/>
            <a:ext cx="150876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40880" y="224942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+0.009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95360" y="2249424"/>
            <a:ext cx="150876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95360" y="224942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p=0.697 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49840" y="2249424"/>
            <a:ext cx="1874519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49840" y="2249424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Clinic+AEC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261518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261518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M2_2 (Neg)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17320" y="261518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17320" y="261518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0.8059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0" y="2615184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60320" y="261518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[0.720,0.876]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2615184"/>
            <a:ext cx="960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0" y="2615184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0.2782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20640" y="2615184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20640" y="261518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0.2627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80760" y="2615184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80760" y="261518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0.3704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40880" y="2615184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40880" y="261518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95360" y="2615184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95360" y="261518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(neg ctrl)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2615184"/>
            <a:ext cx="187451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49840" y="2615184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Unmatched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2980944"/>
            <a:ext cx="109728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298094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M3 (CrossAttn3)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417320" y="2980944"/>
            <a:ext cx="109728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17320" y="298094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0.8209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60320" y="2980944"/>
            <a:ext cx="150876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60320" y="298094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[0.740,0.889]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0" y="2980944"/>
            <a:ext cx="96012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4800" y="2980944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0.3141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20640" y="2980944"/>
            <a:ext cx="91440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120640" y="298094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0.2645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80760" y="2980944"/>
            <a:ext cx="91440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80760" y="298094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0.4040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040880" y="2980944"/>
            <a:ext cx="150876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040880" y="298094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+0.018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95360" y="2980944"/>
            <a:ext cx="150876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595360" y="298094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p=0.486 ns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149840" y="2980944"/>
            <a:ext cx="1874519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149840" y="2980944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Clinic+Scn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" y="3465576"/>
            <a:ext cx="3566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ROC — norm  (M1·M2·M2₂·M3·M4)</a:t>
            </a:r>
          </a:p>
        </p:txBody>
      </p:sp>
      <p:pic>
        <p:nvPicPr>
          <p:cNvPr id="99" name="Picture 98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739896"/>
            <a:ext cx="3566160" cy="2889504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3977639" y="3465576"/>
            <a:ext cx="3566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01" name="Picture 100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3739896"/>
            <a:ext cx="3566160" cy="2889504"/>
          </a:xfrm>
          <a:prstGeom prst="rect">
            <a:avLst/>
          </a:prstGeom>
        </p:spPr>
      </p:pic>
      <p:sp>
        <p:nvSpPr>
          <p:cNvPr id="102" name="Rectangle 101"/>
          <p:cNvSpPr/>
          <p:nvPr/>
        </p:nvSpPr>
        <p:spPr>
          <a:xfrm>
            <a:off x="7680960" y="3465576"/>
            <a:ext cx="4297680" cy="30175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754112" y="3483864"/>
            <a:ext cx="41879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7400"/>
                </a:solidFill>
                <a:latin typeface="맑은 고딕"/>
              </a:rPr>
              <a:t>※ Calibration — M3  norm  (Brier 0.2645)  (Brier 보정 품질 확인)</a:t>
            </a:r>
          </a:p>
        </p:txBody>
      </p:sp>
      <p:pic>
        <p:nvPicPr>
          <p:cNvPr id="104" name="Picture 103" descr="calibration_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785615"/>
            <a:ext cx="4297680" cy="2843784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성별 분리 비교 — M1 vs M2 vs M3  (AEC 128pt + norm)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남성(n=82, 유병률 15.9%) · 여성(n=147, 유병률 7.5%) 분리 AUC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161288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50976"/>
            <a:ext cx="13258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50976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950976"/>
            <a:ext cx="11887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95097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전체 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950976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95097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전체 CI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950976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95097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남성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950976"/>
            <a:ext cx="11887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95097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남성 CI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950976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95097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여성 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950976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95097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여성 CI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950976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95097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남 AUPRC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0" y="950976"/>
            <a:ext cx="14173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950976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여 AUPRC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243584"/>
            <a:ext cx="132588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1243584"/>
            <a:ext cx="132588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M1 (LR)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1243584"/>
            <a:ext cx="11887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0" y="1243584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0" y="1243584"/>
            <a:ext cx="12344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1243584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[0.720,0.872]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1243584"/>
            <a:ext cx="12344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1243584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0.7035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1243584"/>
            <a:ext cx="11887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1243584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1243584"/>
            <a:ext cx="12344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1243584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0.8483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1243584"/>
            <a:ext cx="12344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1243584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1243584"/>
            <a:ext cx="12344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1243584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0.3155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07040" y="1243584"/>
            <a:ext cx="14173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0" y="1243584"/>
            <a:ext cx="14173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0.4748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1618488"/>
            <a:ext cx="132588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1618488"/>
            <a:ext cx="132588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 (CrossAttn)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37360" y="1618488"/>
            <a:ext cx="118872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37360" y="1618488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0.8118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71800" y="1618488"/>
            <a:ext cx="123444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1800" y="1618488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[0.741,0.877]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1618488"/>
            <a:ext cx="123444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1618488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0.7246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2120" y="1618488"/>
            <a:ext cx="118872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1618488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1618488"/>
            <a:ext cx="123444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60" y="1618488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0.8576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1618488"/>
            <a:ext cx="123444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0" y="1618488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26880" y="1618488"/>
            <a:ext cx="123444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1618488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0.3792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607040" y="1618488"/>
            <a:ext cx="141732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07040" y="1618488"/>
            <a:ext cx="14173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0.3593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1993392"/>
            <a:ext cx="132588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1993392"/>
            <a:ext cx="132588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M3 (CrossAttn3)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37360" y="1993392"/>
            <a:ext cx="118872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37360" y="1993392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0.8209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71800" y="1993392"/>
            <a:ext cx="123444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71800" y="1993392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[0.740,0.889]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51960" y="1993392"/>
            <a:ext cx="123444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51960" y="1993392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0.7291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32120" y="1993392"/>
            <a:ext cx="118872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32120" y="1993392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66560" y="1993392"/>
            <a:ext cx="123444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66560" y="1993392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0.8610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46720" y="1993392"/>
            <a:ext cx="123444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46720" y="1993392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26880" y="1993392"/>
            <a:ext cx="123444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26880" y="1993392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0.2991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607040" y="1993392"/>
            <a:ext cx="141732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07040" y="1993392"/>
            <a:ext cx="14173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0.4083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2825496"/>
            <a:ext cx="3474720" cy="3712463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4320" y="2825496"/>
            <a:ext cx="91440" cy="3712463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289864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F6BBF"/>
                </a:solidFill>
                <a:latin typeface="맑은 고딕"/>
              </a:rPr>
              <a:t>남성 비교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328269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M1→M2: 0.704→0.725  (Δ+0.021)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3758183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M1→M3: 0.704→0.729  (Δ+0.026)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423367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남성 유병률 15.9% → AUC 해석 비교적 안정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47091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AUPRC: M1(0.316)→M3(0.299)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86200" y="2825496"/>
            <a:ext cx="3474720" cy="3712463"/>
          </a:xfrm>
          <a:prstGeom prst="rect">
            <a:avLst/>
          </a:prstGeom>
          <a:solidFill>
            <a:srgbClr val="FF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886200" y="2825496"/>
            <a:ext cx="91440" cy="371246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069080" y="289864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맑은 고딕"/>
              </a:rPr>
              <a:t>여성 비교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69080" y="328269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M1→M2: 0.848→0.858  (Δ+0.009)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69080" y="3758183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M1→M3: 0.848→0.861  (Δ+0.013)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69080" y="423367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유병률 7.5% → class imbalance 주의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69080" y="47091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AUPRC: M1(0.475)→M3(0.408)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69080" y="518464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AUPRC가 AUC보다 중요한 지표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98079" y="2825496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M1  by Sex</a:t>
            </a:r>
          </a:p>
        </p:txBody>
      </p:sp>
      <p:pic>
        <p:nvPicPr>
          <p:cNvPr id="94" name="Picture 93" descr="test_roc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099816"/>
            <a:ext cx="2194560" cy="182880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9829800" y="2825496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F9B8A"/>
                </a:solidFill>
                <a:latin typeface="맑은 고딕"/>
              </a:rPr>
              <a:t>M2  by Sex</a:t>
            </a:r>
          </a:p>
        </p:txBody>
      </p:sp>
      <p:pic>
        <p:nvPicPr>
          <p:cNvPr id="96" name="Picture 95" descr="test_roc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3099816"/>
            <a:ext cx="2194560" cy="18288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7498079" y="4974336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맑은 고딕"/>
              </a:rPr>
              <a:t>△ 여성 AUC 0.848 → 0.861(M3)  |  △ 남성 AUC 0.704 → 0.729(M3)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98079" y="5285232"/>
            <a:ext cx="4480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EA3AB"/>
                </a:solidFill>
                <a:latin typeface="맑은 고딕"/>
              </a:rPr>
              <a:t>M2 norm — Training Curves</a:t>
            </a:r>
          </a:p>
        </p:txBody>
      </p:sp>
      <p:pic>
        <p:nvPicPr>
          <p:cNvPr id="99" name="Picture 98" descr="train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5559552"/>
            <a:ext cx="4480560" cy="111556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AEC 스케일링 비교 — Raw / Row-Norm / Global-ZScore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n=1,143  |  AEC 128pt  |  3가지 전처리 버전 시각화  |  xlsx: aec_inspection/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161288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10972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비교 목적 및 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097280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109728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모델 학습 시 실제 입력되는 AEC 데이터의 형태를 시각적으로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55064"/>
            <a:ext cx="109728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norm (행 방향): 환자별 z-score → 개인의 절대 선량 수준 제거, 곡선 형태만 보존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09728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global_zscore: Train 전체 단일 μ/σ 사용 → 환자 간 상대적 수준 보존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340864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스케일링별 평균 AEC 곡선  (Normal vs Sarcopenia × Sex)</a:t>
            </a:r>
          </a:p>
        </p:txBody>
      </p:sp>
      <p:pic>
        <p:nvPicPr>
          <p:cNvPr id="12" name="Picture 11" descr="aec128_mea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33472"/>
            <a:ext cx="7772400" cy="2423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23408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샘플별 분포 박스플롯  (Normal vs Sarcopenia)</a:t>
            </a:r>
          </a:p>
        </p:txBody>
      </p:sp>
      <p:pic>
        <p:nvPicPr>
          <p:cNvPr id="14" name="Picture 13" descr="aec128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633472"/>
            <a:ext cx="3657600" cy="2423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" y="5175504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AEC 분포 히스토그램</a:t>
            </a:r>
          </a:p>
        </p:txBody>
      </p:sp>
      <p:pic>
        <p:nvPicPr>
          <p:cNvPr id="16" name="Picture 15" descr="aec128_dist_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431536"/>
            <a:ext cx="4572000" cy="12710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029200" y="5175504"/>
            <a:ext cx="6858000" cy="152704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5266944"/>
            <a:ext cx="6675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저장 위치: results/0612/aec_inspection/aec_scaling_compare_aec128.xlsx  |  1,143행 × 131열 (PatientID, label, sex + pos_1~pos_128)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687568"/>
            <a:ext cx="6675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• raw: 환자별 절대 AEC 수준 — 체중·조직량 반영 (스캐너 자동 보정)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5943600"/>
            <a:ext cx="6675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• norm: 개인 곡선 형태만 보존 → 스캐너 간 절대값 차이 제거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6199631"/>
            <a:ext cx="6675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• global_zscore: 집단 내 상대적 선량 수준 보존 → 환자 간 비교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종합 결론 및 임상적 함의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AEC 신호의 근감소증 예측 기여 — 비교 연구 결과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161288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05256"/>
            <a:ext cx="109728" cy="1325880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9264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1" i="0">
                <a:solidFill>
                  <a:srgbClr val="0F6BBF"/>
                </a:solidFill>
                <a:latin typeface="맑은 고딕"/>
              </a:rPr>
              <a:t>① AEC+Clinic 조합(M2/M3) norm: M1 대비 AUC 향상 — 통계적 유의 미달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M1→M2 norm: AUC 0.8030→0.8118, DeLong p=0.697 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M1→M3 norm: AUC 0.8030→0.8209, DeLong p=0.486 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35024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여성 AUC: M1(0.848)→M3(0.861) — M3 일부 기여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27632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AUPRC: M1(0.312)→M2(0.360)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95144"/>
            <a:ext cx="1161288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95144"/>
            <a:ext cx="109728" cy="132588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59152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1" i="0">
                <a:solidFill>
                  <a:srgbClr val="0F9B8A"/>
                </a:solidFill>
                <a:latin typeface="맑은 고딕"/>
              </a:rPr>
              <a:t>② norm 전처리 조건에서 M2 best AUC (0.8118) — M3과 유사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2491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M2 norm: AUC 0.8118 — Clinic+AEC 최고 성능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17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M3 norm: AUC 0.8209 — Scanner 추가 순기여 불명확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24912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M2vM3 norm: Δ=+0.009, p=0.620 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→ AEC 전처리 방식이 성능 핵심 변수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85032"/>
            <a:ext cx="1161288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685032"/>
            <a:ext cx="109728" cy="132588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49039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1" i="0">
                <a:solidFill>
                  <a:srgbClr val="E87400"/>
                </a:solidFill>
                <a:latin typeface="맑은 고딕"/>
              </a:rPr>
              <a:t>③ Model 4 (AEC Only): AUC AUC 0.586 — Clinic 없이 단독 예측 한계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M4 raw: AUC 0.586 vs M1(0.803) Δ-0.217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074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M1 vs M4: p=0.006 ** — 통계적 유의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11480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AEC는 임상 정보(Age/Sex/BMI) 대체 불가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407408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→ AEC는 Clinic의 보조 신호로서 의미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074920"/>
            <a:ext cx="1161288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074920"/>
            <a:ext cx="109728" cy="13258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138928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1" i="0">
                <a:solidFill>
                  <a:srgbClr val="1E8B4C"/>
                </a:solidFill>
                <a:latin typeface="맑은 고딕"/>
              </a:rPr>
              <a:t>④ Zero-cost AEC로 임상 등급 스크리닝 가능성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5046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기존 CT 스캔 시 자동 수집 — 추가 비용·검사 없음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797296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전체 AUC 0.8118 (M2 norm) → 임상 허용 가능 수준 탐색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504688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건강검진 프로그램 연동 시 고위험군 조기 선별 가능성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797296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PACS-DICOM AEC 자동 추출 파이프라인 구축 필요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제한점 및 향후 연구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현재 비교 연구의 한계와 발전 가능성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394960" cy="540410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5029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맑은 고딕"/>
              </a:rPr>
              <a:t>연구 제한점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0292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  ▶ 소표본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46504"/>
            <a:ext cx="5029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9EA3AB"/>
                </a:solidFill>
                <a:latin typeface="맑은 고딕"/>
              </a:rPr>
              <a:t>    Test n=229, Sarco 24명 → DeLong 검출력 제한, CI 넓음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0008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  ▶ 단일 기관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60904"/>
            <a:ext cx="5029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9EA3AB"/>
                </a:solidFill>
                <a:latin typeface="맑은 고딕"/>
              </a:rPr>
              <a:t>    단일 센터 데이터 → 외부 검증 미실시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64408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  ▶ M1→M2/M3 유의차 미달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75304"/>
            <a:ext cx="5029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9EA3AB"/>
                </a:solidFill>
                <a:latin typeface="맑은 고딕"/>
              </a:rPr>
              <a:t>    norm: p=0.697 ns, p=0.486 ns — AUC 향상 통계 미달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78808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  ▶ M4 AEC Only 성능 열세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9704"/>
            <a:ext cx="5029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9EA3AB"/>
                </a:solidFill>
                <a:latin typeface="맑은 고딕"/>
              </a:rPr>
              <a:t>    AUC 0.586 (raw) — Clinic 대체 불가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93208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  ▶ M2 vs M3 조건별 혼재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04104"/>
            <a:ext cx="5029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9EA3AB"/>
                </a:solidFill>
                <a:latin typeface="맑은 고딕"/>
              </a:rPr>
              <a:t>    norm p=0.620 ns, raw p=0.676 ns — 방향 불일치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905256"/>
            <a:ext cx="5943600" cy="540410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978408"/>
            <a:ext cx="5577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6BBF"/>
                </a:solidFill>
                <a:latin typeface="맑은 고딕"/>
              </a:rPr>
              <a:t>향후 연구 방향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25880"/>
            <a:ext cx="557784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435608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  ◆ 다기관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746504"/>
            <a:ext cx="5577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  강남+타기관 통합 → 일반화 성능·DeLong 유의성 재확인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350008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  ◆ 샘플 확장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660904"/>
            <a:ext cx="5577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  Test n&gt;500 → CI 축소, M1→M2 유의성 강화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264408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  ◆ 전처리 설계 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575304"/>
            <a:ext cx="5577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  norm/global_zscore 비교 → 최적 전처리 표준화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178808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  ◆ 아키텍처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489704"/>
            <a:ext cx="5577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  Multi-head Attn + positional encoding → 시퀀스 표현 강화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093208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  ◆ 임상 파이프라인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404104"/>
            <a:ext cx="5577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  PACS-DICOM AEC 추출 자동화 → 실시간 스크리닝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355080"/>
            <a:ext cx="116128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373368"/>
            <a:ext cx="116128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감사합니다  |  Questions &amp; Discussion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AEC 신호 — 임상 변수 Correlation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Raw AEC vs Norm AEC  |  128 슬라이스 × 7개 변수  |  Pearson r 포인트별 프로파일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394960" cy="29809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5029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Raw AEC 상관계수  (절대 선량 수준)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02920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44168"/>
            <a:ext cx="16916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44168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변수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344168"/>
            <a:ext cx="91440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134416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평균 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344168"/>
            <a:ext cx="82296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1344168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최대 |r|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1344168"/>
            <a:ext cx="82296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1344168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위치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1344168"/>
            <a:ext cx="68580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34416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해석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618488"/>
            <a:ext cx="16916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1618488"/>
            <a:ext cx="16916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BMI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1618488"/>
            <a:ext cx="9144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1618488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1618488"/>
            <a:ext cx="8229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1618488"/>
            <a:ext cx="822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+0.616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1618488"/>
            <a:ext cx="8229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1618488"/>
            <a:ext cx="822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pt80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1618488"/>
            <a:ext cx="6858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1618488"/>
            <a:ext cx="685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체중·체격 주반영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1920240"/>
            <a:ext cx="1691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1920240"/>
            <a:ext cx="16916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9B8A"/>
                </a:solidFill>
                <a:latin typeface="맑은 고딕"/>
              </a:rPr>
              <a:t>TAMA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1920240"/>
            <a:ext cx="914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192024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+0.308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1920240"/>
            <a:ext cx="8229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1920240"/>
            <a:ext cx="822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+0.489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1920240"/>
            <a:ext cx="8229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1920240"/>
            <a:ext cx="822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pt107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1920240"/>
            <a:ext cx="685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1920240"/>
            <a:ext cx="685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근육단면적 중간 상관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221992"/>
            <a:ext cx="16916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2221992"/>
            <a:ext cx="16916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9B8A"/>
                </a:solidFill>
                <a:latin typeface="맑은 고딕"/>
              </a:rPr>
              <a:t>SMI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3120" y="2221992"/>
            <a:ext cx="9144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0" y="2221992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+0.268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63240" y="2221992"/>
            <a:ext cx="8229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63240" y="2221992"/>
            <a:ext cx="822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+0.435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20" y="2221992"/>
            <a:ext cx="8229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0" y="2221992"/>
            <a:ext cx="822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pt107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00600" y="2221992"/>
            <a:ext cx="6858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00600" y="2221992"/>
            <a:ext cx="685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근육지수 양의 상관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2523744"/>
            <a:ext cx="1691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2523744"/>
            <a:ext cx="16916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Sex(M=1)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03120" y="2523744"/>
            <a:ext cx="914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0" y="2523744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+0.123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63240" y="2523744"/>
            <a:ext cx="8229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63240" y="2523744"/>
            <a:ext cx="822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+0.362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20" y="2523744"/>
            <a:ext cx="8229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31920" y="2523744"/>
            <a:ext cx="822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pt109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00600" y="2523744"/>
            <a:ext cx="685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00600" y="2523744"/>
            <a:ext cx="685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남성 선량↑ (체격)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2825496"/>
            <a:ext cx="16916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2825496"/>
            <a:ext cx="16916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Age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03120" y="2825496"/>
            <a:ext cx="9144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0" y="2825496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+0.111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63240" y="2825496"/>
            <a:ext cx="8229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63240" y="2825496"/>
            <a:ext cx="822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+0.242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31920" y="2825496"/>
            <a:ext cx="8229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31920" y="2825496"/>
            <a:ext cx="822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pt88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800600" y="2825496"/>
            <a:ext cx="6858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00600" y="2825496"/>
            <a:ext cx="685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약한 양의 상관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3127248"/>
            <a:ext cx="1691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3127248"/>
            <a:ext cx="16916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Sarcopenia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103120" y="3127248"/>
            <a:ext cx="914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103120" y="3127248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-0.129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63240" y="3127248"/>
            <a:ext cx="8229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63240" y="3127248"/>
            <a:ext cx="822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-0.158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31920" y="3127248"/>
            <a:ext cx="8229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31920" y="3127248"/>
            <a:ext cx="822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pt10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00600" y="3127248"/>
            <a:ext cx="685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800600" y="3127248"/>
            <a:ext cx="685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근감소증→선량↓ (약함)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3995928"/>
            <a:ext cx="5394960" cy="2231136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4320" y="3995928"/>
            <a:ext cx="91440" cy="223113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40690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E87400"/>
                </a:solidFill>
                <a:latin typeface="맑은 고딕"/>
              </a:rPr>
              <a:t>Raw AEC 핵심 발견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4389120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AEC raw값은 BMI(r=0.50)와 가장 강하게 상관 → 주로 체격 반영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4791456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Sarcopenia 직접 신호: r=-0.13 (약함) → Clinic의 BMI와 중복 정보 많음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5193792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복부 초반 슬라이스(pt10)에서 Sarcopenia 상관이 가장 높음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5596128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TAMA/SMI는 중간 상관 → AEC에 근육 정보가 간접 포함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43600" y="905256"/>
            <a:ext cx="5943600" cy="29809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26480" y="978408"/>
            <a:ext cx="55778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Norm AEC 상관계수  (개인별 z-score 후)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26480" y="1298448"/>
            <a:ext cx="557784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989320" y="1344168"/>
            <a:ext cx="173736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89320" y="1344168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변수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772400" y="1344168"/>
            <a:ext cx="91440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772400" y="134416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평균 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732520" y="1344168"/>
            <a:ext cx="86868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732520" y="134416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최대 |r|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646920" y="1344168"/>
            <a:ext cx="86868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46920" y="134416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위치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561320" y="1344168"/>
            <a:ext cx="86868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561320" y="134416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해석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989320" y="1618488"/>
            <a:ext cx="17373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989320" y="1618488"/>
            <a:ext cx="17373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Sex(M=1)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1618488"/>
            <a:ext cx="9144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772400" y="1618488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-0.028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732520" y="1618488"/>
            <a:ext cx="86868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732520" y="1618488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+0.652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646920" y="1618488"/>
            <a:ext cx="86868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46920" y="1618488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pt105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561320" y="1618488"/>
            <a:ext cx="86868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561320" y="1618488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성별 곡선 형태 차이 大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89320" y="1920240"/>
            <a:ext cx="1737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989320" y="1920240"/>
            <a:ext cx="17373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9B8A"/>
                </a:solidFill>
                <a:latin typeface="맑은 고딕"/>
              </a:rPr>
              <a:t>SMI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772400" y="1920240"/>
            <a:ext cx="914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772400" y="192024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-0.019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732520" y="1920240"/>
            <a:ext cx="868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732520" y="1920240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+0.501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646920" y="1920240"/>
            <a:ext cx="868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46920" y="1920240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pt102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561320" y="1920240"/>
            <a:ext cx="868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561320" y="1920240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특정 구간에서만 상관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89320" y="2221992"/>
            <a:ext cx="17373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989320" y="2221992"/>
            <a:ext cx="17373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9B8A"/>
                </a:solidFill>
                <a:latin typeface="맑은 고딕"/>
              </a:rPr>
              <a:t>TAMA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772400" y="2221992"/>
            <a:ext cx="9144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772400" y="2221992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-0.021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732520" y="2221992"/>
            <a:ext cx="86868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732520" y="2221992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+0.554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646920" y="2221992"/>
            <a:ext cx="86868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646920" y="2221992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pt102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561320" y="2221992"/>
            <a:ext cx="86868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561320" y="2221992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골반/복부 하부 중요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989320" y="2523744"/>
            <a:ext cx="1737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989320" y="2523744"/>
            <a:ext cx="17373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BMI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772400" y="2523744"/>
            <a:ext cx="914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772400" y="2523744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-0.010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732520" y="2523744"/>
            <a:ext cx="868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732520" y="2523744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+0.452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646920" y="2523744"/>
            <a:ext cx="868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646920" y="2523744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pt85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561320" y="2523744"/>
            <a:ext cx="868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561320" y="2523744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허리 부위 BMI 상관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989320" y="2825496"/>
            <a:ext cx="17373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989320" y="2825496"/>
            <a:ext cx="17373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Age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772400" y="2825496"/>
            <a:ext cx="9144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772400" y="2825496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-0.009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732520" y="2825496"/>
            <a:ext cx="86868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732520" y="2825496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-0.341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646920" y="2825496"/>
            <a:ext cx="86868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646920" y="2825496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pt13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561320" y="2825496"/>
            <a:ext cx="86868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561320" y="2825496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초반 슬라이스 Age 상관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989320" y="3127248"/>
            <a:ext cx="1737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989320" y="3127248"/>
            <a:ext cx="17373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Sarcopenia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772400" y="3127248"/>
            <a:ext cx="914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772400" y="3127248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-0.002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732520" y="3127248"/>
            <a:ext cx="868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732520" y="3127248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+0.064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646920" y="3127248"/>
            <a:ext cx="868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646920" y="3127248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pt119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561320" y="3127248"/>
            <a:ext cx="868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561320" y="3127248"/>
            <a:ext cx="868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정규화 후 신호 소실!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943600" y="3995928"/>
            <a:ext cx="5943600" cy="223113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5943600" y="3995928"/>
            <a:ext cx="91440" cy="223113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126480" y="406908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Norm AEC 핵심 발견 — 모델 성능 해석에 결정적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126480" y="4389120"/>
            <a:ext cx="5577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평균 r ≈ 0 → 정규화로 개인 절대 선량 제거됨 (의도한 효과)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126480" y="4754880"/>
            <a:ext cx="5577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특정 슬라이스(pt102-105)에서 성별/TAMA/SMI와 강한 상관 잔존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126480" y="5120640"/>
            <a:ext cx="5577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Sarcopenia 상관: mean=-0.002, max=+0.064 → 거의 소실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126480" y="5486400"/>
            <a:ext cx="5577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이것이 M2 norm 성능이 M2 raw보다 낮은 이유를 설명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126480" y="5852160"/>
            <a:ext cx="5577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norm이 BMI 정보를 제거하면서 Sarcopenia 신호도 같이 줄어듦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74320" y="630936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Pointwise Correlation Profile</a:t>
            </a:r>
          </a:p>
        </p:txBody>
      </p:sp>
      <p:pic>
        <p:nvPicPr>
          <p:cNvPr id="167" name="Picture 166" descr="pointwise_cor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92240"/>
            <a:ext cx="5303520" cy="320040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AEC 신호의 진단적 유의미성 — 무엇을 포착하는가?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AEC 물리적 의미 | M4(AEC only) · M5(AEC 통계 피처) · 매칭 vs 비매칭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394960" cy="2743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5029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AEC(자동노출제어)란?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02920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• CT 촬영 시 tube current(mAs)를 체형·조직에 따라 자동 조절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73936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• 체지방↑ → AEC 선량↑  /  근육량↑ → 감쇠 패턴 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57984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• 128 슬라이스 위치별 mAs 값 → 신체 구성의 종단 프로파일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42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• 추가 검사 없이 기존 CT DICOM에 자동 기록 — Zero-cost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• M5 추출 피처: mean·std·max·peak_pos·auc·skew·kurt·
  early/mid/late mean (11종)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67328"/>
            <a:ext cx="5394960" cy="28620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모델별 AEC 기여 비교  (각 모델 best 조건)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33087"/>
            <a:ext cx="502920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178808"/>
            <a:ext cx="1874519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78808"/>
            <a:ext cx="187451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모델 (best 조건)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4178808"/>
            <a:ext cx="86868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17880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4178808"/>
            <a:ext cx="82296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4178808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AUPRC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4178808"/>
            <a:ext cx="7772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4178808"/>
            <a:ext cx="777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Brier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4178808"/>
            <a:ext cx="68580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4178808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F1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53128"/>
            <a:ext cx="1874519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453128"/>
            <a:ext cx="187451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M1  Clinic Only (LR)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4453128"/>
            <a:ext cx="86868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4453128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4453128"/>
            <a:ext cx="82296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4453128"/>
            <a:ext cx="822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69080" y="4453128"/>
            <a:ext cx="7772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9080" y="4453128"/>
            <a:ext cx="777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4453128"/>
            <a:ext cx="6858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4453128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82312"/>
            <a:ext cx="1874519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782312"/>
            <a:ext cx="187451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M4  AEC Only (raw)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478231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478231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0.5856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4782312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4782312"/>
            <a:ext cx="822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0.1882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69080" y="4782312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69080" y="4782312"/>
            <a:ext cx="777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0.3041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92040" y="4782312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92040" y="4782312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0.2157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111496"/>
            <a:ext cx="1874519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111496"/>
            <a:ext cx="187451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9B8A"/>
                </a:solidFill>
                <a:latin typeface="맑은 고딕"/>
              </a:rPr>
              <a:t>M2  CrossAttn (raw)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5111496"/>
            <a:ext cx="86868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86000" y="5111496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0.7980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5111496"/>
            <a:ext cx="82296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0" y="5111496"/>
            <a:ext cx="822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0.2828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69080" y="5111496"/>
            <a:ext cx="7772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69080" y="5111496"/>
            <a:ext cx="777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0.2672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92040" y="5111496"/>
            <a:ext cx="6858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92040" y="5111496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0.3434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440680"/>
            <a:ext cx="1874519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5440680"/>
            <a:ext cx="187451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E8B4C"/>
                </a:solidFill>
                <a:latin typeface="맑은 고딕"/>
              </a:rPr>
              <a:t>M5  CrossAttn-Feat (norm)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5440680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0" y="5440680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0.8173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5440680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0" y="5440680"/>
            <a:ext cx="822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0.3304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69080" y="5440680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69080" y="5440680"/>
            <a:ext cx="777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0.2624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92040" y="5440680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92040" y="5440680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0.3366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0" y="905256"/>
            <a:ext cx="5943600" cy="2743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80" y="978408"/>
            <a:ext cx="55778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유의미성 분석 — 3가지 근거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0" y="1298448"/>
            <a:ext cx="5577840" cy="3657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35040" y="1389888"/>
            <a:ext cx="73152" cy="7863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72200" y="140817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맑은 고딕"/>
              </a:rPr>
              <a:t>① AEC 단독 예측력 (M4) 한계 확인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2200" y="1673352"/>
            <a:ext cx="5577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AUC 0.586 vs M1(0.803)
DeLong p=0.006 ** → AEC가 Clinic을 대체할 수 없음
AEC는 반드시 임상 변수와 조합 필요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35040" y="2304288"/>
            <a:ext cx="73152" cy="786384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72200" y="232257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1E8B4C"/>
                </a:solidFill>
                <a:latin typeface="맑은 고딕"/>
              </a:rPr>
              <a:t>② AEC 통계 피처(M5) — M3와 유사한 성능 수준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72200" y="2587752"/>
            <a:ext cx="5577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M5 norm AUC 0.8173  |  M3 norm 0.8209
M1 vs M5-norm: DeLong p=0.347 ns — 유의차 없음
통계 피처(11종)로도 raw 시퀀스와 유사 성능 달성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35040" y="3218688"/>
            <a:ext cx="73152" cy="786384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72200" y="323697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E87400"/>
                </a:solidFill>
                <a:latin typeface="맑은 고딕"/>
              </a:rPr>
              <a:t>③ 매칭(M2) vs 비매칭(M2_2): 개인별 고유성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72200" y="3502152"/>
            <a:ext cx="5577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norm: M2(0.812) vs M2_2(0.806)
DeLong p=0.808 ns — 개인별 AEC 대응의 유의미한 기여 없음
CrossAttn이 128pt raw sequence 완전 활용 어려울 수 있음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43600" y="3767328"/>
            <a:ext cx="5943600" cy="2862072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943600" y="3767328"/>
            <a:ext cx="91440" cy="28620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26480" y="384048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8B4C"/>
                </a:solidFill>
                <a:latin typeface="맑은 고딕"/>
              </a:rPr>
              <a:t>AEC의 역할 요약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26480" y="4160520"/>
            <a:ext cx="55778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AEC는 신체 구성 정보를 담은 의미 있는 보조 신호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0" y="4608576"/>
            <a:ext cx="55778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M5(AEC 통계 피처 11종): AUC 0.8173 (p=0.347 ns) — M3와 유사 수준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80" y="5056631"/>
            <a:ext cx="55778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raw 시퀀스(128pt) 직접 입력(M2/M3)과 통계 피처(M5) 모두 DeLong 유의차 미달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26480" y="5504688"/>
            <a:ext cx="55778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핵심: M4(AEC only)는 Clinic 대체 불가 — AEC는 보조 신호로서 의미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26480" y="5952744"/>
            <a:ext cx="55778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향후 방향: AEC 피처 확장 + 더 나은 시퀀스 인코더 + 다기관 검증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CrossAttention vs Late Fusion — 아키텍처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M2/M3(CrossAttn) vs M2_LF/M3_LF(LateFusion) | 통합 방식별 성능 차이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715000" cy="29809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05256"/>
            <a:ext cx="5715000" cy="43891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5440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CrossAttention (M2, M3)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426464"/>
            <a:ext cx="5440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  ▶ AEC 시퀀스(128pt) → Transformer Encoder → Key/Value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73936"/>
            <a:ext cx="5440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  ▶ Clinic 벡터(Age/Sex/BMI) → Linear →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21408"/>
            <a:ext cx="5440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  ▶ Cross-Attention: AEC↔Clinic 양방향 정보 교환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68880"/>
            <a:ext cx="5440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  ▶ 출력: Attention-weighted 표현 → MLP → 분류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16352"/>
            <a:ext cx="5440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E8B4C"/>
                </a:solidFill>
                <a:latin typeface="맑은 고딕"/>
              </a:rPr>
              <a:t>  ✓ 장점: 해석 가능한 Attention Map 제공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163824"/>
            <a:ext cx="5440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C0392B"/>
                </a:solidFill>
                <a:latin typeface="맑은 고딕"/>
              </a:rPr>
              <a:t>  ✗ 단점: 파라미터 多, 긴 AEC 시퀀스에 민감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905256"/>
            <a:ext cx="5715000" cy="29809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905256"/>
            <a:ext cx="5715000" cy="43891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941832"/>
            <a:ext cx="5440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Late Fusion (M2_LF, M3_LF)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26464"/>
            <a:ext cx="5440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  ▶ AEC 시퀀스(128pt) → 독립 인코더(GRU) → AEC 임베딩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73936"/>
            <a:ext cx="5440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  ▶ Clinic 벡터 → 독립 MLP → Clinic 임베딩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21408"/>
            <a:ext cx="5440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  ▶ 최종 단계에서 Concatenation → MLP → 분류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5440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  ▶ 각 modality가 독립적으로 표현 학습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16352"/>
            <a:ext cx="5440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E8B4C"/>
                </a:solidFill>
                <a:latin typeface="맑은 고딕"/>
              </a:rPr>
              <a:t>  ✓ 장점: 구조 단순, modality별 독립 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63824"/>
            <a:ext cx="5440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C0392B"/>
                </a:solidFill>
                <a:latin typeface="맑은 고딕"/>
              </a:rPr>
              <a:t>  ✗ 단점: 조기 상호작용 없음, Attention Map 없음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23360"/>
            <a:ext cx="1161288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9651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CrossAttn vs Late Fusion — 전처리 조건별 AUC 비교  (Test Set)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11247120" cy="36576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434840"/>
            <a:ext cx="1600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43484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전처리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4434840"/>
            <a:ext cx="15544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0" y="44348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 CrossAttn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4434840"/>
            <a:ext cx="15087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44348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M2_LF Late Fusion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4434840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443484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Δ(LF-CA)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4434840"/>
            <a:ext cx="17830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434840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M3 CrossAttn3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4434840"/>
            <a:ext cx="15087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44348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M3_LF LateFusion3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29800" y="4434840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29800" y="443484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Δ(LF-CA3)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109960" y="4434840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09960" y="4434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우세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727448"/>
            <a:ext cx="1600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727448"/>
            <a:ext cx="1600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raw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0" y="4727448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11680" y="4727448"/>
            <a:ext cx="1554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0.7980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11880" y="4727448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11880" y="4727448"/>
            <a:ext cx="1508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0.7411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66360" y="4727448"/>
            <a:ext cx="1234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66360" y="4727448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−0.057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4727448"/>
            <a:ext cx="1783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4727448"/>
            <a:ext cx="1783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9B8A"/>
                </a:solidFill>
                <a:latin typeface="맑은 고딕"/>
              </a:rPr>
              <a:t>0.7864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20" y="4727448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20" y="4727448"/>
            <a:ext cx="1508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0.7685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9800" y="4727448"/>
            <a:ext cx="1234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29800" y="4727448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−0.018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109960" y="4727448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109960" y="4727448"/>
            <a:ext cx="914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2M:CrossAttn / 3M:CrossAttn3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056632"/>
            <a:ext cx="16002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056632"/>
            <a:ext cx="1600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11680" y="5056632"/>
            <a:ext cx="155448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11680" y="5056632"/>
            <a:ext cx="1554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0.8118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11880" y="5056632"/>
            <a:ext cx="150876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11880" y="5056632"/>
            <a:ext cx="1508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0.7685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66360" y="5056632"/>
            <a:ext cx="12344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66360" y="5056632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−0.043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46520" y="5056632"/>
            <a:ext cx="178308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46520" y="5056632"/>
            <a:ext cx="1783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9B8A"/>
                </a:solidFill>
                <a:latin typeface="맑은 고딕"/>
              </a:rPr>
              <a:t>0.8209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75320" y="5056632"/>
            <a:ext cx="150876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75320" y="5056632"/>
            <a:ext cx="1508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0.7988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29800" y="5056632"/>
            <a:ext cx="12344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29800" y="5056632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−0.022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109960" y="5056632"/>
            <a:ext cx="9144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109960" y="5056632"/>
            <a:ext cx="914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2M:CrossAttn / 3M:CrossAttn3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5385816"/>
            <a:ext cx="1600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5385816"/>
            <a:ext cx="1600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global_zscore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11680" y="5385816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11680" y="5385816"/>
            <a:ext cx="1554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0.7894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11880" y="5385816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11880" y="5385816"/>
            <a:ext cx="1508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0.7478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166360" y="5385816"/>
            <a:ext cx="1234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66360" y="538581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−0.042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46520" y="5385816"/>
            <a:ext cx="1783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46520" y="5385816"/>
            <a:ext cx="1783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9B8A"/>
                </a:solidFill>
                <a:latin typeface="맑은 고딕"/>
              </a:rPr>
              <a:t>0.7530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75320" y="5385816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75320" y="5385816"/>
            <a:ext cx="1508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0.7567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29800" y="5385816"/>
            <a:ext cx="1234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829800" y="538581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E8B4C"/>
                </a:solidFill>
                <a:latin typeface="맑은 고딕"/>
              </a:rPr>
              <a:t>+0.004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109960" y="5385816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109960" y="5385816"/>
            <a:ext cx="914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2M:CrossAttn / 3M:LF3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5961888"/>
            <a:ext cx="11612880" cy="7132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74320" y="5961888"/>
            <a:ext cx="91440" cy="71323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7200" y="6007608"/>
            <a:ext cx="1133856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맑은 고딕"/>
              </a:rPr>
              <a:t>2-modal(Clinic+AEC): norm 조건에서 CrossAttn(0.8118)&gt;LF(0.7685) — CrossAttn 우세  |  3-modal(Clinic+Scanner+AEC): CrossAttn3(0.8209)&gt;LF3(0.7988) — 다중 모달에서 Cross-Attention 우세  |  CrossAttn의 Attention Map 해석 가능성은 LF 대비 추가 이점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01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맑은 고딕"/>
              </a:rPr>
              <a:t>부록 — 조건별 상세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i="0">
                <a:solidFill>
                  <a:srgbClr val="9EA3AB"/>
                </a:solidFill>
                <a:latin typeface="맑은 고딕"/>
              </a:rPr>
              <a:t>AEC 128pt × 3종  |  M2 · M2_2 · M3 · M4 개별 시각화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657600"/>
            <a:ext cx="5788152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977639"/>
            <a:ext cx="10360152" cy="475488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9959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  raw   →  원본 AEC — M2 AUC=0.7980, M1vM2 p=0.824 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544568"/>
            <a:ext cx="10360152" cy="475488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62856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  norm   →  행 방향 z-score — M2 best AUC (0.8118), M1vM2 p=0.697 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111496"/>
            <a:ext cx="10360152" cy="475488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12978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  global_zscore   →  전체 μ/σ z-score — M4 best AUC (0.5785), M1vM4 p=0.002 **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AEC 128pt  +  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AUC=0.7980  |  M3 AUC=0.7864  |  M2vM3: p=0.676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22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전모델 ROC 비교  (M1·M2·M2₂·M3·M4)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Calibration  (Brier 0.2672)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Calibration  (Brier 0.2564)</a:t>
            </a:r>
          </a:p>
        </p:txBody>
      </p:sp>
      <p:pic>
        <p:nvPicPr>
          <p:cNvPr id="13" name="Picture 12" descr="roc_all_models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_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28600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78808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808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19872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AEC 128pt  +  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AUC=0.8118  |  M3 AUC=0.8209  |  M2vM3: p=0.620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23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전모델 ROC 비교  (M1·M2·M2₂·M3·M4)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Calibration  (Brier 0.2581)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Calibration  (Brier 0.2645)</a:t>
            </a:r>
          </a:p>
        </p:txBody>
      </p:sp>
      <p:pic>
        <p:nvPicPr>
          <p:cNvPr id="13" name="Picture 12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_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28600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78808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808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19872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AEC 128pt  +  global_zscore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AUC=0.7894  |  M3 AUC=0.7530  |  M2vM3: p=0.103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24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전모델 ROC 비교  (M1·M2·M2₂·M3·M4)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Calibration  (Brier 0.2751)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Calibration  (Brier 0.2704)</a:t>
            </a:r>
          </a:p>
        </p:txBody>
      </p:sp>
      <p:pic>
        <p:nvPicPr>
          <p:cNvPr id="13" name="Picture 12" descr="roc_all_models_global_z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_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28600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78808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808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19872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Grad-CAM AEC — 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25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938528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4754880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Grad-CAM AEC — 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26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938528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4754880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Grad-CAM AEC — global_zscore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27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938528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4754880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