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TAMA / SMI 예측 회귀분석 연구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6E4F0"/>
                </a:solidFill>
              </a:rPr>
              <a:t>0508 버전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6E4F0"/>
                </a:solidFill>
              </a:rPr>
              <a:t>분석 방법: clinic_only / aec_only / aec_feature_only / aec_feature_selected / clinic_aec_feature
타겟: TAMA, SMI  |  알고리즘: Linear / Logistic Regression (5-Fold CV) + ResNet1D
데이터: 강남 (aec_feature_filtered 시트)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분석 방법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clinic_only / aec_only / aec_feature_only / aec_feature_selected / clinic_aec_feature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8872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640080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피처 구성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피처 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clinic_only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PatientAge, PatientSex, BMI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aec_only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aec1 ~ aec256 (원시 AEC 시계열 통계)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aec_feature_only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aec_feature_filtered 시트 전체 사용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~65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aec_feature_selected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 피처 fold별 선택 (|r|&lt;0.8, VIF&lt;10)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가변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clinic_aec_feature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Age/Sex/BMI (고정) + AEC 피처 fold별 선택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가변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11480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75B6"/>
                </a:solidFill>
              </a:rPr>
              <a:t>평가 방법: Train 80% 에서 5-Fold CV 수행 → Test 20% 에서 최종 성능 측정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663440"/>
            <a:ext cx="2194560" cy="14630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4754880"/>
            <a:ext cx="20482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임상 변수 기준선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5166360"/>
            <a:ext cx="20482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Age, Sex, BMI만 사용
→ AEC 추가 효과의 기준점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24328" y="4663440"/>
            <a:ext cx="2194560" cy="1463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4754880"/>
            <a:ext cx="20482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AEC 원시 피처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5166360"/>
            <a:ext cx="20482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256개 aec 시계열
→ 원시 특성의 예측력 평가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28616" y="4663440"/>
            <a:ext cx="2194560" cy="1463040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1768" y="4754880"/>
            <a:ext cx="20482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AEC 피처 전체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5166360"/>
            <a:ext cx="20482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추출된 통계/주파수/웨이블릿
→ 전체 사용 (~65개)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32904" y="4663440"/>
            <a:ext cx="2194560" cy="146304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06056" y="4754880"/>
            <a:ext cx="20482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AEC 피처 선택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6056" y="5166360"/>
            <a:ext cx="20482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corr+VIF fold별 선택
→ 전체 vs 선택 성능 비교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37192" y="4663440"/>
            <a:ext cx="2194560" cy="14630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0344" y="4754880"/>
            <a:ext cx="20482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임상+AEC 선택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0344" y="5166360"/>
            <a:ext cx="20482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Age/Sex/BMI + AEC 선택
→ 임상정보 추가 효과 확인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[TAMA] 선형 회귀 — 성능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5-Fold CV (Train 80%) 평균±표준편차  |  Test Set (20%) 최종 성능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88720"/>
          <a:ext cx="111556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94560"/>
                <a:gridCol w="2194560"/>
                <a:gridCol w="1005840"/>
                <a:gridCol w="1005840"/>
                <a:gridCol w="237744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CV R² (mean±std)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CV RMSE (mean±std)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R²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RMSE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피처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임상 변수 (Age, Sex, BMI)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0.6481 ± 0.0331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16.908 ± 1.528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0.6750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17.629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 원시 피처 256개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-0.0146 ± 0.0910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28.657 ± 1.929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0.0212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30.594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aec1 ~ aec256 (256개)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 추출 피처 전체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-0.5312 ± 0.8611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33.873 ± 9.896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0.2098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27.488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signal_length ~ wavelet_energy_ratio_D1 (65개)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 추출 피처 선택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0.0644 ± 0.0724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27.522 ± 1.582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0.0617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29.955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 선택 피처 (|r|&lt;0.8, VIF&lt;10.0) — Train 기준 14개,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임상 변수 + AEC 피처 선택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0.6486 ± 0.0316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16.900 ± 1.535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0.6765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17.587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PatientSex, PatientAge, BMI (고정) + AEC 선택 피처 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[TAMA] 선형 회귀 — Actual vs Predicted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각 방법별 예측값 vs 실제값 산점도 (Test Set 20%)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(Age, Sex, BMI)</a:t>
            </a:r>
          </a:p>
        </p:txBody>
      </p:sp>
      <p:pic>
        <p:nvPicPr>
          <p:cNvPr id="6" name="Picture 5" descr="Linear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0"/>
            <a:ext cx="2286000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9464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원시 피처 256개</a:t>
            </a:r>
          </a:p>
        </p:txBody>
      </p:sp>
      <p:pic>
        <p:nvPicPr>
          <p:cNvPr id="8" name="Picture 7" descr="Linear_Actual_vs_Predi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464" y="1280160"/>
            <a:ext cx="2286000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10328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전체</a:t>
            </a:r>
          </a:p>
        </p:txBody>
      </p:sp>
      <p:pic>
        <p:nvPicPr>
          <p:cNvPr id="10" name="Picture 9" descr="Linear_Actual_vs_Predic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280160"/>
            <a:ext cx="2286000" cy="5486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51192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선택</a:t>
            </a:r>
          </a:p>
        </p:txBody>
      </p:sp>
      <p:pic>
        <p:nvPicPr>
          <p:cNvPr id="12" name="Picture 11" descr="Linear_Actual_vs_Predict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1280160"/>
            <a:ext cx="2286000" cy="5486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92056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+ AEC 피처 선택</a:t>
            </a:r>
          </a:p>
        </p:txBody>
      </p:sp>
      <p:pic>
        <p:nvPicPr>
          <p:cNvPr id="14" name="Picture 13" descr="Linear_Actual_vs_Predict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1280160"/>
            <a:ext cx="2286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[TAMA] 선형 회귀 — 회귀 계수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각 방법별 회귀 계수(Coefficient) 시각화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(Age, Sex, BMI)</a:t>
            </a:r>
          </a:p>
        </p:txBody>
      </p:sp>
      <p:pic>
        <p:nvPicPr>
          <p:cNvPr id="6" name="Picture 5" descr="Linear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0"/>
            <a:ext cx="2286000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9464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원시 피처 256개</a:t>
            </a:r>
          </a:p>
        </p:txBody>
      </p:sp>
      <p:pic>
        <p:nvPicPr>
          <p:cNvPr id="8" name="Picture 7" descr="Linear_Coeffici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464" y="1280160"/>
            <a:ext cx="2286000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10328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전체</a:t>
            </a:r>
          </a:p>
        </p:txBody>
      </p:sp>
      <p:pic>
        <p:nvPicPr>
          <p:cNvPr id="10" name="Picture 9" descr="Linear_Coeffici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280160"/>
            <a:ext cx="2286000" cy="5486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51192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선택</a:t>
            </a:r>
          </a:p>
        </p:txBody>
      </p:sp>
      <p:pic>
        <p:nvPicPr>
          <p:cNvPr id="12" name="Picture 11" descr="Linear_Coeffici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1280160"/>
            <a:ext cx="2286000" cy="5486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92056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+ AEC 피처 선택</a:t>
            </a:r>
          </a:p>
        </p:txBody>
      </p:sp>
      <p:pic>
        <p:nvPicPr>
          <p:cNvPr id="14" name="Picture 13" descr="Linear_Coefficien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1280160"/>
            <a:ext cx="2286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[TAMA] 로지스틱 회귀 — 성능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5-Fold CV (Train 80%)  |  Test Set (20%)  |  이진화: 성별 내 하위 25% = Low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88720"/>
          <a:ext cx="104241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2011680"/>
                <a:gridCol w="1005840"/>
                <a:gridCol w="1005840"/>
                <a:gridCol w="1097280"/>
                <a:gridCol w="109728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CV AUC (mean±std)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CV Acc (mean±std)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AUC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Acc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Male Thr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Female Thr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임상 변수 (Age, Sex, BMI)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0.7230 ± 0.0212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0.7514 ± 0.0192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0.7869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0.7636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132.00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95.00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 원시 피처 256개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0.5658 ± 0.0378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0.6440 ± 0.0336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0.5855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0.6327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132.00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 추출 피처 전체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0.4633 ± 0.0285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0.7395 ± 0.0017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0.5099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0.7382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132.00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95.00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 추출 피처 선택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0.5046 ± 0.0593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0.7350 ± 0.0066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0.6388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132.00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임상 변수 + AEC 피처 선택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0.7147 ± 0.0239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0.7505 ± 0.0184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0.7712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0.7782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132.00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95.00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[TAMA] 로지스틱 회귀 — ROC 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각 방법별 ROC Curve (AUC-ROC 비교, Test Set 20%)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(Age, Sex, BMI)</a:t>
            </a:r>
          </a:p>
        </p:txBody>
      </p:sp>
      <p:pic>
        <p:nvPicPr>
          <p:cNvPr id="6" name="Picture 5" descr="Logistic_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0"/>
            <a:ext cx="2286000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9464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원시 피처 256개</a:t>
            </a:r>
          </a:p>
        </p:txBody>
      </p:sp>
      <p:pic>
        <p:nvPicPr>
          <p:cNvPr id="8" name="Picture 7" descr="Logistic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464" y="1280160"/>
            <a:ext cx="2286000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10328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전체</a:t>
            </a:r>
          </a:p>
        </p:txBody>
      </p:sp>
      <p:pic>
        <p:nvPicPr>
          <p:cNvPr id="10" name="Picture 9" descr="Logistic_ROC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280160"/>
            <a:ext cx="2286000" cy="5486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51192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선택</a:t>
            </a:r>
          </a:p>
        </p:txBody>
      </p:sp>
      <p:pic>
        <p:nvPicPr>
          <p:cNvPr id="12" name="Picture 11" descr="Logistic_ROC_Cur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1280160"/>
            <a:ext cx="2286000" cy="5486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92056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+ AEC 피처 선택</a:t>
            </a:r>
          </a:p>
        </p:txBody>
      </p:sp>
      <p:pic>
        <p:nvPicPr>
          <p:cNvPr id="14" name="Picture 13" descr="Logistic_ROC_Cur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1280160"/>
            <a:ext cx="2286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[TAMA] 로지스틱 회귀 — 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각 방법별 Confusion Matrix (Test Set 20%)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(Age, Sex, BMI)</a:t>
            </a:r>
          </a:p>
        </p:txBody>
      </p:sp>
      <p:pic>
        <p:nvPicPr>
          <p:cNvPr id="6" name="Picture 5" descr="Logistic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0"/>
            <a:ext cx="2286000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9464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원시 피처 256개</a:t>
            </a:r>
          </a:p>
        </p:txBody>
      </p:sp>
      <p:pic>
        <p:nvPicPr>
          <p:cNvPr id="8" name="Picture 7" descr="Logistic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464" y="1280160"/>
            <a:ext cx="2286000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10328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전체</a:t>
            </a:r>
          </a:p>
        </p:txBody>
      </p:sp>
      <p:pic>
        <p:nvPicPr>
          <p:cNvPr id="10" name="Picture 9" descr="Logistic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280160"/>
            <a:ext cx="2286000" cy="5486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51192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선택</a:t>
            </a:r>
          </a:p>
        </p:txBody>
      </p:sp>
      <p:pic>
        <p:nvPicPr>
          <p:cNvPr id="12" name="Picture 11" descr="Logistic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1280160"/>
            <a:ext cx="2286000" cy="5486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92056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+ AEC 피처 선택</a:t>
            </a:r>
          </a:p>
        </p:txBody>
      </p:sp>
      <p:pic>
        <p:nvPicPr>
          <p:cNvPr id="14" name="Picture 13" descr="Logistic_Confusion_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1280160"/>
            <a:ext cx="2286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[TAMA] ResNet1D (1D CNN) — 성능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5-Fold CV (Train 80%) 평균±표준편차  |  Test Set (20%) 최종 성능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8872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743200"/>
                <a:gridCol w="2743200"/>
                <a:gridCol w="1463040"/>
                <a:gridCol w="14630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CV R² (mean±std)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CV MAE (mean±std)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R²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MAE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임상 변수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0.6734 ± 0.0422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12.333 ± 0.879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0.7198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12.815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 원시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0.3803 ± 0.0470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16.997 ± 1.151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0.3910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17.617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 피처(fold 선택)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0.2533 ± 0.0479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18.497 ± 1.016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0.2547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19.560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임상+AEC(fold 선택)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0.6069 ± 0.0409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13.416 ± 0.491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0.6662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13.891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[TAMA] ResNet1D (1D CNN) — 예측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각 방법별 Test Set 예측 결과 (Actual vs Predicted)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</a:t>
            </a:r>
          </a:p>
        </p:txBody>
      </p:sp>
      <p:pic>
        <p:nvPicPr>
          <p:cNvPr id="6" name="Picture 5" descr="ResNet1D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0"/>
            <a:ext cx="2834640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45536" y="10058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원시</a:t>
            </a:r>
          </a:p>
        </p:txBody>
      </p:sp>
      <p:pic>
        <p:nvPicPr>
          <p:cNvPr id="8" name="Picture 7" descr="ResNet1D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536" y="1280160"/>
            <a:ext cx="2834640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62472" y="10058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피처(fold 선택)</a:t>
            </a:r>
          </a:p>
        </p:txBody>
      </p:sp>
      <p:pic>
        <p:nvPicPr>
          <p:cNvPr id="10" name="Picture 9" descr="ResNet1D_Resul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1280160"/>
            <a:ext cx="2834640" cy="5486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79408" y="10058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임상+AEC(fold 선택)</a:t>
            </a:r>
          </a:p>
        </p:txBody>
      </p:sp>
      <p:pic>
        <p:nvPicPr>
          <p:cNvPr id="12" name="Picture 11" descr="ResNet1D_Resul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08" y="1280160"/>
            <a:ext cx="283464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[TAMA] 성별 분포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방법별 성별(Sex) 분포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(Age, Sex, BMI)</a:t>
            </a:r>
          </a:p>
        </p:txBody>
      </p:sp>
      <p:pic>
        <p:nvPicPr>
          <p:cNvPr id="6" name="Picture 5" descr="Distribution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0"/>
            <a:ext cx="2286000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9464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원시 피처 256개</a:t>
            </a:r>
          </a:p>
        </p:txBody>
      </p:sp>
      <p:pic>
        <p:nvPicPr>
          <p:cNvPr id="8" name="Picture 7" descr="Distribution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64" y="1280160"/>
            <a:ext cx="2286000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10328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전체</a:t>
            </a:r>
          </a:p>
        </p:txBody>
      </p:sp>
      <p:pic>
        <p:nvPicPr>
          <p:cNvPr id="10" name="Picture 9" descr="Distribution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280160"/>
            <a:ext cx="2286000" cy="5486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51192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선택</a:t>
            </a:r>
          </a:p>
        </p:txBody>
      </p:sp>
      <p:pic>
        <p:nvPicPr>
          <p:cNvPr id="12" name="Picture 11" descr="Distribution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192" y="1280160"/>
            <a:ext cx="2286000" cy="5486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92056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+ AEC 피처 선택</a:t>
            </a:r>
          </a:p>
        </p:txBody>
      </p:sp>
      <p:pic>
        <p:nvPicPr>
          <p:cNvPr id="14" name="Picture 13" descr="Distribution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056" y="1280160"/>
            <a:ext cx="2286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[TAMA] 산점도 — BMI / Age vs 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방법별 BMI, PatientAge vs 타겟 산점도 (성별 구분)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(Age, Sex, BMI)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0241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원시 피처 256개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10241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전체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0" y="10241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선택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0241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+ AEC 피처 선택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" y="2103120"/>
            <a:ext cx="6949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355E"/>
                </a:solidFill>
              </a:rPr>
              <a:t>BMI vs TAMA</a:t>
            </a:r>
          </a:p>
        </p:txBody>
      </p:sp>
      <p:pic>
        <p:nvPicPr>
          <p:cNvPr id="11" name="Picture 10" descr="BMI_vs_TAMA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80160"/>
            <a:ext cx="2194560" cy="2578608"/>
          </a:xfrm>
          <a:prstGeom prst="rect">
            <a:avLst/>
          </a:prstGeom>
        </p:spPr>
      </p:pic>
      <p:pic>
        <p:nvPicPr>
          <p:cNvPr id="12" name="Picture 11" descr="BMI_vs_TAMA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280160"/>
            <a:ext cx="2194560" cy="2578608"/>
          </a:xfrm>
          <a:prstGeom prst="rect">
            <a:avLst/>
          </a:prstGeom>
        </p:spPr>
      </p:pic>
      <p:pic>
        <p:nvPicPr>
          <p:cNvPr id="13" name="Picture 12" descr="BMI_vs_TAMA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280160"/>
            <a:ext cx="2194560" cy="2578608"/>
          </a:xfrm>
          <a:prstGeom prst="rect">
            <a:avLst/>
          </a:prstGeom>
        </p:spPr>
      </p:pic>
      <p:pic>
        <p:nvPicPr>
          <p:cNvPr id="14" name="Picture 13" descr="BMI_vs_TAMA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280160"/>
            <a:ext cx="2194560" cy="2578608"/>
          </a:xfrm>
          <a:prstGeom prst="rect">
            <a:avLst/>
          </a:prstGeom>
        </p:spPr>
      </p:pic>
      <p:pic>
        <p:nvPicPr>
          <p:cNvPr id="15" name="Picture 14" descr="BMI_vs_TAMA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1280160"/>
            <a:ext cx="2194560" cy="2578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" y="4818888"/>
            <a:ext cx="6949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355E"/>
                </a:solidFill>
              </a:rPr>
              <a:t>Age vs TAMA</a:t>
            </a:r>
          </a:p>
        </p:txBody>
      </p:sp>
      <p:pic>
        <p:nvPicPr>
          <p:cNvPr id="17" name="Picture 16" descr="PatientAge_vs_TAMA_by_S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95928"/>
            <a:ext cx="2194560" cy="2578608"/>
          </a:xfrm>
          <a:prstGeom prst="rect">
            <a:avLst/>
          </a:prstGeom>
        </p:spPr>
      </p:pic>
      <p:pic>
        <p:nvPicPr>
          <p:cNvPr id="18" name="Picture 17" descr="PatientAge_vs_TAMA_by_S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3995928"/>
            <a:ext cx="2194560" cy="2578608"/>
          </a:xfrm>
          <a:prstGeom prst="rect">
            <a:avLst/>
          </a:prstGeom>
        </p:spPr>
      </p:pic>
      <p:pic>
        <p:nvPicPr>
          <p:cNvPr id="19" name="Picture 18" descr="PatientAge_vs_TAMA_by_S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3995928"/>
            <a:ext cx="2194560" cy="2578608"/>
          </a:xfrm>
          <a:prstGeom prst="rect">
            <a:avLst/>
          </a:prstGeom>
        </p:spPr>
      </p:pic>
      <p:pic>
        <p:nvPicPr>
          <p:cNvPr id="20" name="Picture 19" descr="PatientAge_vs_TAMA_by_S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995928"/>
            <a:ext cx="2194560" cy="2578608"/>
          </a:xfrm>
          <a:prstGeom prst="rect">
            <a:avLst/>
          </a:prstGeom>
        </p:spPr>
      </p:pic>
      <p:pic>
        <p:nvPicPr>
          <p:cNvPr id="21" name="Picture 20" descr="PatientAge_vs_TAMA_by_S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3995928"/>
            <a:ext cx="2194560" cy="25786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[SMI] 선형 회귀 — 성능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5-Fold CV (Train 80%) 평균±표준편차  |  Test Set (20%) 최종 성능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88720"/>
          <a:ext cx="111556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94560"/>
                <a:gridCol w="2194560"/>
                <a:gridCol w="1005840"/>
                <a:gridCol w="1005840"/>
                <a:gridCol w="237744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CV R² (mean±std)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CV RMSE (mean±std)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R²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RMSE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피처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임상 변수 (Age, Sex, BMI)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0.4798 ± 0.0494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6.029 ± 0.404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0.4564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6.785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 원시 피처 256개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-0.1359 ± 0.0736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8.924 ± 0.647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-0.0709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9.523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aec1 ~ aec256 (256개)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 추출 피처 전체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-0.3680 ± 0.7289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9.432 ± 2.286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0.1555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8.457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signal_length ~ wavelet_energy_ratio_D1 (65개)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 추출 피처 선택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0.0490 ± 0.0552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8.154 ± 0.338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0.0186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9.116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 선택 피처 (|r|&lt;0.8, VIF&lt;10.0) — Train 기준 14개,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임상 변수 + AEC 피처 선택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0.4792 ± 0.0484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6.034 ± 0.408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0.4573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6.779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PatientSex, PatientAge, BMI (고정) + AEC 선택 피처 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[SMI] 선형 회귀 — Actual vs Predicted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각 방법별 예측값 vs 실제값 산점도 (Test Set 20%)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(Age, Sex, BMI)</a:t>
            </a:r>
          </a:p>
        </p:txBody>
      </p:sp>
      <p:pic>
        <p:nvPicPr>
          <p:cNvPr id="6" name="Picture 5" descr="Linear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0"/>
            <a:ext cx="2286000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9464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원시 피처 256개</a:t>
            </a:r>
          </a:p>
        </p:txBody>
      </p:sp>
      <p:pic>
        <p:nvPicPr>
          <p:cNvPr id="8" name="Picture 7" descr="Linear_Actual_vs_Predi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464" y="1280160"/>
            <a:ext cx="2286000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10328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전체</a:t>
            </a:r>
          </a:p>
        </p:txBody>
      </p:sp>
      <p:pic>
        <p:nvPicPr>
          <p:cNvPr id="10" name="Picture 9" descr="Linear_Actual_vs_Predic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280160"/>
            <a:ext cx="2286000" cy="5486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51192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선택</a:t>
            </a:r>
          </a:p>
        </p:txBody>
      </p:sp>
      <p:pic>
        <p:nvPicPr>
          <p:cNvPr id="12" name="Picture 11" descr="Linear_Actual_vs_Predict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1280160"/>
            <a:ext cx="2286000" cy="5486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92056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+ AEC 피처 선택</a:t>
            </a:r>
          </a:p>
        </p:txBody>
      </p:sp>
      <p:pic>
        <p:nvPicPr>
          <p:cNvPr id="14" name="Picture 13" descr="Linear_Actual_vs_Predict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1280160"/>
            <a:ext cx="2286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[SMI] 선형 회귀 — 회귀 계수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각 방법별 회귀 계수(Coefficient) 시각화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(Age, Sex, BMI)</a:t>
            </a:r>
          </a:p>
        </p:txBody>
      </p:sp>
      <p:pic>
        <p:nvPicPr>
          <p:cNvPr id="6" name="Picture 5" descr="Linear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0"/>
            <a:ext cx="2286000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9464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원시 피처 256개</a:t>
            </a:r>
          </a:p>
        </p:txBody>
      </p:sp>
      <p:pic>
        <p:nvPicPr>
          <p:cNvPr id="8" name="Picture 7" descr="Linear_Coeffici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464" y="1280160"/>
            <a:ext cx="2286000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10328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전체</a:t>
            </a:r>
          </a:p>
        </p:txBody>
      </p:sp>
      <p:pic>
        <p:nvPicPr>
          <p:cNvPr id="10" name="Picture 9" descr="Linear_Coeffici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280160"/>
            <a:ext cx="2286000" cy="5486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51192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선택</a:t>
            </a:r>
          </a:p>
        </p:txBody>
      </p:sp>
      <p:pic>
        <p:nvPicPr>
          <p:cNvPr id="12" name="Picture 11" descr="Linear_Coeffici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1280160"/>
            <a:ext cx="2286000" cy="5486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92056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+ AEC 피처 선택</a:t>
            </a:r>
          </a:p>
        </p:txBody>
      </p:sp>
      <p:pic>
        <p:nvPicPr>
          <p:cNvPr id="14" name="Picture 13" descr="Linear_Coefficien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1280160"/>
            <a:ext cx="2286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[SMI] 로지스틱 회귀 — 성능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5-Fold CV (Train 80%)  |  Test Set (20%)  |  이진화: 성별 내 하위 25% = Low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88720"/>
          <a:ext cx="104241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2011680"/>
                <a:gridCol w="1005840"/>
                <a:gridCol w="1005840"/>
                <a:gridCol w="1097280"/>
                <a:gridCol w="109728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CV AUC (mean±std)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CV Acc (mean±std)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AUC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Acc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Male Thr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Female Thr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임상 변수 (Age, Sex, BMI)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0.7434 ± 0.0339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0.7614 ± 0.0202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0.8400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0.7964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46.66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38.46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 원시 피처 256개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0.5542 ± 0.0209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0.6557 ± 0.0109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0.5651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0.6509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46.66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38.46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 추출 피처 전체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0.5811 ± 0.0504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0.7441 ± 0.0065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0.6287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0.7527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46.66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38.46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 추출 피처 선택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0.5099 ± 0.0392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0.7459 ± 0.0015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0.5323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0.7491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46.66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38.46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임상 변수 + AEC 피처 선택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0.7232 ± 0.0364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0.7623 ± 0.0191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0.8326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0.7927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46.66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38.46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[SMI] 로지스틱 회귀 — ROC 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각 방법별 ROC Curve (AUC-ROC 비교, Test Set 20%)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(Age, Sex, BMI)</a:t>
            </a:r>
          </a:p>
        </p:txBody>
      </p:sp>
      <p:pic>
        <p:nvPicPr>
          <p:cNvPr id="6" name="Picture 5" descr="Logistic_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0"/>
            <a:ext cx="2286000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9464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원시 피처 256개</a:t>
            </a:r>
          </a:p>
        </p:txBody>
      </p:sp>
      <p:pic>
        <p:nvPicPr>
          <p:cNvPr id="8" name="Picture 7" descr="Logistic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464" y="1280160"/>
            <a:ext cx="2286000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10328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전체</a:t>
            </a:r>
          </a:p>
        </p:txBody>
      </p:sp>
      <p:pic>
        <p:nvPicPr>
          <p:cNvPr id="10" name="Picture 9" descr="Logistic_ROC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280160"/>
            <a:ext cx="2286000" cy="5486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51192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선택</a:t>
            </a:r>
          </a:p>
        </p:txBody>
      </p:sp>
      <p:pic>
        <p:nvPicPr>
          <p:cNvPr id="12" name="Picture 11" descr="Logistic_ROC_Cur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1280160"/>
            <a:ext cx="2286000" cy="5486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92056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+ AEC 피처 선택</a:t>
            </a:r>
          </a:p>
        </p:txBody>
      </p:sp>
      <p:pic>
        <p:nvPicPr>
          <p:cNvPr id="14" name="Picture 13" descr="Logistic_ROC_Cur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1280160"/>
            <a:ext cx="2286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[SMI] 로지스틱 회귀 — 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각 방법별 Confusion Matrix (Test Set 20%)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(Age, Sex, BMI)</a:t>
            </a:r>
          </a:p>
        </p:txBody>
      </p:sp>
      <p:pic>
        <p:nvPicPr>
          <p:cNvPr id="6" name="Picture 5" descr="Logistic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0"/>
            <a:ext cx="2286000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9464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원시 피처 256개</a:t>
            </a:r>
          </a:p>
        </p:txBody>
      </p:sp>
      <p:pic>
        <p:nvPicPr>
          <p:cNvPr id="8" name="Picture 7" descr="Logistic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464" y="1280160"/>
            <a:ext cx="2286000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10328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전체</a:t>
            </a:r>
          </a:p>
        </p:txBody>
      </p:sp>
      <p:pic>
        <p:nvPicPr>
          <p:cNvPr id="10" name="Picture 9" descr="Logistic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280160"/>
            <a:ext cx="2286000" cy="5486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51192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선택</a:t>
            </a:r>
          </a:p>
        </p:txBody>
      </p:sp>
      <p:pic>
        <p:nvPicPr>
          <p:cNvPr id="12" name="Picture 11" descr="Logistic_Confusion_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1280160"/>
            <a:ext cx="2286000" cy="5486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92056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+ AEC 피처 선택</a:t>
            </a:r>
          </a:p>
        </p:txBody>
      </p:sp>
      <p:pic>
        <p:nvPicPr>
          <p:cNvPr id="14" name="Picture 13" descr="Logistic_Confusion_Matri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1280160"/>
            <a:ext cx="2286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[SMI] ResNet1D (1D CNN) — 성능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5-Fold CV (Train 80%) 평균±표준편차  |  Test Set (20%) 최종 성능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8872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743200"/>
                <a:gridCol w="2743200"/>
                <a:gridCol w="1463040"/>
                <a:gridCol w="14630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CV R² (mean±std)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CV MAE (mean±std)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R²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MAE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임상 변수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0.5150 ± 0.0402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4.363 ± 0.177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0.4953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4.629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 원시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0.2936 ± 0.0450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5.385 ± 0.270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0.2965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5.736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 피처(fold 선택)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0.1331 ± 0.0225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6.060 ± 0.114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0.1605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6.159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임상+AEC(fold 선택)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0.3705 ± 0.0611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4.957 ± 0.206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0.2995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5.666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[SMI] ResNet1D (1D CNN) — 예측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각 방법별 Test Set 예측 결과 (Actual vs Predicted)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</a:t>
            </a:r>
          </a:p>
        </p:txBody>
      </p:sp>
      <p:pic>
        <p:nvPicPr>
          <p:cNvPr id="6" name="Picture 5" descr="ResNet1D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0"/>
            <a:ext cx="2834640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45536" y="10058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원시</a:t>
            </a:r>
          </a:p>
        </p:txBody>
      </p:sp>
      <p:pic>
        <p:nvPicPr>
          <p:cNvPr id="8" name="Picture 7" descr="ResNet1D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536" y="1280160"/>
            <a:ext cx="2834640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62472" y="10058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피처(fold 선택)</a:t>
            </a:r>
          </a:p>
        </p:txBody>
      </p:sp>
      <p:pic>
        <p:nvPicPr>
          <p:cNvPr id="10" name="Picture 9" descr="ResNet1D_Resul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1280160"/>
            <a:ext cx="2834640" cy="5486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79408" y="10058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임상+AEC(fold 선택)</a:t>
            </a:r>
          </a:p>
        </p:txBody>
      </p:sp>
      <p:pic>
        <p:nvPicPr>
          <p:cNvPr id="12" name="Picture 11" descr="ResNet1D_Resul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08" y="1280160"/>
            <a:ext cx="283464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[SMI] 성별 분포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방법별 성별(Sex) 분포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(Age, Sex, BMI)</a:t>
            </a:r>
          </a:p>
        </p:txBody>
      </p:sp>
      <p:pic>
        <p:nvPicPr>
          <p:cNvPr id="6" name="Picture 5" descr="Distribution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0"/>
            <a:ext cx="2286000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9464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원시 피처 256개</a:t>
            </a:r>
          </a:p>
        </p:txBody>
      </p:sp>
      <p:pic>
        <p:nvPicPr>
          <p:cNvPr id="8" name="Picture 7" descr="Distribution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64" y="1280160"/>
            <a:ext cx="2286000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10328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전체</a:t>
            </a:r>
          </a:p>
        </p:txBody>
      </p:sp>
      <p:pic>
        <p:nvPicPr>
          <p:cNvPr id="10" name="Picture 9" descr="Distribution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280160"/>
            <a:ext cx="2286000" cy="5486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51192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선택</a:t>
            </a:r>
          </a:p>
        </p:txBody>
      </p:sp>
      <p:pic>
        <p:nvPicPr>
          <p:cNvPr id="12" name="Picture 11" descr="Distribution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192" y="1280160"/>
            <a:ext cx="2286000" cy="5486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92056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+ AEC 피처 선택</a:t>
            </a:r>
          </a:p>
        </p:txBody>
      </p:sp>
      <p:pic>
        <p:nvPicPr>
          <p:cNvPr id="14" name="Picture 13" descr="Distribution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056" y="1280160"/>
            <a:ext cx="2286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[SMI] 산점도 — BMI / Age vs SMI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방법별 BMI, PatientAge vs 타겟 산점도 (성별 구분)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(Age, Sex, BMI)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0241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원시 피처 256개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10241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전체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0" y="10241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선택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0241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+ AEC 피처 선택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" y="2103120"/>
            <a:ext cx="6949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355E"/>
                </a:solidFill>
              </a:rPr>
              <a:t>BMI vs SMI</a:t>
            </a:r>
          </a:p>
        </p:txBody>
      </p:sp>
      <p:pic>
        <p:nvPicPr>
          <p:cNvPr id="11" name="Picture 10" descr="BMI_vs_SMI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80160"/>
            <a:ext cx="2194560" cy="2578608"/>
          </a:xfrm>
          <a:prstGeom prst="rect">
            <a:avLst/>
          </a:prstGeom>
        </p:spPr>
      </p:pic>
      <p:pic>
        <p:nvPicPr>
          <p:cNvPr id="12" name="Picture 11" descr="BMI_vs_SMI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280160"/>
            <a:ext cx="2194560" cy="2578608"/>
          </a:xfrm>
          <a:prstGeom prst="rect">
            <a:avLst/>
          </a:prstGeom>
        </p:spPr>
      </p:pic>
      <p:pic>
        <p:nvPicPr>
          <p:cNvPr id="13" name="Picture 12" descr="BMI_vs_SMI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280160"/>
            <a:ext cx="2194560" cy="2578608"/>
          </a:xfrm>
          <a:prstGeom prst="rect">
            <a:avLst/>
          </a:prstGeom>
        </p:spPr>
      </p:pic>
      <p:pic>
        <p:nvPicPr>
          <p:cNvPr id="14" name="Picture 13" descr="BMI_vs_SMI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280160"/>
            <a:ext cx="2194560" cy="2578608"/>
          </a:xfrm>
          <a:prstGeom prst="rect">
            <a:avLst/>
          </a:prstGeom>
        </p:spPr>
      </p:pic>
      <p:pic>
        <p:nvPicPr>
          <p:cNvPr id="15" name="Picture 14" descr="BMI_vs_SMI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1280160"/>
            <a:ext cx="2194560" cy="2578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" y="4818888"/>
            <a:ext cx="6949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355E"/>
                </a:solidFill>
              </a:rPr>
              <a:t>Age vs SMI</a:t>
            </a:r>
          </a:p>
        </p:txBody>
      </p:sp>
      <p:pic>
        <p:nvPicPr>
          <p:cNvPr id="17" name="Picture 16" descr="PatientAge_vs_SMI_by_S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95928"/>
            <a:ext cx="2194560" cy="2578608"/>
          </a:xfrm>
          <a:prstGeom prst="rect">
            <a:avLst/>
          </a:prstGeom>
        </p:spPr>
      </p:pic>
      <p:pic>
        <p:nvPicPr>
          <p:cNvPr id="18" name="Picture 17" descr="PatientAge_vs_SMI_by_S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3995928"/>
            <a:ext cx="2194560" cy="2578608"/>
          </a:xfrm>
          <a:prstGeom prst="rect">
            <a:avLst/>
          </a:prstGeom>
        </p:spPr>
      </p:pic>
      <p:pic>
        <p:nvPicPr>
          <p:cNvPr id="19" name="Picture 18" descr="PatientAge_vs_SMI_by_S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3995928"/>
            <a:ext cx="2194560" cy="2578608"/>
          </a:xfrm>
          <a:prstGeom prst="rect">
            <a:avLst/>
          </a:prstGeom>
        </p:spPr>
      </p:pic>
      <p:pic>
        <p:nvPicPr>
          <p:cNvPr id="20" name="Picture 19" descr="PatientAge_vs_SMI_by_S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995928"/>
            <a:ext cx="2194560" cy="2578608"/>
          </a:xfrm>
          <a:prstGeom prst="rect">
            <a:avLst/>
          </a:prstGeom>
        </p:spPr>
      </p:pic>
      <p:pic>
        <p:nvPicPr>
          <p:cNvPr id="21" name="Picture 20" descr="PatientAge_vs_SMI_by_S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3995928"/>
            <a:ext cx="2194560" cy="257860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방법별 성능 비교 — 선형 회귀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5-Fold CV R² / RMSE  ×  5 방법  ×  TAMA / SMI</a:t>
            </a:r>
          </a:p>
        </p:txBody>
      </p:sp>
      <p:pic>
        <p:nvPicPr>
          <p:cNvPr id="5" name="Picture 4" descr="01_linea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1152144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방법별 성능 비교 — 로지스틱 회귀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5-Fold CV AUC / Accuracy  ×  5 방법  ×  TAMA / SMI</a:t>
            </a:r>
          </a:p>
        </p:txBody>
      </p:sp>
      <p:pic>
        <p:nvPicPr>
          <p:cNvPr id="5" name="Picture 4" descr="02_logist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1152144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방법별 성능 비교 — ResNet1D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5-Fold CV R² / MAE  ×  4 방법  ×  TAMA / SMI</a:t>
            </a:r>
          </a:p>
        </p:txBody>
      </p:sp>
      <p:pic>
        <p:nvPicPr>
          <p:cNvPr id="5" name="Picture 4" descr="04_resnet1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1152144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전체 성능 지표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6개 지표 × 5 방법 × 2 타겟 한 눈에 보기</a:t>
            </a:r>
          </a:p>
        </p:txBody>
      </p:sp>
      <p:pic>
        <p:nvPicPr>
          <p:cNvPr id="5" name="Picture 4" descr="03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1152144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결론 및 핵심 성과 (0508)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11521440" cy="65836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TAMA 선형 CV R²  최고: clinic_aec_feature (0.6486)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874520"/>
            <a:ext cx="11521440" cy="65836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8424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TAMA AUC-ROC CV 최고: clinic_only (0.7230)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651760"/>
            <a:ext cx="11521440" cy="65836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61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SMI 선형 CV R²  최고: clinic_only (0.4798)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429000"/>
            <a:ext cx="11521440" cy="65836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5387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SMI AUC-ROC CV 최고: clinic_only (0.7434)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29768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한계 및 향후 과제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70916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단일 기관(강남) 데이터 — 외부 검증(신촌) 필요
• aec_feature_only 피처 선택의 통계적 근거 보강 필요
• 1D CNN / LSTM 등 딥러닝 모델과의 성능 비교 향후 과제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AB0AC"/>
                </a:solidFill>
              </a:rPr>
              <a:t>자동 생성: 6_generate_ppt.py (0508)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