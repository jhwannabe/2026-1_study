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3383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438144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087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Clinic + AEC 결합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DD7EE"/>
                </a:solidFill>
              </a:rPr>
              <a:t>아키텍처 변화 비교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2CC"/>
                </a:solidFill>
              </a:rPr>
              <a:t>세부 알고리즘 코드 포함  |  근감소증 SMI 이진 분류 연구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1" y="3749039"/>
            <a:ext cx="3489960" cy="118872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3822191"/>
            <a:ext cx="33802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  Cross-Attention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169663"/>
            <a:ext cx="3380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M2: ClinAECCrossAttn
M3: ClinAECScanCrossAttn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9496" y="3749039"/>
            <a:ext cx="3489960" cy="1188720"/>
          </a:xfrm>
          <a:prstGeom prst="rect">
            <a:avLst/>
          </a:prstGeom>
          <a:solidFill>
            <a:srgbClr val="C55A1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4360" y="3822191"/>
            <a:ext cx="33802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  Late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360" y="4169663"/>
            <a:ext cx="3380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M2_LF: ClinAECLateFusion
M3_LF: ClinAECScanLateFusion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5759" y="3749039"/>
            <a:ext cx="3489960" cy="1188720"/>
          </a:xfrm>
          <a:prstGeom prst="rect">
            <a:avLst/>
          </a:prstGeom>
          <a:solidFill>
            <a:srgbClr val="38863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0624" y="3822191"/>
            <a:ext cx="33802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  현재 아키텍처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0624" y="4169663"/>
            <a:ext cx="3380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Step6: GatedAECFusionModel
현재: 쌍대 LogReg 워크플로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38928"/>
            <a:ext cx="10908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0D0D0"/>
                </a:solidFill>
              </a:rPr>
              <a:t>Clinic Only / AEC Only 모델 제외  —  Clinic+AEC 결합 모델만 비교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31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3대 아키텍처 분류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7EE"/>
                </a:solidFill>
              </a:rPr>
              <a:t>커밋 이력 기반 Clinic+AEC 모델 변화 흐름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836153B-1D20-E533-39A2-3A08E3E4AE71}"/>
              </a:ext>
            </a:extLst>
          </p:cNvPr>
          <p:cNvGrpSpPr/>
          <p:nvPr/>
        </p:nvGrpSpPr>
        <p:grpSpPr>
          <a:xfrm>
            <a:off x="256032" y="1069848"/>
            <a:ext cx="11676888" cy="5074920"/>
            <a:chOff x="256032" y="1069848"/>
            <a:chExt cx="11676888" cy="4041648"/>
          </a:xfrm>
        </p:grpSpPr>
        <p:sp>
          <p:nvSpPr>
            <p:cNvPr id="6" name="Rectangle 5"/>
            <p:cNvSpPr/>
            <p:nvPr/>
          </p:nvSpPr>
          <p:spPr>
            <a:xfrm>
              <a:off x="256032" y="1069848"/>
              <a:ext cx="3810000" cy="310896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10896" y="1088136"/>
              <a:ext cx="3700272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Cross-Attention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6032" y="1380744"/>
              <a:ext cx="3810000" cy="201168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0896" y="1389888"/>
              <a:ext cx="3700272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FFFFFF"/>
                  </a:solidFill>
                </a:rPr>
                <a:t>Step 1  (2026-05-28~)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6032" y="1581912"/>
              <a:ext cx="3810000" cy="457200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9184" y="1618488"/>
              <a:ext cx="3663696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FFFFFF"/>
                  </a:solidFill>
                </a:rPr>
                <a:t>• ClinAECCrossAttn (M2)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9184" y="1819656"/>
              <a:ext cx="3663696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FFFFFF"/>
                  </a:solidFill>
                </a:rPr>
                <a:t>• ClinAECScanCrossAttn (M3)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56032" y="2039112"/>
              <a:ext cx="3810000" cy="2834640"/>
            </a:xfrm>
            <a:prstGeom prst="rect">
              <a:avLst/>
            </a:prstGeom>
            <a:solidFill>
              <a:srgbClr val="F2F2F2"/>
            </a:solidFill>
            <a:ln w="1016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65760" y="213055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Bidirectional Cross-Attention으로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5760" y="249631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Clinic↔AEC 상호작용 명시 학습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5760" y="286207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ScalarFeatureTokenizer + ResNet1DEncoder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65760" y="322783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→ Pre-norm CrossAttn × N_CA_LAYERS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65760" y="359359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→ mean-pool → concat → MLP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56032" y="4873752"/>
              <a:ext cx="3810000" cy="23774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0896" y="4892040"/>
              <a:ext cx="3700272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FFFFFF"/>
                  </a:solidFill>
                </a:rPr>
                <a:t>PyTorch  |  FocalLoss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189476" y="1069848"/>
              <a:ext cx="3810000" cy="310896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244340" y="1088136"/>
              <a:ext cx="3700272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Late Fusion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189476" y="1380744"/>
              <a:ext cx="3810000" cy="201168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44340" y="1389888"/>
              <a:ext cx="3700272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FFFFFF"/>
                  </a:solidFill>
                </a:rPr>
                <a:t>Step 3  (2026-06-10, 단기 실험)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89476" y="1581912"/>
              <a:ext cx="3810000" cy="457200"/>
            </a:xfrm>
            <a:prstGeom prst="rect">
              <a:avLst/>
            </a:prstGeom>
            <a:solidFill>
              <a:srgbClr val="E080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262628" y="1618488"/>
              <a:ext cx="3663696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FFFFFF"/>
                  </a:solidFill>
                </a:rPr>
                <a:t>• ClinAECLateFusion (M2_LF)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262628" y="1819656"/>
              <a:ext cx="3663696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FFFFFF"/>
                  </a:solidFill>
                </a:rPr>
                <a:t>• ClinAECScanLateFusion (M3_LF)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189476" y="2039112"/>
              <a:ext cx="3810000" cy="2834640"/>
            </a:xfrm>
            <a:prstGeom prst="rect">
              <a:avLst/>
            </a:prstGeom>
            <a:solidFill>
              <a:srgbClr val="F2F2F2"/>
            </a:solidFill>
            <a:ln w="10160">
              <a:solidFill>
                <a:srgbClr val="C55A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299204" y="213055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Cross-Attention 제거 후 단순 concat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99204" y="249631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각 모달리티 독립 인코딩 후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299204" y="286207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최종 표현만 concat → MLP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299204" y="322783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→ 모달리티 상호작용 없음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299204" y="359359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→ 성능 열등 확인 후 제거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189476" y="4873752"/>
              <a:ext cx="3810000" cy="237744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44340" y="4892040"/>
              <a:ext cx="3700272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FFFFFF"/>
                  </a:solidFill>
                </a:rPr>
                <a:t>PyTorch  |  FocalLoss  |  Step4에서 전량 제거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122920" y="1069848"/>
              <a:ext cx="3810000" cy="310896"/>
            </a:xfrm>
            <a:prstGeom prst="rect">
              <a:avLst/>
            </a:prstGeom>
            <a:solidFill>
              <a:srgbClr val="3886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177784" y="1088136"/>
              <a:ext cx="3700272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현재 아키텍처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122920" y="1380744"/>
              <a:ext cx="3810000" cy="201168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77784" y="1389888"/>
              <a:ext cx="3700272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FFFFFF"/>
                  </a:solidFill>
                </a:rPr>
                <a:t>Step 6~7  (2026-06-18~)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122920" y="1581912"/>
              <a:ext cx="3810000" cy="457200"/>
            </a:xfrm>
            <a:prstGeom prst="rect">
              <a:avLst/>
            </a:prstGeom>
            <a:solidFill>
              <a:srgbClr val="5AA8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196072" y="1618488"/>
              <a:ext cx="3663696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FFFFFF"/>
                  </a:solidFill>
                </a:rPr>
                <a:t>• GatedAECFusionModel (Step6)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196072" y="1819656"/>
              <a:ext cx="3663696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FFFFFF"/>
                  </a:solidFill>
                </a:rPr>
                <a:t>• 국소 쌍대 AEC LogReg (Step7, 현재)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122920" y="2039112"/>
              <a:ext cx="3810000" cy="2834640"/>
            </a:xfrm>
            <a:prstGeom prst="rect">
              <a:avLst/>
            </a:prstGeom>
            <a:solidFill>
              <a:srgbClr val="F2F2F2"/>
            </a:solidFill>
            <a:ln w="10160">
              <a:solidFill>
                <a:srgbClr val="38863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232647" y="213055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Step6: α 게이트로 모달리티 기여도 수치화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232647" y="2496312"/>
              <a:ext cx="364540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000000"/>
                  </a:solidFill>
                </a:rPr>
                <a:t>Step7: Propensity 매칭 기반 쌍대 비교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24088" y="2862072"/>
              <a:ext cx="355396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95959"/>
                  </a:solidFill>
                </a:rPr>
                <a:t>  → 임상 유사 환자끼리 AEC 차이만 분리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24088" y="3227832"/>
              <a:ext cx="355396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95959"/>
                  </a:solidFill>
                </a:rPr>
                <a:t>  → 회색지대 환자에만 AEC 개입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324088" y="3593592"/>
              <a:ext cx="3553968" cy="1960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95959"/>
                  </a:solidFill>
                </a:rPr>
                <a:t>  → McNemar/DCA로 통계 검증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122920" y="4873752"/>
              <a:ext cx="3810000" cy="237744"/>
            </a:xfrm>
            <a:prstGeom prst="rect">
              <a:avLst/>
            </a:prstGeom>
            <a:solidFill>
              <a:srgbClr val="3886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177784" y="4892040"/>
              <a:ext cx="3700272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FFFFFF"/>
                  </a:solidFill>
                </a:rPr>
                <a:t>sklearn  |  외부 검증(신촌) 포함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256032" y="6382050"/>
            <a:ext cx="11676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1A3A5C"/>
                </a:solidFill>
              </a:rPr>
              <a:t>Cross-Attention  →  Late Fusion   →  </a:t>
            </a:r>
            <a:r>
              <a:rPr sz="1100" b="1" i="0" dirty="0" err="1">
                <a:solidFill>
                  <a:srgbClr val="1A3A5C"/>
                </a:solidFill>
              </a:rPr>
              <a:t>현재</a:t>
            </a:r>
            <a:r>
              <a:rPr sz="1100" b="1" i="0" dirty="0">
                <a:solidFill>
                  <a:srgbClr val="1A3A5C"/>
                </a:solidFill>
              </a:rPr>
              <a:t> </a:t>
            </a:r>
            <a:r>
              <a:rPr sz="1100" b="1" i="0" dirty="0" err="1">
                <a:solidFill>
                  <a:srgbClr val="1A3A5C"/>
                </a:solidFill>
              </a:rPr>
              <a:t>아키텍처</a:t>
            </a:r>
            <a:endParaRPr sz="1100" b="1" i="0" dirty="0">
              <a:solidFill>
                <a:srgbClr val="1A3A5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31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Cross-Attention  |  ClinAECCrossAttn (M2)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7EE"/>
                </a:solidFill>
              </a:rPr>
              <a:t>커밋 dca12f0b (2026-05-28)  |  ScalarFeatureTokenizer + ResNet1DEncoder + Bidirectional CrossAttn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941832"/>
            <a:ext cx="1645920" cy="2377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" y="9601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Cross-Attention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1C65957-ABD6-101D-9235-2659966088B4}"/>
              </a:ext>
            </a:extLst>
          </p:cNvPr>
          <p:cNvGrpSpPr/>
          <p:nvPr/>
        </p:nvGrpSpPr>
        <p:grpSpPr>
          <a:xfrm>
            <a:off x="256032" y="1289304"/>
            <a:ext cx="4670755" cy="4855464"/>
            <a:chOff x="256032" y="1289304"/>
            <a:chExt cx="4670755" cy="2926079"/>
          </a:xfrm>
        </p:grpSpPr>
        <p:sp>
          <p:nvSpPr>
            <p:cNvPr id="8" name="Rectangle 7"/>
            <p:cNvSpPr/>
            <p:nvPr/>
          </p:nvSpPr>
          <p:spPr>
            <a:xfrm>
              <a:off x="256032" y="1289304"/>
              <a:ext cx="4670755" cy="274320"/>
            </a:xfrm>
            <a:prstGeom prst="rect">
              <a:avLst/>
            </a:prstGeom>
            <a:solidFill>
              <a:srgbClr val="595959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9184" y="1325880"/>
              <a:ext cx="4524451" cy="148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입력: Clinic (B, n_clin)  +  AEC (B, 128)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6032" y="1636776"/>
              <a:ext cx="4670755" cy="274320"/>
            </a:xfrm>
            <a:prstGeom prst="rect">
              <a:avLst/>
            </a:prstGeom>
            <a:solidFill>
              <a:srgbClr val="2E75B6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9184" y="1673352"/>
              <a:ext cx="4524451" cy="148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ScalarFeatureTokenizer  →  (B, n_clin, d_model)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032" y="1965960"/>
              <a:ext cx="4670755" cy="274320"/>
            </a:xfrm>
            <a:prstGeom prst="rect">
              <a:avLst/>
            </a:prstGeom>
            <a:solidFill>
              <a:srgbClr val="2E75B6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9184" y="2002536"/>
              <a:ext cx="4524451" cy="148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ResNet1DEncoder  →  (B, 32, d_model)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6032" y="2295144"/>
              <a:ext cx="4670755" cy="585216"/>
            </a:xfrm>
            <a:prstGeom prst="rect">
              <a:avLst/>
            </a:prstGeom>
            <a:solidFill>
              <a:srgbClr val="1A4A80"/>
            </a:solidFill>
            <a:ln w="1016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9184" y="2331720"/>
              <a:ext cx="4524451" cy="148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Bidirectional Cross-Attention x N_CA_LAYERS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5760" y="2532887"/>
              <a:ext cx="4487875" cy="241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BDD7EE"/>
                  </a:solidFill>
                  <a:latin typeface="Consolas"/>
                </a:rPr>
                <a:t>c_tokens = CrossAttn(Q=c, KV=a)
a_tokens = CrossAttn(Q=a, KV=c)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56032" y="2953511"/>
              <a:ext cx="4670755" cy="274320"/>
            </a:xfrm>
            <a:prstGeom prst="rect">
              <a:avLst/>
            </a:prstGeom>
            <a:solidFill>
              <a:srgbClr val="1A4A80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9184" y="2990087"/>
              <a:ext cx="4524451" cy="148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mean-pool:  c_fused.mean(1)  ‖  a_fused.mean(1)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56032" y="3282695"/>
              <a:ext cx="4670755" cy="274320"/>
            </a:xfrm>
            <a:prstGeom prst="rect">
              <a:avLst/>
            </a:prstGeom>
            <a:solidFill>
              <a:srgbClr val="2E75B6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9184" y="3319271"/>
              <a:ext cx="4524451" cy="148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concat  →  (B, d_model × 2)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6032" y="3611879"/>
              <a:ext cx="4670755" cy="274320"/>
            </a:xfrm>
            <a:prstGeom prst="rect">
              <a:avLst/>
            </a:prstGeom>
            <a:solidFill>
              <a:srgbClr val="1A3A5C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9184" y="3648455"/>
              <a:ext cx="4524451" cy="148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Linear(d*2→128) → ReLU → Dropout(0.1)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56032" y="3941063"/>
              <a:ext cx="4670755" cy="274320"/>
            </a:xfrm>
            <a:prstGeom prst="rect">
              <a:avLst/>
            </a:prstGeom>
            <a:solidFill>
              <a:srgbClr val="1A3A5C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9184" y="3977639"/>
              <a:ext cx="4524451" cy="148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Linear(128→1)  →  logit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8B8F82F-0085-46E4-5053-98352949E1FB}"/>
              </a:ext>
            </a:extLst>
          </p:cNvPr>
          <p:cNvGrpSpPr/>
          <p:nvPr/>
        </p:nvGrpSpPr>
        <p:grpSpPr>
          <a:xfrm>
            <a:off x="5109667" y="889788"/>
            <a:ext cx="6823252" cy="2117023"/>
            <a:chOff x="5109667" y="1289304"/>
            <a:chExt cx="6823252" cy="1866293"/>
          </a:xfrm>
        </p:grpSpPr>
        <p:sp>
          <p:nvSpPr>
            <p:cNvPr id="25" name="TextBox 24"/>
            <p:cNvSpPr txBox="1"/>
            <p:nvPr/>
          </p:nvSpPr>
          <p:spPr>
            <a:xfrm>
              <a:off x="5109667" y="1289304"/>
              <a:ext cx="6823252" cy="2238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2E75B6"/>
                  </a:solidFill>
                </a:rPr>
                <a:t>ScalarFeatureTokenizer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09667" y="1508760"/>
              <a:ext cx="6823252" cy="1646837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201107" y="1581912"/>
              <a:ext cx="4769254" cy="15736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>
                  <a:solidFill>
                    <a:srgbClr val="569CD6"/>
                  </a:solidFill>
                  <a:latin typeface="Consolas"/>
                </a:rPr>
                <a:t>class ScalarFeatureTokenizer(nn.Module):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def __init__(self, num_features, d_model):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  self.projections = nn.ModuleList([</a:t>
              </a:r>
            </a:p>
            <a:p>
              <a:r>
                <a:rPr sz="1000">
                  <a:solidFill>
                    <a:srgbClr val="6A9955"/>
                  </a:solidFill>
                  <a:latin typeface="Consolas"/>
                </a:rPr>
                <a:t>      nn.Linear(1, d_model)            # 각 피처별 독립 Linear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    for _ in range(num_features)])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  self.feature_embedding = nn.Parameter(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    torch.randn(1, num_features, d_model)*0.02)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def forward(self, x):  # x: (B, F)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  tokens = cat([proj(x[:,i:i+1]).unsqueeze(1)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             for i,proj in enumerate(self.projections)], dim=1)</a:t>
              </a:r>
            </a:p>
            <a:p>
              <a:r>
                <a:rPr sz="1000">
                  <a:solidFill>
                    <a:srgbClr val="6A9955"/>
                  </a:solidFill>
                  <a:latin typeface="Consolas"/>
                </a:rPr>
                <a:t>    return tokens + self.feature_embedding  # (B,F,d_model)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83685D2-1AE8-7CBC-8355-E3ED11E3900A}"/>
              </a:ext>
            </a:extLst>
          </p:cNvPr>
          <p:cNvGrpSpPr/>
          <p:nvPr/>
        </p:nvGrpSpPr>
        <p:grpSpPr>
          <a:xfrm>
            <a:off x="5109667" y="3073367"/>
            <a:ext cx="6823252" cy="1822541"/>
            <a:chOff x="5109667" y="2898648"/>
            <a:chExt cx="6823252" cy="1544813"/>
          </a:xfrm>
        </p:grpSpPr>
        <p:sp>
          <p:nvSpPr>
            <p:cNvPr id="28" name="TextBox 27"/>
            <p:cNvSpPr txBox="1"/>
            <p:nvPr/>
          </p:nvSpPr>
          <p:spPr>
            <a:xfrm>
              <a:off x="5109667" y="2898648"/>
              <a:ext cx="6823252" cy="2152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2E75B6"/>
                  </a:solidFill>
                </a:rPr>
                <a:t>ResNet1DEncoder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109667" y="3118103"/>
              <a:ext cx="6823252" cy="1325354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201107" y="3191256"/>
              <a:ext cx="4204997" cy="125220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>
                  <a:solidFill>
                    <a:srgbClr val="569CD6"/>
                  </a:solidFill>
                  <a:latin typeface="Consolas"/>
                </a:rPr>
                <a:t>class ResNet1DEncoder(nn.Module):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def __init__(self, d_model, n_blocks, n_tokens=32):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  self.stem  = Conv1d(1→d_model, k=1) + BN + ReLU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  self.blocks= ResBlock1D(d_model) × n_blocks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  self.pool  = AdaptiveAvgPool1d(n_tokens)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def forward(self, x):  # x: (B, 128)</a:t>
              </a:r>
            </a:p>
            <a:p>
              <a:r>
                <a:rPr sz="1000">
                  <a:solidFill>
                    <a:srgbClr val="6A9955"/>
                  </a:solidFill>
                  <a:latin typeface="Consolas"/>
                </a:rPr>
                <a:t>    # (B,128)→unsqueeze(1)→(B,1,128)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  h = self.pool(self.blocks(self.stem(x.unsqueeze(1))))</a:t>
              </a:r>
            </a:p>
            <a:p>
              <a:r>
                <a:rPr sz="1000">
                  <a:solidFill>
                    <a:srgbClr val="6A9955"/>
                  </a:solidFill>
                  <a:latin typeface="Consolas"/>
                </a:rPr>
                <a:t>    return h.transpose(1,2)  # (B, n_tokens, d_model)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F2BD299-BB3A-DA13-F2D3-0AD45029FF91}"/>
              </a:ext>
            </a:extLst>
          </p:cNvPr>
          <p:cNvGrpSpPr/>
          <p:nvPr/>
        </p:nvGrpSpPr>
        <p:grpSpPr>
          <a:xfrm>
            <a:off x="5109667" y="4895908"/>
            <a:ext cx="6823252" cy="1544410"/>
            <a:chOff x="5109667" y="4297680"/>
            <a:chExt cx="6823252" cy="1205536"/>
          </a:xfrm>
        </p:grpSpPr>
        <p:sp>
          <p:nvSpPr>
            <p:cNvPr id="31" name="TextBox 30"/>
            <p:cNvSpPr txBox="1"/>
            <p:nvPr/>
          </p:nvSpPr>
          <p:spPr>
            <a:xfrm>
              <a:off x="5109667" y="4297680"/>
              <a:ext cx="6823252" cy="198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2E75B6"/>
                  </a:solidFill>
                </a:rPr>
                <a:t>CrossAttentionBlock (Pre-norm)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109667" y="4517133"/>
              <a:ext cx="6823252" cy="986080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201107" y="4590288"/>
              <a:ext cx="3922869" cy="9129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>
                  <a:solidFill>
                    <a:srgbClr val="569CD6"/>
                  </a:solidFill>
                  <a:latin typeface="Consolas"/>
                </a:rPr>
                <a:t>def forward(self, query, context, return_attn=False):</a:t>
              </a:r>
            </a:p>
            <a:p>
              <a:r>
                <a:rPr sz="1000">
                  <a:solidFill>
                    <a:srgbClr val="6A9955"/>
                  </a:solidFill>
                  <a:latin typeface="Consolas"/>
                </a:rPr>
                <a:t>  # Pre-norm cross-attention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attn_out, w = self.cross_attn(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  query=query, key=context, value=context)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x = self.norm1(query + self.dropout(attn_out))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x = self.norm2(x    + self.dropout(self.ffn(x)))</a:t>
              </a:r>
            </a:p>
            <a:p>
              <a:r>
                <a:rPr sz="1000">
                  <a:solidFill>
                    <a:srgbClr val="D4D4D4"/>
                  </a:solidFill>
                  <a:latin typeface="Consolas"/>
                </a:rPr>
                <a:t>  return (x, w) if return_attn else x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109667" y="6501384"/>
            <a:ext cx="6823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 err="1">
                <a:solidFill>
                  <a:srgbClr val="1A3A5C"/>
                </a:solidFill>
              </a:rPr>
              <a:t>손실</a:t>
            </a:r>
            <a:r>
              <a:rPr sz="850" b="1" i="0" dirty="0">
                <a:solidFill>
                  <a:srgbClr val="1A3A5C"/>
                </a:solidFill>
              </a:rPr>
              <a:t>: </a:t>
            </a:r>
            <a:r>
              <a:rPr sz="850" b="1" i="0" dirty="0" err="1">
                <a:solidFill>
                  <a:srgbClr val="1A3A5C"/>
                </a:solidFill>
              </a:rPr>
              <a:t>FocalLossWithLogits</a:t>
            </a:r>
            <a:r>
              <a:rPr sz="850" b="1" i="0" dirty="0">
                <a:solidFill>
                  <a:srgbClr val="1A3A5C"/>
                </a:solidFill>
              </a:rPr>
              <a:t>(gamma, </a:t>
            </a:r>
            <a:r>
              <a:rPr sz="850" b="1" i="0" dirty="0" err="1">
                <a:solidFill>
                  <a:srgbClr val="1A3A5C"/>
                </a:solidFill>
              </a:rPr>
              <a:t>pos_weight</a:t>
            </a:r>
            <a:r>
              <a:rPr sz="850" b="1" i="0" dirty="0">
                <a:solidFill>
                  <a:srgbClr val="1A3A5C"/>
                </a:solidFill>
              </a:rPr>
              <a:t>)  |  </a:t>
            </a:r>
            <a:r>
              <a:rPr sz="850" b="1" i="0" dirty="0" err="1">
                <a:solidFill>
                  <a:srgbClr val="1A3A5C"/>
                </a:solidFill>
              </a:rPr>
              <a:t>옵티마이저</a:t>
            </a:r>
            <a:r>
              <a:rPr sz="850" b="1" i="0" dirty="0">
                <a:solidFill>
                  <a:srgbClr val="1A3A5C"/>
                </a:solidFill>
              </a:rPr>
              <a:t>: </a:t>
            </a:r>
            <a:r>
              <a:rPr sz="850" b="1" i="0" dirty="0" err="1">
                <a:solidFill>
                  <a:srgbClr val="1A3A5C"/>
                </a:solidFill>
              </a:rPr>
              <a:t>AdamW</a:t>
            </a:r>
            <a:r>
              <a:rPr sz="850" b="1" i="0" dirty="0">
                <a:solidFill>
                  <a:srgbClr val="1A3A5C"/>
                </a:solidFill>
              </a:rPr>
              <a:t> + </a:t>
            </a:r>
            <a:r>
              <a:rPr sz="850" b="1" i="0" dirty="0" err="1">
                <a:solidFill>
                  <a:srgbClr val="1A3A5C"/>
                </a:solidFill>
              </a:rPr>
              <a:t>CosineAnnealingLR</a:t>
            </a:r>
            <a:endParaRPr sz="850" b="1" i="0" dirty="0">
              <a:solidFill>
                <a:srgbClr val="1A3A5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31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Cross-Attention  |  ClinAECScanCrossAttn (M3)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7EE"/>
                </a:solidFill>
              </a:rPr>
              <a:t>M2에 Scanner(ManufacturerModelName) Embedding 추가  —  Step 5에서 제거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941832"/>
            <a:ext cx="1645920" cy="2377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" y="9601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Cross-Attention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941832"/>
            <a:ext cx="1097280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400" y="960120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Step5 제거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F2DA555-C57B-CF5F-F102-0566E68F5E06}"/>
              </a:ext>
            </a:extLst>
          </p:cNvPr>
          <p:cNvGrpSpPr/>
          <p:nvPr/>
        </p:nvGrpSpPr>
        <p:grpSpPr>
          <a:xfrm>
            <a:off x="256032" y="1289304"/>
            <a:ext cx="4670755" cy="4608576"/>
            <a:chOff x="256032" y="1289304"/>
            <a:chExt cx="4670755" cy="2697480"/>
          </a:xfrm>
        </p:grpSpPr>
        <p:sp>
          <p:nvSpPr>
            <p:cNvPr id="10" name="Rectangle 9"/>
            <p:cNvSpPr/>
            <p:nvPr/>
          </p:nvSpPr>
          <p:spPr>
            <a:xfrm>
              <a:off x="256032" y="1289304"/>
              <a:ext cx="4670755" cy="256032"/>
            </a:xfrm>
            <a:prstGeom prst="rect">
              <a:avLst/>
            </a:prstGeom>
            <a:solidFill>
              <a:srgbClr val="595959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9184" y="1325880"/>
              <a:ext cx="4524451" cy="1441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입력: Clinic (B,3)  +  Scanner (B,1)  +  AEC (B,128)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032" y="1609343"/>
              <a:ext cx="4670755" cy="256032"/>
            </a:xfrm>
            <a:prstGeom prst="rect">
              <a:avLst/>
            </a:prstGeom>
            <a:solidFill>
              <a:srgbClr val="2E75B6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9184" y="1645919"/>
              <a:ext cx="4524451" cy="1441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ScalarFeatureTokenizer(Clinic)  →  (B, 3, d_model)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6032" y="1911095"/>
              <a:ext cx="4670755" cy="256032"/>
            </a:xfrm>
            <a:prstGeom prst="rect">
              <a:avLst/>
            </a:prstGeom>
            <a:solidFill>
              <a:srgbClr val="6A1E8A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9184" y="1947672"/>
              <a:ext cx="4524451" cy="1441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MfrTokenizer(Scanner)  →  (B, 1, d_model)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56032" y="2212848"/>
              <a:ext cx="4670755" cy="237744"/>
            </a:xfrm>
            <a:prstGeom prst="rect">
              <a:avLst/>
            </a:prstGeom>
            <a:solidFill>
              <a:srgbClr val="3A1860"/>
            </a:solidFill>
            <a:ln w="8890">
              <a:solidFill>
                <a:srgbClr val="6A1E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9184" y="2249424"/>
              <a:ext cx="4524451" cy="1441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concat  →  cs_tokens (B, 4, d_model)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032" y="2505456"/>
              <a:ext cx="4670755" cy="256032"/>
            </a:xfrm>
            <a:prstGeom prst="rect">
              <a:avLst/>
            </a:prstGeom>
            <a:solidFill>
              <a:srgbClr val="2E75B6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9184" y="2542032"/>
              <a:ext cx="4524451" cy="1441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ResNet1DEncoder(AEC)  →  (B, 32, d_model)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56032" y="2807208"/>
              <a:ext cx="4670755" cy="548640"/>
            </a:xfrm>
            <a:prstGeom prst="rect">
              <a:avLst/>
            </a:prstGeom>
            <a:solidFill>
              <a:srgbClr val="1A4A80"/>
            </a:solidFill>
            <a:ln w="1016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9184" y="2843784"/>
              <a:ext cx="4524451" cy="1441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Bidirectional Cross-Attention x N_CA_LAYERS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5760" y="3026663"/>
              <a:ext cx="4487875" cy="234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BDD7EE"/>
                  </a:solidFill>
                  <a:latin typeface="Consolas"/>
                </a:rPr>
                <a:t>cs_tokens = CrossAttn(Q=cs, KV=a)
a_tokens  = CrossAttn(Q=a,  KV=cs)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56032" y="3429000"/>
              <a:ext cx="4670755" cy="256032"/>
            </a:xfrm>
            <a:prstGeom prst="rect">
              <a:avLst/>
            </a:prstGeom>
            <a:solidFill>
              <a:srgbClr val="1A4A80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9184" y="3465576"/>
              <a:ext cx="4524451" cy="1441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mean-pool:  cs_fused.mean(1)  ‖  a_fused.mean(1)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56032" y="3730752"/>
              <a:ext cx="4670755" cy="256032"/>
            </a:xfrm>
            <a:prstGeom prst="rect">
              <a:avLst/>
            </a:prstGeom>
            <a:solidFill>
              <a:srgbClr val="1A3A5C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29184" y="3767328"/>
              <a:ext cx="4524451" cy="1441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concat → Linear(d*2→128) → ReLU → Dropout → logit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5109667" y="1289304"/>
            <a:ext cx="6823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5B6"/>
                </a:solidFill>
              </a:rPr>
              <a:t>M2 vs M3 알고리즘 차이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109667" y="1508760"/>
          <a:ext cx="6823251" cy="135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4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M2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M3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입력 토큰 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n_clin개 (Clinic)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n_clin+1개 (Clinic+Scanner)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Scanner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MfrTokenizer (Embedding)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Query 차원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(B, n_clin, d_model)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(B, n_clin+1, d_model)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Fusion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c_tokens ↔ a_tokens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cs_tokens ↔ a_tokens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파라미터 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기준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+MfrEmbedding(n_mfr+1, d_model)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8" name="그룹 37">
            <a:extLst>
              <a:ext uri="{FF2B5EF4-FFF2-40B4-BE49-F238E27FC236}">
                <a16:creationId xmlns:a16="http://schemas.microsoft.com/office/drawing/2014/main" id="{5B253FB6-823E-7CD6-C391-CBB0237AA2AB}"/>
              </a:ext>
            </a:extLst>
          </p:cNvPr>
          <p:cNvGrpSpPr/>
          <p:nvPr/>
        </p:nvGrpSpPr>
        <p:grpSpPr>
          <a:xfrm>
            <a:off x="5109667" y="2898648"/>
            <a:ext cx="6823252" cy="1763962"/>
            <a:chOff x="5109667" y="2898648"/>
            <a:chExt cx="6823252" cy="1463040"/>
          </a:xfrm>
        </p:grpSpPr>
        <p:sp>
          <p:nvSpPr>
            <p:cNvPr id="29" name="TextBox 28"/>
            <p:cNvSpPr txBox="1"/>
            <p:nvPr/>
          </p:nvSpPr>
          <p:spPr>
            <a:xfrm>
              <a:off x="5109667" y="2898648"/>
              <a:ext cx="6823252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1" i="0">
                  <a:solidFill>
                    <a:srgbClr val="6A1E8A"/>
                  </a:solidFill>
                </a:rPr>
                <a:t>MfrTokenizer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109667" y="3118104"/>
              <a:ext cx="6823252" cy="1243584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201107" y="3191256"/>
              <a:ext cx="6640372" cy="10972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800">
                  <a:solidFill>
                    <a:srgbClr val="569CD6"/>
                  </a:solidFill>
                  <a:latin typeface="Consolas"/>
                </a:rPr>
                <a:t>class MfrTokenizer(nn.Module):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def __init__(self, n_manufacturers, d_model):</a:t>
              </a:r>
            </a:p>
            <a:p>
              <a:r>
                <a:rPr sz="800">
                  <a:solidFill>
                    <a:srgbClr val="6A9955"/>
                  </a:solidFill>
                  <a:latin typeface="Consolas"/>
                </a:rPr>
                <a:t>    # padding_idx=0: 미등록 스캐너 처리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  self.mfr_emb = nn.Embedding(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    n_manufacturers+1, d_model, padding_idx=0)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  self.feature_embedding = nn.Parameter(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    torch.randn(1,1,d_model)*0.02)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def forward(self, mfr):  # mfr: (B,) int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  return (self.mfr_emb(mfr).unsqueeze(1)</a:t>
              </a:r>
            </a:p>
            <a:p>
              <a:r>
                <a:rPr sz="800">
                  <a:solidFill>
                    <a:srgbClr val="6A9955"/>
                  </a:solidFill>
                  <a:latin typeface="Consolas"/>
                </a:rPr>
                <a:t>            + self.feature_embedding)  # (B,1,d_model)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679D87D-3DEC-4AA1-EEFD-626E3224B00B}"/>
              </a:ext>
            </a:extLst>
          </p:cNvPr>
          <p:cNvGrpSpPr/>
          <p:nvPr/>
        </p:nvGrpSpPr>
        <p:grpSpPr>
          <a:xfrm>
            <a:off x="5109667" y="4680231"/>
            <a:ext cx="6823252" cy="1882463"/>
            <a:chOff x="5109667" y="4398264"/>
            <a:chExt cx="6823252" cy="1408176"/>
          </a:xfrm>
        </p:grpSpPr>
        <p:sp>
          <p:nvSpPr>
            <p:cNvPr id="32" name="TextBox 31"/>
            <p:cNvSpPr txBox="1"/>
            <p:nvPr/>
          </p:nvSpPr>
          <p:spPr>
            <a:xfrm>
              <a:off x="5109667" y="4398264"/>
              <a:ext cx="6823252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1" i="0">
                  <a:solidFill>
                    <a:srgbClr val="6A1E8A"/>
                  </a:solidFill>
                </a:rPr>
                <a:t>ClinAECScanCrossAttn.forward()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109667" y="4617720"/>
              <a:ext cx="6823252" cy="1188720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201107" y="4690872"/>
              <a:ext cx="6640372" cy="10424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800">
                  <a:solidFill>
                    <a:srgbClr val="569CD6"/>
                  </a:solidFill>
                  <a:latin typeface="Consolas"/>
                </a:rPr>
                <a:t>def forward(self, clinical_x, aec_x, mfr_x):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c = self.clinical_tokenizer(clinical_x)  # (B,3,d)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s = self.mfr_tokenizer(mfr_x)            # (B,1,d)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a = self.aec_encoder(aec_x)              # (B,32,d)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cs = torch.cat([c, s], dim=1)            # (B,4,d)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for cs2a, a2cs in zip(self.cs_to_aec_layers,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                      self.aec_to_cs_layers):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  cs = cs2a(cs, a);  a = a2cs(a, cs)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fused = cat([cs.mean(1), a.mean(1)], dim=-1)</a:t>
              </a:r>
            </a:p>
            <a:p>
              <a:r>
                <a:rPr sz="800">
                  <a:solidFill>
                    <a:srgbClr val="D4D4D4"/>
                  </a:solidFill>
                  <a:latin typeface="Consolas"/>
                </a:rPr>
                <a:t>  return self.classifier(fused).squeeze(-1)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256032" y="5952744"/>
            <a:ext cx="467075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 err="1">
                <a:solidFill>
                  <a:srgbClr val="C00000"/>
                </a:solidFill>
              </a:rPr>
              <a:t>제거</a:t>
            </a:r>
            <a:r>
              <a:rPr sz="900" b="1" i="0" dirty="0">
                <a:solidFill>
                  <a:srgbClr val="C00000"/>
                </a:solidFill>
              </a:rPr>
              <a:t> </a:t>
            </a:r>
            <a:r>
              <a:rPr sz="900" b="1" i="0" dirty="0" err="1">
                <a:solidFill>
                  <a:srgbClr val="C00000"/>
                </a:solidFill>
              </a:rPr>
              <a:t>이유</a:t>
            </a:r>
            <a:r>
              <a:rPr sz="900" b="1" i="0" dirty="0">
                <a:solidFill>
                  <a:srgbClr val="C00000"/>
                </a:solidFill>
              </a:rPr>
              <a:t>: </a:t>
            </a:r>
            <a:r>
              <a:rPr sz="900" b="1" i="0" dirty="0" err="1">
                <a:solidFill>
                  <a:srgbClr val="C00000"/>
                </a:solidFill>
              </a:rPr>
              <a:t>Scanner는</a:t>
            </a:r>
            <a:r>
              <a:rPr sz="900" b="1" i="0" dirty="0">
                <a:solidFill>
                  <a:srgbClr val="C00000"/>
                </a:solidFill>
              </a:rPr>
              <a:t> </a:t>
            </a:r>
            <a:r>
              <a:rPr sz="900" b="1" i="0" dirty="0" err="1">
                <a:solidFill>
                  <a:srgbClr val="C00000"/>
                </a:solidFill>
              </a:rPr>
              <a:t>예측</a:t>
            </a:r>
            <a:r>
              <a:rPr sz="900" b="1" i="0" dirty="0">
                <a:solidFill>
                  <a:srgbClr val="C00000"/>
                </a:solidFill>
              </a:rPr>
              <a:t> </a:t>
            </a:r>
            <a:r>
              <a:rPr sz="900" b="1" i="0" dirty="0" err="1">
                <a:solidFill>
                  <a:srgbClr val="C00000"/>
                </a:solidFill>
              </a:rPr>
              <a:t>변수가</a:t>
            </a:r>
            <a:r>
              <a:rPr sz="900" b="1" i="0" dirty="0">
                <a:solidFill>
                  <a:srgbClr val="C00000"/>
                </a:solidFill>
              </a:rPr>
              <a:t> </a:t>
            </a:r>
            <a:r>
              <a:rPr sz="900" b="1" i="0" dirty="0" err="1">
                <a:solidFill>
                  <a:srgbClr val="C00000"/>
                </a:solidFill>
              </a:rPr>
              <a:t>아닌</a:t>
            </a:r>
            <a:r>
              <a:rPr sz="900" b="1" i="0" dirty="0">
                <a:solidFill>
                  <a:srgbClr val="C00000"/>
                </a:solidFill>
              </a:rPr>
              <a:t> Propensity </a:t>
            </a:r>
            <a:r>
              <a:rPr sz="900" b="1" i="0" dirty="0" err="1">
                <a:solidFill>
                  <a:srgbClr val="C00000"/>
                </a:solidFill>
              </a:rPr>
              <a:t>매칭</a:t>
            </a:r>
            <a:r>
              <a:rPr sz="900" b="1" i="0" dirty="0">
                <a:solidFill>
                  <a:srgbClr val="C00000"/>
                </a:solidFill>
              </a:rPr>
              <a:t> </a:t>
            </a:r>
            <a:r>
              <a:rPr sz="900" b="1" i="0" dirty="0" err="1">
                <a:solidFill>
                  <a:srgbClr val="C00000"/>
                </a:solidFill>
              </a:rPr>
              <a:t>변수로</a:t>
            </a:r>
            <a:r>
              <a:rPr sz="900" b="1" i="0" dirty="0">
                <a:solidFill>
                  <a:srgbClr val="C00000"/>
                </a:solidFill>
              </a:rPr>
              <a:t> </a:t>
            </a:r>
            <a:r>
              <a:rPr sz="900" b="1" i="0" dirty="0" err="1">
                <a:solidFill>
                  <a:srgbClr val="C00000"/>
                </a:solidFill>
              </a:rPr>
              <a:t>역할</a:t>
            </a:r>
            <a:r>
              <a:rPr sz="900" b="1" i="0" dirty="0">
                <a:solidFill>
                  <a:srgbClr val="C00000"/>
                </a:solidFill>
              </a:rPr>
              <a:t> </a:t>
            </a:r>
            <a:r>
              <a:rPr sz="900" b="1" i="0" dirty="0" err="1">
                <a:solidFill>
                  <a:srgbClr val="C00000"/>
                </a:solidFill>
              </a:rPr>
              <a:t>재정의</a:t>
            </a:r>
            <a:r>
              <a:rPr sz="900" b="1" i="0" dirty="0">
                <a:solidFill>
                  <a:srgbClr val="C00000"/>
                </a:solidFill>
              </a:rPr>
              <a:t> (Step5)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31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Late Fusion  |  ClinAECLateFusion (M2_LF) / ClinAECScanLateFusion (M3_LF)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7EE"/>
                </a:solidFill>
              </a:rPr>
              <a:t>커밋 85e98357 (2026-06-10) 추가  →  커밋 63545902 (2026-06-12) 제거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1" y="941832"/>
            <a:ext cx="1508120" cy="3993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306302" y="1014845"/>
            <a:ext cx="14075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Late Fusion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35F107D-8F6A-EC7D-6B41-D0077101F797}"/>
              </a:ext>
            </a:extLst>
          </p:cNvPr>
          <p:cNvGrpSpPr/>
          <p:nvPr/>
        </p:nvGrpSpPr>
        <p:grpSpPr>
          <a:xfrm>
            <a:off x="256032" y="1499616"/>
            <a:ext cx="5663290" cy="274320"/>
            <a:chOff x="256032" y="1252728"/>
            <a:chExt cx="5663290" cy="274320"/>
          </a:xfrm>
        </p:grpSpPr>
        <p:sp>
          <p:nvSpPr>
            <p:cNvPr id="10" name="Rectangle 9"/>
            <p:cNvSpPr/>
            <p:nvPr/>
          </p:nvSpPr>
          <p:spPr>
            <a:xfrm>
              <a:off x="256032" y="1252728"/>
              <a:ext cx="5663290" cy="27432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5760" y="1289304"/>
              <a:ext cx="5443834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FFFFFF"/>
                  </a:solidFill>
                </a:rPr>
                <a:t>ClinAECLateFusion (M2_LF) — forward 코드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8AC8587-C4CC-E1FB-88D3-854DE59AC61E}"/>
              </a:ext>
            </a:extLst>
          </p:cNvPr>
          <p:cNvGrpSpPr/>
          <p:nvPr/>
        </p:nvGrpSpPr>
        <p:grpSpPr>
          <a:xfrm>
            <a:off x="5946754" y="1512640"/>
            <a:ext cx="5663290" cy="274320"/>
            <a:chOff x="256032" y="1252728"/>
            <a:chExt cx="5663290" cy="274320"/>
          </a:xfrm>
        </p:grpSpPr>
        <p:sp>
          <p:nvSpPr>
            <p:cNvPr id="14" name="Rectangle 13"/>
            <p:cNvSpPr/>
            <p:nvPr/>
          </p:nvSpPr>
          <p:spPr>
            <a:xfrm>
              <a:off x="256032" y="1252728"/>
              <a:ext cx="5663290" cy="274320"/>
            </a:xfrm>
            <a:prstGeom prst="rect">
              <a:avLst/>
            </a:prstGeom>
            <a:solidFill>
              <a:srgbClr val="6A1E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5760" y="1289304"/>
              <a:ext cx="5443834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FFFFFF"/>
                  </a:solidFill>
                </a:rPr>
                <a:t>ClinAECScanLateFusion (M3_LF) — forward 코드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E0A0DBC-2586-3772-10CB-7D9D65880060}"/>
              </a:ext>
            </a:extLst>
          </p:cNvPr>
          <p:cNvGrpSpPr/>
          <p:nvPr/>
        </p:nvGrpSpPr>
        <p:grpSpPr>
          <a:xfrm>
            <a:off x="256032" y="1819656"/>
            <a:ext cx="11354012" cy="1883664"/>
            <a:chOff x="256032" y="1545336"/>
            <a:chExt cx="11354012" cy="1883664"/>
          </a:xfrm>
        </p:grpSpPr>
        <p:sp>
          <p:nvSpPr>
            <p:cNvPr id="12" name="Rectangle 11"/>
            <p:cNvSpPr/>
            <p:nvPr/>
          </p:nvSpPr>
          <p:spPr>
            <a:xfrm>
              <a:off x="256032" y="1545336"/>
              <a:ext cx="5663290" cy="1883664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7472" y="1618488"/>
              <a:ext cx="5480410" cy="12984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850">
                  <a:solidFill>
                    <a:srgbClr val="569CD6"/>
                  </a:solidFill>
                  <a:latin typeface="Consolas"/>
                </a:rPr>
                <a:t>def forward(self, clinical_x, aec_x):</a:t>
              </a:r>
            </a:p>
            <a:p>
              <a:r>
                <a:rPr sz="850">
                  <a:solidFill>
                    <a:srgbClr val="6A9955"/>
                  </a:solidFill>
                  <a:latin typeface="Consolas"/>
                </a:rPr>
                <a:t>  # 토크나이저/인코더는 M2와 동일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c_tokens = self.clinical_tokenizer(clinical_x)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a_tokens = self.aec_encoder(aec_x)</a:t>
              </a:r>
            </a:p>
            <a:p>
              <a:endParaRPr sz="850">
                <a:solidFill>
                  <a:srgbClr val="D4D4D4"/>
                </a:solidFill>
                <a:latin typeface="Consolas"/>
              </a:endParaRPr>
            </a:p>
            <a:p>
              <a:r>
                <a:rPr sz="850">
                  <a:solidFill>
                    <a:srgbClr val="6A9955"/>
                  </a:solidFill>
                  <a:latin typeface="Consolas"/>
                </a:rPr>
                <a:t>  # ★ Cross-Attention 없음 — 그냥 mean-pool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c_repr = c_tokens.mean(1)  # (B, d_model)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a_repr = a_tokens.mean(1)  # (B, d_model)</a:t>
              </a:r>
            </a:p>
            <a:p>
              <a:endParaRPr sz="850">
                <a:solidFill>
                  <a:srgbClr val="D4D4D4"/>
                </a:solidFill>
                <a:latin typeface="Consolas"/>
              </a:endParaRPr>
            </a:p>
            <a:p>
              <a:r>
                <a:rPr sz="850">
                  <a:solidFill>
                    <a:srgbClr val="6A9955"/>
                  </a:solidFill>
                  <a:latin typeface="Consolas"/>
                </a:rPr>
                <a:t>  # 두 표현이 서로를 전혀 참조하지 않은 채 concat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fused = torch.cat([c_repr, a_repr], dim=-1)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return self.classifier(fused).squeeze(-1)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946754" y="1545336"/>
              <a:ext cx="5663290" cy="1883664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038194" y="1618488"/>
              <a:ext cx="5480410" cy="12984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850">
                  <a:solidFill>
                    <a:srgbClr val="569CD6"/>
                  </a:solidFill>
                  <a:latin typeface="Consolas"/>
                </a:rPr>
                <a:t>def forward(self, clinical_x, aec_x, mfr_x):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c = self.clinical_tokenizer(clinical_x) # (B,3,d)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s = self.mfr_tokenizer(mfr_x)           # (B,1,d)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a = self.aec_encoder(aec_x)             # (B,32,d)</a:t>
              </a:r>
            </a:p>
            <a:p>
              <a:endParaRPr sz="850">
                <a:solidFill>
                  <a:srgbClr val="D4D4D4"/>
                </a:solidFill>
                <a:latin typeface="Consolas"/>
              </a:endParaRPr>
            </a:p>
            <a:p>
              <a:r>
                <a:rPr sz="850">
                  <a:solidFill>
                    <a:srgbClr val="6A9955"/>
                  </a:solidFill>
                  <a:latin typeface="Consolas"/>
                </a:rPr>
                <a:t>  # ★ CrossAttn 없음 — Scanner 포함 mean-pool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cs_repr = torch.cat([c,s],dim=1).mean(1) # (B,d)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a_repr  = a.mean(1)                      # (B,d)</a:t>
              </a:r>
            </a:p>
            <a:p>
              <a:endParaRPr sz="850">
                <a:solidFill>
                  <a:srgbClr val="D4D4D4"/>
                </a:solidFill>
                <a:latin typeface="Consolas"/>
              </a:endParaRP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fused = torch.cat([cs_repr, a_repr], dim=-1)</a:t>
              </a:r>
            </a:p>
            <a:p>
              <a:r>
                <a:rPr sz="850">
                  <a:solidFill>
                    <a:srgbClr val="D4D4D4"/>
                  </a:solidFill>
                  <a:latin typeface="Consolas"/>
                </a:rPr>
                <a:t>  return self.classifier(fused).squeeze(-1)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471BCEA-5BEF-0249-F699-A76F69350243}"/>
              </a:ext>
            </a:extLst>
          </p:cNvPr>
          <p:cNvGrpSpPr/>
          <p:nvPr/>
        </p:nvGrpSpPr>
        <p:grpSpPr>
          <a:xfrm>
            <a:off x="256032" y="3861724"/>
            <a:ext cx="11676888" cy="274320"/>
            <a:chOff x="256032" y="3044952"/>
            <a:chExt cx="11676888" cy="274320"/>
          </a:xfrm>
        </p:grpSpPr>
        <p:sp>
          <p:nvSpPr>
            <p:cNvPr id="18" name="Rectangle 17"/>
            <p:cNvSpPr/>
            <p:nvPr/>
          </p:nvSpPr>
          <p:spPr>
            <a:xfrm>
              <a:off x="256032" y="3044952"/>
              <a:ext cx="11676888" cy="27432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5760" y="3081528"/>
              <a:ext cx="11457432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FFFFFF"/>
                  </a:solidFill>
                </a:rPr>
                <a:t>Cross-Attention vs Late Fusion — 알고리즘 핵심 차이</a:t>
              </a:r>
            </a:p>
          </p:txBody>
        </p:sp>
      </p:grp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238599"/>
              </p:ext>
            </p:extLst>
          </p:nvPr>
        </p:nvGraphicFramePr>
        <p:xfrm>
          <a:off x="256032" y="425196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</a:rPr>
                        <a:t>비교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</a:rPr>
                        <a:t>항목</a:t>
                      </a:r>
                      <a:endParaRPr sz="9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Cross-Attention (M2/M3)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Late Fusion (M2_LF/M3_LF)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Clinic↔AEC 상호작용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CrossAttn: Q=Clinic, KV=AEC (명시적 학습)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없음 — 독립 인코딩 후 concat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토큰 갱신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매 레이어마다 상대방 정보로 갱신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인코딩 후 mean-pool만 수행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모달리티 참조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c_tokens가 a_tokens를 직접 참조 (KV 접근)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c_repr, a_repr 서로 독립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Fusion 시점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인코딩 과정 중 반복 융합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인코딩 완료 후 1회 concat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표현력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높음 (상호 정보 학습 가능)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낮음 (단순 feature concat)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파라미터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/>
                        <a:t>CrossAttn 가중치 추가 (多)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 err="1"/>
                        <a:t>없음</a:t>
                      </a:r>
                      <a:r>
                        <a:rPr sz="850" dirty="0"/>
                        <a:t> (少)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E77BCE20-0676-47AA-9759-501F4F0DA683}"/>
              </a:ext>
            </a:extLst>
          </p:cNvPr>
          <p:cNvGrpSpPr/>
          <p:nvPr/>
        </p:nvGrpSpPr>
        <p:grpSpPr>
          <a:xfrm>
            <a:off x="256032" y="6292457"/>
            <a:ext cx="11676888" cy="347472"/>
            <a:chOff x="256032" y="5239512"/>
            <a:chExt cx="11676888" cy="347472"/>
          </a:xfrm>
        </p:grpSpPr>
        <p:sp>
          <p:nvSpPr>
            <p:cNvPr id="21" name="Rectangle 20"/>
            <p:cNvSpPr/>
            <p:nvPr/>
          </p:nvSpPr>
          <p:spPr>
            <a:xfrm>
              <a:off x="256032" y="5239512"/>
              <a:ext cx="11676888" cy="347472"/>
            </a:xfrm>
            <a:prstGeom prst="rect">
              <a:avLst/>
            </a:prstGeom>
            <a:solidFill>
              <a:srgbClr val="FFE6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38912" y="5285232"/>
              <a:ext cx="1131112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i="0">
                  <a:solidFill>
                    <a:srgbClr val="C00000"/>
                  </a:solidFill>
                </a:rPr>
                <a:t>결론: Late Fusion의 단순 concat은 Cross-Attention의 상호작용 학습을 대체 불가 → 성능 열등 → 전량 제거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31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이전 아키텍처  |  GatedAECFusionModel (Step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7EE"/>
                </a:solidFill>
              </a:rPr>
              <a:t>학습된 스칼라 게이트 α로 모달리티 기여도 분리  |  PyTorch  |  커밋 682b1952 (2026-06-18)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905256"/>
            <a:ext cx="2560320" cy="256032"/>
          </a:xfrm>
          <a:prstGeom prst="rect">
            <a:avLst/>
          </a:prstGeom>
          <a:solidFill>
            <a:srgbClr val="4B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850" b="1">
                <a:solidFill>
                  <a:srgbClr val="FFFFFF"/>
                </a:solidFill>
              </a:rPr>
              <a:t>AEC (B, 1, 128)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9232" y="905256"/>
            <a:ext cx="2743200" cy="256032"/>
          </a:xfrm>
          <a:prstGeom prst="rect">
            <a:avLst/>
          </a:prstGeom>
          <a:solidFill>
            <a:srgbClr val="4B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850" b="1">
                <a:solidFill>
                  <a:srgbClr val="FFFFFF"/>
                </a:solidFill>
              </a:rPr>
              <a:t>Clinic (B, n_clinic)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12070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3278"/>
                </a:solidFill>
              </a:rPr>
              <a:t>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12070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3278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399032"/>
            <a:ext cx="2560320" cy="512064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FFFFFF"/>
                </a:solidFill>
              </a:rPr>
              <a:t>AEC Branch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stem: Conv1d(1 → base_ch, k=7)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ResBlock1D × num_blocks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→ intermediate AEC 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9232" y="1399032"/>
            <a:ext cx="2743200" cy="512064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FFFFFF"/>
                </a:solidFill>
              </a:rPr>
              <a:t>Clinic Branch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Linear(n_clinic → hidden)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→ ReLU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→ clin_vec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1956816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3278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148840"/>
            <a:ext cx="2560320" cy="4754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FFFFFF"/>
                </a:solidFill>
              </a:rPr>
              <a:t>이중 풀링 (Dual Pooling)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AdaptiveAvgPool1d → avg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AdaptiveMaxPool1d → max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cat([avg, max]) → aec_fc → aec_vec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267004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3278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862072"/>
            <a:ext cx="5486400" cy="585216"/>
          </a:xfrm>
          <a:prstGeom prst="rect">
            <a:avLst/>
          </a:prstGeom>
          <a:solidFill>
            <a:srgbClr val="4B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FFFFFF"/>
                </a:solidFill>
              </a:rPr>
              <a:t>Gate 계산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α = σ( Linear(aec_out+clin_h → 8) → ReLU → Linear(8 → 1) → Sigmoid )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              ( cat[aec_vec, clin_vec] )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α ∈ (0,1):  α→1 AEC 우세  /  α→0 Clinic 우세  (환자별 모달리티 기여도 수치 해석)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4930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3278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85032"/>
            <a:ext cx="5486400" cy="256032"/>
          </a:xfrm>
          <a:prstGeom prst="rect">
            <a:avLst/>
          </a:prstGeom>
          <a:solidFill>
            <a:srgbClr val="E8E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800" b="1">
                <a:solidFill>
                  <a:srgbClr val="4B3278"/>
                </a:solidFill>
              </a:rPr>
              <a:t>Fusion:  fused  =  α · aec_proj(aec_vec)  +  (1−α) · clin_proj(clin_vec)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3986784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3278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4178808"/>
            <a:ext cx="5486400" cy="237744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800" b="1">
                <a:solidFill>
                  <a:srgbClr val="FFFFFF"/>
                </a:solidFill>
              </a:rPr>
              <a:t>Classifier  (MLP Head)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4416552"/>
            <a:ext cx="54864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800" b="0">
                <a:solidFill>
                  <a:srgbClr val="000000"/>
                </a:solidFill>
              </a:rPr>
              <a:t>Linear(proj_dim → 32)  →  BatchNorm1d  →  ReLU  →  Dropout  →  logit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82803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1FA86C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5020056"/>
            <a:ext cx="5486400" cy="347472"/>
          </a:xfrm>
          <a:prstGeom prst="rect">
            <a:avLst/>
          </a:prstGeom>
          <a:solidFill>
            <a:srgbClr val="1F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850" b="0">
                <a:solidFill>
                  <a:srgbClr val="FFFFFF"/>
                </a:solidFill>
              </a:rPr>
              <a:t>BCEWithLogitsLoss  (훈련)</a:t>
            </a:r>
          </a:p>
          <a:p>
            <a:pPr algn="l"/>
            <a:r>
              <a:rPr sz="850" b="0">
                <a:solidFill>
                  <a:srgbClr val="FFFFFF"/>
                </a:solidFill>
              </a:rPr>
              <a:t>σ(logit)  →  P(LowSMI)  (추론)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345936"/>
            <a:ext cx="11548872" cy="2468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</a:rPr>
              <a:t>GatedAECFusion = Step 6 (폐기됨)  |  커밋 682b1952 (2026-06-18)  |  현재 알고리즘(study_updated.py)으로 대체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905256"/>
            <a:ext cx="5943600" cy="256032"/>
          </a:xfrm>
          <a:prstGeom prst="rect">
            <a:avLst/>
          </a:prstGeom>
          <a:solidFill>
            <a:srgbClr val="4B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900" b="1">
                <a:solidFill>
                  <a:srgbClr val="FFFFFF"/>
                </a:solidFill>
              </a:rPr>
              <a:t>Cross-Attention  vs  GatedAECFusion  핵심 차이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1252728"/>
            <a:ext cx="1463040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1">
                <a:solidFill>
                  <a:srgbClr val="FFFFFF"/>
                </a:solidFill>
              </a:rPr>
              <a:t>AEC 인코딩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0648" y="1252728"/>
            <a:ext cx="2194560" cy="384048"/>
          </a:xfrm>
          <a:prstGeom prst="rect">
            <a:avLst/>
          </a:prstGeom>
          <a:solidFill>
            <a:srgbClr val="5A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FFFFFF"/>
                </a:solidFill>
              </a:rPr>
              <a:t>ResNet1D →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시퀀스 토큰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83496" y="1252728"/>
            <a:ext cx="2249424" cy="384048"/>
          </a:xfrm>
          <a:prstGeom prst="rect">
            <a:avLst/>
          </a:prstGeom>
          <a:solidFill>
            <a:srgbClr val="E8E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4B3278"/>
                </a:solidFill>
              </a:rPr>
              <a:t>ResNet1D →</a:t>
            </a:r>
          </a:p>
          <a:p>
            <a:pPr algn="l"/>
            <a:r>
              <a:rPr sz="750" b="0">
                <a:solidFill>
                  <a:srgbClr val="4B3278"/>
                </a:solidFill>
              </a:rPr>
              <a:t>이중 풀링 벡터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1673352"/>
            <a:ext cx="1463040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1">
                <a:solidFill>
                  <a:srgbClr val="FFFFFF"/>
                </a:solidFill>
              </a:rPr>
              <a:t>임상 처리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70648" y="1673352"/>
            <a:ext cx="2194560" cy="384048"/>
          </a:xfrm>
          <a:prstGeom prst="rect">
            <a:avLst/>
          </a:prstGeom>
          <a:solidFill>
            <a:srgbClr val="5A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FFFFFF"/>
                </a:solidFill>
              </a:rPr>
              <a:t>ScalarFeature-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Tokenizer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83496" y="1673352"/>
            <a:ext cx="2249424" cy="384048"/>
          </a:xfrm>
          <a:prstGeom prst="rect">
            <a:avLst/>
          </a:prstGeom>
          <a:solidFill>
            <a:srgbClr val="E8E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4B3278"/>
                </a:solidFill>
              </a:rPr>
              <a:t>Linear →</a:t>
            </a:r>
          </a:p>
          <a:p>
            <a:pPr algn="l"/>
            <a:r>
              <a:rPr sz="750" b="0">
                <a:solidFill>
                  <a:srgbClr val="4B3278"/>
                </a:solidFill>
              </a:rPr>
              <a:t>ReLU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2093976"/>
            <a:ext cx="1463040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1">
                <a:solidFill>
                  <a:srgbClr val="FFFFFF"/>
                </a:solidFill>
              </a:rPr>
              <a:t>통합 방식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70648" y="2093976"/>
            <a:ext cx="2194560" cy="384048"/>
          </a:xfrm>
          <a:prstGeom prst="rect">
            <a:avLst/>
          </a:prstGeom>
          <a:solidFill>
            <a:srgbClr val="5A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FFFFFF"/>
                </a:solidFill>
              </a:rPr>
              <a:t>Bidirectional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Cross-Attention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3496" y="2093976"/>
            <a:ext cx="2249424" cy="384048"/>
          </a:xfrm>
          <a:prstGeom prst="rect">
            <a:avLst/>
          </a:prstGeom>
          <a:solidFill>
            <a:srgbClr val="E8E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4B3278"/>
                </a:solidFill>
              </a:rPr>
              <a:t>α 게이트</a:t>
            </a:r>
          </a:p>
          <a:p>
            <a:pPr algn="l"/>
            <a:r>
              <a:rPr sz="750" b="0">
                <a:solidFill>
                  <a:srgbClr val="4B3278"/>
                </a:solidFill>
              </a:rPr>
              <a:t>(스칼라)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2514600"/>
            <a:ext cx="1463040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1">
                <a:solidFill>
                  <a:srgbClr val="FFFFFF"/>
                </a:solidFill>
              </a:rPr>
              <a:t>스캐너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70648" y="2514600"/>
            <a:ext cx="2194560" cy="384048"/>
          </a:xfrm>
          <a:prstGeom prst="rect">
            <a:avLst/>
          </a:prstGeom>
          <a:solidFill>
            <a:srgbClr val="5A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FFFFFF"/>
                </a:solidFill>
              </a:rPr>
              <a:t>Scanner Embedding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포함 (M3)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83496" y="2514600"/>
            <a:ext cx="2249424" cy="384048"/>
          </a:xfrm>
          <a:prstGeom prst="rect">
            <a:avLst/>
          </a:prstGeom>
          <a:solidFill>
            <a:srgbClr val="E8E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4B3278"/>
                </a:solidFill>
              </a:rPr>
              <a:t>없음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2935224"/>
            <a:ext cx="1463040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1">
                <a:solidFill>
                  <a:srgbClr val="FFFFFF"/>
                </a:solidFill>
              </a:rPr>
              <a:t>해석 가능성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70648" y="2935224"/>
            <a:ext cx="2194560" cy="384048"/>
          </a:xfrm>
          <a:prstGeom prst="rect">
            <a:avLst/>
          </a:prstGeom>
          <a:solidFill>
            <a:srgbClr val="5A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FFFFFF"/>
                </a:solidFill>
              </a:rPr>
              <a:t>어텐션 가중치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(다차원)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83496" y="2935224"/>
            <a:ext cx="2249424" cy="384048"/>
          </a:xfrm>
          <a:prstGeom prst="rect">
            <a:avLst/>
          </a:prstGeom>
          <a:solidFill>
            <a:srgbClr val="E8E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4B3278"/>
                </a:solidFill>
              </a:rPr>
              <a:t>α 단일</a:t>
            </a:r>
          </a:p>
          <a:p>
            <a:pPr algn="l"/>
            <a:r>
              <a:rPr sz="750" b="0">
                <a:solidFill>
                  <a:srgbClr val="4B3278"/>
                </a:solidFill>
              </a:rPr>
              <a:t>스칼라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3355848"/>
            <a:ext cx="1463040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1">
                <a:solidFill>
                  <a:srgbClr val="FFFFFF"/>
                </a:solidFill>
              </a:rPr>
              <a:t>모달리티 교차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70648" y="3355848"/>
            <a:ext cx="2194560" cy="384048"/>
          </a:xfrm>
          <a:prstGeom prst="rect">
            <a:avLst/>
          </a:prstGeom>
          <a:solidFill>
            <a:srgbClr val="5A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FFFFFF"/>
                </a:solidFill>
              </a:rPr>
              <a:t>Token 수준</a:t>
            </a:r>
          </a:p>
          <a:p>
            <a:pPr algn="l"/>
            <a:r>
              <a:rPr sz="750" b="0">
                <a:solidFill>
                  <a:srgbClr val="FFFFFF"/>
                </a:solidFill>
              </a:rPr>
              <a:t>세밀한 교차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83496" y="3355848"/>
            <a:ext cx="2249424" cy="384048"/>
          </a:xfrm>
          <a:prstGeom prst="rect">
            <a:avLst/>
          </a:prstGeom>
          <a:solidFill>
            <a:srgbClr val="E8E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9144" bIns="9144"/>
          <a:lstStyle/>
          <a:p>
            <a:pPr algn="l"/>
            <a:r>
              <a:rPr sz="750" b="0">
                <a:solidFill>
                  <a:srgbClr val="4B3278"/>
                </a:solidFill>
              </a:rPr>
              <a:t>스칼라 혼합</a:t>
            </a:r>
          </a:p>
          <a:p>
            <a:pPr algn="l"/>
            <a:r>
              <a:rPr sz="750" b="0">
                <a:solidFill>
                  <a:srgbClr val="4B3278"/>
                </a:solidFill>
              </a:rPr>
              <a:t>비율만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70648" y="3776472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5A9DD6"/>
                </a:solidFill>
              </a:rPr>
              <a:t>&lt;- Cross-Attention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20072" y="3776472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4B3278"/>
                </a:solidFill>
              </a:rPr>
              <a:t>&lt;- GatedAECFusion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89320" y="4023360"/>
            <a:ext cx="5943600" cy="685800"/>
          </a:xfrm>
          <a:prstGeom prst="rect">
            <a:avLst/>
          </a:prstGeom>
          <a:solidFill>
            <a:srgbClr val="F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9144" bIns="9144"/>
          <a:lstStyle/>
          <a:p>
            <a:pPr algn="l"/>
            <a:r>
              <a:rPr sz="800" b="0">
                <a:solidFill>
                  <a:srgbClr val="000000"/>
                </a:solidFill>
              </a:rPr>
              <a:t>CrossAttn -&gt; GatedAECFusion 전환 배경:</a:t>
            </a:r>
          </a:p>
          <a:p>
            <a:pPr algn="l"/>
            <a:r>
              <a:rPr sz="800" b="0">
                <a:solidFill>
                  <a:srgbClr val="000000"/>
                </a:solidFill>
              </a:rPr>
              <a:t>- CrossAttn: Token 수준 양방향 교차 어텐션으로 세밀한 모달리티 상호작용</a:t>
            </a:r>
          </a:p>
          <a:p>
            <a:pPr algn="l"/>
            <a:r>
              <a:rPr sz="800" b="0">
                <a:solidFill>
                  <a:srgbClr val="000000"/>
                </a:solidFill>
              </a:rPr>
              <a:t>- M3(Scanner Embedding) -&gt; Step5에서 Scanner는 Propensity 변수로 재정의 -&gt; 제거</a:t>
            </a:r>
          </a:p>
          <a:p>
            <a:pPr algn="l"/>
            <a:r>
              <a:rPr sz="800" b="0">
                <a:solidFill>
                  <a:srgbClr val="000000"/>
                </a:solidFill>
              </a:rPr>
              <a:t>- GatedAECFusion: AEC/임상을 스칼라 벡터로 압축, alpha게이트로 기여도 단순화</a:t>
            </a:r>
          </a:p>
          <a:p>
            <a:pPr algn="l"/>
            <a:r>
              <a:rPr sz="800" b="0">
                <a:solidFill>
                  <a:srgbClr val="000000"/>
                </a:solidFill>
              </a:rPr>
              <a:t>-&gt; 그러나 E2E 딥러닝 한계 여전 -&gt; 통계 기반(study_updated.py)으로 최종 전환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38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31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현재 아키텍처  |  국소 쌍대 AEC 모델 (study.py)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7EE"/>
                </a:solidFill>
              </a:rPr>
              <a:t>sklearn 기반  |  Propensity Matched Pairwise LogReg  |  회색지대 환자에만 AEC 개입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941832"/>
            <a:ext cx="1463040" cy="237744"/>
          </a:xfrm>
          <a:prstGeom prst="rect">
            <a:avLst/>
          </a:prstGeom>
          <a:solidFill>
            <a:srgbClr val="38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" y="9601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현재 아키텍처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941832"/>
            <a:ext cx="1097280" cy="23774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19" y="960120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Step 7 최종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52728"/>
            <a:ext cx="566329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89304"/>
            <a:ext cx="544383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AEC 피처 엔지니어링 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545336"/>
            <a:ext cx="5663290" cy="2871216"/>
          </a:xfrm>
          <a:prstGeom prst="rect">
            <a:avLst/>
          </a:prstGeom>
          <a:solidFill>
            <a:srgbClr val="1E1E1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18488"/>
            <a:ext cx="3993401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69CD6"/>
                </a:solidFill>
                <a:latin typeface="Consolas"/>
              </a:rPr>
              <a:t>def aec_features(df, aec_cols):</a:t>
            </a:r>
          </a:p>
          <a:p>
            <a:r>
              <a:rPr sz="1000">
                <a:solidFill>
                  <a:srgbClr val="6A9955"/>
                </a:solidFill>
                <a:latin typeface="Consolas"/>
              </a:rPr>
              <a:t>  # 1. log1p + Savitzky-Golay 스무딩</a:t>
            </a:r>
          </a:p>
          <a:p>
            <a:r>
              <a:rPr sz="1000">
                <a:solidFill>
                  <a:srgbClr val="D4D4D4"/>
                </a:solidFill>
                <a:latin typeface="Consolas"/>
              </a:rPr>
              <a:t>  x = smooth_log(df, aec_cols)</a:t>
            </a:r>
          </a:p>
          <a:p>
            <a:r>
              <a:rPr sz="1000">
                <a:solidFill>
                  <a:srgbClr val="6A9955"/>
                </a:solidFill>
                <a:latin typeface="Consolas"/>
              </a:rPr>
              <a:t>  # 2. 환자별 robust z 정규화 (스캐너 제거)</a:t>
            </a:r>
          </a:p>
          <a:p>
            <a:r>
              <a:rPr sz="1000">
                <a:solidFill>
                  <a:srgbClr val="D4D4D4"/>
                </a:solidFill>
                <a:latin typeface="Consolas"/>
              </a:rPr>
              <a:t>  x = patientwise_robust_z(x)</a:t>
            </a:r>
          </a:p>
          <a:p>
            <a:r>
              <a:rPr sz="1000">
                <a:solidFill>
                  <a:srgbClr val="D4D4D4"/>
                </a:solidFill>
                <a:latin typeface="Consolas"/>
              </a:rPr>
              <a:t>  return np.column_stack([</a:t>
            </a:r>
          </a:p>
          <a:p>
            <a:r>
              <a:rPr sz="1000">
                <a:solidFill>
                  <a:srgbClr val="6A9955"/>
                </a:solidFill>
                <a:latin typeface="Consolas"/>
              </a:rPr>
              <a:t>    segment_features(x, 2),   # 구간 2분할 ×8종</a:t>
            </a:r>
          </a:p>
          <a:p>
            <a:r>
              <a:rPr sz="1000">
                <a:solidFill>
                  <a:srgbClr val="6A9955"/>
                </a:solidFill>
                <a:latin typeface="Consolas"/>
              </a:rPr>
              <a:t>    segment_features(x, 8),   # 구간 8분할 ×8종</a:t>
            </a:r>
          </a:p>
          <a:p>
            <a:r>
              <a:rPr sz="1000">
                <a:solidFill>
                  <a:srgbClr val="6A9955"/>
                </a:solidFill>
                <a:latin typeface="Consolas"/>
              </a:rPr>
              <a:t>    segment_features(x, 16),  # 구간 16분할×8종</a:t>
            </a:r>
          </a:p>
          <a:p>
            <a:r>
              <a:rPr sz="1000">
                <a:solidFill>
                  <a:srgbClr val="6A9955"/>
                </a:solidFill>
                <a:latin typeface="Consolas"/>
              </a:rPr>
              <a:t>    inverse_features_from_x(x), # 전역기술자 22종</a:t>
            </a:r>
          </a:p>
          <a:p>
            <a:r>
              <a:rPr sz="1000">
                <a:solidFill>
                  <a:srgbClr val="6A9955"/>
                </a:solidFill>
                <a:latin typeface="Consolas"/>
              </a:rPr>
              <a:t>    dct_features_from_x(x,12),  # DCT 12 + d1 8종</a:t>
            </a:r>
          </a:p>
          <a:p>
            <a:r>
              <a:rPr sz="1000">
                <a:solidFill>
                  <a:srgbClr val="D4D4D4"/>
                </a:solidFill>
                <a:latin typeface="Consolas"/>
              </a:rPr>
              <a:t>  ])</a:t>
            </a:r>
          </a:p>
          <a:p>
            <a:endParaRPr sz="1000">
              <a:solidFill>
                <a:srgbClr val="D4D4D4"/>
              </a:solidFill>
              <a:latin typeface="Consolas"/>
            </a:endParaRPr>
          </a:p>
          <a:p>
            <a:r>
              <a:rPr sz="1000">
                <a:solidFill>
                  <a:srgbClr val="569CD6"/>
                </a:solidFill>
                <a:latin typeface="Consolas"/>
              </a:rPr>
              <a:t>def patientwise_robust_z(x, eps=1e-6):</a:t>
            </a:r>
          </a:p>
          <a:p>
            <a:r>
              <a:rPr sz="1000">
                <a:solidFill>
                  <a:srgbClr val="D4D4D4"/>
                </a:solidFill>
                <a:latin typeface="Consolas"/>
              </a:rPr>
              <a:t>  med = np.nanmedian(x, axis=1, keepdims=True)</a:t>
            </a:r>
          </a:p>
          <a:p>
            <a:r>
              <a:rPr sz="1000">
                <a:solidFill>
                  <a:srgbClr val="D4D4D4"/>
                </a:solidFill>
                <a:latin typeface="Consolas"/>
              </a:rPr>
              <a:t>  q25 = np.nanquantile(x, 0.25, axis=1, keepdims=True)</a:t>
            </a:r>
          </a:p>
          <a:p>
            <a:r>
              <a:rPr sz="1000">
                <a:solidFill>
                  <a:srgbClr val="D4D4D4"/>
                </a:solidFill>
                <a:latin typeface="Consolas"/>
              </a:rPr>
              <a:t>  q75 = np.nanquantile(x, 0.75, axis=1, keepdims=True)</a:t>
            </a:r>
          </a:p>
          <a:p>
            <a:r>
              <a:rPr sz="1000">
                <a:solidFill>
                  <a:srgbClr val="D4D4D4"/>
                </a:solidFill>
                <a:latin typeface="Consolas"/>
              </a:rPr>
              <a:t>  return (x - med) / ((q75 - q25) + eps)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252728"/>
            <a:ext cx="5663290" cy="274320"/>
          </a:xfrm>
          <a:prstGeom prst="rect">
            <a:avLst/>
          </a:prstGeom>
          <a:solidFill>
            <a:srgbClr val="38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1289304"/>
            <a:ext cx="544383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국소 쌍대 채점 코드 (핵심)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6754" y="1545336"/>
            <a:ext cx="5663290" cy="2871216"/>
          </a:xfrm>
          <a:prstGeom prst="rect">
            <a:avLst/>
          </a:prstGeom>
          <a:solidFill>
            <a:srgbClr val="1E1E1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8194" y="1618488"/>
            <a:ext cx="4204997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569CD6"/>
                </a:solidFill>
                <a:latin typeface="Consolas"/>
              </a:rPr>
              <a:t>def _</a:t>
            </a:r>
            <a:r>
              <a:rPr sz="1000" dirty="0" err="1">
                <a:solidFill>
                  <a:srgbClr val="569CD6"/>
                </a:solidFill>
                <a:latin typeface="Consolas"/>
              </a:rPr>
              <a:t>batch_pair_scores</a:t>
            </a:r>
            <a:r>
              <a:rPr sz="1000" dirty="0">
                <a:solidFill>
                  <a:srgbClr val="569CD6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569CD6"/>
                </a:solidFill>
                <a:latin typeface="Consolas"/>
              </a:rPr>
              <a:t>test_idx</a:t>
            </a:r>
            <a:r>
              <a:rPr sz="1000" dirty="0">
                <a:solidFill>
                  <a:srgbClr val="569CD6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569CD6"/>
                </a:solidFill>
                <a:latin typeface="Consolas"/>
              </a:rPr>
              <a:t>train_cases</a:t>
            </a:r>
            <a:r>
              <a:rPr sz="1000" dirty="0">
                <a:solidFill>
                  <a:srgbClr val="569CD6"/>
                </a:solidFill>
                <a:latin typeface="Consolas"/>
              </a:rPr>
              <a:t>,</a:t>
            </a:r>
          </a:p>
          <a:p>
            <a:r>
              <a:rPr sz="1000" dirty="0">
                <a:solidFill>
                  <a:srgbClr val="569CD6"/>
                </a:solidFill>
                <a:latin typeface="Consolas"/>
              </a:rPr>
              <a:t>                       </a:t>
            </a:r>
            <a:r>
              <a:rPr sz="1000" dirty="0" err="1">
                <a:solidFill>
                  <a:srgbClr val="569CD6"/>
                </a:solidFill>
                <a:latin typeface="Consolas"/>
              </a:rPr>
              <a:t>train_ctrls</a:t>
            </a:r>
            <a:r>
              <a:rPr sz="1000" dirty="0">
                <a:solidFill>
                  <a:srgbClr val="569CD6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569CD6"/>
                </a:solidFill>
                <a:latin typeface="Consolas"/>
              </a:rPr>
              <a:t>pair_model</a:t>
            </a:r>
            <a:r>
              <a:rPr sz="1000" dirty="0">
                <a:solidFill>
                  <a:srgbClr val="569CD6"/>
                </a:solidFill>
                <a:latin typeface="Consolas"/>
              </a:rPr>
              <a:t>, ...):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diffs, assignments = [], []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for n,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i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 in enumerate(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test_idx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):</a:t>
            </a:r>
          </a:p>
          <a:p>
            <a:r>
              <a:rPr sz="1000" dirty="0">
                <a:solidFill>
                  <a:srgbClr val="6A9955"/>
                </a:solidFill>
                <a:latin typeface="Consolas"/>
              </a:rPr>
              <a:t>    #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이웃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K=3: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동일성별+스캐너+logit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caliper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ctrl_n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nearest_by_ps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i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train_ctrls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, ...)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case_n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nearest_by_ps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i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train_cases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, ...)</a:t>
            </a:r>
          </a:p>
          <a:p>
            <a:r>
              <a:rPr sz="1000" dirty="0">
                <a:solidFill>
                  <a:srgbClr val="6A9955"/>
                </a:solidFill>
                <a:latin typeface="Consolas"/>
              </a:rPr>
              <a:t>    for j in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ctrl_n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:  #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쿼리-대조군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차이</a:t>
            </a:r>
            <a:endParaRPr sz="1000" dirty="0">
              <a:solidFill>
                <a:srgbClr val="6A9955"/>
              </a:solidFill>
              <a:latin typeface="Consolas"/>
            </a:endParaRP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diffs.append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x_scaled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[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i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] -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x_scaled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[j])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assignments.append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((n, +1))</a:t>
            </a:r>
          </a:p>
          <a:p>
            <a:r>
              <a:rPr sz="1000" dirty="0">
                <a:solidFill>
                  <a:srgbClr val="6A9955"/>
                </a:solidFill>
                <a:latin typeface="Consolas"/>
              </a:rPr>
              <a:t>    for j in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case_n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:  #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케이스-쿼리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차이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(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반전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)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diffs.append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x_scaled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[j] -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x_scaled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[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i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])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assignments.append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((n, -1))</a:t>
            </a:r>
          </a:p>
          <a:p>
            <a:r>
              <a:rPr sz="1000" dirty="0">
                <a:solidFill>
                  <a:srgbClr val="6A9955"/>
                </a:solidFill>
                <a:latin typeface="Consolas"/>
              </a:rPr>
              <a:t>  # ★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predict_proba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단 1회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호출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(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배치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최적화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)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probs =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pair_model.predict_proba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np.vstack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(diffs))[:,1]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for (n, direction), p in zip(assignments, probs):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  buckets[n].append(p if direction==1 else 1-p)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return [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np.mean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(b) if b else nan for b in buckets]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4471416"/>
            <a:ext cx="11676888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507992"/>
            <a:ext cx="11457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최종 판정 규칙 (회색지대 AEC 개입)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4764024"/>
            <a:ext cx="11676888" cy="1563624"/>
          </a:xfrm>
          <a:prstGeom prst="rect">
            <a:avLst/>
          </a:prstGeom>
          <a:solidFill>
            <a:srgbClr val="1E1E1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4837176"/>
            <a:ext cx="469872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569CD6"/>
                </a:solidFill>
                <a:latin typeface="Consolas"/>
              </a:rPr>
              <a:t>def </a:t>
            </a:r>
            <a:r>
              <a:rPr sz="1000" dirty="0" err="1">
                <a:solidFill>
                  <a:srgbClr val="569CD6"/>
                </a:solidFill>
                <a:latin typeface="Consolas"/>
              </a:rPr>
              <a:t>apply_aec_workflow</a:t>
            </a:r>
            <a:r>
              <a:rPr sz="1000" dirty="0">
                <a:solidFill>
                  <a:srgbClr val="569CD6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569CD6"/>
                </a:solidFill>
                <a:latin typeface="Consolas"/>
              </a:rPr>
              <a:t>clin_score</a:t>
            </a:r>
            <a:r>
              <a:rPr sz="1000" dirty="0">
                <a:solidFill>
                  <a:srgbClr val="569CD6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569CD6"/>
                </a:solidFill>
                <a:latin typeface="Consolas"/>
              </a:rPr>
              <a:t>clin_thr</a:t>
            </a:r>
            <a:r>
              <a:rPr sz="1000" dirty="0">
                <a:solidFill>
                  <a:srgbClr val="569CD6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569CD6"/>
                </a:solidFill>
                <a:latin typeface="Consolas"/>
              </a:rPr>
              <a:t>aec_score</a:t>
            </a:r>
            <a:r>
              <a:rPr sz="1000" dirty="0">
                <a:solidFill>
                  <a:srgbClr val="569CD6"/>
                </a:solidFill>
                <a:latin typeface="Consolas"/>
              </a:rPr>
              <a:t>, support,</a:t>
            </a:r>
          </a:p>
          <a:p>
            <a:r>
              <a:rPr sz="1000" dirty="0">
                <a:solidFill>
                  <a:srgbClr val="569CD6"/>
                </a:solidFill>
                <a:latin typeface="Consolas"/>
              </a:rPr>
              <a:t>                       </a:t>
            </a:r>
            <a:r>
              <a:rPr sz="1000" dirty="0" err="1">
                <a:solidFill>
                  <a:srgbClr val="569CD6"/>
                </a:solidFill>
                <a:latin typeface="Consolas"/>
              </a:rPr>
              <a:t>aec_thr</a:t>
            </a:r>
            <a:r>
              <a:rPr sz="1000" dirty="0">
                <a:solidFill>
                  <a:srgbClr val="569CD6"/>
                </a:solidFill>
                <a:latin typeface="Consolas"/>
              </a:rPr>
              <a:t>=0.80, </a:t>
            </a:r>
            <a:r>
              <a:rPr sz="1000" dirty="0" err="1">
                <a:solidFill>
                  <a:srgbClr val="569CD6"/>
                </a:solidFill>
                <a:latin typeface="Consolas"/>
              </a:rPr>
              <a:t>gray_delta</a:t>
            </a:r>
            <a:r>
              <a:rPr sz="1000" dirty="0">
                <a:solidFill>
                  <a:srgbClr val="569CD6"/>
                </a:solidFill>
                <a:latin typeface="Consolas"/>
              </a:rPr>
              <a:t>=0.075):</a:t>
            </a:r>
          </a:p>
          <a:p>
            <a:r>
              <a:rPr sz="1000" dirty="0">
                <a:solidFill>
                  <a:srgbClr val="6A9955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base_pred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clin_score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&gt;=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clin_thr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          #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임상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단독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판정</a:t>
            </a:r>
            <a:endParaRPr sz="1000" dirty="0">
              <a:solidFill>
                <a:srgbClr val="6A9955"/>
              </a:solidFill>
              <a:latin typeface="Consolas"/>
            </a:endParaRPr>
          </a:p>
          <a:p>
            <a:r>
              <a:rPr sz="1000" dirty="0">
                <a:solidFill>
                  <a:srgbClr val="6A9955"/>
                </a:solidFill>
                <a:latin typeface="Consolas"/>
              </a:rPr>
              <a:t>  gray = support &amp; (|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clin_score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-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clin_thr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| &lt;=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gray_delta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)</a:t>
            </a:r>
          </a:p>
          <a:p>
            <a:r>
              <a:rPr sz="1000" dirty="0">
                <a:solidFill>
                  <a:srgbClr val="6A9955"/>
                </a:solidFill>
                <a:latin typeface="Consolas"/>
              </a:rPr>
              <a:t>  #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회색지대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(gray)만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AEC로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재판정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나머지는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임상</a:t>
            </a:r>
            <a:r>
              <a:rPr sz="10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6A9955"/>
                </a:solidFill>
                <a:latin typeface="Consolas"/>
              </a:rPr>
              <a:t>유지</a:t>
            </a:r>
            <a:endParaRPr sz="1000" dirty="0">
              <a:solidFill>
                <a:srgbClr val="6A9955"/>
              </a:solidFill>
              <a:latin typeface="Consolas"/>
            </a:endParaRP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workflow =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base_pred.copy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workflow[gray] =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aec_score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[gray] &gt;=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aec_thr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  # AEC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개입</a:t>
            </a:r>
            <a:endParaRPr sz="1000" dirty="0">
              <a:solidFill>
                <a:srgbClr val="D4D4D4"/>
              </a:solidFill>
              <a:latin typeface="Consolas"/>
            </a:endParaRPr>
          </a:p>
          <a:p>
            <a:r>
              <a:rPr sz="1000" dirty="0">
                <a:solidFill>
                  <a:srgbClr val="D4D4D4"/>
                </a:solidFill>
                <a:latin typeface="Consolas"/>
              </a:rPr>
              <a:t>  return </a:t>
            </a:r>
            <a:r>
              <a:rPr sz="1000" dirty="0" err="1">
                <a:solidFill>
                  <a:srgbClr val="D4D4D4"/>
                </a:solidFill>
                <a:latin typeface="Consolas"/>
              </a:rPr>
              <a:t>base_pred</a:t>
            </a:r>
            <a:r>
              <a:rPr sz="1000" dirty="0">
                <a:solidFill>
                  <a:srgbClr val="D4D4D4"/>
                </a:solidFill>
                <a:latin typeface="Consolas"/>
              </a:rPr>
              <a:t>, workflow, gray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6345936"/>
            <a:ext cx="1167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 err="1">
                <a:solidFill>
                  <a:srgbClr val="1A3A5C"/>
                </a:solidFill>
              </a:rPr>
              <a:t>gray_delta</a:t>
            </a:r>
            <a:r>
              <a:rPr sz="850" b="1" i="0" dirty="0">
                <a:solidFill>
                  <a:srgbClr val="1A3A5C"/>
                </a:solidFill>
              </a:rPr>
              <a:t>=0.075: </a:t>
            </a:r>
            <a:r>
              <a:rPr sz="850" b="1" i="0" dirty="0" err="1">
                <a:solidFill>
                  <a:srgbClr val="1A3A5C"/>
                </a:solidFill>
              </a:rPr>
              <a:t>임상점수가</a:t>
            </a:r>
            <a:r>
              <a:rPr sz="850" b="1" i="0" dirty="0">
                <a:solidFill>
                  <a:srgbClr val="1A3A5C"/>
                </a:solidFill>
              </a:rPr>
              <a:t> Youden </a:t>
            </a:r>
            <a:r>
              <a:rPr sz="850" b="1" i="0" dirty="0" err="1">
                <a:solidFill>
                  <a:srgbClr val="1A3A5C"/>
                </a:solidFill>
              </a:rPr>
              <a:t>임계값</a:t>
            </a:r>
            <a:r>
              <a:rPr sz="850" b="1" i="0" dirty="0">
                <a:solidFill>
                  <a:srgbClr val="1A3A5C"/>
                </a:solidFill>
              </a:rPr>
              <a:t> ±0.075 </a:t>
            </a:r>
            <a:r>
              <a:rPr sz="850" b="1" i="0" dirty="0" err="1">
                <a:solidFill>
                  <a:srgbClr val="1A3A5C"/>
                </a:solidFill>
              </a:rPr>
              <a:t>이내</a:t>
            </a:r>
            <a:r>
              <a:rPr sz="850" b="1" i="0" dirty="0">
                <a:solidFill>
                  <a:srgbClr val="1A3A5C"/>
                </a:solidFill>
              </a:rPr>
              <a:t> </a:t>
            </a:r>
            <a:r>
              <a:rPr sz="850" b="1" i="0" dirty="0" err="1">
                <a:solidFill>
                  <a:srgbClr val="1A3A5C"/>
                </a:solidFill>
              </a:rPr>
              <a:t>환자</a:t>
            </a:r>
            <a:r>
              <a:rPr sz="850" b="1" i="0" dirty="0">
                <a:solidFill>
                  <a:srgbClr val="1A3A5C"/>
                </a:solidFill>
              </a:rPr>
              <a:t>  |  </a:t>
            </a:r>
            <a:r>
              <a:rPr sz="850" b="1" i="0" dirty="0" err="1">
                <a:solidFill>
                  <a:srgbClr val="1A3A5C"/>
                </a:solidFill>
              </a:rPr>
              <a:t>aec_thr</a:t>
            </a:r>
            <a:r>
              <a:rPr sz="850" b="1" i="0" dirty="0">
                <a:solidFill>
                  <a:srgbClr val="1A3A5C"/>
                </a:solidFill>
              </a:rPr>
              <a:t>=0.80: </a:t>
            </a:r>
            <a:r>
              <a:rPr sz="850" b="1" i="0" dirty="0" err="1">
                <a:solidFill>
                  <a:srgbClr val="1A3A5C"/>
                </a:solidFill>
              </a:rPr>
              <a:t>다중</a:t>
            </a:r>
            <a:r>
              <a:rPr sz="850" b="1" i="0" dirty="0">
                <a:solidFill>
                  <a:srgbClr val="1A3A5C"/>
                </a:solidFill>
              </a:rPr>
              <a:t> </a:t>
            </a:r>
            <a:r>
              <a:rPr sz="850" b="1" i="0" dirty="0" err="1">
                <a:solidFill>
                  <a:srgbClr val="1A3A5C"/>
                </a:solidFill>
              </a:rPr>
              <a:t>방법</a:t>
            </a:r>
            <a:r>
              <a:rPr sz="850" b="1" i="0" dirty="0">
                <a:solidFill>
                  <a:srgbClr val="1A3A5C"/>
                </a:solidFill>
              </a:rPr>
              <a:t> </a:t>
            </a:r>
            <a:r>
              <a:rPr sz="850" b="1" i="0" dirty="0" err="1">
                <a:solidFill>
                  <a:srgbClr val="1A3A5C"/>
                </a:solidFill>
              </a:rPr>
              <a:t>검증으로</a:t>
            </a:r>
            <a:r>
              <a:rPr sz="850" b="1" i="0" dirty="0">
                <a:solidFill>
                  <a:srgbClr val="1A3A5C"/>
                </a:solidFill>
              </a:rPr>
              <a:t> </a:t>
            </a:r>
            <a:r>
              <a:rPr sz="850" b="1" i="0" dirty="0" err="1">
                <a:solidFill>
                  <a:srgbClr val="1A3A5C"/>
                </a:solidFill>
              </a:rPr>
              <a:t>근거</a:t>
            </a:r>
            <a:r>
              <a:rPr sz="850" b="1" i="0" dirty="0">
                <a:solidFill>
                  <a:srgbClr val="1A3A5C"/>
                </a:solidFill>
              </a:rPr>
              <a:t> </a:t>
            </a:r>
            <a:r>
              <a:rPr sz="850" b="1" i="0" dirty="0" err="1">
                <a:solidFill>
                  <a:srgbClr val="1A3A5C"/>
                </a:solidFill>
              </a:rPr>
              <a:t>확보</a:t>
            </a:r>
            <a:endParaRPr sz="850" b="1" i="0" dirty="0">
              <a:solidFill>
                <a:srgbClr val="1A3A5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31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3대 아키텍처 알고리즘 종합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7EE"/>
                </a:solidFill>
              </a:rPr>
              <a:t>Cross-Attention  /  Late Fusion  /  현재 아키텍처 — 설계 철학 및 코드 구조 비교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242332"/>
              </p:ext>
            </p:extLst>
          </p:nvPr>
        </p:nvGraphicFramePr>
        <p:xfrm>
          <a:off x="256032" y="1124712"/>
          <a:ext cx="11475720" cy="5012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비교 항목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Cross-Attention</a:t>
                      </a:r>
                    </a:p>
                    <a:p>
                      <a:pPr algn="ctr"/>
                      <a:r>
                        <a:rPr sz="1200"/>
                        <a:t>(M2: ClinAECCrossAttn)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Late Fusion</a:t>
                      </a:r>
                    </a:p>
                    <a:p>
                      <a:pPr algn="ctr"/>
                      <a:r>
                        <a:rPr sz="1200"/>
                        <a:t>(M2_LF: LateFusion)</a:t>
                      </a:r>
                    </a:p>
                    <a:p>
                      <a:pPr algn="ctr"/>
                      <a:r>
                        <a:rPr sz="1200"/>
                        <a:t>[제거]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현재 아키텍처</a:t>
                      </a:r>
                    </a:p>
                    <a:p>
                      <a:pPr algn="ctr"/>
                      <a:r>
                        <a:rPr sz="1200"/>
                        <a:t>(쌍대 LogReg / Gated)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프레임워크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PyTorch (GPU)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PyTorch (GPU)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sklearn / PyTorch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AEC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ResNet1DEncoder</a:t>
                      </a:r>
                    </a:p>
                    <a:p>
                      <a:pPr algn="ctr"/>
                      <a:r>
                        <a:rPr sz="1200" dirty="0"/>
                        <a:t>Conv1d×N → </a:t>
                      </a:r>
                      <a:r>
                        <a:rPr sz="1200" dirty="0" err="1"/>
                        <a:t>AvgPool</a:t>
                      </a:r>
                      <a:r>
                        <a:rPr sz="1200" dirty="0"/>
                        <a:t> → (B,32,d)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ResNet1DEncoder</a:t>
                      </a:r>
                    </a:p>
                    <a:p>
                      <a:pPr algn="ctr"/>
                      <a:r>
                        <a:rPr sz="1200"/>
                        <a:t>(M2와 동일)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log1p → SG → robustZ</a:t>
                      </a:r>
                    </a:p>
                    <a:p>
                      <a:pPr algn="ctr"/>
                      <a:r>
                        <a:rPr sz="1200"/>
                        <a:t>→ 다중 해상도 피처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Clinic 처리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ScalarFeatureTokenizer</a:t>
                      </a:r>
                    </a:p>
                    <a:p>
                      <a:pPr algn="ctr"/>
                      <a:r>
                        <a:rPr sz="1200"/>
                        <a:t>각 scalar → Linear(1→d) 토큰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ScalarFeatureTokenizer</a:t>
                      </a:r>
                    </a:p>
                    <a:p>
                      <a:pPr algn="ctr"/>
                      <a:r>
                        <a:rPr sz="1200"/>
                        <a:t>(M2와 동일)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Gated: Linear→ReLU</a:t>
                      </a:r>
                    </a:p>
                    <a:p>
                      <a:pPr algn="ctr"/>
                      <a:r>
                        <a:rPr sz="1200"/>
                        <a:t>쌍대: LogReg 직접입력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Clinic↔AEC 융합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Bidirectional CrossAttn</a:t>
                      </a:r>
                    </a:p>
                    <a:p>
                      <a:pPr algn="ctr"/>
                      <a:r>
                        <a:rPr sz="1200"/>
                        <a:t>Q=Clinic↔KV=AEC 반복 갱신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독립 mean-pool → concat</a:t>
                      </a:r>
                    </a:p>
                    <a:p>
                      <a:pPr algn="ctr"/>
                      <a:r>
                        <a:rPr sz="1200"/>
                        <a:t>상호작용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Gated: α·aec+(1-α)·clin</a:t>
                      </a:r>
                    </a:p>
                    <a:p>
                      <a:pPr algn="ctr"/>
                      <a:r>
                        <a:rPr sz="1200"/>
                        <a:t>쌍대: 유사환자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Scanner 처리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M3: MfrTokenizer 임베딩</a:t>
                      </a:r>
                    </a:p>
                    <a:p>
                      <a:pPr algn="ctr"/>
                      <a:r>
                        <a:rPr sz="1200"/>
                        <a:t>(Step5에서 제거)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M3_LF: MfrTokenizer</a:t>
                      </a:r>
                    </a:p>
                    <a:p>
                      <a:pPr algn="ctr"/>
                      <a:r>
                        <a:rPr sz="1200"/>
                        <a:t>(Step4에서 제거)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Propensity 매칭 변수</a:t>
                      </a:r>
                    </a:p>
                    <a:p>
                      <a:pPr algn="ctr"/>
                      <a:r>
                        <a:rPr sz="1200"/>
                        <a:t>(예측 입력 아님)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손실함수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FocalLoss(gamma, pos_weight)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FocalLoss(gamma, pos_weight)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N/A (sklearn LogReg)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핵심 코드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CrossAttn(Q=c,KV=a) ×layer</a:t>
                      </a:r>
                    </a:p>
                    <a:p>
                      <a:pPr algn="ctr"/>
                      <a:r>
                        <a:rPr sz="1200"/>
                        <a:t>mean-pool→concat→MLP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c.mean(1)‖a.mean(1)</a:t>
                      </a:r>
                    </a:p>
                    <a:p>
                      <a:pPr algn="ctr"/>
                      <a:r>
                        <a:rPr sz="1200"/>
                        <a:t>→concat→MLP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x_case-x_ctrl→SelectKBest</a:t>
                      </a:r>
                    </a:p>
                    <a:p>
                      <a:pPr algn="ctr"/>
                      <a:r>
                        <a:rPr sz="1200"/>
                        <a:t>→LogReg.predict_proba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해석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Attention map (return_attn)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낮음 (단순 concat)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α 기여도 / McNemar / DCA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외부 검증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단일 코호트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단일 코호트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강남(내부) + 신촌(외부)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3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현재 상태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Step1~5 사용 / 이후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Step3만 / Step4에서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/>
                        <a:t>GatedFusion</a:t>
                      </a:r>
                      <a:r>
                        <a:rPr sz="1200" dirty="0"/>
                        <a:t>: Step6</a:t>
                      </a:r>
                    </a:p>
                    <a:p>
                      <a:pPr algn="ctr"/>
                      <a:r>
                        <a:rPr sz="1200" dirty="0" err="1"/>
                        <a:t>쌍대LogReg</a:t>
                      </a:r>
                      <a:r>
                        <a:rPr sz="1200" dirty="0"/>
                        <a:t>: </a:t>
                      </a:r>
                      <a:r>
                        <a:rPr sz="1200" dirty="0" err="1"/>
                        <a:t>현재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최종</a:t>
                      </a:r>
                      <a:endParaRPr sz="12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7B721181-791C-BC61-BCE7-2B7DFD4B0207}"/>
              </a:ext>
            </a:extLst>
          </p:cNvPr>
          <p:cNvGrpSpPr/>
          <p:nvPr/>
        </p:nvGrpSpPr>
        <p:grpSpPr>
          <a:xfrm>
            <a:off x="256032" y="6227064"/>
            <a:ext cx="11676888" cy="347472"/>
            <a:chOff x="256032" y="5678424"/>
            <a:chExt cx="11676888" cy="347472"/>
          </a:xfrm>
        </p:grpSpPr>
        <p:sp>
          <p:nvSpPr>
            <p:cNvPr id="7" name="Rectangle 6"/>
            <p:cNvSpPr/>
            <p:nvPr/>
          </p:nvSpPr>
          <p:spPr>
            <a:xfrm>
              <a:off x="256032" y="5678424"/>
              <a:ext cx="11676888" cy="347472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8912" y="5724144"/>
              <a:ext cx="1131112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i="0">
                  <a:solidFill>
                    <a:srgbClr val="1A3A5C"/>
                  </a:solidFill>
                </a:rPr>
                <a:t>설계 전환: E2E 딥러닝(상호작용 학습) → Late Fusion 실패 확인 → 통계 기반 해석 가능 워크플로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" y="82296"/>
            <a:ext cx="11603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최종 아키텍처 | study_updated.py — Meaning-Aware Contrastive AEC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84632"/>
            <a:ext cx="11603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3모델 파이프라인 + Contrastive Score  |  sklearn  |  강남 내부 5-fold CV + 신촌 외부 검증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13A1A2C-4DFF-712C-A94C-32C3C4D31492}"/>
              </a:ext>
            </a:extLst>
          </p:cNvPr>
          <p:cNvGrpSpPr/>
          <p:nvPr/>
        </p:nvGrpSpPr>
        <p:grpSpPr>
          <a:xfrm>
            <a:off x="0" y="713232"/>
            <a:ext cx="12188952" cy="5458968"/>
            <a:chOff x="0" y="713232"/>
            <a:chExt cx="12188952" cy="4727448"/>
          </a:xfrm>
        </p:grpSpPr>
        <p:sp>
          <p:nvSpPr>
            <p:cNvPr id="3" name="Rectangle 2"/>
            <p:cNvSpPr/>
            <p:nvPr/>
          </p:nvSpPr>
          <p:spPr>
            <a:xfrm>
              <a:off x="0" y="713232"/>
              <a:ext cx="12188952" cy="5486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56032" y="905256"/>
              <a:ext cx="11676888" cy="274320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932688"/>
              <a:ext cx="11548872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</a:rPr>
                <a:t>INPUT  —  환자 1명:  나이 / 성별 / 키 / 몸무게  +  AEC[1..128]  +  기기명  +  촬영단계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998464" y="1225296"/>
              <a:ext cx="201167" cy="2132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</a:rPr>
                <a:t>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56032" y="1417320"/>
              <a:ext cx="3749039" cy="329184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0040" y="1444752"/>
              <a:ext cx="3621023" cy="3464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Model 1</a:t>
              </a:r>
            </a:p>
            <a:p>
              <a:pPr algn="ctr"/>
              <a:r>
                <a:rPr sz="1000" b="1">
                  <a:solidFill>
                    <a:srgbClr val="FFFFFF"/>
                  </a:solidFill>
                </a:rPr>
                <a:t>Clinical Logistic Regression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78808" y="1417320"/>
              <a:ext cx="3749039" cy="329184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42816" y="1444752"/>
              <a:ext cx="3621023" cy="3464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Model 2</a:t>
              </a:r>
            </a:p>
            <a:p>
              <a:pPr algn="ctr"/>
              <a:r>
                <a:rPr sz="1000" b="1">
                  <a:solidFill>
                    <a:srgbClr val="FFFFFF"/>
                  </a:solidFill>
                </a:rPr>
                <a:t>Expected-AEC Ridge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101583" y="1417320"/>
              <a:ext cx="3749039" cy="329184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65592" y="1444752"/>
              <a:ext cx="3621023" cy="3464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Contrastive Score</a:t>
              </a:r>
            </a:p>
            <a:p>
              <a:pPr algn="ctr"/>
              <a:r>
                <a:rPr sz="1000" b="1">
                  <a:solidFill>
                    <a:srgbClr val="FFFFFF"/>
                  </a:solidFill>
                </a:rPr>
                <a:t>(학습 없음 – 거리 계산)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6032" y="1746504"/>
              <a:ext cx="3749039" cy="107899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" y="1773936"/>
              <a:ext cx="3621023" cy="746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입력: age, sex, height, weight (4개)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구조: StandardScaler → LogReg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  C=0.7 / class_weight=balanced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출력: P(LowSMI) 스칼라 + Youden threshold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→ 모든 환자에게 적용되는 기준선 예측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178808" y="1746504"/>
              <a:ext cx="3749039" cy="107899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42816" y="1773936"/>
              <a:ext cx="3621023" cy="746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입력: 체격 + 기기명 + 촬영단계 (one-hot)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구조: Imputer → Scaler → Ridge ×2 (raw: α=8 / pz: α=12)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출력: 4종 AEC 표현 (raw, pz, res_raw, res_pz)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잔차 = 실제 AEC - 예상 AEC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→ 체격·기기 영향 제거 (정규화 도구)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101583" y="1746504"/>
              <a:ext cx="3749039" cy="107899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65592" y="1773936"/>
              <a:ext cx="3621023" cy="746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훈련셋에서 임상 유사 이웃 탐색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  Low SMI 이웃 12명 / Normal 이웃 12명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AEC 서명 공간에서 거리 계산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score = dist(Normal) − dist(Low)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출력: 8차원 contrastive 벡터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998464" y="2871215"/>
              <a:ext cx="201167" cy="2132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</a:rPr>
                <a:t>▼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56032" y="3063240"/>
              <a:ext cx="11676888" cy="292608"/>
            </a:xfrm>
            <a:prstGeom prst="rect">
              <a:avLst/>
            </a:prstGeom>
            <a:solidFill>
              <a:srgbClr val="E8E0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0040" y="3090672"/>
              <a:ext cx="11548872" cy="2132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4B3278"/>
                  </a:solidFill>
                </a:rPr>
                <a:t>correction_features()  →  ~17차원:  [Clinical Score]  [threshold]  [margin]  [|margin|]  [pred]  [age, sex, h, w]  +  [8-dim Contrastive Block]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98464" y="3401568"/>
              <a:ext cx="201167" cy="2132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</a:rPr>
                <a:t>▼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56032" y="3593592"/>
              <a:ext cx="5696712" cy="256032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20040" y="3621024"/>
              <a:ext cx="5568696" cy="219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</a:rPr>
                <a:t>Model 3A  —  Rule-Out Head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63056" y="3593592"/>
              <a:ext cx="5696712" cy="256032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27064" y="3621024"/>
              <a:ext cx="5568696" cy="219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</a:rPr>
                <a:t>Model 3B  —  Rule-In Head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56032" y="3849624"/>
              <a:ext cx="5696712" cy="914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0040" y="3877056"/>
              <a:ext cx="5568696" cy="746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훈련 대상: 임상 양성 환자만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라벨: 그 중 실제 정상인 사람 = 1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구조: Imputer → Scaler → SelectKBest(k=160)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      → ElasticNet LogReg (C=0.4, l1_ratio=0.25)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출력: '이 양성 예측이 틀렸을 확률'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63056" y="3849624"/>
              <a:ext cx="5696712" cy="914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227064" y="3877056"/>
              <a:ext cx="5568696" cy="746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훈련 대상: 임상 음성 환자만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라벨: 그 중 실제 LowSMI인 사람 = 1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구조: 동일 (ElasticNet LogReg)</a:t>
              </a:r>
            </a:p>
            <a:p>
              <a:pPr algn="l"/>
              <a:endParaRPr sz="1000" b="0">
                <a:solidFill>
                  <a:srgbClr val="000000"/>
                </a:solidFill>
              </a:endParaRP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출력: '이 음성 예측이 틀렸을 확률'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998464" y="4809744"/>
              <a:ext cx="201167" cy="2132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</a:rPr>
                <a:t>▼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56032" y="5001768"/>
              <a:ext cx="11676888" cy="438912"/>
            </a:xfrm>
            <a:prstGeom prst="rect">
              <a:avLst/>
            </a:prstGeom>
            <a:solidFill>
              <a:srgbClr val="1FA8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0040" y="5029200"/>
              <a:ext cx="11548872" cy="3598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</a:rPr>
                <a:t>Selective Correction Rule (if-else, 학습 없음)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</a:rPr>
                <a:t>gray-zone AND Clinical=양성 AND RuleOut↑  →  정상으로 뒤집기  |  gray-zone AND Clinical=음성 AND RuleIn↑  →  LowSMI로 뒤집기  |  그 외  →  임상 결과 유지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20040" y="6344818"/>
            <a:ext cx="11548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1A3A5C"/>
                </a:solidFill>
              </a:rPr>
              <a:t>gray-zone: |</a:t>
            </a:r>
            <a:r>
              <a:rPr sz="1000" b="0" dirty="0" err="1">
                <a:solidFill>
                  <a:srgbClr val="1A3A5C"/>
                </a:solidFill>
              </a:rPr>
              <a:t>clinical_score</a:t>
            </a:r>
            <a:r>
              <a:rPr sz="1000" b="0" dirty="0">
                <a:solidFill>
                  <a:srgbClr val="1A3A5C"/>
                </a:solidFill>
              </a:rPr>
              <a:t> − threshold| ≤ </a:t>
            </a:r>
            <a:r>
              <a:rPr sz="1000" b="0" dirty="0" err="1">
                <a:solidFill>
                  <a:srgbClr val="1A3A5C"/>
                </a:solidFill>
              </a:rPr>
              <a:t>margin_gate</a:t>
            </a:r>
            <a:r>
              <a:rPr sz="1000" b="0" dirty="0">
                <a:solidFill>
                  <a:srgbClr val="1A3A5C"/>
                </a:solidFill>
              </a:rPr>
              <a:t>  |  </a:t>
            </a:r>
            <a:r>
              <a:rPr sz="1000" b="0" dirty="0" err="1">
                <a:solidFill>
                  <a:srgbClr val="1A3A5C"/>
                </a:solidFill>
              </a:rPr>
              <a:t>threshold는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강남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내부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CV에서만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선택</a:t>
            </a:r>
            <a:r>
              <a:rPr sz="1000" b="0" dirty="0">
                <a:solidFill>
                  <a:srgbClr val="1A3A5C"/>
                </a:solidFill>
              </a:rPr>
              <a:t>, </a:t>
            </a:r>
            <a:r>
              <a:rPr sz="1000" b="0" dirty="0" err="1">
                <a:solidFill>
                  <a:srgbClr val="1A3A5C"/>
                </a:solidFill>
              </a:rPr>
              <a:t>신촌에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잠금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적용</a:t>
            </a:r>
            <a:endParaRPr sz="1000" b="0" dirty="0">
              <a:solidFill>
                <a:srgbClr val="1A3A5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" y="82296"/>
            <a:ext cx="11603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Model 1: Clinical Logistic Regression  |  Model 2: Expected-AEC 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84632"/>
            <a:ext cx="11603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임상 기준선 예측 + AEC 절대값 정규화 (체격·기기·촬영단계 영향 제거)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905255"/>
            <a:ext cx="5687568" cy="353993"/>
          </a:xfrm>
          <a:prstGeom prst="rect">
            <a:avLst/>
          </a:prstGeom>
          <a:solidFill>
            <a:srgbClr val="4B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" name="TextBox 6"/>
          <p:cNvSpPr txBox="1"/>
          <p:nvPr/>
        </p:nvSpPr>
        <p:spPr>
          <a:xfrm>
            <a:off x="320040" y="943183"/>
            <a:ext cx="5559552" cy="34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Model 1  —  Clinical Logistic Regression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BA26691-69D2-73B2-5BCA-93703103F47B}"/>
              </a:ext>
            </a:extLst>
          </p:cNvPr>
          <p:cNvGrpSpPr/>
          <p:nvPr/>
        </p:nvGrpSpPr>
        <p:grpSpPr>
          <a:xfrm>
            <a:off x="256032" y="1423602"/>
            <a:ext cx="5687568" cy="2487518"/>
            <a:chOff x="256032" y="1385674"/>
            <a:chExt cx="5687568" cy="2487518"/>
          </a:xfrm>
        </p:grpSpPr>
        <p:sp>
          <p:nvSpPr>
            <p:cNvPr id="8" name="Rectangle 7"/>
            <p:cNvSpPr/>
            <p:nvPr/>
          </p:nvSpPr>
          <p:spPr>
            <a:xfrm>
              <a:off x="256032" y="1385674"/>
              <a:ext cx="1554480" cy="353993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0040" y="1423602"/>
              <a:ext cx="1426464" cy="340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입력 (4차원)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28800" y="1385674"/>
              <a:ext cx="4114800" cy="353993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92807" y="1423602"/>
              <a:ext cx="3986784" cy="340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age / sex(0=F,1=M) / height / weight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032" y="1815523"/>
              <a:ext cx="1554480" cy="353993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40" y="1853451"/>
              <a:ext cx="1426464" cy="340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StandardScaler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828800" y="1815523"/>
              <a:ext cx="4114800" cy="353993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92807" y="1853451"/>
              <a:ext cx="3986784" cy="340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훈련 fold 평균·표준편차로 정규화 → 테스트에 동일 적용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56032" y="2245372"/>
              <a:ext cx="1554480" cy="530990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" y="2283300"/>
              <a:ext cx="1426464" cy="340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LogisticRegression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28800" y="2245372"/>
              <a:ext cx="4114800" cy="53099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92807" y="2283300"/>
              <a:ext cx="3986784" cy="553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C=0.7  |  class_weight=balanced  |  max_iter=3000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balanced: LowSMI 환자 수가 적어도 동등 가중치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56032" y="2852218"/>
              <a:ext cx="1554480" cy="353993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0040" y="2890146"/>
              <a:ext cx="1426464" cy="340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출력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828800" y="2852218"/>
              <a:ext cx="4114800" cy="353993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92807" y="2890146"/>
              <a:ext cx="3986784" cy="340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predict_proba → P(LowSMI) 스칼라 (0~1)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56032" y="3282067"/>
              <a:ext cx="1554480" cy="530990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0040" y="3319995"/>
              <a:ext cx="1426464" cy="340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Youden Threshold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28800" y="3282067"/>
              <a:ext cx="4114800" cy="53099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92807" y="3319995"/>
              <a:ext cx="3986784" cy="553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훈련 fold ROC curve에서 argmax(Sensitivity + Specificity − 1)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→ 테스트 fold로 threshold를 유출하지 않음 (leakage 방지)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0C8F6CA-FF8F-AF36-6706-AD7A54D8017E}"/>
              </a:ext>
            </a:extLst>
          </p:cNvPr>
          <p:cNvGrpSpPr/>
          <p:nvPr/>
        </p:nvGrpSpPr>
        <p:grpSpPr>
          <a:xfrm>
            <a:off x="256032" y="4116479"/>
            <a:ext cx="5687568" cy="1878723"/>
            <a:chOff x="256032" y="3939483"/>
            <a:chExt cx="5687568" cy="1896392"/>
          </a:xfrm>
        </p:grpSpPr>
        <p:sp>
          <p:nvSpPr>
            <p:cNvPr id="28" name="Rectangle 27"/>
            <p:cNvSpPr/>
            <p:nvPr/>
          </p:nvSpPr>
          <p:spPr>
            <a:xfrm>
              <a:off x="256032" y="3939483"/>
              <a:ext cx="5687568" cy="1896392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0040" y="4052344"/>
              <a:ext cx="5559552" cy="9787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</a:rPr>
                <a:t>5-fold </a:t>
              </a:r>
              <a:r>
                <a:rPr sz="1000" b="0" dirty="0" err="1">
                  <a:solidFill>
                    <a:srgbClr val="000000"/>
                  </a:solidFill>
                </a:rPr>
                <a:t>교차검증</a:t>
              </a:r>
              <a:r>
                <a:rPr sz="1000" b="0" dirty="0">
                  <a:solidFill>
                    <a:srgbClr val="000000"/>
                  </a:solidFill>
                </a:rPr>
                <a:t> (Gangnam </a:t>
              </a:r>
              <a:r>
                <a:rPr sz="1000" b="0" dirty="0" err="1">
                  <a:solidFill>
                    <a:srgbClr val="000000"/>
                  </a:solidFill>
                </a:rPr>
                <a:t>내부</a:t>
              </a:r>
              <a:r>
                <a:rPr sz="1000" b="0" dirty="0">
                  <a:solidFill>
                    <a:srgbClr val="000000"/>
                  </a:solidFill>
                </a:rPr>
                <a:t>)</a:t>
              </a:r>
            </a:p>
            <a:p>
              <a:pPr algn="l"/>
              <a:r>
                <a:rPr sz="1000" b="0" dirty="0">
                  <a:solidFill>
                    <a:srgbClr val="000000"/>
                  </a:solidFill>
                </a:rPr>
                <a:t>• 각 fold: </a:t>
              </a:r>
              <a:r>
                <a:rPr sz="1000" b="0" dirty="0" err="1">
                  <a:solidFill>
                    <a:srgbClr val="000000"/>
                  </a:solidFill>
                </a:rPr>
                <a:t>훈련셋으로</a:t>
              </a:r>
              <a:r>
                <a:rPr sz="1000" b="0" dirty="0">
                  <a:solidFill>
                    <a:srgbClr val="000000"/>
                  </a:solidFill>
                </a:rPr>
                <a:t> fit → </a:t>
              </a:r>
              <a:r>
                <a:rPr sz="1000" b="0" dirty="0" err="1">
                  <a:solidFill>
                    <a:srgbClr val="000000"/>
                  </a:solidFill>
                </a:rPr>
                <a:t>훈련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score로</a:t>
              </a:r>
              <a:r>
                <a:rPr sz="1000" b="0" dirty="0">
                  <a:solidFill>
                    <a:srgbClr val="000000"/>
                  </a:solidFill>
                </a:rPr>
                <a:t> threshold </a:t>
              </a:r>
              <a:r>
                <a:rPr sz="1000" b="0" dirty="0" err="1">
                  <a:solidFill>
                    <a:srgbClr val="000000"/>
                  </a:solidFill>
                </a:rPr>
                <a:t>계산</a:t>
              </a:r>
              <a:endParaRPr sz="1000" b="0" dirty="0">
                <a:solidFill>
                  <a:srgbClr val="000000"/>
                </a:solidFill>
              </a:endParaRPr>
            </a:p>
            <a:p>
              <a:pPr algn="l"/>
              <a:r>
                <a:rPr sz="1000" b="0" dirty="0">
                  <a:solidFill>
                    <a:srgbClr val="000000"/>
                  </a:solidFill>
                </a:rPr>
                <a:t>• </a:t>
              </a:r>
              <a:r>
                <a:rPr sz="1000" b="0" dirty="0" err="1">
                  <a:solidFill>
                    <a:srgbClr val="000000"/>
                  </a:solidFill>
                </a:rPr>
                <a:t>테스트셋에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predict_proba</a:t>
              </a:r>
              <a:r>
                <a:rPr sz="1000" b="0" dirty="0">
                  <a:solidFill>
                    <a:srgbClr val="000000"/>
                  </a:solidFill>
                </a:rPr>
                <a:t> → OOF score </a:t>
              </a:r>
              <a:r>
                <a:rPr sz="1000" b="0" dirty="0" err="1">
                  <a:solidFill>
                    <a:srgbClr val="000000"/>
                  </a:solidFill>
                </a:rPr>
                <a:t>누적</a:t>
              </a:r>
              <a:endParaRPr sz="1000" b="0" dirty="0">
                <a:solidFill>
                  <a:srgbClr val="000000"/>
                </a:solidFill>
              </a:endParaRPr>
            </a:p>
            <a:p>
              <a:pPr algn="l"/>
              <a:r>
                <a:rPr sz="1000" b="0" dirty="0">
                  <a:solidFill>
                    <a:srgbClr val="000000"/>
                  </a:solidFill>
                </a:rPr>
                <a:t>→ </a:t>
              </a:r>
              <a:r>
                <a:rPr sz="1000" b="0" dirty="0" err="1">
                  <a:solidFill>
                    <a:srgbClr val="000000"/>
                  </a:solidFill>
                </a:rPr>
                <a:t>전체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강남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환자</a:t>
              </a:r>
              <a:r>
                <a:rPr sz="1000" b="0" dirty="0">
                  <a:solidFill>
                    <a:srgbClr val="000000"/>
                  </a:solidFill>
                </a:rPr>
                <a:t> OOF score = </a:t>
              </a:r>
              <a:r>
                <a:rPr sz="1000" b="0" dirty="0" err="1">
                  <a:solidFill>
                    <a:srgbClr val="000000"/>
                  </a:solidFill>
                </a:rPr>
                <a:t>최종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임상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점수</a:t>
              </a:r>
              <a:endParaRPr sz="1000" b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30" name="Rectangle 29"/>
          <p:cNvSpPr/>
          <p:nvPr/>
        </p:nvSpPr>
        <p:spPr>
          <a:xfrm>
            <a:off x="6099048" y="905255"/>
            <a:ext cx="5833872" cy="353993"/>
          </a:xfrm>
          <a:prstGeom prst="rect">
            <a:avLst/>
          </a:prstGeom>
          <a:solidFill>
            <a:srgbClr val="4B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1" name="TextBox 30"/>
          <p:cNvSpPr txBox="1"/>
          <p:nvPr/>
        </p:nvSpPr>
        <p:spPr>
          <a:xfrm>
            <a:off x="6163056" y="943183"/>
            <a:ext cx="5705856" cy="34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Model 2  —  Expected-AEC Ridge Regression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9048" y="1385674"/>
            <a:ext cx="1554480" cy="53099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3" name="TextBox 32"/>
          <p:cNvSpPr txBox="1"/>
          <p:nvPr/>
        </p:nvSpPr>
        <p:spPr>
          <a:xfrm>
            <a:off x="6163056" y="1423602"/>
            <a:ext cx="1426464" cy="34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입력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71816" y="1385674"/>
            <a:ext cx="4261104" cy="53099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5" name="TextBox 34"/>
          <p:cNvSpPr txBox="1"/>
          <p:nvPr/>
        </p:nvSpPr>
        <p:spPr>
          <a:xfrm>
            <a:off x="7735824" y="1423602"/>
            <a:ext cx="4133088" cy="553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age, sex, height, weight, BMI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+ 촬영단계 one-hot  +  기기명 one-hot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9048" y="1992520"/>
            <a:ext cx="1554480" cy="353993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7" name="TextBox 36"/>
          <p:cNvSpPr txBox="1"/>
          <p:nvPr/>
        </p:nvSpPr>
        <p:spPr>
          <a:xfrm>
            <a:off x="6163056" y="2030448"/>
            <a:ext cx="1426464" cy="34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SimpleImputer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71816" y="1992520"/>
            <a:ext cx="4261104" cy="35399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9" name="TextBox 38"/>
          <p:cNvSpPr txBox="1"/>
          <p:nvPr/>
        </p:nvSpPr>
        <p:spPr>
          <a:xfrm>
            <a:off x="7735824" y="2030448"/>
            <a:ext cx="4133088" cy="34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결측값 중앙값으로 채움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9048" y="2422369"/>
            <a:ext cx="1554480" cy="353993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1" name="TextBox 40"/>
          <p:cNvSpPr txBox="1"/>
          <p:nvPr/>
        </p:nvSpPr>
        <p:spPr>
          <a:xfrm>
            <a:off x="6163056" y="2460295"/>
            <a:ext cx="1426464" cy="34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StandardScaler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71816" y="2422369"/>
            <a:ext cx="4261104" cy="35399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3" name="TextBox 42"/>
          <p:cNvSpPr txBox="1"/>
          <p:nvPr/>
        </p:nvSpPr>
        <p:spPr>
          <a:xfrm>
            <a:off x="7735824" y="2460295"/>
            <a:ext cx="4133088" cy="34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훈련셋 기준 정규화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9048" y="2852218"/>
            <a:ext cx="1554480" cy="53099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5" name="TextBox 44"/>
          <p:cNvSpPr txBox="1"/>
          <p:nvPr/>
        </p:nvSpPr>
        <p:spPr>
          <a:xfrm>
            <a:off x="6163056" y="2890144"/>
            <a:ext cx="1426464" cy="34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Ridge(α=8)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71816" y="2852218"/>
            <a:ext cx="4261104" cy="53099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7" name="TextBox 46"/>
          <p:cNvSpPr txBox="1"/>
          <p:nvPr/>
        </p:nvSpPr>
        <p:spPr>
          <a:xfrm>
            <a:off x="7735824" y="2890144"/>
            <a:ext cx="4133088" cy="553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다중 출력 회귀: 입력 → 예상 AEC 128점 곡선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(raw 버전 α=8, patientwise-z 버전 α=12)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9048" y="3459064"/>
            <a:ext cx="1554480" cy="53099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9" name="TextBox 48"/>
          <p:cNvSpPr txBox="1"/>
          <p:nvPr/>
        </p:nvSpPr>
        <p:spPr>
          <a:xfrm>
            <a:off x="6163056" y="3496990"/>
            <a:ext cx="1426464" cy="34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잔차 계산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71816" y="3459064"/>
            <a:ext cx="4261104" cy="53099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1" name="TextBox 50"/>
          <p:cNvSpPr txBox="1"/>
          <p:nvPr/>
        </p:nvSpPr>
        <p:spPr>
          <a:xfrm>
            <a:off x="7735824" y="3496990"/>
            <a:ext cx="4133088" cy="553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residual = 실제 AEC − Ridge 예측값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→ 체격·기기·단계 영향이 제거된 순수 곡선 모양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9048" y="4116480"/>
            <a:ext cx="5833872" cy="1896392"/>
          </a:xfrm>
          <a:prstGeom prst="rect">
            <a:avLst/>
          </a:prstGeom>
          <a:solidFill>
            <a:srgbClr val="F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3" name="TextBox 52"/>
          <p:cNvSpPr txBox="1"/>
          <p:nvPr/>
        </p:nvSpPr>
        <p:spPr>
          <a:xfrm>
            <a:off x="6163056" y="4154406"/>
            <a:ext cx="5705856" cy="1404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4종 AEC 표현 (모두 훈련셋에서만 fit → 테스트에 적용)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  raw     : log1p 변환 + Savitzky-Golay 스무딩 (window=9)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  pz      : raw의 환자별 robust-z 정규화 (IQR 기반)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  res_raw : raw − Ridge(raw)  잔차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  res_pz  : pz  − Ridge(pz)  잔차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→ 4종 모두 anatomy_zone_features() + morph_from_curve() 입력으로 사용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172200"/>
            <a:ext cx="11548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</a:rPr>
              <a:t>Model 2는 '예측 모델'이 아닌 '정규화 도구' — 출력(잔차)이 Contrastive Score의 AEC 서명 공간 계산에 사용됨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" y="82296"/>
            <a:ext cx="11603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Contrastive AEC Score  —  Meaning-Aware 이웃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84632"/>
            <a:ext cx="11603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임상적으로 비슷한 환자 안에서 AEC 모양 차이만 분리  |  contrastive_neighbor_features()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905256"/>
            <a:ext cx="3721608" cy="283890"/>
          </a:xfrm>
          <a:prstGeom prst="rect">
            <a:avLst/>
          </a:prstGeom>
          <a:solidFill>
            <a:srgbClr val="4B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" name="TextBox 6"/>
          <p:cNvSpPr txBox="1"/>
          <p:nvPr/>
        </p:nvSpPr>
        <p:spPr>
          <a:xfrm>
            <a:off x="320040" y="935673"/>
            <a:ext cx="3593592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① 임상 유사 이웃 탐색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89146"/>
            <a:ext cx="3721608" cy="11963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" name="TextBox 8"/>
          <p:cNvSpPr txBox="1"/>
          <p:nvPr/>
        </p:nvSpPr>
        <p:spPr>
          <a:xfrm>
            <a:off x="320040" y="1219562"/>
            <a:ext cx="3593592" cy="1135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clinical_match_matrix():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  age, sex×8, height, weight, BMI 표준화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→ 훈련셋 전원과 유클리드 거리 계산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  sex에 ×8: 이성 이웃 선택 억제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→ 가장 가까운 Low SMI 12명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   Normal 12명 각각 선택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2232" y="905256"/>
            <a:ext cx="3721608" cy="283890"/>
          </a:xfrm>
          <a:prstGeom prst="rect">
            <a:avLst/>
          </a:prstGeom>
          <a:solidFill>
            <a:srgbClr val="4B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" name="TextBox 10"/>
          <p:cNvSpPr txBox="1"/>
          <p:nvPr/>
        </p:nvSpPr>
        <p:spPr>
          <a:xfrm>
            <a:off x="4206240" y="935673"/>
            <a:ext cx="3593592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② AEC 서명 공간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2232" y="1189146"/>
            <a:ext cx="3721608" cy="11963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3" name="TextBox 12"/>
          <p:cNvSpPr txBox="1"/>
          <p:nvPr/>
        </p:nvSpPr>
        <p:spPr>
          <a:xfrm>
            <a:off x="4206240" y="1219562"/>
            <a:ext cx="3593592" cy="1135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morph_from_curve(pz) + morph_from_curve(res_pz)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+ anatomy_zone_features(raw,pz,res_raw,res_pz)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= 수백 차원 AEC 서명 벡터</a:t>
            </a:r>
          </a:p>
          <a:p>
            <a:pPr algn="l"/>
            <a:endParaRPr sz="1000" b="0">
              <a:solidFill>
                <a:srgbClr val="000000"/>
              </a:solidFill>
            </a:endParaRPr>
          </a:p>
          <a:p>
            <a:pPr algn="l"/>
            <a:r>
              <a:rPr sz="1000" b="0">
                <a:solidFill>
                  <a:srgbClr val="000000"/>
                </a:solidFill>
              </a:rPr>
              <a:t>→ 이 공간에서 이웃까지 거리 계산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   (훈련셋 기준으로 표준화)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905256"/>
            <a:ext cx="3721608" cy="283890"/>
          </a:xfrm>
          <a:prstGeom prst="rect">
            <a:avLst/>
          </a:prstGeom>
          <a:solidFill>
            <a:srgbClr val="4B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5" name="TextBox 14"/>
          <p:cNvSpPr txBox="1"/>
          <p:nvPr/>
        </p:nvSpPr>
        <p:spPr>
          <a:xfrm>
            <a:off x="8092440" y="935673"/>
            <a:ext cx="3593592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③ 대조 점수 계산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1" y="1189146"/>
            <a:ext cx="3721608" cy="11963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7" name="TextBox 16"/>
          <p:cNvSpPr txBox="1"/>
          <p:nvPr/>
        </p:nvSpPr>
        <p:spPr>
          <a:xfrm>
            <a:off x="8092440" y="1219562"/>
            <a:ext cx="3593592" cy="1135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dist_to_low[12], dist_to_normal[12] 계산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가중치: exp(−임상거리)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  임상 유사할수록 높은 가중치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score = mean(dist_normal) − mean(dist_low)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  양수 → Low SMI 닮음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  음수 → Normal 닮음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2436232"/>
            <a:ext cx="201167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▼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F828EA1F-7D9C-5AEB-EB98-ACD14FCAE453}"/>
              </a:ext>
            </a:extLst>
          </p:cNvPr>
          <p:cNvGrpSpPr/>
          <p:nvPr/>
        </p:nvGrpSpPr>
        <p:grpSpPr>
          <a:xfrm>
            <a:off x="256032" y="2649149"/>
            <a:ext cx="11516868" cy="303427"/>
            <a:chOff x="256032" y="2649149"/>
            <a:chExt cx="11676888" cy="303427"/>
          </a:xfrm>
        </p:grpSpPr>
        <p:sp>
          <p:nvSpPr>
            <p:cNvPr id="19" name="Rectangle 18"/>
            <p:cNvSpPr/>
            <p:nvPr/>
          </p:nvSpPr>
          <p:spPr>
            <a:xfrm>
              <a:off x="256032" y="2649149"/>
              <a:ext cx="11676888" cy="283890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0040" y="2679565"/>
              <a:ext cx="11548872" cy="2730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출력: 8차원 Contrastive Block  —  환자 1명에 대해 아래 8개 값 계산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256032" y="3014149"/>
            <a:ext cx="2834640" cy="22305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2" name="TextBox 21"/>
          <p:cNvSpPr txBox="1"/>
          <p:nvPr/>
        </p:nvSpPr>
        <p:spPr>
          <a:xfrm>
            <a:off x="320040" y="2998385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[0] 핵심 점수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3237206"/>
            <a:ext cx="2834640" cy="6286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TextBox 23"/>
          <p:cNvSpPr txBox="1"/>
          <p:nvPr/>
        </p:nvSpPr>
        <p:spPr>
          <a:xfrm>
            <a:off x="320040" y="3267622"/>
            <a:ext cx="2706624" cy="44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mean(dist_normal) − mean(dist_low)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양수=LowSMI 닮음, 음수=Normal 닮음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0108" y="3014149"/>
            <a:ext cx="2834640" cy="22305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6" name="TextBox 25"/>
          <p:cNvSpPr txBox="1"/>
          <p:nvPr/>
        </p:nvSpPr>
        <p:spPr>
          <a:xfrm>
            <a:off x="3214116" y="2998385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[1] 최근접 점수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0108" y="3237206"/>
            <a:ext cx="2834640" cy="6286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3214116" y="3267622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nearest_normal − nearest_low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44184" y="3014149"/>
            <a:ext cx="2834640" cy="22305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0" name="TextBox 29"/>
          <p:cNvSpPr txBox="1"/>
          <p:nvPr/>
        </p:nvSpPr>
        <p:spPr>
          <a:xfrm>
            <a:off x="6108192" y="2998385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[2] Low 평균거리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44184" y="3237206"/>
            <a:ext cx="2834640" cy="6286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2" name="TextBox 31"/>
          <p:cNvSpPr txBox="1"/>
          <p:nvPr/>
        </p:nvSpPr>
        <p:spPr>
          <a:xfrm>
            <a:off x="6108192" y="3267622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mean_dist_to_low_neighbors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38260" y="3014149"/>
            <a:ext cx="2834640" cy="22305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4" name="TextBox 33"/>
          <p:cNvSpPr txBox="1"/>
          <p:nvPr/>
        </p:nvSpPr>
        <p:spPr>
          <a:xfrm>
            <a:off x="9002268" y="2998385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[3] Normal 평균거리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38260" y="3237206"/>
            <a:ext cx="2834640" cy="6286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6" name="TextBox 35"/>
          <p:cNvSpPr txBox="1"/>
          <p:nvPr/>
        </p:nvSpPr>
        <p:spPr>
          <a:xfrm>
            <a:off x="9002268" y="3267622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mean_dist_to_normal_neighbors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3926651"/>
            <a:ext cx="2834640" cy="22305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8" name="TextBox 37"/>
          <p:cNvSpPr txBox="1"/>
          <p:nvPr/>
        </p:nvSpPr>
        <p:spPr>
          <a:xfrm>
            <a:off x="320040" y="3920123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[4] Low 최근접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4149706"/>
            <a:ext cx="2834640" cy="6286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0" name="TextBox 39"/>
          <p:cNvSpPr txBox="1"/>
          <p:nvPr/>
        </p:nvSpPr>
        <p:spPr>
          <a:xfrm>
            <a:off x="320040" y="4180124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nearest_dist_to_low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0108" y="3926651"/>
            <a:ext cx="2834640" cy="22305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2" name="TextBox 41"/>
          <p:cNvSpPr txBox="1"/>
          <p:nvPr/>
        </p:nvSpPr>
        <p:spPr>
          <a:xfrm>
            <a:off x="3214116" y="3920123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[5] Normal 최근접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0108" y="4149706"/>
            <a:ext cx="2834640" cy="6286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4" name="TextBox 43"/>
          <p:cNvSpPr txBox="1"/>
          <p:nvPr/>
        </p:nvSpPr>
        <p:spPr>
          <a:xfrm>
            <a:off x="3214116" y="4180124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nearest_dist_to_normal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44184" y="3926651"/>
            <a:ext cx="2834640" cy="22305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6" name="TextBox 45"/>
          <p:cNvSpPr txBox="1"/>
          <p:nvPr/>
        </p:nvSpPr>
        <p:spPr>
          <a:xfrm>
            <a:off x="6108192" y="3920123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[6] Low 이웃 가중비율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44184" y="4149706"/>
            <a:ext cx="2834640" cy="6286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8" name="TextBox 47"/>
          <p:cNvSpPr txBox="1"/>
          <p:nvPr/>
        </p:nvSpPr>
        <p:spPr>
          <a:xfrm>
            <a:off x="6108192" y="4180124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sum(case_w)/(sum(case_w)+sum(ctrl_w))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38260" y="3926651"/>
            <a:ext cx="2834640" cy="22305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0" name="TextBox 49"/>
          <p:cNvSpPr txBox="1"/>
          <p:nvPr/>
        </p:nvSpPr>
        <p:spPr>
          <a:xfrm>
            <a:off x="9002268" y="3920123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[7] 임상거리 편향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38260" y="4149706"/>
            <a:ext cx="2834640" cy="6286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2" name="TextBox 51"/>
          <p:cNvSpPr txBox="1"/>
          <p:nvPr/>
        </p:nvSpPr>
        <p:spPr>
          <a:xfrm>
            <a:off x="9002268" y="4180124"/>
            <a:ext cx="2706624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mean_clin_dist(low)−mean_clin_dist(normal)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" y="4869570"/>
            <a:ext cx="11676888" cy="263612"/>
          </a:xfrm>
          <a:prstGeom prst="rect">
            <a:avLst/>
          </a:prstGeom>
          <a:solidFill>
            <a:srgbClr val="4B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4" name="TextBox 53"/>
          <p:cNvSpPr txBox="1"/>
          <p:nvPr/>
        </p:nvSpPr>
        <p:spPr>
          <a:xfrm>
            <a:off x="320040" y="4899987"/>
            <a:ext cx="11548872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AEC 서명 공간 구성 요소 (morph_from_curve + anatomy_zone_features)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" y="5194015"/>
            <a:ext cx="3017520" cy="26361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6" name="TextBox 55"/>
          <p:cNvSpPr txBox="1"/>
          <p:nvPr/>
        </p:nvSpPr>
        <p:spPr>
          <a:xfrm>
            <a:off x="320040" y="5224432"/>
            <a:ext cx="2889503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segment_features(x, 2/4/8/16)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5194015"/>
            <a:ext cx="8641080" cy="263612"/>
          </a:xfrm>
          <a:prstGeom prst="rect">
            <a:avLst/>
          </a:prstGeom>
          <a:solidFill>
            <a:srgbClr val="F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8" name="TextBox 57"/>
          <p:cNvSpPr txBox="1"/>
          <p:nvPr/>
        </p:nvSpPr>
        <p:spPr>
          <a:xfrm>
            <a:off x="3355848" y="5224432"/>
            <a:ext cx="8513063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구간 분할별 mean·std·min·max·range·slope·|d1|.mean·|d1|.max  →  다해상도 형태 요약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" y="5498183"/>
            <a:ext cx="3017520" cy="26361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0" name="TextBox 59"/>
          <p:cNvSpPr txBox="1"/>
          <p:nvPr/>
        </p:nvSpPr>
        <p:spPr>
          <a:xfrm>
            <a:off x="320040" y="5528599"/>
            <a:ext cx="2889503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inverse_features_from_x(x)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91840" y="5498183"/>
            <a:ext cx="8641080" cy="263612"/>
          </a:xfrm>
          <a:prstGeom prst="rect">
            <a:avLst/>
          </a:prstGeom>
          <a:solidFill>
            <a:srgbClr val="F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2" name="TextBox 61"/>
          <p:cNvSpPr txBox="1"/>
          <p:nvPr/>
        </p:nvSpPr>
        <p:spPr>
          <a:xfrm>
            <a:off x="3355848" y="5528599"/>
            <a:ext cx="8513063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전역 기술자 22종: 3분위·4분위 평균, 중앙 구간, 무게중심, 1·2차 미분 통계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6032" y="5802349"/>
            <a:ext cx="3017520" cy="26361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4" name="TextBox 63"/>
          <p:cNvSpPr txBox="1"/>
          <p:nvPr/>
        </p:nvSpPr>
        <p:spPr>
          <a:xfrm>
            <a:off x="320040" y="5832767"/>
            <a:ext cx="2889503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dct_features_from_x(x,16)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91840" y="5802349"/>
            <a:ext cx="8641080" cy="263612"/>
          </a:xfrm>
          <a:prstGeom prst="rect">
            <a:avLst/>
          </a:prstGeom>
          <a:solidFill>
            <a:srgbClr val="F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6" name="TextBox 65"/>
          <p:cNvSpPr txBox="1"/>
          <p:nvPr/>
        </p:nvSpPr>
        <p:spPr>
          <a:xfrm>
            <a:off x="3355848" y="5832767"/>
            <a:ext cx="8513063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DCT 저주파 16계수 + d1 DCT 8계수  →  곡선 전체 형태의 주파수 표현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032" y="6106516"/>
            <a:ext cx="3017520" cy="26361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8" name="TextBox 67"/>
          <p:cNvSpPr txBox="1"/>
          <p:nvPr/>
        </p:nvSpPr>
        <p:spPr>
          <a:xfrm>
            <a:off x="320040" y="6136933"/>
            <a:ext cx="2889503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anatomy_zone_features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91840" y="6106516"/>
            <a:ext cx="8641080" cy="263612"/>
          </a:xfrm>
          <a:prstGeom prst="rect">
            <a:avLst/>
          </a:prstGeom>
          <a:solidFill>
            <a:srgbClr val="F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0" name="TextBox 69"/>
          <p:cNvSpPr txBox="1"/>
          <p:nvPr/>
        </p:nvSpPr>
        <p:spPr>
          <a:xfrm>
            <a:off x="3355848" y="6136933"/>
            <a:ext cx="8513063" cy="27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6구역(상복부1·2, 중복부1·2, 하복부, 골반) × 4종 곡선 × 8통계 + 구역간 비율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" y="6464808"/>
            <a:ext cx="11548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1A3A5C"/>
                </a:solidFill>
              </a:rPr>
              <a:t>apply_is_train</a:t>
            </a:r>
            <a:r>
              <a:rPr sz="1000" b="0" dirty="0">
                <a:solidFill>
                  <a:srgbClr val="1A3A5C"/>
                </a:solidFill>
              </a:rPr>
              <a:t>=True 시 </a:t>
            </a:r>
            <a:r>
              <a:rPr sz="1000" b="0" dirty="0" err="1">
                <a:solidFill>
                  <a:srgbClr val="1A3A5C"/>
                </a:solidFill>
              </a:rPr>
              <a:t>자기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자신을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이웃에서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제외</a:t>
            </a:r>
            <a:r>
              <a:rPr sz="1000" b="0" dirty="0">
                <a:solidFill>
                  <a:srgbClr val="1A3A5C"/>
                </a:solidFill>
              </a:rPr>
              <a:t> (OOF </a:t>
            </a:r>
            <a:r>
              <a:rPr sz="1000" b="0" dirty="0" err="1">
                <a:solidFill>
                  <a:srgbClr val="1A3A5C"/>
                </a:solidFill>
              </a:rPr>
              <a:t>자기참조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방지</a:t>
            </a:r>
            <a:r>
              <a:rPr sz="1000" b="0" dirty="0">
                <a:solidFill>
                  <a:srgbClr val="1A3A5C"/>
                </a:solidFill>
              </a:rPr>
              <a:t>)  |  </a:t>
            </a:r>
            <a:r>
              <a:rPr sz="1000" b="0" dirty="0" err="1">
                <a:solidFill>
                  <a:srgbClr val="1A3A5C"/>
                </a:solidFill>
              </a:rPr>
              <a:t>이웃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가중치</a:t>
            </a:r>
            <a:r>
              <a:rPr sz="1000" b="0" dirty="0">
                <a:solidFill>
                  <a:srgbClr val="1A3A5C"/>
                </a:solidFill>
              </a:rPr>
              <a:t>: exp(−</a:t>
            </a:r>
            <a:r>
              <a:rPr sz="1000" b="0" dirty="0" err="1">
                <a:solidFill>
                  <a:srgbClr val="1A3A5C"/>
                </a:solidFill>
              </a:rPr>
              <a:t>임상거리</a:t>
            </a:r>
            <a:r>
              <a:rPr sz="1000" b="0" dirty="0">
                <a:solidFill>
                  <a:srgbClr val="1A3A5C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" y="82296"/>
            <a:ext cx="11603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Model 3A / 3B  —  ElasticNet 보정 헤드 + 선택적 보정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84632"/>
            <a:ext cx="11603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Rule-Out Head (임상 양성→정상 여부)  /  Rule-In Head (임상 음성→LowSMI 여부)  |  correction_features()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886C389-C531-EE7E-A96A-0129142AB305}"/>
              </a:ext>
            </a:extLst>
          </p:cNvPr>
          <p:cNvGrpSpPr/>
          <p:nvPr/>
        </p:nvGrpSpPr>
        <p:grpSpPr>
          <a:xfrm>
            <a:off x="256032" y="905256"/>
            <a:ext cx="11676888" cy="5515119"/>
            <a:chOff x="256032" y="905256"/>
            <a:chExt cx="11676888" cy="4852653"/>
          </a:xfrm>
        </p:grpSpPr>
        <p:sp>
          <p:nvSpPr>
            <p:cNvPr id="6" name="Rectangle 5"/>
            <p:cNvSpPr/>
            <p:nvPr/>
          </p:nvSpPr>
          <p:spPr>
            <a:xfrm>
              <a:off x="256032" y="905256"/>
              <a:ext cx="11676888" cy="256032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932688"/>
              <a:ext cx="11548872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correction_features() 입력 (~17차원):  [Clinical Score]  [threshold]  [margin]  [|margin|]  [pred]  [age, sex, h, w]  +  [8-dim Contrastive Block]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6032" y="1252728"/>
              <a:ext cx="5696712" cy="256032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0040" y="1280160"/>
              <a:ext cx="5568696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Model 3A  —  Rule-Out Head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6032" y="1508760"/>
              <a:ext cx="5696712" cy="201168"/>
            </a:xfrm>
            <a:prstGeom prst="rect">
              <a:avLst/>
            </a:prstGeom>
            <a:solidFill>
              <a:srgbClr val="E8E0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0040" y="1511812"/>
              <a:ext cx="5568696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 err="1">
                  <a:solidFill>
                    <a:srgbClr val="4B3278"/>
                  </a:solidFill>
                </a:rPr>
                <a:t>임상</a:t>
              </a:r>
              <a:r>
                <a:rPr sz="1000" b="0" dirty="0">
                  <a:solidFill>
                    <a:srgbClr val="4B3278"/>
                  </a:solidFill>
                </a:rPr>
                <a:t> </a:t>
              </a:r>
              <a:r>
                <a:rPr sz="1000" b="0" dirty="0" err="1">
                  <a:solidFill>
                    <a:srgbClr val="4B3278"/>
                  </a:solidFill>
                </a:rPr>
                <a:t>양성</a:t>
              </a:r>
              <a:r>
                <a:rPr sz="1000" b="0" dirty="0">
                  <a:solidFill>
                    <a:srgbClr val="4B3278"/>
                  </a:solidFill>
                </a:rPr>
                <a:t>(pred=1) </a:t>
              </a:r>
              <a:r>
                <a:rPr sz="1000" b="0" dirty="0" err="1">
                  <a:solidFill>
                    <a:srgbClr val="4B3278"/>
                  </a:solidFill>
                </a:rPr>
                <a:t>환자만</a:t>
              </a:r>
              <a:r>
                <a:rPr sz="1000" b="0" dirty="0">
                  <a:solidFill>
                    <a:srgbClr val="4B3278"/>
                  </a:solidFill>
                </a:rPr>
                <a:t> </a:t>
              </a:r>
              <a:r>
                <a:rPr sz="1000" b="0" dirty="0" err="1">
                  <a:solidFill>
                    <a:srgbClr val="4B3278"/>
                  </a:solidFill>
                </a:rPr>
                <a:t>대상</a:t>
              </a:r>
              <a:endParaRPr sz="1000" b="0" dirty="0">
                <a:solidFill>
                  <a:srgbClr val="4B3278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032" y="1709928"/>
              <a:ext cx="1371600" cy="237744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40" y="1737360"/>
              <a:ext cx="1243584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훈련 샘플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645920" y="1709928"/>
              <a:ext cx="4306824" cy="237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09928" y="1737360"/>
              <a:ext cx="4178808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x_train[clinical_pred == True]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56032" y="1984248"/>
              <a:ext cx="1371600" cy="237744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" y="2011679"/>
              <a:ext cx="1243584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라벨 정의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645920" y="1984248"/>
              <a:ext cx="4306824" cy="237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09928" y="2011679"/>
              <a:ext cx="4178808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y = (y_true[pos] == 0)  →  실제 정상이면 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56032" y="2258568"/>
              <a:ext cx="1371600" cy="237744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0040" y="2285999"/>
              <a:ext cx="1243584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해석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645920" y="2258568"/>
              <a:ext cx="4306824" cy="237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09928" y="2285999"/>
              <a:ext cx="4178808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P(rule_out)↑  →  '이 양성 예측은 틀렸을 가능성 높음'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163056" y="1252728"/>
              <a:ext cx="5696712" cy="256032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227064" y="1280160"/>
              <a:ext cx="5568696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Model 3B  —  Rule-In Head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163056" y="1508760"/>
              <a:ext cx="5696712" cy="201168"/>
            </a:xfrm>
            <a:prstGeom prst="rect">
              <a:avLst/>
            </a:prstGeom>
            <a:solidFill>
              <a:srgbClr val="E8E0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227064" y="1511812"/>
              <a:ext cx="5568696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4B3278"/>
                  </a:solidFill>
                </a:rPr>
                <a:t>임상 음성(pred=0) 환자만 대상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163056" y="1709928"/>
              <a:ext cx="1371600" cy="237744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227064" y="1737360"/>
              <a:ext cx="1243584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훈련 샘플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552944" y="1709928"/>
              <a:ext cx="4306824" cy="237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616952" y="1737360"/>
              <a:ext cx="4178808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x_train[clinical_pred == False]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163056" y="1984248"/>
              <a:ext cx="1371600" cy="237744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227064" y="2011679"/>
              <a:ext cx="1243584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라벨 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552944" y="1984248"/>
              <a:ext cx="4306824" cy="237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616952" y="2011679"/>
              <a:ext cx="4178808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y = (y_true[neg] == 1)  →  실제 LowSMI이면 1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63056" y="2258568"/>
              <a:ext cx="1371600" cy="237744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227064" y="2285999"/>
              <a:ext cx="1243584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해석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552944" y="2258568"/>
              <a:ext cx="4306824" cy="237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616952" y="2285999"/>
              <a:ext cx="4178808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P(rule_in)↑  →  '이 음성 예측은 틀렸을 가능성 높음'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56032" y="2587752"/>
              <a:ext cx="11676888" cy="256032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20040" y="2615184"/>
              <a:ext cx="11548872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공통 Pipeline 구조  —  make_correction_model()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56032" y="2916936"/>
              <a:ext cx="2103120" cy="256032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20040" y="2944368"/>
              <a:ext cx="197510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SimpleImputer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377440" y="2916936"/>
              <a:ext cx="9555480" cy="25603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441448" y="2944368"/>
              <a:ext cx="942746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strategy=median  →  NaN 처리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56032" y="3227832"/>
              <a:ext cx="2103120" cy="256032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0040" y="3255263"/>
              <a:ext cx="197510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StandardScaler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377440" y="3227832"/>
              <a:ext cx="9555480" cy="25603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441448" y="3255263"/>
              <a:ext cx="942746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훈련 fold 통계로 정규화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56032" y="3538727"/>
              <a:ext cx="2103120" cy="256032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20040" y="3566159"/>
              <a:ext cx="197510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SelectKBest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377440" y="3538727"/>
              <a:ext cx="9555480" cy="25603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441448" y="3566159"/>
              <a:ext cx="942746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f_classif (ANOVA F), k=min(160, n_features)  →  통계 유의 피처만 선택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56032" y="3849624"/>
              <a:ext cx="2103120" cy="384048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20040" y="3877056"/>
              <a:ext cx="197510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ElasticNet LogReg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377440" y="3849624"/>
              <a:ext cx="9555480" cy="38404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441448" y="3877056"/>
              <a:ext cx="9427463" cy="3520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penalty=elasticnet  |  l1_ratio=0.25  |  C=0.4  |  solver=saga  |  max_iter=8000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class_weight=balanced  |  L1+L2 혼합: 불필요 피처 0 제거 + 과적합 방지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56032" y="4361688"/>
              <a:ext cx="11676888" cy="256032"/>
            </a:xfrm>
            <a:prstGeom prst="rect">
              <a:avLst/>
            </a:prstGeom>
            <a:solidFill>
              <a:srgbClr val="1FA8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20040" y="4389120"/>
              <a:ext cx="11548872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apply_selective()  —  최종 판정 규칙 (학습 없음, if-else)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56032" y="4690872"/>
              <a:ext cx="2103120" cy="237744"/>
            </a:xfrm>
            <a:prstGeom prst="rect">
              <a:avLst/>
            </a:prstGeom>
            <a:solidFill>
              <a:srgbClr val="1FA8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20040" y="4718304"/>
              <a:ext cx="197510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gray-zone 정의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377440" y="4690872"/>
              <a:ext cx="9555480" cy="237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441448" y="4718304"/>
              <a:ext cx="942746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|clinical_score − threshold| ≤ margin_gate  →  '경계선 환자' 표시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56032" y="4965192"/>
              <a:ext cx="2103120" cy="237744"/>
            </a:xfrm>
            <a:prstGeom prst="rect">
              <a:avLst/>
            </a:prstGeom>
            <a:solidFill>
              <a:srgbClr val="1FA8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20040" y="4992624"/>
              <a:ext cx="197510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Rule-Out 조건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377440" y="4965192"/>
              <a:ext cx="9555480" cy="237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441448" y="4992624"/>
              <a:ext cx="942746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gray-zone AND clinical_pred=True AND ruleout_score ≥ ruleout_thr  →  pred=False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56032" y="5239512"/>
              <a:ext cx="2103120" cy="237744"/>
            </a:xfrm>
            <a:prstGeom prst="rect">
              <a:avLst/>
            </a:prstGeom>
            <a:solidFill>
              <a:srgbClr val="1FA8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20040" y="5266944"/>
              <a:ext cx="197510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Rule-In 조건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77440" y="5239512"/>
              <a:ext cx="9555480" cy="237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441448" y="5266944"/>
              <a:ext cx="942746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gray-zone AND clinical_pred=False AND rulein_score ≥ rulein_thr  →  pred=True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56032" y="5513831"/>
              <a:ext cx="2103120" cy="237744"/>
            </a:xfrm>
            <a:prstGeom prst="rect">
              <a:avLst/>
            </a:prstGeom>
            <a:solidFill>
              <a:srgbClr val="1FA8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20040" y="5541264"/>
              <a:ext cx="197510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나머지 환자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377440" y="5513831"/>
              <a:ext cx="9555480" cy="237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441448" y="5541264"/>
              <a:ext cx="9427463" cy="21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gray-zone 밖 또는 보정 조건 미충족  →  clinical_pred 그대로 유지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320040" y="6495472"/>
            <a:ext cx="11548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</a:rPr>
              <a:t>fit_or_dummy(): 보정 대상 클래스가 1개뿐인 fold → DummyClassifier로 대체  |  McNemar 정확 검정으로 개선 유의성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" y="82296"/>
            <a:ext cx="11603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중첩 교차검증 + 외부 검증 구조  —  Data Leakage 방지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84632"/>
            <a:ext cx="11603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외부 5-fold CV (강남) + 내부 4-fold (보정 라벨 생성) + 신촌 잠금 적용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955B061-CE4E-FFFA-F2D7-FD331C536855}"/>
              </a:ext>
            </a:extLst>
          </p:cNvPr>
          <p:cNvGrpSpPr/>
          <p:nvPr/>
        </p:nvGrpSpPr>
        <p:grpSpPr>
          <a:xfrm>
            <a:off x="256032" y="905256"/>
            <a:ext cx="11676888" cy="5281429"/>
            <a:chOff x="256032" y="905256"/>
            <a:chExt cx="11676888" cy="4239890"/>
          </a:xfrm>
        </p:grpSpPr>
        <p:sp>
          <p:nvSpPr>
            <p:cNvPr id="6" name="Rectangle 5"/>
            <p:cNvSpPr/>
            <p:nvPr/>
          </p:nvSpPr>
          <p:spPr>
            <a:xfrm>
              <a:off x="256032" y="905256"/>
              <a:ext cx="6492240" cy="256032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932688"/>
              <a:ext cx="6364224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강남 내부  —  중첩 교차검증 구조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6032" y="1252728"/>
              <a:ext cx="6492240" cy="256032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0040" y="1280160"/>
              <a:ext cx="6364224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외부 5-fold  (StratifiedKFold, SEED=20260622)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6032" y="1600200"/>
              <a:ext cx="4206240" cy="256032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0040" y="1627632"/>
              <a:ext cx="4078224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외부 훈련셋 (80%)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572000" y="1600200"/>
              <a:ext cx="2176272" cy="256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36008" y="1627632"/>
              <a:ext cx="2048255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외부 테스트셋 (20%)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6032" y="1947672"/>
              <a:ext cx="4206240" cy="237744"/>
            </a:xfrm>
            <a:prstGeom prst="rect">
              <a:avLst/>
            </a:prstGeom>
            <a:solidFill>
              <a:srgbClr val="E8E0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" y="1975103"/>
              <a:ext cx="4078224" cy="197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4B3278"/>
                  </a:solidFill>
                </a:rPr>
                <a:t>내부 4-fold  (inner_clinical_predictions_for_training)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56032" y="2185416"/>
              <a:ext cx="4206240" cy="585216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" y="2212848"/>
              <a:ext cx="4078224" cy="4447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목적: 보정 모델(3A/3B) 훈련 라벨을 만들기 위한 임상 OOF 점수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외부 훈련셋 내에서 임상 점수를 out-of-fold 방식으로 생성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→ 같은 환자의 in-sample 예측을 라벨로 쓰지 않음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032" y="2862072"/>
              <a:ext cx="4206240" cy="256032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0040" y="2889503"/>
              <a:ext cx="4078224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보정 모델 3A/3B 훈련  (내부 OOF 임상점수로 라벨 생성)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56032" y="3118104"/>
              <a:ext cx="4206240" cy="2926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0040" y="3145536"/>
              <a:ext cx="4078224" cy="321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→ 외부 테스트셋에 RuleOut/RuleIn Score 예측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→ Selective Correction 적용 → 최종 예측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0" y="1947672"/>
              <a:ext cx="2176272" cy="14630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36008" y="1975103"/>
              <a:ext cx="2048255" cy="1309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외부 테스트셋:</a:t>
              </a:r>
            </a:p>
            <a:p>
              <a:pPr algn="l"/>
              <a:endParaRPr sz="1000" b="0">
                <a:solidFill>
                  <a:srgbClr val="000000"/>
                </a:solidFill>
              </a:endParaRP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① 임상 OOF 점수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   (외부 훈련셋 fit)</a:t>
              </a:r>
            </a:p>
            <a:p>
              <a:pPr algn="l"/>
              <a:endParaRPr sz="1000" b="0">
                <a:solidFill>
                  <a:srgbClr val="000000"/>
                </a:solidFill>
              </a:endParaRP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② RuleOut/RuleIn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   Score 예측</a:t>
              </a:r>
            </a:p>
            <a:p>
              <a:pPr algn="l"/>
              <a:endParaRPr sz="1000" b="0">
                <a:solidFill>
                  <a:srgbClr val="000000"/>
                </a:solidFill>
              </a:endParaRP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③ 성능 집계 후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   OOF 전체 누적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56032" y="3502152"/>
              <a:ext cx="6492240" cy="256032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0040" y="3529584"/>
              <a:ext cx="6364224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FFFFFF"/>
                  </a:solidFill>
                </a:rPr>
                <a:t>위 과정을 5개 fold 반복 → 전체 강남 환자 OOF 점수 완성 (internal CV 결과)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949440" y="905256"/>
              <a:ext cx="4983480" cy="256032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13448" y="932688"/>
              <a:ext cx="4855464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신촌 외부 검증  —  잠금 적용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949440" y="1252728"/>
              <a:ext cx="4983480" cy="219456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013448" y="1280160"/>
              <a:ext cx="4855464" cy="197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강남 전체로 임상 모델 훈련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949440" y="1472184"/>
              <a:ext cx="4983480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013448" y="1499616"/>
              <a:ext cx="4855464" cy="321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clinical_full_train_external(dev, ext)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모든 강남 환자로 fit → Youden threshold 계산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949440" y="1911095"/>
              <a:ext cx="4983480" cy="219456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013448" y="1938527"/>
              <a:ext cx="4855464" cy="197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Contrastive Block 계산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949440" y="2130552"/>
              <a:ext cx="4983480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013448" y="2157984"/>
              <a:ext cx="4855464" cy="321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build_contrastive_blocks(강남 train, 신촌 apply)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강남 서명 공간 기준으로 신촌 대조 점수 계산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949440" y="2569463"/>
              <a:ext cx="4983480" cy="219456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013448" y="2596895"/>
              <a:ext cx="4855464" cy="197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보정 모델 훈련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949440" y="2788920"/>
              <a:ext cx="4983480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13448" y="2816351"/>
              <a:ext cx="4855464" cy="321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강남 OOF 임상점수(5-fold)로 라벨 생성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→ 3A/3B fit → 신촌에 RuleOut/RuleIn 예측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949440" y="3227831"/>
              <a:ext cx="4983480" cy="219456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13448" y="3255263"/>
              <a:ext cx="4855464" cy="197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잠금 threshold 적용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949440" y="3447287"/>
              <a:ext cx="4983480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013448" y="3474719"/>
              <a:ext cx="4855464" cy="321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강남 내부 CV에서 선택한 ro_thr/ri_thr/margin_gate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→ 신촌 결과를 보고 절대 수정하지 않음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949440" y="3941063"/>
              <a:ext cx="4983480" cy="237744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013448" y="3968495"/>
              <a:ext cx="4855464" cy="197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threshold 선택 기준 (강남 내부 CV에서만)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949440" y="4178807"/>
              <a:ext cx="4983480" cy="932688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013448" y="4206240"/>
              <a:ext cx="4855464" cy="938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</a:rPr>
                <a:t>sweep_thresholds(): ro_grid × ri_grid × margin_gate 수천 조합 탐색</a:t>
              </a:r>
            </a:p>
            <a:p>
              <a:pPr algn="l"/>
              <a:endParaRPr sz="1000" b="0">
                <a:solidFill>
                  <a:srgbClr val="000000"/>
                </a:solidFill>
              </a:endParaRP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선택 기준 — no_sens_drop 규칙: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  • SpecificityDiff &gt; 0  AND  Specificity_p &lt; 0.05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  • AccuracyDiff &gt; 0     AND  Accuracy_p &lt; 0.05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  • SensitivityDiff &gt;= 0  (민감도 하락 금지)</a:t>
              </a:r>
            </a:p>
            <a:p>
              <a:pPr algn="l"/>
              <a:r>
                <a:rPr sz="1000" b="0">
                  <a:solidFill>
                    <a:srgbClr val="000000"/>
                  </a:solidFill>
                </a:rPr>
                <a:t>→ 위 조건 중 NetCorrected 최대인 조합 선택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320040" y="6440055"/>
            <a:ext cx="11548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</a:rPr>
              <a:t>no_sens_drop 규칙: 민감도를 희생하지 않으면서 특이도·정확도가 유의하게 개선되는 threshold만 선택  |  McNemar 정확 검정 사용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" y="82296"/>
            <a:ext cx="11603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아키텍처 도식  |  Cross-Attention  (ClinAECCrossAttn M2)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84632"/>
            <a:ext cx="11603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ScalarFeatureTokenizer + ResNet1DEncoder + Bidirectional Cross-Attention + MLP Head  |  PyTorch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49B694C-7A4F-B5B6-098F-3DB8699419CD}"/>
              </a:ext>
            </a:extLst>
          </p:cNvPr>
          <p:cNvGrpSpPr/>
          <p:nvPr/>
        </p:nvGrpSpPr>
        <p:grpSpPr>
          <a:xfrm>
            <a:off x="256032" y="905256"/>
            <a:ext cx="11676888" cy="5184648"/>
            <a:chOff x="256032" y="905256"/>
            <a:chExt cx="11676888" cy="4059936"/>
          </a:xfrm>
        </p:grpSpPr>
        <p:sp>
          <p:nvSpPr>
            <p:cNvPr id="6" name="Rectangle 5"/>
            <p:cNvSpPr/>
            <p:nvPr/>
          </p:nvSpPr>
          <p:spPr>
            <a:xfrm>
              <a:off x="256032" y="905256"/>
              <a:ext cx="3383280" cy="292608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932688"/>
              <a:ext cx="3255264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Clinical  (B, n_clin: age/sex/h/w)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840480" y="905256"/>
              <a:ext cx="3730752" cy="292608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4488" y="932688"/>
              <a:ext cx="3602736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AEC  (B, 128)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47088" y="1243584"/>
              <a:ext cx="201167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E75B6"/>
                  </a:solidFill>
                </a:rPr>
                <a:t>▼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05272" y="1243584"/>
              <a:ext cx="201167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E75B6"/>
                  </a:solidFill>
                </a:rPr>
                <a:t>▼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032" y="1435608"/>
              <a:ext cx="3383280" cy="457200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40" y="1463040"/>
              <a:ext cx="3255264" cy="4338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</a:rPr>
                <a:t>ScalarFeatureTokenizer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→ (B, n_clin, d_model)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각 피처별 독립 Linear + Feature Embedding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40480" y="1435608"/>
              <a:ext cx="3730752" cy="457200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04488" y="1463040"/>
              <a:ext cx="3602736" cy="4338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</a:rPr>
                <a:t>ResNet1DEncoder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→ (B, 32, d_model)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Conv1d stem + ResBlock1D × N + AdaptiveAvgPool1d(32)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47088" y="1938527"/>
              <a:ext cx="201167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E75B6"/>
                  </a:solidFill>
                </a:rPr>
                <a:t>▼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05272" y="1938527"/>
              <a:ext cx="201167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E75B6"/>
                  </a:solidFill>
                </a:rPr>
                <a:t>▼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032" y="2130552"/>
              <a:ext cx="7315200" cy="749808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0040" y="2157984"/>
              <a:ext cx="7187184" cy="5543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</a:rPr>
                <a:t>Bidirectional Cross-Attention  ×  N_CA_LAYERS  (Pre-norm)</a:t>
              </a:r>
            </a:p>
            <a:p>
              <a:pPr algn="l"/>
              <a:endParaRPr sz="1000" b="0">
                <a:solidFill>
                  <a:srgbClr val="FFFFFF"/>
                </a:solidFill>
              </a:endParaRP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c_tokens = CrossAttn( Q=clinic_tokens,  K=aec_tokens,  V=aec_tokens )   →  clinic이 AEC에서 정보 수집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a_tokens = CrossAttn( Q=aec_tokens,     K=clinic_tokens, V=clinic_tokens )  →  AEC가 Clinic에서 정보 수집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47088" y="2926079"/>
              <a:ext cx="201167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E75B6"/>
                  </a:solidFill>
                </a:rPr>
                <a:t>▼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605272" y="2926079"/>
              <a:ext cx="201167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E75B6"/>
                  </a:solidFill>
                </a:rPr>
                <a:t>▼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56032" y="3118104"/>
              <a:ext cx="3383280" cy="256032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0040" y="3145536"/>
              <a:ext cx="3255264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FFFFFF"/>
                  </a:solidFill>
                </a:rPr>
                <a:t>c_fused.mean(dim=1)  →  (B, d_model)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840480" y="3118104"/>
              <a:ext cx="3730752" cy="256032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04488" y="3145536"/>
              <a:ext cx="3602736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FFFFFF"/>
                  </a:solidFill>
                </a:rPr>
                <a:t>a_fused.mean(dim=1)  →  (B, d_model)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685031" y="3419856"/>
              <a:ext cx="201167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E75B6"/>
                  </a:solidFill>
                </a:rPr>
                <a:t>▼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56032" y="3611880"/>
              <a:ext cx="7315200" cy="256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0040" y="3639312"/>
              <a:ext cx="7187184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Concat  →  (B, d_model × 2)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13048" y="3913632"/>
              <a:ext cx="201167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E75B6"/>
                  </a:solidFill>
                </a:rPr>
                <a:t>▼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56032" y="4105656"/>
              <a:ext cx="7315200" cy="365760"/>
            </a:xfrm>
            <a:prstGeom prst="rect">
              <a:avLst/>
            </a:prstGeom>
            <a:solidFill>
              <a:srgbClr val="1FA8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20040" y="4133088"/>
              <a:ext cx="7187184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MLP Head:  Linear(d×2 → 128)  →  ReLU  →  Dropout(0.1)  →  Linear(128 → 1)  →  logit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813048" y="4517136"/>
              <a:ext cx="201167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1FA86C"/>
                  </a:solidFill>
                </a:rPr>
                <a:t>▼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56032" y="4709160"/>
              <a:ext cx="7315200" cy="256032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20040" y="4736592"/>
              <a:ext cx="7187184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OUTPUT:  Sigmoid(logit)  =  P(LowSMI)  |  Loss: FocalLossWithLogits(gamma, pos_weight)  |  Adam W + CosineAnnealingLR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772400" y="905256"/>
              <a:ext cx="4160520" cy="256032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836408" y="932688"/>
              <a:ext cx="4032504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핵심 설계 특징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772400" y="1252728"/>
              <a:ext cx="4160520" cy="219456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836408" y="1280160"/>
              <a:ext cx="4032504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양방향 상호작용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772400" y="1472184"/>
              <a:ext cx="4160520" cy="475488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836408" y="1499616"/>
              <a:ext cx="4032504" cy="3133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 err="1">
                  <a:solidFill>
                    <a:srgbClr val="000000"/>
                  </a:solidFill>
                </a:rPr>
                <a:t>Clinic↔AEC가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서로를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참조</a:t>
              </a:r>
              <a:endParaRPr sz="1000" b="0" dirty="0">
                <a:solidFill>
                  <a:srgbClr val="000000"/>
                </a:solidFill>
              </a:endParaRPr>
            </a:p>
            <a:p>
              <a:pPr algn="l"/>
              <a:r>
                <a:rPr sz="1000" b="0" dirty="0">
                  <a:solidFill>
                    <a:srgbClr val="000000"/>
                  </a:solidFill>
                </a:rPr>
                <a:t>각 </a:t>
              </a:r>
              <a:r>
                <a:rPr sz="1000" b="0" dirty="0" err="1">
                  <a:solidFill>
                    <a:srgbClr val="000000"/>
                  </a:solidFill>
                </a:rPr>
                <a:t>임상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피처가</a:t>
              </a:r>
              <a:r>
                <a:rPr sz="1000" b="0" dirty="0">
                  <a:solidFill>
                    <a:srgbClr val="000000"/>
                  </a:solidFill>
                </a:rPr>
                <a:t> AEC </a:t>
              </a:r>
              <a:r>
                <a:rPr sz="1000" b="0" dirty="0" err="1">
                  <a:solidFill>
                    <a:srgbClr val="000000"/>
                  </a:solidFill>
                </a:rPr>
                <a:t>어느</a:t>
              </a:r>
              <a:r>
                <a:rPr lang="en-US"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구간에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주목하는지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학습</a:t>
              </a:r>
              <a:endParaRPr sz="1000" b="0" dirty="0">
                <a:solidFill>
                  <a:srgbClr val="000000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772400" y="2020824"/>
              <a:ext cx="4160520" cy="219456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836408" y="2048255"/>
              <a:ext cx="4032504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Pre-norm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772400" y="2240280"/>
              <a:ext cx="4160520" cy="475488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836408" y="2267712"/>
              <a:ext cx="4032504" cy="3133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 err="1">
                  <a:solidFill>
                    <a:srgbClr val="000000"/>
                  </a:solidFill>
                </a:rPr>
                <a:t>LayerNorm</a:t>
              </a:r>
              <a:r>
                <a:rPr sz="1000" b="0" dirty="0">
                  <a:solidFill>
                    <a:srgbClr val="000000"/>
                  </a:solidFill>
                </a:rPr>
                <a:t> → Attention</a:t>
              </a:r>
              <a:endParaRPr lang="en-US" sz="1000" dirty="0">
                <a:solidFill>
                  <a:srgbClr val="000000"/>
                </a:solidFill>
              </a:endParaRPr>
            </a:p>
            <a:p>
              <a:pPr algn="l"/>
              <a:r>
                <a:rPr sz="1000" b="0" dirty="0" err="1">
                  <a:solidFill>
                    <a:srgbClr val="000000"/>
                  </a:solidFill>
                </a:rPr>
                <a:t>학습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안정성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향상</a:t>
              </a:r>
              <a:endParaRPr sz="1000" b="0" dirty="0">
                <a:solidFill>
                  <a:srgbClr val="000000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772400" y="2788920"/>
              <a:ext cx="4160520" cy="219456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836408" y="2816351"/>
              <a:ext cx="4032504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ScalarTokenizer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772400" y="3008376"/>
              <a:ext cx="4160520" cy="475488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36408" y="3035808"/>
              <a:ext cx="4032504" cy="3133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</a:rPr>
                <a:t>각 </a:t>
              </a:r>
              <a:r>
                <a:rPr sz="1000" b="0" dirty="0" err="1">
                  <a:solidFill>
                    <a:srgbClr val="000000"/>
                  </a:solidFill>
                </a:rPr>
                <a:t>피처에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독립</a:t>
              </a:r>
              <a:r>
                <a:rPr sz="1000" b="0" dirty="0">
                  <a:solidFill>
                    <a:srgbClr val="000000"/>
                  </a:solidFill>
                </a:rPr>
                <a:t> Linear +</a:t>
              </a:r>
              <a:r>
                <a:rPr lang="en-US"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위치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임베딩</a:t>
              </a:r>
              <a:endParaRPr lang="en-US" sz="1000" dirty="0">
                <a:solidFill>
                  <a:srgbClr val="000000"/>
                </a:solidFill>
              </a:endParaRPr>
            </a:p>
            <a:p>
              <a:pPr algn="l"/>
              <a:r>
                <a:rPr sz="1000" b="0" dirty="0" err="1">
                  <a:solidFill>
                    <a:srgbClr val="000000"/>
                  </a:solidFill>
                </a:rPr>
                <a:t>피처별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특성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보존</a:t>
              </a:r>
              <a:endParaRPr sz="1000" b="0" dirty="0">
                <a:solidFill>
                  <a:srgbClr val="00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772400" y="3557015"/>
              <a:ext cx="4160520" cy="219456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836408" y="3584447"/>
              <a:ext cx="4032504" cy="19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</a:rPr>
                <a:t>ResNet1DEncoder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772400" y="3776472"/>
              <a:ext cx="4160520" cy="475488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836408" y="3803904"/>
              <a:ext cx="4032504" cy="4338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</a:rPr>
                <a:t>Conv1d stem + skip connection</a:t>
              </a:r>
              <a:r>
                <a:rPr lang="en-US"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>
                  <a:solidFill>
                    <a:srgbClr val="000000"/>
                  </a:solidFill>
                </a:rPr>
                <a:t>AEC</a:t>
              </a:r>
              <a:endParaRPr lang="en-US" sz="1000" b="0" dirty="0">
                <a:solidFill>
                  <a:srgbClr val="000000"/>
                </a:solidFill>
              </a:endParaRPr>
            </a:p>
            <a:p>
              <a:pPr algn="l"/>
              <a:r>
                <a:rPr sz="1000" b="0" dirty="0" err="1">
                  <a:solidFill>
                    <a:srgbClr val="000000"/>
                  </a:solidFill>
                </a:rPr>
                <a:t>국소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패턴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추출</a:t>
              </a:r>
              <a:endParaRPr sz="1000" b="0" dirty="0">
                <a:solidFill>
                  <a:srgbClr val="000000"/>
                </a:solidFill>
              </a:endParaRPr>
            </a:p>
            <a:p>
              <a:pPr algn="l"/>
              <a:r>
                <a:rPr sz="1000" b="0" dirty="0">
                  <a:solidFill>
                    <a:srgbClr val="000000"/>
                  </a:solidFill>
                </a:rPr>
                <a:t>32 </a:t>
              </a:r>
              <a:r>
                <a:rPr sz="1000" b="0" dirty="0" err="1">
                  <a:solidFill>
                    <a:srgbClr val="000000"/>
                  </a:solidFill>
                </a:rPr>
                <a:t>토큰으로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풀링</a:t>
              </a:r>
              <a:endParaRPr sz="1000" b="0" dirty="0">
                <a:solidFill>
                  <a:srgbClr val="000000"/>
                </a:solidFill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772400" y="4379975"/>
              <a:ext cx="4160520" cy="58521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836408" y="4407407"/>
              <a:ext cx="4032504" cy="5543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</a:rPr>
                <a:t>M3(ClinAECScanCrossAttn):</a:t>
              </a:r>
            </a:p>
            <a:p>
              <a:pPr algn="l"/>
              <a:r>
                <a:rPr sz="1000" b="0">
                  <a:solidFill>
                    <a:srgbClr val="595959"/>
                  </a:solidFill>
                </a:rPr>
                <a:t>M2에 MfrTokenizer(Scanner one-hot)</a:t>
              </a:r>
            </a:p>
            <a:p>
              <a:pPr algn="l"/>
              <a:r>
                <a:rPr sz="1000" b="0">
                  <a:solidFill>
                    <a:srgbClr val="595959"/>
                  </a:solidFill>
                </a:rPr>
                <a:t>추가 → clinic/scanner 토큰 concat</a:t>
              </a:r>
            </a:p>
            <a:p>
              <a:pPr algn="l"/>
              <a:r>
                <a:rPr sz="1000" b="0">
                  <a:solidFill>
                    <a:srgbClr val="595959"/>
                  </a:solidFill>
                </a:rPr>
                <a:t>→ Step5에서 제거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320040" y="6291441"/>
            <a:ext cx="11548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</a:rPr>
              <a:t>M2 제거 이유: Step5에서 Scanner는 예측 변수가 아닌 Propensity 매칭 변수로 역할 재정의  →  M3 불필요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" y="82296"/>
            <a:ext cx="11603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아키텍처 도식  |  Late Fusion  (ClinAECLateFusion M2_LF)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84632"/>
            <a:ext cx="11603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Cross-Attention 없이 각 모달리티 독립 인코딩 후 concat만  |  커밋 85e98357 추가 → 63545902 제거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50E3E5D5-BF70-BBBE-7F55-6399955E0D55}"/>
              </a:ext>
            </a:extLst>
          </p:cNvPr>
          <p:cNvGrpSpPr/>
          <p:nvPr/>
        </p:nvGrpSpPr>
        <p:grpSpPr>
          <a:xfrm>
            <a:off x="256032" y="905256"/>
            <a:ext cx="11676888" cy="4992624"/>
            <a:chOff x="256032" y="905256"/>
            <a:chExt cx="11676888" cy="3474720"/>
          </a:xfrm>
        </p:grpSpPr>
        <p:sp>
          <p:nvSpPr>
            <p:cNvPr id="6" name="Rectangle 5"/>
            <p:cNvSpPr/>
            <p:nvPr/>
          </p:nvSpPr>
          <p:spPr>
            <a:xfrm>
              <a:off x="256032" y="905256"/>
              <a:ext cx="3383280" cy="292608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932688"/>
              <a:ext cx="325526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Clinical  (B, n_clin: age/sex/h/w)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840480" y="905256"/>
              <a:ext cx="3730752" cy="292608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4488" y="932688"/>
              <a:ext cx="3602736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AEC  (B, 128)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47088" y="1243584"/>
              <a:ext cx="201167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C55A11"/>
                  </a:solidFill>
                </a:rPr>
                <a:t>▼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05272" y="1243584"/>
              <a:ext cx="201167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C55A11"/>
                  </a:solidFill>
                </a:rPr>
                <a:t>▼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032" y="1435608"/>
              <a:ext cx="3383280" cy="457200"/>
            </a:xfrm>
            <a:prstGeom prst="rect">
              <a:avLst/>
            </a:prstGeom>
            <a:solidFill>
              <a:srgbClr val="E080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40" y="1463040"/>
              <a:ext cx="3255264" cy="385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</a:rPr>
                <a:t>ScalarFeatureTokenizer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→ (B, n_clin, d_model)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(M2와 동일한 구조)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40480" y="1435608"/>
              <a:ext cx="3730752" cy="457200"/>
            </a:xfrm>
            <a:prstGeom prst="rect">
              <a:avLst/>
            </a:prstGeom>
            <a:solidFill>
              <a:srgbClr val="E080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04488" y="1463040"/>
              <a:ext cx="3602736" cy="385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</a:rPr>
                <a:t>ResNet1DEncoder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→ (B, 32, d_model)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(M2와 동일한 구조)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47088" y="1938527"/>
              <a:ext cx="201167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C55A11"/>
                  </a:solidFill>
                </a:rPr>
                <a:t>▼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05272" y="1938527"/>
              <a:ext cx="201167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C55A11"/>
                  </a:solidFill>
                </a:rPr>
                <a:t>▼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032" y="2130552"/>
              <a:ext cx="3383280" cy="256032"/>
            </a:xfrm>
            <a:prstGeom prst="rect">
              <a:avLst/>
            </a:prstGeom>
            <a:solidFill>
              <a:srgbClr val="E080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0040" y="2157984"/>
              <a:ext cx="325526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FFFFFF"/>
                  </a:solidFill>
                </a:rPr>
                <a:t>mean(dim=1)  →  (B, d_model)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840480" y="2130552"/>
              <a:ext cx="3730752" cy="256032"/>
            </a:xfrm>
            <a:prstGeom prst="rect">
              <a:avLst/>
            </a:prstGeom>
            <a:solidFill>
              <a:srgbClr val="E080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04488" y="2157984"/>
              <a:ext cx="3602736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FFFFFF"/>
                  </a:solidFill>
                </a:rPr>
                <a:t>mean(dim=1)  →  (B, d_model)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56032" y="2496312"/>
              <a:ext cx="7315200" cy="292608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0040" y="2523744"/>
              <a:ext cx="718718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★  Cross-Attention 없음  —  두 표현이 서로를 전혀 참조하지 않은 채 바로 concat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13048" y="2834639"/>
              <a:ext cx="201167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C55A11"/>
                  </a:solidFill>
                </a:rPr>
                <a:t>▼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56032" y="3026664"/>
              <a:ext cx="7315200" cy="256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20040" y="3054096"/>
              <a:ext cx="718718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Concat  →  (B, d_model × 2)    (모달리티 상호작용 없음)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13048" y="3328415"/>
              <a:ext cx="201167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C55A11"/>
                  </a:solidFill>
                </a:rPr>
                <a:t>▼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56032" y="3520440"/>
              <a:ext cx="7315200" cy="365760"/>
            </a:xfrm>
            <a:prstGeom prst="rect">
              <a:avLst/>
            </a:prstGeom>
            <a:solidFill>
              <a:srgbClr val="1FA8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0040" y="3547872"/>
              <a:ext cx="718718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MLP Head:  Linear(d×2 → 128)  →  ReLU  →  Dropout  →  Linear(128 → 1)  →  logit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813048" y="3931920"/>
              <a:ext cx="201167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1FA86C"/>
                  </a:solidFill>
                </a:rPr>
                <a:t>▼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56032" y="4123944"/>
              <a:ext cx="7315200" cy="256032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20040" y="4151376"/>
              <a:ext cx="718718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OUTPUT:  Sigmoid(logit)  =  P(LowSMI)  |  Loss: FocalLossWithLogits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772400" y="905256"/>
              <a:ext cx="4160520" cy="256032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836408" y="932688"/>
              <a:ext cx="403250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Cross-Attention vs Late Fusion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772400" y="1252728"/>
              <a:ext cx="1188720" cy="256032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836408" y="1280160"/>
              <a:ext cx="106070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항목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979408" y="1252728"/>
              <a:ext cx="1463040" cy="256032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043416" y="1280160"/>
              <a:ext cx="133502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Cross-Attention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460736" y="1252728"/>
              <a:ext cx="1463040" cy="256032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524744" y="1280160"/>
              <a:ext cx="133502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</a:rPr>
                <a:t>Late Fusion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772400" y="1527047"/>
              <a:ext cx="1188720" cy="37253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836408" y="1579714"/>
              <a:ext cx="1060704" cy="278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dirty="0" err="1">
                  <a:solidFill>
                    <a:srgbClr val="000000"/>
                  </a:solidFill>
                </a:rPr>
                <a:t>모달리티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상호작용</a:t>
              </a:r>
              <a:endParaRPr sz="1000" b="0" dirty="0">
                <a:solidFill>
                  <a:srgbClr val="000000"/>
                </a:solidFill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979408" y="1527048"/>
              <a:ext cx="1463040" cy="38404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43416" y="1587707"/>
              <a:ext cx="1335024" cy="278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dirty="0" err="1">
                  <a:solidFill>
                    <a:srgbClr val="000000"/>
                  </a:solidFill>
                </a:rPr>
                <a:t>명시적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학습</a:t>
              </a:r>
              <a:endParaRPr sz="1000" b="0" dirty="0">
                <a:solidFill>
                  <a:srgbClr val="000000"/>
                </a:solidFill>
              </a:endParaRPr>
            </a:p>
            <a:p>
              <a:pPr algn="ctr"/>
              <a:r>
                <a:rPr sz="1000" b="0" dirty="0">
                  <a:solidFill>
                    <a:srgbClr val="000000"/>
                  </a:solidFill>
                </a:rPr>
                <a:t>(</a:t>
              </a:r>
              <a:r>
                <a:rPr sz="1000" b="0" dirty="0" err="1">
                  <a:solidFill>
                    <a:srgbClr val="000000"/>
                  </a:solidFill>
                </a:rPr>
                <a:t>양방향</a:t>
              </a:r>
              <a:r>
                <a:rPr sz="1000" b="0" dirty="0">
                  <a:solidFill>
                    <a:srgbClr val="000000"/>
                  </a:solidFill>
                </a:rPr>
                <a:t> Attn)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460736" y="1527048"/>
              <a:ext cx="1463040" cy="38404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524744" y="1587707"/>
              <a:ext cx="1335024" cy="278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dirty="0" err="1">
                  <a:solidFill>
                    <a:srgbClr val="000000"/>
                  </a:solidFill>
                </a:rPr>
                <a:t>없음</a:t>
              </a:r>
              <a:endParaRPr sz="1000" b="0" dirty="0">
                <a:solidFill>
                  <a:srgbClr val="000000"/>
                </a:solidFill>
              </a:endParaRPr>
            </a:p>
            <a:p>
              <a:pPr algn="ctr"/>
              <a:r>
                <a:rPr sz="1000" b="0" dirty="0">
                  <a:solidFill>
                    <a:srgbClr val="000000"/>
                  </a:solidFill>
                </a:rPr>
                <a:t>(</a:t>
              </a:r>
              <a:r>
                <a:rPr sz="1000" b="0" dirty="0" err="1">
                  <a:solidFill>
                    <a:srgbClr val="000000"/>
                  </a:solidFill>
                </a:rPr>
                <a:t>독립</a:t>
              </a:r>
              <a:r>
                <a:rPr sz="1000" b="0" dirty="0">
                  <a:solidFill>
                    <a:srgbClr val="000000"/>
                  </a:solidFill>
                </a:rPr>
                <a:t> </a:t>
              </a:r>
              <a:r>
                <a:rPr sz="1000" b="0" dirty="0" err="1">
                  <a:solidFill>
                    <a:srgbClr val="000000"/>
                  </a:solidFill>
                </a:rPr>
                <a:t>처리</a:t>
              </a:r>
              <a:r>
                <a:rPr sz="1000" b="0" dirty="0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772400" y="1929384"/>
              <a:ext cx="1188720" cy="256032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36408" y="1956816"/>
              <a:ext cx="106070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AEC→Clinic 영향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979408" y="1929384"/>
              <a:ext cx="1463040" cy="256032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043416" y="1956816"/>
              <a:ext cx="133502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O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0460736" y="1929384"/>
              <a:ext cx="1463040" cy="256032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524744" y="1956816"/>
              <a:ext cx="133502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772400" y="2203704"/>
              <a:ext cx="1188720" cy="25603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836408" y="2231136"/>
              <a:ext cx="106070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Clinic→AEC 영향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979408" y="2203704"/>
              <a:ext cx="1463040" cy="25603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043416" y="2231136"/>
              <a:ext cx="133502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O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0460736" y="2203704"/>
              <a:ext cx="1463040" cy="25603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524744" y="2231136"/>
              <a:ext cx="133502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772400" y="2478024"/>
              <a:ext cx="1188720" cy="256032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836408" y="2505456"/>
              <a:ext cx="106070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파라미터 수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979408" y="2478024"/>
              <a:ext cx="1463040" cy="256032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043416" y="2505456"/>
              <a:ext cx="133502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많음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0460736" y="2478024"/>
              <a:ext cx="1463040" cy="256032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524744" y="2505456"/>
              <a:ext cx="133502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동일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772400" y="2752344"/>
              <a:ext cx="1188720" cy="25603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836408" y="2779775"/>
              <a:ext cx="106070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성능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979408" y="2752344"/>
              <a:ext cx="1463040" cy="25603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9043416" y="2779775"/>
              <a:ext cx="133502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우수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0460736" y="2752344"/>
              <a:ext cx="1463040" cy="25603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524744" y="2779775"/>
              <a:ext cx="1335024" cy="1713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00000"/>
                  </a:solidFill>
                </a:rPr>
                <a:t>열등 → 제거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7772400" y="3118103"/>
              <a:ext cx="4160520" cy="475488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836408" y="3145535"/>
              <a:ext cx="4032504" cy="4926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</a:rPr>
                <a:t>결론: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Late Fusion의 단순 concat은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Cross-Attention의 상호작용 학습을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대체 불가 → 성능 열등 → 전량 제거</a:t>
              </a: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320040" y="6172200"/>
            <a:ext cx="11548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1A3A5C"/>
                </a:solidFill>
              </a:rPr>
              <a:t>M3_LF(</a:t>
            </a:r>
            <a:r>
              <a:rPr sz="1000" b="0" dirty="0" err="1">
                <a:solidFill>
                  <a:srgbClr val="1A3A5C"/>
                </a:solidFill>
              </a:rPr>
              <a:t>ClinAECScanLateFusion</a:t>
            </a:r>
            <a:r>
              <a:rPr sz="1000" b="0" dirty="0">
                <a:solidFill>
                  <a:srgbClr val="1A3A5C"/>
                </a:solidFill>
              </a:rPr>
              <a:t>)는 M2_LF에 Scanner </a:t>
            </a:r>
            <a:r>
              <a:rPr sz="1000" b="0" dirty="0" err="1">
                <a:solidFill>
                  <a:srgbClr val="1A3A5C"/>
                </a:solidFill>
              </a:rPr>
              <a:t>토큰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추가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버전</a:t>
            </a:r>
            <a:r>
              <a:rPr sz="1000" b="0" dirty="0">
                <a:solidFill>
                  <a:srgbClr val="1A3A5C"/>
                </a:solidFill>
              </a:rPr>
              <a:t>  |  두 </a:t>
            </a:r>
            <a:r>
              <a:rPr sz="1000" b="0" dirty="0" err="1">
                <a:solidFill>
                  <a:srgbClr val="1A3A5C"/>
                </a:solidFill>
              </a:rPr>
              <a:t>모델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모두</a:t>
            </a:r>
            <a:r>
              <a:rPr sz="1000" b="0" dirty="0">
                <a:solidFill>
                  <a:srgbClr val="1A3A5C"/>
                </a:solidFill>
              </a:rPr>
              <a:t> Step4 </a:t>
            </a:r>
            <a:r>
              <a:rPr sz="1000" b="0" dirty="0" err="1">
                <a:solidFill>
                  <a:srgbClr val="1A3A5C"/>
                </a:solidFill>
              </a:rPr>
              <a:t>커밋에서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전량</a:t>
            </a:r>
            <a:r>
              <a:rPr sz="1000" b="0" dirty="0">
                <a:solidFill>
                  <a:srgbClr val="1A3A5C"/>
                </a:solidFill>
              </a:rPr>
              <a:t> </a:t>
            </a:r>
            <a:r>
              <a:rPr sz="1000" b="0" dirty="0" err="1">
                <a:solidFill>
                  <a:srgbClr val="1A3A5C"/>
                </a:solidFill>
              </a:rPr>
              <a:t>제거</a:t>
            </a:r>
            <a:endParaRPr sz="1000" b="0" dirty="0">
              <a:solidFill>
                <a:srgbClr val="1A3A5C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" y="82296"/>
            <a:ext cx="11603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아키텍처 도식  |  현재 알고리즘 (study_updated.py)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84632"/>
            <a:ext cx="11603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Meaning-Aware Contrastive AEC  |  3모델 파이프라인  |  sklearn  |  강남 내부 CV + 신촌 외부 검증</a:t>
            </a: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3B2033A-66F8-B5D0-6B15-8CB8BF75F451}"/>
              </a:ext>
            </a:extLst>
          </p:cNvPr>
          <p:cNvGrpSpPr/>
          <p:nvPr/>
        </p:nvGrpSpPr>
        <p:grpSpPr>
          <a:xfrm>
            <a:off x="256032" y="905256"/>
            <a:ext cx="11676888" cy="5239511"/>
            <a:chOff x="256032" y="905256"/>
            <a:chExt cx="11676888" cy="4638862"/>
          </a:xfrm>
        </p:grpSpPr>
        <p:sp>
          <p:nvSpPr>
            <p:cNvPr id="6" name="Rectangle 5"/>
            <p:cNvSpPr/>
            <p:nvPr/>
          </p:nvSpPr>
          <p:spPr>
            <a:xfrm>
              <a:off x="256032" y="905256"/>
              <a:ext cx="2560320" cy="256032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932688"/>
              <a:ext cx="2432303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1">
                  <a:solidFill>
                    <a:srgbClr val="FFFFFF"/>
                  </a:solidFill>
                </a:rPr>
                <a:t>Clinical: age, sex, h, w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999232" y="905256"/>
              <a:ext cx="2743200" cy="256032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63239" y="932688"/>
              <a:ext cx="2615184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1">
                  <a:solidFill>
                    <a:srgbClr val="FFFFFF"/>
                  </a:solidFill>
                </a:rPr>
                <a:t>AEC (128pts)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35608" y="1207008"/>
              <a:ext cx="201167" cy="146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4B3278"/>
                  </a:solidFill>
                </a:rPr>
                <a:t>▼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70248" y="1207008"/>
              <a:ext cx="201167" cy="146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4B3278"/>
                  </a:solidFill>
                </a:rPr>
                <a:t>▼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032" y="1399032"/>
              <a:ext cx="2560320" cy="512064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40" y="1426464"/>
              <a:ext cx="2432303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FFFFFF"/>
                  </a:solidFill>
                </a:rPr>
                <a:t>Model 1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Clinical Logistic Reg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StdScaler→LogReg(C=0.7)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→ P(LowSMI) + threshold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999232" y="1399032"/>
              <a:ext cx="2743200" cy="512064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63239" y="1426464"/>
              <a:ext cx="2615184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FFFFFF"/>
                  </a:solidFill>
                </a:rPr>
                <a:t>AEC 전처리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log1p + Savitzky-Golay (window=9)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patientwise robust-z 정규화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Model 2: Ridge ×2 잔차 (raw α=8 / pz α=12)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35608" y="1956815"/>
              <a:ext cx="201167" cy="146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4B3278"/>
                  </a:solidFill>
                </a:rPr>
                <a:t>▼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270248" y="1956815"/>
              <a:ext cx="201167" cy="146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4B3278"/>
                  </a:solidFill>
                </a:rPr>
                <a:t>▼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99232" y="2148840"/>
              <a:ext cx="2743200" cy="475488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63239" y="2176272"/>
              <a:ext cx="2615184" cy="420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FFFFFF"/>
                  </a:solidFill>
                </a:rPr>
                <a:t>AEC 서명 공간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morph_from_curve(pz/res_pz)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+ anatomy_zone_features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→ 수백 차원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270248" y="2670048"/>
              <a:ext cx="201167" cy="146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4B3278"/>
                  </a:solidFill>
                </a:rPr>
                <a:t>▼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999232" y="2862072"/>
              <a:ext cx="2743200" cy="585216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63239" y="2889503"/>
              <a:ext cx="2615184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FFFFFF"/>
                  </a:solidFill>
                </a:rPr>
                <a:t>Contrastive Score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Low 이웃 12명 / Normal 이웃 12명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(임상 프로파일 유사도 기준)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AEC 거리 비교 → 8-dim 벡터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435608" y="3474720"/>
              <a:ext cx="201167" cy="146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4B3278"/>
                  </a:solidFill>
                </a:rPr>
                <a:t>▼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70248" y="3493008"/>
              <a:ext cx="201167" cy="146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4B3278"/>
                  </a:solidFill>
                </a:rPr>
                <a:t>▼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56032" y="3685032"/>
              <a:ext cx="5486400" cy="256032"/>
            </a:xfrm>
            <a:prstGeom prst="rect">
              <a:avLst/>
            </a:prstGeom>
            <a:solidFill>
              <a:srgbClr val="E8E0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20040" y="3712464"/>
              <a:ext cx="5358384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>
                  <a:solidFill>
                    <a:srgbClr val="4B3278"/>
                  </a:solidFill>
                </a:rPr>
                <a:t>correction_features():  Clinical(score/thr/margin)  +  Clinical covariates  +  8-dim Contrastive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98647" y="3986784"/>
              <a:ext cx="201167" cy="146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4B3278"/>
                  </a:solidFill>
                </a:rPr>
                <a:t>▼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56032" y="4178808"/>
              <a:ext cx="2633472" cy="237744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0040" y="4206240"/>
              <a:ext cx="2505456" cy="182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>
                  <a:solidFill>
                    <a:srgbClr val="FFFFFF"/>
                  </a:solidFill>
                </a:rPr>
                <a:t>Model 3A  Rule-Out Head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108960" y="4178808"/>
              <a:ext cx="2633472" cy="237744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172968" y="4206240"/>
              <a:ext cx="2505456" cy="182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>
                  <a:solidFill>
                    <a:srgbClr val="FFFFFF"/>
                  </a:solidFill>
                </a:rPr>
                <a:t>Model 3B  Rule-In Head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56032" y="4416552"/>
              <a:ext cx="2633472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20040" y="4443984"/>
              <a:ext cx="2505456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>
                  <a:solidFill>
                    <a:srgbClr val="000000"/>
                  </a:solidFill>
                </a:rPr>
                <a:t>임상 양성 환자 대상</a:t>
              </a:r>
            </a:p>
            <a:p>
              <a:pPr algn="l"/>
              <a:r>
                <a:rPr sz="800" b="0">
                  <a:solidFill>
                    <a:srgbClr val="000000"/>
                  </a:solidFill>
                </a:rPr>
                <a:t>ElasticNet LogReg</a:t>
              </a:r>
            </a:p>
            <a:p>
              <a:pPr algn="l"/>
              <a:r>
                <a:rPr sz="800" b="0">
                  <a:solidFill>
                    <a:srgbClr val="000000"/>
                  </a:solidFill>
                </a:rPr>
                <a:t>P(FP) 예측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108960" y="4416552"/>
              <a:ext cx="2633472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172968" y="4443984"/>
              <a:ext cx="2505456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>
                  <a:solidFill>
                    <a:srgbClr val="000000"/>
                  </a:solidFill>
                </a:rPr>
                <a:t>임상 음성 환자 대상</a:t>
              </a:r>
            </a:p>
            <a:p>
              <a:pPr algn="l"/>
              <a:r>
                <a:rPr sz="800" b="0">
                  <a:solidFill>
                    <a:srgbClr val="000000"/>
                  </a:solidFill>
                </a:rPr>
                <a:t>ElasticNet LogReg</a:t>
              </a:r>
            </a:p>
            <a:p>
              <a:pPr algn="l"/>
              <a:r>
                <a:rPr sz="800" b="0">
                  <a:solidFill>
                    <a:srgbClr val="000000"/>
                  </a:solidFill>
                </a:rPr>
                <a:t>P(FN) 예측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98647" y="4828032"/>
              <a:ext cx="201167" cy="146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4B3278"/>
                  </a:solidFill>
                </a:rPr>
                <a:t>▼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56032" y="5020056"/>
              <a:ext cx="5486400" cy="524062"/>
            </a:xfrm>
            <a:prstGeom prst="rect">
              <a:avLst/>
            </a:prstGeom>
            <a:solidFill>
              <a:srgbClr val="1FA8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20040" y="5047488"/>
              <a:ext cx="5358384" cy="420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>
                  <a:solidFill>
                    <a:srgbClr val="FFFFFF"/>
                  </a:solidFill>
                </a:rPr>
                <a:t>Selective Correction Rule  (if-else)</a:t>
              </a:r>
            </a:p>
            <a:p>
              <a:pPr algn="l"/>
              <a:r>
                <a:rPr sz="850" b="0">
                  <a:solidFill>
                    <a:srgbClr val="FFFFFF"/>
                  </a:solidFill>
                </a:rPr>
                <a:t>gray-zone AND RuleOut↑  →  양성 → 음성 뒤집기</a:t>
              </a:r>
            </a:p>
            <a:p>
              <a:pPr algn="l"/>
              <a:r>
                <a:rPr sz="850" b="0">
                  <a:solidFill>
                    <a:srgbClr val="FFFFFF"/>
                  </a:solidFill>
                </a:rPr>
                <a:t>gray-zone AND RuleIn↑   →  음성 → 양성 뒤집기</a:t>
              </a:r>
            </a:p>
            <a:p>
              <a:pPr algn="l"/>
              <a:r>
                <a:rPr sz="850" b="0">
                  <a:solidFill>
                    <a:srgbClr val="FFFFFF"/>
                  </a:solidFill>
                </a:rPr>
                <a:t>그 외                   →  임상 결과 유지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989320" y="905256"/>
              <a:ext cx="5943600" cy="256032"/>
            </a:xfrm>
            <a:prstGeom prst="rect">
              <a:avLst/>
            </a:prstGeom>
            <a:solidFill>
              <a:srgbClr val="4B32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53328" y="932688"/>
              <a:ext cx="5815584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</a:rPr>
                <a:t>Cross-Attention / LateFusion과의 핵심 차이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989320" y="1252728"/>
              <a:ext cx="1463040" cy="384048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053328" y="1280160"/>
              <a:ext cx="1335024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1">
                  <a:solidFill>
                    <a:srgbClr val="FFFFFF"/>
                  </a:solidFill>
                </a:rPr>
                <a:t>학습 방식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470648" y="1252728"/>
              <a:ext cx="2194560" cy="384048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534656" y="1280160"/>
              <a:ext cx="2066543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FFFFFF"/>
                  </a:solidFill>
                </a:rPr>
                <a:t>End-to-End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딥러닝 (PyTorch)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683496" y="1252728"/>
              <a:ext cx="2249424" cy="384048"/>
            </a:xfrm>
            <a:prstGeom prst="rect">
              <a:avLst/>
            </a:prstGeom>
            <a:solidFill>
              <a:srgbClr val="E8E0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747504" y="1280160"/>
              <a:ext cx="2121408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4B3278"/>
                  </a:solidFill>
                </a:rPr>
                <a:t>통계 기반</a:t>
              </a:r>
            </a:p>
            <a:p>
              <a:pPr algn="l"/>
              <a:r>
                <a:rPr sz="750" b="0">
                  <a:solidFill>
                    <a:srgbClr val="4B3278"/>
                  </a:solidFill>
                </a:rPr>
                <a:t>해석 가능 워크플로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89320" y="1673352"/>
              <a:ext cx="1463040" cy="384048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053328" y="1700784"/>
              <a:ext cx="1335024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1">
                  <a:solidFill>
                    <a:srgbClr val="FFFFFF"/>
                  </a:solidFill>
                </a:rPr>
                <a:t>AEC 역할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470648" y="1673352"/>
              <a:ext cx="2194560" cy="384048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534656" y="1700784"/>
              <a:ext cx="2066543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FFFFFF"/>
                  </a:solidFill>
                </a:rPr>
                <a:t>특징 추출 후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직접 분류 기여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683496" y="1673352"/>
              <a:ext cx="2249424" cy="384048"/>
            </a:xfrm>
            <a:prstGeom prst="rect">
              <a:avLst/>
            </a:prstGeom>
            <a:solidFill>
              <a:srgbClr val="E8E0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747504" y="1700784"/>
              <a:ext cx="2121408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4B3278"/>
                  </a:solidFill>
                </a:rPr>
                <a:t>임상 보정 신호</a:t>
              </a:r>
            </a:p>
            <a:p>
              <a:pPr algn="l"/>
              <a:r>
                <a:rPr sz="750" b="0">
                  <a:solidFill>
                    <a:srgbClr val="4B3278"/>
                  </a:solidFill>
                </a:rPr>
                <a:t>(경계선만 개입)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989320" y="2093976"/>
              <a:ext cx="1463040" cy="384048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053328" y="2121408"/>
              <a:ext cx="1335024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1">
                  <a:solidFill>
                    <a:srgbClr val="FFFFFF"/>
                  </a:solidFill>
                </a:rPr>
                <a:t>임상 모델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470648" y="2093976"/>
              <a:ext cx="2194560" cy="384048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534656" y="2121408"/>
              <a:ext cx="2066543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FFFFFF"/>
                  </a:solidFill>
                </a:rPr>
                <a:t>딥러닝과 통합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9683496" y="2093976"/>
              <a:ext cx="2249424" cy="384048"/>
            </a:xfrm>
            <a:prstGeom prst="rect">
              <a:avLst/>
            </a:prstGeom>
            <a:solidFill>
              <a:srgbClr val="E8E0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747504" y="2121408"/>
              <a:ext cx="2121408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4B3278"/>
                  </a:solidFill>
                </a:rPr>
                <a:t>독립 기준선</a:t>
              </a:r>
            </a:p>
            <a:p>
              <a:pPr algn="l"/>
              <a:r>
                <a:rPr sz="750" b="0">
                  <a:solidFill>
                    <a:srgbClr val="4B3278"/>
                  </a:solidFill>
                </a:rPr>
                <a:t>(LogReg)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989320" y="2514600"/>
              <a:ext cx="1463040" cy="384048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053328" y="2542032"/>
              <a:ext cx="1335024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1">
                  <a:solidFill>
                    <a:srgbClr val="FFFFFF"/>
                  </a:solidFill>
                </a:rPr>
                <a:t>외부 검증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470648" y="2514600"/>
              <a:ext cx="2194560" cy="384048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534656" y="2542032"/>
              <a:ext cx="2066543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FFFFFF"/>
                  </a:solidFill>
                </a:rPr>
                <a:t>제한적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9683496" y="2514600"/>
              <a:ext cx="2249424" cy="384048"/>
            </a:xfrm>
            <a:prstGeom prst="rect">
              <a:avLst/>
            </a:prstGeom>
            <a:solidFill>
              <a:srgbClr val="E8E0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747504" y="2542032"/>
              <a:ext cx="2121408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4B3278"/>
                  </a:solidFill>
                </a:rPr>
                <a:t>신촌 잠금 적용</a:t>
              </a:r>
            </a:p>
            <a:p>
              <a:pPr algn="l"/>
              <a:r>
                <a:rPr sz="750" b="0">
                  <a:solidFill>
                    <a:srgbClr val="4B3278"/>
                  </a:solidFill>
                </a:rPr>
                <a:t>(완전 분리)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989320" y="2935224"/>
              <a:ext cx="1463040" cy="384048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053328" y="2962656"/>
              <a:ext cx="1335024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1">
                  <a:solidFill>
                    <a:srgbClr val="FFFFFF"/>
                  </a:solidFill>
                </a:rPr>
                <a:t>해석 가능성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470648" y="2935224"/>
              <a:ext cx="2194560" cy="384048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534656" y="2962656"/>
              <a:ext cx="2066543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FFFFFF"/>
                  </a:solidFill>
                </a:rPr>
                <a:t>낮음</a:t>
              </a:r>
            </a:p>
            <a:p>
              <a:pPr algn="l"/>
              <a:r>
                <a:rPr sz="750" b="0">
                  <a:solidFill>
                    <a:srgbClr val="FFFFFF"/>
                  </a:solidFill>
                </a:rPr>
                <a:t>(블랙박스)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683496" y="2935224"/>
              <a:ext cx="2249424" cy="384048"/>
            </a:xfrm>
            <a:prstGeom prst="rect">
              <a:avLst/>
            </a:prstGeom>
            <a:solidFill>
              <a:srgbClr val="E8E0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9747504" y="2962656"/>
              <a:ext cx="2121408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4B3278"/>
                  </a:solidFill>
                </a:rPr>
                <a:t>높음</a:t>
              </a:r>
            </a:p>
            <a:p>
              <a:pPr algn="l"/>
              <a:r>
                <a:rPr sz="750" b="0">
                  <a:solidFill>
                    <a:srgbClr val="4B3278"/>
                  </a:solidFill>
                </a:rPr>
                <a:t>(rule-based 개입)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989320" y="3355848"/>
              <a:ext cx="1463040" cy="384048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053328" y="3383279"/>
              <a:ext cx="1335024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1">
                  <a:solidFill>
                    <a:srgbClr val="FFFFFF"/>
                  </a:solidFill>
                </a:rPr>
                <a:t>통계 검증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470648" y="3355848"/>
              <a:ext cx="2194560" cy="384048"/>
            </a:xfrm>
            <a:prstGeom prst="rect">
              <a:avLst/>
            </a:prstGeom>
            <a:solidFill>
              <a:srgbClr val="5A9D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534656" y="3383279"/>
              <a:ext cx="2066543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FFFFFF"/>
                  </a:solidFill>
                </a:rPr>
                <a:t>AUC 중심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9683496" y="3355848"/>
              <a:ext cx="2249424" cy="384048"/>
            </a:xfrm>
            <a:prstGeom prst="rect">
              <a:avLst/>
            </a:prstGeom>
            <a:solidFill>
              <a:srgbClr val="E8E0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747504" y="3383279"/>
              <a:ext cx="2121408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4B3278"/>
                  </a:solidFill>
                </a:rPr>
                <a:t>McNemar 정확 검정</a:t>
              </a:r>
            </a:p>
            <a:p>
              <a:pPr algn="l"/>
              <a:r>
                <a:rPr sz="750" b="0">
                  <a:solidFill>
                    <a:srgbClr val="4B3278"/>
                  </a:solidFill>
                </a:rPr>
                <a:t>+ Sens/Spec/Acc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053328" y="3858768"/>
              <a:ext cx="969264" cy="146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5A9DD6"/>
                  </a:solidFill>
                </a:rPr>
                <a:t>← Cross/LateFusion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750808" y="3858768"/>
              <a:ext cx="1335024" cy="146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>
                  <a:solidFill>
                    <a:srgbClr val="4B3278"/>
                  </a:solidFill>
                </a:rPr>
                <a:t>← 현재 알고리즘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989320" y="4105656"/>
              <a:ext cx="5943600" cy="658368"/>
            </a:xfrm>
            <a:prstGeom prst="rect">
              <a:avLst/>
            </a:prstGeom>
            <a:solidFill>
              <a:srgbClr val="F0E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053328" y="4133088"/>
              <a:ext cx="5815584" cy="6035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>
                  <a:solidFill>
                    <a:srgbClr val="000000"/>
                  </a:solidFill>
                </a:rPr>
                <a:t>설계 전환 배경:</a:t>
              </a:r>
            </a:p>
            <a:p>
              <a:pPr algn="l"/>
              <a:r>
                <a:rPr sz="850" b="0">
                  <a:solidFill>
                    <a:srgbClr val="000000"/>
                  </a:solidFill>
                </a:rPr>
                <a:t>• E2E 딥러닝(CrossAttn/LateFusion) → 외부 검증 일반화 한계 확인</a:t>
              </a:r>
            </a:p>
            <a:p>
              <a:pPr algn="l"/>
              <a:r>
                <a:rPr sz="850" b="0">
                  <a:solidFill>
                    <a:srgbClr val="000000"/>
                  </a:solidFill>
                </a:rPr>
                <a:t>• GatedAECFusion(α게이트) 실험 → 통계 기반으로 전환</a:t>
              </a:r>
            </a:p>
            <a:p>
              <a:pPr algn="l"/>
              <a:r>
                <a:rPr sz="850" b="0">
                  <a:solidFill>
                    <a:srgbClr val="000000"/>
                  </a:solidFill>
                </a:rPr>
                <a:t>• 현재 접근: 임상 모델 독립 유지 + AEC는 경계선만 보정</a:t>
              </a:r>
            </a:p>
            <a:p>
              <a:pPr algn="l"/>
              <a:r>
                <a:rPr sz="850" b="0">
                  <a:solidFill>
                    <a:srgbClr val="000000"/>
                  </a:solidFill>
                </a:rPr>
                <a:t>→ 해석 가능성 + 통계 검증 가능성 + 외부 일반화 우선</a:t>
              </a: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320040" y="6346305"/>
            <a:ext cx="11548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</a:rPr>
              <a:t>현재 알고리즘 = study_updated.py  |  강남 964명 내부 CV + 신촌 외부 검증  |  no_sens_drop 규칙으로 threshold 선택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6484</Words>
  <Application>Microsoft Office PowerPoint</Application>
  <PresentationFormat>사용자 지정</PresentationFormat>
  <Paragraphs>747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전장훈</cp:lastModifiedBy>
  <cp:revision>11</cp:revision>
  <dcterms:modified xsi:type="dcterms:W3CDTF">2026-06-25T14:41:27Z</dcterms:modified>
</cp:coreProperties>
</file>