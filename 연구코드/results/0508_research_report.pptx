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TAMA / SMI 예측 회귀분석 연구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0"/>
                </a:solidFill>
              </a:rPr>
              <a:t>0508 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0"/>
                </a:solidFill>
              </a:rPr>
              <a:t>분석 방법: clinic_only / aec_only / aec_feature_only / aec_feature_selected / clinic_aec_feature
타겟: TAMA, SMI  |  알고리즘: Linear / Logistic Regression (5-Fold CV) + ResNet1D
데이터: 강남 (aec_feature_filtered 시트)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분석 방법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clinic_only / aec_only / aec_feature_only / aec_feature_selected / clinic_aec_feature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피처 구성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피처 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PatientAge, PatientSex, BMI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aec1 ~ aec256 (원시 AEC 시계열 통계)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aec_feature_filtered 시트 전체 사용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~65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피처 fold별 선택 (|r|&lt;0.8, VIF&lt;10)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가변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clinic_aec_feature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Age/Sex/BMI (고정) + AEC 피처 fold별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가변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1148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평가 방법: Train 80% 에서 5-Fold CV 수행 → Test 20% 에서 최종 성능 측정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663440"/>
            <a:ext cx="219456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임상 변수 기준선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Age, Sex, BMI만 사용
→ AEC 추가 효과의 기준점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4663440"/>
            <a:ext cx="2194560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AEC 원시 피처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256개 aec 시계열
→ 원시 특성의 예측력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616" y="4663440"/>
            <a:ext cx="2194560" cy="1463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AEC 피처 전체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추출된 통계/주파수/웨이블릿
→ 전체 사용 (~65개)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904" y="4663440"/>
            <a:ext cx="2194560" cy="146304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AEC 피처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corr+VIF fold별 선택
→ 전체 vs 선택 성능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4663440"/>
            <a:ext cx="2194560" cy="1463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4754880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임상+AEC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5166360"/>
            <a:ext cx="20482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Age/Sex/BMI + AEC 선택
→ 임상정보 추가 효과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선형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  <a:gridCol w="1005840"/>
                <a:gridCol w="10058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RMSE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0.6481 ± 0.0331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16.908 ± 1.528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0.6750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17.629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-0.0146 ± 0.0910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28.657 ± 1.929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30.594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aec1 ~ aec256 (256개)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-0.5312 ± 0.8611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33.873 ± 9.896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0.2098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27.488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signal_length ~ wavelet_energy_ratio_D1 (65개)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0.0644 ± 0.0724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27.522 ± 1.582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29.955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선택 피처 (|r|&lt;0.8, VIF&lt;10.0) — Train 기준 14개,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0.6486 ± 0.0316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16.900 ± 1.535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0.6765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17.587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PatientSex, PatientAge, BMI (고정) + AEC 선택 피처 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선형 회귀 — 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예측값 vs 실제값 산점도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Actual_vs_Predi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Actual_vs_Predi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선형 회귀 — 회귀 계수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회귀 계수(Coefficient)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Coeffici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Coeffici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로지스틱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 |  Test Set (20%)  |  이진화: 성별 내 하위 25% = 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1005840"/>
                <a:gridCol w="100584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AUC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Acc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0.7230 ± 0.0212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0.7514 ± 0.0192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0.7869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0.7636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0.5658 ± 0.0378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0.6440 ± 0.0336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0.4633 ± 0.0285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0.7395 ± 0.0017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0.5099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0.5046 ± 0.0593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0.7350 ± 0.0066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0.7147 ± 0.0239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0.7505 ± 0.0184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0.7712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0.7782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로지스틱 회귀 — ROC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ROC Curve (AUC-ROC 비교, 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로지스틱 회귀 —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Confusion Matrix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ResNet1D (1D CNN)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MAE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 변수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0.6831 ± 0.0377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12.296 ± 0.707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피처(fold 선택)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0.2590 ± 0.0221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18.809 ± 0.584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임상+AEC(fold 선택)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0.6362 ± 0.0170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13.054 ± 0.721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ResNet1D (1D CNN) — 예측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Test Set 예측 결과 (Actual vs Predicted)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</a:t>
            </a:r>
          </a:p>
        </p:txBody>
      </p:sp>
      <p:pic>
        <p:nvPicPr>
          <p:cNvPr id="6" name="Picture 5" descr="ResNet1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83464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45536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5536" y="1280160"/>
            <a:ext cx="283464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46304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(그래프 없음)
ResNet1D_Results.png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피처(fold 선택)</a:t>
            </a:r>
          </a:p>
        </p:txBody>
      </p:sp>
      <p:pic>
        <p:nvPicPr>
          <p:cNvPr id="11" name="Picture 10" descr="ResNet1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280160"/>
            <a:ext cx="2834640" cy="5486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9408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임상+AEC(fold 선택)</a:t>
            </a:r>
          </a:p>
        </p:txBody>
      </p:sp>
      <p:pic>
        <p:nvPicPr>
          <p:cNvPr id="13" name="Picture 12" descr="ResNet1D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1280160"/>
            <a:ext cx="28346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성별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성별(Sex) 분포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[TAMA] 산점도 — BMI / Age vs 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BMI, PatientAge vs 타겟 산점도 (성별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2103120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BMI vs TAMA</a:t>
            </a:r>
          </a:p>
        </p:txBody>
      </p:sp>
      <p:pic>
        <p:nvPicPr>
          <p:cNvPr id="11" name="Picture 10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2194560" cy="2578608"/>
          </a:xfrm>
          <a:prstGeom prst="rect">
            <a:avLst/>
          </a:prstGeom>
        </p:spPr>
      </p:pic>
      <p:pic>
        <p:nvPicPr>
          <p:cNvPr id="12" name="Picture 11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80160"/>
            <a:ext cx="2194560" cy="2578608"/>
          </a:xfrm>
          <a:prstGeom prst="rect">
            <a:avLst/>
          </a:prstGeom>
        </p:spPr>
      </p:pic>
      <p:pic>
        <p:nvPicPr>
          <p:cNvPr id="13" name="Picture 12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2194560" cy="2578608"/>
          </a:xfrm>
          <a:prstGeom prst="rect">
            <a:avLst/>
          </a:prstGeom>
        </p:spPr>
      </p:pic>
      <p:pic>
        <p:nvPicPr>
          <p:cNvPr id="14" name="Picture 13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280160"/>
            <a:ext cx="2194560" cy="2578608"/>
          </a:xfrm>
          <a:prstGeom prst="rect">
            <a:avLst/>
          </a:prstGeom>
        </p:spPr>
      </p:pic>
      <p:pic>
        <p:nvPicPr>
          <p:cNvPr id="15" name="Picture 14" descr="BMI_vs_TAMA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280160"/>
            <a:ext cx="2194560" cy="2578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" y="4818888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Age vs TAMA</a:t>
            </a:r>
          </a:p>
        </p:txBody>
      </p:sp>
      <p:pic>
        <p:nvPicPr>
          <p:cNvPr id="17" name="Picture 16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2194560" cy="2578608"/>
          </a:xfrm>
          <a:prstGeom prst="rect">
            <a:avLst/>
          </a:prstGeom>
        </p:spPr>
      </p:pic>
      <p:pic>
        <p:nvPicPr>
          <p:cNvPr id="18" name="Picture 17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995928"/>
            <a:ext cx="2194560" cy="2578608"/>
          </a:xfrm>
          <a:prstGeom prst="rect">
            <a:avLst/>
          </a:prstGeom>
        </p:spPr>
      </p:pic>
      <p:pic>
        <p:nvPicPr>
          <p:cNvPr id="19" name="Picture 18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95928"/>
            <a:ext cx="2194560" cy="2578608"/>
          </a:xfrm>
          <a:prstGeom prst="rect">
            <a:avLst/>
          </a:prstGeom>
        </p:spPr>
      </p:pic>
      <p:pic>
        <p:nvPicPr>
          <p:cNvPr id="20" name="Picture 19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995928"/>
            <a:ext cx="2194560" cy="2578608"/>
          </a:xfrm>
          <a:prstGeom prst="rect">
            <a:avLst/>
          </a:prstGeom>
        </p:spPr>
      </p:pic>
      <p:pic>
        <p:nvPicPr>
          <p:cNvPr id="21" name="Picture 20" descr="PatientAge_vs_TAMA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995928"/>
            <a:ext cx="2194560" cy="2578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선형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  <a:gridCol w="1005840"/>
                <a:gridCol w="10058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RMSE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0.4798 ± 0.0494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6.029 ± 0.404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0.4564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6.785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-0.1359 ± 0.0736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8.924 ± 0.647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-0.0709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aec1 ~ aec256 (256개)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-0.3680 ± 0.7289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9.432 ± 2.286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0.1555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8.457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signal_length ~ wavelet_energy_ratio_D1 (65개)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0.0490 ± 0.0552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8.154 ± 0.338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선택 피처 (|r|&lt;0.8, VIF&lt;10.0) — Train 기준 14개,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0.4792 ± 0.0484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6.034 ± 0.408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0.4573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6.779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PatientSex, PatientAge, BMI (고정) + AEC 선택 피처 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선형 회귀 — 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예측값 vs 실제값 산점도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Actual_vs_Predi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Actual_vs_Predi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선형 회귀 — 회귀 계수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회귀 계수(Coefficient)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inea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inea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inea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inear_Coeffici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inear_Coeffici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로지스틱 회귀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 |  Test Set (20%)  |  이진화: 성별 내 하위 25% = 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1005840"/>
                <a:gridCol w="100584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AUC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CV Acc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Female Thr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(Age, Sex, BMI)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0.7434 ± 0.0339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0.7614 ± 0.0202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0.8400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0.7964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원시 피처 256개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0.5542 ± 0.0209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0.6557 ± 0.0109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전체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0.5811 ± 0.0504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0.7441 ± 0.0065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0.6287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추출 피처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0.5099 ± 0.0392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0.7459 ± 0.0015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변수 + AEC 피처 선택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0.7232 ± 0.0364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0.7623 ± 0.0191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0.8326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0.7927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46.66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38.46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로지스틱 회귀 — ROC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ROC Curve (AUC-ROC 비교, 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로지스틱 회귀 —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Confusion Matrix (Test Set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Logisti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Logisti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Logistic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Logistic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Logistic_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ResNet1D (1D CNN) —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(Train 80%) 평균±표준편차  |  Test Set (20%) 최종 성능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R²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MAE (mean±std)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 변수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 피처(fold 선택)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임상+AEC(fold 선택)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ResNet1D (1D CNN) — 예측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각 방법별 Test Set 예측 결과 (Actual vs Predicted)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83464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(그래프 없음)
ResNet1D_Results.png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536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3145536" y="1280160"/>
            <a:ext cx="283464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6" y="146304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(그래프 없음)
ResNet1D_Results.png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피처(fold 선택)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2472" y="1280160"/>
            <a:ext cx="283464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46304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(그래프 없음)
ResNet1D_Results.png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0058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임상+AEC(fold 선택)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8" y="1280160"/>
            <a:ext cx="283464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146304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(그래프 없음)
ResNet1D_Results.png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성별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성별(Sex) 분포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pic>
        <p:nvPicPr>
          <p:cNvPr id="6" name="Picture 5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0"/>
            <a:ext cx="22860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9464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pic>
        <p:nvPicPr>
          <p:cNvPr id="8" name="Picture 7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80160"/>
            <a:ext cx="22860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pic>
        <p:nvPicPr>
          <p:cNvPr id="10" name="Picture 9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280160"/>
            <a:ext cx="22860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pic>
        <p:nvPicPr>
          <p:cNvPr id="12" name="Picture 11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280160"/>
            <a:ext cx="22860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92056" y="1005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pic>
        <p:nvPicPr>
          <p:cNvPr id="14" name="Picture 13" descr="Distribution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280160"/>
            <a:ext cx="228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[SMI] 산점도 — BMI / Age vs SMI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방법별 BMI, PatientAge vs 타겟 산점도 (성별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(Age, Sex, BMI)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원시 피처 256개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전체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AEC 추출 피처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024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55E"/>
                </a:solidFill>
              </a:rPr>
              <a:t>임상 변수 + AEC 피처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2103120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BMI vs SMI</a:t>
            </a:r>
          </a:p>
        </p:txBody>
      </p:sp>
      <p:pic>
        <p:nvPicPr>
          <p:cNvPr id="11" name="Picture 10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2194560" cy="2578608"/>
          </a:xfrm>
          <a:prstGeom prst="rect">
            <a:avLst/>
          </a:prstGeom>
        </p:spPr>
      </p:pic>
      <p:pic>
        <p:nvPicPr>
          <p:cNvPr id="12" name="Picture 11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80160"/>
            <a:ext cx="2194560" cy="2578608"/>
          </a:xfrm>
          <a:prstGeom prst="rect">
            <a:avLst/>
          </a:prstGeom>
        </p:spPr>
      </p:pic>
      <p:pic>
        <p:nvPicPr>
          <p:cNvPr id="13" name="Picture 12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2194560" cy="2578608"/>
          </a:xfrm>
          <a:prstGeom prst="rect">
            <a:avLst/>
          </a:prstGeom>
        </p:spPr>
      </p:pic>
      <p:pic>
        <p:nvPicPr>
          <p:cNvPr id="14" name="Picture 13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280160"/>
            <a:ext cx="2194560" cy="2578608"/>
          </a:xfrm>
          <a:prstGeom prst="rect">
            <a:avLst/>
          </a:prstGeom>
        </p:spPr>
      </p:pic>
      <p:pic>
        <p:nvPicPr>
          <p:cNvPr id="15" name="Picture 14" descr="BMI_vs_SMI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280160"/>
            <a:ext cx="2194560" cy="2578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" y="4818888"/>
            <a:ext cx="694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55E"/>
                </a:solidFill>
              </a:rPr>
              <a:t>Age vs SMI</a:t>
            </a:r>
          </a:p>
        </p:txBody>
      </p:sp>
      <p:pic>
        <p:nvPicPr>
          <p:cNvPr id="17" name="Picture 16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2194560" cy="2578608"/>
          </a:xfrm>
          <a:prstGeom prst="rect">
            <a:avLst/>
          </a:prstGeom>
        </p:spPr>
      </p:pic>
      <p:pic>
        <p:nvPicPr>
          <p:cNvPr id="18" name="Picture 17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995928"/>
            <a:ext cx="2194560" cy="2578608"/>
          </a:xfrm>
          <a:prstGeom prst="rect">
            <a:avLst/>
          </a:prstGeom>
        </p:spPr>
      </p:pic>
      <p:pic>
        <p:nvPicPr>
          <p:cNvPr id="19" name="Picture 18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95928"/>
            <a:ext cx="2194560" cy="2578608"/>
          </a:xfrm>
          <a:prstGeom prst="rect">
            <a:avLst/>
          </a:prstGeom>
        </p:spPr>
      </p:pic>
      <p:pic>
        <p:nvPicPr>
          <p:cNvPr id="20" name="Picture 19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995928"/>
            <a:ext cx="2194560" cy="2578608"/>
          </a:xfrm>
          <a:prstGeom prst="rect">
            <a:avLst/>
          </a:prstGeom>
        </p:spPr>
      </p:pic>
      <p:pic>
        <p:nvPicPr>
          <p:cNvPr id="21" name="Picture 20" descr="PatientAge_vs_SMI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995928"/>
            <a:ext cx="2194560" cy="25786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방법별 성능 비교 — 선형 회귀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R² / RMSE  ×  5 방법  ×  TAMA / SMI</a:t>
            </a:r>
          </a:p>
        </p:txBody>
      </p:sp>
      <p:pic>
        <p:nvPicPr>
          <p:cNvPr id="5" name="Picture 4" descr="01_line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방법별 성능 비교 — 로지스틱 회귀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AUC / Accuracy  ×  5 방법  ×  TAMA / SMI</a:t>
            </a:r>
          </a:p>
        </p:txBody>
      </p:sp>
      <p:pic>
        <p:nvPicPr>
          <p:cNvPr id="5" name="Picture 4" descr="02_logist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방법별 성능 비교 — ResNet1D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5-Fold CV R² / MAE  ×  4 방법  ×  TAMA / SMI</a:t>
            </a:r>
          </a:p>
        </p:txBody>
      </p:sp>
      <p:pic>
        <p:nvPicPr>
          <p:cNvPr id="5" name="Picture 4" descr="04_resnet1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전체 성능 지표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</a:rPr>
              <a:t>6개 지표 × 5 방법 × 2 타겟 한 눈에 보기</a:t>
            </a:r>
          </a:p>
        </p:txBody>
      </p:sp>
      <p:pic>
        <p:nvPicPr>
          <p:cNvPr id="5" name="Picture 4" descr="0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결론 및 핵심 성과 (0508)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TAMA 선형 CV R²  최고: clinic_aec_feature (0.6486)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2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842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TAMA AUC-ROC CV 최고: clinic_only (0.7230)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5176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61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SMI 선형 CV R²  최고: clinic_only (0.4798)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429000"/>
            <a:ext cx="1152144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38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SMI AUC-ROC CV 최고: clinic_only (0.7434)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976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한계 및 향후 과제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70916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기관(강남) 데이터 — 외부 검증(신촌) 필요
• aec_feature_only 피처 선택의 통계적 근거 보강 필요
• 1D CNN / LSTM 등 딥러닝 모델과의 성능 비교 향후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AB0AC"/>
                </a:solidFill>
              </a:rPr>
              <a:t>자동 생성: 6_generate_ppt.py (0508)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