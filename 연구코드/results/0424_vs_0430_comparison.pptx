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5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1645920"/>
            <a:ext cx="9445752" cy="3657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54480" y="1920240"/>
            <a:ext cx="9052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1A355E"/>
                </a:solidFill>
              </a:rPr>
              <a:t>연구 설계 변경사항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2743200"/>
            <a:ext cx="9052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2E75B6"/>
                </a:solidFill>
              </a:rPr>
              <a:t>0424  →  0430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3429000"/>
            <a:ext cx="9052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1A1A2E"/>
                </a:solidFill>
              </a:rPr>
              <a:t>TAMA 예측 회귀분석 연구  |  AEC 신호 피처 기반 근감소증 예측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3977639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① 피처 선택: 수동  →  자동 파이프라인 (4단계)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427024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② 임상 기준선: Age+Sex  →  Age+Sex+BMI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4562855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③ Case 구조: 3단계  →  5단계 (AEC_prev vs AEC_new)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485546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④ 다병원 자동 순회 + 교차 병원 비교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DD7EE"/>
                </a:solidFill>
              </a:rPr>
              <a:t>2026-04-30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변경사항 한눈에 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DD7EE"/>
                </a:solidFill>
              </a:rPr>
              <a:t>0424 → 0430  |  총 4가지 설계 변경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" y="1051560"/>
          <a:ext cx="11887200" cy="5623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377440"/>
                <a:gridCol w="2377440"/>
                <a:gridCol w="2377440"/>
                <a:gridCol w="2377440"/>
              </a:tblGrid>
              <a:tr h="1124712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0424 이전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0430 이후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핵심 목적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112471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①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피처 선택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수동 선택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(상관계수+VIF → 연구자 결정)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['mean','CV','skewness','slope_abs_mean']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자동 파이프라인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(4단계 필터링 + 앙상블 투표 + CV R²)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다중공선성·과적합 위험 제거,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객관적 피처 선택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112471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임상 기준선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Age + Sex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Age + Sex + BMI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BMI 교란변수 보정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→ AEC 순수 기여도 분리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2471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③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Case 구조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Case 1(임상) / 2(+AEC) / 3(+AEC+스캐너)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단일 AEC 세트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Case 1~5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AEC_prev vs AEC_new 교차 비교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'어떤 AEC 피처 세트가 더 유용한가'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직접 정량 비교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112471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다병원 분석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강남 단독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(config.SITE 수동 변경)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강남·신촌 자동 순회 +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교차 병원 비교(외부 검증)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재현성(generalizability)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① 피처 선택: 수동 → 자동 파이프라인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" y="1051560"/>
            <a:ext cx="5029200" cy="5349240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2011679" cy="3200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115568"/>
            <a:ext cx="1920239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0424 수동 선택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508760"/>
            <a:ext cx="4754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전체 AEC 피처(60개+) vs TAMA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810512"/>
            <a:ext cx="4754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  Pearson / Spearman 상관계수 + VIF 계산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112264"/>
            <a:ext cx="4754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414015"/>
            <a:ext cx="4754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feature_selection_report.xlsx 검토 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2715768"/>
            <a:ext cx="4754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  연구자가 수동으로 결정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3017520"/>
            <a:ext cx="4754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3319272"/>
            <a:ext cx="4754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단일 병원(강남)만 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3621024"/>
            <a:ext cx="4754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3922776"/>
            <a:ext cx="4754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선택 결과 (config.py에 하드코딩):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4224528"/>
            <a:ext cx="4754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  ['mean', 'CV', 'skewness', 'slope_abs_mean']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526280"/>
            <a:ext cx="4754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4828032"/>
            <a:ext cx="4754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00000"/>
                </a:solidFill>
              </a:rPr>
              <a:t>▲ 한계: 60개+ 피처에서 단순 상관계수만으로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5129783"/>
            <a:ext cx="4754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   선택 시 과적합·다중공선성 위험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9240" y="34747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2E75B6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89320" y="1051560"/>
            <a:ext cx="6035040" cy="5349240"/>
          </a:xfrm>
          <a:prstGeom prst="rect">
            <a:avLst/>
          </a:prstGeom>
          <a:solidFill>
            <a:srgbClr val="F0F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80760" y="1097280"/>
            <a:ext cx="2505456" cy="320040"/>
          </a:xfrm>
          <a:prstGeom prst="rect">
            <a:avLst/>
          </a:prstGeom>
          <a:solidFill>
            <a:srgbClr val="008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80" y="1115568"/>
            <a:ext cx="2414015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0430 자동 파이프라인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80760" y="1508760"/>
            <a:ext cx="1353312" cy="3200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0" y="1527048"/>
            <a:ext cx="1261872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Step 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43800" y="1481328"/>
            <a:ext cx="4297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Near-zero variance 제거
(표준화 후 threshold=0.01)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80760" y="2167128"/>
            <a:ext cx="1353312" cy="3200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80" y="2185416"/>
            <a:ext cx="1261872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Step 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43800" y="2139696"/>
            <a:ext cx="4297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Pearson |r| ≥ 0.95 중복 피처 제거
(VIF는 참고용 보고만)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80760" y="2825496"/>
            <a:ext cx="1353312" cy="3200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26480" y="2843784"/>
            <a:ext cx="1261872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Step 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43800" y="2798064"/>
            <a:ext cx="4297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단변량 필터: MI &gt; 0  OR  Spearman p &lt; 0.05
(상한 없음 — 후보 최대 보존)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80760" y="3483863"/>
            <a:ext cx="1353312" cy="32004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26480" y="3502151"/>
            <a:ext cx="1261872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Step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43800" y="3456432"/>
            <a:ext cx="4297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모델 기반 앙상블 투표
  LASSO + RFECV(Ridge) + RF Permutation
→ pool 구성 후 CV R² 최적화
  (pool ≤ 20: 완전탐색 | &gt;20: SFS)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80760" y="4142231"/>
            <a:ext cx="1188719" cy="320040"/>
          </a:xfrm>
          <a:prstGeom prst="rect">
            <a:avLst/>
          </a:prstGeom>
          <a:solidFill>
            <a:srgbClr val="008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26480" y="4160519"/>
            <a:ext cx="1097279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Final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43800" y="4114799"/>
            <a:ext cx="4297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VIF &gt; 10 반복 제거 (FIXED: 'mean' 강제 보존)
→ 강남 / 신촌 / 병합 각각 독립 실행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80760" y="608076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55E"/>
                </a:solidFill>
              </a:rPr>
              <a:t>★ 고정 피처: 'mean'은 임상 해석을 위해 모든 단계에서 강제 보존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① 피처 선택 결과: AEC_prev vs AEC_new (CV R²)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DD7EE"/>
                </a:solidFill>
              </a:rPr>
              <a:t>3개 데이터셋(강남 / 신촌 / 병합)에서 이전 수동 선택과 파이프라인 결과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100584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Previous vs Pipeline — 3개 데이터셋 CV R² 비교</a:t>
            </a:r>
          </a:p>
        </p:txBody>
      </p:sp>
      <p:pic>
        <p:nvPicPr>
          <p:cNvPr id="6" name="Picture 5" descr="cross_dataset_comparison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371600"/>
            <a:ext cx="5943600" cy="3474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1005840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데이터셋별 최종 선택 피처 히트맵</a:t>
            </a:r>
          </a:p>
        </p:txBody>
      </p:sp>
      <p:pic>
        <p:nvPicPr>
          <p:cNvPr id="8" name="Picture 7" descr="cross_dataset_feature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371600"/>
            <a:ext cx="5577840" cy="34747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82880" y="5029200"/>
            <a:ext cx="11795760" cy="1600200"/>
          </a:xfrm>
          <a:prstGeom prst="rect">
            <a:avLst/>
          </a:prstGeom>
          <a:solidFill>
            <a:srgbClr val="EE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50749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해석 포인트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54406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파이프라인 CV R²가 이전 수동 선택 대비 동등 또는 개선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571500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히트맵: 1=선택됨 / 0=미선택. 데이터셋 간 공통 피처가 재현성 지표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598932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강남·신촌 모두에서 선택된 피처 → 병합 데이터에서도 안정적으로 기여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② 임상 기준선: BMI 공변량 추가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" y="1097280"/>
            <a:ext cx="5394960" cy="5303520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170432"/>
            <a:ext cx="1097280" cy="3200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59" y="1188720"/>
            <a:ext cx="1005839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0424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5544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</a:rPr>
              <a:t>기준선 = PatientAge + PatientSex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116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Case 1: [Age, Sex]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331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Case 2: [Age, Sex, AEC 피처]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6517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Case 3: [Age, Sex, AEC 피처, Scanner]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9718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2918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→ BMI 정보 미포함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6118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→ 체지방량·근육량과 직접 연관된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9319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   주요 교란변수 미보정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2519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45720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00000"/>
                </a:solidFill>
              </a:rPr>
              <a:t>▲ 문제: AEC 피처의 독립 예측력이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8920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   BMI에 의해 과대추정될 가능성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0" y="347472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2E75B6"/>
                </a:solidFill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1097280"/>
            <a:ext cx="5486400" cy="5303520"/>
          </a:xfrm>
          <a:prstGeom prst="rect">
            <a:avLst/>
          </a:prstGeom>
          <a:solidFill>
            <a:srgbClr val="F0F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629400" y="1170432"/>
            <a:ext cx="1097280" cy="320040"/>
          </a:xfrm>
          <a:prstGeom prst="rect">
            <a:avLst/>
          </a:prstGeom>
          <a:solidFill>
            <a:srgbClr val="008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0" y="1188720"/>
            <a:ext cx="1005839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0430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155448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</a:rPr>
              <a:t>기준선 = PatientAge + PatientSex + BMI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201168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Case 1: [Age, Sex, BMI]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23317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Case 2: [Age, Sex, BMI, AEC_prev]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26517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Case 3: [Age, Sex, BMI, AEC_new]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9718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Case 4: [Age, Sex, BMI, AEC_prev, Scanner]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32918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Case 5: [Age, Sex, BMI, AEC_new, Scanner]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361188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9319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→ BMI = 체지방량·제지방량과 직접 연관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42519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   근감소증의 핵심 교란변수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45720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48920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8B45"/>
                </a:solidFill>
              </a:rPr>
              <a:t>★ 효과: AEC 피처의 순수 기여도를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521208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   BMI 보정 후 분리하여 정량화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② BMI 기여도 분석 결과 (Case 1 / 2 / 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DD7EE"/>
                </a:solidFill>
              </a:rPr>
              <a:t>Clinical baseline에 BMI 추가 시 R² / AUC 변화  |  강남·신촌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1005840"/>
            <a:ext cx="5852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강남 — R² &amp; AUC 비교 (BMI 없음 vs 있음)</a:t>
            </a:r>
          </a:p>
        </p:txBody>
      </p:sp>
      <p:pic>
        <p:nvPicPr>
          <p:cNvPr id="6" name="Picture 5" descr="bmi_comparison_r2_au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325880"/>
            <a:ext cx="5852160" cy="2606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63640" y="1005840"/>
            <a:ext cx="5760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신촌 — R² &amp; AUC 비교 (BMI 없음 vs 있음)</a:t>
            </a:r>
          </a:p>
        </p:txBody>
      </p:sp>
      <p:pic>
        <p:nvPicPr>
          <p:cNvPr id="8" name="Picture 7" descr="bmi_comparison_r2_au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325880"/>
            <a:ext cx="5760720" cy="2606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2880" y="4041648"/>
            <a:ext cx="1179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BMI 추가 효과 (Delta = with BMI − without BMI)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82880" y="4370832"/>
          <a:ext cx="1179576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965960"/>
                <a:gridCol w="1965960"/>
                <a:gridCol w="1965960"/>
                <a:gridCol w="1965960"/>
                <a:gridCol w="1965960"/>
              </a:tblGrid>
              <a:tr h="33310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병원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Case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ΔR² (선형)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ΔRMSE (선형)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ΔAUC (로지스틱)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ΔAcc (로지스틱)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강남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C1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+0.1190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-2.7900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+0.1435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-0.0410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강남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C2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+0.0480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-1.2000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+0.0510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+0.0806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강남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C4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+0.0472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-1.1700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+0.0296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+0.0330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신촌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C1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+0.1182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-2.8200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+0.1437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-0.0047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신촌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C2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+0.0971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-2.3600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+0.1061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+0.0150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</a:tr>
              <a:tr h="3331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신촌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C4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+0.0990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-2.3600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+0.0745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+0.0403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182880" y="6629400"/>
            <a:ext cx="11795760" cy="201168"/>
          </a:xfrm>
          <a:prstGeom prst="rect">
            <a:avLst/>
          </a:prstGeom>
          <a:solidFill>
            <a:srgbClr val="EE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6647688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진녹(ΔR²≥0.05): BMI 보정 유효   연녹(ΔR²≥0.01): 소폭 향상   회색(ΔR²&lt;0.01): 미미 | Case1=임상기준선, Case2=+AEC_prev, Case4=+AEC_prev+Scanner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③ Case 구조 확장: AEC_prev vs AEC_new 이중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DD7EE"/>
                </a:solidFill>
              </a:rPr>
              <a:t>0424: 3-Case (단일 AEC)  →  0430: 5-Case (AEC_prev × AEC_new 교차 비교)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1051560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0000"/>
                </a:solidFill>
              </a:rPr>
              <a:t>▼ 0424 Case 구조 (3단계, 단일 AEC 세트)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82880" y="1417320"/>
          <a:ext cx="585216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0720"/>
                <a:gridCol w="1950720"/>
                <a:gridCol w="1950720"/>
              </a:tblGrid>
              <a:tr h="35433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Case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포함 변수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목적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Case 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Age, Sex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임상 기준선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Case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Age, Sex + AEC 4개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AEC 기여도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Case 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Age, Sex + AEC + Scanner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스캐너 보정 효과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82880" y="2971800"/>
            <a:ext cx="1179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8B45"/>
                </a:solidFill>
              </a:rPr>
              <a:t>▼ 0430 Case 구조 (5단계, AEC_prev vs AEC_new 교차)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82880" y="3337560"/>
          <a:ext cx="11795760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8940"/>
                <a:gridCol w="2948940"/>
                <a:gridCol w="2948940"/>
                <a:gridCol w="2948940"/>
              </a:tblGrid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Case</a:t>
                      </a:r>
                    </a:p>
                  </a:txBody>
                  <a:tcPr>
                    <a:solidFill>
                      <a:srgbClr val="008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포함 변수</a:t>
                      </a:r>
                    </a:p>
                  </a:txBody>
                  <a:tcPr>
                    <a:solidFill>
                      <a:srgbClr val="008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AEC 세트</a:t>
                      </a:r>
                    </a:p>
                  </a:txBody>
                  <a:tcPr>
                    <a:solidFill>
                      <a:srgbClr val="008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목적</a:t>
                      </a:r>
                    </a:p>
                  </a:txBody>
                  <a:tcPr>
                    <a:solidFill>
                      <a:srgbClr val="008B45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Case 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Age, Sex, BMI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BMI 포함 임상 기준선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Case 2</a:t>
                      </a:r>
                    </a:p>
                  </a:txBody>
                  <a:tcPr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Case 1 + AEC_prev</a:t>
                      </a:r>
                    </a:p>
                  </a:txBody>
                  <a:tcPr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수동 4개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(mean,CV,skewness,slope_abs_mean)</a:t>
                      </a:r>
                    </a:p>
                  </a:txBody>
                  <a:tcPr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이전 AEC 기여도</a:t>
                      </a:r>
                    </a:p>
                  </a:txBody>
                  <a:tcPr>
                    <a:solidFill>
                      <a:srgbClr val="FFEBEB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Case 3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Case 1 + AEC_new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자동 파이프라인 선택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새 AEC 기여도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Case 4</a:t>
                      </a:r>
                    </a:p>
                  </a:txBody>
                  <a:tcPr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Case 2 + Scanner</a:t>
                      </a:r>
                    </a:p>
                  </a:txBody>
                  <a:tcPr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AEC_prev + 스캐너</a:t>
                      </a:r>
                    </a:p>
                  </a:txBody>
                  <a:tcPr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이전 AEC + 스캐너</a:t>
                      </a:r>
                    </a:p>
                  </a:txBody>
                  <a:tcPr>
                    <a:solidFill>
                      <a:srgbClr val="FFEBEB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Case 5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Case 3 + Scanner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AEC_new + 스캐너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새 AEC + 스캐너 (최대 모델)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82880" y="6492240"/>
            <a:ext cx="1179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355E"/>
                </a:solidFill>
              </a:rPr>
              <a:t>Case 2 vs Case 3, Case 4 vs Case 5 → AEC_prev vs AEC_new 직접 성능 비교 가능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③ Case 비교 결과 (강남 – 전체)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DD7EE"/>
                </a:solidFill>
              </a:rPr>
              <a:t>선형 회귀: R²/RMSE/MAE  |  로지스틱 회귀: AUC/Accuracy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100584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선형 회귀 — Case별 메트릭 비교</a:t>
            </a:r>
          </a:p>
        </p:txBody>
      </p:sp>
      <p:pic>
        <p:nvPicPr>
          <p:cNvPr id="6" name="Picture 5" descr="02_linear_metric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371600"/>
            <a:ext cx="5943600" cy="2468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1005840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로지스틱 회귀 — Case별 메트릭 비교</a:t>
            </a:r>
          </a:p>
        </p:txBody>
      </p:sp>
      <p:pic>
        <p:nvPicPr>
          <p:cNvPr id="8" name="Picture 7" descr="05_logistic_metrics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371600"/>
            <a:ext cx="5577840" cy="2468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2880" y="3977639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Case 비교 전체 개요</a:t>
            </a:r>
          </a:p>
        </p:txBody>
      </p:sp>
      <p:pic>
        <p:nvPicPr>
          <p:cNvPr id="10" name="Picture 9" descr="08_case_comparison_overvi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" y="4343400"/>
            <a:ext cx="5943600" cy="2377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0" y="3977639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로지스틱 ROC 곡선 (Case 1~5)</a:t>
            </a:r>
          </a:p>
        </p:txBody>
      </p:sp>
      <p:pic>
        <p:nvPicPr>
          <p:cNvPr id="12" name="Picture 11" descr="04_logistic_r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4343400"/>
            <a:ext cx="5577840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④ 다병원 자동 순회 + 교차 병원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DD7EE"/>
                </a:solidFill>
              </a:rPr>
              <a:t>0424: 강남 단독  →  0430: 강남·신촌 자동 순회 + 외부 검증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1097280"/>
            <a:ext cx="4572000" cy="5303520"/>
          </a:xfrm>
          <a:prstGeom prst="rect">
            <a:avLst/>
          </a:prstGeom>
          <a:solidFill>
            <a:srgbClr val="F5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170432"/>
            <a:ext cx="1097280" cy="3200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59" y="1188720"/>
            <a:ext cx="1005839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0424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554480"/>
            <a:ext cx="4297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config.py의 SITE 변수를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856231"/>
            <a:ext cx="4297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  연구자가 수동 변경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157984"/>
            <a:ext cx="4297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강남만 분석 (신촌 별도 실행 필요)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459736"/>
            <a:ext cx="4297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재현성 비교 구조 없음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" y="2926080"/>
            <a:ext cx="4572000" cy="3474720"/>
          </a:xfrm>
          <a:prstGeom prst="rect">
            <a:avLst/>
          </a:prstGeom>
          <a:solidFill>
            <a:srgbClr val="F0F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2999232"/>
            <a:ext cx="1097280" cy="320040"/>
          </a:xfrm>
          <a:prstGeom prst="rect">
            <a:avLst/>
          </a:prstGeom>
          <a:solidFill>
            <a:srgbClr val="008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59" y="3017520"/>
            <a:ext cx="1005839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0430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383280"/>
            <a:ext cx="4297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data/ 폴더 자동 스캔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685032"/>
            <a:ext cx="4297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  강남·신촌 모두 순회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986784"/>
            <a:ext cx="4297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강남 학습 → 신촌 외부 검증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288536"/>
            <a:ext cx="4297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  (Cross-hospital validation)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590288"/>
            <a:ext cx="4297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피처 선택도 3개 데이터셋 독립 실행: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892040"/>
            <a:ext cx="4297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  강남 / 신촌 / 병합(공통 피처)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5193792"/>
            <a:ext cx="4297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재현성 히트맵으로 공통 피처 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83480" y="1051560"/>
            <a:ext cx="7040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교차 병원 비교 (강남 → 신촌 외부 검증)</a:t>
            </a:r>
          </a:p>
        </p:txBody>
      </p:sp>
      <p:pic>
        <p:nvPicPr>
          <p:cNvPr id="23" name="Picture 22" descr="09_cross_hospita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417320"/>
            <a:ext cx="7040880" cy="27432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983480" y="4251960"/>
            <a:ext cx="7040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외부 검증 상세 결과</a:t>
            </a:r>
          </a:p>
        </p:txBody>
      </p:sp>
      <p:pic>
        <p:nvPicPr>
          <p:cNvPr id="25" name="Picture 24" descr="10_external_valid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4617720"/>
            <a:ext cx="7040880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선형 회귀 결과 (강남 – 전체)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DD7EE"/>
                </a:solidFill>
              </a:rPr>
              <a:t>Actual vs Predicted  |  계수 (Coeff)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100584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Actual vs Predicted (5-fold CV)</a:t>
            </a:r>
          </a:p>
        </p:txBody>
      </p:sp>
      <p:pic>
        <p:nvPicPr>
          <p:cNvPr id="6" name="Picture 5" descr="01_linear_actual_vs_p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371600"/>
            <a:ext cx="5943600" cy="5212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1005840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회귀 계수 (Standardized Coefficients)</a:t>
            </a:r>
          </a:p>
        </p:txBody>
      </p:sp>
      <p:pic>
        <p:nvPicPr>
          <p:cNvPr id="8" name="Picture 7" descr="03_linear_coeffici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371600"/>
            <a:ext cx="557784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로지스틱 회귀 결과 (강남 – 전체)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DD7EE"/>
                </a:solidFill>
              </a:rPr>
              <a:t>ROC  |  Confusion Matrix  |  계수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100584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ROC Curves (Case 1~5)</a:t>
            </a:r>
          </a:p>
        </p:txBody>
      </p:sp>
      <p:pic>
        <p:nvPicPr>
          <p:cNvPr id="6" name="Picture 5" descr="04_logistic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371600"/>
            <a:ext cx="384048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297680" y="100584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Confusion Matrix (Best Case)</a:t>
            </a:r>
          </a:p>
        </p:txBody>
      </p:sp>
      <p:pic>
        <p:nvPicPr>
          <p:cNvPr id="8" name="Picture 7" descr="06_logistic_confu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371600"/>
            <a:ext cx="3840480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321040" y="10058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로지스틱 계수 (OR ± 95% CI)</a:t>
            </a:r>
          </a:p>
        </p:txBody>
      </p:sp>
      <p:pic>
        <p:nvPicPr>
          <p:cNvPr id="10" name="Picture 9" descr="07_logistic_coefficien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1371600"/>
            <a:ext cx="3657600" cy="2743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2880" y="420624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피처 선택 — CV R² 후보 세트 비교 (강남)</a:t>
            </a:r>
          </a:p>
        </p:txBody>
      </p:sp>
      <p:pic>
        <p:nvPicPr>
          <p:cNvPr id="12" name="Picture 11" descr="04_cv_r2_comparis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4572000"/>
            <a:ext cx="5943600" cy="21031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0" y="4206240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앙상블 투표 + Spearman 상관 (강남 최종 피처)</a:t>
            </a:r>
          </a:p>
        </p:txBody>
      </p:sp>
      <p:pic>
        <p:nvPicPr>
          <p:cNvPr id="14" name="Picture 13" descr="05_final_features_summar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0" y="4572000"/>
            <a:ext cx="5577840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핵심 수치 요약 (강남 전체, 5-Fold CV)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DD7EE"/>
                </a:solidFill>
              </a:rPr>
              <a:t>generate_report.py 결과 기반  |  AEC_prev vs AEC_new 정량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100584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회귀 분석 결과 (강남, 전체, n=1,365)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82880" y="1371600"/>
          <a:ext cx="7772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3100"/>
                <a:gridCol w="1943100"/>
                <a:gridCol w="1943100"/>
                <a:gridCol w="19431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Case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Lin R²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Lin RMSE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Log AUC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Case 1 Clinical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0.6620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17.12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0.7427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Case 2 +AEC_prev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0.6780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16.71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0.7510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Case 3 +AEC_new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0.6694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16.93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0.7442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Case 4 +AEC_prev +Scanner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0.6682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16.96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0.7400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Case 5 +AEC_new +Scanner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0.6620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17.11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0.7311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182880" y="3657600"/>
            <a:ext cx="7772400" cy="777240"/>
          </a:xfrm>
          <a:prstGeom prst="rect">
            <a:avLst/>
          </a:prstGeom>
          <a:solidFill>
            <a:srgbClr val="EE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37033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5B6"/>
                </a:solidFill>
              </a:rPr>
              <a:t>AEC_prev 기여도 (Case 2 - Case 1):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3977639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</a:rPr>
              <a:t>Lin R² +0.0160  |  AUC +0.0083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37033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8B45"/>
                </a:solidFill>
              </a:rPr>
              <a:t>AEC_new 기여도 (Case 3 - Case 1):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3977639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8B45"/>
                </a:solidFill>
              </a:rPr>
              <a:t>Lin R² +0.0074  |  AUC +0.0015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100584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피처 선택 CV R² 비교 (AEC_prev vs Pipeline)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8229600" y="1371600"/>
          <a:ext cx="3749035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9807"/>
                <a:gridCol w="749807"/>
                <a:gridCol w="749807"/>
                <a:gridCol w="749807"/>
                <a:gridCol w="749807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선택 피처 수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Pipeline R²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Prev R²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Delta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2E"/>
                          </a:solidFill>
                        </a:rPr>
                        <a:t>강남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2E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2E"/>
                          </a:solidFill>
                        </a:rPr>
                        <a:t>0.1818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2E"/>
                          </a:solidFill>
                        </a:rPr>
                        <a:t>0.1768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2E"/>
                          </a:solidFill>
                        </a:rPr>
                        <a:t>+0.0050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2E"/>
                          </a:solidFill>
                        </a:rPr>
                        <a:t>신촌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2E"/>
                          </a:solidFill>
                        </a:rPr>
                        <a:t>13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2E"/>
                          </a:solidFill>
                        </a:rPr>
                        <a:t>0.0775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2E"/>
                          </a:solidFill>
                        </a:rPr>
                        <a:t>0.0305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2E"/>
                          </a:solidFill>
                        </a:rPr>
                        <a:t>+0.0469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2E"/>
                          </a:solidFill>
                        </a:rPr>
                        <a:t>병합(강</a:t>
                      </a:r>
                    </a:p>
                  </a:txBody>
                  <a:tcPr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2E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2E"/>
                          </a:solidFill>
                        </a:rPr>
                        <a:t>0.0881</a:t>
                      </a:r>
                    </a:p>
                  </a:txBody>
                  <a:tcPr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2E"/>
                          </a:solidFill>
                        </a:rPr>
                        <a:t>0.0965</a:t>
                      </a:r>
                    </a:p>
                  </a:txBody>
                  <a:tcPr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2E"/>
                          </a:solidFill>
                        </a:rPr>
                        <a:t>-0.0084</a:t>
                      </a:r>
                    </a:p>
                  </a:txBody>
                  <a:tcPr>
                    <a:solidFill>
                      <a:srgbClr val="FFEBEB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8229600" y="3154680"/>
            <a:ext cx="3749039" cy="1325880"/>
          </a:xfrm>
          <a:prstGeom prst="rect">
            <a:avLst/>
          </a:prstGeom>
          <a:solidFill>
            <a:srgbClr val="F0F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320040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8B45"/>
                </a:solidFill>
              </a:rPr>
              <a:t>3개 데이터셋 공통 선택 피처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21040" y="3520440"/>
            <a:ext cx="1097280" cy="320040"/>
          </a:xfrm>
          <a:prstGeom prst="rect">
            <a:avLst/>
          </a:prstGeom>
          <a:solidFill>
            <a:srgbClr val="008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3538728"/>
            <a:ext cx="1005839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mean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21040" y="3886200"/>
            <a:ext cx="2834639" cy="320040"/>
          </a:xfrm>
          <a:prstGeom prst="rect">
            <a:avLst/>
          </a:prstGeom>
          <a:solidFill>
            <a:srgbClr val="008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3904487"/>
            <a:ext cx="2743199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spectral_energy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2880" y="4572000"/>
            <a:ext cx="11795760" cy="2103120"/>
          </a:xfrm>
          <a:prstGeom prst="rect">
            <a:avLst/>
          </a:prstGeom>
          <a:solidFill>
            <a:srgbClr val="F5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461772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55E"/>
                </a:solidFill>
              </a:rPr>
              <a:t>연구 보고서: results/research_report_0430.md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" y="493776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강남 선형 회귀: Case 2(+AEC_prev)가 최고 R²=0.6780 — AEC_prev의 기여 (Δ+0.0160)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" y="5257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강남 로지스틱 AUC: Case 3(+AEC_new)=0.8352, Case 2(+AEC_prev)=0.8346 — 두 세트 동등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" y="557784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피처 선택: 강남 9개, 신촌 13개, 병합 11개 — 'mean', 'spectral_energy' 3개 데이터셋 공통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" y="5897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전체 보고서(회귀+피처+교차병원+BMI기여도)는 research_report_0430.md에서 확인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5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025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결론 및 기대 효과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4389120" cy="2286000"/>
          </a:xfrm>
          <a:prstGeom prst="rect">
            <a:avLst/>
          </a:prstGeom>
          <a:solidFill>
            <a:srgbClr val="224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1371600"/>
            <a:ext cx="4389120" cy="457200"/>
          </a:xfrm>
          <a:prstGeom prst="rect">
            <a:avLst/>
          </a:prstGeom>
          <a:solidFill>
            <a:srgbClr val="008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141732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① 피처 선택 객관화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920240"/>
            <a:ext cx="4206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60개+ AEC 피처에서 과적합·다중공선성 없이
최적 세트를 데이터 기반으로 자동 결정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1371600"/>
            <a:ext cx="4389120" cy="2286000"/>
          </a:xfrm>
          <a:prstGeom prst="rect">
            <a:avLst/>
          </a:prstGeom>
          <a:solidFill>
            <a:srgbClr val="224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26480" y="1371600"/>
            <a:ext cx="4389120" cy="4572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141732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② BMI 보정으로 인과 추론 강화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1920240"/>
            <a:ext cx="4206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체지방·근육량 교란을 통제하여
AEC 신호의 독립적 예측력을 분리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1600" y="3931920"/>
            <a:ext cx="4389120" cy="2286000"/>
          </a:xfrm>
          <a:prstGeom prst="rect">
            <a:avLst/>
          </a:prstGeom>
          <a:solidFill>
            <a:srgbClr val="224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71600" y="3931920"/>
            <a:ext cx="4389120" cy="4572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3040" y="3977639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③ AEC_prev vs AEC_new 직접 비교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480559"/>
            <a:ext cx="4206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5-Case 구조로 수동 vs 자동 피처 세트의
회귀 성능을 정량적으로 비교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3931920"/>
            <a:ext cx="4389120" cy="2286000"/>
          </a:xfrm>
          <a:prstGeom prst="rect">
            <a:avLst/>
          </a:prstGeom>
          <a:solidFill>
            <a:srgbClr val="224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3931920"/>
            <a:ext cx="4389120" cy="457200"/>
          </a:xfrm>
          <a:prstGeom prst="rect">
            <a:avLst/>
          </a:prstGeom>
          <a:solidFill>
            <a:srgbClr val="00B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3977639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④ 재현성 &amp; 외부 검증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4480559"/>
            <a:ext cx="4206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강남·신촌 교차 검증으로
피처 선택과 모델의 일반화 가능성 확인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0080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C000"/>
                </a:solidFill>
              </a:rPr>
              <a:t>0430 설계는 기존 0424 대비 방법론적 엄밀성을 전반적으로 향상,
BMI 보정·자동 피처 선택·다병원 검증을 통해 연구 결론의 신뢰성을 높임.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