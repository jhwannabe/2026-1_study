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192024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355E"/>
                </a:solidFill>
              </a:rPr>
              <a:t>연구 설계 변경사항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5B6"/>
                </a:solidFill>
              </a:rPr>
              <a:t>0424  →  0430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290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</a:rPr>
              <a:t>TAMA 예측 회귀분석 연구  |  AEC 신호 피처 기반 근감소증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776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① 피처 선택: 수동  →  자동 파이프라인 (4단계)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270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② 임상 기준선: Age+Sex  →  Age+Sex+BMI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562855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③ Case 구조: 3단계  →  5단계 (AEC_prev vs AEC_new)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8554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④ 다병원 자동 순회 + 교차 병원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2026-04-30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변경사항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0424 → 0430  |  총 4가지 설계 변경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" y="1051560"/>
          <a:ext cx="11887200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2377440"/>
                <a:gridCol w="2377440"/>
              </a:tblGrid>
              <a:tr h="11247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0424 이전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0430 이후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핵심 목적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피처 선택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수동 선택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(상관계수+VIF → 연구자 결정)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['mean','CV','skewness','slope_abs_mean']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자동 파이프라인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(4단계 필터링 + 앙상블 투표 + CV R²)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다중공선성·과적합 위험 제거,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객관적 피처 선택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기준선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 + 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 + Sex + 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BMI 교란변수 보정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→ AEC 순수 기여도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구조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1(임상) / 2(+AEC) / 3(+AEC+스캐너)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단일 AEC 세트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1~5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AEC_prev vs AEC_new 교차 비교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'어떤 AEC 피처 세트가 더 유용한가'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직접 정량 비교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1247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다병원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 단독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(config.SITE 수동 변경)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강남·신촌 자동 순회 +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교차 병원 비교(외부 검증)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재현성(generalizability)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① 피처 선택: 수동 → 자동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51560"/>
            <a:ext cx="5029200" cy="53492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011679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9202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0424 수동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전체 AEC 피처(60개+) vs 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051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Pearson / Spearman 상관계수 + VIF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12264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14015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feature_selection_report.xlsx 검토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15768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연구자가 수동으로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1752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1927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병원(강남)만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21024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922776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선택 결과 (config.py에 하드코딩):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224528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['mean', 'CV', 'skewness', 'slope_abs_mean']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2628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82803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▲ 한계: 60개+ 피처에서 단순 상관계수만으로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129783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선택 시 과적합·다중공선성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051560"/>
            <a:ext cx="6035040" cy="53492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097280"/>
            <a:ext cx="2505456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115568"/>
            <a:ext cx="24140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0430 자동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508760"/>
            <a:ext cx="135331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527048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48132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Near-zero variance 제거
(표준화 후 threshold=0.01)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167128"/>
            <a:ext cx="135331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185416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13969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Pearson |r| ≥ 0.95 중복 피처 제거
(VIF는 참고용 보고만)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825496"/>
            <a:ext cx="135331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843784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79806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단변량 필터: MI &gt; 0  OR  Spearman p &lt; 0.05
(상한 없음 — 후보 최대 보존)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483863"/>
            <a:ext cx="1353312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502151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4564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모델 기반 앙상블 투표
  LASSO + RFECV(Ridge) + RF Permutation
→ pool 구성 후 CV R² 최적화
  (pool ≤ 20: 완전탐색 | &gt;20: SFS)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4142231"/>
            <a:ext cx="1188719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160519"/>
            <a:ext cx="109727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114799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VIF &gt; 10 반복 제거 (FIXED: 'mean' 강제 보존)
→ 강남 / 신촌 / 병합 각각 독립 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6080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E"/>
                </a:solidFill>
              </a:rPr>
              <a:t>★ 고정 피처: 'mean'은 임상 해석을 위해 모든 단계에서 강제 보존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① 피처 선택 결과: AEC_prev vs AEC_new (CV 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3개 데이터셋(강남 / 신촌 / 병합)에서 이전 수동 선택과 파이프라인 결과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Previous vs Pipeline — 3개 데이터셋 CV R² 비교</a:t>
            </a:r>
          </a:p>
        </p:txBody>
      </p:sp>
      <p:pic>
        <p:nvPicPr>
          <p:cNvPr id="6" name="Picture 5" descr="cross_dataset_comparis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데이터셋별 최종 선택 피처 히트맵</a:t>
            </a:r>
          </a:p>
        </p:txBody>
      </p:sp>
      <p:pic>
        <p:nvPicPr>
          <p:cNvPr id="8" name="Picture 7" descr="cross_dataset_featu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57784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" y="5029200"/>
            <a:ext cx="11795760" cy="160020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해석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440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파이프라인 CV R²가 이전 수동 선택 대비 동등 또는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7150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히트맵: 1=선택됨 / 0=미선택. 데이터셋 간 공통 피처가 재현성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강남·신촌 모두에서 선택된 피처 → 병합 데이터에서도 안정적으로 기여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② 임상 기준선: BMI 공변량 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5394960" cy="5303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10972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1887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기준선 = PatientAge + PatientSex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1: [Age, Sex]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2: [Age, Sex, AEC 피처]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3: [Age, Sex, AEC 피처, Scanner]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BMI 정보 미포함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체지방량·근육량과 직접 연관된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주요 교란변수 미보정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▲ 문제: AEC 피처의 독립 예측력이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BMI에 의해 과대추정될 가능성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97280"/>
            <a:ext cx="5486400" cy="53035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9400" y="1170432"/>
            <a:ext cx="1097280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1887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기준선 = PatientAge + PatientSex + BMI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1: [Age, Sex, BMI]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2: [Age, Sex, BMI, AEC_prev]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3: [Age, Sex, BMI, AEC_new]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4: [Age, Sex, BMI, AEC_prev, Scanner]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5: [Age, Sex, BMI, AEC_new, Scanner]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611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BMI = 체지방량·제지방량과 직접 연관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근감소증의 핵심 교란변수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572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892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B45"/>
                </a:solidFill>
              </a:rPr>
              <a:t>★ 효과: AEC 피처의 순수 기여도를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212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BMI 보정 후 분리하여 정량화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② BMI 기여도 분석 결과 (Case 1 / 2 /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Clinical baseline에 BMI 추가 시 R² / AUC 변화  |  강남·신촌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강남 — R² &amp; AUC 비교 (BMI 없음 vs 있음)</a:t>
            </a:r>
          </a:p>
        </p:txBody>
      </p:sp>
      <p:pic>
        <p:nvPicPr>
          <p:cNvPr id="6" name="Picture 5" descr="bmi_comparison_r2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5852160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00584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신촌 — R² &amp; AUC 비교 (BMI 없음 vs 있음)</a:t>
            </a:r>
          </a:p>
        </p:txBody>
      </p:sp>
      <p:pic>
        <p:nvPicPr>
          <p:cNvPr id="8" name="Picture 7" descr="bmi_comparison_r2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76072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4041648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BMI 추가 효과 (Delta = with BMI − without BMI)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4370832"/>
          <a:ext cx="11795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병원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ΔR² (선형)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ΔRMSE (선형)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ΔAUC (로지스틱)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ΔAcc (로지스틱)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C1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+0.2035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-1.1400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+0.3052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-0.0849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+0.0908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-0.5300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+0.0902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+0.0967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C4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+0.0940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-0.5400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+0.0750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+0.0461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4768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진녹(ΔR²≥0.05): BMI 보정 유효   연녹(ΔR²≥0.01): 소폭 향상   회색(ΔR²&lt;0.01): 미미 | Case1=임상기준선, Case2=+AEC_prev, Case4=+AEC_prev+Scanner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③ Case 구조 확장: AEC_prev vs AEC_new 이중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0424: 3-Case (단일 AEC)  →  0430: 5-Case (AEC_prev × AEC_new 교차 비교)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515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▼ 0424 Case 구조 (3단계, 단일 AEC 세트)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417320"/>
          <a:ext cx="5852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포함 변수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기준선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 + AEC 4개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기여도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 + AEC + Scanner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스캐너 보정 효과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297180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45"/>
                </a:solidFill>
              </a:rPr>
              <a:t>▼ 0430 Case 구조 (5단계, AEC_prev vs AEC_new 교차)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3337560"/>
          <a:ext cx="117957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포함 변수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AEC 세트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Sex, BMI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BMI 포함 임상 기준선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 + AEC_prev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수동 4개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(mean,CV,skewness,slope_abs_mean)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이전 AEC 기여도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 + AEC_new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자동 파이프라인 선택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새 AEC 기여도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 + Scanner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AEC_prev + 스캐너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이전 AEC + 스캐너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 + Scanner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AEC_new + 스캐너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새 AEC + 스캐너 (최대 모델)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64922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Case 2 vs Case 3, Case 4 vs Case 5 → AEC_prev vs AEC_new 직접 성능 비교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③ Case 비교 결과 (강남 – 전체)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선형 회귀: R²/RMSE/MAE  |  로지스틱 회귀: AUC/Accuracy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 — Case별 메트릭 비교</a:t>
            </a:r>
          </a:p>
        </p:txBody>
      </p:sp>
      <p:pic>
        <p:nvPicPr>
          <p:cNvPr id="6" name="Picture 5" descr="02_linear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 — Case별 메트릭 비교</a:t>
            </a:r>
          </a:p>
        </p:txBody>
      </p:sp>
      <p:pic>
        <p:nvPicPr>
          <p:cNvPr id="8" name="Picture 7" descr="05_logistic_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57784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9776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Case 비교 전체 개요</a:t>
            </a:r>
          </a:p>
        </p:txBody>
      </p:sp>
      <p:pic>
        <p:nvPicPr>
          <p:cNvPr id="10" name="Picture 9" descr="08_case_comparison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343400"/>
            <a:ext cx="594360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ROC 곡선 (Case 1~5)</a:t>
            </a:r>
          </a:p>
        </p:txBody>
      </p:sp>
      <p:pic>
        <p:nvPicPr>
          <p:cNvPr id="12" name="Picture 11" descr="04_logistic_r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343400"/>
            <a:ext cx="5577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④ 다병원 자동 순회 + 교차 병원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0424: 강남 단독  →  0430: 강남·신촌 자동 순회 + 외부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4572000" cy="53035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10972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1887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config.py의 SITE 변수를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56231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연구자가 수동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57984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강남만 분석 (신촌 별도 실행 필요)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59736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재현성 비교 구조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926080"/>
            <a:ext cx="4572000" cy="34747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999232"/>
            <a:ext cx="1097280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30175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data/ 폴더 자동 스캔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85032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강남·신촌 모두 순회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86784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강남 학습 → 신촌 외부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88536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(Cross-hospital validation)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90288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피처 선택도 3개 데이터셋 독립 실행: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9204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강남 / 신촌 / 병합(공통 피처)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93792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재현성 히트맵으로 공통 피처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0515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교차 병원 비교 (강남 → 신촌 외부 검증)</a:t>
            </a:r>
          </a:p>
        </p:txBody>
      </p:sp>
      <p:pic>
        <p:nvPicPr>
          <p:cNvPr id="23" name="Picture 22" descr="09_cross_hospit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7040880" cy="2743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83480" y="42519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외부 검증 상세 결과</a:t>
            </a:r>
          </a:p>
        </p:txBody>
      </p:sp>
      <p:pic>
        <p:nvPicPr>
          <p:cNvPr id="25" name="Picture 24" descr="10_external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617720"/>
            <a:ext cx="70408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선형 회귀 결과 (강남 – 전체)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Actual vs Predicted  |  계수 (Coeff)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Actual vs Predicted (5-fold CV)</a:t>
            </a:r>
          </a:p>
        </p:txBody>
      </p:sp>
      <p:pic>
        <p:nvPicPr>
          <p:cNvPr id="6" name="Picture 5" descr="01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회귀 계수 (Standardized Coefficients)</a:t>
            </a:r>
          </a:p>
        </p:txBody>
      </p:sp>
      <p:pic>
        <p:nvPicPr>
          <p:cNvPr id="8" name="Picture 7" descr="03_linear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5778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로지스틱 회귀 결과 (강남 – 전체)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ROC  |  Confusion Matrix  |  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ROC Curves (Case 1~5)</a:t>
            </a:r>
          </a:p>
        </p:txBody>
      </p:sp>
      <p:pic>
        <p:nvPicPr>
          <p:cNvPr id="6" name="Picture 5" descr="04_logistic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Confusion Matrix (Best Case)</a:t>
            </a:r>
          </a:p>
        </p:txBody>
      </p:sp>
      <p:pic>
        <p:nvPicPr>
          <p:cNvPr id="8" name="Picture 7" descr="06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8404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계수 (OR ± 95% CI)</a:t>
            </a:r>
          </a:p>
        </p:txBody>
      </p:sp>
      <p:pic>
        <p:nvPicPr>
          <p:cNvPr id="10" name="Picture 9" descr="07_logistic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371600"/>
            <a:ext cx="3657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피처 선택 — CV R² 후보 세트 비교 (강남)</a:t>
            </a:r>
          </a:p>
        </p:txBody>
      </p:sp>
      <p:pic>
        <p:nvPicPr>
          <p:cNvPr id="12" name="Picture 11" descr="04_cv_r2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72000"/>
            <a:ext cx="594360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206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앙상블 투표 + Spearman 상관 (강남 최종 피처)</a:t>
            </a:r>
          </a:p>
        </p:txBody>
      </p:sp>
      <p:pic>
        <p:nvPicPr>
          <p:cNvPr id="14" name="Picture 13" descr="05_final_features_sum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572000"/>
            <a:ext cx="55778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핵심 수치 요약 (강남 전체, 5-Fold CV)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generate_report.py 결과 기반  |  AEC_prev vs AEC_new 정량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회귀 분석 결과 (강남, 전체, n=1,365)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37160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Lin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Lin RMSE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Log 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 Clinical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0.4865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6.20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0.7707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 +AEC_prev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0.4997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6.13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0.7715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 +AEC_new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0.4960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6.15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0.7710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4 +AEC_prev +Scanner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0.4831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6.23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0.7589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5 +AEC_new +Scanner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0.4830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6.23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0.7564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82880" y="3657600"/>
            <a:ext cx="7772400" cy="77724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AEC_prev 기여도 (Case 2 - Case 1):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Lin R² +0.0132  |  AUC +0.0008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45"/>
                </a:solidFill>
              </a:rPr>
              <a:t>AEC_new 기여도 (Case 3 - Case 1):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45"/>
                </a:solidFill>
              </a:rPr>
              <a:t>Lin R² +0.0095  |  AUC +0.0003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0058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피처 선택 CV R² 비교 (AEC_prev vs Pipeline)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0" y="1371600"/>
          <a:ext cx="374903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"/>
                <a:gridCol w="749807"/>
                <a:gridCol w="749807"/>
                <a:gridCol w="749807"/>
                <a:gridCol w="749807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선택 피처 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Pipeline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Prev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0.1818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0.1768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+0.0050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신촌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0.0775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0.0305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+0.0469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병합(강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0.0881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0.0965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-0.0084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229600" y="3154680"/>
            <a:ext cx="3749039" cy="13258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45"/>
                </a:solidFill>
              </a:rPr>
              <a:t>3개 데이터셋 공통 선택 피처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520440"/>
            <a:ext cx="1097280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538728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886200"/>
            <a:ext cx="2834639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904487"/>
            <a:ext cx="27431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spectral_energy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572000"/>
            <a:ext cx="11795760" cy="21031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617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E"/>
                </a:solidFill>
              </a:rPr>
              <a:t>연구 보고서: results/research_report_0430.md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937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 선형 회귀: Case 2(+AEC_prev)가 최고 R²=0.6780 — AEC_prev의 기여 (Δ+0.0160)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257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 로지스틱 AUC: Case 3(+AEC_new)=0.8352, Case 2(+AEC_prev)=0.8346 — 두 세트 동등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5778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피처 선택: 강남 9개, 신촌 13개, 병합 11개 — 'mean', 'spectral_energy' 3개 데이터셋 공통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897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전체 보고서(회귀+피처+교차병원+BMI기여도)는 research_report_0430.md에서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결론 및 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438912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4389120" cy="45720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 피처 선택 객관화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60개+ AEC 피처에서 과적합·다중공선성 없이
최적 세트를 데이터 기반으로 자동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438912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43891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 BMI 보정으로 인과 추론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체지방·근육량 교란을 통제하여
AEC 신호의 독립적 예측력을 분리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931920"/>
            <a:ext cx="438912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43891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9776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 AEC_prev vs AEC_new 직접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80559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5-Case 구조로 수동 vs 자동 피처 세트의
회귀 성능을 정량적으로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931920"/>
            <a:ext cx="438912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4389120" cy="457200"/>
          </a:xfrm>
          <a:prstGeom prst="rect">
            <a:avLst/>
          </a:prstGeom>
          <a:solidFill>
            <a:srgbClr val="00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9776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 재현성 &amp; 외부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0559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강남·신촌 교차 검증으로
피처 선택과 모델의 일반화 가능성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0430 설계는 기존 0424 대비 방법론적 엄밀성을 전반적으로 향상,
BMI 보정·자동 피처 선택·다병원 검증을 통해 연구 결론의 신뢰성을 높임.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