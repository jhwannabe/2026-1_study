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46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47.png"/><Relationship Id="rId7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AEC 신호 기반 근감소증 예측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9EA3AB"/>
                </a:solidFill>
                <a:latin typeface="맑은 고딕"/>
              </a:rPr>
              <a:t>Cross-Attention 아키텍처와 DeLong Test를 통한 모델 간 성능 비교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3756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9EA3AB"/>
                </a:solidFill>
                <a:latin typeface="맑은 고딕"/>
              </a:rPr>
              <a:t>총 1,143명  |  5-Fold CV  |  Bootstrap 95% CI  |  DeLong AUC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601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9EA3AB"/>
                </a:solidFill>
                <a:latin typeface="맑은 고딕"/>
              </a:rPr>
              <a:t>2026-05-28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846320"/>
            <a:ext cx="2377440" cy="77724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1  Clinic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846320"/>
            <a:ext cx="2377440" cy="77724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2  Clinic + AEC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4846320"/>
            <a:ext cx="2377440" cy="777240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2_2  Neg.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799" y="4846320"/>
            <a:ext cx="2377440" cy="77724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799" y="4910328"/>
            <a:ext cx="2377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Model 3  Clinic+Scanner+AEC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연구 배경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신호의 진단적 가치 탐색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3583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9669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맑은 고딕"/>
              </a:rPr>
              <a:t>연구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5024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근감소증(Sarcopenia): SMI 기반 이진 분류 — 노인 허약·사망률과 직결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942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기존 진단: CT 판독 + 영상의학과 전문의 수동 분석 → 시간·비용 소모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7238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AEC(자동노출제어): CT 스캔 시 자동 수집, 체형·조직 구성 간접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9534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추가 검사 없이 기존 CT 장비에서 수집 가능한 Zero-cost 부가 신호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18304"/>
            <a:ext cx="51206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맑은 고딕"/>
              </a:rPr>
              <a:t>• 핵심 질문: AEC가 Clinic 변수 대비 얼마나 예측력을 개선하는가?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905256"/>
            <a:ext cx="5943600" cy="53583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996696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맑은 고딕"/>
              </a:rPr>
              <a:t>비교 연구 목적 (DeLong Test 기반)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35024"/>
            <a:ext cx="557784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26464"/>
            <a:ext cx="73152" cy="96012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44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① M1 vs M2: AEC 신호가 기여하는가?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764792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Clinic(LR) vs Clinic+AEC(CrossAttn)
→ DeLong AUC 비교로 통계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569464"/>
            <a:ext cx="73152" cy="96012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587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9B8A"/>
                </a:solidFill>
                <a:latin typeface="맑은 고딕"/>
              </a:rPr>
              <a:t>② M1 vs M3: Scanner+AEC 조합 효과?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907791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Clinic(LR) vs Clinic+Scanner+AEC(CrossAttn3)
→ DeLong AUC 비교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712464"/>
            <a:ext cx="73152" cy="96012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730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87400"/>
                </a:solidFill>
                <a:latin typeface="맑은 고딕"/>
              </a:rPr>
              <a:t>③ M2 vs M3: Scanner 순증가 효과?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50791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CrossAttn vs CrossAttn3 (동일 test set)
→ 통계적 유의차 여부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855464"/>
            <a:ext cx="73152" cy="96012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873752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  <a:latin typeface="맑은 고딕"/>
              </a:rPr>
              <a:t>④ M2 vs M2_2: 매칭이 실질적 기여?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193792"/>
            <a:ext cx="5577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Matched vs Unmatched (음성 대조군)
→ AEC 개인 대응의 필요성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데이터셋 및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1,143명 단일 기관 후향적 코호트 / 5-Fold Stratified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7698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데이터셋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4416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344168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34416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남성(M)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여성(F)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44168"/>
            <a:ext cx="13716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441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합계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636776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636776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1636776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1636776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324 (Sarco 15.4%)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636776"/>
            <a:ext cx="13258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636776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590 (Sarco 7.8%)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636776"/>
            <a:ext cx="1371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1636776"/>
            <a:ext cx="13716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914 (Sarco 10.5%)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975104"/>
            <a:ext cx="9601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975104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1975104"/>
            <a:ext cx="13258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1975104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82  (Sarco 15.9%)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1975104"/>
            <a:ext cx="13258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1975104"/>
            <a:ext cx="13258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147 (Sarco 7.5%)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1975104"/>
            <a:ext cx="13716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1975104"/>
            <a:ext cx="13716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229 (Sarco 10.5%)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3317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연령: 56.95±11.86세  |  BMI: 23.58±3.17 kg/m²  |  Train:Test = 8:2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1576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AEC 전처리 조건 (5종)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35808"/>
            <a:ext cx="502920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11810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norm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311810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행 방향 z-score 정규화 (곡선 형태만 보존)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8386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crop80/60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48386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중앙 80% / 60% 구간만 사용 (양끝 제거)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962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len128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384962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시퀀스 길이 128pt 선형 보간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215384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excl_extreme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215384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scan-length 상하위 5% 극단 샘플 제외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6177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맑은 고딕"/>
              </a:rPr>
              <a:t>AEC 128pt × 5 전처리 조건 = 5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905256"/>
            <a:ext cx="5394960" cy="3026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978408"/>
            <a:ext cx="50292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모델 구성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1298448"/>
            <a:ext cx="502920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1380744"/>
            <a:ext cx="73152" cy="74980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13990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Model 1 — Baseline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17007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Age, Sex, BMI → Logistic Regression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295144"/>
            <a:ext cx="73152" cy="74980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23134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9B8A"/>
                </a:solidFill>
                <a:latin typeface="맑은 고딕"/>
              </a:rPr>
              <a:t>Model 2 — AEC Matched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26151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 + AEC(동일환자) → CrossAttention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209544"/>
            <a:ext cx="73152" cy="749808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32278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9EA3AB"/>
                </a:solidFill>
                <a:latin typeface="맑은 고딕"/>
              </a:rPr>
              <a:t>Model 2_2 — AEC Unmatched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35295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 + AEC(다른환자) → 음성 대조군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4123944"/>
            <a:ext cx="73152" cy="74980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4142232"/>
            <a:ext cx="49377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E87400"/>
                </a:solidFill>
                <a:latin typeface="맑은 고딕"/>
              </a:rPr>
              <a:t>Model 3 — Scanner+AEC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44398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Clinic + MFR + AEC → CrossAttention3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3813048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데이터 분포 (Train / Test / Sex / Sarcopenia)</a:t>
            </a:r>
          </a:p>
        </p:txBody>
      </p:sp>
      <p:pic>
        <p:nvPicPr>
          <p:cNvPr id="60" name="Picture 59" descr="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087368"/>
            <a:ext cx="6217920" cy="258775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통계 분석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모델 비교를 위한 3단계 검증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3794760" cy="45720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① DeLong AUC Test  (Test 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동일 Test set 두 모델의 AUROC 직접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DeLong et al. (1988) — 쌍별 공분산 구조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H₀: AUROC_A = AUROC_B  →  z-통계량 기반 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excl_extreme 조건: test set 크기 불일치로 M1 비교 제외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905256"/>
            <a:ext cx="3794760" cy="4572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② Bootstrap 95% CI  (Test Set)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n_boot = 2,000회 복원 추출 기반 신뢰구간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2.5th–97.5th percentile 구간 보고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AUROC / AUPRC / Brier / Accuracy / F1 전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단일 추정치의 불확실성 정량화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05256"/>
            <a:ext cx="3794760" cy="5230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905256"/>
            <a:ext cx="3794760" cy="4572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93268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③ Fold-level Paired Tests  (CV)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49961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5-Fold 교차검증 값에 대한 쌍별 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293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Paired t-test + Wilcoxon signed-rank (n=5)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5915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두 검정 모두 보고 (p-value 쌍 제시)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889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M1↔M2/M3: train set 차이 주의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24728"/>
            <a:ext cx="11612880" cy="47548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맑은 고딕"/>
              </a:rPr>
              <a:t>유의수준:  *** p&lt;0.001   ** p&lt;0.01   * p&lt;0.05   † p&lt;0.10   ns p≥0.10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전체 모델 성능 비교 개요  (AEC 128pt + norm)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 → M2 → M3 순차 비교  |  Bootstrap 95% CI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4173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05256"/>
            <a:ext cx="1417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905256"/>
            <a:ext cx="10058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9052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905256"/>
            <a:ext cx="1371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905256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 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05256"/>
            <a:ext cx="10058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05256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905256"/>
            <a:ext cx="960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905256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905256"/>
            <a:ext cx="96012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905256"/>
            <a:ext cx="960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905256"/>
            <a:ext cx="15087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905256"/>
            <a:ext cx="1508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vs M1 Δ AUC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905256"/>
            <a:ext cx="150876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905256"/>
            <a:ext cx="1508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vs M1 DeLong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78440" y="905256"/>
            <a:ext cx="169164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905256"/>
            <a:ext cx="1691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216152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21615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1216152"/>
            <a:ext cx="100584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121615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1216152"/>
            <a:ext cx="13716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12161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216152"/>
            <a:ext cx="100584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121615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1216152"/>
            <a:ext cx="9601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2161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216152"/>
            <a:ext cx="9601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2161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1216152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121615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1216152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960" y="121615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1216152"/>
            <a:ext cx="169164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121615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1581912"/>
            <a:ext cx="14173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158191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1581912"/>
            <a:ext cx="100584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37360" y="15819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0.8435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1581912"/>
            <a:ext cx="13716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[0.777,0.901]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1581912"/>
            <a:ext cx="100584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15819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0.3433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1581912"/>
            <a:ext cx="9601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158191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0.1397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581912"/>
            <a:ext cx="9601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158191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0.3396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1581912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158191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1581912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23960" y="158191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p=0.051 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78440" y="1581912"/>
            <a:ext cx="169164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78440" y="158191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Clinic+AEC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1947672"/>
            <a:ext cx="14173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194767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(Neg.Ctrl)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360" y="1947672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19476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0.8264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1947672"/>
            <a:ext cx="137160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88920" y="194767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[0.744,0.891]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0" y="1947672"/>
            <a:ext cx="1005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06240" y="19476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0.3204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57800" y="1947672"/>
            <a:ext cx="9601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57800" y="194767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0.1887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3640" y="1947672"/>
            <a:ext cx="9601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194767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80" y="1947672"/>
            <a:ext cx="15087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69480" y="19476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1947672"/>
            <a:ext cx="150876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23960" y="194767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(neg ctrl)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378440" y="1947672"/>
            <a:ext cx="16916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78440" y="194767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Unmatched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313432"/>
            <a:ext cx="14173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23134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2313432"/>
            <a:ext cx="100584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37360" y="23134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0.8455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88920" y="2313432"/>
            <a:ext cx="13716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88920" y="231343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[0.759,0.914]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06240" y="2313432"/>
            <a:ext cx="100584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06240" y="23134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0.3475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57800" y="2313432"/>
            <a:ext cx="9601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57800" y="231343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63640" y="2313432"/>
            <a:ext cx="9601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63640" y="231343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0.3793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69480" y="2313432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69480" y="231343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+0.043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23960" y="2313432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23960" y="2313432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p=0.066 †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78440" y="2313432"/>
            <a:ext cx="169164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378440" y="2313432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Clinic+Scn+AEC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4320" y="353872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(M1·M2·M2₂·M3 / norm)</a:t>
            </a:r>
          </a:p>
        </p:txBody>
      </p:sp>
      <p:pic>
        <p:nvPicPr>
          <p:cNvPr id="96" name="Picture 95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31336"/>
            <a:ext cx="4114800" cy="2843784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4572000" y="3538728"/>
            <a:ext cx="3749039" cy="3136392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572000" y="3538728"/>
            <a:ext cx="91440" cy="313639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54880" y="3611880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  <a:latin typeface="맑은 고딕"/>
              </a:rPr>
              <a:t>비교 핵심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54880" y="398678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Δ AUC +0.040, p=0.051 †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54880" y="439826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Δ AUC +0.043, p=0.066 †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54880" y="480974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M2→M3 norm: Δ=+0.002, p=0.923 ns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0" y="522122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M1(0.312)→M2(0.343) +9.9%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54880" y="563270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M2&gt;M2_2 excl_extreme: Δ=0.310 ***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54880" y="604418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여성 AUC: M1(0.848)→M3(0.904) 큰 개선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58200" y="3538728"/>
            <a:ext cx="35204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31352" y="3557016"/>
            <a:ext cx="34107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norm  (Brier 0.1902)  (Brier 보정 품질 확인)</a:t>
            </a:r>
          </a:p>
        </p:txBody>
      </p:sp>
      <p:pic>
        <p:nvPicPr>
          <p:cNvPr id="108" name="Picture 107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858768"/>
            <a:ext cx="3520440" cy="281635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M1 vs M2 비교 — AEC 신호의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Clinic Only(LR) vs Clinic+AEC(CrossAttn)  |  norm: p=0.051 †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486400" cy="413308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120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M1(LR) vs M2(CrossAttn)  [ AEC 128pt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12064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0.8435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p=0.051 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0.7913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p=0.682 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0.7689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−0.034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p=0.303 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0.7933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p=0.780 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191256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— norm 기준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83864"/>
            <a:ext cx="5120640" cy="2743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Δ(M2-M1)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AUC-ROC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 [0.720,0.872]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0.844 [0.777,0.901]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+0.040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AUPRC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 [0.181,0.495]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0.343 [0.207,0.528]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+0.031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Brier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 [0.165,0.217]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0.140 [0.116,0.162]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−0.052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F1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 [0.250,0.488]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0.340 [0.170,0.491]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−0.033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905256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 (norm / M1·M2·M2₂·M3)</a:t>
            </a:r>
          </a:p>
        </p:txBody>
      </p:sp>
      <p:pic>
        <p:nvPicPr>
          <p:cNvPr id="101" name="Picture 10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25296"/>
            <a:ext cx="6035040" cy="2999232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5943600" y="4334256"/>
            <a:ext cx="60350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16752" y="4352544"/>
            <a:ext cx="59253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M2  norm  (Brier 0.1397)  (Brier 보정 품질 확인)</a:t>
            </a:r>
          </a:p>
        </p:txBody>
      </p:sp>
      <p:pic>
        <p:nvPicPr>
          <p:cNvPr id="104" name="Picture 10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654296"/>
            <a:ext cx="6035040" cy="202082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M1 vs M3 비교 — Scanner + AEC 조합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Clinic Only(LR) vs Clinic+Scanner+AEC(CrossAttn3)  |  norm: p=0.066 † — 통계적 유의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486400" cy="413308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1206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M1(LR) vs M3(CrossAttn3)  [ AEC 128pt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12064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3441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4416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3677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0.8455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60" y="16367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+0.043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63677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p=0.066 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0253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0.8033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0025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+0.000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00253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p=0.995 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36829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0.7835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23682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36829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p=0.406 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734056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74519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0.7886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4760" y="273405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0F6BBF"/>
                </a:solidFill>
                <a:latin typeface="맑은 고딕"/>
              </a:rPr>
              <a:t>−0.014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2734056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p=0.646 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191256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Bootstrap 95% CI — norm 기준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483864"/>
            <a:ext cx="5120640" cy="2743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지표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91640" y="353872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35387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0" y="353872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Δ(M3-M1)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AUC-ROC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91640" y="3813048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 [0.720,0.872]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71800" y="3813048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0.846 [0.759,0.914]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3813048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+0.042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AUPRC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91640" y="4114800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 [0.181,0.495]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71800" y="4114800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0.347 [0.227,0.552]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80" y="4114800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+0.035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Brier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91640" y="4416552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 [0.165,0.217]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71800" y="4416552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0.190 [0.161,0.218]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7680" y="4416552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F1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91640" y="4718304"/>
            <a:ext cx="1234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 [0.250,0.488]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71800" y="4718304"/>
            <a:ext cx="12801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0.379 [0.263,0.488]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97680" y="4718304"/>
            <a:ext cx="11430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3600" y="905256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비교  (norm / M1·M2·M2₂·M3)</a:t>
            </a:r>
          </a:p>
        </p:txBody>
      </p:sp>
      <p:pic>
        <p:nvPicPr>
          <p:cNvPr id="101" name="Picture 10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25296"/>
            <a:ext cx="6035040" cy="2999232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5943600" y="4334256"/>
            <a:ext cx="603504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16752" y="4352544"/>
            <a:ext cx="592531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 norm  (Brier 0.1902)  (Brier 보정 품질 확인)</a:t>
            </a:r>
          </a:p>
        </p:txBody>
      </p:sp>
      <p:pic>
        <p:nvPicPr>
          <p:cNvPr id="104" name="Picture 10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654296"/>
            <a:ext cx="6035040" cy="202082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M2 vs M3 비교 — Scanner(MFR) 추가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norm: p=0.923 ns | crop60: p=0.870 ns (M2&gt;M3) | 조건별 혼재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6858000" cy="394106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64922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M2(CrossAttn) vs M3(CrossAttn3)  [ 전 조건 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6492240" cy="36576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44168"/>
            <a:ext cx="16459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M3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44168"/>
            <a:ext cx="10058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4416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344168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34416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4416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4416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636776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636776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16367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1636776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16367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1636776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0.8455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6367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1636776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1636776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1636776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0.923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63677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63677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1975104"/>
            <a:ext cx="16459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1975104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03120" y="1975104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1975104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1975104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4680" y="1975104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0.7886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1975104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1975104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1975104"/>
            <a:ext cx="9601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1975104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0.870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1975104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97510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313432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313432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2313432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2313432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0.7689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313432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54680" y="2313432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0.7835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313432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313432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313432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2313432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0.463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31343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231343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2651760"/>
            <a:ext cx="16459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2651760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2651760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03120" y="2651760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54680" y="2651760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54680" y="2651760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06240" y="2651760"/>
            <a:ext cx="100584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2651760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2651760"/>
            <a:ext cx="96012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57800" y="2651760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0.659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2651760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2651760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2990088"/>
            <a:ext cx="1645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2990088"/>
            <a:ext cx="16459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excl_extreme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03120" y="29900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03120" y="2990088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0.8095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54680" y="29900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54680" y="2990088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0.7688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06240" y="29900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06240" y="2990088"/>
            <a:ext cx="100584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−0.041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57800" y="2990088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57800" y="2990088"/>
            <a:ext cx="96012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0.047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2990088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299008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*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90525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— norm  (M2 vs M3 차이)</a:t>
            </a:r>
          </a:p>
        </p:txBody>
      </p:sp>
      <p:pic>
        <p:nvPicPr>
          <p:cNvPr id="81" name="Picture 80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97864"/>
            <a:ext cx="4663440" cy="2450592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7315200" y="3785615"/>
            <a:ext cx="4663440" cy="28437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15200" y="3785615"/>
            <a:ext cx="91440" cy="2843784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79" y="3858768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9EA3AB"/>
                </a:solidFill>
                <a:latin typeface="맑은 고딕"/>
              </a:rPr>
              <a:t>해석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79" y="4242816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norm: M3(0.846)&gt;M2(0.844) Δ=+0.002, p=0.923 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79" y="4590288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crop60: M2(0.793)&gt;M3(0.789) Δ=−0.005, p=0.870 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79" y="4937759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crop80/len128/excl_extreme: ns — 방향 혼재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8079" y="5285231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norm은 M3 유리(†), crop60는 M2 유리(*)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98079" y="5632704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조건별 방향 불일치 → AEC 처리가 핵심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98079" y="5980175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추후 n↑ → M2 vs M3 재검증 권장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M2 vs M2_2 비교 — 매칭 효과 검증 (음성 대조군)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Matched(M2) vs Unmatched(M2_2)  |  AEC 개인 대응의 실질적 기여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438912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실험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402336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62456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M2: 환자 i의 Clinic + 환자 i의 AEC (동일 환자)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M2_2: 환자 i의 Clinic + 환자 j의 AEC (다른 환자)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→ 동일 CrossAttention 구조 / AEC만 랜덤 셔플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50008"/>
            <a:ext cx="6858000" cy="34838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6492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DeLong Test — M2(Matched) vs M2_2(Unmatched)  [ AEC 128pt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6492240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761488"/>
            <a:ext cx="18288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614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조건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761488"/>
            <a:ext cx="10515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76148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761488"/>
            <a:ext cx="11430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76148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M2_2 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76148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76148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Δ(M2-M2₂)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40680" y="2761488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76148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p-val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761488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76148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54096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054096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054096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054096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054096"/>
            <a:ext cx="1143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054096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0.8264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05409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05409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+0.017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054096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054096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0.290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054096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054096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392424"/>
            <a:ext cx="18288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392424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len128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392424"/>
            <a:ext cx="10515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3392424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392424"/>
            <a:ext cx="11430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3392424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0.7457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392424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339242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0680" y="3392424"/>
            <a:ext cx="8686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80" y="3392424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0.180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392424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392424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730752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730752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3730752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6000" y="3730752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0.7689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3730752"/>
            <a:ext cx="1143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3730752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373075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37307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−0.035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40680" y="3730752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40680" y="3730752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0.376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3730752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3730752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069079"/>
            <a:ext cx="18288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4069079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crop60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4069079"/>
            <a:ext cx="10515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86000" y="4069079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0.7933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4069079"/>
            <a:ext cx="114300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280" y="4069079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4069079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4069079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−0.028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4069079"/>
            <a:ext cx="86868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40680" y="4069079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0.353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4069079"/>
            <a:ext cx="822960" cy="33832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4069079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407408"/>
            <a:ext cx="1828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4407408"/>
            <a:ext cx="18288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excl_extreme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0" y="4407408"/>
            <a:ext cx="1051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86000" y="4407408"/>
            <a:ext cx="10515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0.8095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80" y="4407408"/>
            <a:ext cx="11430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83280" y="4407408"/>
            <a:ext cx="114300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0.4995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0" y="4407408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0" y="440740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+0.310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40680" y="4407408"/>
            <a:ext cx="868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40680" y="4407408"/>
            <a:ext cx="8686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&lt;0.001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4407408"/>
            <a:ext cx="8229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80" y="4407408"/>
            <a:ext cx="82296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***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905256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ROC — excl_extreme (가장 극적인 차이)</a:t>
            </a:r>
          </a:p>
        </p:txBody>
      </p:sp>
      <p:pic>
        <p:nvPicPr>
          <p:cNvPr id="87" name="Picture 86" descr="roc_all_models_excl_ext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97864"/>
            <a:ext cx="4663440" cy="2331720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7315200" y="3648456"/>
            <a:ext cx="4663440" cy="247802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15200" y="3648456"/>
            <a:ext cx="91440" cy="247802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8079" y="372160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87400"/>
                </a:solidFill>
                <a:latin typeface="맑은 고딕"/>
              </a:rPr>
              <a:t>해석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8079" y="4069080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excl_extreme: M2(0.809) vs M2_2(0.499) Δ=0.310 ***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8079" y="4416552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→ AEC는 개인별 고유 신호 — 단순 체형 proxy 아님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98079" y="4764024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norm 조건: M2&gt;M2_2 (ns) — 일반 조건 매칭 미확인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79" y="5111496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극단 샘플 제거 후에야 AEC 고유 정보가 두드러짐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98079" y="5458968"/>
            <a:ext cx="4297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→ AEC 신호의 개인 특이성은 극단 체형에서 강조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전처리 조건별 ROC 비교 — 5종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M1·M2·M2₂·M3 포함  |  AEC 128pt  |  각 전처리 조건의 성능 차이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05256"/>
            <a:ext cx="3794760" cy="329184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92354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norm — 행 방향 정규화</a:t>
            </a:r>
          </a:p>
        </p:txBody>
      </p:sp>
      <p:pic>
        <p:nvPicPr>
          <p:cNvPr id="7" name="Picture 6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52728"/>
            <a:ext cx="3794760" cy="3182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06240" y="905256"/>
            <a:ext cx="3794760" cy="329184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92354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crop80 — 중앙 80% 구간</a:t>
            </a:r>
          </a:p>
        </p:txBody>
      </p:sp>
      <p:pic>
        <p:nvPicPr>
          <p:cNvPr id="10" name="Picture 9" descr="roc_all_models_crop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52728"/>
            <a:ext cx="3794760" cy="31821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83879" y="905256"/>
            <a:ext cx="3794760" cy="32918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923544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crop60 — 중앙 60% 구간</a:t>
            </a:r>
          </a:p>
        </p:txBody>
      </p:sp>
      <p:pic>
        <p:nvPicPr>
          <p:cNvPr id="13" name="Picture 12" descr="roc_all_models_crop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252728"/>
            <a:ext cx="3794760" cy="31821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8600" y="3739896"/>
            <a:ext cx="3794760" cy="329184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375818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len128 — 선형 보간 128pt</a:t>
            </a:r>
          </a:p>
        </p:txBody>
      </p:sp>
      <p:pic>
        <p:nvPicPr>
          <p:cNvPr id="16" name="Picture 15" descr="roc_all_models_len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087368"/>
            <a:ext cx="3794760" cy="271576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06240" y="3739896"/>
            <a:ext cx="379476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375818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excl_extreme — 극단 제외</a:t>
            </a:r>
          </a:p>
        </p:txBody>
      </p:sp>
      <p:pic>
        <p:nvPicPr>
          <p:cNvPr id="19" name="Picture 18" descr="roc_all_models_excl_extre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4087368"/>
            <a:ext cx="3794760" cy="271576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83879" y="3739896"/>
            <a:ext cx="3794760" cy="3063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13048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조건별 요약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05656"/>
            <a:ext cx="347472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06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norm: M3(0.846) p=0.066 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902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len128: M2(0.791) M3(0.803), 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7433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crop80: M2(0.769) M3(0.783), 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358383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crop60: M2(0.793)&gt;M3(0.789), p=0.870 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742431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• excl_extreme: M2 vs M2_2 p&lt;0.001 ***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12647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  (M2_2 AUC 0.806 — 매칭 효과 검증)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Attention Map 양방향 비교 + Grad-CAM AEC  (norm)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C→A · A→C Cross-Attention 패턴  |  Grad-CAM 기여 구간  |  M2(CrossAttn) vs M3(CrossAttn3)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 → A  (Clinic → AEC)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 → C  (AEC → Clinic)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8174736" y="813816"/>
            <a:ext cx="3886200" cy="27432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0456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Grad-CAM AEC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115568"/>
            <a:ext cx="274320" cy="27432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" y="212140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3" name="Picture 12" descr="attention_heatmap_c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488" y="294436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5" name="Picture 14" descr="attention_map_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27248"/>
            <a:ext cx="3593592" cy="685800"/>
          </a:xfrm>
          <a:prstGeom prst="rect">
            <a:avLst/>
          </a:prstGeom>
        </p:spPr>
      </p:pic>
      <p:pic>
        <p:nvPicPr>
          <p:cNvPr id="16" name="Picture 15" descr="attention_heatmap_a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115568"/>
            <a:ext cx="3593592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71416" y="294436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18" name="Picture 17" descr="attention_map_a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127248"/>
            <a:ext cx="3593592" cy="685800"/>
          </a:xfrm>
          <a:prstGeom prst="rect">
            <a:avLst/>
          </a:prstGeom>
        </p:spPr>
      </p:pic>
      <p:pic>
        <p:nvPicPr>
          <p:cNvPr id="19" name="Picture 18" descr="cam_aec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115568"/>
            <a:ext cx="3593592" cy="1783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67344" y="294436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1" name="Picture 20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3127248"/>
            <a:ext cx="3593592" cy="685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82880" y="3904487"/>
            <a:ext cx="274320" cy="27432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" y="4910327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3904487"/>
            <a:ext cx="3593592" cy="1783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5488" y="573328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6" name="Picture 25" descr="attention_map_c2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5916168"/>
            <a:ext cx="3593592" cy="685800"/>
          </a:xfrm>
          <a:prstGeom prst="rect">
            <a:avLst/>
          </a:prstGeom>
        </p:spPr>
      </p:pic>
      <p:pic>
        <p:nvPicPr>
          <p:cNvPr id="27" name="Picture 26" descr="attention_heatmap_a2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1416" y="3904487"/>
            <a:ext cx="3593592" cy="1783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71416" y="573328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29" name="Picture 28" descr="attention_map_a2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1416" y="5916168"/>
            <a:ext cx="3593592" cy="685800"/>
          </a:xfrm>
          <a:prstGeom prst="rect">
            <a:avLst/>
          </a:prstGeom>
        </p:spPr>
      </p:pic>
      <p:pic>
        <p:nvPicPr>
          <p:cNvPr id="30" name="Picture 29" descr="cam_aec_heatma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344" y="3904487"/>
            <a:ext cx="3593592" cy="17830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67344" y="5733288"/>
            <a:ext cx="359359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9EA3AB"/>
                </a:solidFill>
                <a:latin typeface="맑은 고딕"/>
              </a:rPr>
              <a:t>— 평균 곡선 —</a:t>
            </a:r>
          </a:p>
        </p:txBody>
      </p:sp>
      <p:pic>
        <p:nvPicPr>
          <p:cNvPr id="32" name="Picture 31" descr="cam_aec_mea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7344" y="5916168"/>
            <a:ext cx="3593592" cy="685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최적 조건 상세 — AEC 128pt + 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M1·M2·M3 성능 비교  |  Bootstrap CI  |  Brier → Calibration 참조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59436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109728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064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AEC 128pt + norm:  M1→M2 p=0.051 †  |  M1→M3 p=0.066 †  |  M3 best overall AUC 0.8455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91056"/>
            <a:ext cx="10972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910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591056"/>
            <a:ext cx="10972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5910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95% 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91056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591056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AUPRC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59105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910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Brier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59105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5910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 vs M1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591056"/>
            <a:ext cx="15087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591056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DeLong 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1591056"/>
            <a:ext cx="1874519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591056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883664"/>
            <a:ext cx="10972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1883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1883664"/>
            <a:ext cx="109728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1883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1883664"/>
            <a:ext cx="96012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188366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1883664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188366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883664"/>
            <a:ext cx="91440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188366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95360" y="1883664"/>
            <a:ext cx="1508760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188366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기준선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1883664"/>
            <a:ext cx="1874519" cy="3657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188366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249424"/>
            <a:ext cx="109728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224942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" y="2249424"/>
            <a:ext cx="109728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224942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0.8435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[0.777,0.901]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249424"/>
            <a:ext cx="96012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0" y="224942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0.3433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2249424"/>
            <a:ext cx="9144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22494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0.1397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2249424"/>
            <a:ext cx="91440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22494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0.3396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+0.040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2249424"/>
            <a:ext cx="1508760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0" y="224942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p=0.051 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49840" y="2249424"/>
            <a:ext cx="1874519" cy="3657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0" y="224942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Clinic+AEC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6151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(Neg)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17320" y="261518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7320" y="261518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0.8264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[0.744,0.891]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2615184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0" y="261518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0.3204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2615184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0" y="261518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0.1887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2615184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0760" y="261518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0.3750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4088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4088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2615184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95360" y="261518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(neg ctrl)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2615184"/>
            <a:ext cx="1874519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0" y="261518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Unmatched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980944"/>
            <a:ext cx="10972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29809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17320" y="2980944"/>
            <a:ext cx="10972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29809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0.8455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[0.759,0.914]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0" y="2980944"/>
            <a:ext cx="96012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0" y="2980944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0.3475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20640" y="2980944"/>
            <a:ext cx="9144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20640" y="298094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0.1902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2980944"/>
            <a:ext cx="91440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80760" y="298094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0.3793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4088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4088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+0.043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2980944"/>
            <a:ext cx="150876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95360" y="2980944"/>
            <a:ext cx="1508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E87400"/>
                </a:solidFill>
                <a:latin typeface="맑은 고딕"/>
              </a:rPr>
              <a:t>p=0.066 †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49840" y="2980944"/>
            <a:ext cx="1874519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9840" y="2980944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9EA3AB"/>
                </a:solidFill>
                <a:latin typeface="맑은 고딕"/>
              </a:rPr>
              <a:t>Clinic+Scn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ROC — norm  (M1·M2·M2₂·M3)</a:t>
            </a:r>
          </a:p>
        </p:txBody>
      </p:sp>
      <p:pic>
        <p:nvPicPr>
          <p:cNvPr id="99" name="Picture 98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39896"/>
            <a:ext cx="3566160" cy="288950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977639" y="3465576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01" name="Picture 100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3739896"/>
            <a:ext cx="3566160" cy="2889504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7680960" y="3465576"/>
            <a:ext cx="4297680" cy="30175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54112" y="3483864"/>
            <a:ext cx="4187952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87400"/>
                </a:solidFill>
                <a:latin typeface="맑은 고딕"/>
              </a:rPr>
              <a:t>※ Calibration — M3  norm  (Brier 0.1902)  (Brier 보정 품질 확인)</a:t>
            </a:r>
          </a:p>
        </p:txBody>
      </p:sp>
      <p:pic>
        <p:nvPicPr>
          <p:cNvPr id="104" name="Picture 103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785615"/>
            <a:ext cx="4297680" cy="284378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성별 분리 비교 — M1 vs M2 vs M3  (AEC 128pt + norm)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남성(n=82, 유병률 15.9%) · 여성(n=147, 유병률 7.5%) 분리 AUC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50976"/>
            <a:ext cx="13258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50976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950976"/>
            <a:ext cx="1188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95097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전체 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전체 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950976"/>
            <a:ext cx="11887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95097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남성 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여성 CI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950976"/>
            <a:ext cx="123444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95097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남 AUPRC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950976"/>
            <a:ext cx="14173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9509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여 AUPRC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243584"/>
            <a:ext cx="13258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243584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M1 (LR)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1243584"/>
            <a:ext cx="11887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1243584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[0.720,0.872]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0.7035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1243584"/>
            <a:ext cx="11887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1243584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1243584"/>
            <a:ext cx="12344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1243584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1243584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1243584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0.4748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1618488"/>
            <a:ext cx="132588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1618488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(CrossAttn)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1618488"/>
            <a:ext cx="11887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37360" y="1618488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0.8435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[0.777,0.901]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6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0.7391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1618488"/>
            <a:ext cx="11887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1618488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0.8937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1618488"/>
            <a:ext cx="123444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1618488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07040" y="1618488"/>
            <a:ext cx="1417320" cy="374904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07040" y="1618488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0.4751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1993392"/>
            <a:ext cx="132588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1993392"/>
            <a:ext cx="132588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(CrossAttn3)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360" y="1993392"/>
            <a:ext cx="11887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37360" y="1993392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0.8455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[0.759,0.914]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196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0.7380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32120" y="1993392"/>
            <a:ext cx="11887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2120" y="1993392"/>
            <a:ext cx="11887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6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0.9044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4672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26880" y="1993392"/>
            <a:ext cx="123444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26880" y="1993392"/>
            <a:ext cx="123444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0.3055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07040" y="1993392"/>
            <a:ext cx="1417320" cy="374904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07040" y="1993392"/>
            <a:ext cx="1417320" cy="374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0.5076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2825496"/>
            <a:ext cx="3474720" cy="3712463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2825496"/>
            <a:ext cx="91440" cy="3712463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28986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F6BBF"/>
                </a:solidFill>
                <a:latin typeface="맑은 고딕"/>
              </a:rPr>
              <a:t>남성 비교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32826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0.704→0.739  (Δ+0.036)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3758183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0.704→0.738  (Δ+0.034)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423367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M3 &gt; M2 for male — Scanner 남성에 기여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709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유병률 15.9% → AUC 해석 비교적 안정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1846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M1(0.316)→M3(0.305)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86200" y="2825496"/>
            <a:ext cx="3474720" cy="3712463"/>
          </a:xfrm>
          <a:prstGeom prst="rect">
            <a:avLst/>
          </a:prstGeom>
          <a:solidFill>
            <a:srgbClr val="FF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886200" y="2825496"/>
            <a:ext cx="91440" cy="371246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69080" y="289864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맑은 고딕"/>
              </a:rPr>
              <a:t>여성 비교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9080" y="328269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M1→M2: 0.848→0.894  (Δ+0.045)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69080" y="3758183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M1→M3: 0.848→0.904  (Δ+0.056)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69080" y="423367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  → 여성에서 M3(Scanner+AEC) 기여 뚜렷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69080" y="47091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AUPRC: M1(0.475)→M3(0.508)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69080" y="518464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• 유병률 7.5% → class imbalance 주의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69080" y="5660136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맑은 고딕"/>
              </a:rPr>
              <a:t>  → AUPRC가 AUC보다 중요한 지표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98079" y="2825496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맑은 고딕"/>
              </a:rPr>
              <a:t>M1  by Sex</a:t>
            </a:r>
          </a:p>
        </p:txBody>
      </p:sp>
      <p:pic>
        <p:nvPicPr>
          <p:cNvPr id="96" name="Picture 95" descr="test_roc_by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099816"/>
            <a:ext cx="2194560" cy="18288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829800" y="2825496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F9B8A"/>
                </a:solidFill>
                <a:latin typeface="맑은 고딕"/>
              </a:rPr>
              <a:t>M2  by Sex</a:t>
            </a:r>
          </a:p>
        </p:txBody>
      </p:sp>
      <p:pic>
        <p:nvPicPr>
          <p:cNvPr id="98" name="Picture 97" descr="test_roc_by_s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3099816"/>
            <a:ext cx="2194560" cy="18288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498079" y="497433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맑은 고딕"/>
              </a:rPr>
              <a:t>△ 여성 AUC 0.848 → 0.904(M3)  |  △ 남성 AUC 0.704 → 0.738(M3)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98079" y="5285232"/>
            <a:ext cx="4480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M2 norm — Training Curves</a:t>
            </a:r>
          </a:p>
        </p:txBody>
      </p:sp>
      <p:pic>
        <p:nvPicPr>
          <p:cNvPr id="101" name="Picture 100" descr="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5559552"/>
            <a:ext cx="4480560" cy="111556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스케일링 비교 — Raw / StandardScaler / Std+RowNorm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n=1,143  |  AEC 128pt  |  3가지 전처리 버전 비교  |  xlsx: aec_inspection/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600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09728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맑은 고딕"/>
              </a:rPr>
              <a:t>비교 목적 및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09728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모델 학습 시 실제 입력되는 AEC 데이터의 형태를 시각적으로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StandardScaler (열 방향): 각 시간 포지션별로 표준화 → 학습 시 scale_aec=True 와 동일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맑은 고딕"/>
              </a:rPr>
              <a:t>• Std+RowNorm: 열 표준화 후 각 환자별 z-score → aec_variant('norm')과 동일한 행 방향 정규화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96896"/>
            <a:ext cx="178308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96896"/>
            <a:ext cx="1783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시트명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596896"/>
            <a:ext cx="2514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2596896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원본 특성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596896"/>
            <a:ext cx="2514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596896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처리 방법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596896"/>
            <a:ext cx="25146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596896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결과 형태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596896"/>
            <a:ext cx="2286000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596896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주요 목적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07792"/>
            <a:ext cx="178308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907792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907792"/>
            <a:ext cx="25146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2907792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DICOM 직접 추출값
(mAs 기반 절대 선량)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907792"/>
            <a:ext cx="25146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907792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없음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2907792"/>
            <a:ext cx="25146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2907792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환자별 절대적 AEC 수준
수치 범위 넓음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907792"/>
            <a:ext cx="2286000" cy="82296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907792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원본 분포 확인
스캐너 간 차이 관찰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49040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749040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std_scaled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749040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74904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raw 그대로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749040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74904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열 방향 StandardScaler
(포지션별 μ=0, σ=1)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3749040"/>
            <a:ext cx="2514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374904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각 포지션의 상대적 값
환자 간 비교 가능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374904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374904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모델 실제 입력값 확인
모든 AEC 모델 공통 적용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590288"/>
            <a:ext cx="178308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590288"/>
            <a:ext cx="1783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std_norm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4590288"/>
            <a:ext cx="25146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4590288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std_scaled 결과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4590288"/>
            <a:ext cx="25146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4590288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+행 방향 z-score
(환자별 μ=0, σ=1)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590288"/>
            <a:ext cx="25146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4590288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곡선 형태만 보존
절대 수준 차이 제거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4590288"/>
            <a:ext cx="2286000" cy="822960"/>
          </a:xfrm>
          <a:prstGeom prst="rect">
            <a:avLst/>
          </a:prstGeom>
          <a:solidFill>
            <a:srgbClr val="E8F4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0" y="4590288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norm variant 입력값 확인
스캐너 간 절대값 차이 제거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486400"/>
            <a:ext cx="11612880" cy="47548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513832"/>
            <a:ext cx="11247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맑은 고딕"/>
              </a:rPr>
              <a:t>저장 위치: results/0529/liver_pubis/aec_inspection/aec_scaling_compare_aec128.xlsx  |  1,143행 × 131열 (PatientID, label, sex + pos_1~pos_128)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종합 결론 및 임상적 함의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AEC 신호의 근감소증 예측 기여 — 비교 연구 결과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05256"/>
            <a:ext cx="109728" cy="1325880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926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0F6BBF"/>
                </a:solidFill>
                <a:latin typeface="맑은 고딕"/>
              </a:rPr>
              <a:t>① M3(Clinic+Scanner+AEC) norm: M1 대비 통계적 유의한 향상 (p=0.066 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M1→M3 norm: AUC 0.8030→0.8455, DeLong p=0.066 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M1→M2 norm: AUC 0.8030→0.8435, p=0.051 † — AEC 단독 기여 미확인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35024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음성 대조군 excl_extreme: M2(0.809) vs M2_2(0.499) Δ=0.310 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2763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여성 AUC: M1(0.848)→M3(0.904) — M3 기여 뚜렷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95144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95144"/>
            <a:ext cx="109728" cy="132588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59152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0F9B8A"/>
                </a:solidFill>
                <a:latin typeface="맑은 고딕"/>
              </a:rPr>
              <a:t>② norm 전처리 조건 최우수 — M3 norm 전체 최고 AUC (0.8455)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M3 norm: AUC 0.8455, Brier 0.1902 — 전 조건 최우수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M2 crop60: AUC 0.7933 — M2 중 최고, 중앙 구간 집중 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24912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excl_extreme: M2 vs M2_2 매칭 효과 가장 극명 (Δ=0.310***)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→ 매칭 효과 연구에는 excl_extreme이 유용한 음성 대조 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85032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685032"/>
            <a:ext cx="109728" cy="132588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49039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E87400"/>
                </a:solidFill>
                <a:latin typeface="맑은 고딕"/>
              </a:rPr>
              <a:t>③ M2 vs M3: norm은 M3 유리(p=0.923 ns), crop60는 M2 유리(p=0.870 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norm: M2(0.844) vs M3(0.846) Δ=+0.002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074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crop60: M2(0.793) vs M3(0.789) Δ=−0.005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11480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남성 M3(0.738) &gt; M2(0.739) — norm에서 Scanner 기여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0740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여성 M3(0.904) &gt; M2(0.894) — 성별 불문 M3 우위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74920"/>
            <a:ext cx="1161288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074920"/>
            <a:ext cx="109728" cy="132588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38928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50" b="1" i="0">
                <a:solidFill>
                  <a:srgbClr val="1E8B4C"/>
                </a:solidFill>
                <a:latin typeface="맑은 고딕"/>
              </a:rPr>
              <a:t>④ Zero-cost AEC로 임상 등급 스크리닝 가능성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046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기존 CT 스캔 시 자동 수집 — 추가 비용·검사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9729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전체 AUC 0.8455 / 여성 AUC 0.904(M3) → 임상 허용 가능 수준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04688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건강검진 프로그램 연동 시 고위험군 조기 선별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797296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  • PACS-DICOM AEC 자동 추출 파이프라인 구축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제한점 및 향후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현재 비교 연구의 한계와 발전 가능성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5394960" cy="54041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5029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맑은 고딕"/>
              </a:rPr>
              <a:t>연구 제한점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0292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소표본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465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Test n=229, Sarco 24명 → DeLong 검출력 제한, CI 넓음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단일 기관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609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단일 센터 데이터 → 외부 검증 미실시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644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excl_extreme 비교 제한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753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Test set 크기 변화 → M1 vs M2/M3 DeLong 직접 비교 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788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M1→M2 유의차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97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p=0.051 † — AEC 단독 기여 norm 조건에서 미확인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3208"/>
            <a:ext cx="5029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  ▶ M2 vs M3 조건별 혼재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04104"/>
            <a:ext cx="5029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9EA3AB"/>
                </a:solidFill>
                <a:latin typeface="맑은 고딕"/>
              </a:rPr>
              <a:t>    norm p=0.923 ns, crop60 p=0.870 ns → 방향 불일치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905256"/>
            <a:ext cx="5943600" cy="54041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978408"/>
            <a:ext cx="5577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F6BBF"/>
                </a:solidFill>
                <a:latin typeface="맑은 고딕"/>
              </a:rPr>
              <a:t>향후 연구 방향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557784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356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다기관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7465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강남+타기관 통합 → 일반화 성능·DeLong 유의성 재확인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3500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샘플 확장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6609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Test n&gt;500 → CI 축소, M1→M2 유의성 강화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644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전처리 설계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5753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동일 test set 유지 설계 → excl_extreme 공정 비교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1788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아키텍처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897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Multi-head Attn + positional encoding → 시퀀스 표현 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093208"/>
            <a:ext cx="5577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F6BBF"/>
                </a:solidFill>
                <a:latin typeface="맑은 고딕"/>
              </a:rPr>
              <a:t>  ◆ 임상 파이프라인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04104"/>
            <a:ext cx="55778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맑은 고딕"/>
              </a:rPr>
              <a:t>    PACS-DICOM AEC 추출 자동화 → 실시간 스크리닝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355080"/>
            <a:ext cx="116128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373368"/>
            <a:ext cx="116128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감사합니다  |  Questions &amp; 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부록 — 조건별 상세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>
                <a:solidFill>
                  <a:srgbClr val="9EA3AB"/>
                </a:solidFill>
                <a:latin typeface="맑은 고딕"/>
              </a:rPr>
              <a:t>AEC 128pt × 전처리 5종  |  M2 · M2_2 · M3 개별 시각화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10360152" cy="38404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95928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norm   →  행 방향 정규화 — M3 최고 AUC (0.8455), M1→M3 p=0.066 †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53127"/>
            <a:ext cx="10360152" cy="38404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71416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crop80   →  중앙 80% 구간 — 양끝 10% 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28616"/>
            <a:ext cx="10360152" cy="38404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4690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crop60   →  중앙 60% 구간 — M2(0.7933) M2 vs M3 p=0.870 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04104"/>
            <a:ext cx="10360152" cy="38404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42239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len128   →  선형 보간 128pt — baseline 해상도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879592"/>
            <a:ext cx="10360152" cy="38404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97880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  excl_extreme   →  상하위 5% 극단 제거 — M2 vs M2_2 매칭 효과 극명 (Δ=0.310***)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AUC=0.8435  |  M3 AUC=0.8455  |  M2vM3: p=0.923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18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0.1397)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0.1902)</a:t>
            </a:r>
          </a:p>
        </p:txBody>
      </p:sp>
      <p:pic>
        <p:nvPicPr>
          <p:cNvPr id="13" name="Picture 12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crop60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AUC=0.7933  |  M3 AUC=0.7886  |  M2vM3: p=0.870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19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0.2389)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0.1830)</a:t>
            </a:r>
          </a:p>
        </p:txBody>
      </p:sp>
      <p:pic>
        <p:nvPicPr>
          <p:cNvPr id="13" name="Picture 12" descr="roc_all_models_crop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crop80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AUC=0.7689  |  M3 AUC=0.7835  |  M2vM3: p=0.463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20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0.2108)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0.2055)</a:t>
            </a:r>
          </a:p>
        </p:txBody>
      </p:sp>
      <p:pic>
        <p:nvPicPr>
          <p:cNvPr id="13" name="Picture 12" descr="roc_all_models_crop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len128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AUC=0.7913  |  M3 AUC=0.8033  |  M2vM3: p=0.659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21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0.1847)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0.1701)</a:t>
            </a:r>
          </a:p>
        </p:txBody>
      </p:sp>
      <p:pic>
        <p:nvPicPr>
          <p:cNvPr id="13" name="Picture 12" descr="roc_all_models_le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AEC 128pt  +  excl_extreme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AUC=0.8095  |  M3 AUC=0.7688  |  M2vM3: p=0.047 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22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Calibration  (Brier 0.2065)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832104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Calibration  (Brier 0.1770)</a:t>
            </a:r>
          </a:p>
        </p:txBody>
      </p:sp>
      <p:pic>
        <p:nvPicPr>
          <p:cNvPr id="13" name="Picture 12" descr="roc_all_models_excl_ext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28600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78808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808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19872" y="3813048"/>
            <a:ext cx="384048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3831336"/>
            <a:ext cx="3749040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데이터 분포 (excl_extreme 필터 후)</a:t>
            </a:r>
          </a:p>
        </p:txBody>
      </p:sp>
      <p:pic>
        <p:nvPicPr>
          <p:cNvPr id="24" name="Picture 23" descr="data_distribu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23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crop60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24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crop80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25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len128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26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7680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9601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Grad-CAM AEC — excl_extreme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27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82296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938528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M2  CrossAttn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4754880"/>
            <a:ext cx="25603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M3  CrossAttn3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스케일링 비교 — liver_pubis_64  (AEC 64pt Token)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Raw / StandardScaler / Std+RowNorm  |  n=1,143  |  pos_1~128  |  xlsx: aec_inspection/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10241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비교 설계  (liver_pubis_64 기준)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109728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16736"/>
            <a:ext cx="73152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36192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원본 DICOM 추출값 (mAs 절대 선량)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9EA3AB"/>
                </a:solidFill>
                <a:latin typeface="맑은 고딕"/>
              </a:rPr>
              <a:t>min=33  max=643  mean=317.3  std=102.2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16736"/>
            <a:ext cx="73152" cy="43891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3502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6BBF"/>
                </a:solidFill>
                <a:latin typeface="맑은 고딕"/>
              </a:rPr>
              <a:t>std_scaled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536192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열 방향 StandardScaler (포지션별 표준화)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1907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9EA3AB"/>
                </a:solidFill>
                <a:latin typeface="맑은 고딕"/>
              </a:rPr>
              <a:t>min=−3.19  max=4.79  mean=0.00  std=1.00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16736"/>
            <a:ext cx="73152" cy="43891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35024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F9B8A"/>
                </a:solidFill>
                <a:latin typeface="맑은 고딕"/>
              </a:rPr>
              <a:t>std_norm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536192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맑은 고딕"/>
              </a:rPr>
              <a:t>Std+RowNorm (열 표준화 후 행 z-score)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719072"/>
            <a:ext cx="3474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9EA3AB"/>
                </a:solidFill>
                <a:latin typeface="맑은 고딕"/>
              </a:rPr>
              <a:t>min=−8.46  max=10.42  mean=0.00  std=1.00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011680"/>
            <a:ext cx="7132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스케일링 변환별 평균 AEC 곡선  (Normal vs Sarcopenia × Sex)</a:t>
            </a:r>
          </a:p>
        </p:txBody>
      </p:sp>
      <p:pic>
        <p:nvPicPr>
          <p:cNvPr id="21" name="Picture 20" descr="aec_scaling_mea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7132320" cy="274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543800" y="2011680"/>
            <a:ext cx="4389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맑은 고딕"/>
              </a:rPr>
              <a:t>샘플 포지션별 분포 비교  (Normal vs Sarcopenia, 박스플롯)</a:t>
            </a:r>
          </a:p>
        </p:txBody>
      </p:sp>
      <p:pic>
        <p:nvPicPr>
          <p:cNvPr id="23" name="Picture 22" descr="aec_scaling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286000"/>
            <a:ext cx="4389120" cy="27432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74320" y="5138928"/>
            <a:ext cx="11612880" cy="1572768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138928"/>
            <a:ext cx="109728" cy="157276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0293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맑은 고딕"/>
              </a:rPr>
              <a:t>AEC 스케일링 전처리 해석 — liver_pubis_64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13832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raw: 환자별 절대 AEC 수준 관찰 — 고체중·고BMI 환자에서 mAs 값 높음 (스캐너 자동 보정)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61304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std_scaled: 포지션별 평균·분산 제거 → 시간축 위치 패턴만 보존 — 모든 AEC 모델 공통 입력 형태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208776"/>
            <a:ext cx="11064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맑은 고딕"/>
              </a:rPr>
              <a:t>• std_norm(norm variant): 환자 개인의 곡선 형태만 보존 → 체형 절대값 차이 제거 후 AEC 곡선 모양 비교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10058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</a:rPr>
              <a:t>AEC Attention Token 크기 비교 — 32pt vs 64pt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9EA3AB"/>
                </a:solidFill>
                <a:latin typeface="맑은 고딕"/>
              </a:rPr>
              <a:t>동일 데이터 / 동일 구조 / Token dim 변경  |  M2(CrossAttn) · M3(CrossAttn3)  |  norm · len128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05256"/>
            <a:ext cx="11612880" cy="35478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맑은 고딕"/>
              </a:rPr>
              <a:t>Test Set 성능 비교  (AUC-ROC / AUPRC / Brier / F1)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109728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96012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16736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모델/조건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31673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31673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32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316736"/>
            <a:ext cx="82296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31673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64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316736"/>
            <a:ext cx="9144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31673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32 AUPRC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64 AUPRC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AUPRC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32 Brier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64 Brier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Δ Brier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32 F1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316736"/>
            <a:ext cx="86868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1316736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64 F1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1609344"/>
            <a:ext cx="96012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1609344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 norm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1609344"/>
            <a:ext cx="91440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160934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1609344"/>
            <a:ext cx="82296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1609344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0.8173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1609344"/>
            <a:ext cx="91440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80" y="160934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+0.0055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0.2994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0.2855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−0.0139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0.1985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0.1398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−0.0587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0.3770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1609344"/>
            <a:ext cx="868680" cy="320040"/>
          </a:xfrm>
          <a:prstGeom prst="rect">
            <a:avLst/>
          </a:prstGeom>
          <a:solidFill>
            <a:srgbClr val="E8F4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16093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0.3492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192938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1929384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  len128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25880" y="1929384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5880" y="192938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0.7974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1929384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0" y="1929384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0.8008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54680" y="1929384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54680" y="192938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+0.0034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0.3049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0.3148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+0.0099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0.1501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0.1452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−0.0049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012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0.3478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0" y="192938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15600" y="192938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0.3380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2249424"/>
            <a:ext cx="96012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2249424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 norm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25880" y="2249424"/>
            <a:ext cx="91440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25880" y="22494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0.8492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0" y="2249424"/>
            <a:ext cx="82296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86000" y="2249424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0.8301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54680" y="2249424"/>
            <a:ext cx="91440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22494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−0.0191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0.3806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436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+0.0287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580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0.1796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7724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7724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0.2432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6868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868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+0.0636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012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012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0.4118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515600" y="2249424"/>
            <a:ext cx="868680" cy="32004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515600" y="224942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0.2875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0040" y="2569463"/>
            <a:ext cx="96012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0040" y="2569463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M3  len128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25880" y="2569463"/>
            <a:ext cx="91440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325880" y="2569463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0.8004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86000" y="2569463"/>
            <a:ext cx="82296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286000" y="2569463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0.8028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54680" y="2569463"/>
            <a:ext cx="91440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54680" y="2569463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+0.0024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1148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1148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0.2862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92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292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0.2952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436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36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+0.0090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580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0.1776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724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724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0.2237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6868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6868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+0.0461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6012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012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0.3619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515600" y="2569463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15600" y="2569463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E8B4C"/>
                </a:solidFill>
                <a:latin typeface="맑은 고딕"/>
              </a:rPr>
              <a:t>0.3673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0040" y="288950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2889504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norm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325880" y="2889504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325880" y="288950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0.8268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0" y="2889504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286000" y="2889504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0.8175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154680" y="2889504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154680" y="288950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−0.0093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1148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1148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0.3300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292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292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0.3214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9436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9436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−0.0086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8580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8580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0.2012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7724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7724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0.2174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6868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6868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+0.0162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6012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6012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0.3913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515600" y="2889504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515600" y="288950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0.3415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20040" y="3209544"/>
            <a:ext cx="96012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20040" y="3209544"/>
            <a:ext cx="960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M2_2 len128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325880" y="3209544"/>
            <a:ext cx="91440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25880" y="320954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0.8118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286000" y="3209544"/>
            <a:ext cx="82296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286000" y="3209544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0.7984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154680" y="3209544"/>
            <a:ext cx="91440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154680" y="320954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−0.0134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1148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1148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0.3505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292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0292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0.3187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9436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9436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−0.0318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8580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8580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0.2188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7724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7724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0.2178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6868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6868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−0.0010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6012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6012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1A1A2E"/>
                </a:solidFill>
                <a:latin typeface="맑은 고딕"/>
              </a:rPr>
              <a:t>0.3423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515600" y="3209544"/>
            <a:ext cx="868680" cy="32004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515600" y="3209544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C0392B"/>
                </a:solidFill>
                <a:latin typeface="맑은 고딕"/>
              </a:rPr>
              <a:t>0.3231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57200" y="454456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9EA3AB"/>
                </a:solidFill>
                <a:latin typeface="맑은 고딕"/>
              </a:rPr>
              <a:t>Δ = 64 − 32  |  녹색: 64pt 우세  |  적색: 32pt 우세  |  임계: ±0.005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74320" y="4828032"/>
            <a:ext cx="2880360" cy="189280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74320" y="4828032"/>
            <a:ext cx="73152" cy="1892807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11479" y="488289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0F6BBF"/>
                </a:solidFill>
                <a:latin typeface="맑은 고딕"/>
              </a:rPr>
              <a:t>M2 (CrossAttn) — 유사 성능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11479" y="5212080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norm: 64가 AUC 소폭 우세(+0.0055), Brier 크게 개선(−0.059) → 64pt 보정 품질 우수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11479" y="5724144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len128: 양쪽 거의 동등 (Δ AUC +0.0034) — Token 크기 영향 미미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246120" y="4828032"/>
            <a:ext cx="2880360" cy="189280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246120" y="4828032"/>
            <a:ext cx="73152" cy="1892807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383279" y="488289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E87400"/>
                </a:solidFill>
                <a:latin typeface="맑은 고딕"/>
              </a:rPr>
              <a:t>M3 (CrossAttn3) — 32pt 우세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383279" y="5212080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norm: 32pt 명확 우세  AUC +0.019, Brier −0.064, F1 +0.124 → 32pt가 Scanner+AEC 통합에 유리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383279" y="5724144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len128: 거의 동등 (Δ AUC +0.0024) — len128 조건에선 Token 영향 약함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217920" y="4828032"/>
            <a:ext cx="2880360" cy="189280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217920" y="4828032"/>
            <a:ext cx="73152" cy="1892807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55080" y="488289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9EA3AB"/>
                </a:solidFill>
                <a:latin typeface="맑은 고딕"/>
              </a:rPr>
              <a:t>M2_2 (음성 대조군) — 32pt 소폭 우세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55080" y="5212080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norm/len128 모두 32pt 미세 우세 → 두 Token 모두 매칭 효과 불일치 포착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5724144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→ Token 크기보다 AEC 매칭 설계 자체가 핵심 변수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189720" y="4828032"/>
            <a:ext cx="2880360" cy="189280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89720" y="4828032"/>
            <a:ext cx="73152" cy="1892807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326880" y="488289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E8B4C"/>
                </a:solidFill>
                <a:latin typeface="맑은 고딕"/>
              </a:rPr>
              <a:t>종합 결론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326880" y="5212080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M3 norm 최우수는 32pt (AUC 0.8492) — 실험 최고 성능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326880" y="5724144"/>
            <a:ext cx="2670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맑은 고딕"/>
              </a:rPr>
              <a:t>• M2 보정 품질은 64pt 우수 — 임상 활용 시 Brier 우선 시 64pt 고려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EA3AB"/>
                </a:solidFill>
                <a:latin typeface="맑은 고딕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